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10.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5.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6.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heme/themeOverride1.xml" ContentType="application/vnd.openxmlformats-officedocument.themeOverride+xml"/>
  <Override PartName="/ppt/notesSlides/notesSlide25.xml" ContentType="application/vnd.openxmlformats-officedocument.presentationml.notesSlide+xml"/>
  <Override PartName="/ppt/theme/themeOverride2.xml" ContentType="application/vnd.openxmlformats-officedocument.themeOverride+xml"/>
  <Override PartName="/ppt/notesSlides/notesSlide26.xml" ContentType="application/vnd.openxmlformats-officedocument.presentationml.notesSlide+xml"/>
  <Override PartName="/ppt/theme/themeOverride3.xml" ContentType="application/vnd.openxmlformats-officedocument.themeOverride+xml"/>
  <Override PartName="/ppt/notesSlides/notesSlide27.xml" ContentType="application/vnd.openxmlformats-officedocument.presentationml.notesSlide+xml"/>
  <Override PartName="/ppt/theme/themeOverride4.xml" ContentType="application/vnd.openxmlformats-officedocument.themeOverride+xml"/>
  <Override PartName="/ppt/notesSlides/notesSlide28.xml" ContentType="application/vnd.openxmlformats-officedocument.presentationml.notesSlide+xml"/>
  <Override PartName="/ppt/theme/themeOverride5.xml" ContentType="application/vnd.openxmlformats-officedocument.themeOverride+xml"/>
  <Override PartName="/ppt/notesSlides/notesSlide29.xml" ContentType="application/vnd.openxmlformats-officedocument.presentationml.notesSlide+xml"/>
  <Override PartName="/ppt/theme/themeOverride6.xml" ContentType="application/vnd.openxmlformats-officedocument.themeOverride+xml"/>
  <Override PartName="/ppt/notesSlides/notesSlide30.xml" ContentType="application/vnd.openxmlformats-officedocument.presentationml.notesSlide+xml"/>
  <Override PartName="/ppt/theme/themeOverride7.xml" ContentType="application/vnd.openxmlformats-officedocument.themeOverride+xml"/>
  <Override PartName="/ppt/notesSlides/notesSlide31.xml" ContentType="application/vnd.openxmlformats-officedocument.presentationml.notesSlide+xml"/>
  <Override PartName="/ppt/theme/themeOverride8.xml" ContentType="application/vnd.openxmlformats-officedocument.themeOverride+xml"/>
  <Override PartName="/ppt/notesSlides/notesSlide32.xml" ContentType="application/vnd.openxmlformats-officedocument.presentationml.notesSlide+xml"/>
  <Override PartName="/ppt/theme/themeOverride9.xml" ContentType="application/vnd.openxmlformats-officedocument.themeOverride+xml"/>
  <Override PartName="/ppt/notesSlides/notesSlide33.xml" ContentType="application/vnd.openxmlformats-officedocument.presentationml.notesSlide+xml"/>
  <Override PartName="/ppt/theme/themeOverride10.xml" ContentType="application/vnd.openxmlformats-officedocument.themeOverride+xml"/>
  <Override PartName="/ppt/notesSlides/notesSlide34.xml" ContentType="application/vnd.openxmlformats-officedocument.presentationml.notesSlide+xml"/>
  <Override PartName="/ppt/theme/themeOverride11.xml" ContentType="application/vnd.openxmlformats-officedocument.themeOverride+xml"/>
  <Override PartName="/ppt/notesSlides/notesSlide35.xml" ContentType="application/vnd.openxmlformats-officedocument.presentationml.notesSlide+xml"/>
  <Override PartName="/ppt/theme/themeOverride12.xml" ContentType="application/vnd.openxmlformats-officedocument.themeOverride+xml"/>
  <Override PartName="/ppt/notesSlides/notesSlide36.xml" ContentType="application/vnd.openxmlformats-officedocument.presentationml.notesSlide+xml"/>
  <Override PartName="/ppt/theme/themeOverride13.xml" ContentType="application/vnd.openxmlformats-officedocument.themeOverride+xml"/>
  <Override PartName="/ppt/notesSlides/notesSlide37.xml" ContentType="application/vnd.openxmlformats-officedocument.presentationml.notesSlide+xml"/>
  <Override PartName="/ppt/theme/themeOverride14.xml" ContentType="application/vnd.openxmlformats-officedocument.themeOverride+xml"/>
  <Override PartName="/ppt/notesSlides/notesSlide38.xml" ContentType="application/vnd.openxmlformats-officedocument.presentationml.notesSlide+xml"/>
  <Override PartName="/ppt/theme/themeOverride15.xml" ContentType="application/vnd.openxmlformats-officedocument.themeOverride+xml"/>
  <Override PartName="/ppt/notesSlides/notesSlide39.xml" ContentType="application/vnd.openxmlformats-officedocument.presentationml.notesSlide+xml"/>
  <Override PartName="/ppt/theme/themeOverride16.xml" ContentType="application/vnd.openxmlformats-officedocument.themeOverride+xml"/>
  <Override PartName="/ppt/notesSlides/notesSlide40.xml" ContentType="application/vnd.openxmlformats-officedocument.presentationml.notesSlide+xml"/>
  <Override PartName="/ppt/theme/themeOverride17.xml" ContentType="application/vnd.openxmlformats-officedocument.themeOverride+xml"/>
  <Override PartName="/ppt/notesSlides/notesSlide41.xml" ContentType="application/vnd.openxmlformats-officedocument.presentationml.notesSlide+xml"/>
  <Override PartName="/ppt/theme/themeOverride18.xml" ContentType="application/vnd.openxmlformats-officedocument.themeOverride+xml"/>
  <Override PartName="/ppt/notesSlides/notesSlide42.xml" ContentType="application/vnd.openxmlformats-officedocument.presentationml.notesSlide+xml"/>
  <Override PartName="/ppt/theme/themeOverride19.xml" ContentType="application/vnd.openxmlformats-officedocument.themeOverride+xml"/>
  <Override PartName="/ppt/notesSlides/notesSlide43.xml" ContentType="application/vnd.openxmlformats-officedocument.presentationml.notesSlide+xml"/>
  <Override PartName="/ppt/theme/themeOverride20.xml" ContentType="application/vnd.openxmlformats-officedocument.themeOverride+xml"/>
  <Override PartName="/ppt/notesSlides/notesSlide44.xml" ContentType="application/vnd.openxmlformats-officedocument.presentationml.notesSlide+xml"/>
  <Override PartName="/ppt/theme/themeOverride21.xml" ContentType="application/vnd.openxmlformats-officedocument.themeOverride+xml"/>
  <Override PartName="/ppt/notesSlides/notesSlide45.xml" ContentType="application/vnd.openxmlformats-officedocument.presentationml.notesSlide+xml"/>
  <Override PartName="/ppt/theme/themeOverride22.xml" ContentType="application/vnd.openxmlformats-officedocument.themeOverride+xml"/>
  <Override PartName="/ppt/notesSlides/notesSlide46.xml" ContentType="application/vnd.openxmlformats-officedocument.presentationml.notesSlide+xml"/>
  <Override PartName="/ppt/theme/themeOverride23.xml" ContentType="application/vnd.openxmlformats-officedocument.themeOverride+xml"/>
  <Override PartName="/ppt/notesSlides/notesSlide47.xml" ContentType="application/vnd.openxmlformats-officedocument.presentationml.notesSlide+xml"/>
  <Override PartName="/ppt/theme/themeOverride24.xml" ContentType="application/vnd.openxmlformats-officedocument.themeOverride+xml"/>
  <Override PartName="/ppt/notesSlides/notesSlide48.xml" ContentType="application/vnd.openxmlformats-officedocument.presentationml.notesSlide+xml"/>
  <Override PartName="/ppt/theme/themeOverride25.xml" ContentType="application/vnd.openxmlformats-officedocument.themeOverride+xml"/>
  <Override PartName="/ppt/notesSlides/notesSlide49.xml" ContentType="application/vnd.openxmlformats-officedocument.presentationml.notesSlide+xml"/>
  <Override PartName="/ppt/theme/themeOverride26.xml" ContentType="application/vnd.openxmlformats-officedocument.themeOverride+xml"/>
  <Override PartName="/ppt/notesSlides/notesSlide50.xml" ContentType="application/vnd.openxmlformats-officedocument.presentationml.notesSlide+xml"/>
  <Override PartName="/ppt/theme/themeOverride27.xml" ContentType="application/vnd.openxmlformats-officedocument.themeOverride+xml"/>
  <Override PartName="/ppt/notesSlides/notesSlide51.xml" ContentType="application/vnd.openxmlformats-officedocument.presentationml.notesSlide+xml"/>
  <Override PartName="/ppt/theme/themeOverride28.xml" ContentType="application/vnd.openxmlformats-officedocument.themeOverride+xml"/>
  <Override PartName="/ppt/notesSlides/notesSlide52.xml" ContentType="application/vnd.openxmlformats-officedocument.presentationml.notesSlide+xml"/>
  <Override PartName="/ppt/theme/themeOverride29.xml" ContentType="application/vnd.openxmlformats-officedocument.themeOverr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53.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5"/>
  </p:notesMasterIdLst>
  <p:sldIdLst>
    <p:sldId id="256" r:id="rId2"/>
    <p:sldId id="377" r:id="rId3"/>
    <p:sldId id="378" r:id="rId4"/>
    <p:sldId id="379" r:id="rId5"/>
    <p:sldId id="381" r:id="rId6"/>
    <p:sldId id="380" r:id="rId7"/>
    <p:sldId id="362" r:id="rId8"/>
    <p:sldId id="382" r:id="rId9"/>
    <p:sldId id="383" r:id="rId10"/>
    <p:sldId id="384" r:id="rId11"/>
    <p:sldId id="385" r:id="rId12"/>
    <p:sldId id="363" r:id="rId13"/>
    <p:sldId id="386" r:id="rId14"/>
    <p:sldId id="387" r:id="rId15"/>
    <p:sldId id="431" r:id="rId16"/>
    <p:sldId id="432" r:id="rId17"/>
    <p:sldId id="267" r:id="rId18"/>
    <p:sldId id="268" r:id="rId19"/>
    <p:sldId id="269" r:id="rId20"/>
    <p:sldId id="270" r:id="rId21"/>
    <p:sldId id="271" r:id="rId22"/>
    <p:sldId id="388" r:id="rId23"/>
    <p:sldId id="389" r:id="rId24"/>
    <p:sldId id="390" r:id="rId25"/>
    <p:sldId id="391" r:id="rId26"/>
    <p:sldId id="274" r:id="rId27"/>
    <p:sldId id="392" r:id="rId28"/>
    <p:sldId id="393" r:id="rId29"/>
    <p:sldId id="394" r:id="rId30"/>
    <p:sldId id="395" r:id="rId31"/>
    <p:sldId id="396" r:id="rId32"/>
    <p:sldId id="296" r:id="rId33"/>
    <p:sldId id="397" r:id="rId34"/>
    <p:sldId id="398" r:id="rId35"/>
    <p:sldId id="399" r:id="rId36"/>
    <p:sldId id="400" r:id="rId37"/>
    <p:sldId id="401" r:id="rId38"/>
    <p:sldId id="402" r:id="rId39"/>
    <p:sldId id="434" r:id="rId40"/>
    <p:sldId id="300" r:id="rId41"/>
    <p:sldId id="278" r:id="rId42"/>
    <p:sldId id="433" r:id="rId43"/>
    <p:sldId id="280" r:id="rId44"/>
    <p:sldId id="310" r:id="rId45"/>
    <p:sldId id="281" r:id="rId46"/>
    <p:sldId id="282" r:id="rId47"/>
    <p:sldId id="409" r:id="rId48"/>
    <p:sldId id="410" r:id="rId49"/>
    <p:sldId id="412" r:id="rId50"/>
    <p:sldId id="411" r:id="rId51"/>
    <p:sldId id="413" r:id="rId52"/>
    <p:sldId id="435" r:id="rId53"/>
    <p:sldId id="290" r:id="rId54"/>
    <p:sldId id="414" r:id="rId55"/>
    <p:sldId id="303" r:id="rId56"/>
    <p:sldId id="415" r:id="rId57"/>
    <p:sldId id="331" r:id="rId58"/>
    <p:sldId id="437" r:id="rId59"/>
    <p:sldId id="438" r:id="rId60"/>
    <p:sldId id="439" r:id="rId61"/>
    <p:sldId id="440" r:id="rId62"/>
    <p:sldId id="441" r:id="rId63"/>
    <p:sldId id="442" r:id="rId64"/>
    <p:sldId id="443" r:id="rId65"/>
    <p:sldId id="424" r:id="rId66"/>
    <p:sldId id="444" r:id="rId67"/>
    <p:sldId id="426" r:id="rId68"/>
    <p:sldId id="445" r:id="rId69"/>
    <p:sldId id="446" r:id="rId70"/>
    <p:sldId id="447" r:id="rId71"/>
    <p:sldId id="448" r:id="rId72"/>
    <p:sldId id="449" r:id="rId73"/>
    <p:sldId id="450" r:id="rId74"/>
    <p:sldId id="451" r:id="rId75"/>
    <p:sldId id="452" r:id="rId76"/>
    <p:sldId id="453" r:id="rId77"/>
    <p:sldId id="454" r:id="rId78"/>
    <p:sldId id="455" r:id="rId79"/>
    <p:sldId id="456" r:id="rId80"/>
    <p:sldId id="457" r:id="rId81"/>
    <p:sldId id="501" r:id="rId82"/>
    <p:sldId id="502" r:id="rId83"/>
    <p:sldId id="503" r:id="rId84"/>
    <p:sldId id="504" r:id="rId85"/>
    <p:sldId id="505" r:id="rId86"/>
    <p:sldId id="506" r:id="rId87"/>
    <p:sldId id="507" r:id="rId88"/>
    <p:sldId id="508" r:id="rId89"/>
    <p:sldId id="509" r:id="rId90"/>
    <p:sldId id="510" r:id="rId91"/>
    <p:sldId id="511" r:id="rId92"/>
    <p:sldId id="462" r:id="rId93"/>
    <p:sldId id="463" r:id="rId94"/>
    <p:sldId id="464" r:id="rId95"/>
    <p:sldId id="465" r:id="rId96"/>
    <p:sldId id="466" r:id="rId97"/>
    <p:sldId id="467" r:id="rId98"/>
    <p:sldId id="468" r:id="rId99"/>
    <p:sldId id="469" r:id="rId100"/>
    <p:sldId id="470" r:id="rId101"/>
    <p:sldId id="471" r:id="rId102"/>
    <p:sldId id="472" r:id="rId103"/>
    <p:sldId id="473" r:id="rId104"/>
    <p:sldId id="416" r:id="rId105"/>
    <p:sldId id="417" r:id="rId106"/>
    <p:sldId id="418" r:id="rId107"/>
    <p:sldId id="319" r:id="rId108"/>
    <p:sldId id="419" r:id="rId109"/>
    <p:sldId id="420" r:id="rId110"/>
    <p:sldId id="421" r:id="rId111"/>
    <p:sldId id="422" r:id="rId112"/>
    <p:sldId id="423" r:id="rId113"/>
    <p:sldId id="279" r:id="rId114"/>
    <p:sldId id="425" r:id="rId115"/>
    <p:sldId id="427" r:id="rId116"/>
    <p:sldId id="428" r:id="rId117"/>
    <p:sldId id="429" r:id="rId118"/>
    <p:sldId id="430" r:id="rId119"/>
    <p:sldId id="320" r:id="rId120"/>
    <p:sldId id="321" r:id="rId121"/>
    <p:sldId id="322" r:id="rId122"/>
    <p:sldId id="313" r:id="rId123"/>
    <p:sldId id="312" r:id="rId124"/>
  </p:sldIdLst>
  <p:sldSz cx="9144000" cy="6858000" type="screen4x3"/>
  <p:notesSz cx="6858000" cy="9144000"/>
  <p:defaultTex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IRUI" initials="H" lastIdx="6" clrIdx="0"/>
  <p:cmAuthor id="2" name="thinkpad" initials="t" lastIdx="44" clrIdx="1"/>
  <p:cmAuthor id="3" name="user" initials="u" lastIdx="0" clrIdx="2">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80FF"/>
    <a:srgbClr val="FF00FF"/>
    <a:srgbClr val="00CC00"/>
    <a:srgbClr val="FF9966"/>
    <a:srgbClr val="FF9900"/>
    <a:srgbClr val="FFFFFF"/>
    <a:srgbClr val="009900"/>
    <a:srgbClr val="993300"/>
    <a:srgbClr val="33CC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45" autoAdjust="0"/>
    <p:restoredTop sz="95424" autoAdjust="0"/>
  </p:normalViewPr>
  <p:slideViewPr>
    <p:cSldViewPr>
      <p:cViewPr varScale="1">
        <p:scale>
          <a:sx n="87" d="100"/>
          <a:sy n="87" d="100"/>
        </p:scale>
        <p:origin x="108" y="2946"/>
      </p:cViewPr>
      <p:guideLst>
        <p:guide orient="horz" pos="2159"/>
        <p:guide pos="2880"/>
      </p:guideLst>
    </p:cSldViewPr>
  </p:slideViewPr>
  <p:notesTextViewPr>
    <p:cViewPr>
      <p:scale>
        <a:sx n="1" d="1"/>
        <a:sy n="1" d="1"/>
      </p:scale>
      <p:origin x="0" y="0"/>
    </p:cViewPr>
  </p:notesTextViewPr>
  <p:sorterViewPr>
    <p:cViewPr>
      <p:scale>
        <a:sx n="100" d="100"/>
        <a:sy n="100" d="100"/>
      </p:scale>
      <p:origin x="0" y="-8730"/>
    </p:cViewPr>
  </p:sorterViewPr>
  <p:gridSpacing cx="72005" cy="72005"/>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a:lvl1pPr>
          </a:lstStyle>
          <a:p>
            <a:fld id="{85371C0B-722C-4E9B-8402-37DD6C16F224}" type="datetime1">
              <a:rPr lang="zh-CN" altLang="en-US"/>
              <a:pPr/>
              <a:t>2024/4/25</a:t>
            </a:fld>
            <a:endParaRPr lang="zh-CN" altLang="en-US" sz="1200"/>
          </a:p>
        </p:txBody>
      </p:sp>
      <p:sp>
        <p:nvSpPr>
          <p:cNvPr id="2052"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a:spcBef>
                <a:spcPct val="30000"/>
              </a:spcBef>
              <a:defRPr sz="1200">
                <a:solidFill>
                  <a:schemeClr val="tx1"/>
                </a:solidFill>
                <a:latin typeface="Arial" panose="020B0604020202020204" pitchFamily="34" charset="0"/>
              </a:defRPr>
            </a:lvl1pPr>
            <a:lvl2pPr defTabSz="0">
              <a:spcBef>
                <a:spcPct val="30000"/>
              </a:spcBef>
              <a:defRPr sz="1200">
                <a:solidFill>
                  <a:schemeClr val="tx1"/>
                </a:solidFill>
                <a:latin typeface="Arial" panose="020B0604020202020204" pitchFamily="34" charset="0"/>
              </a:defRPr>
            </a:lvl2pPr>
            <a:lvl3pPr defTabSz="0">
              <a:spcBef>
                <a:spcPct val="30000"/>
              </a:spcBef>
              <a:defRPr sz="1200">
                <a:solidFill>
                  <a:schemeClr val="tx1"/>
                </a:solidFill>
                <a:latin typeface="Arial" panose="020B0604020202020204" pitchFamily="34" charset="0"/>
              </a:defRPr>
            </a:lvl3pPr>
            <a:lvl4pPr defTabSz="0">
              <a:spcBef>
                <a:spcPct val="30000"/>
              </a:spcBef>
              <a:defRPr sz="1200">
                <a:solidFill>
                  <a:schemeClr val="tx1"/>
                </a:solidFill>
                <a:latin typeface="Arial" panose="020B0604020202020204" pitchFamily="34" charset="0"/>
              </a:defRPr>
            </a:lvl4pPr>
            <a:lvl5pPr defTabSz="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buFontTx/>
              <a:buNone/>
            </a:pPr>
            <a:r>
              <a:rPr lang="zh-CN" altLang="zh-CN"/>
              <a:t>单击此处编辑母版文本样式</a:t>
            </a:r>
          </a:p>
          <a:p>
            <a:pPr>
              <a:buFontTx/>
              <a:buNone/>
            </a:pPr>
            <a:r>
              <a:rPr lang="zh-CN" altLang="zh-CN"/>
              <a:t>第二级</a:t>
            </a:r>
          </a:p>
          <a:p>
            <a:pPr>
              <a:buFontTx/>
              <a:buNone/>
            </a:pPr>
            <a:r>
              <a:rPr lang="zh-CN" altLang="zh-CN"/>
              <a:t>第三级</a:t>
            </a:r>
          </a:p>
          <a:p>
            <a:pPr>
              <a:buFontTx/>
              <a:buNone/>
            </a:pPr>
            <a:r>
              <a:rPr lang="zh-CN" altLang="zh-CN"/>
              <a:t>第四级</a:t>
            </a:r>
          </a:p>
          <a:p>
            <a:pPr>
              <a:buFontTx/>
              <a:buNone/>
            </a:pPr>
            <a:r>
              <a:rPr lang="zh-CN" altLang="zh-CN"/>
              <a:t>第五级</a:t>
            </a:r>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a:lvl1pPr>
          </a:lstStyle>
          <a:p>
            <a:fld id="{D2A872D7-EC27-46B4-A75B-6F2CB9D6A55D}" type="slidenum">
              <a:rPr lang="zh-CN" altLang="en-US"/>
              <a:pPr/>
              <a:t>‹#›</a:t>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59.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60.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61.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62.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63.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64.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65.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32.xml.rels><?xml version="1.0" encoding="UTF-8" standalone="yes"?>
<Relationships xmlns="http://schemas.openxmlformats.org/package/2006/relationships"><Relationship Id="rId3" Type="http://schemas.openxmlformats.org/officeDocument/2006/relationships/slide" Target="../slides/slide67.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33.xml.rels><?xml version="1.0" encoding="UTF-8" standalone="yes"?>
<Relationships xmlns="http://schemas.openxmlformats.org/package/2006/relationships"><Relationship Id="rId3" Type="http://schemas.openxmlformats.org/officeDocument/2006/relationships/slide" Target="../slides/slide68.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34.xml.rels><?xml version="1.0" encoding="UTF-8" standalone="yes"?>
<Relationships xmlns="http://schemas.openxmlformats.org/package/2006/relationships"><Relationship Id="rId3" Type="http://schemas.openxmlformats.org/officeDocument/2006/relationships/slide" Target="../slides/slide74.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35.xml.rels><?xml version="1.0" encoding="UTF-8" standalone="yes"?>
<Relationships xmlns="http://schemas.openxmlformats.org/package/2006/relationships"><Relationship Id="rId3" Type="http://schemas.openxmlformats.org/officeDocument/2006/relationships/slide" Target="../slides/slide75.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36.xml.rels><?xml version="1.0" encoding="UTF-8" standalone="yes"?>
<Relationships xmlns="http://schemas.openxmlformats.org/package/2006/relationships"><Relationship Id="rId3" Type="http://schemas.openxmlformats.org/officeDocument/2006/relationships/slide" Target="../slides/slide78.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37.xml.rels><?xml version="1.0" encoding="UTF-8" standalone="yes"?>
<Relationships xmlns="http://schemas.openxmlformats.org/package/2006/relationships"><Relationship Id="rId3" Type="http://schemas.openxmlformats.org/officeDocument/2006/relationships/slide" Target="../slides/slide79.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38.xml.rels><?xml version="1.0" encoding="UTF-8" standalone="yes"?>
<Relationships xmlns="http://schemas.openxmlformats.org/package/2006/relationships"><Relationship Id="rId3" Type="http://schemas.openxmlformats.org/officeDocument/2006/relationships/slide" Target="../slides/slide80.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39.xml.rels><?xml version="1.0" encoding="UTF-8" standalone="yes"?>
<Relationships xmlns="http://schemas.openxmlformats.org/package/2006/relationships"><Relationship Id="rId3" Type="http://schemas.openxmlformats.org/officeDocument/2006/relationships/slide" Target="../slides/slide82.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40.xml.rels><?xml version="1.0" encoding="UTF-8" standalone="yes"?>
<Relationships xmlns="http://schemas.openxmlformats.org/package/2006/relationships"><Relationship Id="rId3" Type="http://schemas.openxmlformats.org/officeDocument/2006/relationships/slide" Target="../slides/slide83.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41.xml.rels><?xml version="1.0" encoding="UTF-8" standalone="yes"?>
<Relationships xmlns="http://schemas.openxmlformats.org/package/2006/relationships"><Relationship Id="rId3" Type="http://schemas.openxmlformats.org/officeDocument/2006/relationships/slide" Target="../slides/slide85.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_rels/notesSlide42.xml.rels><?xml version="1.0" encoding="UTF-8" standalone="yes"?>
<Relationships xmlns="http://schemas.openxmlformats.org/package/2006/relationships"><Relationship Id="rId3" Type="http://schemas.openxmlformats.org/officeDocument/2006/relationships/slide" Target="../slides/slide86.xml"/><Relationship Id="rId2" Type="http://schemas.openxmlformats.org/officeDocument/2006/relationships/notesMaster" Target="../notesMasters/notesMaster1.xml"/><Relationship Id="rId1" Type="http://schemas.openxmlformats.org/officeDocument/2006/relationships/themeOverride" Target="../theme/themeOverride19.xml"/></Relationships>
</file>

<file path=ppt/notesSlides/_rels/notesSlide43.xml.rels><?xml version="1.0" encoding="UTF-8" standalone="yes"?>
<Relationships xmlns="http://schemas.openxmlformats.org/package/2006/relationships"><Relationship Id="rId3" Type="http://schemas.openxmlformats.org/officeDocument/2006/relationships/slide" Target="../slides/slide87.xml"/><Relationship Id="rId2" Type="http://schemas.openxmlformats.org/officeDocument/2006/relationships/notesMaster" Target="../notesMasters/notesMaster1.xml"/><Relationship Id="rId1" Type="http://schemas.openxmlformats.org/officeDocument/2006/relationships/themeOverride" Target="../theme/themeOverride20.xml"/></Relationships>
</file>

<file path=ppt/notesSlides/_rels/notesSlide44.xml.rels><?xml version="1.0" encoding="UTF-8" standalone="yes"?>
<Relationships xmlns="http://schemas.openxmlformats.org/package/2006/relationships"><Relationship Id="rId3" Type="http://schemas.openxmlformats.org/officeDocument/2006/relationships/slide" Target="../slides/slide88.xml"/><Relationship Id="rId2" Type="http://schemas.openxmlformats.org/officeDocument/2006/relationships/notesMaster" Target="../notesMasters/notesMaster1.xml"/><Relationship Id="rId1" Type="http://schemas.openxmlformats.org/officeDocument/2006/relationships/themeOverride" Target="../theme/themeOverride21.xml"/></Relationships>
</file>

<file path=ppt/notesSlides/_rels/notesSlide45.xml.rels><?xml version="1.0" encoding="UTF-8" standalone="yes"?>
<Relationships xmlns="http://schemas.openxmlformats.org/package/2006/relationships"><Relationship Id="rId3" Type="http://schemas.openxmlformats.org/officeDocument/2006/relationships/slide" Target="../slides/slide89.xml"/><Relationship Id="rId2" Type="http://schemas.openxmlformats.org/officeDocument/2006/relationships/notesMaster" Target="../notesMasters/notesMaster1.xml"/><Relationship Id="rId1" Type="http://schemas.openxmlformats.org/officeDocument/2006/relationships/themeOverride" Target="../theme/themeOverride22.xml"/></Relationships>
</file>

<file path=ppt/notesSlides/_rels/notesSlide46.xml.rels><?xml version="1.0" encoding="UTF-8" standalone="yes"?>
<Relationships xmlns="http://schemas.openxmlformats.org/package/2006/relationships"><Relationship Id="rId3" Type="http://schemas.openxmlformats.org/officeDocument/2006/relationships/slide" Target="../slides/slide90.xml"/><Relationship Id="rId2" Type="http://schemas.openxmlformats.org/officeDocument/2006/relationships/notesMaster" Target="../notesMasters/notesMaster1.xml"/><Relationship Id="rId1" Type="http://schemas.openxmlformats.org/officeDocument/2006/relationships/themeOverride" Target="../theme/themeOverride23.xml"/></Relationships>
</file>

<file path=ppt/notesSlides/_rels/notesSlide47.xml.rels><?xml version="1.0" encoding="UTF-8" standalone="yes"?>
<Relationships xmlns="http://schemas.openxmlformats.org/package/2006/relationships"><Relationship Id="rId3" Type="http://schemas.openxmlformats.org/officeDocument/2006/relationships/slide" Target="../slides/slide91.xml"/><Relationship Id="rId2" Type="http://schemas.openxmlformats.org/officeDocument/2006/relationships/notesMaster" Target="../notesMasters/notesMaster1.xml"/><Relationship Id="rId1" Type="http://schemas.openxmlformats.org/officeDocument/2006/relationships/themeOverride" Target="../theme/themeOverride24.xml"/></Relationships>
</file>

<file path=ppt/notesSlides/_rels/notesSlide48.xml.rels><?xml version="1.0" encoding="UTF-8" standalone="yes"?>
<Relationships xmlns="http://schemas.openxmlformats.org/package/2006/relationships"><Relationship Id="rId3" Type="http://schemas.openxmlformats.org/officeDocument/2006/relationships/slide" Target="../slides/slide94.xml"/><Relationship Id="rId2" Type="http://schemas.openxmlformats.org/officeDocument/2006/relationships/notesMaster" Target="../notesMasters/notesMaster1.xml"/><Relationship Id="rId1" Type="http://schemas.openxmlformats.org/officeDocument/2006/relationships/themeOverride" Target="../theme/themeOverride25.xml"/></Relationships>
</file>

<file path=ppt/notesSlides/_rels/notesSlide49.xml.rels><?xml version="1.0" encoding="UTF-8" standalone="yes"?>
<Relationships xmlns="http://schemas.openxmlformats.org/package/2006/relationships"><Relationship Id="rId3" Type="http://schemas.openxmlformats.org/officeDocument/2006/relationships/slide" Target="../slides/slide100.xml"/><Relationship Id="rId2" Type="http://schemas.openxmlformats.org/officeDocument/2006/relationships/notesMaster" Target="../notesMasters/notesMaster1.xml"/><Relationship Id="rId1" Type="http://schemas.openxmlformats.org/officeDocument/2006/relationships/themeOverride" Target="../theme/themeOverride26.xml"/></Relationships>
</file>

<file path=ppt/notesSlides/_rels/notesSlide50.xml.rels><?xml version="1.0" encoding="UTF-8" standalone="yes"?>
<Relationships xmlns="http://schemas.openxmlformats.org/package/2006/relationships"><Relationship Id="rId3" Type="http://schemas.openxmlformats.org/officeDocument/2006/relationships/slide" Target="../slides/slide101.xml"/><Relationship Id="rId2" Type="http://schemas.openxmlformats.org/officeDocument/2006/relationships/notesMaster" Target="../notesMasters/notesMaster1.xml"/><Relationship Id="rId1" Type="http://schemas.openxmlformats.org/officeDocument/2006/relationships/themeOverride" Target="../theme/themeOverride27.xml"/></Relationships>
</file>

<file path=ppt/notesSlides/_rels/notesSlide51.xml.rels><?xml version="1.0" encoding="UTF-8" standalone="yes"?>
<Relationships xmlns="http://schemas.openxmlformats.org/package/2006/relationships"><Relationship Id="rId3" Type="http://schemas.openxmlformats.org/officeDocument/2006/relationships/slide" Target="../slides/slide102.xml"/><Relationship Id="rId2" Type="http://schemas.openxmlformats.org/officeDocument/2006/relationships/notesMaster" Target="../notesMasters/notesMaster1.xml"/><Relationship Id="rId1" Type="http://schemas.openxmlformats.org/officeDocument/2006/relationships/themeOverride" Target="../theme/themeOverride28.xml"/></Relationships>
</file>

<file path=ppt/notesSlides/_rels/notesSlide52.xml.rels><?xml version="1.0" encoding="UTF-8" standalone="yes"?>
<Relationships xmlns="http://schemas.openxmlformats.org/package/2006/relationships"><Relationship Id="rId3" Type="http://schemas.openxmlformats.org/officeDocument/2006/relationships/slide" Target="../slides/slide103.xml"/><Relationship Id="rId2" Type="http://schemas.openxmlformats.org/officeDocument/2006/relationships/notesMaster" Target="../notesMasters/notesMaster1.xml"/><Relationship Id="rId1" Type="http://schemas.openxmlformats.org/officeDocument/2006/relationships/themeOverride" Target="../theme/themeOverride29.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1761405-25B8-4F66-8DA2-0527FA9B915E}" type="slidenum">
              <a:rPr lang="zh-CN" altLang="en-US" smtClean="0"/>
              <a:pPr/>
              <a:t>7</a:t>
            </a:fld>
            <a:endParaRPr lang="zh-CN" altLang="en-US"/>
          </a:p>
        </p:txBody>
      </p:sp>
    </p:spTree>
    <p:extLst>
      <p:ext uri="{BB962C8B-B14F-4D97-AF65-F5344CB8AC3E}">
        <p14:creationId xmlns:p14="http://schemas.microsoft.com/office/powerpoint/2010/main" val="713899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10</a:t>
            </a:fld>
            <a:endParaRPr lang="zh-CN" altLang="en-US" sz="1200"/>
          </a:p>
        </p:txBody>
      </p:sp>
    </p:spTree>
    <p:extLst>
      <p:ext uri="{BB962C8B-B14F-4D97-AF65-F5344CB8AC3E}">
        <p14:creationId xmlns:p14="http://schemas.microsoft.com/office/powerpoint/2010/main" val="4141364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A3CFCD9-671B-4DE1-B6B4-D2055F592E44}" type="slidenum">
              <a:rPr lang="en-US" altLang="zh-CN" smtClean="0"/>
              <a:pPr/>
              <a:t>12</a:t>
            </a:fld>
            <a:endParaRPr lang="en-US" altLang="zh-CN"/>
          </a:p>
        </p:txBody>
      </p:sp>
    </p:spTree>
    <p:extLst>
      <p:ext uri="{BB962C8B-B14F-4D97-AF65-F5344CB8AC3E}">
        <p14:creationId xmlns:p14="http://schemas.microsoft.com/office/powerpoint/2010/main" val="755968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14</a:t>
            </a:fld>
            <a:endParaRPr lang="zh-CN" altLang="en-US" sz="1200"/>
          </a:p>
        </p:txBody>
      </p:sp>
    </p:spTree>
    <p:extLst>
      <p:ext uri="{BB962C8B-B14F-4D97-AF65-F5344CB8AC3E}">
        <p14:creationId xmlns:p14="http://schemas.microsoft.com/office/powerpoint/2010/main" val="2692702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CCAE893-1432-4C66-85E9-D6B485D1630A}"/>
              </a:ext>
            </a:extLst>
          </p:cNvPr>
          <p:cNvSpPr>
            <a:spLocks noChangeArrowheads="1"/>
          </p:cNvSpPr>
          <p:nvPr/>
        </p:nvSpPr>
        <p:spPr bwMode="auto">
          <a:xfrm>
            <a:off x="3851275"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19459" name="Rectangle 3">
            <a:extLst>
              <a:ext uri="{FF2B5EF4-FFF2-40B4-BE49-F238E27FC236}">
                <a16:creationId xmlns:a16="http://schemas.microsoft.com/office/drawing/2014/main" id="{DD568A97-AC74-460B-B7B4-D27183A50F66}"/>
              </a:ext>
            </a:extLst>
          </p:cNvPr>
          <p:cNvSpPr>
            <a:spLocks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r>
              <a:rPr lang="zh-CN" altLang="en-US">
                <a:latin typeface="Times New Roman" panose="02020603050405020304" pitchFamily="18" charset="0"/>
              </a:rPr>
              <a:t>16</a:t>
            </a:r>
          </a:p>
        </p:txBody>
      </p:sp>
      <p:sp>
        <p:nvSpPr>
          <p:cNvPr id="19460" name="Rectangle 4">
            <a:extLst>
              <a:ext uri="{FF2B5EF4-FFF2-40B4-BE49-F238E27FC236}">
                <a16:creationId xmlns:a16="http://schemas.microsoft.com/office/drawing/2014/main" id="{ACAA6AC3-5C97-42FE-B442-C71193673BE8}"/>
              </a:ext>
            </a:extLst>
          </p:cNvPr>
          <p:cNvSpPr>
            <a:spLocks noChangeArrowheads="1"/>
          </p:cNvSpPr>
          <p:nvPr/>
        </p:nvSpPr>
        <p:spPr bwMode="auto">
          <a:xfrm>
            <a:off x="0"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19461" name="Rectangle 5">
            <a:extLst>
              <a:ext uri="{FF2B5EF4-FFF2-40B4-BE49-F238E27FC236}">
                <a16:creationId xmlns:a16="http://schemas.microsoft.com/office/drawing/2014/main" id="{1A7631BA-D929-4A08-813F-4DE17001D115}"/>
              </a:ext>
            </a:extLst>
          </p:cNvPr>
          <p:cNvSpPr>
            <a:spLocks noChangeArrowheads="1"/>
          </p:cNvSpPr>
          <p:nvPr/>
        </p:nvSpPr>
        <p:spPr bwMode="auto">
          <a:xfrm>
            <a:off x="0"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19462" name="Rectangle 6">
            <a:extLst>
              <a:ext uri="{FF2B5EF4-FFF2-40B4-BE49-F238E27FC236}">
                <a16:creationId xmlns:a16="http://schemas.microsoft.com/office/drawing/2014/main" id="{CB9ADDFD-4BB1-4BE1-9ADE-2A09D3C355D5}"/>
              </a:ext>
            </a:extLst>
          </p:cNvPr>
          <p:cNvSpPr>
            <a:spLocks noGrp="1" noRot="1" noChangeAspect="1" noChangeArrowheads="1" noTextEdit="1"/>
          </p:cNvSpPr>
          <p:nvPr>
            <p:ph type="sldImg"/>
          </p:nvPr>
        </p:nvSpPr>
        <p:spPr>
          <a:xfrm>
            <a:off x="939800" y="747713"/>
            <a:ext cx="4918075" cy="3689350"/>
          </a:xfrm>
          <a:ln cap="flat"/>
        </p:spPr>
      </p:sp>
      <p:sp>
        <p:nvSpPr>
          <p:cNvPr id="19463" name="Rectangle 7">
            <a:extLst>
              <a:ext uri="{FF2B5EF4-FFF2-40B4-BE49-F238E27FC236}">
                <a16:creationId xmlns:a16="http://schemas.microsoft.com/office/drawing/2014/main" id="{53AE804F-B10A-46BD-853C-5D7A818C6B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443A3F66-29E3-4C08-98D7-79F20D79E2B8}"/>
              </a:ext>
            </a:extLst>
          </p:cNvPr>
          <p:cNvSpPr>
            <a:spLocks noChangeArrowheads="1"/>
          </p:cNvSpPr>
          <p:nvPr/>
        </p:nvSpPr>
        <p:spPr bwMode="auto">
          <a:xfrm>
            <a:off x="3851275"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1507" name="Rectangle 3">
            <a:extLst>
              <a:ext uri="{FF2B5EF4-FFF2-40B4-BE49-F238E27FC236}">
                <a16:creationId xmlns:a16="http://schemas.microsoft.com/office/drawing/2014/main" id="{772AF856-CD8D-44CF-A4C5-C064DEC2F157}"/>
              </a:ext>
            </a:extLst>
          </p:cNvPr>
          <p:cNvSpPr>
            <a:spLocks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r>
              <a:rPr lang="zh-CN" altLang="en-US">
                <a:latin typeface="Times New Roman" panose="02020603050405020304" pitchFamily="18" charset="0"/>
              </a:rPr>
              <a:t>18</a:t>
            </a:r>
          </a:p>
        </p:txBody>
      </p:sp>
      <p:sp>
        <p:nvSpPr>
          <p:cNvPr id="21508" name="Rectangle 4">
            <a:extLst>
              <a:ext uri="{FF2B5EF4-FFF2-40B4-BE49-F238E27FC236}">
                <a16:creationId xmlns:a16="http://schemas.microsoft.com/office/drawing/2014/main" id="{9828218D-8696-41DE-B486-9763F8934CA5}"/>
              </a:ext>
            </a:extLst>
          </p:cNvPr>
          <p:cNvSpPr>
            <a:spLocks noChangeArrowheads="1"/>
          </p:cNvSpPr>
          <p:nvPr/>
        </p:nvSpPr>
        <p:spPr bwMode="auto">
          <a:xfrm>
            <a:off x="0"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1509" name="Rectangle 5">
            <a:extLst>
              <a:ext uri="{FF2B5EF4-FFF2-40B4-BE49-F238E27FC236}">
                <a16:creationId xmlns:a16="http://schemas.microsoft.com/office/drawing/2014/main" id="{08E9A617-C9C3-4693-870D-F85F9322E0BB}"/>
              </a:ext>
            </a:extLst>
          </p:cNvPr>
          <p:cNvSpPr>
            <a:spLocks noChangeArrowheads="1"/>
          </p:cNvSpPr>
          <p:nvPr/>
        </p:nvSpPr>
        <p:spPr bwMode="auto">
          <a:xfrm>
            <a:off x="0"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1510" name="Rectangle 6">
            <a:extLst>
              <a:ext uri="{FF2B5EF4-FFF2-40B4-BE49-F238E27FC236}">
                <a16:creationId xmlns:a16="http://schemas.microsoft.com/office/drawing/2014/main" id="{3AC4116B-7A1B-4AF7-9C5C-DDD4B32F57F4}"/>
              </a:ext>
            </a:extLst>
          </p:cNvPr>
          <p:cNvSpPr>
            <a:spLocks noGrp="1" noRot="1" noChangeAspect="1" noChangeArrowheads="1" noTextEdit="1"/>
          </p:cNvSpPr>
          <p:nvPr>
            <p:ph type="sldImg"/>
          </p:nvPr>
        </p:nvSpPr>
        <p:spPr>
          <a:xfrm>
            <a:off x="939800" y="747713"/>
            <a:ext cx="4918075" cy="3689350"/>
          </a:xfrm>
          <a:ln cap="flat"/>
        </p:spPr>
      </p:sp>
      <p:sp>
        <p:nvSpPr>
          <p:cNvPr id="21511" name="Rectangle 7">
            <a:extLst>
              <a:ext uri="{FF2B5EF4-FFF2-40B4-BE49-F238E27FC236}">
                <a16:creationId xmlns:a16="http://schemas.microsoft.com/office/drawing/2014/main" id="{0F8A5FDB-AE1C-4C8A-BA1B-071EBE9965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4B0D6635-E010-488B-A961-2A075E625ED6}"/>
              </a:ext>
            </a:extLst>
          </p:cNvPr>
          <p:cNvSpPr>
            <a:spLocks noChangeArrowheads="1"/>
          </p:cNvSpPr>
          <p:nvPr/>
        </p:nvSpPr>
        <p:spPr bwMode="auto">
          <a:xfrm>
            <a:off x="3851275"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3555" name="Rectangle 3">
            <a:extLst>
              <a:ext uri="{FF2B5EF4-FFF2-40B4-BE49-F238E27FC236}">
                <a16:creationId xmlns:a16="http://schemas.microsoft.com/office/drawing/2014/main" id="{145EA6FF-001E-450D-86AC-CC4499D5347B}"/>
              </a:ext>
            </a:extLst>
          </p:cNvPr>
          <p:cNvSpPr>
            <a:spLocks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r>
              <a:rPr lang="zh-CN" altLang="en-US">
                <a:latin typeface="Times New Roman" panose="02020603050405020304" pitchFamily="18" charset="0"/>
              </a:rPr>
              <a:t>19</a:t>
            </a:r>
          </a:p>
        </p:txBody>
      </p:sp>
      <p:sp>
        <p:nvSpPr>
          <p:cNvPr id="23556" name="Rectangle 4">
            <a:extLst>
              <a:ext uri="{FF2B5EF4-FFF2-40B4-BE49-F238E27FC236}">
                <a16:creationId xmlns:a16="http://schemas.microsoft.com/office/drawing/2014/main" id="{2BD38057-6ABB-4522-8C1A-5F3A40694797}"/>
              </a:ext>
            </a:extLst>
          </p:cNvPr>
          <p:cNvSpPr>
            <a:spLocks noChangeArrowheads="1"/>
          </p:cNvSpPr>
          <p:nvPr/>
        </p:nvSpPr>
        <p:spPr bwMode="auto">
          <a:xfrm>
            <a:off x="0"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3557" name="Rectangle 5">
            <a:extLst>
              <a:ext uri="{FF2B5EF4-FFF2-40B4-BE49-F238E27FC236}">
                <a16:creationId xmlns:a16="http://schemas.microsoft.com/office/drawing/2014/main" id="{7BF39DBD-795A-4AC5-85FF-824D5F7A7DEA}"/>
              </a:ext>
            </a:extLst>
          </p:cNvPr>
          <p:cNvSpPr>
            <a:spLocks noChangeArrowheads="1"/>
          </p:cNvSpPr>
          <p:nvPr/>
        </p:nvSpPr>
        <p:spPr bwMode="auto">
          <a:xfrm>
            <a:off x="0"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3558" name="Rectangle 6">
            <a:extLst>
              <a:ext uri="{FF2B5EF4-FFF2-40B4-BE49-F238E27FC236}">
                <a16:creationId xmlns:a16="http://schemas.microsoft.com/office/drawing/2014/main" id="{0F07004D-2106-4A67-9C19-309A89B70078}"/>
              </a:ext>
            </a:extLst>
          </p:cNvPr>
          <p:cNvSpPr>
            <a:spLocks noGrp="1" noRot="1" noChangeAspect="1" noChangeArrowheads="1" noTextEdit="1"/>
          </p:cNvSpPr>
          <p:nvPr>
            <p:ph type="sldImg"/>
          </p:nvPr>
        </p:nvSpPr>
        <p:spPr>
          <a:xfrm>
            <a:off x="939800" y="747713"/>
            <a:ext cx="4918075" cy="3689350"/>
          </a:xfrm>
          <a:ln cap="flat"/>
        </p:spPr>
      </p:sp>
      <p:sp>
        <p:nvSpPr>
          <p:cNvPr id="23559" name="Rectangle 7">
            <a:extLst>
              <a:ext uri="{FF2B5EF4-FFF2-40B4-BE49-F238E27FC236}">
                <a16:creationId xmlns:a16="http://schemas.microsoft.com/office/drawing/2014/main" id="{31A27463-D687-44DD-A052-D57B1CA534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66B17F8C-B836-4196-9FB3-721A225E01D4}"/>
              </a:ext>
            </a:extLst>
          </p:cNvPr>
          <p:cNvSpPr>
            <a:spLocks noChangeArrowheads="1"/>
          </p:cNvSpPr>
          <p:nvPr/>
        </p:nvSpPr>
        <p:spPr bwMode="auto">
          <a:xfrm>
            <a:off x="3851275"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5603" name="Rectangle 3">
            <a:extLst>
              <a:ext uri="{FF2B5EF4-FFF2-40B4-BE49-F238E27FC236}">
                <a16:creationId xmlns:a16="http://schemas.microsoft.com/office/drawing/2014/main" id="{3FE09231-D6AF-4743-A4E4-8D9DDCEEAD6C}"/>
              </a:ext>
            </a:extLst>
          </p:cNvPr>
          <p:cNvSpPr>
            <a:spLocks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r>
              <a:rPr lang="zh-CN" altLang="en-US">
                <a:latin typeface="Times New Roman" panose="02020603050405020304" pitchFamily="18" charset="0"/>
              </a:rPr>
              <a:t>21</a:t>
            </a:r>
          </a:p>
        </p:txBody>
      </p:sp>
      <p:sp>
        <p:nvSpPr>
          <p:cNvPr id="25604" name="Rectangle 4">
            <a:extLst>
              <a:ext uri="{FF2B5EF4-FFF2-40B4-BE49-F238E27FC236}">
                <a16:creationId xmlns:a16="http://schemas.microsoft.com/office/drawing/2014/main" id="{6E22DA29-8CF3-4511-A3DC-25B899D91347}"/>
              </a:ext>
            </a:extLst>
          </p:cNvPr>
          <p:cNvSpPr>
            <a:spLocks noChangeArrowheads="1"/>
          </p:cNvSpPr>
          <p:nvPr/>
        </p:nvSpPr>
        <p:spPr bwMode="auto">
          <a:xfrm>
            <a:off x="0"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5605" name="Rectangle 5">
            <a:extLst>
              <a:ext uri="{FF2B5EF4-FFF2-40B4-BE49-F238E27FC236}">
                <a16:creationId xmlns:a16="http://schemas.microsoft.com/office/drawing/2014/main" id="{54E72447-6B41-4B67-A720-FC0C8F32FB29}"/>
              </a:ext>
            </a:extLst>
          </p:cNvPr>
          <p:cNvSpPr>
            <a:spLocks noChangeArrowheads="1"/>
          </p:cNvSpPr>
          <p:nvPr/>
        </p:nvSpPr>
        <p:spPr bwMode="auto">
          <a:xfrm>
            <a:off x="0"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5606" name="Rectangle 6">
            <a:extLst>
              <a:ext uri="{FF2B5EF4-FFF2-40B4-BE49-F238E27FC236}">
                <a16:creationId xmlns:a16="http://schemas.microsoft.com/office/drawing/2014/main" id="{3380D986-9E70-4129-9F0B-BACCC969D8D8}"/>
              </a:ext>
            </a:extLst>
          </p:cNvPr>
          <p:cNvSpPr>
            <a:spLocks noGrp="1" noRot="1" noChangeAspect="1" noChangeArrowheads="1" noTextEdit="1"/>
          </p:cNvSpPr>
          <p:nvPr>
            <p:ph type="sldImg"/>
          </p:nvPr>
        </p:nvSpPr>
        <p:spPr>
          <a:xfrm>
            <a:off x="939800" y="747713"/>
            <a:ext cx="4918075" cy="3689350"/>
          </a:xfrm>
          <a:ln cap="flat"/>
        </p:spPr>
      </p:sp>
      <p:sp>
        <p:nvSpPr>
          <p:cNvPr id="25607" name="Rectangle 7">
            <a:extLst>
              <a:ext uri="{FF2B5EF4-FFF2-40B4-BE49-F238E27FC236}">
                <a16:creationId xmlns:a16="http://schemas.microsoft.com/office/drawing/2014/main" id="{DD6D9B13-1003-469D-9ECC-AC2B5997A8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D5A6D7D-41FD-449F-B765-78B244DAF6BF}"/>
              </a:ext>
            </a:extLst>
          </p:cNvPr>
          <p:cNvSpPr>
            <a:spLocks noChangeArrowheads="1"/>
          </p:cNvSpPr>
          <p:nvPr/>
        </p:nvSpPr>
        <p:spPr bwMode="auto">
          <a:xfrm>
            <a:off x="3851275"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7651" name="Rectangle 3">
            <a:extLst>
              <a:ext uri="{FF2B5EF4-FFF2-40B4-BE49-F238E27FC236}">
                <a16:creationId xmlns:a16="http://schemas.microsoft.com/office/drawing/2014/main" id="{F73071C2-270E-45BD-A2CC-CD07F48C7E54}"/>
              </a:ext>
            </a:extLst>
          </p:cNvPr>
          <p:cNvSpPr>
            <a:spLocks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r>
              <a:rPr lang="zh-CN" altLang="en-US">
                <a:latin typeface="Times New Roman" panose="02020603050405020304" pitchFamily="18" charset="0"/>
              </a:rPr>
              <a:t>22</a:t>
            </a:r>
          </a:p>
        </p:txBody>
      </p:sp>
      <p:sp>
        <p:nvSpPr>
          <p:cNvPr id="27652" name="Rectangle 4">
            <a:extLst>
              <a:ext uri="{FF2B5EF4-FFF2-40B4-BE49-F238E27FC236}">
                <a16:creationId xmlns:a16="http://schemas.microsoft.com/office/drawing/2014/main" id="{90E6A93F-BE4B-4CB3-9EA3-BE944989C968}"/>
              </a:ext>
            </a:extLst>
          </p:cNvPr>
          <p:cNvSpPr>
            <a:spLocks noChangeArrowheads="1"/>
          </p:cNvSpPr>
          <p:nvPr/>
        </p:nvSpPr>
        <p:spPr bwMode="auto">
          <a:xfrm>
            <a:off x="0"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7653" name="Rectangle 5">
            <a:extLst>
              <a:ext uri="{FF2B5EF4-FFF2-40B4-BE49-F238E27FC236}">
                <a16:creationId xmlns:a16="http://schemas.microsoft.com/office/drawing/2014/main" id="{932FE05E-71D4-49CE-9E1A-290E75996682}"/>
              </a:ext>
            </a:extLst>
          </p:cNvPr>
          <p:cNvSpPr>
            <a:spLocks noChangeArrowheads="1"/>
          </p:cNvSpPr>
          <p:nvPr/>
        </p:nvSpPr>
        <p:spPr bwMode="auto">
          <a:xfrm>
            <a:off x="0"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27654" name="Rectangle 6">
            <a:extLst>
              <a:ext uri="{FF2B5EF4-FFF2-40B4-BE49-F238E27FC236}">
                <a16:creationId xmlns:a16="http://schemas.microsoft.com/office/drawing/2014/main" id="{FF18CA8F-03D6-444E-B6D1-F4F45EFCA918}"/>
              </a:ext>
            </a:extLst>
          </p:cNvPr>
          <p:cNvSpPr>
            <a:spLocks noGrp="1" noRot="1" noChangeAspect="1" noChangeArrowheads="1" noTextEdit="1"/>
          </p:cNvSpPr>
          <p:nvPr>
            <p:ph type="sldImg"/>
          </p:nvPr>
        </p:nvSpPr>
        <p:spPr>
          <a:xfrm>
            <a:off x="939800" y="747713"/>
            <a:ext cx="4918075" cy="3689350"/>
          </a:xfrm>
          <a:ln cap="flat"/>
        </p:spPr>
      </p:sp>
      <p:sp>
        <p:nvSpPr>
          <p:cNvPr id="27655" name="Rectangle 7">
            <a:extLst>
              <a:ext uri="{FF2B5EF4-FFF2-40B4-BE49-F238E27FC236}">
                <a16:creationId xmlns:a16="http://schemas.microsoft.com/office/drawing/2014/main" id="{51DE739A-8013-4727-848E-26D03C5C1F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23</a:t>
            </a:fld>
            <a:endParaRPr lang="zh-CN" altLang="en-US" sz="1200"/>
          </a:p>
        </p:txBody>
      </p:sp>
    </p:spTree>
    <p:extLst>
      <p:ext uri="{BB962C8B-B14F-4D97-AF65-F5344CB8AC3E}">
        <p14:creationId xmlns:p14="http://schemas.microsoft.com/office/powerpoint/2010/main" val="417472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24</a:t>
            </a:fld>
            <a:endParaRPr lang="zh-CN" altLang="en-US" sz="1200"/>
          </a:p>
        </p:txBody>
      </p:sp>
    </p:spTree>
    <p:extLst>
      <p:ext uri="{BB962C8B-B14F-4D97-AF65-F5344CB8AC3E}">
        <p14:creationId xmlns:p14="http://schemas.microsoft.com/office/powerpoint/2010/main" val="250891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25</a:t>
            </a:fld>
            <a:endParaRPr lang="zh-CN" altLang="en-US" sz="1200"/>
          </a:p>
        </p:txBody>
      </p:sp>
    </p:spTree>
    <p:extLst>
      <p:ext uri="{BB962C8B-B14F-4D97-AF65-F5344CB8AC3E}">
        <p14:creationId xmlns:p14="http://schemas.microsoft.com/office/powerpoint/2010/main" val="32492690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DB96CD7-6834-4B88-8E12-D2A7FF1C94AB}"/>
              </a:ext>
            </a:extLst>
          </p:cNvPr>
          <p:cNvSpPr>
            <a:spLocks noChangeArrowheads="1"/>
          </p:cNvSpPr>
          <p:nvPr/>
        </p:nvSpPr>
        <p:spPr bwMode="auto">
          <a:xfrm>
            <a:off x="3851275"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31747" name="Rectangle 3">
            <a:extLst>
              <a:ext uri="{FF2B5EF4-FFF2-40B4-BE49-F238E27FC236}">
                <a16:creationId xmlns:a16="http://schemas.microsoft.com/office/drawing/2014/main" id="{E90F5118-6BA2-43CB-9901-8FDE935F89F0}"/>
              </a:ext>
            </a:extLst>
          </p:cNvPr>
          <p:cNvSpPr>
            <a:spLocks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r>
              <a:rPr lang="zh-CN" altLang="en-US">
                <a:latin typeface="Times New Roman" panose="02020603050405020304" pitchFamily="18" charset="0"/>
              </a:rPr>
              <a:t>27</a:t>
            </a:r>
          </a:p>
        </p:txBody>
      </p:sp>
      <p:sp>
        <p:nvSpPr>
          <p:cNvPr id="31748" name="Rectangle 4">
            <a:extLst>
              <a:ext uri="{FF2B5EF4-FFF2-40B4-BE49-F238E27FC236}">
                <a16:creationId xmlns:a16="http://schemas.microsoft.com/office/drawing/2014/main" id="{D3DA9FA6-04D9-46F9-8155-44D0DB39C7B0}"/>
              </a:ext>
            </a:extLst>
          </p:cNvPr>
          <p:cNvSpPr>
            <a:spLocks noChangeArrowheads="1"/>
          </p:cNvSpPr>
          <p:nvPr/>
        </p:nvSpPr>
        <p:spPr bwMode="auto">
          <a:xfrm>
            <a:off x="0"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31749" name="Rectangle 5">
            <a:extLst>
              <a:ext uri="{FF2B5EF4-FFF2-40B4-BE49-F238E27FC236}">
                <a16:creationId xmlns:a16="http://schemas.microsoft.com/office/drawing/2014/main" id="{510B0055-87E7-4AB0-95E5-9DDE90E0B69B}"/>
              </a:ext>
            </a:extLst>
          </p:cNvPr>
          <p:cNvSpPr>
            <a:spLocks noChangeArrowheads="1"/>
          </p:cNvSpPr>
          <p:nvPr/>
        </p:nvSpPr>
        <p:spPr bwMode="auto">
          <a:xfrm>
            <a:off x="0"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31750" name="Rectangle 6">
            <a:extLst>
              <a:ext uri="{FF2B5EF4-FFF2-40B4-BE49-F238E27FC236}">
                <a16:creationId xmlns:a16="http://schemas.microsoft.com/office/drawing/2014/main" id="{BCF66F22-39FE-416F-B675-53D488C99F7D}"/>
              </a:ext>
            </a:extLst>
          </p:cNvPr>
          <p:cNvSpPr>
            <a:spLocks noGrp="1" noRot="1" noChangeAspect="1" noChangeArrowheads="1" noTextEdit="1"/>
          </p:cNvSpPr>
          <p:nvPr>
            <p:ph type="sldImg"/>
          </p:nvPr>
        </p:nvSpPr>
        <p:spPr>
          <a:xfrm>
            <a:off x="939800" y="747713"/>
            <a:ext cx="4918075" cy="3689350"/>
          </a:xfrm>
          <a:ln cap="flat"/>
        </p:spPr>
      </p:sp>
      <p:sp>
        <p:nvSpPr>
          <p:cNvPr id="31751" name="Rectangle 7">
            <a:extLst>
              <a:ext uri="{FF2B5EF4-FFF2-40B4-BE49-F238E27FC236}">
                <a16:creationId xmlns:a16="http://schemas.microsoft.com/office/drawing/2014/main" id="{CA377AE5-99B2-49CE-837C-CD681F6243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27</a:t>
            </a:fld>
            <a:endParaRPr lang="zh-CN" altLang="en-US" sz="1200"/>
          </a:p>
        </p:txBody>
      </p:sp>
    </p:spTree>
    <p:extLst>
      <p:ext uri="{BB962C8B-B14F-4D97-AF65-F5344CB8AC3E}">
        <p14:creationId xmlns:p14="http://schemas.microsoft.com/office/powerpoint/2010/main" val="3542915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35</a:t>
            </a:fld>
            <a:endParaRPr lang="zh-CN" altLang="en-US" sz="1200"/>
          </a:p>
        </p:txBody>
      </p:sp>
    </p:spTree>
    <p:extLst>
      <p:ext uri="{BB962C8B-B14F-4D97-AF65-F5344CB8AC3E}">
        <p14:creationId xmlns:p14="http://schemas.microsoft.com/office/powerpoint/2010/main" val="1069428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37</a:t>
            </a:fld>
            <a:endParaRPr lang="zh-CN" altLang="en-US" sz="1200"/>
          </a:p>
        </p:txBody>
      </p:sp>
    </p:spTree>
    <p:extLst>
      <p:ext uri="{BB962C8B-B14F-4D97-AF65-F5344CB8AC3E}">
        <p14:creationId xmlns:p14="http://schemas.microsoft.com/office/powerpoint/2010/main" val="3040653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38</a:t>
            </a:fld>
            <a:endParaRPr lang="zh-CN" altLang="en-US" sz="1200"/>
          </a:p>
        </p:txBody>
      </p:sp>
    </p:spTree>
    <p:extLst>
      <p:ext uri="{BB962C8B-B14F-4D97-AF65-F5344CB8AC3E}">
        <p14:creationId xmlns:p14="http://schemas.microsoft.com/office/powerpoint/2010/main" val="4242953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18FA69E-3A88-456F-BD43-A179E55B035B}"/>
              </a:ext>
            </a:extLst>
          </p:cNvPr>
          <p:cNvSpPr>
            <a:spLocks noChangeArrowheads="1"/>
          </p:cNvSpPr>
          <p:nvPr/>
        </p:nvSpPr>
        <p:spPr bwMode="auto">
          <a:xfrm>
            <a:off x="3851275"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39939" name="Rectangle 3">
            <a:extLst>
              <a:ext uri="{FF2B5EF4-FFF2-40B4-BE49-F238E27FC236}">
                <a16:creationId xmlns:a16="http://schemas.microsoft.com/office/drawing/2014/main" id="{FA780A1C-64BB-4DBA-84C4-0C2B14AE9367}"/>
              </a:ext>
            </a:extLst>
          </p:cNvPr>
          <p:cNvSpPr>
            <a:spLocks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r>
              <a:rPr lang="zh-CN" altLang="en-US">
                <a:latin typeface="Times New Roman" panose="02020603050405020304" pitchFamily="18" charset="0"/>
              </a:rPr>
              <a:t>39</a:t>
            </a:r>
          </a:p>
        </p:txBody>
      </p:sp>
      <p:sp>
        <p:nvSpPr>
          <p:cNvPr id="39940" name="Rectangle 4">
            <a:extLst>
              <a:ext uri="{FF2B5EF4-FFF2-40B4-BE49-F238E27FC236}">
                <a16:creationId xmlns:a16="http://schemas.microsoft.com/office/drawing/2014/main" id="{2AADEE61-941C-42A3-B7F0-509F92556ACC}"/>
              </a:ext>
            </a:extLst>
          </p:cNvPr>
          <p:cNvSpPr>
            <a:spLocks noChangeArrowheads="1"/>
          </p:cNvSpPr>
          <p:nvPr/>
        </p:nvSpPr>
        <p:spPr bwMode="auto">
          <a:xfrm>
            <a:off x="0"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39941" name="Rectangle 5">
            <a:extLst>
              <a:ext uri="{FF2B5EF4-FFF2-40B4-BE49-F238E27FC236}">
                <a16:creationId xmlns:a16="http://schemas.microsoft.com/office/drawing/2014/main" id="{05944BAD-D0DF-4130-951D-56B42CCFD34D}"/>
              </a:ext>
            </a:extLst>
          </p:cNvPr>
          <p:cNvSpPr>
            <a:spLocks noChangeArrowheads="1"/>
          </p:cNvSpPr>
          <p:nvPr/>
        </p:nvSpPr>
        <p:spPr bwMode="auto">
          <a:xfrm>
            <a:off x="0"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39942" name="Rectangle 6">
            <a:extLst>
              <a:ext uri="{FF2B5EF4-FFF2-40B4-BE49-F238E27FC236}">
                <a16:creationId xmlns:a16="http://schemas.microsoft.com/office/drawing/2014/main" id="{4D7B9389-6E81-43DA-9A3B-2277069237EE}"/>
              </a:ext>
            </a:extLst>
          </p:cNvPr>
          <p:cNvSpPr>
            <a:spLocks noGrp="1" noRot="1" noChangeAspect="1" noChangeArrowheads="1" noTextEdit="1"/>
          </p:cNvSpPr>
          <p:nvPr>
            <p:ph type="sldImg"/>
          </p:nvPr>
        </p:nvSpPr>
        <p:spPr>
          <a:xfrm>
            <a:off x="939800" y="747713"/>
            <a:ext cx="4918075" cy="3689350"/>
          </a:xfrm>
          <a:ln cap="flat"/>
        </p:spPr>
      </p:sp>
      <p:sp>
        <p:nvSpPr>
          <p:cNvPr id="39943" name="Rectangle 7">
            <a:extLst>
              <a:ext uri="{FF2B5EF4-FFF2-40B4-BE49-F238E27FC236}">
                <a16:creationId xmlns:a16="http://schemas.microsoft.com/office/drawing/2014/main" id="{C0A5528A-3FC0-4AEE-ADCC-0EE3141850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B73253A-69E6-4B06-A6B9-D6E89171CBA7}"/>
              </a:ext>
            </a:extLst>
          </p:cNvPr>
          <p:cNvSpPr>
            <a:spLocks noChangeArrowheads="1"/>
          </p:cNvSpPr>
          <p:nvPr/>
        </p:nvSpPr>
        <p:spPr bwMode="auto">
          <a:xfrm>
            <a:off x="3851275"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44035" name="Rectangle 3">
            <a:extLst>
              <a:ext uri="{FF2B5EF4-FFF2-40B4-BE49-F238E27FC236}">
                <a16:creationId xmlns:a16="http://schemas.microsoft.com/office/drawing/2014/main" id="{BCF6A869-5932-4EDF-81C3-95656C851B79}"/>
              </a:ext>
            </a:extLst>
          </p:cNvPr>
          <p:cNvSpPr>
            <a:spLocks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r>
              <a:rPr lang="zh-CN" altLang="en-US">
                <a:latin typeface="Times New Roman" panose="02020603050405020304" pitchFamily="18" charset="0"/>
              </a:rPr>
              <a:t>40</a:t>
            </a:r>
          </a:p>
        </p:txBody>
      </p:sp>
      <p:sp>
        <p:nvSpPr>
          <p:cNvPr id="44036" name="Rectangle 4">
            <a:extLst>
              <a:ext uri="{FF2B5EF4-FFF2-40B4-BE49-F238E27FC236}">
                <a16:creationId xmlns:a16="http://schemas.microsoft.com/office/drawing/2014/main" id="{3939B545-EBC9-40EE-AEB3-7CEC9BB4AD69}"/>
              </a:ext>
            </a:extLst>
          </p:cNvPr>
          <p:cNvSpPr>
            <a:spLocks noChangeArrowheads="1"/>
          </p:cNvSpPr>
          <p:nvPr/>
        </p:nvSpPr>
        <p:spPr bwMode="auto">
          <a:xfrm>
            <a:off x="0"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44037" name="Rectangle 5">
            <a:extLst>
              <a:ext uri="{FF2B5EF4-FFF2-40B4-BE49-F238E27FC236}">
                <a16:creationId xmlns:a16="http://schemas.microsoft.com/office/drawing/2014/main" id="{4E158CB2-EBCF-4EA5-8AF3-F37FD1F69E22}"/>
              </a:ext>
            </a:extLst>
          </p:cNvPr>
          <p:cNvSpPr>
            <a:spLocks noChangeArrowheads="1"/>
          </p:cNvSpPr>
          <p:nvPr/>
        </p:nvSpPr>
        <p:spPr bwMode="auto">
          <a:xfrm>
            <a:off x="0"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44038" name="Rectangle 6">
            <a:extLst>
              <a:ext uri="{FF2B5EF4-FFF2-40B4-BE49-F238E27FC236}">
                <a16:creationId xmlns:a16="http://schemas.microsoft.com/office/drawing/2014/main" id="{7E3B3ADD-4D1F-42C0-BFF8-9502705DD5F7}"/>
              </a:ext>
            </a:extLst>
          </p:cNvPr>
          <p:cNvSpPr>
            <a:spLocks noGrp="1" noRot="1" noChangeAspect="1" noChangeArrowheads="1" noTextEdit="1"/>
          </p:cNvSpPr>
          <p:nvPr>
            <p:ph type="sldImg"/>
          </p:nvPr>
        </p:nvSpPr>
        <p:spPr>
          <a:xfrm>
            <a:off x="939800" y="747713"/>
            <a:ext cx="4918075" cy="3689350"/>
          </a:xfrm>
          <a:ln cap="flat"/>
        </p:spPr>
      </p:sp>
      <p:sp>
        <p:nvSpPr>
          <p:cNvPr id="44039" name="Rectangle 7">
            <a:extLst>
              <a:ext uri="{FF2B5EF4-FFF2-40B4-BE49-F238E27FC236}">
                <a16:creationId xmlns:a16="http://schemas.microsoft.com/office/drawing/2014/main" id="{61576855-D430-49FD-B40D-794EFBAB48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49</a:t>
            </a:fld>
            <a:endParaRPr lang="zh-CN" altLang="en-US" sz="1200"/>
          </a:p>
        </p:txBody>
      </p:sp>
    </p:spTree>
    <p:extLst>
      <p:ext uri="{BB962C8B-B14F-4D97-AF65-F5344CB8AC3E}">
        <p14:creationId xmlns:p14="http://schemas.microsoft.com/office/powerpoint/2010/main" val="1353569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5"/>
          </p:nvPr>
        </p:nvSpPr>
        <p:spPr/>
        <p:txBody>
          <a:bodyPr/>
          <a:lstStyle/>
          <a:p>
            <a:fld id="{D2A872D7-EC27-46B4-A75B-6F2CB9D6A55D}" type="slidenum">
              <a:rPr lang="zh-CN" altLang="en-US" smtClean="0"/>
              <a:pPr/>
              <a:t>50</a:t>
            </a:fld>
            <a:endParaRPr lang="zh-CN" altLang="en-US" sz="1200"/>
          </a:p>
        </p:txBody>
      </p:sp>
    </p:spTree>
    <p:extLst>
      <p:ext uri="{BB962C8B-B14F-4D97-AF65-F5344CB8AC3E}">
        <p14:creationId xmlns:p14="http://schemas.microsoft.com/office/powerpoint/2010/main" val="1886028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8ED46BA1-8DA4-44BD-B045-EAC10FE5FE23}"/>
              </a:ext>
            </a:extLst>
          </p:cNvPr>
          <p:cNvSpPr>
            <a:spLocks noChangeArrowheads="1"/>
          </p:cNvSpPr>
          <p:nvPr/>
        </p:nvSpPr>
        <p:spPr bwMode="auto">
          <a:xfrm>
            <a:off x="3851275"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57347" name="Rectangle 3">
            <a:extLst>
              <a:ext uri="{FF2B5EF4-FFF2-40B4-BE49-F238E27FC236}">
                <a16:creationId xmlns:a16="http://schemas.microsoft.com/office/drawing/2014/main" id="{F5DAFCB5-C0A0-4DD3-9288-3C74D1411E74}"/>
              </a:ext>
            </a:extLst>
          </p:cNvPr>
          <p:cNvSpPr>
            <a:spLocks noChangeArrowheads="1"/>
          </p:cNvSpPr>
          <p:nvPr/>
        </p:nvSpPr>
        <p:spPr bwMode="auto">
          <a:xfrm>
            <a:off x="3851275"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r>
              <a:rPr lang="zh-CN" altLang="en-US">
                <a:latin typeface="Times New Roman" panose="02020603050405020304" pitchFamily="18" charset="0"/>
              </a:rPr>
              <a:t>64</a:t>
            </a:r>
          </a:p>
        </p:txBody>
      </p:sp>
      <p:sp>
        <p:nvSpPr>
          <p:cNvPr id="57348" name="Rectangle 4">
            <a:extLst>
              <a:ext uri="{FF2B5EF4-FFF2-40B4-BE49-F238E27FC236}">
                <a16:creationId xmlns:a16="http://schemas.microsoft.com/office/drawing/2014/main" id="{F76F7164-70E0-47D4-8D25-65E95BF81B60}"/>
              </a:ext>
            </a:extLst>
          </p:cNvPr>
          <p:cNvSpPr>
            <a:spLocks noChangeArrowheads="1"/>
          </p:cNvSpPr>
          <p:nvPr/>
        </p:nvSpPr>
        <p:spPr bwMode="auto">
          <a:xfrm>
            <a:off x="0" y="9380538"/>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57349" name="Rectangle 5">
            <a:extLst>
              <a:ext uri="{FF2B5EF4-FFF2-40B4-BE49-F238E27FC236}">
                <a16:creationId xmlns:a16="http://schemas.microsoft.com/office/drawing/2014/main" id="{85BBBC59-D53F-4E34-91DA-C74372BA06BC}"/>
              </a:ext>
            </a:extLst>
          </p:cNvPr>
          <p:cNvSpPr>
            <a:spLocks noChangeArrowheads="1"/>
          </p:cNvSpPr>
          <p:nvPr/>
        </p:nvSpPr>
        <p:spPr bwMode="auto">
          <a:xfrm>
            <a:off x="0" y="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en-US" altLang="zh-CN" sz="1800">
              <a:latin typeface="Times New Roman" panose="02020603050405020304" pitchFamily="18" charset="0"/>
            </a:endParaRPr>
          </a:p>
        </p:txBody>
      </p:sp>
      <p:sp>
        <p:nvSpPr>
          <p:cNvPr id="57350" name="Rectangle 6">
            <a:extLst>
              <a:ext uri="{FF2B5EF4-FFF2-40B4-BE49-F238E27FC236}">
                <a16:creationId xmlns:a16="http://schemas.microsoft.com/office/drawing/2014/main" id="{1DCCECDD-521D-4A66-9EE9-322A3D1B4E02}"/>
              </a:ext>
            </a:extLst>
          </p:cNvPr>
          <p:cNvSpPr>
            <a:spLocks noGrp="1" noRot="1" noChangeAspect="1" noChangeArrowheads="1" noTextEdit="1"/>
          </p:cNvSpPr>
          <p:nvPr>
            <p:ph type="sldImg"/>
          </p:nvPr>
        </p:nvSpPr>
        <p:spPr>
          <a:xfrm>
            <a:off x="939800" y="747713"/>
            <a:ext cx="4918075" cy="3689350"/>
          </a:xfrm>
          <a:ln cap="flat"/>
        </p:spPr>
      </p:sp>
      <p:sp>
        <p:nvSpPr>
          <p:cNvPr id="57351" name="Rectangle 7">
            <a:extLst>
              <a:ext uri="{FF2B5EF4-FFF2-40B4-BE49-F238E27FC236}">
                <a16:creationId xmlns:a16="http://schemas.microsoft.com/office/drawing/2014/main" id="{DD86DBE1-AC52-46AF-B7C7-36B7A87DDF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54</a:t>
            </a:fld>
            <a:endParaRPr lang="zh-CN" altLang="en-US" sz="1200"/>
          </a:p>
        </p:txBody>
      </p:sp>
    </p:spTree>
    <p:extLst>
      <p:ext uri="{BB962C8B-B14F-4D97-AF65-F5344CB8AC3E}">
        <p14:creationId xmlns:p14="http://schemas.microsoft.com/office/powerpoint/2010/main" val="32692412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74F34739-BF80-4A97-9D61-177DDD45FCA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B5FDE50C-6929-473F-B2CB-7DD9824D1A96}" type="slidenum">
              <a:rPr lang="en-US" altLang="zh-CN"/>
              <a:pPr algn="r" eaLnBrk="1" hangingPunct="1">
                <a:spcBef>
                  <a:spcPct val="0"/>
                </a:spcBef>
              </a:pPr>
              <a:t>59</a:t>
            </a:fld>
            <a:endParaRPr lang="en-US" altLang="zh-CN"/>
          </a:p>
        </p:txBody>
      </p:sp>
      <p:sp>
        <p:nvSpPr>
          <p:cNvPr id="93187" name="Rectangle 2">
            <a:extLst>
              <a:ext uri="{FF2B5EF4-FFF2-40B4-BE49-F238E27FC236}">
                <a16:creationId xmlns:a16="http://schemas.microsoft.com/office/drawing/2014/main" id="{1A70B420-F9E9-4A65-BBA9-9CEF4D7C6CF5}"/>
              </a:ext>
            </a:extLst>
          </p:cNvPr>
          <p:cNvSpPr>
            <a:spLocks noGrp="1" noRot="1" noChangeAspect="1" noChangeArrowheads="1" noTextEdit="1"/>
          </p:cNvSpPr>
          <p:nvPr>
            <p:ph type="sldImg"/>
          </p:nvPr>
        </p:nvSpPr>
        <p:spPr>
          <a:xfrm>
            <a:off x="1143000" y="534988"/>
            <a:ext cx="4572000" cy="3429000"/>
          </a:xfrm>
          <a:ln/>
        </p:spPr>
      </p:sp>
      <p:sp>
        <p:nvSpPr>
          <p:cNvPr id="93188" name="Rectangle 3">
            <a:extLst>
              <a:ext uri="{FF2B5EF4-FFF2-40B4-BE49-F238E27FC236}">
                <a16:creationId xmlns:a16="http://schemas.microsoft.com/office/drawing/2014/main" id="{5EC1928C-67EE-4B6B-8F82-175B4E6E2944}"/>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The area of any rectangle equals base times height.  </a:t>
            </a:r>
          </a:p>
          <a:p>
            <a:endParaRPr lang="en-US" altLang="zh-CN">
              <a:latin typeface="Arial" panose="020B0604020202020204" pitchFamily="34" charset="0"/>
            </a:endParaRPr>
          </a:p>
          <a:p>
            <a:r>
              <a:rPr lang="en-US" altLang="zh-CN">
                <a:latin typeface="Arial" panose="020B0604020202020204" pitchFamily="34" charset="0"/>
              </a:rPr>
              <a:t>For the green rectangle on this slide, </a:t>
            </a:r>
          </a:p>
          <a:p>
            <a:r>
              <a:rPr lang="en-US" altLang="zh-CN">
                <a:latin typeface="Arial" panose="020B0604020202020204" pitchFamily="34" charset="0"/>
              </a:rPr>
              <a:t>	base = 1 </a:t>
            </a:r>
          </a:p>
          <a:p>
            <a:r>
              <a:rPr lang="en-US" altLang="zh-CN">
                <a:latin typeface="Arial" panose="020B0604020202020204" pitchFamily="34" charset="0"/>
              </a:rPr>
              <a:t>	height = $300 – 260 = $40</a:t>
            </a:r>
          </a:p>
          <a:p>
            <a:r>
              <a:rPr lang="en-US" altLang="zh-CN">
                <a:latin typeface="Arial" panose="020B0604020202020204" pitchFamily="34" charset="0"/>
              </a:rPr>
              <a:t>	area = 1 x $40 = $40</a:t>
            </a:r>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E349DE87-80B7-4D0C-A9F0-427AEB93A04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D21C7A27-0CDC-4FDA-B5FD-865F860E64D6}" type="slidenum">
              <a:rPr lang="en-US" altLang="zh-CN"/>
              <a:pPr algn="r" eaLnBrk="1" hangingPunct="1">
                <a:spcBef>
                  <a:spcPct val="0"/>
                </a:spcBef>
              </a:pPr>
              <a:t>60</a:t>
            </a:fld>
            <a:endParaRPr lang="en-US" altLang="zh-CN"/>
          </a:p>
        </p:txBody>
      </p:sp>
      <p:sp>
        <p:nvSpPr>
          <p:cNvPr id="95235" name="Rectangle 2">
            <a:extLst>
              <a:ext uri="{FF2B5EF4-FFF2-40B4-BE49-F238E27FC236}">
                <a16:creationId xmlns:a16="http://schemas.microsoft.com/office/drawing/2014/main" id="{1598B57B-B012-491D-8BF1-BF3B6CAF6F38}"/>
              </a:ext>
            </a:extLst>
          </p:cNvPr>
          <p:cNvSpPr>
            <a:spLocks noGrp="1" noRot="1" noChangeAspect="1" noChangeArrowheads="1" noTextEdit="1"/>
          </p:cNvSpPr>
          <p:nvPr>
            <p:ph type="sldImg"/>
          </p:nvPr>
        </p:nvSpPr>
        <p:spPr>
          <a:xfrm>
            <a:off x="1143000" y="534988"/>
            <a:ext cx="4572000" cy="3429000"/>
          </a:xfrm>
          <a:ln/>
        </p:spPr>
      </p:sp>
      <p:sp>
        <p:nvSpPr>
          <p:cNvPr id="95236" name="Rectangle 3">
            <a:extLst>
              <a:ext uri="{FF2B5EF4-FFF2-40B4-BE49-F238E27FC236}">
                <a16:creationId xmlns:a16="http://schemas.microsoft.com/office/drawing/2014/main" id="{C03B5E48-472D-4296-AAF0-C7FCEC009078}"/>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The entire green area (total CS) can be divided into two rectangles:  </a:t>
            </a:r>
          </a:p>
          <a:p>
            <a:endParaRPr lang="en-US" altLang="zh-CN">
              <a:latin typeface="Arial" panose="020B0604020202020204" pitchFamily="34" charset="0"/>
            </a:endParaRPr>
          </a:p>
          <a:p>
            <a:r>
              <a:rPr lang="en-US" altLang="zh-CN">
                <a:latin typeface="Arial" panose="020B0604020202020204" pitchFamily="34" charset="0"/>
              </a:rPr>
              <a:t>The first (and leftmost) represents Flea’s CS.  It has a height of $80 and a width of 1. </a:t>
            </a:r>
          </a:p>
          <a:p>
            <a:endParaRPr lang="en-US" altLang="zh-CN">
              <a:latin typeface="Arial" panose="020B0604020202020204" pitchFamily="34" charset="0"/>
            </a:endParaRPr>
          </a:p>
          <a:p>
            <a:r>
              <a:rPr lang="en-US" altLang="zh-CN">
                <a:latin typeface="Arial" panose="020B0604020202020204" pitchFamily="34" charset="0"/>
              </a:rPr>
              <a:t>The second represents Anthony’s CS.  It has a height of $30 and a width of 1.  </a:t>
            </a:r>
          </a:p>
          <a:p>
            <a:endParaRPr lang="en-US" altLang="zh-CN">
              <a:latin typeface="Arial" panose="020B0604020202020204" pitchFamily="34" charset="0"/>
            </a:endParaRPr>
          </a:p>
          <a:p>
            <a:r>
              <a:rPr lang="en-US" altLang="zh-CN">
                <a:latin typeface="Arial" panose="020B0604020202020204" pitchFamily="34" charset="0"/>
              </a:rPr>
              <a:t>The sum of these two rectangular areas equals total CS.  </a:t>
            </a:r>
          </a:p>
          <a:p>
            <a:endParaRPr lang="en-US" altLang="zh-CN">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CC7DEDD7-BCE0-4893-9C8B-FC4E8282BCA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1B2756ED-97A6-4700-8B07-EE02996D6CDD}" type="slidenum">
              <a:rPr lang="en-US" altLang="zh-CN"/>
              <a:pPr algn="r" eaLnBrk="1" hangingPunct="1">
                <a:spcBef>
                  <a:spcPct val="0"/>
                </a:spcBef>
              </a:pPr>
              <a:t>61</a:t>
            </a:fld>
            <a:endParaRPr lang="en-US" altLang="zh-CN"/>
          </a:p>
        </p:txBody>
      </p:sp>
      <p:sp>
        <p:nvSpPr>
          <p:cNvPr id="97283" name="Rectangle 2">
            <a:extLst>
              <a:ext uri="{FF2B5EF4-FFF2-40B4-BE49-F238E27FC236}">
                <a16:creationId xmlns:a16="http://schemas.microsoft.com/office/drawing/2014/main" id="{E6C5EB40-8B07-444C-BF17-E971C89E7072}"/>
              </a:ext>
            </a:extLst>
          </p:cNvPr>
          <p:cNvSpPr>
            <a:spLocks noGrp="1" noRot="1" noChangeAspect="1" noChangeArrowheads="1" noTextEdit="1"/>
          </p:cNvSpPr>
          <p:nvPr>
            <p:ph type="sldImg"/>
          </p:nvPr>
        </p:nvSpPr>
        <p:spPr>
          <a:xfrm>
            <a:off x="1143000" y="534988"/>
            <a:ext cx="4572000" cy="3429000"/>
          </a:xfrm>
          <a:ln/>
        </p:spPr>
      </p:sp>
      <p:sp>
        <p:nvSpPr>
          <p:cNvPr id="97284" name="Rectangle 3">
            <a:extLst>
              <a:ext uri="{FF2B5EF4-FFF2-40B4-BE49-F238E27FC236}">
                <a16:creationId xmlns:a16="http://schemas.microsoft.com/office/drawing/2014/main" id="{0D6235F9-2F4E-4EEF-83F1-46E804493365}"/>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The text in the yellow box summarizes the lesson of the two preceding slides. </a:t>
            </a: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F51A75A7-49B4-4386-8166-DE9A8A26026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4501D819-2BE0-422A-B766-03120B897CB4}" type="slidenum">
              <a:rPr lang="en-US" altLang="zh-CN"/>
              <a:pPr algn="r" eaLnBrk="1" hangingPunct="1">
                <a:spcBef>
                  <a:spcPct val="0"/>
                </a:spcBef>
              </a:pPr>
              <a:t>62</a:t>
            </a:fld>
            <a:endParaRPr lang="en-US" altLang="zh-CN"/>
          </a:p>
        </p:txBody>
      </p:sp>
      <p:sp>
        <p:nvSpPr>
          <p:cNvPr id="99331" name="Rectangle 2">
            <a:extLst>
              <a:ext uri="{FF2B5EF4-FFF2-40B4-BE49-F238E27FC236}">
                <a16:creationId xmlns:a16="http://schemas.microsoft.com/office/drawing/2014/main" id="{A3A0C36D-50DC-4A25-B47D-10A683735AF4}"/>
              </a:ext>
            </a:extLst>
          </p:cNvPr>
          <p:cNvSpPr>
            <a:spLocks noGrp="1" noRot="1" noChangeAspect="1" noChangeArrowheads="1" noTextEdit="1"/>
          </p:cNvSpPr>
          <p:nvPr>
            <p:ph type="sldImg"/>
          </p:nvPr>
        </p:nvSpPr>
        <p:spPr>
          <a:xfrm>
            <a:off x="1143000" y="534988"/>
            <a:ext cx="4572000" cy="3429000"/>
          </a:xfrm>
          <a:ln/>
        </p:spPr>
      </p:sp>
      <p:sp>
        <p:nvSpPr>
          <p:cNvPr id="99332" name="Rectangle 3">
            <a:extLst>
              <a:ext uri="{FF2B5EF4-FFF2-40B4-BE49-F238E27FC236}">
                <a16:creationId xmlns:a16="http://schemas.microsoft.com/office/drawing/2014/main" id="{02E1A7E3-2D2B-46A2-AAAA-1D4D77E8DF01}"/>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In “normal” or edit mode, the text appears to overlap with the vertical axis label.  Don’t worry – in “Slide Show” or presentation mode, the axis labels disappear before the text appears.  </a:t>
            </a: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73738969-B966-4206-ACE3-80550463C00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A3E47A5C-0D15-4A9D-BC45-9726789550B6}" type="slidenum">
              <a:rPr lang="en-US" altLang="zh-CN"/>
              <a:pPr algn="r" eaLnBrk="1" hangingPunct="1">
                <a:spcBef>
                  <a:spcPct val="0"/>
                </a:spcBef>
              </a:pPr>
              <a:t>63</a:t>
            </a:fld>
            <a:endParaRPr lang="en-US" altLang="zh-CN"/>
          </a:p>
        </p:txBody>
      </p:sp>
      <p:sp>
        <p:nvSpPr>
          <p:cNvPr id="101379" name="Rectangle 2">
            <a:extLst>
              <a:ext uri="{FF2B5EF4-FFF2-40B4-BE49-F238E27FC236}">
                <a16:creationId xmlns:a16="http://schemas.microsoft.com/office/drawing/2014/main" id="{984AEDAC-C767-4E25-8683-AC65B6934541}"/>
              </a:ext>
            </a:extLst>
          </p:cNvPr>
          <p:cNvSpPr>
            <a:spLocks noGrp="1" noRot="1" noChangeAspect="1" noChangeArrowheads="1" noTextEdit="1"/>
          </p:cNvSpPr>
          <p:nvPr>
            <p:ph type="sldImg"/>
          </p:nvPr>
        </p:nvSpPr>
        <p:spPr>
          <a:xfrm>
            <a:off x="1143000" y="534988"/>
            <a:ext cx="4572000" cy="3429000"/>
          </a:xfrm>
          <a:ln/>
        </p:spPr>
      </p:sp>
      <p:sp>
        <p:nvSpPr>
          <p:cNvPr id="101380" name="Rectangle 3">
            <a:extLst>
              <a:ext uri="{FF2B5EF4-FFF2-40B4-BE49-F238E27FC236}">
                <a16:creationId xmlns:a16="http://schemas.microsoft.com/office/drawing/2014/main" id="{5E6B421D-5B7C-410B-B255-FA73D5E514A2}"/>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Some students mistake the upper vertical intercept ($60 in this example) for the height of the blue triangle:  they forget to subtract off the height of the bottom of the triangle from the height of the top of the triangle.  So, the first one or two times, it might be worthwhile to show them how to find the height of the triangle.  </a:t>
            </a:r>
          </a:p>
          <a:p>
            <a:endParaRPr lang="en-US" altLang="zh-CN">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839AC40F-FC2B-4B7C-BDBF-A21DE22973D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F94B4BDE-BAE3-4D1D-93B3-05A7048AB1BA}" type="slidenum">
              <a:rPr lang="en-US" altLang="zh-CN"/>
              <a:pPr algn="r" eaLnBrk="1" hangingPunct="1">
                <a:spcBef>
                  <a:spcPct val="0"/>
                </a:spcBef>
              </a:pPr>
              <a:t>64</a:t>
            </a:fld>
            <a:endParaRPr lang="en-US" altLang="zh-CN"/>
          </a:p>
        </p:txBody>
      </p:sp>
      <p:sp>
        <p:nvSpPr>
          <p:cNvPr id="103427" name="Rectangle 2">
            <a:extLst>
              <a:ext uri="{FF2B5EF4-FFF2-40B4-BE49-F238E27FC236}">
                <a16:creationId xmlns:a16="http://schemas.microsoft.com/office/drawing/2014/main" id="{5144C507-5F58-4AEB-B5B5-6ED546D9FB82}"/>
              </a:ext>
            </a:extLst>
          </p:cNvPr>
          <p:cNvSpPr>
            <a:spLocks noGrp="1" noRot="1" noChangeAspect="1" noChangeArrowheads="1" noTextEdit="1"/>
          </p:cNvSpPr>
          <p:nvPr>
            <p:ph type="sldImg"/>
          </p:nvPr>
        </p:nvSpPr>
        <p:spPr>
          <a:xfrm>
            <a:off x="1143000" y="534988"/>
            <a:ext cx="4572000" cy="3429000"/>
          </a:xfrm>
          <a:ln/>
        </p:spPr>
      </p:sp>
      <p:sp>
        <p:nvSpPr>
          <p:cNvPr id="103428" name="Rectangle 3">
            <a:extLst>
              <a:ext uri="{FF2B5EF4-FFF2-40B4-BE49-F238E27FC236}">
                <a16:creationId xmlns:a16="http://schemas.microsoft.com/office/drawing/2014/main" id="{E0FB9F71-EBED-4C4D-B3C0-3AFCEFC2349F}"/>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The book shows how a lower price increases CS.  </a:t>
            </a:r>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93CE4935-8F12-4487-B4A8-343E8121B40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5A656B42-6A1D-424E-AE69-D23E6D14B6C2}" type="slidenum">
              <a:rPr lang="en-US" altLang="zh-CN"/>
              <a:pPr algn="r" eaLnBrk="1" hangingPunct="1">
                <a:spcBef>
                  <a:spcPct val="0"/>
                </a:spcBef>
              </a:pPr>
              <a:t>65</a:t>
            </a:fld>
            <a:endParaRPr lang="en-US" altLang="zh-CN"/>
          </a:p>
        </p:txBody>
      </p:sp>
      <p:sp>
        <p:nvSpPr>
          <p:cNvPr id="105475" name="Rectangle 2">
            <a:extLst>
              <a:ext uri="{FF2B5EF4-FFF2-40B4-BE49-F238E27FC236}">
                <a16:creationId xmlns:a16="http://schemas.microsoft.com/office/drawing/2014/main" id="{75C79FF1-CD3F-40C7-A2F0-A765A21AD6AC}"/>
              </a:ext>
            </a:extLst>
          </p:cNvPr>
          <p:cNvSpPr>
            <a:spLocks noGrp="1" noRot="1" noChangeAspect="1" noChangeArrowheads="1" noTextEdit="1"/>
          </p:cNvSpPr>
          <p:nvPr>
            <p:ph type="sldImg"/>
          </p:nvPr>
        </p:nvSpPr>
        <p:spPr>
          <a:xfrm>
            <a:off x="1143000" y="534988"/>
            <a:ext cx="4572000" cy="3429000"/>
          </a:xfrm>
          <a:ln/>
        </p:spPr>
      </p:sp>
      <p:sp>
        <p:nvSpPr>
          <p:cNvPr id="105476" name="Rectangle 3">
            <a:extLst>
              <a:ext uri="{FF2B5EF4-FFF2-40B4-BE49-F238E27FC236}">
                <a16:creationId xmlns:a16="http://schemas.microsoft.com/office/drawing/2014/main" id="{097D5337-93F9-44C2-920F-2124BFC5C45C}"/>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The material on cost, producer surplus, and the supply curve is analogous to the material earlier on WTP, consumer surplus, and the demand curve. Therefore, this section provides a bit less detail and should move a little more quickly. </a:t>
            </a:r>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0AF01727-BC22-4279-9E41-6D235F0BCE1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C8F60477-780B-4FCC-AD99-9A542D32C89E}" type="slidenum">
              <a:rPr lang="en-US" altLang="zh-CN"/>
              <a:pPr algn="r" eaLnBrk="1" hangingPunct="1">
                <a:spcBef>
                  <a:spcPct val="0"/>
                </a:spcBef>
              </a:pPr>
              <a:t>66</a:t>
            </a:fld>
            <a:endParaRPr lang="en-US" altLang="zh-CN"/>
          </a:p>
        </p:txBody>
      </p:sp>
      <p:sp>
        <p:nvSpPr>
          <p:cNvPr id="107523" name="Rectangle 2">
            <a:extLst>
              <a:ext uri="{FF2B5EF4-FFF2-40B4-BE49-F238E27FC236}">
                <a16:creationId xmlns:a16="http://schemas.microsoft.com/office/drawing/2014/main" id="{468D58E1-F1EB-41A0-A921-E60CEFE5656D}"/>
              </a:ext>
            </a:extLst>
          </p:cNvPr>
          <p:cNvSpPr>
            <a:spLocks noGrp="1" noRot="1" noChangeAspect="1" noChangeArrowheads="1" noTextEdit="1"/>
          </p:cNvSpPr>
          <p:nvPr>
            <p:ph type="sldImg"/>
          </p:nvPr>
        </p:nvSpPr>
        <p:spPr>
          <a:xfrm>
            <a:off x="1143000" y="534988"/>
            <a:ext cx="4572000" cy="3429000"/>
          </a:xfrm>
          <a:ln/>
        </p:spPr>
      </p:sp>
      <p:sp>
        <p:nvSpPr>
          <p:cNvPr id="107524" name="Rectangle 3">
            <a:extLst>
              <a:ext uri="{FF2B5EF4-FFF2-40B4-BE49-F238E27FC236}">
                <a16:creationId xmlns:a16="http://schemas.microsoft.com/office/drawing/2014/main" id="{81E70633-B84E-497E-92EA-7E05A46A9312}"/>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Your students should be able to figure out how to get the Q</a:t>
            </a:r>
            <a:r>
              <a:rPr lang="en-US" altLang="zh-CN" baseline="30000">
                <a:latin typeface="Arial" panose="020B0604020202020204" pitchFamily="34" charset="0"/>
              </a:rPr>
              <a:t>s</a:t>
            </a:r>
            <a:r>
              <a:rPr lang="en-US" altLang="zh-CN">
                <a:latin typeface="Arial" panose="020B0604020202020204" pitchFamily="34" charset="0"/>
              </a:rPr>
              <a:t> numbers in the second column of the table.  </a:t>
            </a:r>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09DD44A5-7C5C-46F5-B4F4-1DAE2B7C28D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8A7E2741-2DDB-4FD6-8B6C-77EBE6B9C3AC}" type="slidenum">
              <a:rPr lang="en-US" altLang="zh-CN"/>
              <a:pPr algn="r" eaLnBrk="1" hangingPunct="1">
                <a:spcBef>
                  <a:spcPct val="0"/>
                </a:spcBef>
              </a:pPr>
              <a:t>67</a:t>
            </a:fld>
            <a:endParaRPr lang="en-US" altLang="zh-CN"/>
          </a:p>
        </p:txBody>
      </p:sp>
      <p:sp>
        <p:nvSpPr>
          <p:cNvPr id="109571" name="Rectangle 2">
            <a:extLst>
              <a:ext uri="{FF2B5EF4-FFF2-40B4-BE49-F238E27FC236}">
                <a16:creationId xmlns:a16="http://schemas.microsoft.com/office/drawing/2014/main" id="{D287307D-C4F3-437C-936A-8CAF0CBF9AB2}"/>
              </a:ext>
            </a:extLst>
          </p:cNvPr>
          <p:cNvSpPr>
            <a:spLocks noGrp="1" noRot="1" noChangeAspect="1" noChangeArrowheads="1" noTextEdit="1"/>
          </p:cNvSpPr>
          <p:nvPr>
            <p:ph type="sldImg"/>
          </p:nvPr>
        </p:nvSpPr>
        <p:spPr>
          <a:xfrm>
            <a:off x="1143000" y="534988"/>
            <a:ext cx="4572000" cy="3429000"/>
          </a:xfrm>
          <a:ln/>
        </p:spPr>
      </p:sp>
      <p:sp>
        <p:nvSpPr>
          <p:cNvPr id="109572" name="Rectangle 3">
            <a:extLst>
              <a:ext uri="{FF2B5EF4-FFF2-40B4-BE49-F238E27FC236}">
                <a16:creationId xmlns:a16="http://schemas.microsoft.com/office/drawing/2014/main" id="{E6088865-A188-47DD-BFB2-17A7FD99CA51}"/>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The derivation of the staircase-supply curve is analogous to that of the staircase demand curve in the earlier example.  Hence, the animation is not as detailed.  </a:t>
            </a:r>
          </a:p>
          <a:p>
            <a:endParaRPr lang="en-US" altLang="zh-CN">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F7A515E6-8998-491E-BB22-96B662E6548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8CFC8ADF-44E8-4392-8109-2CBF7845AAD7}" type="slidenum">
              <a:rPr lang="en-US" altLang="zh-CN"/>
              <a:pPr algn="r" eaLnBrk="1" hangingPunct="1">
                <a:spcBef>
                  <a:spcPct val="0"/>
                </a:spcBef>
              </a:pPr>
              <a:t>68</a:t>
            </a:fld>
            <a:endParaRPr lang="en-US" altLang="zh-CN"/>
          </a:p>
        </p:txBody>
      </p:sp>
      <p:sp>
        <p:nvSpPr>
          <p:cNvPr id="111619" name="Rectangle 2">
            <a:extLst>
              <a:ext uri="{FF2B5EF4-FFF2-40B4-BE49-F238E27FC236}">
                <a16:creationId xmlns:a16="http://schemas.microsoft.com/office/drawing/2014/main" id="{3C315D1F-A6D7-4062-9E92-275B8D32E3C6}"/>
              </a:ext>
            </a:extLst>
          </p:cNvPr>
          <p:cNvSpPr>
            <a:spLocks noGrp="1" noRot="1" noChangeAspect="1" noChangeArrowheads="1" noTextEdit="1"/>
          </p:cNvSpPr>
          <p:nvPr>
            <p:ph type="sldImg"/>
          </p:nvPr>
        </p:nvSpPr>
        <p:spPr>
          <a:xfrm>
            <a:off x="1143000" y="534988"/>
            <a:ext cx="4572000" cy="3429000"/>
          </a:xfrm>
          <a:ln/>
        </p:spPr>
      </p:sp>
      <p:sp>
        <p:nvSpPr>
          <p:cNvPr id="111620" name="Rectangle 3">
            <a:extLst>
              <a:ext uri="{FF2B5EF4-FFF2-40B4-BE49-F238E27FC236}">
                <a16:creationId xmlns:a16="http://schemas.microsoft.com/office/drawing/2014/main" id="{FA6EBB25-320B-4588-9FD2-B7407C5DACB9}"/>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For your students’ future reference, you might also note that we can use the term “marginal cost” as short-hand for “cost of the marginal seller.”  </a:t>
            </a:r>
          </a:p>
          <a:p>
            <a:endParaRPr lang="en-US" altLang="zh-CN">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A1404849-0065-4F22-A0DA-77BD8206E49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040E2A5B-C713-4A3F-BF47-72F252C35DF0}" type="slidenum">
              <a:rPr lang="en-US" altLang="zh-CN"/>
              <a:pPr algn="r" eaLnBrk="1" hangingPunct="1">
                <a:spcBef>
                  <a:spcPct val="0"/>
                </a:spcBef>
              </a:pPr>
              <a:t>74</a:t>
            </a:fld>
            <a:endParaRPr lang="en-US" altLang="zh-CN"/>
          </a:p>
        </p:txBody>
      </p:sp>
      <p:sp>
        <p:nvSpPr>
          <p:cNvPr id="118787" name="Rectangle 2">
            <a:extLst>
              <a:ext uri="{FF2B5EF4-FFF2-40B4-BE49-F238E27FC236}">
                <a16:creationId xmlns:a16="http://schemas.microsoft.com/office/drawing/2014/main" id="{737CCE3F-DE0C-4CA7-BD5E-B52168F2026D}"/>
              </a:ext>
            </a:extLst>
          </p:cNvPr>
          <p:cNvSpPr>
            <a:spLocks noGrp="1" noRot="1" noChangeAspect="1" noChangeArrowheads="1" noTextEdit="1"/>
          </p:cNvSpPr>
          <p:nvPr>
            <p:ph type="sldImg"/>
          </p:nvPr>
        </p:nvSpPr>
        <p:spPr>
          <a:xfrm>
            <a:off x="1547813" y="534988"/>
            <a:ext cx="3749675" cy="2811462"/>
          </a:xfrm>
          <a:ln/>
        </p:spPr>
      </p:sp>
      <p:sp>
        <p:nvSpPr>
          <p:cNvPr id="118788" name="Rectangle 3">
            <a:extLst>
              <a:ext uri="{FF2B5EF4-FFF2-40B4-BE49-F238E27FC236}">
                <a16:creationId xmlns:a16="http://schemas.microsoft.com/office/drawing/2014/main" id="{D0021289-261C-41AF-B9E9-A74772D4AAD9}"/>
              </a:ext>
            </a:extLst>
          </p:cNvPr>
          <p:cNvSpPr>
            <a:spLocks noGrp="1" noChangeArrowheads="1"/>
          </p:cNvSpPr>
          <p:nvPr>
            <p:ph type="body" idx="1"/>
          </p:nvPr>
        </p:nvSpPr>
        <p:spPr>
          <a:xfrm>
            <a:off x="485775" y="3598863"/>
            <a:ext cx="5867400" cy="5202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en-US" altLang="zh-CN">
                <a:latin typeface="Arial" panose="020B0604020202020204" pitchFamily="34" charset="0"/>
              </a:rPr>
              <a:t>It might help to say “participating in the market” means buying and selling.  </a:t>
            </a:r>
          </a:p>
          <a:p>
            <a:pPr>
              <a:spcBef>
                <a:spcPct val="0"/>
              </a:spcBef>
            </a:pPr>
            <a:endParaRPr lang="en-US" altLang="zh-CN">
              <a:latin typeface="Arial" panose="020B0604020202020204" pitchFamily="34" charset="0"/>
            </a:endParaRPr>
          </a:p>
          <a:p>
            <a:pPr>
              <a:spcBef>
                <a:spcPct val="0"/>
              </a:spcBef>
            </a:pPr>
            <a:r>
              <a:rPr lang="en-US" altLang="zh-CN">
                <a:latin typeface="Arial" panose="020B0604020202020204" pitchFamily="34" charset="0"/>
              </a:rPr>
              <a:t>It might also help to say that CS measures the </a:t>
            </a:r>
            <a:r>
              <a:rPr lang="en-US" altLang="zh-CN" u="sng">
                <a:latin typeface="Arial" panose="020B0604020202020204" pitchFamily="34" charset="0"/>
              </a:rPr>
              <a:t>net</a:t>
            </a:r>
            <a:r>
              <a:rPr lang="en-US" altLang="zh-CN">
                <a:latin typeface="Arial" panose="020B0604020202020204" pitchFamily="34" charset="0"/>
              </a:rPr>
              <a:t> benefit to buyers:  the value they get from the good is the gross benefit, minus what they pay leaves the net benefit, or CS.  Similarly, PS is the </a:t>
            </a:r>
            <a:r>
              <a:rPr lang="en-US" altLang="zh-CN" u="sng">
                <a:latin typeface="Arial" panose="020B0604020202020204" pitchFamily="34" charset="0"/>
              </a:rPr>
              <a:t>net</a:t>
            </a:r>
            <a:r>
              <a:rPr lang="en-US" altLang="zh-CN">
                <a:latin typeface="Arial" panose="020B0604020202020204" pitchFamily="34" charset="0"/>
              </a:rPr>
              <a:t> benefit to sellers.  I did not put “net benefit” on this slide because it is not in the book.  But if you wish, you may add it.  </a:t>
            </a:r>
          </a:p>
          <a:p>
            <a:pPr>
              <a:spcBef>
                <a:spcPct val="0"/>
              </a:spcBef>
            </a:pPr>
            <a:endParaRPr lang="en-US" altLang="zh-CN">
              <a:latin typeface="Arial" panose="020B0604020202020204" pitchFamily="34" charset="0"/>
            </a:endParaRPr>
          </a:p>
          <a:p>
            <a:pPr>
              <a:spcBef>
                <a:spcPct val="0"/>
              </a:spcBef>
            </a:pPr>
            <a:r>
              <a:rPr lang="en-US" altLang="zh-CN">
                <a:latin typeface="Arial" panose="020B0604020202020204" pitchFamily="34" charset="0"/>
              </a:rPr>
              <a:t>After showing this slide in class, I show my students a short scene from the movie “Pretty Woman” as an example of these concepts.  In this scene, Julia Roberts is taking a bubble bath in Richard Gere’s hotel room (don’t worry – there’s no nudity!).  Gere comes into the bathroom and they negotiate a price for her to “be at his beck and call” for one week.  After bargaining for a few seconds, they agree on a price of $3000.  A minute later, he says he would have paid $4000 (his willingness to pay), and she says she would have accepted $2000 (her “cost”).  From this, we can deduce that CS = $1000, PS = $1000, and total surplus = $2000.  If this transaction did not occur, then these characters would not have received these “gains from trade.”  </a:t>
            </a:r>
          </a:p>
          <a:p>
            <a:pPr>
              <a:spcBef>
                <a:spcPct val="0"/>
              </a:spcBef>
            </a:pPr>
            <a:endParaRPr lang="en-US" altLang="zh-CN">
              <a:latin typeface="Arial" panose="020B0604020202020204" pitchFamily="34" charset="0"/>
            </a:endParaRPr>
          </a:p>
          <a:p>
            <a:pPr>
              <a:spcBef>
                <a:spcPct val="0"/>
              </a:spcBef>
            </a:pPr>
            <a:r>
              <a:rPr lang="en-US" altLang="zh-CN">
                <a:latin typeface="Arial" panose="020B0604020202020204" pitchFamily="34" charset="0"/>
              </a:rPr>
              <a:t>Disclaimer:  We officially urge you to consult with your institution’s legal advisor to verify that showing this brief clip in your class does not violate any copyright laws.  We accept no responsibility in this matter.  For example, we absolutely do not recommend that you rent “Pretty Woman” on DVD, download a free evaluation copy of a program like </a:t>
            </a:r>
            <a:r>
              <a:rPr lang="en-US" altLang="zh-CN" i="1">
                <a:latin typeface="Arial" panose="020B0604020202020204" pitchFamily="34" charset="0"/>
              </a:rPr>
              <a:t>AoA DVD Ripper</a:t>
            </a:r>
            <a:r>
              <a:rPr lang="en-US" altLang="zh-CN">
                <a:latin typeface="Arial" panose="020B0604020202020204" pitchFamily="34" charset="0"/>
              </a:rPr>
              <a:t> from the website www.aoamedia.com, and use that software to create a video clip of the above-described segment of Pretty Woman from the DVD, a video clip which could then be moved to the computer in your classroom to be shown in your classroom presentation of this chapter.  We urge you to respect the intellectual property of others, and all copyright laws.</a:t>
            </a:r>
          </a:p>
        </p:txBody>
      </p:sp>
    </p:spTree>
  </p:cSld>
  <p:clrMapOvr>
    <a:overrideClrMapping bg1="lt1" tx1="dk1" bg2="lt2" tx2="dk2" accent1="accent1" accent2="accent2" accent3="accent3" accent4="accent4" accent5="accent5" accent6="accent6" hlink="hlink" folHlink="folHlink"/>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C56A512F-D2E4-4BA7-AE9C-5BA92E2AE4E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70B3B752-7810-488B-9340-07885E4657E3}" type="slidenum">
              <a:rPr lang="en-US" altLang="zh-CN"/>
              <a:pPr algn="r" eaLnBrk="1" hangingPunct="1">
                <a:spcBef>
                  <a:spcPct val="0"/>
                </a:spcBef>
              </a:pPr>
              <a:t>75</a:t>
            </a:fld>
            <a:endParaRPr lang="en-US" altLang="zh-CN"/>
          </a:p>
        </p:txBody>
      </p:sp>
      <p:sp>
        <p:nvSpPr>
          <p:cNvPr id="120835" name="Rectangle 2">
            <a:extLst>
              <a:ext uri="{FF2B5EF4-FFF2-40B4-BE49-F238E27FC236}">
                <a16:creationId xmlns:a16="http://schemas.microsoft.com/office/drawing/2014/main" id="{97E53738-C221-4DEE-8905-C5FCA3C66DFE}"/>
              </a:ext>
            </a:extLst>
          </p:cNvPr>
          <p:cNvSpPr>
            <a:spLocks noGrp="1" noRot="1" noChangeAspect="1" noChangeArrowheads="1" noTextEdit="1"/>
          </p:cNvSpPr>
          <p:nvPr>
            <p:ph type="sldImg"/>
          </p:nvPr>
        </p:nvSpPr>
        <p:spPr>
          <a:xfrm>
            <a:off x="1143000" y="534988"/>
            <a:ext cx="4572000" cy="3429000"/>
          </a:xfrm>
          <a:ln/>
        </p:spPr>
      </p:sp>
      <p:sp>
        <p:nvSpPr>
          <p:cNvPr id="120836" name="Rectangle 3">
            <a:extLst>
              <a:ext uri="{FF2B5EF4-FFF2-40B4-BE49-F238E27FC236}">
                <a16:creationId xmlns:a16="http://schemas.microsoft.com/office/drawing/2014/main" id="{7B14D431-419D-4DC1-964E-89D6656001C0}"/>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Is the market’s allocation of resources desirable?  This question is important, because the answer to it has implications for the proper role and scope of government.  </a:t>
            </a:r>
          </a:p>
          <a:p>
            <a:endParaRPr lang="en-US" altLang="zh-CN">
              <a:latin typeface="Arial" panose="020B0604020202020204" pitchFamily="34" charset="0"/>
            </a:endParaRPr>
          </a:p>
          <a:p>
            <a:r>
              <a:rPr lang="en-US" altLang="zh-CN">
                <a:latin typeface="Arial" panose="020B0604020202020204" pitchFamily="34" charset="0"/>
              </a:rPr>
              <a:t>If the market’s allocation is generally desirable, then the role of government should be limited to the protection of property rights, national defense and so forth.  If not, then public policy may potentially be able to improve upon the market’s allocation. </a:t>
            </a:r>
          </a:p>
        </p:txBody>
      </p:sp>
    </p:spTree>
  </p:cSld>
  <p:clrMapOvr>
    <a:overrideClrMapping bg1="lt1" tx1="dk1" bg2="lt2" tx2="dk2" accent1="accent1" accent2="accent2" accent3="accent3" accent4="accent4" accent5="accent5" accent6="accent6" hlink="hlink" folHlink="folHlink"/>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19E99AC5-4A33-4338-9A6E-F54FB1F6D17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90EBAF85-8D51-4B79-B749-3E21E6FDBE37}" type="slidenum">
              <a:rPr lang="en-US" altLang="zh-CN"/>
              <a:pPr algn="r" eaLnBrk="1" hangingPunct="1">
                <a:spcBef>
                  <a:spcPct val="0"/>
                </a:spcBef>
              </a:pPr>
              <a:t>78</a:t>
            </a:fld>
            <a:endParaRPr lang="en-US" altLang="zh-CN"/>
          </a:p>
        </p:txBody>
      </p:sp>
      <p:sp>
        <p:nvSpPr>
          <p:cNvPr id="124931" name="Rectangle 2">
            <a:extLst>
              <a:ext uri="{FF2B5EF4-FFF2-40B4-BE49-F238E27FC236}">
                <a16:creationId xmlns:a16="http://schemas.microsoft.com/office/drawing/2014/main" id="{79279520-4E81-4634-8A5E-DF3B3F1A6126}"/>
              </a:ext>
            </a:extLst>
          </p:cNvPr>
          <p:cNvSpPr>
            <a:spLocks noGrp="1" noRot="1" noChangeAspect="1" noChangeArrowheads="1" noTextEdit="1"/>
          </p:cNvSpPr>
          <p:nvPr>
            <p:ph type="sldImg"/>
          </p:nvPr>
        </p:nvSpPr>
        <p:spPr>
          <a:xfrm>
            <a:off x="1143000" y="534988"/>
            <a:ext cx="4572000" cy="3429000"/>
          </a:xfrm>
          <a:ln/>
        </p:spPr>
      </p:sp>
      <p:sp>
        <p:nvSpPr>
          <p:cNvPr id="124932" name="Rectangle 3">
            <a:extLst>
              <a:ext uri="{FF2B5EF4-FFF2-40B4-BE49-F238E27FC236}">
                <a16:creationId xmlns:a16="http://schemas.microsoft.com/office/drawing/2014/main" id="{185C7B6C-769B-49FD-995C-C2909415B3EB}"/>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It may be worth reminding your students that, at each Q, the height of the D curve is the marginal buyer’s valuation of the good.  Hence, the buyers from 0 to 15 all value the good at least as much as the price, so they will purchase the good at the market price.  </a:t>
            </a:r>
          </a:p>
          <a:p>
            <a:endParaRPr lang="en-US" altLang="zh-CN">
              <a:latin typeface="Arial" panose="020B0604020202020204" pitchFamily="34" charset="0"/>
            </a:endParaRPr>
          </a:p>
          <a:p>
            <a:r>
              <a:rPr lang="en-US" altLang="zh-CN">
                <a:latin typeface="Arial" panose="020B0604020202020204" pitchFamily="34" charset="0"/>
              </a:rPr>
              <a:t>The buyers from 15 on up value the good less than $30, so they won’t buy the good.  </a:t>
            </a:r>
          </a:p>
        </p:txBody>
      </p:sp>
    </p:spTree>
  </p:cSld>
  <p:clrMapOvr>
    <a:overrideClrMapping bg1="lt1" tx1="dk1" bg2="lt2" tx2="dk2" accent1="accent1" accent2="accent2" accent3="accent3" accent4="accent4" accent5="accent5" accent6="accent6" hlink="hlink" folHlink="folHlink"/>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D463EC38-98A8-4DC3-ADA2-EE7FD437DA1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BDE4B8C8-41C4-4A6E-90D1-0C47455EA632}" type="slidenum">
              <a:rPr lang="en-US" altLang="zh-CN"/>
              <a:pPr algn="r" eaLnBrk="1" hangingPunct="1">
                <a:spcBef>
                  <a:spcPct val="0"/>
                </a:spcBef>
              </a:pPr>
              <a:t>79</a:t>
            </a:fld>
            <a:endParaRPr lang="en-US" altLang="zh-CN"/>
          </a:p>
        </p:txBody>
      </p:sp>
      <p:sp>
        <p:nvSpPr>
          <p:cNvPr id="126979" name="Rectangle 2">
            <a:extLst>
              <a:ext uri="{FF2B5EF4-FFF2-40B4-BE49-F238E27FC236}">
                <a16:creationId xmlns:a16="http://schemas.microsoft.com/office/drawing/2014/main" id="{57236E08-BE20-4481-98DB-0230FD0DADF0}"/>
              </a:ext>
            </a:extLst>
          </p:cNvPr>
          <p:cNvSpPr>
            <a:spLocks noGrp="1" noRot="1" noChangeAspect="1" noChangeArrowheads="1" noTextEdit="1"/>
          </p:cNvSpPr>
          <p:nvPr>
            <p:ph type="sldImg"/>
          </p:nvPr>
        </p:nvSpPr>
        <p:spPr>
          <a:xfrm>
            <a:off x="1143000" y="534988"/>
            <a:ext cx="4572000" cy="3429000"/>
          </a:xfrm>
          <a:ln/>
        </p:spPr>
      </p:sp>
      <p:sp>
        <p:nvSpPr>
          <p:cNvPr id="126980" name="Rectangle 3">
            <a:extLst>
              <a:ext uri="{FF2B5EF4-FFF2-40B4-BE49-F238E27FC236}">
                <a16:creationId xmlns:a16="http://schemas.microsoft.com/office/drawing/2014/main" id="{6BE770F9-EFED-4EDA-9DCA-43C74A321B09}"/>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Because the height of the S curve tells us seller’s costs, we can determine the following:  </a:t>
            </a:r>
          </a:p>
          <a:p>
            <a:endParaRPr lang="en-US" altLang="zh-CN">
              <a:latin typeface="Arial" panose="020B0604020202020204" pitchFamily="34" charset="0"/>
            </a:endParaRPr>
          </a:p>
          <a:p>
            <a:r>
              <a:rPr lang="en-US" altLang="zh-CN">
                <a:latin typeface="Arial" panose="020B0604020202020204" pitchFamily="34" charset="0"/>
              </a:rPr>
              <a:t>The sellers of the first 15 units have cost &lt; $30, so it is worthwhile for them to produce the good.  </a:t>
            </a:r>
          </a:p>
          <a:p>
            <a:endParaRPr lang="en-US" altLang="zh-CN">
              <a:latin typeface="Arial" panose="020B0604020202020204" pitchFamily="34" charset="0"/>
            </a:endParaRPr>
          </a:p>
          <a:p>
            <a:r>
              <a:rPr lang="en-US" altLang="zh-CN">
                <a:latin typeface="Arial" panose="020B0604020202020204" pitchFamily="34" charset="0"/>
              </a:rPr>
              <a:t>The other sellers have cost &gt; $30, so they will not sell the good if P = $30.  </a:t>
            </a:r>
          </a:p>
        </p:txBody>
      </p:sp>
    </p:spTree>
  </p:cSld>
  <p:clrMapOvr>
    <a:overrideClrMapping bg1="lt1" tx1="dk1" bg2="lt2" tx2="dk2" accent1="accent1" accent2="accent2" accent3="accent3" accent4="accent4" accent5="accent5" accent6="accent6" hlink="hlink" folHlink="folHlink"/>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6A80757A-4EA0-443D-A479-6C37CA0ED14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148283AF-18A2-4B91-AE12-FE7EC05B6277}" type="slidenum">
              <a:rPr lang="en-US" altLang="zh-CN"/>
              <a:pPr algn="r" eaLnBrk="1" hangingPunct="1">
                <a:spcBef>
                  <a:spcPct val="0"/>
                </a:spcBef>
              </a:pPr>
              <a:t>80</a:t>
            </a:fld>
            <a:endParaRPr lang="en-US" altLang="zh-CN"/>
          </a:p>
        </p:txBody>
      </p:sp>
      <p:sp>
        <p:nvSpPr>
          <p:cNvPr id="129027" name="Rectangle 2">
            <a:extLst>
              <a:ext uri="{FF2B5EF4-FFF2-40B4-BE49-F238E27FC236}">
                <a16:creationId xmlns:a16="http://schemas.microsoft.com/office/drawing/2014/main" id="{AC248EE6-74C1-44E7-BEFC-E0A0F1C967D4}"/>
              </a:ext>
            </a:extLst>
          </p:cNvPr>
          <p:cNvSpPr>
            <a:spLocks noGrp="1" noRot="1" noChangeAspect="1" noChangeArrowheads="1" noTextEdit="1"/>
          </p:cNvSpPr>
          <p:nvPr>
            <p:ph type="sldImg"/>
          </p:nvPr>
        </p:nvSpPr>
        <p:spPr>
          <a:xfrm>
            <a:off x="1143000" y="534988"/>
            <a:ext cx="4572000" cy="3429000"/>
          </a:xfrm>
          <a:ln/>
        </p:spPr>
      </p:sp>
      <p:sp>
        <p:nvSpPr>
          <p:cNvPr id="129028" name="Rectangle 3">
            <a:extLst>
              <a:ext uri="{FF2B5EF4-FFF2-40B4-BE49-F238E27FC236}">
                <a16:creationId xmlns:a16="http://schemas.microsoft.com/office/drawing/2014/main" id="{8BEB65DC-9A54-4737-8778-F0E70B038D07}"/>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This slide shows that, if we are starting from a Q greater than the market equilibrium quantity, we can increase total surplus by reducing Q.  The slide demonstrates this for one particular Q (20), but it is true for any Q greater than the equilibrium quantity.  </a:t>
            </a:r>
          </a:p>
          <a:p>
            <a:endParaRPr lang="en-US" altLang="zh-CN" dirty="0">
              <a:latin typeface="Arial" panose="020B0604020202020204" pitchFamily="34" charset="0"/>
            </a:endParaRPr>
          </a:p>
          <a:p>
            <a:r>
              <a:rPr lang="en-US" altLang="zh-CN" dirty="0">
                <a:latin typeface="Arial" panose="020B0604020202020204" pitchFamily="34" charset="0"/>
              </a:rPr>
              <a:t>Thus, if we continue to reduce Q, total surplus will continue to increase – until we get to the equilibrium quantity.  </a:t>
            </a:r>
          </a:p>
        </p:txBody>
      </p:sp>
    </p:spTree>
  </p:cSld>
  <p:clrMapOvr>
    <a:overrideClrMapping bg1="lt1" tx1="dk1" bg2="lt2" tx2="dk2" accent1="accent1" accent2="accent2" accent3="accent3" accent4="accent4" accent5="accent5" accent6="accent6" hlink="hlink" folHlink="folHlink"/>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21387128-B970-4AEB-BB29-11F80CA17B6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4E2C538D-0CF4-4117-AB5F-4FF5D5B32665}" type="slidenum">
              <a:rPr lang="en-US" altLang="zh-CN"/>
              <a:pPr algn="r" eaLnBrk="1" hangingPunct="1">
                <a:spcBef>
                  <a:spcPct val="0"/>
                </a:spcBef>
              </a:pPr>
              <a:t>82</a:t>
            </a:fld>
            <a:endParaRPr lang="en-US" altLang="zh-CN"/>
          </a:p>
        </p:txBody>
      </p:sp>
      <p:sp>
        <p:nvSpPr>
          <p:cNvPr id="132099" name="Rectangle 2">
            <a:extLst>
              <a:ext uri="{FF2B5EF4-FFF2-40B4-BE49-F238E27FC236}">
                <a16:creationId xmlns:a16="http://schemas.microsoft.com/office/drawing/2014/main" id="{7AF9ECFB-549F-4A76-BB4D-73C046361EB3}"/>
              </a:ext>
            </a:extLst>
          </p:cNvPr>
          <p:cNvSpPr>
            <a:spLocks noGrp="1" noRot="1" noChangeAspect="1" noChangeArrowheads="1" noTextEdit="1"/>
          </p:cNvSpPr>
          <p:nvPr>
            <p:ph type="sldImg"/>
          </p:nvPr>
        </p:nvSpPr>
        <p:spPr>
          <a:xfrm>
            <a:off x="1143000" y="534988"/>
            <a:ext cx="4572000" cy="3429000"/>
          </a:xfrm>
          <a:ln/>
        </p:spPr>
      </p:sp>
      <p:sp>
        <p:nvSpPr>
          <p:cNvPr id="132100" name="Rectangle 3">
            <a:extLst>
              <a:ext uri="{FF2B5EF4-FFF2-40B4-BE49-F238E27FC236}">
                <a16:creationId xmlns:a16="http://schemas.microsoft.com/office/drawing/2014/main" id="{FE89FCB2-C2E7-450D-9E5B-B4DB70E1A911}"/>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This slide shows that, if we are starting from a Q less than the market equilibrium quantity, we can increase total surplus by increasing Q.  The slide demonstrates this for one particular Q (10), but it is true for any Q below the equilibrium quantity.  </a:t>
            </a:r>
          </a:p>
          <a:p>
            <a:endParaRPr lang="en-US" altLang="zh-CN">
              <a:latin typeface="Arial" panose="020B0604020202020204" pitchFamily="34" charset="0"/>
            </a:endParaRPr>
          </a:p>
          <a:p>
            <a:r>
              <a:rPr lang="en-US" altLang="zh-CN">
                <a:latin typeface="Arial" panose="020B0604020202020204" pitchFamily="34" charset="0"/>
              </a:rPr>
              <a:t>Thus, if we continue to increase Q, total surplus will continue to increase – until we get to the equilibrium quantity.</a:t>
            </a:r>
          </a:p>
        </p:txBody>
      </p:sp>
    </p:spTree>
  </p:cSld>
  <p:clrMapOvr>
    <a:overrideClrMapping bg1="lt1" tx1="dk1" bg2="lt2" tx2="dk2" accent1="accent1" accent2="accent2" accent3="accent3" accent4="accent4" accent5="accent5" accent6="accent6" hlink="hlink" folHlink="folHlink"/>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E171BFF5-F09D-4ED7-A39C-B32DCDA0C4A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48C4A032-6CF7-4D42-A9DC-0571FFCC79C9}" type="slidenum">
              <a:rPr lang="en-US" altLang="zh-CN"/>
              <a:pPr algn="r" eaLnBrk="1" hangingPunct="1">
                <a:spcBef>
                  <a:spcPct val="0"/>
                </a:spcBef>
              </a:pPr>
              <a:t>83</a:t>
            </a:fld>
            <a:endParaRPr lang="en-US" altLang="zh-CN"/>
          </a:p>
        </p:txBody>
      </p:sp>
      <p:sp>
        <p:nvSpPr>
          <p:cNvPr id="134147" name="Rectangle 2">
            <a:extLst>
              <a:ext uri="{FF2B5EF4-FFF2-40B4-BE49-F238E27FC236}">
                <a16:creationId xmlns:a16="http://schemas.microsoft.com/office/drawing/2014/main" id="{1C4BF891-33C8-4905-80A9-B735CA826703}"/>
              </a:ext>
            </a:extLst>
          </p:cNvPr>
          <p:cNvSpPr>
            <a:spLocks noGrp="1" noRot="1" noChangeAspect="1" noChangeArrowheads="1" noTextEdit="1"/>
          </p:cNvSpPr>
          <p:nvPr>
            <p:ph type="sldImg"/>
          </p:nvPr>
        </p:nvSpPr>
        <p:spPr>
          <a:xfrm>
            <a:off x="1143000" y="534988"/>
            <a:ext cx="4572000" cy="3429000"/>
          </a:xfrm>
          <a:ln/>
        </p:spPr>
      </p:sp>
      <p:sp>
        <p:nvSpPr>
          <p:cNvPr id="134148" name="Rectangle 3">
            <a:extLst>
              <a:ext uri="{FF2B5EF4-FFF2-40B4-BE49-F238E27FC236}">
                <a16:creationId xmlns:a16="http://schemas.microsoft.com/office/drawing/2014/main" id="{973AB029-68A5-48BB-AF65-B180F6A9DAF4}"/>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This slide summarizes the lesson of the preceding two slides. </a:t>
            </a:r>
          </a:p>
          <a:p>
            <a:endParaRPr lang="en-US" altLang="zh-CN">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E445DC8A-31BD-4813-B5BC-F1E0BD6752B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D047A29A-9241-483B-852E-BC0F839FB13B}" type="slidenum">
              <a:rPr lang="en-US" altLang="zh-CN"/>
              <a:pPr algn="r" eaLnBrk="1" hangingPunct="1">
                <a:spcBef>
                  <a:spcPct val="0"/>
                </a:spcBef>
              </a:pPr>
              <a:t>85</a:t>
            </a:fld>
            <a:endParaRPr lang="en-US" altLang="zh-CN"/>
          </a:p>
        </p:txBody>
      </p:sp>
      <p:sp>
        <p:nvSpPr>
          <p:cNvPr id="137219" name="Rectangle 2">
            <a:extLst>
              <a:ext uri="{FF2B5EF4-FFF2-40B4-BE49-F238E27FC236}">
                <a16:creationId xmlns:a16="http://schemas.microsoft.com/office/drawing/2014/main" id="{6BE60046-1054-4F9F-A9A1-C427F43E5F56}"/>
              </a:ext>
            </a:extLst>
          </p:cNvPr>
          <p:cNvSpPr>
            <a:spLocks noGrp="1" noRot="1" noChangeAspect="1" noChangeArrowheads="1" noTextEdit="1"/>
          </p:cNvSpPr>
          <p:nvPr>
            <p:ph type="sldImg"/>
          </p:nvPr>
        </p:nvSpPr>
        <p:spPr>
          <a:xfrm>
            <a:off x="1143000" y="534988"/>
            <a:ext cx="4572000" cy="3429000"/>
          </a:xfrm>
          <a:ln/>
        </p:spPr>
      </p:sp>
      <p:sp>
        <p:nvSpPr>
          <p:cNvPr id="137220" name="Rectangle 3">
            <a:extLst>
              <a:ext uri="{FF2B5EF4-FFF2-40B4-BE49-F238E27FC236}">
                <a16:creationId xmlns:a16="http://schemas.microsoft.com/office/drawing/2014/main" id="{7DD31038-B28E-49F5-99AC-93D36CE59E62}"/>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We start by analyzing the effects of a price ceiling.  The most common example is rent control, so we do the analysis in the context of this example.  </a:t>
            </a:r>
          </a:p>
          <a:p>
            <a:endParaRPr lang="en-US" altLang="zh-CN">
              <a:latin typeface="Arial" panose="020B0604020202020204" pitchFamily="34" charset="0"/>
            </a:endParaRPr>
          </a:p>
          <a:p>
            <a:r>
              <a:rPr lang="en-US" altLang="zh-CN">
                <a:latin typeface="Arial" panose="020B0604020202020204" pitchFamily="34" charset="0"/>
              </a:rPr>
              <a:t>We begin by showing the market for apartments in equilibrium (before the government imposes any price controls). </a:t>
            </a:r>
          </a:p>
          <a:p>
            <a:endParaRPr lang="en-US" altLang="zh-CN">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3CB787D7-7496-4C85-8046-594DD283444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1A1BE4B5-89B4-4493-953B-415161C48641}" type="slidenum">
              <a:rPr lang="en-US" altLang="zh-CN"/>
              <a:pPr algn="r" eaLnBrk="1" hangingPunct="1">
                <a:spcBef>
                  <a:spcPct val="0"/>
                </a:spcBef>
              </a:pPr>
              <a:t>86</a:t>
            </a:fld>
            <a:endParaRPr lang="en-US" altLang="zh-CN"/>
          </a:p>
        </p:txBody>
      </p:sp>
      <p:sp>
        <p:nvSpPr>
          <p:cNvPr id="139267" name="Rectangle 2">
            <a:extLst>
              <a:ext uri="{FF2B5EF4-FFF2-40B4-BE49-F238E27FC236}">
                <a16:creationId xmlns:a16="http://schemas.microsoft.com/office/drawing/2014/main" id="{E24DC5B1-B444-4C13-94D3-D54B9C7F7B24}"/>
              </a:ext>
            </a:extLst>
          </p:cNvPr>
          <p:cNvSpPr>
            <a:spLocks noGrp="1" noRot="1" noChangeAspect="1" noChangeArrowheads="1" noTextEdit="1"/>
          </p:cNvSpPr>
          <p:nvPr>
            <p:ph type="sldImg"/>
          </p:nvPr>
        </p:nvSpPr>
        <p:spPr>
          <a:xfrm>
            <a:off x="1143000" y="534988"/>
            <a:ext cx="4572000" cy="3429000"/>
          </a:xfrm>
          <a:ln/>
        </p:spPr>
      </p:sp>
      <p:sp>
        <p:nvSpPr>
          <p:cNvPr id="139268" name="Rectangle 3">
            <a:extLst>
              <a:ext uri="{FF2B5EF4-FFF2-40B4-BE49-F238E27FC236}">
                <a16:creationId xmlns:a16="http://schemas.microsoft.com/office/drawing/2014/main" id="{AFDEACDC-CE06-425E-AF6C-DA40C0715C80}"/>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In this case, the price ceiling is binding. </a:t>
            </a:r>
          </a:p>
          <a:p>
            <a:endParaRPr lang="en-US" altLang="zh-CN">
              <a:latin typeface="Arial" panose="020B0604020202020204" pitchFamily="34" charset="0"/>
            </a:endParaRPr>
          </a:p>
          <a:p>
            <a:r>
              <a:rPr lang="en-US" altLang="zh-CN">
                <a:latin typeface="Arial" panose="020B0604020202020204" pitchFamily="34" charset="0"/>
              </a:rPr>
              <a:t>In the new equilibrium with the price ceiling, the actual price (rent) of an apartment will be $500.  It won’t be more than that, because any higher price is illegal.  It won’t be less than $500, because the shortage would be even larger if the price were lower.  </a:t>
            </a:r>
          </a:p>
          <a:p>
            <a:endParaRPr lang="en-US" altLang="zh-CN">
              <a:latin typeface="Arial" panose="020B0604020202020204" pitchFamily="34" charset="0"/>
            </a:endParaRPr>
          </a:p>
          <a:p>
            <a:r>
              <a:rPr lang="en-US" altLang="zh-CN">
                <a:latin typeface="Arial" panose="020B0604020202020204" pitchFamily="34" charset="0"/>
              </a:rPr>
              <a:t>The actual quantity of apartments rented equals 250, and there is a shortage equal to 150 (the difference between the quantity demanded, 400, and the quantity supplied, 250). </a:t>
            </a:r>
          </a:p>
          <a:p>
            <a:endParaRPr lang="en-US" altLang="zh-CN">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D59244CA-EDD6-4B51-8247-C0B11F60CDA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885F38EB-E5AA-4A28-A6EC-A2AB0D73D910}" type="slidenum">
              <a:rPr lang="en-US" altLang="zh-CN"/>
              <a:pPr algn="r" eaLnBrk="1" hangingPunct="1">
                <a:spcBef>
                  <a:spcPct val="0"/>
                </a:spcBef>
              </a:pPr>
              <a:t>87</a:t>
            </a:fld>
            <a:endParaRPr lang="en-US" altLang="zh-CN"/>
          </a:p>
        </p:txBody>
      </p:sp>
      <p:sp>
        <p:nvSpPr>
          <p:cNvPr id="141315" name="Rectangle 2">
            <a:extLst>
              <a:ext uri="{FF2B5EF4-FFF2-40B4-BE49-F238E27FC236}">
                <a16:creationId xmlns:a16="http://schemas.microsoft.com/office/drawing/2014/main" id="{D862D96A-A6CE-4063-BD45-901C85AD4846}"/>
              </a:ext>
            </a:extLst>
          </p:cNvPr>
          <p:cNvSpPr>
            <a:spLocks noGrp="1" noRot="1" noChangeAspect="1" noChangeArrowheads="1" noTextEdit="1"/>
          </p:cNvSpPr>
          <p:nvPr>
            <p:ph type="sldImg"/>
          </p:nvPr>
        </p:nvSpPr>
        <p:spPr>
          <a:xfrm>
            <a:off x="1143000" y="534988"/>
            <a:ext cx="4572000" cy="3429000"/>
          </a:xfrm>
          <a:ln/>
        </p:spPr>
      </p:sp>
      <p:sp>
        <p:nvSpPr>
          <p:cNvPr id="141316" name="Rectangle 3">
            <a:extLst>
              <a:ext uri="{FF2B5EF4-FFF2-40B4-BE49-F238E27FC236}">
                <a16:creationId xmlns:a16="http://schemas.microsoft.com/office/drawing/2014/main" id="{4ABF11AC-8C64-4242-AB6F-99698916468F}"/>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In this case, the price ceiling is binding. </a:t>
            </a:r>
          </a:p>
          <a:p>
            <a:endParaRPr lang="en-US" altLang="zh-CN">
              <a:latin typeface="Arial" panose="020B0604020202020204" pitchFamily="34" charset="0"/>
            </a:endParaRPr>
          </a:p>
          <a:p>
            <a:r>
              <a:rPr lang="en-US" altLang="zh-CN">
                <a:latin typeface="Arial" panose="020B0604020202020204" pitchFamily="34" charset="0"/>
              </a:rPr>
              <a:t>In the new equilibrium with the price ceiling, the actual price (rent) of an apartment will be $500.  It won’t be more than that, because any higher price is illegal.  It won’t be less than $500, because the shortage would be even larger if the price were lower.  </a:t>
            </a:r>
          </a:p>
          <a:p>
            <a:endParaRPr lang="en-US" altLang="zh-CN">
              <a:latin typeface="Arial" panose="020B0604020202020204" pitchFamily="34" charset="0"/>
            </a:endParaRPr>
          </a:p>
          <a:p>
            <a:r>
              <a:rPr lang="en-US" altLang="zh-CN">
                <a:latin typeface="Arial" panose="020B0604020202020204" pitchFamily="34" charset="0"/>
              </a:rPr>
              <a:t>The actual quantity of apartments rented equals 250, and there is a shortage equal to 150 (the difference between the quantity demanded, 400, and the quantity supplied, 250). </a:t>
            </a:r>
          </a:p>
          <a:p>
            <a:endParaRPr lang="en-US" altLang="zh-CN">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70574353-CB0D-4712-A937-8138EE85954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1F951127-D794-4827-B47E-62CE1654A9EC}" type="slidenum">
              <a:rPr lang="en-US" altLang="zh-CN"/>
              <a:pPr algn="r" eaLnBrk="1" hangingPunct="1">
                <a:spcBef>
                  <a:spcPct val="0"/>
                </a:spcBef>
              </a:pPr>
              <a:t>88</a:t>
            </a:fld>
            <a:endParaRPr lang="en-US" altLang="zh-CN"/>
          </a:p>
        </p:txBody>
      </p:sp>
      <p:sp>
        <p:nvSpPr>
          <p:cNvPr id="143363" name="Rectangle 2">
            <a:extLst>
              <a:ext uri="{FF2B5EF4-FFF2-40B4-BE49-F238E27FC236}">
                <a16:creationId xmlns:a16="http://schemas.microsoft.com/office/drawing/2014/main" id="{5099B388-AB3F-4C2B-A8CB-7030583604C3}"/>
              </a:ext>
            </a:extLst>
          </p:cNvPr>
          <p:cNvSpPr>
            <a:spLocks noGrp="1" noRot="1" noChangeAspect="1" noChangeArrowheads="1" noTextEdit="1"/>
          </p:cNvSpPr>
          <p:nvPr>
            <p:ph type="sldImg"/>
          </p:nvPr>
        </p:nvSpPr>
        <p:spPr>
          <a:xfrm>
            <a:off x="1143000" y="534988"/>
            <a:ext cx="4572000" cy="3429000"/>
          </a:xfrm>
          <a:ln/>
        </p:spPr>
      </p:sp>
      <p:sp>
        <p:nvSpPr>
          <p:cNvPr id="143364" name="Rectangle 3">
            <a:extLst>
              <a:ext uri="{FF2B5EF4-FFF2-40B4-BE49-F238E27FC236}">
                <a16:creationId xmlns:a16="http://schemas.microsoft.com/office/drawing/2014/main" id="{9FA1D784-E607-4402-8079-A40EED10A32B}"/>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The last two bullets discuss “efficiency” in the context of rationing goods to those buyers who value them most highly.  This concept will be explored further in the following chapter. </a:t>
            </a:r>
          </a:p>
        </p:txBody>
      </p:sp>
    </p:spTree>
  </p:cSld>
  <p:clrMapOvr>
    <a:overrideClrMapping bg1="lt1" tx1="dk1" bg2="lt2" tx2="dk2" accent1="accent1" accent2="accent2" accent3="accent3" accent4="accent4" accent5="accent5" accent6="accent6" hlink="hlink" folHlink="folHlink"/>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5868D23C-025A-4A39-84CA-E7DCE850FF4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AC1FE153-B282-489A-A332-36AAC1B6EABC}" type="slidenum">
              <a:rPr lang="en-US" altLang="zh-CN"/>
              <a:pPr algn="r" eaLnBrk="1" hangingPunct="1">
                <a:spcBef>
                  <a:spcPct val="0"/>
                </a:spcBef>
              </a:pPr>
              <a:t>89</a:t>
            </a:fld>
            <a:endParaRPr lang="en-US" altLang="zh-CN"/>
          </a:p>
        </p:txBody>
      </p:sp>
      <p:sp>
        <p:nvSpPr>
          <p:cNvPr id="145411" name="Rectangle 2">
            <a:extLst>
              <a:ext uri="{FF2B5EF4-FFF2-40B4-BE49-F238E27FC236}">
                <a16:creationId xmlns:a16="http://schemas.microsoft.com/office/drawing/2014/main" id="{73495A32-8173-4C42-8EED-0A148400463E}"/>
              </a:ext>
            </a:extLst>
          </p:cNvPr>
          <p:cNvSpPr>
            <a:spLocks noGrp="1" noRot="1" noChangeAspect="1" noChangeArrowheads="1" noTextEdit="1"/>
          </p:cNvSpPr>
          <p:nvPr>
            <p:ph type="sldImg"/>
          </p:nvPr>
        </p:nvSpPr>
        <p:spPr>
          <a:xfrm>
            <a:off x="1143000" y="534988"/>
            <a:ext cx="4572000" cy="3429000"/>
          </a:xfrm>
          <a:ln/>
        </p:spPr>
      </p:sp>
      <p:sp>
        <p:nvSpPr>
          <p:cNvPr id="145412" name="Rectangle 3">
            <a:extLst>
              <a:ext uri="{FF2B5EF4-FFF2-40B4-BE49-F238E27FC236}">
                <a16:creationId xmlns:a16="http://schemas.microsoft.com/office/drawing/2014/main" id="{999F3A3F-A903-4FE3-AF91-A52217251FA9}"/>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Now we switch gears and look at the effects of a price floor.  We illustrate this concept using the common textbook example – the minimum wage. </a:t>
            </a:r>
          </a:p>
          <a:p>
            <a:endParaRPr lang="en-US" altLang="zh-CN">
              <a:latin typeface="Arial" panose="020B0604020202020204" pitchFamily="34" charset="0"/>
            </a:endParaRPr>
          </a:p>
          <a:p>
            <a:r>
              <a:rPr lang="en-US" altLang="zh-CN">
                <a:latin typeface="Arial" panose="020B0604020202020204" pitchFamily="34" charset="0"/>
              </a:rPr>
              <a:t>This may be the first time students have seen a supply-demand diagram of the labor market.  It might be useful to note that the “price” of labor is simply the wage, which we measure on the vertical axis of our supply-demand diagram.  Along the horizontal axis, we measure the quantity of labor (number of workers).  The demand for unskilled labor comes from firms.  The supply comes from workers.  </a:t>
            </a:r>
          </a:p>
          <a:p>
            <a:endParaRPr lang="en-US" altLang="zh-CN">
              <a:latin typeface="Arial" panose="020B0604020202020204" pitchFamily="34" charset="0"/>
            </a:endParaRPr>
          </a:p>
          <a:p>
            <a:r>
              <a:rPr lang="en-US" altLang="zh-CN">
                <a:latin typeface="Arial" panose="020B0604020202020204" pitchFamily="34" charset="0"/>
              </a:rPr>
              <a:t>We focus on unskilled labor because the minimum wage is not relevant for higher skilled, higher wage workers.  </a:t>
            </a:r>
          </a:p>
          <a:p>
            <a:endParaRPr lang="en-US" altLang="zh-CN">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2BEA0977-996E-42C3-B508-603C89600FF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9392BBFA-8C9A-4DB6-AE17-7CA597603DC7}" type="slidenum">
              <a:rPr lang="en-US" altLang="zh-CN"/>
              <a:pPr algn="r" eaLnBrk="1" hangingPunct="1">
                <a:spcBef>
                  <a:spcPct val="0"/>
                </a:spcBef>
              </a:pPr>
              <a:t>90</a:t>
            </a:fld>
            <a:endParaRPr lang="en-US" altLang="zh-CN"/>
          </a:p>
        </p:txBody>
      </p:sp>
      <p:sp>
        <p:nvSpPr>
          <p:cNvPr id="147459" name="Rectangle 2">
            <a:extLst>
              <a:ext uri="{FF2B5EF4-FFF2-40B4-BE49-F238E27FC236}">
                <a16:creationId xmlns:a16="http://schemas.microsoft.com/office/drawing/2014/main" id="{FB725828-307B-43DF-B3DA-D2121C65C884}"/>
              </a:ext>
            </a:extLst>
          </p:cNvPr>
          <p:cNvSpPr>
            <a:spLocks noGrp="1" noRot="1" noChangeAspect="1" noChangeArrowheads="1" noTextEdit="1"/>
          </p:cNvSpPr>
          <p:nvPr>
            <p:ph type="sldImg"/>
          </p:nvPr>
        </p:nvSpPr>
        <p:spPr>
          <a:xfrm>
            <a:off x="1143000" y="534988"/>
            <a:ext cx="4572000" cy="3429000"/>
          </a:xfrm>
          <a:ln/>
        </p:spPr>
      </p:sp>
      <p:sp>
        <p:nvSpPr>
          <p:cNvPr id="147460" name="Rectangle 3">
            <a:extLst>
              <a:ext uri="{FF2B5EF4-FFF2-40B4-BE49-F238E27FC236}">
                <a16:creationId xmlns:a16="http://schemas.microsoft.com/office/drawing/2014/main" id="{B3BFA780-60B2-4696-A108-FF8B86458D2E}"/>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Now, the minimum wage exceeds the equilibrium wage.  The equilibrium wage (or any wage below $5) is illegal.  </a:t>
            </a:r>
          </a:p>
          <a:p>
            <a:endParaRPr lang="en-US" altLang="zh-CN">
              <a:latin typeface="Arial" panose="020B0604020202020204" pitchFamily="34" charset="0"/>
            </a:endParaRPr>
          </a:p>
          <a:p>
            <a:r>
              <a:rPr lang="en-US" altLang="zh-CN">
                <a:latin typeface="Arial" panose="020B0604020202020204" pitchFamily="34" charset="0"/>
              </a:rPr>
              <a:t>In this case, the actual wage will be $5.  It will not be lower, because any lower wage is illegal.  It will not be higher, because at any higher wage, the surplus would be even greater.  The actual number of unskilled workers with jobs equals 400.  550 want jobs, but firms are only willing to hire 400, leaving a surplus (i.e. unemployment) of 150 workers.  </a:t>
            </a:r>
          </a:p>
          <a:p>
            <a:endParaRPr lang="en-US" altLang="zh-CN">
              <a:latin typeface="Arial" panose="020B0604020202020204" pitchFamily="34" charset="0"/>
            </a:endParaRPr>
          </a:p>
          <a:p>
            <a:r>
              <a:rPr lang="en-US" altLang="zh-CN">
                <a:latin typeface="Arial" panose="020B0604020202020204" pitchFamily="34" charset="0"/>
              </a:rPr>
              <a:t>A surplus of anything – especially labor – represents wasted resources.  </a:t>
            </a:r>
          </a:p>
        </p:txBody>
      </p:sp>
    </p:spTree>
  </p:cSld>
  <p:clrMapOvr>
    <a:overrideClrMapping bg1="lt1" tx1="dk1" bg2="lt2" tx2="dk2" accent1="accent1" accent2="accent2" accent3="accent3" accent4="accent4" accent5="accent5" accent6="accent6" hlink="hlink" folHlink="folHlink"/>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D01D3F53-2552-4658-8F0D-D007474A59A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2843678F-8EE2-4829-8A32-C0799CB58E64}" type="slidenum">
              <a:rPr lang="en-US" altLang="zh-CN"/>
              <a:pPr algn="r" eaLnBrk="1" hangingPunct="1">
                <a:spcBef>
                  <a:spcPct val="0"/>
                </a:spcBef>
              </a:pPr>
              <a:t>91</a:t>
            </a:fld>
            <a:endParaRPr lang="en-US" altLang="zh-CN"/>
          </a:p>
        </p:txBody>
      </p:sp>
      <p:sp>
        <p:nvSpPr>
          <p:cNvPr id="149507" name="Rectangle 2">
            <a:extLst>
              <a:ext uri="{FF2B5EF4-FFF2-40B4-BE49-F238E27FC236}">
                <a16:creationId xmlns:a16="http://schemas.microsoft.com/office/drawing/2014/main" id="{8038BA09-EE88-4313-945B-77C1436F9252}"/>
              </a:ext>
            </a:extLst>
          </p:cNvPr>
          <p:cNvSpPr>
            <a:spLocks noGrp="1" noRot="1" noChangeAspect="1" noChangeArrowheads="1" noTextEdit="1"/>
          </p:cNvSpPr>
          <p:nvPr>
            <p:ph type="sldImg"/>
          </p:nvPr>
        </p:nvSpPr>
        <p:spPr>
          <a:xfrm>
            <a:off x="1143000" y="534988"/>
            <a:ext cx="4572000" cy="3429000"/>
          </a:xfrm>
          <a:ln/>
        </p:spPr>
      </p:sp>
      <p:sp>
        <p:nvSpPr>
          <p:cNvPr id="149508" name="Rectangle 3">
            <a:extLst>
              <a:ext uri="{FF2B5EF4-FFF2-40B4-BE49-F238E27FC236}">
                <a16:creationId xmlns:a16="http://schemas.microsoft.com/office/drawing/2014/main" id="{9E31AFC1-B39D-43C4-82C1-8440380330AC}"/>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Now, the minimum wage exceeds the equilibrium wage.  The equilibrium wage (or any wage below $5) is illegal.  </a:t>
            </a:r>
          </a:p>
          <a:p>
            <a:endParaRPr lang="en-US" altLang="zh-CN">
              <a:latin typeface="Arial" panose="020B0604020202020204" pitchFamily="34" charset="0"/>
            </a:endParaRPr>
          </a:p>
          <a:p>
            <a:r>
              <a:rPr lang="en-US" altLang="zh-CN">
                <a:latin typeface="Arial" panose="020B0604020202020204" pitchFamily="34" charset="0"/>
              </a:rPr>
              <a:t>In this case, the actual wage will be $5.  It will not be lower, because any lower wage is illegal.  It will not be higher, because at any higher wage, the surplus would be even greater.  The actual number of unskilled workers with jobs equals 400.  550 want jobs, but firms are only willing to hire 400, leaving a surplus (i.e. unemployment) of 150 workers.  </a:t>
            </a:r>
          </a:p>
          <a:p>
            <a:endParaRPr lang="en-US" altLang="zh-CN">
              <a:latin typeface="Arial" panose="020B0604020202020204" pitchFamily="34" charset="0"/>
            </a:endParaRPr>
          </a:p>
          <a:p>
            <a:r>
              <a:rPr lang="en-US" altLang="zh-CN">
                <a:latin typeface="Arial" panose="020B0604020202020204" pitchFamily="34" charset="0"/>
              </a:rPr>
              <a:t>A surplus of anything – especially labor – represents wasted resources.  </a:t>
            </a:r>
          </a:p>
        </p:txBody>
      </p:sp>
    </p:spTree>
  </p:cSld>
  <p:clrMapOvr>
    <a:overrideClrMapping bg1="lt1" tx1="dk1" bg2="lt2" tx2="dk2" accent1="accent1" accent2="accent2" accent3="accent3" accent4="accent4" accent5="accent5" accent6="accent6" hlink="hlink" folHlink="folHlink"/>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75106" name="Rectangle 7">
            <a:extLst>
              <a:ext uri="{FF2B5EF4-FFF2-40B4-BE49-F238E27FC236}">
                <a16:creationId xmlns:a16="http://schemas.microsoft.com/office/drawing/2014/main" id="{DCD37E59-64D2-4E55-85BB-703D6EA7FA0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9D156B04-0705-4E3F-920B-B80D297C6D50}" type="slidenum">
              <a:rPr lang="en-US" altLang="zh-CN"/>
              <a:pPr algn="r" eaLnBrk="1" hangingPunct="1">
                <a:spcBef>
                  <a:spcPct val="0"/>
                </a:spcBef>
              </a:pPr>
              <a:t>94</a:t>
            </a:fld>
            <a:endParaRPr lang="en-US" altLang="zh-CN"/>
          </a:p>
        </p:txBody>
      </p:sp>
      <p:sp>
        <p:nvSpPr>
          <p:cNvPr id="175107" name="Rectangle 2">
            <a:extLst>
              <a:ext uri="{FF2B5EF4-FFF2-40B4-BE49-F238E27FC236}">
                <a16:creationId xmlns:a16="http://schemas.microsoft.com/office/drawing/2014/main" id="{6E436760-C11F-46BB-88FF-E93F924EAA71}"/>
              </a:ext>
            </a:extLst>
          </p:cNvPr>
          <p:cNvSpPr>
            <a:spLocks noGrp="1" noRot="1" noChangeAspect="1" noChangeArrowheads="1" noTextEdit="1"/>
          </p:cNvSpPr>
          <p:nvPr>
            <p:ph type="sldImg"/>
          </p:nvPr>
        </p:nvSpPr>
        <p:spPr>
          <a:xfrm>
            <a:off x="1143000" y="534988"/>
            <a:ext cx="4572000" cy="3429000"/>
          </a:xfrm>
          <a:ln/>
        </p:spPr>
      </p:sp>
      <p:sp>
        <p:nvSpPr>
          <p:cNvPr id="175108" name="Rectangle 3">
            <a:extLst>
              <a:ext uri="{FF2B5EF4-FFF2-40B4-BE49-F238E27FC236}">
                <a16:creationId xmlns:a16="http://schemas.microsoft.com/office/drawing/2014/main" id="{1143E54C-1ECB-433D-8F71-062E9601BFD6}"/>
              </a:ext>
            </a:extLst>
          </p:cNvPr>
          <p:cNvSpPr>
            <a:spLocks noGrp="1" noChangeArrowheads="1"/>
          </p:cNvSpPr>
          <p:nvPr>
            <p:ph type="body" idx="1"/>
          </p:nvPr>
        </p:nvSpPr>
        <p:spPr>
          <a:xfrm>
            <a:off x="685800" y="4248150"/>
            <a:ext cx="5486400" cy="4210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If you wish, you may delete this slide and give the information verbally at the beginning of the next slide.  </a:t>
            </a:r>
          </a:p>
        </p:txBody>
      </p:sp>
    </p:spTree>
  </p:cSld>
  <p:clrMapOvr>
    <a:overrideClrMapping bg1="lt1" tx1="dk1" bg2="lt2" tx2="dk2" accent1="accent1" accent2="accent2" accent3="accent3" accent4="accent4" accent5="accent5" accent6="accent6" hlink="hlink" folHlink="folHlink"/>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82274" name="Rectangle 7">
            <a:extLst>
              <a:ext uri="{FF2B5EF4-FFF2-40B4-BE49-F238E27FC236}">
                <a16:creationId xmlns:a16="http://schemas.microsoft.com/office/drawing/2014/main" id="{9249D322-69C9-41B7-9EE9-4A3F5CD9066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1275BA1C-A042-41B6-880F-9EF1C563AC81}" type="slidenum">
              <a:rPr lang="en-US" altLang="zh-CN"/>
              <a:pPr algn="r" eaLnBrk="1" hangingPunct="1">
                <a:spcBef>
                  <a:spcPct val="0"/>
                </a:spcBef>
              </a:pPr>
              <a:t>100</a:t>
            </a:fld>
            <a:endParaRPr lang="en-US" altLang="zh-CN"/>
          </a:p>
        </p:txBody>
      </p:sp>
      <p:sp>
        <p:nvSpPr>
          <p:cNvPr id="182275" name="Rectangle 2">
            <a:extLst>
              <a:ext uri="{FF2B5EF4-FFF2-40B4-BE49-F238E27FC236}">
                <a16:creationId xmlns:a16="http://schemas.microsoft.com/office/drawing/2014/main" id="{E5478534-8687-4D10-8BA5-EDD0DF0460F7}"/>
              </a:ext>
            </a:extLst>
          </p:cNvPr>
          <p:cNvSpPr>
            <a:spLocks noGrp="1" noRot="1" noChangeAspect="1" noChangeArrowheads="1" noTextEdit="1"/>
          </p:cNvSpPr>
          <p:nvPr>
            <p:ph type="sldImg"/>
          </p:nvPr>
        </p:nvSpPr>
        <p:spPr>
          <a:ln/>
        </p:spPr>
      </p:sp>
      <p:sp>
        <p:nvSpPr>
          <p:cNvPr id="182276" name="Rectangle 3">
            <a:extLst>
              <a:ext uri="{FF2B5EF4-FFF2-40B4-BE49-F238E27FC236}">
                <a16:creationId xmlns:a16="http://schemas.microsoft.com/office/drawing/2014/main" id="{1E4DF0CE-5B35-4F5C-A76A-4339F5CA0B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When there’s no tax, the market equilibrium quantity maximizes total surplus.  </a:t>
            </a:r>
          </a:p>
          <a:p>
            <a:endParaRPr lang="en-US" altLang="zh-CN">
              <a:latin typeface="Arial" panose="020B0604020202020204" pitchFamily="34" charset="0"/>
            </a:endParaRPr>
          </a:p>
          <a:p>
            <a:r>
              <a:rPr lang="en-US" altLang="zh-CN">
                <a:latin typeface="Arial" panose="020B0604020202020204" pitchFamily="34" charset="0"/>
              </a:rPr>
              <a:t>The tax causes the price sellers receive to fall, so sellers will supply a smaller quantity, and the new equilibrium quantity falls below the one that maximizes total surplus – hence the DWL. </a:t>
            </a:r>
          </a:p>
          <a:p>
            <a:endParaRPr lang="en-US" altLang="zh-CN">
              <a:latin typeface="Arial" panose="020B0604020202020204" pitchFamily="34" charset="0"/>
            </a:endParaRPr>
          </a:p>
          <a:p>
            <a:r>
              <a:rPr lang="en-US" altLang="zh-CN">
                <a:latin typeface="Arial" panose="020B0604020202020204" pitchFamily="34" charset="0"/>
              </a:rPr>
              <a:t>When supply is inelastic, sellers do not reduce Q much below the surplus-maximizing quantity, so DWL is small.</a:t>
            </a:r>
          </a:p>
        </p:txBody>
      </p:sp>
    </p:spTree>
  </p:cSld>
  <p:clrMapOvr>
    <a:overrideClrMapping bg1="lt1" tx1="dk1" bg2="lt2" tx2="dk2" accent1="accent1" accent2="accent2" accent3="accent3" accent4="accent4" accent5="accent5" accent6="accent6" hlink="hlink" folHlink="folHlink"/>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5DE869ED-8485-428A-9040-EFD26174415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10FDB082-B7A9-418C-B2BD-0C782BF1C3D6}" type="slidenum">
              <a:rPr lang="en-US" altLang="zh-CN"/>
              <a:pPr algn="r" eaLnBrk="1" hangingPunct="1">
                <a:spcBef>
                  <a:spcPct val="0"/>
                </a:spcBef>
              </a:pPr>
              <a:t>101</a:t>
            </a:fld>
            <a:endParaRPr lang="en-US" altLang="zh-CN"/>
          </a:p>
        </p:txBody>
      </p:sp>
      <p:sp>
        <p:nvSpPr>
          <p:cNvPr id="184323" name="Rectangle 2">
            <a:extLst>
              <a:ext uri="{FF2B5EF4-FFF2-40B4-BE49-F238E27FC236}">
                <a16:creationId xmlns:a16="http://schemas.microsoft.com/office/drawing/2014/main" id="{0AF526CA-8152-4C04-B6E9-4700D7D3E738}"/>
              </a:ext>
            </a:extLst>
          </p:cNvPr>
          <p:cNvSpPr>
            <a:spLocks noGrp="1" noRot="1" noChangeAspect="1" noChangeArrowheads="1" noTextEdit="1"/>
          </p:cNvSpPr>
          <p:nvPr>
            <p:ph type="sldImg"/>
          </p:nvPr>
        </p:nvSpPr>
        <p:spPr>
          <a:ln/>
        </p:spPr>
      </p:sp>
      <p:sp>
        <p:nvSpPr>
          <p:cNvPr id="184324" name="Rectangle 3">
            <a:extLst>
              <a:ext uri="{FF2B5EF4-FFF2-40B4-BE49-F238E27FC236}">
                <a16:creationId xmlns:a16="http://schemas.microsoft.com/office/drawing/2014/main" id="{DD19CD5A-8672-4792-855D-5FB213EDE9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In this graph, the demand curve, equilibrium price, and size of the tax are identical to those in the graph on the preceding slide.  The only thing that’s different is the supply curve here is flatter; as a result, the same size tax as before causes a larger DWL.  </a:t>
            </a:r>
          </a:p>
        </p:txBody>
      </p:sp>
    </p:spTree>
  </p:cSld>
  <p:clrMapOvr>
    <a:overrideClrMapping bg1="lt1" tx1="dk1" bg2="lt2" tx2="dk2" accent1="accent1" accent2="accent2" accent3="accent3" accent4="accent4" accent5="accent5" accent6="accent6" hlink="hlink" folHlink="folHlink"/>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86370" name="Rectangle 7">
            <a:extLst>
              <a:ext uri="{FF2B5EF4-FFF2-40B4-BE49-F238E27FC236}">
                <a16:creationId xmlns:a16="http://schemas.microsoft.com/office/drawing/2014/main" id="{337669FC-6157-4D0A-8DE9-816F4E72B18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AE9ACDD1-BCCC-432D-8AAF-8180DA4AA818}" type="slidenum">
              <a:rPr lang="en-US" altLang="zh-CN"/>
              <a:pPr algn="r" eaLnBrk="1" hangingPunct="1">
                <a:spcBef>
                  <a:spcPct val="0"/>
                </a:spcBef>
              </a:pPr>
              <a:t>102</a:t>
            </a:fld>
            <a:endParaRPr lang="en-US" altLang="zh-CN"/>
          </a:p>
        </p:txBody>
      </p:sp>
      <p:sp>
        <p:nvSpPr>
          <p:cNvPr id="186371" name="Rectangle 3">
            <a:extLst>
              <a:ext uri="{FF2B5EF4-FFF2-40B4-BE49-F238E27FC236}">
                <a16:creationId xmlns:a16="http://schemas.microsoft.com/office/drawing/2014/main" id="{80E70D11-A083-4B5E-AFA7-BB286D398A08}"/>
              </a:ext>
            </a:extLst>
          </p:cNvPr>
          <p:cNvSpPr>
            <a:spLocks noGrp="1" noRot="1" noChangeAspect="1" noChangeArrowheads="1" noTextEdit="1"/>
          </p:cNvSpPr>
          <p:nvPr>
            <p:ph type="sldImg"/>
          </p:nvPr>
        </p:nvSpPr>
        <p:spPr>
          <a:ln/>
        </p:spPr>
      </p:sp>
      <p:sp>
        <p:nvSpPr>
          <p:cNvPr id="186372" name="Rectangle 4">
            <a:extLst>
              <a:ext uri="{FF2B5EF4-FFF2-40B4-BE49-F238E27FC236}">
                <a16:creationId xmlns:a16="http://schemas.microsoft.com/office/drawing/2014/main" id="{71B2636D-9364-492B-B0B6-6330961F237F}"/>
              </a:ext>
            </a:extLst>
          </p:cNvPr>
          <p:cNvSpPr>
            <a:spLocks noGrp="1" noRot="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The tax raises the price buyers pay and therefore reduces the quantity demanded.  The equilibrium quantity falls below the surplus-maximizing quantity, but not by much when demand is price-inelastic.  </a:t>
            </a:r>
          </a:p>
        </p:txBody>
      </p:sp>
    </p:spTree>
  </p:cSld>
  <p:clrMapOvr>
    <a:overrideClrMapping bg1="lt1" tx1="dk1" bg2="lt2" tx2="dk2" accent1="accent1" accent2="accent2" accent3="accent3" accent4="accent4" accent5="accent5" accent6="accent6" hlink="hlink" folHlink="folHlink"/>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88418" name="Rectangle 7">
            <a:extLst>
              <a:ext uri="{FF2B5EF4-FFF2-40B4-BE49-F238E27FC236}">
                <a16:creationId xmlns:a16="http://schemas.microsoft.com/office/drawing/2014/main" id="{11043B1A-DB89-4005-98F4-14EE47E46D9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7573A7E5-47DE-47F1-962E-9BDB2661E444}" type="slidenum">
              <a:rPr lang="en-US" altLang="zh-CN"/>
              <a:pPr algn="r" eaLnBrk="1" hangingPunct="1">
                <a:spcBef>
                  <a:spcPct val="0"/>
                </a:spcBef>
              </a:pPr>
              <a:t>103</a:t>
            </a:fld>
            <a:endParaRPr lang="en-US" altLang="zh-CN"/>
          </a:p>
        </p:txBody>
      </p:sp>
      <p:sp>
        <p:nvSpPr>
          <p:cNvPr id="188419" name="Rectangle 2">
            <a:extLst>
              <a:ext uri="{FF2B5EF4-FFF2-40B4-BE49-F238E27FC236}">
                <a16:creationId xmlns:a16="http://schemas.microsoft.com/office/drawing/2014/main" id="{A715704D-49FB-4ABC-9495-90C5C230A720}"/>
              </a:ext>
            </a:extLst>
          </p:cNvPr>
          <p:cNvSpPr>
            <a:spLocks noGrp="1" noRot="1" noChangeAspect="1" noChangeArrowheads="1" noTextEdit="1"/>
          </p:cNvSpPr>
          <p:nvPr>
            <p:ph type="sldImg"/>
          </p:nvPr>
        </p:nvSpPr>
        <p:spPr>
          <a:ln/>
        </p:spPr>
      </p:sp>
      <p:sp>
        <p:nvSpPr>
          <p:cNvPr id="188420" name="Rectangle 3">
            <a:extLst>
              <a:ext uri="{FF2B5EF4-FFF2-40B4-BE49-F238E27FC236}">
                <a16:creationId xmlns:a16="http://schemas.microsoft.com/office/drawing/2014/main" id="{5215F98B-8F70-4D4A-B387-FD74A1E3EA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In this graph, the supply curve, equilibrium price, and size of the tax are identical to those in the graph on the preceding slide.  The only thing that’s different is the demand curve here is flatter; as a result, the same size tax as before causes a larger DWL.  </a:t>
            </a:r>
          </a:p>
          <a:p>
            <a:endParaRPr lang="en-US" altLang="zh-CN">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106</a:t>
            </a:fld>
            <a:endParaRPr lang="zh-CN" altLang="en-US" sz="1200"/>
          </a:p>
        </p:txBody>
      </p:sp>
    </p:spTree>
    <p:extLst>
      <p:ext uri="{BB962C8B-B14F-4D97-AF65-F5344CB8AC3E}">
        <p14:creationId xmlns:p14="http://schemas.microsoft.com/office/powerpoint/2010/main" val="19776777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110</a:t>
            </a:fld>
            <a:endParaRPr lang="zh-CN" altLang="en-US" sz="1200"/>
          </a:p>
        </p:txBody>
      </p:sp>
    </p:spTree>
    <p:extLst>
      <p:ext uri="{BB962C8B-B14F-4D97-AF65-F5344CB8AC3E}">
        <p14:creationId xmlns:p14="http://schemas.microsoft.com/office/powerpoint/2010/main" val="84633068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111</a:t>
            </a:fld>
            <a:endParaRPr lang="zh-CN" altLang="en-US" sz="1200"/>
          </a:p>
        </p:txBody>
      </p:sp>
    </p:spTree>
    <p:extLst>
      <p:ext uri="{BB962C8B-B14F-4D97-AF65-F5344CB8AC3E}">
        <p14:creationId xmlns:p14="http://schemas.microsoft.com/office/powerpoint/2010/main" val="76695555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113</a:t>
            </a:fld>
            <a:endParaRPr lang="zh-CN" altLang="en-US" sz="1200"/>
          </a:p>
        </p:txBody>
      </p:sp>
    </p:spTree>
    <p:extLst>
      <p:ext uri="{BB962C8B-B14F-4D97-AF65-F5344CB8AC3E}">
        <p14:creationId xmlns:p14="http://schemas.microsoft.com/office/powerpoint/2010/main" val="169887669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115</a:t>
            </a:fld>
            <a:endParaRPr lang="zh-CN" altLang="en-US" sz="1200"/>
          </a:p>
        </p:txBody>
      </p:sp>
    </p:spTree>
    <p:extLst>
      <p:ext uri="{BB962C8B-B14F-4D97-AF65-F5344CB8AC3E}">
        <p14:creationId xmlns:p14="http://schemas.microsoft.com/office/powerpoint/2010/main" val="9691280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116</a:t>
            </a:fld>
            <a:endParaRPr lang="zh-CN" altLang="en-US" sz="1200"/>
          </a:p>
        </p:txBody>
      </p:sp>
    </p:spTree>
    <p:extLst>
      <p:ext uri="{BB962C8B-B14F-4D97-AF65-F5344CB8AC3E}">
        <p14:creationId xmlns:p14="http://schemas.microsoft.com/office/powerpoint/2010/main" val="17298853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117</a:t>
            </a:fld>
            <a:endParaRPr lang="zh-CN" altLang="en-US" sz="1200"/>
          </a:p>
        </p:txBody>
      </p:sp>
    </p:spTree>
    <p:extLst>
      <p:ext uri="{BB962C8B-B14F-4D97-AF65-F5344CB8AC3E}">
        <p14:creationId xmlns:p14="http://schemas.microsoft.com/office/powerpoint/2010/main" val="15563879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85371C0B-722C-4E9B-8402-37DD6C16F224}" type="datetime1">
              <a:rPr lang="zh-CN" altLang="en-US" smtClean="0"/>
              <a:pPr/>
              <a:t>2024/4/25</a:t>
            </a:fld>
            <a:endParaRPr lang="zh-CN" altLang="en-US" sz="1200"/>
          </a:p>
        </p:txBody>
      </p:sp>
      <p:sp>
        <p:nvSpPr>
          <p:cNvPr id="5" name="灯片编号占位符 4"/>
          <p:cNvSpPr>
            <a:spLocks noGrp="1"/>
          </p:cNvSpPr>
          <p:nvPr>
            <p:ph type="sldNum" sz="quarter" idx="11"/>
          </p:nvPr>
        </p:nvSpPr>
        <p:spPr/>
        <p:txBody>
          <a:bodyPr/>
          <a:lstStyle/>
          <a:p>
            <a:fld id="{D2A872D7-EC27-46B4-A75B-6F2CB9D6A55D}" type="slidenum">
              <a:rPr lang="zh-CN" altLang="en-US" smtClean="0"/>
              <a:pPr/>
              <a:t>118</a:t>
            </a:fld>
            <a:endParaRPr lang="zh-CN" altLang="en-US" sz="1200"/>
          </a:p>
        </p:txBody>
      </p:sp>
    </p:spTree>
    <p:extLst>
      <p:ext uri="{BB962C8B-B14F-4D97-AF65-F5344CB8AC3E}">
        <p14:creationId xmlns:p14="http://schemas.microsoft.com/office/powerpoint/2010/main" val="526484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988F64B8-F2EC-4DAD-AACD-B76ABB5F0379}" type="slidenum">
              <a:rPr lang="zh-CN" altLang="en-US"/>
              <a:pPr/>
              <a:t>‹#›</a:t>
            </a:fld>
            <a:endParaRPr lang="en-US" altLang="zh-CN" sz="1800"/>
          </a:p>
        </p:txBody>
      </p:sp>
    </p:spTree>
    <p:extLst>
      <p:ext uri="{BB962C8B-B14F-4D97-AF65-F5344CB8AC3E}">
        <p14:creationId xmlns:p14="http://schemas.microsoft.com/office/powerpoint/2010/main" val="487982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BAC30EF6-AFF0-488C-9EEE-62D3402ECE7E}" type="slidenum">
              <a:rPr lang="zh-CN" altLang="en-US"/>
              <a:pPr/>
              <a:t>‹#›</a:t>
            </a:fld>
            <a:endParaRPr lang="en-US" altLang="zh-CN" sz="1800"/>
          </a:p>
        </p:txBody>
      </p:sp>
    </p:spTree>
    <p:extLst>
      <p:ext uri="{BB962C8B-B14F-4D97-AF65-F5344CB8AC3E}">
        <p14:creationId xmlns:p14="http://schemas.microsoft.com/office/powerpoint/2010/main" val="2032802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9B7622EC-EAB6-4064-9431-6EBB53ED2AB3}" type="slidenum">
              <a:rPr lang="zh-CN" altLang="en-US"/>
              <a:pPr/>
              <a:t>‹#›</a:t>
            </a:fld>
            <a:endParaRPr lang="en-US" altLang="zh-CN" sz="1800"/>
          </a:p>
        </p:txBody>
      </p:sp>
    </p:spTree>
    <p:extLst>
      <p:ext uri="{BB962C8B-B14F-4D97-AF65-F5344CB8AC3E}">
        <p14:creationId xmlns:p14="http://schemas.microsoft.com/office/powerpoint/2010/main" val="4008475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8DD8BF6E-EA49-438A-8D8F-78043B9871D1}" type="slidenum">
              <a:rPr lang="zh-CN" altLang="en-US"/>
              <a:pPr/>
              <a:t>‹#›</a:t>
            </a:fld>
            <a:endParaRPr lang="en-US" altLang="zh-CN" sz="1800"/>
          </a:p>
        </p:txBody>
      </p:sp>
    </p:spTree>
    <p:extLst>
      <p:ext uri="{BB962C8B-B14F-4D97-AF65-F5344CB8AC3E}">
        <p14:creationId xmlns:p14="http://schemas.microsoft.com/office/powerpoint/2010/main" val="2539607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zh-CN" altLang="zh-CN"/>
          </a:p>
        </p:txBody>
      </p:sp>
      <p:sp>
        <p:nvSpPr>
          <p:cNvPr id="8" name="页脚占位符 7"/>
          <p:cNvSpPr>
            <a:spLocks noGrp="1"/>
          </p:cNvSpPr>
          <p:nvPr>
            <p:ph type="ftr" sz="quarter" idx="11"/>
          </p:nvPr>
        </p:nvSpPr>
        <p:spPr/>
        <p:txBody>
          <a:bodyPr/>
          <a:lstStyle>
            <a:lvl1pPr>
              <a:defRPr/>
            </a:lvl1pPr>
          </a:lstStyle>
          <a:p>
            <a:endParaRPr lang="zh-CN" altLang="zh-CN"/>
          </a:p>
        </p:txBody>
      </p:sp>
      <p:sp>
        <p:nvSpPr>
          <p:cNvPr id="9" name="灯片编号占位符 8"/>
          <p:cNvSpPr>
            <a:spLocks noGrp="1"/>
          </p:cNvSpPr>
          <p:nvPr>
            <p:ph type="sldNum" sz="quarter" idx="12"/>
          </p:nvPr>
        </p:nvSpPr>
        <p:spPr/>
        <p:txBody>
          <a:bodyPr/>
          <a:lstStyle>
            <a:lvl1pPr>
              <a:defRPr/>
            </a:lvl1pPr>
          </a:lstStyle>
          <a:p>
            <a:fld id="{36DEA099-32ED-441F-89D5-A638CDA5144E}" type="slidenum">
              <a:rPr lang="zh-CN" altLang="en-US"/>
              <a:pPr/>
              <a:t>‹#›</a:t>
            </a:fld>
            <a:endParaRPr lang="en-US" altLang="zh-CN" sz="1800"/>
          </a:p>
        </p:txBody>
      </p:sp>
    </p:spTree>
    <p:extLst>
      <p:ext uri="{BB962C8B-B14F-4D97-AF65-F5344CB8AC3E}">
        <p14:creationId xmlns:p14="http://schemas.microsoft.com/office/powerpoint/2010/main" val="3480677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zh-CN" altLang="zh-CN"/>
          </a:p>
        </p:txBody>
      </p:sp>
      <p:sp>
        <p:nvSpPr>
          <p:cNvPr id="4" name="页脚占位符 3"/>
          <p:cNvSpPr>
            <a:spLocks noGrp="1"/>
          </p:cNvSpPr>
          <p:nvPr>
            <p:ph type="ftr" sz="quarter" idx="11"/>
          </p:nvPr>
        </p:nvSpPr>
        <p:spPr/>
        <p:txBody>
          <a:bodyPr/>
          <a:lstStyle>
            <a:lvl1pPr>
              <a:defRPr/>
            </a:lvl1pPr>
          </a:lstStyle>
          <a:p>
            <a:endParaRPr lang="zh-CN" altLang="zh-CN"/>
          </a:p>
        </p:txBody>
      </p:sp>
      <p:sp>
        <p:nvSpPr>
          <p:cNvPr id="5" name="灯片编号占位符 4"/>
          <p:cNvSpPr>
            <a:spLocks noGrp="1"/>
          </p:cNvSpPr>
          <p:nvPr>
            <p:ph type="sldNum" sz="quarter" idx="12"/>
          </p:nvPr>
        </p:nvSpPr>
        <p:spPr/>
        <p:txBody>
          <a:bodyPr/>
          <a:lstStyle>
            <a:lvl1pPr>
              <a:defRPr/>
            </a:lvl1pPr>
          </a:lstStyle>
          <a:p>
            <a:fld id="{C7D1C2F3-1A75-4B7E-8143-5ECF003C793B}" type="slidenum">
              <a:rPr lang="zh-CN" altLang="en-US"/>
              <a:pPr/>
              <a:t>‹#›</a:t>
            </a:fld>
            <a:endParaRPr lang="en-US" altLang="zh-CN" sz="1800"/>
          </a:p>
        </p:txBody>
      </p:sp>
    </p:spTree>
    <p:extLst>
      <p:ext uri="{BB962C8B-B14F-4D97-AF65-F5344CB8AC3E}">
        <p14:creationId xmlns:p14="http://schemas.microsoft.com/office/powerpoint/2010/main" val="3188315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zh-CN"/>
          </a:p>
        </p:txBody>
      </p:sp>
      <p:sp>
        <p:nvSpPr>
          <p:cNvPr id="3" name="页脚占位符 2"/>
          <p:cNvSpPr>
            <a:spLocks noGrp="1"/>
          </p:cNvSpPr>
          <p:nvPr>
            <p:ph type="ftr" sz="quarter" idx="11"/>
          </p:nvPr>
        </p:nvSpPr>
        <p:spPr/>
        <p:txBody>
          <a:bodyPr/>
          <a:lstStyle>
            <a:lvl1pPr>
              <a:defRPr/>
            </a:lvl1pPr>
          </a:lstStyle>
          <a:p>
            <a:endParaRPr lang="zh-CN" altLang="zh-CN"/>
          </a:p>
        </p:txBody>
      </p:sp>
      <p:sp>
        <p:nvSpPr>
          <p:cNvPr id="4" name="灯片编号占位符 3"/>
          <p:cNvSpPr>
            <a:spLocks noGrp="1"/>
          </p:cNvSpPr>
          <p:nvPr>
            <p:ph type="sldNum" sz="quarter" idx="12"/>
          </p:nvPr>
        </p:nvSpPr>
        <p:spPr/>
        <p:txBody>
          <a:bodyPr/>
          <a:lstStyle>
            <a:lvl1pPr>
              <a:defRPr/>
            </a:lvl1pPr>
          </a:lstStyle>
          <a:p>
            <a:fld id="{F807F6DC-921F-4205-9AE8-6E1F019B1E45}" type="slidenum">
              <a:rPr lang="zh-CN" altLang="en-US"/>
              <a:pPr/>
              <a:t>‹#›</a:t>
            </a:fld>
            <a:endParaRPr lang="en-US" altLang="zh-CN" sz="1800"/>
          </a:p>
        </p:txBody>
      </p:sp>
    </p:spTree>
    <p:extLst>
      <p:ext uri="{BB962C8B-B14F-4D97-AF65-F5344CB8AC3E}">
        <p14:creationId xmlns:p14="http://schemas.microsoft.com/office/powerpoint/2010/main" val="3171042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223714A0-34EB-4FA0-B4FC-A979398EBA25}" type="slidenum">
              <a:rPr lang="zh-CN" altLang="en-US"/>
              <a:pPr/>
              <a:t>‹#›</a:t>
            </a:fld>
            <a:endParaRPr lang="en-US" altLang="zh-CN" sz="1800"/>
          </a:p>
        </p:txBody>
      </p:sp>
    </p:spTree>
    <p:extLst>
      <p:ext uri="{BB962C8B-B14F-4D97-AF65-F5344CB8AC3E}">
        <p14:creationId xmlns:p14="http://schemas.microsoft.com/office/powerpoint/2010/main" val="2746631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zh-CN" altLang="zh-CN"/>
          </a:p>
        </p:txBody>
      </p:sp>
      <p:sp>
        <p:nvSpPr>
          <p:cNvPr id="6" name="页脚占位符 5"/>
          <p:cNvSpPr>
            <a:spLocks noGrp="1"/>
          </p:cNvSpPr>
          <p:nvPr>
            <p:ph type="ftr" sz="quarter" idx="11"/>
          </p:nvPr>
        </p:nvSpPr>
        <p:spPr/>
        <p:txBody>
          <a:bodyPr/>
          <a:lstStyle>
            <a:lvl1pPr>
              <a:defRPr/>
            </a:lvl1pPr>
          </a:lstStyle>
          <a:p>
            <a:endParaRPr lang="zh-CN" altLang="zh-CN"/>
          </a:p>
        </p:txBody>
      </p:sp>
      <p:sp>
        <p:nvSpPr>
          <p:cNvPr id="7" name="灯片编号占位符 6"/>
          <p:cNvSpPr>
            <a:spLocks noGrp="1"/>
          </p:cNvSpPr>
          <p:nvPr>
            <p:ph type="sldNum" sz="quarter" idx="12"/>
          </p:nvPr>
        </p:nvSpPr>
        <p:spPr/>
        <p:txBody>
          <a:bodyPr/>
          <a:lstStyle>
            <a:lvl1pPr>
              <a:defRPr/>
            </a:lvl1pPr>
          </a:lstStyle>
          <a:p>
            <a:fld id="{186A05FD-6F67-4544-B535-3101FBE30813}" type="slidenum">
              <a:rPr lang="zh-CN" altLang="en-US"/>
              <a:pPr/>
              <a:t>‹#›</a:t>
            </a:fld>
            <a:endParaRPr lang="en-US" altLang="zh-CN" sz="1800"/>
          </a:p>
        </p:txBody>
      </p:sp>
    </p:spTree>
    <p:extLst>
      <p:ext uri="{BB962C8B-B14F-4D97-AF65-F5344CB8AC3E}">
        <p14:creationId xmlns:p14="http://schemas.microsoft.com/office/powerpoint/2010/main" val="97646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0D6CDD02-2980-42BD-8CC5-D3001364737F}" type="slidenum">
              <a:rPr lang="zh-CN" altLang="en-US"/>
              <a:pPr/>
              <a:t>‹#›</a:t>
            </a:fld>
            <a:endParaRPr lang="en-US" altLang="zh-CN" sz="1800"/>
          </a:p>
        </p:txBody>
      </p:sp>
    </p:spTree>
    <p:extLst>
      <p:ext uri="{BB962C8B-B14F-4D97-AF65-F5344CB8AC3E}">
        <p14:creationId xmlns:p14="http://schemas.microsoft.com/office/powerpoint/2010/main" val="995160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zh-CN"/>
          </a:p>
        </p:txBody>
      </p:sp>
      <p:sp>
        <p:nvSpPr>
          <p:cNvPr id="5" name="页脚占位符 4"/>
          <p:cNvSpPr>
            <a:spLocks noGrp="1"/>
          </p:cNvSpPr>
          <p:nvPr>
            <p:ph type="ftr" sz="quarter" idx="11"/>
          </p:nvPr>
        </p:nvSpPr>
        <p:spPr/>
        <p:txBody>
          <a:bodyPr/>
          <a:lstStyle>
            <a:lvl1pPr>
              <a:defRPr/>
            </a:lvl1pPr>
          </a:lstStyle>
          <a:p>
            <a:endParaRPr lang="zh-CN" altLang="zh-CN"/>
          </a:p>
        </p:txBody>
      </p:sp>
      <p:sp>
        <p:nvSpPr>
          <p:cNvPr id="6" name="灯片编号占位符 5"/>
          <p:cNvSpPr>
            <a:spLocks noGrp="1"/>
          </p:cNvSpPr>
          <p:nvPr>
            <p:ph type="sldNum" sz="quarter" idx="12"/>
          </p:nvPr>
        </p:nvSpPr>
        <p:spPr/>
        <p:txBody>
          <a:bodyPr/>
          <a:lstStyle>
            <a:lvl1pPr>
              <a:defRPr/>
            </a:lvl1pPr>
          </a:lstStyle>
          <a:p>
            <a:fld id="{0F09AE5B-E368-45CC-B8F2-3062B4962BB1}" type="slidenum">
              <a:rPr lang="zh-CN" altLang="en-US"/>
              <a:pPr/>
              <a:t>‹#›</a:t>
            </a:fld>
            <a:endParaRPr lang="en-US" altLang="zh-CN" sz="1800"/>
          </a:p>
        </p:txBody>
      </p:sp>
    </p:spTree>
    <p:extLst>
      <p:ext uri="{BB962C8B-B14F-4D97-AF65-F5344CB8AC3E}">
        <p14:creationId xmlns:p14="http://schemas.microsoft.com/office/powerpoint/2010/main" val="3126501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50863" y="190500"/>
            <a:ext cx="7983537" cy="781050"/>
          </a:xfrm>
        </p:spPr>
        <p:txBody>
          <a:bodyPr/>
          <a:lstStyle/>
          <a:p>
            <a:r>
              <a:rPr lang="en-US" altLang="zh-CN"/>
              <a:t>Click to edit Master title style</a:t>
            </a:r>
            <a:endParaRPr lang="en-US"/>
          </a:p>
        </p:txBody>
      </p:sp>
      <p:sp>
        <p:nvSpPr>
          <p:cNvPr id="3" name="Text Placeholder 2"/>
          <p:cNvSpPr>
            <a:spLocks noGrp="1"/>
          </p:cNvSpPr>
          <p:nvPr>
            <p:ph type="body" sz="half" idx="1"/>
          </p:nvPr>
        </p:nvSpPr>
        <p:spPr>
          <a:xfrm>
            <a:off x="1143000" y="1719263"/>
            <a:ext cx="3810000" cy="4224337"/>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hart Placeholder 3"/>
          <p:cNvSpPr>
            <a:spLocks noGrp="1"/>
          </p:cNvSpPr>
          <p:nvPr>
            <p:ph type="chart" sz="half" idx="2"/>
          </p:nvPr>
        </p:nvSpPr>
        <p:spPr>
          <a:xfrm>
            <a:off x="5105400" y="1719263"/>
            <a:ext cx="3810000" cy="4224337"/>
          </a:xfrm>
        </p:spPr>
        <p:txBody>
          <a:bodyPr>
            <a:normAutofit/>
          </a:bodyPr>
          <a:lstStyle/>
          <a:p>
            <a:pPr lvl="0"/>
            <a:endParaRPr lang="en-US" noProof="0"/>
          </a:p>
        </p:txBody>
      </p:sp>
    </p:spTree>
    <p:extLst>
      <p:ext uri="{BB962C8B-B14F-4D97-AF65-F5344CB8AC3E}">
        <p14:creationId xmlns:p14="http://schemas.microsoft.com/office/powerpoint/2010/main" val="2495151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sym typeface="Arial" panose="020B0604020202020204" pitchFamily="34" charset="0"/>
              </a:rPr>
              <a:t>单击此处编辑母版标题样式</a:t>
            </a:r>
          </a:p>
        </p:txBody>
      </p:sp>
      <p:sp>
        <p:nvSpPr>
          <p:cNvPr id="1027"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sym typeface="Arial" panose="020B0604020202020204" pitchFamily="34" charset="0"/>
              </a:rPr>
              <a:t>单击此处编辑母版文本样式</a:t>
            </a:r>
          </a:p>
          <a:p>
            <a:pPr lvl="1"/>
            <a:r>
              <a:rPr lang="zh-CN" altLang="zh-CN">
                <a:sym typeface="Arial" panose="020B0604020202020204" pitchFamily="34" charset="0"/>
              </a:rPr>
              <a:t>第二级</a:t>
            </a:r>
          </a:p>
          <a:p>
            <a:pPr lvl="2"/>
            <a:r>
              <a:rPr lang="zh-CN" altLang="zh-CN">
                <a:sym typeface="Arial" panose="020B0604020202020204" pitchFamily="34" charset="0"/>
              </a:rPr>
              <a:t>第三级</a:t>
            </a:r>
          </a:p>
          <a:p>
            <a:pPr lvl="3"/>
            <a:r>
              <a:rPr lang="zh-CN" altLang="zh-CN">
                <a:sym typeface="Arial" panose="020B0604020202020204" pitchFamily="34" charset="0"/>
              </a:rPr>
              <a:t>第四级</a:t>
            </a:r>
          </a:p>
          <a:p>
            <a:pPr lvl="4"/>
            <a:r>
              <a:rPr lang="zh-CN" altLang="zh-CN">
                <a:sym typeface="Arial" panose="020B0604020202020204" pitchFamily="34" charset="0"/>
              </a:rPr>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ym typeface="Arial" panose="020B0604020202020204" pitchFamily="34" charset="0"/>
              </a:defRPr>
            </a:lvl1pPr>
          </a:lstStyle>
          <a:p>
            <a:endParaRPr lang="zh-CN"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a:sym typeface="Arial" panose="020B0604020202020204" pitchFamily="34" charset="0"/>
              </a:defRPr>
            </a:lvl1pPr>
          </a:lstStyle>
          <a:p>
            <a:endParaRPr lang="zh-CN"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a:sym typeface="Arial" panose="020B0604020202020204" pitchFamily="34" charset="0"/>
              </a:defRPr>
            </a:lvl1pPr>
          </a:lstStyle>
          <a:p>
            <a:fld id="{E7E8AFFC-65F7-4B38-8EB1-8AE3148EFE6D}" type="slidenum">
              <a:rPr lang="zh-CN" altLang="en-US"/>
              <a:pPr/>
              <a:t>‹#›</a:t>
            </a:fld>
            <a:endParaRPr lang="en-US" altLang="zh-CN" sz="18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spcBef>
          <a:spcPct val="0"/>
        </a:spcBef>
        <a:spcAft>
          <a:spcPct val="0"/>
        </a:spcAft>
        <a:defRPr sz="3600" kern="1200">
          <a:solidFill>
            <a:schemeClr val="tx2"/>
          </a:solidFill>
          <a:latin typeface="+mj-lt"/>
          <a:ea typeface="+mj-ea"/>
          <a:cs typeface="+mj-cs"/>
          <a:sym typeface="Arial" panose="020B0604020202020204" pitchFamily="34" charset="0"/>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sym typeface="Arial" panose="020B0604020202020204" pitchFamily="34" charset="0"/>
        </a:defRPr>
      </a:lvl9pPr>
    </p:titleStyle>
    <p:bodyStyle>
      <a:lvl1pPr marL="342900" indent="-342900" algn="l" defTabSz="0" rtl="0" eaLnBrk="0" fontAlgn="base" hangingPunct="0">
        <a:spcBef>
          <a:spcPct val="20000"/>
        </a:spcBef>
        <a:spcAft>
          <a:spcPct val="0"/>
        </a:spcAft>
        <a:buChar char="•"/>
        <a:defRPr sz="3200" b="1" kern="1200">
          <a:solidFill>
            <a:srgbClr val="CC0000"/>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Char char="–"/>
        <a:defRPr sz="2800" b="1" kern="1200">
          <a:solidFill>
            <a:schemeClr val="tx1"/>
          </a:solidFill>
          <a:latin typeface="+mn-lt"/>
          <a:ea typeface="+mn-ea"/>
          <a:cs typeface="+mn-cs"/>
          <a:sym typeface="Arial" panose="020B0604020202020204" pitchFamily="34" charset="0"/>
        </a:defRPr>
      </a:lvl2pPr>
      <a:lvl3pPr marL="1143000" indent="-228600" algn="l" defTabSz="0" rtl="0" eaLnBrk="0" fontAlgn="base" hangingPunct="0">
        <a:spcBef>
          <a:spcPct val="20000"/>
        </a:spcBef>
        <a:spcAft>
          <a:spcPct val="0"/>
        </a:spcAft>
        <a:buChar char="•"/>
        <a:defRPr sz="2400" b="1" kern="1200">
          <a:solidFill>
            <a:schemeClr val="tx1"/>
          </a:solidFill>
          <a:latin typeface="+mn-lt"/>
          <a:ea typeface="+mn-ea"/>
          <a:cs typeface="+mn-cs"/>
          <a:sym typeface="Arial" panose="020B0604020202020204" pitchFamily="34" charset="0"/>
        </a:defRPr>
      </a:lvl3pPr>
      <a:lvl4pPr marL="16002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4pPr>
      <a:lvl5pPr marL="2057400" indent="-228600" algn="l" defTabSz="0" rtl="0" eaLnBrk="0" fontAlgn="base" hangingPunct="0">
        <a:spcBef>
          <a:spcPct val="20000"/>
        </a:spcBef>
        <a:spcAft>
          <a:spcPct val="0"/>
        </a:spcAft>
        <a:buChar char="»"/>
        <a:defRPr sz="2000" b="1" kern="1200">
          <a:solidFill>
            <a:schemeClr val="tx1"/>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xml"/><Relationship Id="rId1" Type="http://schemas.openxmlformats.org/officeDocument/2006/relationships/tags" Target="../tags/tag1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13.w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13.w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13.wmf"/><Relationship Id="rId4"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vmlDrawing" Target="../drawings/vmlDrawing4.vml"/><Relationship Id="rId5" Type="http://schemas.openxmlformats.org/officeDocument/2006/relationships/image" Target="../media/image13.wmf"/><Relationship Id="rId4"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image" Target="../media/image13.wmf"/><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Layout" Target="../slideLayouts/slideLayout1.xml"/><Relationship Id="rId5" Type="http://schemas.openxmlformats.org/officeDocument/2006/relationships/tags" Target="../tags/tag23.xml"/><Relationship Id="rId4"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5.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40.png"/><Relationship Id="rId5" Type="http://schemas.openxmlformats.org/officeDocument/2006/relationships/image" Target="../media/image7.png"/><Relationship Id="rId4"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150.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tags" Target="../tags/tag3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tags" Target="../tags/tag45.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5" Type="http://schemas.openxmlformats.org/officeDocument/2006/relationships/slideLayout" Target="../slideLayouts/slideLayout1.xml"/><Relationship Id="rId10" Type="http://schemas.openxmlformats.org/officeDocument/2006/relationships/tags" Target="../tags/tag43.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s>
</file>

<file path=ppt/slides/_rels/slide31.xml.rels><?xml version="1.0" encoding="UTF-8" standalone="yes"?>
<Relationships xmlns="http://schemas.openxmlformats.org/package/2006/relationships"><Relationship Id="rId3" Type="http://schemas.openxmlformats.org/officeDocument/2006/relationships/tags" Target="../tags/tag50.xml"/><Relationship Id="rId7" Type="http://schemas.openxmlformats.org/officeDocument/2006/relationships/image" Target="../media/image20.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180.png"/><Relationship Id="rId5" Type="http://schemas.openxmlformats.org/officeDocument/2006/relationships/slideLayout" Target="../slideLayouts/slideLayout1.xml"/><Relationship Id="rId4" Type="http://schemas.openxmlformats.org/officeDocument/2006/relationships/tags" Target="../tags/tag5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png"/><Relationship Id="rId4" Type="http://schemas.openxmlformats.org/officeDocument/2006/relationships/image" Target="../media/image20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2.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21.png"/><Relationship Id="rId5" Type="http://schemas.openxmlformats.org/officeDocument/2006/relationships/image" Target="../media/image100.png"/><Relationship Id="rId4" Type="http://schemas.openxmlformats.org/officeDocument/2006/relationships/tags" Target="../tags/tag54.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7.xml"/><Relationship Id="rId1" Type="http://schemas.openxmlformats.org/officeDocument/2006/relationships/tags" Target="../tags/tag5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240.png"/><Relationship Id="rId4"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24.emf"/><Relationship Id="rId4" Type="http://schemas.openxmlformats.org/officeDocument/2006/relationships/oleObject" Target="../embeddings/oleObject6.bin"/></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24.emf"/><Relationship Id="rId4" Type="http://schemas.openxmlformats.org/officeDocument/2006/relationships/oleObject" Target="../embeddings/oleObject7.bin"/></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24.emf"/><Relationship Id="rId4" Type="http://schemas.openxmlformats.org/officeDocument/2006/relationships/oleObject" Target="../embeddings/oleObject8.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image" Target="../media/image25.emf"/><Relationship Id="rId4" Type="http://schemas.openxmlformats.org/officeDocument/2006/relationships/oleObject" Target="../embeddings/oleObject9.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25.emf"/><Relationship Id="rId4" Type="http://schemas.openxmlformats.org/officeDocument/2006/relationships/oleObject" Target="../embeddings/oleObject10.bin"/></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27.png"/><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26.png"/><Relationship Id="rId5" Type="http://schemas.openxmlformats.org/officeDocument/2006/relationships/image" Target="../media/image25.emf"/><Relationship Id="rId4" Type="http://schemas.openxmlformats.org/officeDocument/2006/relationships/oleObject" Target="../embeddings/oleObject11.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28.emf"/><Relationship Id="rId4" Type="http://schemas.openxmlformats.org/officeDocument/2006/relationships/oleObject" Target="../embeddings/oleObject12.bin"/></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28.emf"/><Relationship Id="rId4" Type="http://schemas.openxmlformats.org/officeDocument/2006/relationships/oleObject" Target="../embeddings/oleObject13.bin"/></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28.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28.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25.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25.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emf"/></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25.emf"/></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vmlDrawing" Target="../drawings/vmlDrawing20.vml"/><Relationship Id="rId5" Type="http://schemas.openxmlformats.org/officeDocument/2006/relationships/image" Target="../media/image25.emf"/><Relationship Id="rId4" Type="http://schemas.openxmlformats.org/officeDocument/2006/relationships/oleObject" Target="../embeddings/oleObject20.bin"/></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25.emf"/><Relationship Id="rId4" Type="http://schemas.openxmlformats.org/officeDocument/2006/relationships/oleObject" Target="../embeddings/oleObject21.bin"/></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image" Target="../media/image25.emf"/><Relationship Id="rId4" Type="http://schemas.openxmlformats.org/officeDocument/2006/relationships/oleObject" Target="../embeddings/oleObject22.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vmlDrawing" Target="../drawings/vmlDrawing23.vml"/><Relationship Id="rId5" Type="http://schemas.openxmlformats.org/officeDocument/2006/relationships/image" Target="../media/image25.emf"/><Relationship Id="rId4" Type="http://schemas.openxmlformats.org/officeDocument/2006/relationships/oleObject" Target="../embeddings/oleObject23.bin"/></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vmlDrawing" Target="../drawings/vmlDrawing24.vml"/><Relationship Id="rId5" Type="http://schemas.openxmlformats.org/officeDocument/2006/relationships/image" Target="../media/image25.emf"/><Relationship Id="rId4" Type="http://schemas.openxmlformats.org/officeDocument/2006/relationships/oleObject" Target="../embeddings/oleObject24.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5" Type="http://schemas.openxmlformats.org/officeDocument/2006/relationships/tags" Target="../tags/tag66.xml"/><Relationship Id="rId10" Type="http://schemas.openxmlformats.org/officeDocument/2006/relationships/tags" Target="../tags/tag71.xml"/><Relationship Id="rId4" Type="http://schemas.openxmlformats.org/officeDocument/2006/relationships/tags" Target="../tags/tag65.xml"/><Relationship Id="rId9" Type="http://schemas.openxmlformats.org/officeDocument/2006/relationships/tags" Target="../tags/tag70.xml"/></Relationships>
</file>

<file path=ppt/slides/_rels/slide105.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8.png"/><Relationship Id="rId5" Type="http://schemas.openxmlformats.org/officeDocument/2006/relationships/slideLayout" Target="../slideLayouts/slideLayout1.xml"/><Relationship Id="rId4" Type="http://schemas.openxmlformats.org/officeDocument/2006/relationships/tags" Target="../tags/tag7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8.xml"/><Relationship Id="rId1" Type="http://schemas.openxmlformats.org/officeDocument/2006/relationships/tags" Target="../tags/tag77.xml"/><Relationship Id="rId4" Type="http://schemas.openxmlformats.org/officeDocument/2006/relationships/image" Target="../media/image8.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image" Target="../media/image8.png"/></Relationships>
</file>

<file path=ppt/slides/_rels/slide1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83.xml"/><Relationship Id="rId7" Type="http://schemas.openxmlformats.org/officeDocument/2006/relationships/image" Target="../media/image35.pn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notesSlide" Target="../notesSlides/notesSlide54.xml"/><Relationship Id="rId5" Type="http://schemas.openxmlformats.org/officeDocument/2006/relationships/slideLayout" Target="../slideLayouts/slideLayout1.xml"/><Relationship Id="rId4" Type="http://schemas.openxmlformats.org/officeDocument/2006/relationships/tags" Target="../tags/tag84.xml"/></Relationships>
</file>

<file path=ppt/slides/_rels/slide1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7.png"/></Relationships>
</file>

<file path=ppt/slides/_rels/slide112.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29.png"/><Relationship Id="rId5" Type="http://schemas.openxmlformats.org/officeDocument/2006/relationships/slideLayout" Target="../slideLayouts/slideLayout1.xml"/><Relationship Id="rId4" Type="http://schemas.openxmlformats.org/officeDocument/2006/relationships/tags" Target="../tags/tag88.xml"/></Relationships>
</file>

<file path=ppt/slides/_rels/slide1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91.xml"/><Relationship Id="rId7" Type="http://schemas.openxmlformats.org/officeDocument/2006/relationships/image" Target="../media/image30.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notesSlide" Target="../notesSlides/notesSlide56.xml"/><Relationship Id="rId5" Type="http://schemas.openxmlformats.org/officeDocument/2006/relationships/slideLayout" Target="../slideLayouts/slideLayout1.xml"/><Relationship Id="rId4" Type="http://schemas.openxmlformats.org/officeDocument/2006/relationships/tags" Target="../tags/tag9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idx="4294967295"/>
          </p:nvPr>
        </p:nvSpPr>
        <p:spPr>
          <a:xfrm>
            <a:off x="2267840" y="2781300"/>
            <a:ext cx="5510213" cy="6477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eaLnBrk="1" hangingPunct="1"/>
            <a:r>
              <a:rPr lang="zh-CN" altLang="en-US" dirty="0">
                <a:latin typeface="微软雅黑" panose="020B0503020204020204" pitchFamily="34" charset="-122"/>
                <a:ea typeface="微软雅黑" panose="020B0503020204020204" pitchFamily="34" charset="-122"/>
              </a:rPr>
              <a:t>第四章</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完全竞争市场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linds(horizontal)">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平行四边形 1">
            <a:extLst>
              <a:ext uri="{FF2B5EF4-FFF2-40B4-BE49-F238E27FC236}">
                <a16:creationId xmlns:a16="http://schemas.microsoft.com/office/drawing/2014/main" id="{86F1DC63-CB2F-459E-B0E0-E14F93622BE5}"/>
              </a:ext>
            </a:extLst>
          </p:cNvPr>
          <p:cNvSpPr/>
          <p:nvPr/>
        </p:nvSpPr>
        <p:spPr>
          <a:xfrm rot="16200000">
            <a:off x="2641317" y="2185629"/>
            <a:ext cx="2103957" cy="518653"/>
          </a:xfrm>
          <a:prstGeom prst="parallelogram">
            <a:avLst>
              <a:gd name="adj" fmla="val 156667"/>
            </a:avLst>
          </a:prstGeom>
          <a:solidFill>
            <a:srgbClr val="AFD9E6"/>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 name="直角三角形 2">
            <a:extLst>
              <a:ext uri="{FF2B5EF4-FFF2-40B4-BE49-F238E27FC236}">
                <a16:creationId xmlns:a16="http://schemas.microsoft.com/office/drawing/2014/main" id="{6B0F1CDE-5B9D-48FC-8E24-7B17CE22CD96}"/>
              </a:ext>
            </a:extLst>
          </p:cNvPr>
          <p:cNvSpPr/>
          <p:nvPr/>
        </p:nvSpPr>
        <p:spPr>
          <a:xfrm>
            <a:off x="2653549" y="1216833"/>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 name="矩形 3">
            <a:extLst>
              <a:ext uri="{FF2B5EF4-FFF2-40B4-BE49-F238E27FC236}">
                <a16:creationId xmlns:a16="http://schemas.microsoft.com/office/drawing/2014/main" id="{29D4621B-7639-47DA-B16C-EC41E72F8F64}"/>
              </a:ext>
            </a:extLst>
          </p:cNvPr>
          <p:cNvSpPr/>
          <p:nvPr/>
        </p:nvSpPr>
        <p:spPr>
          <a:xfrm>
            <a:off x="2051720" y="1392977"/>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 name="任意多边形 42">
            <a:extLst>
              <a:ext uri="{FF2B5EF4-FFF2-40B4-BE49-F238E27FC236}">
                <a16:creationId xmlns:a16="http://schemas.microsoft.com/office/drawing/2014/main" id="{D15E878E-A5CB-456F-B538-CB5BD387BB4F}"/>
              </a:ext>
            </a:extLst>
          </p:cNvPr>
          <p:cNvSpPr/>
          <p:nvPr/>
        </p:nvSpPr>
        <p:spPr>
          <a:xfrm>
            <a:off x="2164257" y="121683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 name="平行四边形 5">
            <a:extLst>
              <a:ext uri="{FF2B5EF4-FFF2-40B4-BE49-F238E27FC236}">
                <a16:creationId xmlns:a16="http://schemas.microsoft.com/office/drawing/2014/main" id="{4B2478EE-47E8-42AE-A3F7-79920093293C}"/>
              </a:ext>
            </a:extLst>
          </p:cNvPr>
          <p:cNvSpPr/>
          <p:nvPr/>
        </p:nvSpPr>
        <p:spPr>
          <a:xfrm rot="16200000">
            <a:off x="4542221" y="2185629"/>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7" name="直角三角形 6">
            <a:extLst>
              <a:ext uri="{FF2B5EF4-FFF2-40B4-BE49-F238E27FC236}">
                <a16:creationId xmlns:a16="http://schemas.microsoft.com/office/drawing/2014/main" id="{63FD15F2-20EB-4398-9A93-79D58E63A579}"/>
              </a:ext>
            </a:extLst>
          </p:cNvPr>
          <p:cNvSpPr/>
          <p:nvPr/>
        </p:nvSpPr>
        <p:spPr>
          <a:xfrm>
            <a:off x="4560921" y="1216833"/>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8" name="矩形 7">
            <a:extLst>
              <a:ext uri="{FF2B5EF4-FFF2-40B4-BE49-F238E27FC236}">
                <a16:creationId xmlns:a16="http://schemas.microsoft.com/office/drawing/2014/main" id="{DE181C83-B592-44B6-BA5C-47F7309748C2}"/>
              </a:ext>
            </a:extLst>
          </p:cNvPr>
          <p:cNvSpPr/>
          <p:nvPr/>
        </p:nvSpPr>
        <p:spPr>
          <a:xfrm>
            <a:off x="3959092" y="1392977"/>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9" name="任意多边形 47">
            <a:extLst>
              <a:ext uri="{FF2B5EF4-FFF2-40B4-BE49-F238E27FC236}">
                <a16:creationId xmlns:a16="http://schemas.microsoft.com/office/drawing/2014/main" id="{9F82F987-B480-402E-8016-1CFD72EB4C0F}"/>
              </a:ext>
            </a:extLst>
          </p:cNvPr>
          <p:cNvSpPr/>
          <p:nvPr/>
        </p:nvSpPr>
        <p:spPr>
          <a:xfrm>
            <a:off x="4071629" y="121683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0" name="直角三角形 9">
            <a:extLst>
              <a:ext uri="{FF2B5EF4-FFF2-40B4-BE49-F238E27FC236}">
                <a16:creationId xmlns:a16="http://schemas.microsoft.com/office/drawing/2014/main" id="{F7536217-FD7D-4482-A71D-A6335D83FDD7}"/>
              </a:ext>
            </a:extLst>
          </p:cNvPr>
          <p:cNvSpPr/>
          <p:nvPr/>
        </p:nvSpPr>
        <p:spPr>
          <a:xfrm>
            <a:off x="6455355" y="1216833"/>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1" name="矩形 10">
            <a:extLst>
              <a:ext uri="{FF2B5EF4-FFF2-40B4-BE49-F238E27FC236}">
                <a16:creationId xmlns:a16="http://schemas.microsoft.com/office/drawing/2014/main" id="{4A4DC721-CBFD-4846-A4CB-F9D633FEE025}"/>
              </a:ext>
            </a:extLst>
          </p:cNvPr>
          <p:cNvSpPr/>
          <p:nvPr/>
        </p:nvSpPr>
        <p:spPr>
          <a:xfrm>
            <a:off x="5853526" y="1392977"/>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2" name="任意多边形 52">
            <a:extLst>
              <a:ext uri="{FF2B5EF4-FFF2-40B4-BE49-F238E27FC236}">
                <a16:creationId xmlns:a16="http://schemas.microsoft.com/office/drawing/2014/main" id="{E555E2C3-462B-448B-B9E4-91FF00E99C12}"/>
              </a:ext>
            </a:extLst>
          </p:cNvPr>
          <p:cNvSpPr/>
          <p:nvPr/>
        </p:nvSpPr>
        <p:spPr>
          <a:xfrm>
            <a:off x="5966063" y="1216833"/>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3" name="文本框 32">
            <a:extLst>
              <a:ext uri="{FF2B5EF4-FFF2-40B4-BE49-F238E27FC236}">
                <a16:creationId xmlns:a16="http://schemas.microsoft.com/office/drawing/2014/main" id="{F33D56E3-2885-47AA-9F5F-B8481E44F3B7}"/>
              </a:ext>
            </a:extLst>
          </p:cNvPr>
          <p:cNvSpPr txBox="1"/>
          <p:nvPr/>
        </p:nvSpPr>
        <p:spPr>
          <a:xfrm>
            <a:off x="2132680" y="1196752"/>
            <a:ext cx="1227671"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第一节</a:t>
            </a:r>
          </a:p>
        </p:txBody>
      </p:sp>
      <p:sp>
        <p:nvSpPr>
          <p:cNvPr id="14" name="文本框 33">
            <a:extLst>
              <a:ext uri="{FF2B5EF4-FFF2-40B4-BE49-F238E27FC236}">
                <a16:creationId xmlns:a16="http://schemas.microsoft.com/office/drawing/2014/main" id="{C749D56D-E7B7-423A-AA90-478147768720}"/>
              </a:ext>
            </a:extLst>
          </p:cNvPr>
          <p:cNvSpPr txBox="1"/>
          <p:nvPr/>
        </p:nvSpPr>
        <p:spPr>
          <a:xfrm>
            <a:off x="4071630" y="1196752"/>
            <a:ext cx="1164515"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第二节</a:t>
            </a:r>
          </a:p>
        </p:txBody>
      </p:sp>
      <p:sp>
        <p:nvSpPr>
          <p:cNvPr id="15" name="文本框 34">
            <a:extLst>
              <a:ext uri="{FF2B5EF4-FFF2-40B4-BE49-F238E27FC236}">
                <a16:creationId xmlns:a16="http://schemas.microsoft.com/office/drawing/2014/main" id="{017493A6-3E27-41AA-BA90-8414F87F75FF}"/>
              </a:ext>
            </a:extLst>
          </p:cNvPr>
          <p:cNvSpPr txBox="1"/>
          <p:nvPr/>
        </p:nvSpPr>
        <p:spPr>
          <a:xfrm>
            <a:off x="5924843" y="1196752"/>
            <a:ext cx="124695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第三节</a:t>
            </a:r>
          </a:p>
        </p:txBody>
      </p:sp>
      <p:sp>
        <p:nvSpPr>
          <p:cNvPr id="16" name="文本框 1">
            <a:extLst>
              <a:ext uri="{FF2B5EF4-FFF2-40B4-BE49-F238E27FC236}">
                <a16:creationId xmlns:a16="http://schemas.microsoft.com/office/drawing/2014/main" id="{D58D668A-7FC8-42DD-A372-640E8BCE6583}"/>
              </a:ext>
            </a:extLst>
          </p:cNvPr>
          <p:cNvSpPr txBox="1"/>
          <p:nvPr/>
        </p:nvSpPr>
        <p:spPr>
          <a:xfrm>
            <a:off x="2144686" y="1772816"/>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spc="150" dirty="0">
                <a:latin typeface="微软雅黑" panose="020B0503020204020204" pitchFamily="34" charset="-122"/>
                <a:ea typeface="微软雅黑" panose="020B0503020204020204" pitchFamily="34" charset="-122"/>
              </a:rPr>
              <a:t>企业收益、市场结构和利润最大化</a:t>
            </a:r>
          </a:p>
        </p:txBody>
      </p:sp>
      <p:sp>
        <p:nvSpPr>
          <p:cNvPr id="17" name="文本框 44">
            <a:extLst>
              <a:ext uri="{FF2B5EF4-FFF2-40B4-BE49-F238E27FC236}">
                <a16:creationId xmlns:a16="http://schemas.microsoft.com/office/drawing/2014/main" id="{6AF3D053-C2BA-4DE9-B50B-04DAF4075925}"/>
              </a:ext>
            </a:extLst>
          </p:cNvPr>
          <p:cNvSpPr txBox="1"/>
          <p:nvPr/>
        </p:nvSpPr>
        <p:spPr>
          <a:xfrm>
            <a:off x="3959092" y="1764842"/>
            <a:ext cx="1389590" cy="1732092"/>
          </a:xfrm>
          <a:prstGeom prst="rect">
            <a:avLst/>
          </a:prstGeom>
          <a:noFill/>
        </p:spPr>
        <p:txBody>
          <a:bodyPr wrap="square" rtlCol="0" anchor="ctr" anchorCtr="0">
            <a:normAutofit fontScale="8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400" spc="150" dirty="0">
                <a:latin typeface="微软雅黑" panose="020B0503020204020204" pitchFamily="34" charset="-122"/>
                <a:ea typeface="微软雅黑" panose="020B0503020204020204" pitchFamily="34" charset="-122"/>
              </a:rPr>
              <a:t>完全竞争企业面临的需求曲线和收益曲线</a:t>
            </a:r>
          </a:p>
        </p:txBody>
      </p:sp>
      <p:sp>
        <p:nvSpPr>
          <p:cNvPr id="18" name="文本框 48">
            <a:extLst>
              <a:ext uri="{FF2B5EF4-FFF2-40B4-BE49-F238E27FC236}">
                <a16:creationId xmlns:a16="http://schemas.microsoft.com/office/drawing/2014/main" id="{9AE0FE04-A5D0-48CD-88B1-F28DCE68671D}"/>
              </a:ext>
            </a:extLst>
          </p:cNvPr>
          <p:cNvSpPr txBox="1"/>
          <p:nvPr/>
        </p:nvSpPr>
        <p:spPr>
          <a:xfrm>
            <a:off x="5853526" y="1764842"/>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spc="150" dirty="0">
                <a:latin typeface="微软雅黑" panose="020B0503020204020204" pitchFamily="34" charset="-122"/>
                <a:ea typeface="微软雅黑" panose="020B0503020204020204" pitchFamily="34" charset="-122"/>
              </a:rPr>
              <a:t>完全竞争企业的短期均衡</a:t>
            </a:r>
          </a:p>
        </p:txBody>
      </p:sp>
      <p:sp>
        <p:nvSpPr>
          <p:cNvPr id="19" name="平行四边形 18">
            <a:extLst>
              <a:ext uri="{FF2B5EF4-FFF2-40B4-BE49-F238E27FC236}">
                <a16:creationId xmlns:a16="http://schemas.microsoft.com/office/drawing/2014/main" id="{19AF637F-02DB-4D09-BD02-F5EF37EFEC30}"/>
              </a:ext>
            </a:extLst>
          </p:cNvPr>
          <p:cNvSpPr/>
          <p:nvPr/>
        </p:nvSpPr>
        <p:spPr>
          <a:xfrm rot="16200000">
            <a:off x="3620719" y="4641875"/>
            <a:ext cx="2103957" cy="518653"/>
          </a:xfrm>
          <a:prstGeom prst="parallelogram">
            <a:avLst>
              <a:gd name="adj" fmla="val 156667"/>
            </a:avLst>
          </a:prstGeom>
          <a:solidFill>
            <a:srgbClr val="3B9DBB">
              <a:lumMod val="40000"/>
              <a:lumOff val="60000"/>
            </a:srgbClr>
          </a:solidFill>
          <a:ln w="12700" cap="flat" cmpd="sng" algn="ctr">
            <a:noFill/>
            <a:prstDash val="solid"/>
            <a:miter lim="800000"/>
          </a:ln>
          <a:effectLst/>
        </p:spPr>
        <p:txBody>
          <a:bodyPr rtlCol="0" anchor="ctr">
            <a:normAutofit fontScale="6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0" name="直角三角形 19">
            <a:extLst>
              <a:ext uri="{FF2B5EF4-FFF2-40B4-BE49-F238E27FC236}">
                <a16:creationId xmlns:a16="http://schemas.microsoft.com/office/drawing/2014/main" id="{747DBFF2-7D2F-4306-89CD-B35495FFB255}"/>
              </a:ext>
            </a:extLst>
          </p:cNvPr>
          <p:cNvSpPr/>
          <p:nvPr/>
        </p:nvSpPr>
        <p:spPr>
          <a:xfrm>
            <a:off x="3632951" y="3673079"/>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1" name="矩形 20">
            <a:extLst>
              <a:ext uri="{FF2B5EF4-FFF2-40B4-BE49-F238E27FC236}">
                <a16:creationId xmlns:a16="http://schemas.microsoft.com/office/drawing/2014/main" id="{979887FE-8715-4168-8D68-BE32EFD5CA09}"/>
              </a:ext>
            </a:extLst>
          </p:cNvPr>
          <p:cNvSpPr/>
          <p:nvPr/>
        </p:nvSpPr>
        <p:spPr>
          <a:xfrm>
            <a:off x="3031122" y="3849223"/>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2" name="任意多边形 30">
            <a:extLst>
              <a:ext uri="{FF2B5EF4-FFF2-40B4-BE49-F238E27FC236}">
                <a16:creationId xmlns:a16="http://schemas.microsoft.com/office/drawing/2014/main" id="{974FD1F3-AE2F-4A58-A485-7CF905BD2443}"/>
              </a:ext>
            </a:extLst>
          </p:cNvPr>
          <p:cNvSpPr/>
          <p:nvPr/>
        </p:nvSpPr>
        <p:spPr>
          <a:xfrm>
            <a:off x="3121641" y="3673079"/>
            <a:ext cx="1208552"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4" name="直角三角形 23">
            <a:extLst>
              <a:ext uri="{FF2B5EF4-FFF2-40B4-BE49-F238E27FC236}">
                <a16:creationId xmlns:a16="http://schemas.microsoft.com/office/drawing/2014/main" id="{F0F8F43B-CAC3-49C8-8712-2B4DD9528475}"/>
              </a:ext>
            </a:extLst>
          </p:cNvPr>
          <p:cNvSpPr/>
          <p:nvPr/>
        </p:nvSpPr>
        <p:spPr>
          <a:xfrm>
            <a:off x="5533854" y="3673079"/>
            <a:ext cx="185932" cy="176146"/>
          </a:xfrm>
          <a:prstGeom prst="rtTriangle">
            <a:avLst/>
          </a:prstGeom>
          <a:solidFill>
            <a:srgbClr val="3B9DBB">
              <a:lumMod val="40000"/>
              <a:lumOff val="60000"/>
            </a:srgbClr>
          </a:solidFill>
          <a:ln w="12700" cap="flat" cmpd="sng" algn="ctr">
            <a:noFill/>
            <a:prstDash val="solid"/>
            <a:miter lim="800000"/>
          </a:ln>
          <a:effectLst/>
        </p:spPr>
        <p:txBody>
          <a:bodyPr rtlCol="0" anchor="ctr">
            <a:normAutofit fontScale="25000" lnSpcReduction="20000"/>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5" name="矩形 24">
            <a:extLst>
              <a:ext uri="{FF2B5EF4-FFF2-40B4-BE49-F238E27FC236}">
                <a16:creationId xmlns:a16="http://schemas.microsoft.com/office/drawing/2014/main" id="{18C2DD5B-358B-41DC-9F28-44249ACDAAC8}"/>
              </a:ext>
            </a:extLst>
          </p:cNvPr>
          <p:cNvSpPr/>
          <p:nvPr/>
        </p:nvSpPr>
        <p:spPr>
          <a:xfrm>
            <a:off x="4932025" y="3849223"/>
            <a:ext cx="1389590" cy="2103957"/>
          </a:xfrm>
          <a:prstGeom prst="rect">
            <a:avLst/>
          </a:prstGeom>
          <a:solidFill>
            <a:srgbClr val="FFFFFF"/>
          </a:solidFill>
          <a:ln w="3175" cap="flat" cmpd="sng" algn="ctr">
            <a:solidFill>
              <a:srgbClr val="3B9DBB"/>
            </a:solidFill>
            <a:prstDash val="solid"/>
            <a:miter lim="800000"/>
          </a:ln>
          <a:effectLst>
            <a:outerShdw blurRad="50800" dist="38100" algn="l"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3B9DBB"/>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6" name="任意多边形 27">
            <a:extLst>
              <a:ext uri="{FF2B5EF4-FFF2-40B4-BE49-F238E27FC236}">
                <a16:creationId xmlns:a16="http://schemas.microsoft.com/office/drawing/2014/main" id="{51D12C3E-F1F5-4D38-A014-B8DF1BE90578}"/>
              </a:ext>
            </a:extLst>
          </p:cNvPr>
          <p:cNvSpPr/>
          <p:nvPr/>
        </p:nvSpPr>
        <p:spPr>
          <a:xfrm>
            <a:off x="5044562" y="3673079"/>
            <a:ext cx="1164516" cy="54800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rgbClr val="E5AB71"/>
          </a:solidFill>
          <a:ln w="12700" cap="flat" cmpd="sng" algn="ctr">
            <a:noFill/>
            <a:prstDash val="solid"/>
            <a:miter lim="800000"/>
          </a:ln>
          <a:effectLst>
            <a:outerShdw blurRad="50800" dist="25400" dir="10800000" algn="r" rotWithShape="0">
              <a:prstClr val="black">
                <a:alpha val="40000"/>
              </a:prstClr>
            </a:outerShdw>
          </a:effectLst>
        </p:spPr>
        <p:txBody>
          <a:bodyPr rtlCol="0" anchor="ctr">
            <a:norm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0" name="文本框 35">
            <a:extLst>
              <a:ext uri="{FF2B5EF4-FFF2-40B4-BE49-F238E27FC236}">
                <a16:creationId xmlns:a16="http://schemas.microsoft.com/office/drawing/2014/main" id="{E5018863-4328-48DB-88F2-A8293A5BEEFA}"/>
              </a:ext>
            </a:extLst>
          </p:cNvPr>
          <p:cNvSpPr txBox="1"/>
          <p:nvPr/>
        </p:nvSpPr>
        <p:spPr>
          <a:xfrm>
            <a:off x="3143659" y="3645024"/>
            <a:ext cx="116451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第四节</a:t>
            </a:r>
          </a:p>
        </p:txBody>
      </p:sp>
      <p:sp>
        <p:nvSpPr>
          <p:cNvPr id="31" name="文本框 36">
            <a:extLst>
              <a:ext uri="{FF2B5EF4-FFF2-40B4-BE49-F238E27FC236}">
                <a16:creationId xmlns:a16="http://schemas.microsoft.com/office/drawing/2014/main" id="{64762B03-5E0A-4FF5-84DA-3A801C9D5AB7}"/>
              </a:ext>
            </a:extLst>
          </p:cNvPr>
          <p:cNvSpPr txBox="1"/>
          <p:nvPr/>
        </p:nvSpPr>
        <p:spPr>
          <a:xfrm>
            <a:off x="5031807" y="3645024"/>
            <a:ext cx="119002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150" dirty="0">
                <a:solidFill>
                  <a:schemeClr val="bg1"/>
                </a:solidFill>
                <a:latin typeface="微软雅黑" panose="020B0503020204020204" pitchFamily="34" charset="-122"/>
                <a:ea typeface="微软雅黑" panose="020B0503020204020204" pitchFamily="34" charset="-122"/>
              </a:rPr>
              <a:t>第五节</a:t>
            </a:r>
          </a:p>
        </p:txBody>
      </p:sp>
      <p:sp>
        <p:nvSpPr>
          <p:cNvPr id="33" name="文本框 49">
            <a:extLst>
              <a:ext uri="{FF2B5EF4-FFF2-40B4-BE49-F238E27FC236}">
                <a16:creationId xmlns:a16="http://schemas.microsoft.com/office/drawing/2014/main" id="{7D4F0D52-3445-4413-BD2D-D491610B3455}"/>
              </a:ext>
            </a:extLst>
          </p:cNvPr>
          <p:cNvSpPr txBox="1"/>
          <p:nvPr/>
        </p:nvSpPr>
        <p:spPr>
          <a:xfrm>
            <a:off x="3031122" y="4221088"/>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spc="150" dirty="0">
                <a:latin typeface="微软雅黑" panose="020B0503020204020204" pitchFamily="34" charset="-122"/>
                <a:ea typeface="微软雅黑" panose="020B0503020204020204" pitchFamily="34" charset="-122"/>
              </a:rPr>
              <a:t>完全竞争企业和市场的长期均衡</a:t>
            </a:r>
          </a:p>
        </p:txBody>
      </p:sp>
      <p:sp>
        <p:nvSpPr>
          <p:cNvPr id="34" name="文本框 53">
            <a:extLst>
              <a:ext uri="{FF2B5EF4-FFF2-40B4-BE49-F238E27FC236}">
                <a16:creationId xmlns:a16="http://schemas.microsoft.com/office/drawing/2014/main" id="{3206073B-0493-41FB-85B2-DBB55C8A9ADC}"/>
              </a:ext>
            </a:extLst>
          </p:cNvPr>
          <p:cNvSpPr txBox="1"/>
          <p:nvPr/>
        </p:nvSpPr>
        <p:spPr>
          <a:xfrm>
            <a:off x="4932025" y="4221088"/>
            <a:ext cx="1389590" cy="1732092"/>
          </a:xfrm>
          <a:prstGeom prst="rect">
            <a:avLst/>
          </a:prstGeom>
          <a:noFill/>
        </p:spPr>
        <p:txBody>
          <a:bodyPr wrap="square"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2000" spc="150" dirty="0">
                <a:latin typeface="微软雅黑" panose="020B0503020204020204" pitchFamily="34" charset="-122"/>
                <a:ea typeface="微软雅黑" panose="020B0503020204020204" pitchFamily="34" charset="-122"/>
              </a:rPr>
              <a:t>本章</a:t>
            </a:r>
            <a:endParaRPr lang="en-US" altLang="zh-CN" sz="2000" spc="150" dirty="0">
              <a:latin typeface="微软雅黑" panose="020B0503020204020204" pitchFamily="34" charset="-122"/>
              <a:ea typeface="微软雅黑" panose="020B0503020204020204" pitchFamily="34" charset="-122"/>
            </a:endParaRPr>
          </a:p>
          <a:p>
            <a:pPr algn="ctr">
              <a:lnSpc>
                <a:spcPct val="120000"/>
              </a:lnSpc>
            </a:pPr>
            <a:r>
              <a:rPr lang="zh-CN" altLang="en-US" sz="2000" spc="150" dirty="0">
                <a:latin typeface="微软雅黑" panose="020B0503020204020204" pitchFamily="34" charset="-122"/>
                <a:ea typeface="微软雅黑" panose="020B0503020204020204" pitchFamily="34" charset="-122"/>
              </a:rPr>
              <a:t>评析</a:t>
            </a:r>
          </a:p>
        </p:txBody>
      </p:sp>
      <p:sp>
        <p:nvSpPr>
          <p:cNvPr id="36" name="矩形 35">
            <a:extLst>
              <a:ext uri="{FF2B5EF4-FFF2-40B4-BE49-F238E27FC236}">
                <a16:creationId xmlns:a16="http://schemas.microsoft.com/office/drawing/2014/main" id="{50D68365-AF7C-4C18-A707-CED561E81FF5}"/>
              </a:ext>
            </a:extLst>
          </p:cNvPr>
          <p:cNvSpPr/>
          <p:nvPr/>
        </p:nvSpPr>
        <p:spPr>
          <a:xfrm>
            <a:off x="1248013" y="451158"/>
            <a:ext cx="4801314" cy="646331"/>
          </a:xfrm>
          <a:prstGeom prst="rect">
            <a:avLst/>
          </a:prstGeom>
        </p:spPr>
        <p:txBody>
          <a:bodyPr wrap="none">
            <a:spAutoFit/>
          </a:bodyPr>
          <a:lstStyle/>
          <a:p>
            <a:r>
              <a:rPr lang="zh-CN" altLang="en-US" sz="3600" b="1" dirty="0">
                <a:latin typeface="微软雅黑" panose="020B0503020204020204" pitchFamily="34" charset="-122"/>
                <a:ea typeface="微软雅黑" panose="020B0503020204020204" pitchFamily="34" charset="-122"/>
                <a:cs typeface="+mj-cs"/>
              </a:rPr>
              <a:t>第四章</a:t>
            </a:r>
            <a:r>
              <a:rPr lang="en-US" altLang="zh-CN" sz="3600" b="1" dirty="0">
                <a:latin typeface="微软雅黑" panose="020B0503020204020204" pitchFamily="34" charset="-122"/>
                <a:ea typeface="微软雅黑" panose="020B0503020204020204" pitchFamily="34" charset="-122"/>
                <a:cs typeface="+mj-cs"/>
              </a:rPr>
              <a:t>	</a:t>
            </a:r>
            <a:r>
              <a:rPr lang="zh-CN" altLang="en-US" sz="3600" b="1" dirty="0">
                <a:latin typeface="微软雅黑" panose="020B0503020204020204" pitchFamily="34" charset="-122"/>
                <a:ea typeface="微软雅黑" panose="020B0503020204020204" pitchFamily="34" charset="-122"/>
                <a:cs typeface="+mj-cs"/>
              </a:rPr>
              <a:t>完全竞争市场</a:t>
            </a:r>
          </a:p>
        </p:txBody>
      </p:sp>
      <p:sp>
        <p:nvSpPr>
          <p:cNvPr id="23" name="线形标注 1 22"/>
          <p:cNvSpPr/>
          <p:nvPr/>
        </p:nvSpPr>
        <p:spPr bwMode="auto">
          <a:xfrm>
            <a:off x="7524205" y="438916"/>
            <a:ext cx="1619795" cy="1838004"/>
          </a:xfrm>
          <a:prstGeom prst="borderCallout1">
            <a:avLst>
              <a:gd name="adj1" fmla="val 18750"/>
              <a:gd name="adj2" fmla="val -8333"/>
              <a:gd name="adj3" fmla="val 26940"/>
              <a:gd name="adj4" fmla="val -6450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企业利润不仅取决于成本，也取决于收益，收益又与企业所处市场环境密切相关。</a:t>
            </a:r>
          </a:p>
        </p:txBody>
      </p:sp>
      <p:sp>
        <p:nvSpPr>
          <p:cNvPr id="27" name="标注: 线形(带边框和强调线) 26">
            <a:extLst>
              <a:ext uri="{FF2B5EF4-FFF2-40B4-BE49-F238E27FC236}">
                <a16:creationId xmlns:a16="http://schemas.microsoft.com/office/drawing/2014/main" id="{DEA00099-7BA3-42DF-8EA6-A94646D45B67}"/>
              </a:ext>
            </a:extLst>
          </p:cNvPr>
          <p:cNvSpPr/>
          <p:nvPr/>
        </p:nvSpPr>
        <p:spPr bwMode="auto">
          <a:xfrm>
            <a:off x="467715" y="3673079"/>
            <a:ext cx="1130415" cy="1556046"/>
          </a:xfrm>
          <a:prstGeom prst="accentBorderCallout1">
            <a:avLst>
              <a:gd name="adj1" fmla="val 40709"/>
              <a:gd name="adj2" fmla="val 100088"/>
              <a:gd name="adj3" fmla="val -26410"/>
              <a:gd name="adj4" fmla="val 17219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这一节是笼统讨论四种市场环境下的情形。</a:t>
            </a:r>
          </a:p>
        </p:txBody>
      </p:sp>
    </p:spTree>
    <p:extLst>
      <p:ext uri="{BB962C8B-B14F-4D97-AF65-F5344CB8AC3E}">
        <p14:creationId xmlns:p14="http://schemas.microsoft.com/office/powerpoint/2010/main" val="162768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left)">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randombar(horizontal)">
                                      <p:cBhvr>
                                        <p:cTn id="12" dur="500"/>
                                        <p:tgtEl>
                                          <p:spTgt spid="2"/>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randombar(horizontal)">
                                      <p:cBhvr>
                                        <p:cTn id="15" dur="500"/>
                                        <p:tgtEl>
                                          <p:spTgt spid="3"/>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randombar(horizontal)">
                                      <p:cBhvr>
                                        <p:cTn id="18" dur="500"/>
                                        <p:tgtEl>
                                          <p:spTgt spid="4"/>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randombar(horizontal)">
                                      <p:cBhvr>
                                        <p:cTn id="21" dur="500"/>
                                        <p:tgtEl>
                                          <p:spTgt spid="5"/>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randombar(horizontal)">
                                      <p:cBhvr>
                                        <p:cTn id="24" dur="500"/>
                                        <p:tgtEl>
                                          <p:spTgt spid="6"/>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randombar(horizontal)">
                                      <p:cBhvr>
                                        <p:cTn id="27" dur="500"/>
                                        <p:tgtEl>
                                          <p:spTgt spid="7"/>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randombar(horizontal)">
                                      <p:cBhvr>
                                        <p:cTn id="30" dur="500"/>
                                        <p:tgtEl>
                                          <p:spTgt spid="8"/>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randombar(horizontal)">
                                      <p:cBhvr>
                                        <p:cTn id="33" dur="500"/>
                                        <p:tgtEl>
                                          <p:spTgt spid="9"/>
                                        </p:tgtEl>
                                      </p:cBhvr>
                                    </p:animEffect>
                                  </p:childTnLst>
                                </p:cTn>
                              </p:par>
                              <p:par>
                                <p:cTn id="34" presetID="14" presetClass="entr" presetSubtype="1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randombar(horizontal)">
                                      <p:cBhvr>
                                        <p:cTn id="36" dur="500"/>
                                        <p:tgtEl>
                                          <p:spTgt spid="10"/>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randombar(horizontal)">
                                      <p:cBhvr>
                                        <p:cTn id="39" dur="500"/>
                                        <p:tgtEl>
                                          <p:spTgt spid="11"/>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randombar(horizontal)">
                                      <p:cBhvr>
                                        <p:cTn id="42" dur="500"/>
                                        <p:tgtEl>
                                          <p:spTgt spid="12"/>
                                        </p:tgtEl>
                                      </p:cBhvr>
                                    </p:animEffect>
                                  </p:childTnLst>
                                </p:cTn>
                              </p:par>
                              <p:par>
                                <p:cTn id="43" presetID="14" presetClass="entr" presetSubtype="1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randombar(horizontal)">
                                      <p:cBhvr>
                                        <p:cTn id="45" dur="500"/>
                                        <p:tgtEl>
                                          <p:spTgt spid="13"/>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randombar(horizontal)">
                                      <p:cBhvr>
                                        <p:cTn id="48" dur="500"/>
                                        <p:tgtEl>
                                          <p:spTgt spid="14"/>
                                        </p:tgtEl>
                                      </p:cBhvr>
                                    </p:animEffect>
                                  </p:childTnLst>
                                </p:cTn>
                              </p:par>
                              <p:par>
                                <p:cTn id="49" presetID="14" presetClass="entr" presetSubtype="1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randombar(horizontal)">
                                      <p:cBhvr>
                                        <p:cTn id="51" dur="500"/>
                                        <p:tgtEl>
                                          <p:spTgt spid="15"/>
                                        </p:tgtEl>
                                      </p:cBhvr>
                                    </p:animEffect>
                                  </p:childTnLst>
                                </p:cTn>
                              </p:par>
                              <p:par>
                                <p:cTn id="52" presetID="14" presetClass="entr" presetSubtype="1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randombar(horizontal)">
                                      <p:cBhvr>
                                        <p:cTn id="54" dur="500"/>
                                        <p:tgtEl>
                                          <p:spTgt spid="16"/>
                                        </p:tgtEl>
                                      </p:cBhvr>
                                    </p:animEffect>
                                  </p:childTnLst>
                                </p:cTn>
                              </p:par>
                              <p:par>
                                <p:cTn id="55" presetID="14" presetClass="entr" presetSubtype="1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randombar(horizontal)">
                                      <p:cBhvr>
                                        <p:cTn id="57" dur="500"/>
                                        <p:tgtEl>
                                          <p:spTgt spid="17"/>
                                        </p:tgtEl>
                                      </p:cBhvr>
                                    </p:animEffect>
                                  </p:childTnLst>
                                </p:cTn>
                              </p:par>
                              <p:par>
                                <p:cTn id="58" presetID="14" presetClass="entr" presetSubtype="1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randombar(horizontal)">
                                      <p:cBhvr>
                                        <p:cTn id="60" dur="500"/>
                                        <p:tgtEl>
                                          <p:spTgt spid="18"/>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randombar(horizontal)">
                                      <p:cBhvr>
                                        <p:cTn id="63" dur="500"/>
                                        <p:tgtEl>
                                          <p:spTgt spid="19"/>
                                        </p:tgtEl>
                                      </p:cBhvr>
                                    </p:animEffect>
                                  </p:childTnLst>
                                </p:cTn>
                              </p:par>
                              <p:par>
                                <p:cTn id="64" presetID="14" presetClass="entr" presetSubtype="1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randombar(horizontal)">
                                      <p:cBhvr>
                                        <p:cTn id="66" dur="500"/>
                                        <p:tgtEl>
                                          <p:spTgt spid="20"/>
                                        </p:tgtEl>
                                      </p:cBhvr>
                                    </p:animEffect>
                                  </p:childTnLst>
                                </p:cTn>
                              </p:par>
                              <p:par>
                                <p:cTn id="67" presetID="14" presetClass="entr" presetSubtype="1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randombar(horizontal)">
                                      <p:cBhvr>
                                        <p:cTn id="69" dur="500"/>
                                        <p:tgtEl>
                                          <p:spTgt spid="21"/>
                                        </p:tgtEl>
                                      </p:cBhvr>
                                    </p:animEffect>
                                  </p:childTnLst>
                                </p:cTn>
                              </p:par>
                              <p:par>
                                <p:cTn id="70" presetID="14" presetClass="entr" presetSubtype="1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randombar(horizontal)">
                                      <p:cBhvr>
                                        <p:cTn id="72" dur="500"/>
                                        <p:tgtEl>
                                          <p:spTgt spid="22"/>
                                        </p:tgtEl>
                                      </p:cBhvr>
                                    </p:animEffect>
                                  </p:childTnLst>
                                </p:cTn>
                              </p:par>
                              <p:par>
                                <p:cTn id="73" presetID="14" presetClass="entr" presetSubtype="1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randombar(horizontal)">
                                      <p:cBhvr>
                                        <p:cTn id="75" dur="500"/>
                                        <p:tgtEl>
                                          <p:spTgt spid="24"/>
                                        </p:tgtEl>
                                      </p:cBhvr>
                                    </p:animEffect>
                                  </p:childTnLst>
                                </p:cTn>
                              </p:par>
                              <p:par>
                                <p:cTn id="76" presetID="14" presetClass="entr" presetSubtype="1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randombar(horizontal)">
                                      <p:cBhvr>
                                        <p:cTn id="78" dur="500"/>
                                        <p:tgtEl>
                                          <p:spTgt spid="25"/>
                                        </p:tgtEl>
                                      </p:cBhvr>
                                    </p:animEffect>
                                  </p:childTnLst>
                                </p:cTn>
                              </p:par>
                              <p:par>
                                <p:cTn id="79" presetID="14" presetClass="entr" presetSubtype="1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randombar(horizontal)">
                                      <p:cBhvr>
                                        <p:cTn id="81" dur="500"/>
                                        <p:tgtEl>
                                          <p:spTgt spid="26"/>
                                        </p:tgtEl>
                                      </p:cBhvr>
                                    </p:animEffect>
                                  </p:childTnLst>
                                </p:cTn>
                              </p:par>
                              <p:par>
                                <p:cTn id="82" presetID="14" presetClass="entr" presetSubtype="1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randombar(horizontal)">
                                      <p:cBhvr>
                                        <p:cTn id="84" dur="500"/>
                                        <p:tgtEl>
                                          <p:spTgt spid="30"/>
                                        </p:tgtEl>
                                      </p:cBhvr>
                                    </p:animEffect>
                                  </p:childTnLst>
                                </p:cTn>
                              </p:par>
                              <p:par>
                                <p:cTn id="85" presetID="14" presetClass="entr" presetSubtype="1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randombar(horizontal)">
                                      <p:cBhvr>
                                        <p:cTn id="87" dur="500"/>
                                        <p:tgtEl>
                                          <p:spTgt spid="31"/>
                                        </p:tgtEl>
                                      </p:cBhvr>
                                    </p:animEffect>
                                  </p:childTnLst>
                                </p:cTn>
                              </p:par>
                              <p:par>
                                <p:cTn id="88" presetID="14" presetClass="entr" presetSubtype="1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randombar(horizontal)">
                                      <p:cBhvr>
                                        <p:cTn id="90" dur="500"/>
                                        <p:tgtEl>
                                          <p:spTgt spid="33"/>
                                        </p:tgtEl>
                                      </p:cBhvr>
                                    </p:animEffect>
                                  </p:childTnLst>
                                </p:cTn>
                              </p:par>
                              <p:par>
                                <p:cTn id="91" presetID="14" presetClass="entr" presetSubtype="1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randombar(horizontal)">
                                      <p:cBhvr>
                                        <p:cTn id="9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p:bldP spid="14" grpId="0"/>
      <p:bldP spid="15" grpId="0"/>
      <p:bldP spid="16" grpId="0"/>
      <p:bldP spid="17" grpId="0"/>
      <p:bldP spid="18" grpId="0"/>
      <p:bldP spid="19" grpId="0" animBg="1"/>
      <p:bldP spid="20" grpId="0" animBg="1"/>
      <p:bldP spid="21" grpId="0" animBg="1"/>
      <p:bldP spid="22" grpId="0" animBg="1"/>
      <p:bldP spid="24" grpId="0" animBg="1"/>
      <p:bldP spid="25" grpId="0" animBg="1"/>
      <p:bldP spid="26" grpId="0" animBg="1"/>
      <p:bldP spid="30" grpId="0"/>
      <p:bldP spid="31" grpId="0"/>
      <p:bldP spid="33" grpId="0"/>
      <p:bldP spid="34" grpId="0"/>
      <p:bldP spid="3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27843F-C8C8-4131-BFDC-E49DAECFC098}"/>
              </a:ext>
            </a:extLst>
          </p:cNvPr>
          <p:cNvSpPr/>
          <p:nvPr/>
        </p:nvSpPr>
        <p:spPr>
          <a:xfrm>
            <a:off x="251700" y="681309"/>
            <a:ext cx="8770350" cy="646331"/>
          </a:xfrm>
          <a:prstGeom prst="rect">
            <a:avLst/>
          </a:prstGeom>
        </p:spPr>
        <p:txBody>
          <a:bodyPr wrap="none">
            <a:spAutoFit/>
          </a:bodyPr>
          <a:lstStyle/>
          <a:p>
            <a:r>
              <a:rPr lang="zh-CN" altLang="zh-CN" sz="3600" b="1" dirty="0">
                <a:latin typeface="微软雅黑" panose="020B0503020204020204" pitchFamily="34" charset="-122"/>
                <a:ea typeface="微软雅黑" panose="020B0503020204020204" pitchFamily="34" charset="-122"/>
                <a:cs typeface="+mj-cs"/>
              </a:rPr>
              <a:t>第一节</a:t>
            </a:r>
            <a:r>
              <a:rPr lang="en-US" altLang="zh-CN" sz="3600" b="1" dirty="0">
                <a:latin typeface="微软雅黑" panose="020B0503020204020204" pitchFamily="34" charset="-122"/>
                <a:ea typeface="微软雅黑" panose="020B0503020204020204" pitchFamily="34" charset="-122"/>
                <a:cs typeface="+mj-cs"/>
              </a:rPr>
              <a:t>  </a:t>
            </a:r>
            <a:r>
              <a:rPr lang="zh-CN" altLang="en-US" sz="3600" b="1" dirty="0">
                <a:latin typeface="微软雅黑" panose="020B0503020204020204" pitchFamily="34" charset="-122"/>
                <a:ea typeface="微软雅黑" panose="020B0503020204020204" pitchFamily="34" charset="-122"/>
                <a:cs typeface="+mj-cs"/>
              </a:rPr>
              <a:t>企业收益、市场结构和利润最大化</a:t>
            </a: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554938" y="234579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2486675" y="204417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2554938" y="3638056"/>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486675" y="3336431"/>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2554938" y="496901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2486675" y="466739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7"/>
            </p:custDataLst>
          </p:nvPr>
        </p:nvCxnSpPr>
        <p:spPr>
          <a:xfrm>
            <a:off x="3066113" y="2399770"/>
            <a:ext cx="0" cy="936661"/>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8"/>
            </p:custDataLst>
          </p:nvPr>
        </p:nvCxnSpPr>
        <p:spPr>
          <a:xfrm>
            <a:off x="3066113" y="3692031"/>
            <a:ext cx="0" cy="975362"/>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3851950" y="2003897"/>
            <a:ext cx="312777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企业收益和市场结构</a:t>
            </a:r>
          </a:p>
        </p:txBody>
      </p:sp>
      <p:sp>
        <p:nvSpPr>
          <p:cNvPr id="18" name="矩形 17">
            <a:extLst>
              <a:ext uri="{FF2B5EF4-FFF2-40B4-BE49-F238E27FC236}">
                <a16:creationId xmlns:a16="http://schemas.microsoft.com/office/drawing/2014/main" id="{6BA99CA7-A4CC-4245-BA58-DB89FA49F037}"/>
              </a:ext>
            </a:extLst>
          </p:cNvPr>
          <p:cNvSpPr/>
          <p:nvPr/>
        </p:nvSpPr>
        <p:spPr>
          <a:xfrm>
            <a:off x="3848155" y="3309141"/>
            <a:ext cx="312777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市场结构及划分依据</a:t>
            </a:r>
          </a:p>
        </p:txBody>
      </p:sp>
      <p:sp>
        <p:nvSpPr>
          <p:cNvPr id="19" name="矩形 18">
            <a:extLst>
              <a:ext uri="{FF2B5EF4-FFF2-40B4-BE49-F238E27FC236}">
                <a16:creationId xmlns:a16="http://schemas.microsoft.com/office/drawing/2014/main" id="{018105B0-EC74-4F50-9B33-7F18FF6C04E7}"/>
              </a:ext>
            </a:extLst>
          </p:cNvPr>
          <p:cNvSpPr/>
          <p:nvPr/>
        </p:nvSpPr>
        <p:spPr>
          <a:xfrm>
            <a:off x="3848155" y="4653085"/>
            <a:ext cx="345479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企业的利润最大化原则</a:t>
            </a:r>
          </a:p>
        </p:txBody>
      </p:sp>
    </p:spTree>
    <p:extLst>
      <p:ext uri="{BB962C8B-B14F-4D97-AF65-F5344CB8AC3E}">
        <p14:creationId xmlns:p14="http://schemas.microsoft.com/office/powerpoint/2010/main" val="2774417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17" grpId="0"/>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26CC98E5-B2B8-4C3B-B94F-E7BEACD62A0A}"/>
              </a:ext>
            </a:extLst>
          </p:cNvPr>
          <p:cNvGrpSpPr/>
          <p:nvPr/>
        </p:nvGrpSpPr>
        <p:grpSpPr>
          <a:xfrm>
            <a:off x="467544" y="1203686"/>
            <a:ext cx="8192278" cy="1648463"/>
            <a:chOff x="467544" y="1268760"/>
            <a:chExt cx="8192278" cy="1306490"/>
          </a:xfrm>
        </p:grpSpPr>
        <p:sp>
          <p:nvSpPr>
            <p:cNvPr id="23" name="矩形 22">
              <a:extLst>
                <a:ext uri="{FF2B5EF4-FFF2-40B4-BE49-F238E27FC236}">
                  <a16:creationId xmlns:a16="http://schemas.microsoft.com/office/drawing/2014/main" id="{92D01AA6-4D0E-4603-BAB9-D99E90DEC435}"/>
                </a:ext>
              </a:extLst>
            </p:cNvPr>
            <p:cNvSpPr/>
            <p:nvPr/>
          </p:nvSpPr>
          <p:spPr>
            <a:xfrm>
              <a:off x="467544" y="1268760"/>
              <a:ext cx="8192278" cy="13064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113FB8C-1FA4-44D4-BC31-6C2C4056C077}"/>
                </a:ext>
              </a:extLst>
            </p:cNvPr>
            <p:cNvSpPr/>
            <p:nvPr/>
          </p:nvSpPr>
          <p:spPr>
            <a:xfrm>
              <a:off x="538031" y="1342300"/>
              <a:ext cx="8051305" cy="115941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a:extLst>
              <a:ext uri="{FF2B5EF4-FFF2-40B4-BE49-F238E27FC236}">
                <a16:creationId xmlns:a16="http://schemas.microsoft.com/office/drawing/2014/main" id="{D230191B-D751-4BE7-8407-E83F26D8845E}"/>
              </a:ext>
            </a:extLst>
          </p:cNvPr>
          <p:cNvSpPr/>
          <p:nvPr/>
        </p:nvSpPr>
        <p:spPr>
          <a:xfrm>
            <a:off x="1181944" y="1760929"/>
            <a:ext cx="7128792" cy="923330"/>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企业收益是企业销售产品之后所得到的收入</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即等于产品的销售价格与销售数量的乘积。</a:t>
            </a:r>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一、企业收益和市场结构</a:t>
            </a:r>
          </a:p>
        </p:txBody>
      </p:sp>
      <p:sp>
        <p:nvSpPr>
          <p:cNvPr id="12" name="矩形 11">
            <a:extLst>
              <a:ext uri="{FF2B5EF4-FFF2-40B4-BE49-F238E27FC236}">
                <a16:creationId xmlns:a16="http://schemas.microsoft.com/office/drawing/2014/main" id="{49C733EB-F3D1-4EC8-8D19-B58AE2477326}"/>
              </a:ext>
            </a:extLst>
          </p:cNvPr>
          <p:cNvSpPr/>
          <p:nvPr/>
        </p:nvSpPr>
        <p:spPr>
          <a:xfrm>
            <a:off x="1181944" y="1360715"/>
            <a:ext cx="1184940"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企业收益</a:t>
            </a:r>
            <a:endParaRPr lang="en-US" altLang="zh-CN" spc="150" dirty="0">
              <a:solidFill>
                <a:srgbClr val="000000"/>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910856D5-C79D-4924-8E1B-F628F801C8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1904" y="1281603"/>
            <a:ext cx="448444" cy="448444"/>
          </a:xfrm>
          <a:prstGeom prst="rect">
            <a:avLst/>
          </a:prstGeom>
          <a:effectLst>
            <a:innerShdw blurRad="114300">
              <a:prstClr val="black"/>
            </a:innerShdw>
          </a:effectLst>
        </p:spPr>
      </p:pic>
      <p:sp>
        <p:nvSpPr>
          <p:cNvPr id="14" name="矩形 13">
            <a:extLst>
              <a:ext uri="{FF2B5EF4-FFF2-40B4-BE49-F238E27FC236}">
                <a16:creationId xmlns:a16="http://schemas.microsoft.com/office/drawing/2014/main" id="{70C10CEA-106F-4024-A651-A61CA87A6390}"/>
              </a:ext>
            </a:extLst>
          </p:cNvPr>
          <p:cNvSpPr/>
          <p:nvPr/>
        </p:nvSpPr>
        <p:spPr>
          <a:xfrm>
            <a:off x="2569154" y="2982502"/>
            <a:ext cx="3413703" cy="369332"/>
          </a:xfrm>
          <a:prstGeom prst="rect">
            <a:avLst/>
          </a:prstGeom>
          <a:solidFill>
            <a:srgbClr val="BB1528"/>
          </a:solidFill>
        </p:spPr>
        <p:txBody>
          <a:bodyPr wrap="square">
            <a:spAutoFit/>
          </a:bodyPr>
          <a:lstStyle/>
          <a:p>
            <a:pPr algn="ctr"/>
            <a:r>
              <a:rPr lang="zh-CN" altLang="en-US" spc="150" dirty="0">
                <a:solidFill>
                  <a:srgbClr val="FFFFFF"/>
                </a:solidFill>
                <a:latin typeface="微软雅黑" panose="020B0503020204020204" pitchFamily="34" charset="-122"/>
                <a:ea typeface="微软雅黑" panose="020B0503020204020204" pitchFamily="34" charset="-122"/>
              </a:rPr>
              <a:t>收益、价格和产量</a:t>
            </a:r>
            <a:endParaRPr lang="en-US" altLang="zh-CN" spc="150" dirty="0">
              <a:solidFill>
                <a:srgbClr val="FFFFFF"/>
              </a:solidFill>
              <a:latin typeface="微软雅黑" panose="020B0503020204020204" pitchFamily="34" charset="-122"/>
              <a:ea typeface="微软雅黑" panose="020B0503020204020204" pitchFamily="34" charset="-122"/>
            </a:endParaRPr>
          </a:p>
        </p:txBody>
      </p:sp>
      <p:sp>
        <p:nvSpPr>
          <p:cNvPr id="16" name="左大括号 15">
            <a:extLst>
              <a:ext uri="{FF2B5EF4-FFF2-40B4-BE49-F238E27FC236}">
                <a16:creationId xmlns:a16="http://schemas.microsoft.com/office/drawing/2014/main" id="{68964485-A070-4596-8132-03093633FA50}"/>
              </a:ext>
            </a:extLst>
          </p:cNvPr>
          <p:cNvSpPr/>
          <p:nvPr/>
        </p:nvSpPr>
        <p:spPr>
          <a:xfrm rot="5400000">
            <a:off x="4173080" y="783079"/>
            <a:ext cx="369332" cy="5728996"/>
          </a:xfrm>
          <a:prstGeom prst="leftBrac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A67A3612-DEB5-489E-B44D-41E7784352B5}"/>
              </a:ext>
            </a:extLst>
          </p:cNvPr>
          <p:cNvSpPr/>
          <p:nvPr/>
        </p:nvSpPr>
        <p:spPr>
          <a:xfrm>
            <a:off x="730100" y="3953334"/>
            <a:ext cx="1839054" cy="369332"/>
          </a:xfrm>
          <a:prstGeom prst="rect">
            <a:avLst/>
          </a:prstGeom>
          <a:noFill/>
        </p:spPr>
        <p:txBody>
          <a:bodyPr wrap="square">
            <a:spAutoFit/>
          </a:bodyPr>
          <a:lstStyle/>
          <a:p>
            <a:r>
              <a:rPr lang="en-US" altLang="zh-CN" spc="150" dirty="0">
                <a:latin typeface="微软雅黑" panose="020B0503020204020204" pitchFamily="34" charset="-122"/>
                <a:ea typeface="微软雅黑" panose="020B0503020204020204" pitchFamily="34" charset="-122"/>
              </a:rPr>
              <a:t>TR——</a:t>
            </a:r>
            <a:r>
              <a:rPr lang="zh-CN" altLang="en-US" spc="150" dirty="0">
                <a:latin typeface="微软雅黑" panose="020B0503020204020204" pitchFamily="34" charset="-122"/>
                <a:ea typeface="微软雅黑" panose="020B0503020204020204" pitchFamily="34" charset="-122"/>
              </a:rPr>
              <a:t>总收益</a:t>
            </a:r>
            <a:endParaRPr lang="en-US" altLang="zh-CN" spc="150" dirty="0">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a16="http://schemas.microsoft.com/office/drawing/2014/main" id="{30EB7D63-D003-49CC-AB97-2B036080794D}"/>
              </a:ext>
            </a:extLst>
          </p:cNvPr>
          <p:cNvSpPr/>
          <p:nvPr/>
        </p:nvSpPr>
        <p:spPr>
          <a:xfrm>
            <a:off x="3780135" y="3957984"/>
            <a:ext cx="1567096" cy="369332"/>
          </a:xfrm>
          <a:prstGeom prst="rect">
            <a:avLst/>
          </a:prstGeom>
          <a:noFill/>
        </p:spPr>
        <p:txBody>
          <a:bodyPr wrap="square">
            <a:spAutoFit/>
          </a:bodyPr>
          <a:lstStyle/>
          <a:p>
            <a:r>
              <a:rPr lang="en-US" altLang="zh-CN" spc="150" dirty="0">
                <a:latin typeface="微软雅黑" panose="020B0503020204020204" pitchFamily="34" charset="-122"/>
                <a:ea typeface="微软雅黑" panose="020B0503020204020204" pitchFamily="34" charset="-122"/>
              </a:rPr>
              <a:t>P——</a:t>
            </a:r>
            <a:r>
              <a:rPr lang="zh-CN" altLang="en-US" spc="150" dirty="0">
                <a:latin typeface="微软雅黑" panose="020B0503020204020204" pitchFamily="34" charset="-122"/>
                <a:ea typeface="微软雅黑" panose="020B0503020204020204" pitchFamily="34" charset="-122"/>
              </a:rPr>
              <a:t>价格</a:t>
            </a:r>
          </a:p>
        </p:txBody>
      </p:sp>
      <p:sp>
        <p:nvSpPr>
          <p:cNvPr id="19" name="左大括号 18">
            <a:extLst>
              <a:ext uri="{FF2B5EF4-FFF2-40B4-BE49-F238E27FC236}">
                <a16:creationId xmlns:a16="http://schemas.microsoft.com/office/drawing/2014/main" id="{63EDA47D-7414-4429-A982-A2AAE835798D}"/>
              </a:ext>
            </a:extLst>
          </p:cNvPr>
          <p:cNvSpPr/>
          <p:nvPr/>
        </p:nvSpPr>
        <p:spPr>
          <a:xfrm rot="16200000" flipV="1">
            <a:off x="4249053" y="1904464"/>
            <a:ext cx="369332" cy="5728996"/>
          </a:xfrm>
          <a:prstGeom prst="leftBrac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9D0436A9-22D6-4209-9B25-FD8F6871F2B4}"/>
                  </a:ext>
                </a:extLst>
              </p:cNvPr>
              <p:cNvSpPr/>
              <p:nvPr/>
            </p:nvSpPr>
            <p:spPr>
              <a:xfrm>
                <a:off x="2109573" y="5083980"/>
                <a:ext cx="5015854" cy="923330"/>
              </a:xfrm>
              <a:prstGeom prst="rect">
                <a:avLst/>
              </a:prstGeom>
              <a:noFill/>
            </p:spPr>
            <p:txBody>
              <a:bodyPr wrap="square">
                <a:spAutoFit/>
              </a:bodyPr>
              <a:lstStyle/>
              <a:p>
                <a:r>
                  <a:rPr lang="en-US" altLang="zh-CN" spc="150" dirty="0">
                    <a:latin typeface="微软雅黑" panose="020B0503020204020204" pitchFamily="34" charset="-122"/>
                    <a:ea typeface="微软雅黑" panose="020B0503020204020204" pitchFamily="34" charset="-122"/>
                  </a:rPr>
                  <a:t>(</a:t>
                </a:r>
                <a:r>
                  <a:rPr lang="zh-CN" altLang="en-US" spc="150" dirty="0">
                    <a:highlight>
                      <a:srgbClr val="F3C97F"/>
                    </a:highlight>
                    <a:latin typeface="微软雅黑" panose="020B0503020204020204" pitchFamily="34" charset="-122"/>
                    <a:ea typeface="微软雅黑" panose="020B0503020204020204" pitchFamily="34" charset="-122"/>
                  </a:rPr>
                  <a:t>为了简化问题，假定销量等于产量</a:t>
                </a:r>
                <a:r>
                  <a:rPr lang="en-US" altLang="zh-CN" spc="150" dirty="0">
                    <a:latin typeface="微软雅黑" panose="020B0503020204020204" pitchFamily="34" charset="-122"/>
                    <a:ea typeface="微软雅黑" panose="020B0503020204020204" pitchFamily="34" charset="-122"/>
                  </a:rPr>
                  <a:t>)</a:t>
                </a:r>
                <a:r>
                  <a:rPr lang="zh-CN" altLang="en-US" spc="150" dirty="0">
                    <a:latin typeface="微软雅黑" panose="020B0503020204020204" pitchFamily="34" charset="-122"/>
                    <a:ea typeface="微软雅黑" panose="020B0503020204020204" pitchFamily="34" charset="-122"/>
                  </a:rPr>
                  <a:t>有：</a:t>
                </a:r>
                <a:endParaRPr lang="en-US" altLang="zh-CN" spc="150" dirty="0">
                  <a:latin typeface="微软雅黑" panose="020B0503020204020204" pitchFamily="34" charset="-122"/>
                  <a:ea typeface="微软雅黑" panose="020B0503020204020204" pitchFamily="34" charset="-122"/>
                </a:endParaRPr>
              </a:p>
              <a:p>
                <a:endParaRPr lang="en-US" altLang="zh-CN" spc="150" dirty="0">
                  <a:latin typeface="微软雅黑" panose="020B0503020204020204" pitchFamily="34" charset="-122"/>
                  <a:ea typeface="微软雅黑" panose="020B0503020204020204" pitchFamily="34" charset="-122"/>
                  <a:sym typeface="Wingdings" panose="05000000000000000000" pitchFamily="2" charset="2"/>
                </a:endParaRPr>
              </a:p>
              <a:p>
                <a:pPr/>
                <a14:m>
                  <m:oMathPara xmlns:m="http://schemas.openxmlformats.org/officeDocument/2006/math">
                    <m:oMathParaPr>
                      <m:jc m:val="centerGroup"/>
                    </m:oMathParaPr>
                    <m:oMath xmlns:m="http://schemas.openxmlformats.org/officeDocument/2006/math">
                      <m:r>
                        <a:rPr lang="en-US" altLang="zh-CN" b="0" i="1" spc="150" dirty="0" smtClean="0">
                          <a:latin typeface="Cambria Math" panose="02040503050406030204" pitchFamily="18" charset="0"/>
                          <a:ea typeface="微软雅黑" panose="020B0503020204020204" pitchFamily="34" charset="-122"/>
                          <a:sym typeface="Wingdings" panose="05000000000000000000" pitchFamily="2" charset="2"/>
                        </a:rPr>
                        <m:t>𝑇</m:t>
                      </m:r>
                      <m:r>
                        <a:rPr lang="en-US" altLang="zh-CN" i="1" spc="150" dirty="0" smtClean="0">
                          <a:latin typeface="Cambria Math" panose="02040503050406030204" pitchFamily="18" charset="0"/>
                          <a:ea typeface="微软雅黑" panose="020B0503020204020204" pitchFamily="34" charset="-122"/>
                          <a:sym typeface="Wingdings" panose="05000000000000000000" pitchFamily="2" charset="2"/>
                        </a:rPr>
                        <m:t>𝑅</m:t>
                      </m:r>
                      <m:r>
                        <a:rPr lang="en-US" altLang="zh-CN" i="1" spc="150" dirty="0" smtClean="0">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latin typeface="Cambria Math" panose="02040503050406030204" pitchFamily="18" charset="0"/>
                          <a:ea typeface="微软雅黑" panose="020B0503020204020204" pitchFamily="34" charset="-122"/>
                          <a:sym typeface="Wingdings" panose="05000000000000000000" pitchFamily="2" charset="2"/>
                        </a:rPr>
                        <m:t>𝑃</m:t>
                      </m:r>
                      <m:r>
                        <a:rPr lang="en-US" altLang="zh-CN" i="1" spc="150" dirty="0" smtClean="0">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highlight>
                            <a:srgbClr val="00FF00"/>
                          </a:highlight>
                          <a:latin typeface="Cambria Math" panose="02040503050406030204" pitchFamily="18" charset="0"/>
                          <a:ea typeface="微软雅黑" panose="020B0503020204020204" pitchFamily="34" charset="-122"/>
                          <a:sym typeface="Wingdings" panose="05000000000000000000" pitchFamily="2" charset="2"/>
                        </a:rPr>
                        <m:t>𝑃</m:t>
                      </m:r>
                      <m:r>
                        <a:rPr lang="en-US" altLang="zh-CN" i="1" spc="150" dirty="0" smtClean="0">
                          <a:highlight>
                            <a:srgbClr val="00FF00"/>
                          </a:highlight>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highlight>
                            <a:srgbClr val="00FF00"/>
                          </a:highlight>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highlight>
                            <a:srgbClr val="00FF00"/>
                          </a:highlight>
                          <a:latin typeface="Cambria Math" panose="02040503050406030204" pitchFamily="18" charset="0"/>
                          <a:ea typeface="微软雅黑" panose="020B0503020204020204" pitchFamily="34" charset="-122"/>
                          <a:sym typeface="Wingdings" panose="05000000000000000000" pitchFamily="2" charset="2"/>
                        </a:rPr>
                        <m:t>) ·</m:t>
                      </m:r>
                      <m:r>
                        <a:rPr lang="en-US" altLang="zh-CN" i="1" spc="150" dirty="0" smtClean="0">
                          <a:latin typeface="Cambria Math" panose="02040503050406030204" pitchFamily="18" charset="0"/>
                          <a:ea typeface="微软雅黑" panose="020B0503020204020204" pitchFamily="34" charset="-122"/>
                          <a:sym typeface="Wingdings" panose="05000000000000000000" pitchFamily="2" charset="2"/>
                        </a:rPr>
                        <m:t>𝑄</m:t>
                      </m:r>
                    </m:oMath>
                  </m:oMathPara>
                </a14:m>
                <a:endParaRPr lang="zh-CN" altLang="en-US" spc="150" dirty="0">
                  <a:latin typeface="微软雅黑" panose="020B0503020204020204" pitchFamily="34" charset="-122"/>
                  <a:ea typeface="微软雅黑" panose="020B0503020204020204" pitchFamily="34" charset="-122"/>
                </a:endParaRPr>
              </a:p>
            </p:txBody>
          </p:sp>
        </mc:Choice>
        <mc:Fallback xmlns="">
          <p:sp>
            <p:nvSpPr>
              <p:cNvPr id="21" name="矩形 20">
                <a:extLst>
                  <a:ext uri="{FF2B5EF4-FFF2-40B4-BE49-F238E27FC236}">
                    <a16:creationId xmlns:a16="http://schemas.microsoft.com/office/drawing/2014/main" id="{9D0436A9-22D6-4209-9B25-FD8F6871F2B4}"/>
                  </a:ext>
                </a:extLst>
              </p:cNvPr>
              <p:cNvSpPr>
                <a:spLocks noRot="1" noChangeAspect="1" noMove="1" noResize="1" noEditPoints="1" noAdjustHandles="1" noChangeArrowheads="1" noChangeShapeType="1" noTextEdit="1"/>
              </p:cNvSpPr>
              <p:nvPr/>
            </p:nvSpPr>
            <p:spPr>
              <a:xfrm>
                <a:off x="2109573" y="5083980"/>
                <a:ext cx="5015854" cy="923330"/>
              </a:xfrm>
              <a:prstGeom prst="rect">
                <a:avLst/>
              </a:prstGeom>
              <a:blipFill>
                <a:blip r:embed="rId3"/>
                <a:stretch>
                  <a:fillRect l="-972" t="-3974" b="-5298"/>
                </a:stretch>
              </a:blipFill>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30EB7D63-D003-49CC-AB97-2B036080794D}"/>
              </a:ext>
            </a:extLst>
          </p:cNvPr>
          <p:cNvSpPr/>
          <p:nvPr/>
        </p:nvSpPr>
        <p:spPr>
          <a:xfrm>
            <a:off x="6660145" y="3953334"/>
            <a:ext cx="1567096"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Q</a:t>
            </a:r>
            <a:r>
              <a:rPr lang="en-US" altLang="zh-CN" spc="150"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产量</a:t>
            </a:r>
            <a:endParaRPr lang="zh-CN" altLang="en-US" spc="15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标注: 线形(带边框和强调线) 1">
                <a:extLst>
                  <a:ext uri="{FF2B5EF4-FFF2-40B4-BE49-F238E27FC236}">
                    <a16:creationId xmlns:a16="http://schemas.microsoft.com/office/drawing/2014/main" id="{24500126-4C2E-4F08-AC92-9C086BA998D5}"/>
                  </a:ext>
                </a:extLst>
              </p:cNvPr>
              <p:cNvSpPr/>
              <p:nvPr/>
            </p:nvSpPr>
            <p:spPr bwMode="auto">
              <a:xfrm>
                <a:off x="6372125" y="5654315"/>
                <a:ext cx="2771875" cy="942906"/>
              </a:xfrm>
              <a:prstGeom prst="accentBorderCallout1">
                <a:avLst>
                  <a:gd name="adj1" fmla="val 50683"/>
                  <a:gd name="adj2" fmla="val -345"/>
                  <a:gd name="adj3" fmla="val 29363"/>
                  <a:gd name="adj4" fmla="val -3540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14:m>
                  <m:oMath xmlns:m="http://schemas.openxmlformats.org/officeDocument/2006/math">
                    <m:r>
                      <a:rPr lang="en-US" altLang="zh-CN" i="1" spc="150" dirty="0">
                        <a:latin typeface="Cambria Math" panose="02040503050406030204" pitchFamily="18" charset="0"/>
                        <a:ea typeface="微软雅黑" panose="020B0503020204020204" pitchFamily="34" charset="-122"/>
                        <a:sym typeface="Wingdings" panose="05000000000000000000" pitchFamily="2" charset="2"/>
                      </a:rPr>
                      <m:t>𝑃</m:t>
                    </m:r>
                    <m:r>
                      <a:rPr lang="en-US" altLang="zh-CN" i="1" spc="150" dirty="0">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a:latin typeface="Cambria Math" panose="02040503050406030204" pitchFamily="18" charset="0"/>
                        <a:ea typeface="微软雅黑" panose="020B0503020204020204" pitchFamily="34" charset="-122"/>
                        <a:sym typeface="Wingdings" panose="05000000000000000000" pitchFamily="2" charset="2"/>
                      </a:rPr>
                      <m:t>)</m:t>
                    </m:r>
                  </m:oMath>
                </a14:m>
                <a:r>
                  <a:rPr kumimoji="0" lang="zh-CN" altLang="en-US" sz="1800" b="0" i="0" u="none" strike="noStrike" cap="none" normalizeH="0" baseline="0" dirty="0">
                    <a:ln>
                      <a:noFill/>
                    </a:ln>
                    <a:solidFill>
                      <a:schemeClr val="tx1"/>
                    </a:solidFill>
                    <a:effectLst/>
                  </a:rPr>
                  <a:t>称为企业面临的需求函数，反映市场对该企业产品的需求。</a:t>
                </a:r>
              </a:p>
            </p:txBody>
          </p:sp>
        </mc:Choice>
        <mc:Fallback xmlns="">
          <p:sp>
            <p:nvSpPr>
              <p:cNvPr id="2" name="标注: 线形(带边框和强调线) 1">
                <a:extLst>
                  <a:ext uri="{FF2B5EF4-FFF2-40B4-BE49-F238E27FC236}">
                    <a16:creationId xmlns:a16="http://schemas.microsoft.com/office/drawing/2014/main" id="{24500126-4C2E-4F08-AC92-9C086BA998D5}"/>
                  </a:ext>
                </a:extLst>
              </p:cNvPr>
              <p:cNvSpPr>
                <a:spLocks noRot="1" noChangeAspect="1" noMove="1" noResize="1" noEditPoints="1" noAdjustHandles="1" noChangeArrowheads="1" noChangeShapeType="1" noTextEdit="1"/>
              </p:cNvSpPr>
              <p:nvPr/>
            </p:nvSpPr>
            <p:spPr bwMode="auto">
              <a:xfrm>
                <a:off x="6372125" y="5654315"/>
                <a:ext cx="2771875" cy="942906"/>
              </a:xfrm>
              <a:prstGeom prst="accentBorderCallout1">
                <a:avLst>
                  <a:gd name="adj1" fmla="val 50683"/>
                  <a:gd name="adj2" fmla="val -345"/>
                  <a:gd name="adj3" fmla="val 29363"/>
                  <a:gd name="adj4" fmla="val -35403"/>
                </a:avLst>
              </a:prstGeom>
              <a:blipFill>
                <a:blip r:embed="rId4"/>
                <a:stretch>
                  <a:fillRect t="-4487" b="-5769"/>
                </a:stretch>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1766848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randombar(horizontal)">
                                      <p:cBhvr>
                                        <p:cTn id="12" dur="500"/>
                                        <p:tgtEl>
                                          <p:spTgt spid="25"/>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animEffect transition="in" filter="fade">
                                      <p:cBhvr>
                                        <p:cTn id="18" dur="500"/>
                                        <p:tgtEl>
                                          <p:spTgt spid="1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up)">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cTn>
                              </p:par>
                            </p:childTnLst>
                          </p:cTn>
                        </p:par>
                        <p:par>
                          <p:cTn id="53" fill="hold">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up)">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P spid="14" grpId="0" animBg="1"/>
      <p:bldP spid="16" grpId="0" animBg="1"/>
      <p:bldP spid="17" grpId="0"/>
      <p:bldP spid="18" grpId="0"/>
      <p:bldP spid="19" grpId="0" animBg="1"/>
      <p:bldP spid="21"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一、企业收益和市场结构</a:t>
            </a:r>
          </a:p>
        </p:txBody>
      </p:sp>
      <p:sp>
        <p:nvSpPr>
          <p:cNvPr id="2" name="矩形 1">
            <a:extLst>
              <a:ext uri="{FF2B5EF4-FFF2-40B4-BE49-F238E27FC236}">
                <a16:creationId xmlns:a16="http://schemas.microsoft.com/office/drawing/2014/main" id="{E0A99D78-9954-4D9E-A9CD-6D00C6935420}"/>
              </a:ext>
            </a:extLst>
          </p:cNvPr>
          <p:cNvSpPr/>
          <p:nvPr/>
        </p:nvSpPr>
        <p:spPr>
          <a:xfrm>
            <a:off x="1049587" y="1295075"/>
            <a:ext cx="2281394" cy="313932"/>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企业的平均收益</a:t>
            </a:r>
          </a:p>
        </p:txBody>
      </p:sp>
      <p:sp>
        <p:nvSpPr>
          <p:cNvPr id="3" name="矩形 2">
            <a:extLst>
              <a:ext uri="{FF2B5EF4-FFF2-40B4-BE49-F238E27FC236}">
                <a16:creationId xmlns:a16="http://schemas.microsoft.com/office/drawing/2014/main" id="{DFA7F2C8-98F5-40D0-94C5-32316328066C}"/>
              </a:ext>
            </a:extLst>
          </p:cNvPr>
          <p:cNvSpPr/>
          <p:nvPr/>
        </p:nvSpPr>
        <p:spPr>
          <a:xfrm>
            <a:off x="1351112" y="1709242"/>
            <a:ext cx="6101088" cy="874407"/>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平均收益等于收益</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或总收益</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与产量的比率。用</a:t>
            </a:r>
            <a:r>
              <a:rPr lang="en-US" altLang="zh-CN" spc="150" dirty="0">
                <a:solidFill>
                  <a:srgbClr val="000000"/>
                </a:solidFill>
                <a:latin typeface="微软雅黑" panose="020B0503020204020204" pitchFamily="34" charset="-122"/>
                <a:ea typeface="微软雅黑" panose="020B0503020204020204" pitchFamily="34" charset="-122"/>
              </a:rPr>
              <a:t>AR</a:t>
            </a:r>
            <a:r>
              <a:rPr lang="zh-CN" altLang="en-US" spc="150" dirty="0">
                <a:solidFill>
                  <a:srgbClr val="000000"/>
                </a:solidFill>
                <a:latin typeface="微软雅黑" panose="020B0503020204020204" pitchFamily="34" charset="-122"/>
                <a:ea typeface="微软雅黑" panose="020B0503020204020204" pitchFamily="34" charset="-122"/>
              </a:rPr>
              <a:t>表示平均收益，则有</a:t>
            </a:r>
            <a:r>
              <a:rPr lang="en-US" altLang="zh-CN" spc="150" dirty="0">
                <a:solidFill>
                  <a:srgbClr val="000000"/>
                </a:solidFill>
                <a:latin typeface="微软雅黑" panose="020B0503020204020204" pitchFamily="34" charset="-122"/>
                <a:ea typeface="微软雅黑" panose="020B0503020204020204" pitchFamily="34" charset="-122"/>
              </a:rPr>
              <a:t>:</a:t>
            </a:r>
          </a:p>
        </p:txBody>
      </p:sp>
      <p:sp>
        <p:nvSpPr>
          <p:cNvPr id="13" name="矩形 12">
            <a:extLst>
              <a:ext uri="{FF2B5EF4-FFF2-40B4-BE49-F238E27FC236}">
                <a16:creationId xmlns:a16="http://schemas.microsoft.com/office/drawing/2014/main" id="{8BB6046A-2FD6-4FE6-B85B-57433D0B65A9}"/>
              </a:ext>
            </a:extLst>
          </p:cNvPr>
          <p:cNvSpPr/>
          <p:nvPr/>
        </p:nvSpPr>
        <p:spPr>
          <a:xfrm>
            <a:off x="1049587" y="3484494"/>
            <a:ext cx="2281394" cy="313932"/>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企业的边际收益</a:t>
            </a:r>
          </a:p>
        </p:txBody>
      </p:sp>
      <p:sp>
        <p:nvSpPr>
          <p:cNvPr id="4" name="矩形 3">
            <a:extLst>
              <a:ext uri="{FF2B5EF4-FFF2-40B4-BE49-F238E27FC236}">
                <a16:creationId xmlns:a16="http://schemas.microsoft.com/office/drawing/2014/main" id="{03A39773-DE69-4C72-AC29-F37DB447E101}"/>
              </a:ext>
            </a:extLst>
          </p:cNvPr>
          <p:cNvSpPr/>
          <p:nvPr/>
        </p:nvSpPr>
        <p:spPr>
          <a:xfrm>
            <a:off x="1453704" y="3863950"/>
            <a:ext cx="6934561" cy="1289905"/>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边际收益是增加一单位产量所引起的收益的增量</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即收益增量与产量增量之比的极限</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或者</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收益函数对产量的一阶导数。 用</a:t>
            </a:r>
            <a:r>
              <a:rPr lang="en-US" altLang="zh-CN" spc="150" dirty="0">
                <a:solidFill>
                  <a:srgbClr val="000000"/>
                </a:solidFill>
                <a:latin typeface="微软雅黑" panose="020B0503020204020204" pitchFamily="34" charset="-122"/>
                <a:ea typeface="微软雅黑" panose="020B0503020204020204" pitchFamily="34" charset="-122"/>
              </a:rPr>
              <a:t>MR</a:t>
            </a:r>
            <a:r>
              <a:rPr lang="zh-CN" altLang="en-US" spc="150" dirty="0">
                <a:solidFill>
                  <a:srgbClr val="000000"/>
                </a:solidFill>
                <a:latin typeface="微软雅黑" panose="020B0503020204020204" pitchFamily="34" charset="-122"/>
                <a:ea typeface="微软雅黑" panose="020B0503020204020204" pitchFamily="34" charset="-122"/>
              </a:rPr>
              <a:t>表示边际收益</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则有：</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772817B-5D43-462F-B4D5-5E5951F388DE}"/>
                  </a:ext>
                </a:extLst>
              </p:cNvPr>
              <p:cNvSpPr txBox="1"/>
              <p:nvPr/>
            </p:nvSpPr>
            <p:spPr>
              <a:xfrm>
                <a:off x="2987890" y="2725471"/>
                <a:ext cx="3846224" cy="578748"/>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𝐴𝑅</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𝑇𝑅</m:t>
                          </m:r>
                        </m:num>
                        <m:den>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𝑄</m:t>
                          </m:r>
                        </m:den>
                      </m:f>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𝑃</m:t>
                          </m:r>
                          <m:d>
                            <m:d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𝑄</m:t>
                              </m:r>
                            </m:e>
                          </m:d>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𝑄</m:t>
                          </m:r>
                        </m:num>
                        <m:den>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𝑄</m:t>
                          </m:r>
                        </m:den>
                      </m:f>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𝑃</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𝑄</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CN" altLang="en-US" sz="2400" i="1"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6772817B-5D43-462F-B4D5-5E5951F388DE}"/>
                  </a:ext>
                </a:extLst>
              </p:cNvPr>
              <p:cNvSpPr txBox="1">
                <a:spLocks noRot="1" noChangeAspect="1" noMove="1" noResize="1" noEditPoints="1" noAdjustHandles="1" noChangeArrowheads="1" noChangeShapeType="1" noTextEdit="1"/>
              </p:cNvSpPr>
              <p:nvPr/>
            </p:nvSpPr>
            <p:spPr>
              <a:xfrm>
                <a:off x="2987890" y="2725471"/>
                <a:ext cx="3846224" cy="57874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97B3D2F-7A57-407D-813F-C76AE8607FE7}"/>
                  </a:ext>
                </a:extLst>
              </p:cNvPr>
              <p:cNvSpPr txBox="1"/>
              <p:nvPr/>
            </p:nvSpPr>
            <p:spPr>
              <a:xfrm>
                <a:off x="3131900" y="5328022"/>
                <a:ext cx="3055067" cy="568810"/>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𝑀</m:t>
                      </m:r>
                      <m:r>
                        <m:rPr>
                          <m:sty m:val="p"/>
                        </m:rPr>
                        <a:rPr lang="en-US" altLang="zh-CN" b="0" i="0" smtClean="0">
                          <a:latin typeface="Cambria Math" panose="02040503050406030204" pitchFamily="18" charset="0"/>
                          <a:ea typeface="Cambria Math" panose="02040503050406030204" pitchFamily="18" charset="0"/>
                          <a:cs typeface="Times New Roman" panose="02020603050405020304" pitchFamily="18" charset="0"/>
                        </a:rPr>
                        <m:t>R</m:t>
                      </m:r>
                      <m:r>
                        <a:rPr lang="en-US" altLang="zh-CN">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i="1" smtClean="0">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i="1">
                              <a:latin typeface="Cambria Math" panose="02040503050406030204" pitchFamily="18" charset="0"/>
                              <a:ea typeface="Cambria Math" panose="02040503050406030204" pitchFamily="18" charset="0"/>
                              <a:cs typeface="Times New Roman" panose="02020603050405020304" pitchFamily="18" charset="0"/>
                            </a:rPr>
                            <m:t>d</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𝑇𝑅</m:t>
                          </m:r>
                        </m:num>
                        <m:den>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𝑑𝑄</m:t>
                          </m:r>
                        </m:den>
                      </m:f>
                      <m:r>
                        <a:rPr lang="en-US" altLang="zh-CN">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𝑑𝑃</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𝑄</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num>
                        <m:den>
                          <m:r>
                            <a:rPr lang="en-US" altLang="zh-CN" i="1">
                              <a:latin typeface="Cambria Math" panose="02040503050406030204" pitchFamily="18" charset="0"/>
                              <a:ea typeface="Cambria Math" panose="02040503050406030204" pitchFamily="18" charset="0"/>
                              <a:cs typeface="Times New Roman" panose="02020603050405020304" pitchFamily="18" charset="0"/>
                            </a:rPr>
                            <m:t>𝑑𝑄</m:t>
                          </m:r>
                        </m:den>
                      </m:f>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𝑄</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𝑃</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𝑄</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CN" altLang="en-US" sz="240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897B3D2F-7A57-407D-813F-C76AE8607FE7}"/>
                  </a:ext>
                </a:extLst>
              </p:cNvPr>
              <p:cNvSpPr txBox="1">
                <a:spLocks noRot="1" noChangeAspect="1" noMove="1" noResize="1" noEditPoints="1" noAdjustHandles="1" noChangeArrowheads="1" noChangeShapeType="1" noTextEdit="1"/>
              </p:cNvSpPr>
              <p:nvPr/>
            </p:nvSpPr>
            <p:spPr>
              <a:xfrm>
                <a:off x="3131900" y="5328022"/>
                <a:ext cx="3055067" cy="568810"/>
              </a:xfrm>
              <a:prstGeom prst="rect">
                <a:avLst/>
              </a:prstGeom>
              <a:blipFill>
                <a:blip r:embed="rId3"/>
                <a:stretch>
                  <a:fillRect/>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5" name="标注: 线形(带边框和强调线) 4">
            <a:extLst>
              <a:ext uri="{FF2B5EF4-FFF2-40B4-BE49-F238E27FC236}">
                <a16:creationId xmlns:a16="http://schemas.microsoft.com/office/drawing/2014/main" id="{FB4867AF-24E2-473B-A10A-5055F1E0EB96}"/>
              </a:ext>
            </a:extLst>
          </p:cNvPr>
          <p:cNvSpPr/>
          <p:nvPr/>
        </p:nvSpPr>
        <p:spPr bwMode="auto">
          <a:xfrm>
            <a:off x="7164181" y="650860"/>
            <a:ext cx="1979820" cy="2074612"/>
          </a:xfrm>
          <a:prstGeom prst="accentBorderCallout1">
            <a:avLst>
              <a:gd name="adj1" fmla="val 51383"/>
              <a:gd name="adj2" fmla="val 260"/>
              <a:gd name="adj3" fmla="val 21930"/>
              <a:gd name="adj4" fmla="val -84739"/>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可见，无论是总收益、平均收益还是边际收益，都取决于</a:t>
            </a: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P(Q)</a:t>
            </a: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，即取决于该企业面临的需求函数。</a:t>
            </a:r>
            <a:endPar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lang="en-US" altLang="zh-CN" sz="1400" dirty="0"/>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而企业的需求函数，则取决于企业在整个市场中所处的地位。</a:t>
            </a:r>
          </a:p>
        </p:txBody>
      </p:sp>
    </p:spTree>
    <p:extLst>
      <p:ext uri="{BB962C8B-B14F-4D97-AF65-F5344CB8AC3E}">
        <p14:creationId xmlns:p14="http://schemas.microsoft.com/office/powerpoint/2010/main" val="325468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3" grpId="0"/>
      <p:bldP spid="4" grpId="0"/>
      <p:bldP spid="7"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一、企业收益和市场结构</a:t>
            </a:r>
          </a:p>
        </p:txBody>
      </p:sp>
      <p:sp>
        <p:nvSpPr>
          <p:cNvPr id="10" name="MH_SubTitle_1">
            <a:extLst>
              <a:ext uri="{FF2B5EF4-FFF2-40B4-BE49-F238E27FC236}">
                <a16:creationId xmlns:a16="http://schemas.microsoft.com/office/drawing/2014/main" id="{78608EE4-064A-4A6B-8607-F09E3D7D70A6}"/>
              </a:ext>
            </a:extLst>
          </p:cNvPr>
          <p:cNvSpPr txBox="1"/>
          <p:nvPr>
            <p:custDataLst>
              <p:tags r:id="rId1"/>
            </p:custDataLst>
          </p:nvPr>
        </p:nvSpPr>
        <p:spPr bwMode="auto">
          <a:xfrm>
            <a:off x="2343786" y="1690586"/>
            <a:ext cx="1484313" cy="485696"/>
          </a:xfrm>
          <a:prstGeom prst="rect">
            <a:avLst/>
          </a:prstGeom>
          <a:solidFill>
            <a:srgbClr val="F3C97F"/>
          </a:solidFill>
        </p:spPr>
        <p:txBody>
          <a:bodyPr>
            <a:normAutofit/>
          </a:bodyPr>
          <a:lstStyle/>
          <a:p>
            <a:pPr algn="ctr">
              <a:lnSpc>
                <a:spcPct val="150000"/>
              </a:lnSpc>
              <a:spcBef>
                <a:spcPct val="80000"/>
              </a:spcBef>
              <a:buSzPct val="50000"/>
              <a:defRPr/>
            </a:pPr>
            <a:r>
              <a:rPr lang="zh-CN" altLang="en-US"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厂商需求</a:t>
            </a:r>
          </a:p>
        </p:txBody>
      </p:sp>
      <p:sp>
        <p:nvSpPr>
          <p:cNvPr id="14" name="MH_SubTitle_2">
            <a:extLst>
              <a:ext uri="{FF2B5EF4-FFF2-40B4-BE49-F238E27FC236}">
                <a16:creationId xmlns:a16="http://schemas.microsoft.com/office/drawing/2014/main" id="{C9FA3A9B-C20D-4DDA-9B1C-2AD0C35126DC}"/>
              </a:ext>
            </a:extLst>
          </p:cNvPr>
          <p:cNvSpPr txBox="1"/>
          <p:nvPr>
            <p:custDataLst>
              <p:tags r:id="rId2"/>
            </p:custDataLst>
          </p:nvPr>
        </p:nvSpPr>
        <p:spPr bwMode="auto">
          <a:xfrm>
            <a:off x="2320733" y="3780726"/>
            <a:ext cx="1484313" cy="485695"/>
          </a:xfrm>
          <a:prstGeom prst="rect">
            <a:avLst/>
          </a:prstGeom>
          <a:solidFill>
            <a:srgbClr val="F3C97F"/>
          </a:solidFill>
        </p:spPr>
        <p:txBody>
          <a:bodyPr>
            <a:normAutofit/>
          </a:bodyPr>
          <a:lstStyle>
            <a:defPPr>
              <a:defRPr lang="en-US"/>
            </a:defPPr>
            <a:lvl1pPr algn="ctr">
              <a:lnSpc>
                <a:spcPct val="150000"/>
              </a:lnSpc>
              <a:spcBef>
                <a:spcPct val="80000"/>
              </a:spcBef>
              <a:buSzPct val="50000"/>
              <a:defRPr sz="1600" spc="150">
                <a:solidFill>
                  <a:srgbClr val="000000"/>
                </a:solidFill>
                <a:latin typeface="微软雅黑" panose="020B0503020204020204" pitchFamily="34" charset="-122"/>
                <a:ea typeface="微软雅黑" panose="020B0503020204020204" pitchFamily="34" charset="-122"/>
              </a:defRPr>
            </a:lvl1pPr>
          </a:lstStyle>
          <a:p>
            <a:r>
              <a:rPr lang="zh-CN" altLang="en-US" sz="1800" dirty="0">
                <a:sym typeface="华文楷体" panose="02010600040101010101" pitchFamily="2" charset="-122"/>
              </a:rPr>
              <a:t>市场需求</a:t>
            </a:r>
          </a:p>
        </p:txBody>
      </p:sp>
      <p:sp>
        <p:nvSpPr>
          <p:cNvPr id="6" name="矩形 5">
            <a:extLst>
              <a:ext uri="{FF2B5EF4-FFF2-40B4-BE49-F238E27FC236}">
                <a16:creationId xmlns:a16="http://schemas.microsoft.com/office/drawing/2014/main" id="{34262BAE-01B9-4989-AA3F-B46AB2CE9274}"/>
              </a:ext>
            </a:extLst>
          </p:cNvPr>
          <p:cNvSpPr/>
          <p:nvPr/>
        </p:nvSpPr>
        <p:spPr>
          <a:xfrm>
            <a:off x="3995529" y="1554123"/>
            <a:ext cx="3895410" cy="1895519"/>
          </a:xfrm>
          <a:prstGeom prst="rect">
            <a:avLst/>
          </a:prstGeom>
        </p:spPr>
        <p:txBody>
          <a:bodyPr wrap="square">
            <a:spAutoFit/>
          </a:bodyPr>
          <a:lstStyle/>
          <a:p>
            <a:pPr algn="just">
              <a:lnSpc>
                <a:spcPct val="150000"/>
              </a:lnSpc>
            </a:pPr>
            <a:r>
              <a:rPr lang="zh-CN" altLang="en-US"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指的是“企业面临的需求”，是对市场上某个企业的产品的需求</a:t>
            </a:r>
            <a:endParaRPr lang="en-US"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endParaRPr>
          </a:p>
          <a:p>
            <a:pPr algn="just">
              <a:lnSpc>
                <a:spcPct val="150000"/>
              </a:lnSpc>
            </a:pPr>
            <a:r>
              <a:rPr lang="en-US" altLang="zh-CN"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a:t>
            </a:r>
            <a:r>
              <a:rPr lang="zh-CN" altLang="en-US"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企业（产品）面临的需求；市场对该厂商商品的需求</a:t>
            </a:r>
          </a:p>
          <a:p>
            <a:pPr algn="just">
              <a:lnSpc>
                <a:spcPct val="150000"/>
              </a:lnSpc>
            </a:pPr>
            <a:endParaRPr lang="zh-CN" altLang="en-US"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endParaRPr>
          </a:p>
        </p:txBody>
      </p:sp>
      <p:sp>
        <p:nvSpPr>
          <p:cNvPr id="8" name="矩形 7">
            <a:extLst>
              <a:ext uri="{FF2B5EF4-FFF2-40B4-BE49-F238E27FC236}">
                <a16:creationId xmlns:a16="http://schemas.microsoft.com/office/drawing/2014/main" id="{99530FD6-D562-4A64-B882-6E88A4C93A26}"/>
              </a:ext>
            </a:extLst>
          </p:cNvPr>
          <p:cNvSpPr/>
          <p:nvPr/>
        </p:nvSpPr>
        <p:spPr>
          <a:xfrm>
            <a:off x="3995528" y="3573010"/>
            <a:ext cx="2952206" cy="787523"/>
          </a:xfrm>
          <a:prstGeom prst="rect">
            <a:avLst/>
          </a:prstGeom>
        </p:spPr>
        <p:txBody>
          <a:bodyPr wrap="square">
            <a:spAutoFit/>
          </a:bodyPr>
          <a:lstStyle/>
          <a:p>
            <a:pPr algn="just">
              <a:lnSpc>
                <a:spcPct val="150000"/>
              </a:lnSpc>
            </a:pPr>
            <a:r>
              <a:rPr lang="zh-CN" altLang="en-US" sz="1600" spc="150" dirty="0">
                <a:solidFill>
                  <a:srgbClr val="000000"/>
                </a:solidFill>
                <a:latin typeface="微软雅黑" panose="020B0503020204020204" pitchFamily="34" charset="-122"/>
                <a:ea typeface="微软雅黑" panose="020B0503020204020204" pitchFamily="34" charset="-122"/>
                <a:sym typeface="华文楷体" panose="02010600040101010101" pitchFamily="2" charset="-122"/>
              </a:rPr>
              <a:t>指的是对某个市场上全部产品的需求</a:t>
            </a:r>
          </a:p>
        </p:txBody>
      </p:sp>
      <p:grpSp>
        <p:nvGrpSpPr>
          <p:cNvPr id="26" name="组合 25">
            <a:extLst>
              <a:ext uri="{FF2B5EF4-FFF2-40B4-BE49-F238E27FC236}">
                <a16:creationId xmlns:a16="http://schemas.microsoft.com/office/drawing/2014/main" id="{862D0AC9-8D0F-48B7-A489-9A495AD48740}"/>
              </a:ext>
            </a:extLst>
          </p:cNvPr>
          <p:cNvGrpSpPr/>
          <p:nvPr/>
        </p:nvGrpSpPr>
        <p:grpSpPr>
          <a:xfrm>
            <a:off x="947900" y="2119150"/>
            <a:ext cx="671895" cy="1732746"/>
            <a:chOff x="931104" y="2086623"/>
            <a:chExt cx="1056958" cy="2187673"/>
          </a:xfrm>
        </p:grpSpPr>
        <p:sp>
          <p:nvSpPr>
            <p:cNvPr id="24" name="KSO_Shape">
              <a:extLst>
                <a:ext uri="{FF2B5EF4-FFF2-40B4-BE49-F238E27FC236}">
                  <a16:creationId xmlns:a16="http://schemas.microsoft.com/office/drawing/2014/main" id="{24602673-A2E2-4C60-98D0-09AA8EA102F4}"/>
                </a:ext>
              </a:extLst>
            </p:cNvPr>
            <p:cNvSpPr/>
            <p:nvPr/>
          </p:nvSpPr>
          <p:spPr>
            <a:xfrm>
              <a:off x="931104" y="2086623"/>
              <a:ext cx="1056958" cy="2187673"/>
            </a:xfrm>
            <a:prstGeom prst="roundRect">
              <a:avLst/>
            </a:prstGeom>
            <a:noFill/>
            <a:ln w="19050">
              <a:solidFill>
                <a:srgbClr val="BB1528"/>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pPr>
              <a:endParaRPr lang="zh-CN" altLang="en-US" sz="2400" spc="150">
                <a:solidFill>
                  <a:schemeClr val="bg1"/>
                </a:solidFill>
                <a:latin typeface="微软雅黑" panose="020B0503020204020204" pitchFamily="34" charset="-122"/>
                <a:ea typeface="微软雅黑" panose="020B0503020204020204" pitchFamily="34" charset="-122"/>
              </a:endParaRPr>
            </a:p>
          </p:txBody>
        </p:sp>
        <p:sp>
          <p:nvSpPr>
            <p:cNvPr id="25" name="KSO_Shape">
              <a:extLst>
                <a:ext uri="{FF2B5EF4-FFF2-40B4-BE49-F238E27FC236}">
                  <a16:creationId xmlns:a16="http://schemas.microsoft.com/office/drawing/2014/main" id="{4D984438-F2CB-49C5-B9E2-5325D21F869B}"/>
                </a:ext>
              </a:extLst>
            </p:cNvPr>
            <p:cNvSpPr/>
            <p:nvPr/>
          </p:nvSpPr>
          <p:spPr>
            <a:xfrm>
              <a:off x="967220" y="2130193"/>
              <a:ext cx="984726" cy="2089437"/>
            </a:xfrm>
            <a:prstGeom prst="roundRect">
              <a:avLst/>
            </a:prstGeom>
            <a:solidFill>
              <a:srgbClr val="BB152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fontAlgn="auto">
                <a:spcBef>
                  <a:spcPts val="0"/>
                </a:spcBef>
                <a:spcAft>
                  <a:spcPts val="0"/>
                </a:spcAft>
              </a:pPr>
              <a:r>
                <a:rPr lang="zh-CN" altLang="en-US" spc="150" dirty="0">
                  <a:solidFill>
                    <a:schemeClr val="bg1"/>
                  </a:solidFill>
                  <a:latin typeface="微软雅黑" panose="020B0503020204020204" pitchFamily="34" charset="-122"/>
                  <a:ea typeface="微软雅黑" panose="020B0503020204020204" pitchFamily="34" charset="-122"/>
                </a:rPr>
                <a:t>需求类型</a:t>
              </a:r>
            </a:p>
          </p:txBody>
        </p:sp>
      </p:grpSp>
      <p:sp>
        <p:nvSpPr>
          <p:cNvPr id="9" name="矩形 8">
            <a:extLst>
              <a:ext uri="{FF2B5EF4-FFF2-40B4-BE49-F238E27FC236}">
                <a16:creationId xmlns:a16="http://schemas.microsoft.com/office/drawing/2014/main" id="{37EC5C9D-B142-4E80-8A1B-70442D97307C}"/>
              </a:ext>
            </a:extLst>
          </p:cNvPr>
          <p:cNvSpPr/>
          <p:nvPr/>
        </p:nvSpPr>
        <p:spPr>
          <a:xfrm>
            <a:off x="2160306" y="4823253"/>
            <a:ext cx="5880542" cy="369332"/>
          </a:xfrm>
          <a:prstGeom prst="rect">
            <a:avLst/>
          </a:prstGeom>
        </p:spPr>
        <p:txBody>
          <a:bodyPr wrap="square">
            <a:spAutoFit/>
          </a:bodyPr>
          <a:lstStyle/>
          <a:p>
            <a:pPr marL="342900" indent="-342900">
              <a:spcBef>
                <a:spcPct val="80000"/>
              </a:spcBef>
              <a:buSzPct val="50000"/>
              <a:buFont typeface="Wingdings" panose="05000000000000000000" pitchFamily="2" charset="2"/>
              <a:buChar char="l"/>
              <a:defRPr/>
            </a:pPr>
            <a:r>
              <a:rPr lang="zh-CN" altLang="en-US" dirty="0">
                <a:latin typeface="微软雅黑" panose="020B0503020204020204" pitchFamily="34" charset="-122"/>
                <a:ea typeface="微软雅黑" panose="020B0503020204020204" pitchFamily="34" charset="-122"/>
                <a:sym typeface="华文楷体" panose="02010600040101010101" pitchFamily="2" charset="-122"/>
              </a:rPr>
              <a:t>注意区分“市场需求” 与“厂商需求”</a:t>
            </a:r>
          </a:p>
        </p:txBody>
      </p:sp>
      <p:sp>
        <p:nvSpPr>
          <p:cNvPr id="19" name="矩形 18">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6" name="左大括号 15">
            <a:extLst>
              <a:ext uri="{FF2B5EF4-FFF2-40B4-BE49-F238E27FC236}">
                <a16:creationId xmlns:a16="http://schemas.microsoft.com/office/drawing/2014/main" id="{63EDA47D-7414-4429-A982-A2AAE835798D}"/>
              </a:ext>
            </a:extLst>
          </p:cNvPr>
          <p:cNvSpPr/>
          <p:nvPr/>
        </p:nvSpPr>
        <p:spPr>
          <a:xfrm rot="10800000" flipH="1" flipV="1">
            <a:off x="1818130" y="1999191"/>
            <a:ext cx="312121" cy="2041444"/>
          </a:xfrm>
          <a:prstGeom prst="leftBrace">
            <a:avLst>
              <a:gd name="adj1" fmla="val 8333"/>
              <a:gd name="adj2" fmla="val 50000"/>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Tree>
    <p:extLst>
      <p:ext uri="{BB962C8B-B14F-4D97-AF65-F5344CB8AC3E}">
        <p14:creationId xmlns:p14="http://schemas.microsoft.com/office/powerpoint/2010/main" val="139866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up)">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childTnLst>
                          </p:cTn>
                        </p:par>
                        <p:par>
                          <p:cTn id="19" fill="hold">
                            <p:stCondLst>
                              <p:cond delay="500"/>
                            </p:stCondLst>
                            <p:childTnLst>
                              <p:par>
                                <p:cTn id="20" presetID="22" presetClass="entr" presetSubtype="1"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up)">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6" grpId="0"/>
      <p:bldP spid="8" grpId="0"/>
      <p:bldP spid="9" grpId="0"/>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nvSpPr>
        <p:spPr bwMode="auto">
          <a:xfrm>
            <a:off x="251701" y="5340250"/>
            <a:ext cx="3672252" cy="806823"/>
          </a:xfrm>
          <a:prstGeom prst="roundRect">
            <a:avLst>
              <a:gd name="adj" fmla="val 2336"/>
            </a:avLst>
          </a:prstGeom>
          <a:solidFill>
            <a:srgbClr val="CC0000">
              <a:alpha val="55000"/>
            </a:srgbClr>
          </a:solidFill>
          <a:ln w="952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圆角矩形 11"/>
          <p:cNvSpPr/>
          <p:nvPr/>
        </p:nvSpPr>
        <p:spPr bwMode="auto">
          <a:xfrm>
            <a:off x="5292046" y="5327781"/>
            <a:ext cx="3600252" cy="806823"/>
          </a:xfrm>
          <a:prstGeom prst="roundRect">
            <a:avLst>
              <a:gd name="adj" fmla="val 2336"/>
            </a:avLst>
          </a:prstGeom>
          <a:solidFill>
            <a:srgbClr val="CC0000">
              <a:alpha val="55000"/>
            </a:srgbClr>
          </a:solidFill>
          <a:ln w="952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圆角矩形 9"/>
          <p:cNvSpPr/>
          <p:nvPr/>
        </p:nvSpPr>
        <p:spPr bwMode="auto">
          <a:xfrm>
            <a:off x="5292046" y="1262616"/>
            <a:ext cx="1800126" cy="4065166"/>
          </a:xfrm>
          <a:prstGeom prst="roundRect">
            <a:avLst>
              <a:gd name="adj" fmla="val 2336"/>
            </a:avLst>
          </a:prstGeom>
          <a:solidFill>
            <a:schemeClr val="tx1">
              <a:lumMod val="65000"/>
              <a:lumOff val="35000"/>
              <a:alpha val="55000"/>
            </a:schemeClr>
          </a:solidFill>
          <a:ln w="9525" cap="flat" cmpd="sng" algn="ctr">
            <a:solidFill>
              <a:schemeClr val="accent6">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圆角矩形 7"/>
          <p:cNvSpPr/>
          <p:nvPr/>
        </p:nvSpPr>
        <p:spPr bwMode="auto">
          <a:xfrm>
            <a:off x="2123827" y="1268851"/>
            <a:ext cx="1800125" cy="4065166"/>
          </a:xfrm>
          <a:prstGeom prst="roundRect">
            <a:avLst>
              <a:gd name="adj" fmla="val 2336"/>
            </a:avLst>
          </a:prstGeom>
          <a:solidFill>
            <a:schemeClr val="tx1">
              <a:lumMod val="65000"/>
              <a:lumOff val="35000"/>
              <a:alpha val="54902"/>
            </a:schemeClr>
          </a:solidFill>
          <a:ln w="9525" cap="flat" cmpd="sng" algn="ctr">
            <a:solidFill>
              <a:schemeClr val="accent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aphicFrame>
        <p:nvGraphicFramePr>
          <p:cNvPr id="4" name="内容占位符 3"/>
          <p:cNvGraphicFramePr>
            <a:graphicFrameLocks noGrp="1"/>
          </p:cNvGraphicFramePr>
          <p:nvPr>
            <p:ph sz="quarter" idx="4294967295"/>
            <p:extLst>
              <p:ext uri="{D42A27DB-BD31-4B8C-83A1-F6EECF244321}">
                <p14:modId xmlns:p14="http://schemas.microsoft.com/office/powerpoint/2010/main" val="2755766059"/>
              </p:ext>
            </p:extLst>
          </p:nvPr>
        </p:nvGraphicFramePr>
        <p:xfrm>
          <a:off x="251700" y="1268850"/>
          <a:ext cx="8640598" cy="4865754"/>
        </p:xfrm>
        <a:graphic>
          <a:graphicData uri="http://schemas.openxmlformats.org/drawingml/2006/table">
            <a:tbl>
              <a:tblPr firstRow="1" bandRow="1">
                <a:tableStyleId>{5C22544A-7EE6-4342-B048-85BDC9FD1C3A}</a:tableStyleId>
              </a:tblPr>
              <a:tblGrid>
                <a:gridCol w="1872106">
                  <a:extLst>
                    <a:ext uri="{9D8B030D-6E8A-4147-A177-3AD203B41FA5}">
                      <a16:colId xmlns:a16="http://schemas.microsoft.com/office/drawing/2014/main" val="20000"/>
                    </a:ext>
                  </a:extLst>
                </a:gridCol>
                <a:gridCol w="1789166">
                  <a:extLst>
                    <a:ext uri="{9D8B030D-6E8A-4147-A177-3AD203B41FA5}">
                      <a16:colId xmlns:a16="http://schemas.microsoft.com/office/drawing/2014/main" val="20001"/>
                    </a:ext>
                  </a:extLst>
                </a:gridCol>
                <a:gridCol w="1385970">
                  <a:extLst>
                    <a:ext uri="{9D8B030D-6E8A-4147-A177-3AD203B41FA5}">
                      <a16:colId xmlns:a16="http://schemas.microsoft.com/office/drawing/2014/main" val="20002"/>
                    </a:ext>
                  </a:extLst>
                </a:gridCol>
                <a:gridCol w="1793230">
                  <a:extLst>
                    <a:ext uri="{9D8B030D-6E8A-4147-A177-3AD203B41FA5}">
                      <a16:colId xmlns:a16="http://schemas.microsoft.com/office/drawing/2014/main" val="20003"/>
                    </a:ext>
                  </a:extLst>
                </a:gridCol>
                <a:gridCol w="1800126">
                  <a:extLst>
                    <a:ext uri="{9D8B030D-6E8A-4147-A177-3AD203B41FA5}">
                      <a16:colId xmlns:a16="http://schemas.microsoft.com/office/drawing/2014/main" val="20004"/>
                    </a:ext>
                  </a:extLst>
                </a:gridCol>
              </a:tblGrid>
              <a:tr h="810959">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汽车用户</a:t>
                      </a:r>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rgbClr val="FFC000"/>
                          </a:solidFill>
                          <a:latin typeface="微软雅黑" panose="020B0503020204020204" pitchFamily="34" charset="-122"/>
                          <a:ea typeface="微软雅黑" panose="020B0503020204020204" pitchFamily="34" charset="-122"/>
                          <a:cs typeface="+mn-cs"/>
                        </a:rPr>
                        <a:t>个人需求</a:t>
                      </a:r>
                      <a:endParaRPr lang="en-US" altLang="zh-CN" sz="1800" b="0" kern="1200" dirty="0">
                        <a:solidFill>
                          <a:srgbClr val="FFC000"/>
                        </a:solidFill>
                        <a:latin typeface="微软雅黑" panose="020B0503020204020204" pitchFamily="34" charset="-122"/>
                        <a:ea typeface="微软雅黑" panose="020B0503020204020204" pitchFamily="34" charset="-122"/>
                        <a:cs typeface="+mn-cs"/>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kern="1200" dirty="0">
                          <a:solidFill>
                            <a:srgbClr val="FFC00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FFC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ctr"/>
                      <a:endParaRPr lang="en-US" altLang="zh-CN" sz="1800" b="0" dirty="0">
                        <a:latin typeface="微软雅黑" panose="020B0503020204020204" pitchFamily="34" charset="-122"/>
                        <a:ea typeface="微软雅黑" panose="020B0503020204020204" pitchFamily="34" charset="-122"/>
                      </a:endParaRPr>
                    </a:p>
                    <a:p>
                      <a:pPr algn="ctr"/>
                      <a:endParaRPr lang="en-US" altLang="zh-CN" sz="1800" b="0" dirty="0">
                        <a:latin typeface="微软雅黑" panose="020B0503020204020204" pitchFamily="34" charset="-122"/>
                        <a:ea typeface="微软雅黑" panose="020B0503020204020204" pitchFamily="34" charset="-122"/>
                      </a:endParaRPr>
                    </a:p>
                    <a:p>
                      <a:pPr algn="ctr"/>
                      <a:endParaRPr lang="en-US" altLang="zh-CN" sz="1800" b="0" dirty="0">
                        <a:latin typeface="微软雅黑" panose="020B0503020204020204" pitchFamily="34" charset="-122"/>
                        <a:ea typeface="微软雅黑" panose="020B0503020204020204" pitchFamily="34" charset="-122"/>
                      </a:endParaRPr>
                    </a:p>
                    <a:p>
                      <a:pPr algn="ctr"/>
                      <a:r>
                        <a:rPr lang="en-US" altLang="zh-CN" sz="1800" b="0" baseline="0" dirty="0">
                          <a:latin typeface="微软雅黑" panose="020B0503020204020204" pitchFamily="34" charset="-122"/>
                          <a:ea typeface="微软雅黑" panose="020B0503020204020204" pitchFamily="34" charset="-122"/>
                        </a:rPr>
                        <a:t>          </a:t>
                      </a:r>
                      <a:endParaRPr lang="en-US" altLang="zh-CN" sz="1800" b="0" dirty="0">
                        <a:latin typeface="微软雅黑" panose="020B0503020204020204" pitchFamily="34" charset="-122"/>
                        <a:ea typeface="微软雅黑" panose="020B0503020204020204" pitchFamily="34" charset="-122"/>
                      </a:endParaRPr>
                    </a:p>
                    <a:p>
                      <a:pPr algn="ctr"/>
                      <a:r>
                        <a:rPr lang="zh-CN" altLang="en-US" sz="1800" b="0" dirty="0">
                          <a:solidFill>
                            <a:schemeClr val="tx1"/>
                          </a:solidFill>
                          <a:latin typeface="微软雅黑" panose="020B0503020204020204" pitchFamily="34" charset="-122"/>
                          <a:ea typeface="微软雅黑" panose="020B0503020204020204" pitchFamily="34" charset="-122"/>
                        </a:rPr>
                        <a:t>汽车</a:t>
                      </a:r>
                      <a:endParaRPr lang="en-US" altLang="zh-CN" sz="1800" b="0" dirty="0">
                        <a:solidFill>
                          <a:schemeClr val="tx1"/>
                        </a:solidFill>
                        <a:latin typeface="微软雅黑" panose="020B0503020204020204" pitchFamily="34" charset="-122"/>
                        <a:ea typeface="微软雅黑" panose="020B0503020204020204" pitchFamily="34" charset="-122"/>
                      </a:endParaRPr>
                    </a:p>
                    <a:p>
                      <a:pPr algn="ctr"/>
                      <a:r>
                        <a:rPr lang="zh-CN" altLang="en-US" sz="1800" b="0" dirty="0">
                          <a:solidFill>
                            <a:schemeClr val="tx1"/>
                          </a:solidFill>
                          <a:latin typeface="微软雅黑" panose="020B0503020204020204" pitchFamily="34" charset="-122"/>
                          <a:ea typeface="微软雅黑" panose="020B0503020204020204" pitchFamily="34" charset="-122"/>
                        </a:rPr>
                        <a:t>市场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rgbClr val="7030A0"/>
                          </a:solidFill>
                          <a:latin typeface="微软雅黑" panose="020B0503020204020204" pitchFamily="34" charset="-122"/>
                          <a:ea typeface="微软雅黑" panose="020B0503020204020204" pitchFamily="34" charset="-122"/>
                          <a:cs typeface="+mn-cs"/>
                        </a:rPr>
                        <a:t>厂商需求</a:t>
                      </a:r>
                      <a:endParaRPr lang="en-US" altLang="zh-CN" sz="1800" b="0" kern="1200" dirty="0">
                        <a:solidFill>
                          <a:srgbClr val="7030A0"/>
                        </a:solidFill>
                        <a:latin typeface="微软雅黑" panose="020B0503020204020204" pitchFamily="34" charset="-122"/>
                        <a:ea typeface="微软雅黑" panose="020B0503020204020204" pitchFamily="34" charset="-122"/>
                        <a:cs typeface="+mn-cs"/>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kern="1200" dirty="0">
                          <a:solidFill>
                            <a:srgbClr val="7030A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7030A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一汽大众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10959">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汽车用户</a:t>
                      </a:r>
                      <a:r>
                        <a:rPr lang="en-US" altLang="zh-CN" sz="1800" b="0" kern="1200" dirty="0">
                          <a:solidFill>
                            <a:schemeClr val="tx1"/>
                          </a:solidFill>
                          <a:latin typeface="微软雅黑" panose="020B0503020204020204" pitchFamily="34" charset="-122"/>
                          <a:ea typeface="微软雅黑" panose="020B0503020204020204" pitchFamily="34" charset="-122"/>
                          <a:cs typeface="+mn-cs"/>
                        </a:rPr>
                        <a:t>2</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rgbClr val="FFC000"/>
                          </a:solidFill>
                          <a:latin typeface="微软雅黑" panose="020B0503020204020204" pitchFamily="34" charset="-122"/>
                          <a:ea typeface="微软雅黑" panose="020B0503020204020204" pitchFamily="34" charset="-122"/>
                          <a:cs typeface="+mn-cs"/>
                        </a:rPr>
                        <a:t>个人需求</a:t>
                      </a:r>
                      <a:endParaRPr lang="en-US" altLang="zh-CN" sz="1800" b="0" kern="1200" dirty="0">
                        <a:solidFill>
                          <a:srgbClr val="FFC000"/>
                        </a:solidFill>
                        <a:latin typeface="微软雅黑" panose="020B0503020204020204" pitchFamily="34" charset="-122"/>
                        <a:ea typeface="微软雅黑" panose="020B0503020204020204" pitchFamily="34" charset="-122"/>
                        <a:cs typeface="+mn-cs"/>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kern="1200" dirty="0">
                          <a:solidFill>
                            <a:srgbClr val="FFC00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FFC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dirty="0"/>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rgbClr val="7030A0"/>
                          </a:solidFill>
                          <a:latin typeface="微软雅黑" panose="020B0503020204020204" pitchFamily="34" charset="-122"/>
                          <a:ea typeface="微软雅黑" panose="020B0503020204020204" pitchFamily="34" charset="-122"/>
                          <a:cs typeface="+mn-cs"/>
                        </a:rPr>
                        <a:t>厂商需求</a:t>
                      </a:r>
                      <a:endParaRPr lang="en-US" altLang="zh-CN" sz="1800" b="0" kern="1200" dirty="0">
                        <a:solidFill>
                          <a:srgbClr val="7030A0"/>
                        </a:solidFill>
                        <a:latin typeface="微软雅黑" panose="020B0503020204020204" pitchFamily="34" charset="-122"/>
                        <a:ea typeface="微软雅黑" panose="020B0503020204020204" pitchFamily="34" charset="-122"/>
                        <a:cs typeface="+mn-cs"/>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kern="1200" dirty="0">
                          <a:solidFill>
                            <a:srgbClr val="7030A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7030A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上海大众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10959">
                <a:tc>
                  <a:txBody>
                    <a:bodyPr/>
                    <a:lstStyle/>
                    <a:p>
                      <a:pPr algn="ctr"/>
                      <a:r>
                        <a:rPr lang="zh-CN" altLang="en-US" sz="1800" b="0" kern="1200">
                          <a:solidFill>
                            <a:schemeClr val="tx1"/>
                          </a:solidFill>
                          <a:latin typeface="微软雅黑" panose="020B0503020204020204" pitchFamily="34" charset="-122"/>
                          <a:ea typeface="微软雅黑" panose="020B0503020204020204" pitchFamily="34" charset="-122"/>
                          <a:cs typeface="+mn-cs"/>
                        </a:rPr>
                        <a:t>汽车用户</a:t>
                      </a:r>
                      <a:r>
                        <a:rPr lang="en-US" altLang="zh-CN" sz="1800" b="0" kern="1200">
                          <a:solidFill>
                            <a:schemeClr val="tx1"/>
                          </a:solidFill>
                          <a:latin typeface="微软雅黑" panose="020B0503020204020204" pitchFamily="34" charset="-122"/>
                          <a:ea typeface="微软雅黑" panose="020B0503020204020204" pitchFamily="34" charset="-122"/>
                          <a:cs typeface="+mn-cs"/>
                        </a:rPr>
                        <a:t>3</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kern="1200" dirty="0">
                          <a:solidFill>
                            <a:srgbClr val="FFC000"/>
                          </a:solidFill>
                          <a:latin typeface="微软雅黑" panose="020B0503020204020204" pitchFamily="34" charset="-122"/>
                          <a:ea typeface="微软雅黑" panose="020B0503020204020204" pitchFamily="34" charset="-122"/>
                          <a:cs typeface="+mn-cs"/>
                          <a:sym typeface="Wingdings" panose="05000000000000000000" pitchFamily="2" charset="2"/>
                        </a:rPr>
                        <a:t>个人需求</a:t>
                      </a:r>
                      <a:endParaRPr lang="en-US" altLang="zh-CN" sz="1800" b="0" kern="1200" dirty="0">
                        <a:solidFill>
                          <a:srgbClr val="FFC000"/>
                        </a:solidFill>
                        <a:latin typeface="微软雅黑" panose="020B0503020204020204" pitchFamily="34" charset="-122"/>
                        <a:ea typeface="微软雅黑" panose="020B0503020204020204" pitchFamily="34" charset="-122"/>
                        <a:cs typeface="+mn-cs"/>
                        <a:sym typeface="Wingdings" panose="05000000000000000000" pitchFamily="2" charset="2"/>
                      </a:endParaRPr>
                    </a:p>
                    <a:p>
                      <a:pPr algn="ctr"/>
                      <a:r>
                        <a:rPr lang="en-US" altLang="zh-CN" sz="1800" b="0" kern="1200" dirty="0">
                          <a:solidFill>
                            <a:srgbClr val="FFC00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FFC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a:r>
                        <a:rPr lang="zh-CN" altLang="en-US" sz="1800" b="0" kern="1200" dirty="0">
                          <a:solidFill>
                            <a:srgbClr val="7030A0"/>
                          </a:solidFill>
                          <a:latin typeface="微软雅黑" panose="020B0503020204020204" pitchFamily="34" charset="-122"/>
                          <a:ea typeface="微软雅黑" panose="020B0503020204020204" pitchFamily="34" charset="-122"/>
                          <a:cs typeface="+mn-cs"/>
                          <a:sym typeface="Wingdings" panose="05000000000000000000" pitchFamily="2" charset="2"/>
                        </a:rPr>
                        <a:t>厂商需求</a:t>
                      </a:r>
                      <a:endParaRPr lang="en-US" altLang="zh-CN" sz="1800" b="0" kern="1200" dirty="0">
                        <a:solidFill>
                          <a:srgbClr val="7030A0"/>
                        </a:solidFill>
                        <a:latin typeface="微软雅黑" panose="020B0503020204020204" pitchFamily="34" charset="-122"/>
                        <a:ea typeface="微软雅黑" panose="020B0503020204020204" pitchFamily="34" charset="-122"/>
                        <a:cs typeface="+mn-cs"/>
                        <a:sym typeface="Wingdings" panose="05000000000000000000" pitchFamily="2" charset="2"/>
                      </a:endParaRPr>
                    </a:p>
                    <a:p>
                      <a:pPr algn="ctr"/>
                      <a:r>
                        <a:rPr lang="en-US" altLang="zh-CN" sz="1800" b="0" kern="1200" dirty="0">
                          <a:solidFill>
                            <a:srgbClr val="7030A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7030A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东风汽车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10959">
                <a:tc>
                  <a:txBody>
                    <a:bodyPr/>
                    <a:lstStyle/>
                    <a:p>
                      <a:pPr algn="ctr"/>
                      <a:r>
                        <a:rPr lang="zh-CN" altLang="en-US" sz="1800" b="0" kern="1200">
                          <a:solidFill>
                            <a:schemeClr val="tx1"/>
                          </a:solidFill>
                          <a:latin typeface="微软雅黑" panose="020B0503020204020204" pitchFamily="34" charset="-122"/>
                          <a:ea typeface="微软雅黑" panose="020B0503020204020204" pitchFamily="34" charset="-122"/>
                          <a:cs typeface="+mn-cs"/>
                        </a:rPr>
                        <a:t>汽车用户</a:t>
                      </a:r>
                      <a:r>
                        <a:rPr lang="en-US" altLang="zh-CN" sz="1800" b="0" kern="1200">
                          <a:solidFill>
                            <a:schemeClr val="tx1"/>
                          </a:solidFill>
                          <a:latin typeface="微软雅黑" panose="020B0503020204020204" pitchFamily="34" charset="-122"/>
                          <a:ea typeface="微软雅黑" panose="020B0503020204020204" pitchFamily="34" charset="-122"/>
                          <a:cs typeface="+mn-cs"/>
                        </a:rPr>
                        <a:t>4</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rgbClr val="FFC000"/>
                          </a:solidFill>
                          <a:latin typeface="微软雅黑" panose="020B0503020204020204" pitchFamily="34" charset="-122"/>
                          <a:ea typeface="微软雅黑" panose="020B0503020204020204" pitchFamily="34" charset="-122"/>
                          <a:cs typeface="+mn-cs"/>
                        </a:rPr>
                        <a:t>个人需求</a:t>
                      </a:r>
                      <a:endParaRPr lang="en-US" altLang="zh-CN" sz="1800" b="0" kern="1200" dirty="0">
                        <a:solidFill>
                          <a:srgbClr val="FFC000"/>
                        </a:solidFill>
                        <a:latin typeface="微软雅黑" panose="020B0503020204020204" pitchFamily="34" charset="-122"/>
                        <a:ea typeface="微软雅黑" panose="020B0503020204020204" pitchFamily="34" charset="-122"/>
                        <a:cs typeface="+mn-cs"/>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kern="1200" dirty="0">
                          <a:solidFill>
                            <a:srgbClr val="FFC00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FFC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dirty="0"/>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0" kern="1200" dirty="0">
                          <a:solidFill>
                            <a:srgbClr val="7030A0"/>
                          </a:solidFill>
                          <a:latin typeface="微软雅黑" panose="020B0503020204020204" pitchFamily="34" charset="-122"/>
                          <a:ea typeface="微软雅黑" panose="020B0503020204020204" pitchFamily="34" charset="-122"/>
                          <a:cs typeface="+mn-cs"/>
                        </a:rPr>
                        <a:t>厂商需求</a:t>
                      </a:r>
                      <a:endParaRPr lang="en-US" altLang="zh-CN" sz="1800" b="0" kern="1200" dirty="0">
                        <a:solidFill>
                          <a:srgbClr val="7030A0"/>
                        </a:solidFill>
                        <a:latin typeface="微软雅黑" panose="020B0503020204020204" pitchFamily="34" charset="-122"/>
                        <a:ea typeface="微软雅黑" panose="020B0503020204020204" pitchFamily="34" charset="-122"/>
                        <a:cs typeface="+mn-cs"/>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kern="1200" dirty="0">
                          <a:solidFill>
                            <a:srgbClr val="7030A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7030A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上海通用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10959">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汽车用户</a:t>
                      </a:r>
                      <a:r>
                        <a:rPr lang="en-US" altLang="zh-CN" sz="1800" b="0" kern="1200" dirty="0">
                          <a:solidFill>
                            <a:schemeClr val="tx1"/>
                          </a:solidFill>
                          <a:latin typeface="微软雅黑" panose="020B0503020204020204" pitchFamily="34" charset="-122"/>
                          <a:ea typeface="微软雅黑" panose="020B0503020204020204" pitchFamily="34" charset="-122"/>
                          <a:cs typeface="+mn-cs"/>
                        </a:rPr>
                        <a:t>5</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kern="1200" dirty="0">
                          <a:solidFill>
                            <a:srgbClr val="FFC000"/>
                          </a:solidFill>
                          <a:latin typeface="微软雅黑" panose="020B0503020204020204" pitchFamily="34" charset="-122"/>
                          <a:ea typeface="微软雅黑" panose="020B0503020204020204" pitchFamily="34" charset="-122"/>
                          <a:cs typeface="+mn-cs"/>
                          <a:sym typeface="Wingdings" panose="05000000000000000000" pitchFamily="2" charset="2"/>
                        </a:rPr>
                        <a:t>个人需求</a:t>
                      </a:r>
                      <a:endParaRPr lang="en-US" altLang="zh-CN" sz="1800" b="0" kern="1200" dirty="0">
                        <a:solidFill>
                          <a:srgbClr val="FFC000"/>
                        </a:solidFill>
                        <a:latin typeface="微软雅黑" panose="020B0503020204020204" pitchFamily="34" charset="-122"/>
                        <a:ea typeface="微软雅黑" panose="020B0503020204020204" pitchFamily="34" charset="-122"/>
                        <a:cs typeface="+mn-cs"/>
                        <a:sym typeface="Wingdings" panose="05000000000000000000" pitchFamily="2" charset="2"/>
                      </a:endParaRPr>
                    </a:p>
                    <a:p>
                      <a:pPr algn="ctr"/>
                      <a:r>
                        <a:rPr lang="en-US" altLang="zh-CN" sz="1800" b="0" kern="1200" dirty="0">
                          <a:solidFill>
                            <a:srgbClr val="FFC00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FFC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CN" altLang="en-US" dirty="0"/>
                    </a:p>
                  </a:txBody>
                  <a:tcPr>
                    <a:noFill/>
                  </a:tcPr>
                </a:tc>
                <a:tc>
                  <a:txBody>
                    <a:bodyPr/>
                    <a:lstStyle/>
                    <a:p>
                      <a:pPr algn="ctr"/>
                      <a:r>
                        <a:rPr lang="zh-CN" altLang="en-US" sz="1800" b="0" kern="1200" dirty="0">
                          <a:solidFill>
                            <a:srgbClr val="7030A0"/>
                          </a:solidFill>
                          <a:latin typeface="微软雅黑" panose="020B0503020204020204" pitchFamily="34" charset="-122"/>
                          <a:ea typeface="微软雅黑" panose="020B0503020204020204" pitchFamily="34" charset="-122"/>
                          <a:cs typeface="+mn-cs"/>
                          <a:sym typeface="Wingdings" panose="05000000000000000000" pitchFamily="2" charset="2"/>
                        </a:rPr>
                        <a:t>厂商需求</a:t>
                      </a:r>
                      <a:endParaRPr lang="en-US" altLang="zh-CN" sz="1800" b="0" kern="1200" dirty="0">
                        <a:solidFill>
                          <a:srgbClr val="7030A0"/>
                        </a:solidFill>
                        <a:latin typeface="微软雅黑" panose="020B0503020204020204" pitchFamily="34" charset="-122"/>
                        <a:ea typeface="微软雅黑" panose="020B0503020204020204" pitchFamily="34" charset="-122"/>
                        <a:cs typeface="+mn-cs"/>
                        <a:sym typeface="Wingdings" panose="05000000000000000000" pitchFamily="2" charset="2"/>
                      </a:endParaRPr>
                    </a:p>
                    <a:p>
                      <a:pPr algn="ctr"/>
                      <a:r>
                        <a:rPr lang="en-US" altLang="zh-CN" sz="1800" b="0" kern="1200" dirty="0">
                          <a:solidFill>
                            <a:srgbClr val="7030A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7030A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kern="1200" dirty="0">
                          <a:solidFill>
                            <a:schemeClr val="tx1"/>
                          </a:solidFill>
                          <a:latin typeface="微软雅黑" panose="020B0503020204020204" pitchFamily="34" charset="-122"/>
                          <a:ea typeface="微软雅黑" panose="020B0503020204020204" pitchFamily="34" charset="-122"/>
                          <a:cs typeface="+mn-cs"/>
                        </a:rPr>
                        <a:t>吉利汽车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810959">
                <a:tc>
                  <a:txBody>
                    <a:bodyPr/>
                    <a:lstStyle/>
                    <a:p>
                      <a:pPr algn="ctr"/>
                      <a:r>
                        <a:rPr lang="zh-CN" altLang="en-US" sz="1800" b="0" kern="1200" dirty="0">
                          <a:solidFill>
                            <a:srgbClr val="0070C0"/>
                          </a:solidFill>
                          <a:latin typeface="微软雅黑" panose="020B0503020204020204" pitchFamily="34" charset="-122"/>
                          <a:ea typeface="微软雅黑" panose="020B0503020204020204" pitchFamily="34" charset="-122"/>
                          <a:cs typeface="+mn-cs"/>
                        </a:rPr>
                        <a:t>所有用户</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kern="1200" dirty="0">
                          <a:solidFill>
                            <a:srgbClr val="0070C0"/>
                          </a:solidFill>
                          <a:latin typeface="微软雅黑" panose="020B0503020204020204" pitchFamily="34" charset="-122"/>
                          <a:ea typeface="微软雅黑" panose="020B0503020204020204" pitchFamily="34" charset="-122"/>
                          <a:cs typeface="+mn-cs"/>
                        </a:rPr>
                        <a:t>市场需求</a:t>
                      </a:r>
                      <a:endParaRPr lang="en-US" altLang="zh-CN" sz="1800" b="0" kern="1200" dirty="0">
                        <a:solidFill>
                          <a:srgbClr val="0070C0"/>
                        </a:solidFill>
                        <a:latin typeface="微软雅黑" panose="020B0503020204020204" pitchFamily="34" charset="-122"/>
                        <a:ea typeface="微软雅黑" panose="020B0503020204020204" pitchFamily="34" charset="-122"/>
                        <a:cs typeface="+mn-cs"/>
                      </a:endParaRPr>
                    </a:p>
                    <a:p>
                      <a:pPr algn="ctr"/>
                      <a:r>
                        <a:rPr lang="en-US" altLang="zh-CN" sz="1800" b="0" kern="1200" dirty="0">
                          <a:solidFill>
                            <a:srgbClr val="0070C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en-US" altLang="zh-CN" sz="1800" b="0" kern="1200" dirty="0">
                        <a:solidFill>
                          <a:srgbClr val="0070C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800" b="0"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zh-CN" altLang="en-US" sz="1800" b="0" kern="1200" dirty="0">
                          <a:solidFill>
                            <a:srgbClr val="0070C0"/>
                          </a:solidFill>
                          <a:latin typeface="微软雅黑" panose="020B0503020204020204" pitchFamily="34" charset="-122"/>
                          <a:ea typeface="微软雅黑" panose="020B0503020204020204" pitchFamily="34" charset="-122"/>
                          <a:cs typeface="+mn-cs"/>
                        </a:rPr>
                        <a:t>市场需求</a:t>
                      </a:r>
                      <a:endParaRPr lang="en-US" altLang="zh-CN" sz="1800" b="0" kern="1200" dirty="0">
                        <a:solidFill>
                          <a:srgbClr val="0070C0"/>
                        </a:solidFill>
                        <a:latin typeface="微软雅黑" panose="020B0503020204020204" pitchFamily="34" charset="-122"/>
                        <a:ea typeface="微软雅黑" panose="020B0503020204020204" pitchFamily="34" charset="-122"/>
                        <a:cs typeface="+mn-cs"/>
                      </a:endParaRPr>
                    </a:p>
                    <a:p>
                      <a:pPr algn="ctr"/>
                      <a:r>
                        <a:rPr lang="en-US" altLang="zh-CN" sz="1800" b="0" kern="1200" dirty="0">
                          <a:solidFill>
                            <a:srgbClr val="0070C0"/>
                          </a:solidFill>
                          <a:latin typeface="微软雅黑" panose="020B0503020204020204" pitchFamily="34" charset="-122"/>
                          <a:ea typeface="微软雅黑" panose="020B0503020204020204" pitchFamily="34" charset="-122"/>
                          <a:cs typeface="+mn-cs"/>
                          <a:sym typeface="Wingdings" panose="05000000000000000000" pitchFamily="2" charset="2"/>
                        </a:rPr>
                        <a:t></a:t>
                      </a:r>
                      <a:endParaRPr lang="zh-CN" altLang="en-US" sz="1800" b="0" kern="1200" dirty="0">
                        <a:solidFill>
                          <a:srgbClr val="0070C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kern="1200" dirty="0">
                          <a:solidFill>
                            <a:srgbClr val="0070C0"/>
                          </a:solidFill>
                          <a:latin typeface="微软雅黑" panose="020B0503020204020204" pitchFamily="34" charset="-122"/>
                          <a:ea typeface="微软雅黑" panose="020B0503020204020204" pitchFamily="34" charset="-122"/>
                          <a:cs typeface="+mn-cs"/>
                        </a:rPr>
                        <a:t>所有汽车</a:t>
                      </a:r>
                      <a:endParaRPr lang="en-US" altLang="zh-CN" sz="1800" b="0" kern="1200" dirty="0">
                        <a:solidFill>
                          <a:srgbClr val="0070C0"/>
                        </a:solidFill>
                        <a:latin typeface="微软雅黑" panose="020B0503020204020204" pitchFamily="34" charset="-122"/>
                        <a:ea typeface="微软雅黑" panose="020B0503020204020204" pitchFamily="34" charset="-122"/>
                        <a:cs typeface="+mn-cs"/>
                      </a:endParaRPr>
                    </a:p>
                    <a:p>
                      <a:pPr algn="ctr"/>
                      <a:r>
                        <a:rPr lang="zh-CN" altLang="en-US" sz="1800" b="0" kern="1200" dirty="0">
                          <a:solidFill>
                            <a:srgbClr val="0070C0"/>
                          </a:solidFill>
                          <a:latin typeface="微软雅黑" panose="020B0503020204020204" pitchFamily="34" charset="-122"/>
                          <a:ea typeface="微软雅黑" panose="020B0503020204020204" pitchFamily="34" charset="-122"/>
                          <a:cs typeface="+mn-cs"/>
                        </a:rPr>
                        <a:t>厂商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9" name="矩形 8">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一、企业收益和市场结构</a:t>
            </a:r>
          </a:p>
        </p:txBody>
      </p:sp>
    </p:spTree>
    <p:extLst>
      <p:ext uri="{BB962C8B-B14F-4D97-AF65-F5344CB8AC3E}">
        <p14:creationId xmlns:p14="http://schemas.microsoft.com/office/powerpoint/2010/main" val="416648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vertical)">
                                      <p:cBhvr>
                                        <p:cTn id="12" dur="17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randombar(vertical)">
                                      <p:cBhvr>
                                        <p:cTn id="17" dur="1750"/>
                                        <p:tgtEl>
                                          <p:spTgt spid="10"/>
                                        </p:tgtEl>
                                      </p:cBhvr>
                                    </p:animEffect>
                                  </p:childTnLst>
                                </p:cTn>
                              </p:par>
                              <p:par>
                                <p:cTn id="18" presetID="14" presetClass="entr" presetSubtype="5"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randombar(vertical)">
                                      <p:cBhvr>
                                        <p:cTn id="20" dur="10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5"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randombar(vertical)">
                                      <p:cBhvr>
                                        <p:cTn id="25"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0"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F5501FC4-6109-488A-9E7B-E591DF9E4D96}"/>
              </a:ext>
            </a:extLst>
          </p:cNvPr>
          <p:cNvSpPr/>
          <p:nvPr/>
        </p:nvSpPr>
        <p:spPr>
          <a:xfrm>
            <a:off x="467544" y="1385880"/>
            <a:ext cx="4248466" cy="665939"/>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一、企业收益和市场结构</a:t>
            </a:r>
          </a:p>
        </p:txBody>
      </p:sp>
      <p:pic>
        <p:nvPicPr>
          <p:cNvPr id="4" name="图片 3">
            <a:extLst>
              <a:ext uri="{FF2B5EF4-FFF2-40B4-BE49-F238E27FC236}">
                <a16:creationId xmlns:a16="http://schemas.microsoft.com/office/drawing/2014/main" id="{26C14FD7-288B-4EBC-97AB-25CDCA7265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57331" y="1150987"/>
            <a:ext cx="1065715" cy="1065715"/>
          </a:xfrm>
          <a:prstGeom prst="rect">
            <a:avLst/>
          </a:prstGeom>
        </p:spPr>
      </p:pic>
      <p:sp>
        <p:nvSpPr>
          <p:cNvPr id="12" name="矩形 11">
            <a:extLst>
              <a:ext uri="{FF2B5EF4-FFF2-40B4-BE49-F238E27FC236}">
                <a16:creationId xmlns:a16="http://schemas.microsoft.com/office/drawing/2014/main" id="{F2E1D167-2D51-47EE-8CA8-1E1607A3745D}"/>
              </a:ext>
            </a:extLst>
          </p:cNvPr>
          <p:cNvSpPr/>
          <p:nvPr/>
        </p:nvSpPr>
        <p:spPr>
          <a:xfrm>
            <a:off x="500299" y="1445899"/>
            <a:ext cx="4667652" cy="458908"/>
          </a:xfrm>
          <a:prstGeom prst="rect">
            <a:avLst/>
          </a:prstGeom>
        </p:spPr>
        <p:txBody>
          <a:bodyPr wrap="square">
            <a:spAutoFit/>
          </a:bodyPr>
          <a:lstStyle/>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厂商需求的决定因素</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DFA7F2C8-98F5-40D0-94C5-32316328066C}"/>
              </a:ext>
            </a:extLst>
          </p:cNvPr>
          <p:cNvSpPr/>
          <p:nvPr/>
        </p:nvSpPr>
        <p:spPr>
          <a:xfrm>
            <a:off x="3327686" y="2786816"/>
            <a:ext cx="4700554" cy="458908"/>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市场需求取决于消费者的行为</a:t>
            </a:r>
          </a:p>
        </p:txBody>
      </p:sp>
      <p:sp>
        <p:nvSpPr>
          <p:cNvPr id="16" name="矩形 15">
            <a:extLst>
              <a:ext uri="{FF2B5EF4-FFF2-40B4-BE49-F238E27FC236}">
                <a16:creationId xmlns:a16="http://schemas.microsoft.com/office/drawing/2014/main" id="{DFA7F2C8-98F5-40D0-94C5-32316328066C}"/>
              </a:ext>
            </a:extLst>
          </p:cNvPr>
          <p:cNvSpPr/>
          <p:nvPr/>
        </p:nvSpPr>
        <p:spPr>
          <a:xfrm>
            <a:off x="3388368" y="3583758"/>
            <a:ext cx="5256365" cy="874407"/>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企业面临的需求不仅取决于消费者行为</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常常还要取决于同一市场中其他企业的行为。</a:t>
            </a:r>
          </a:p>
        </p:txBody>
      </p:sp>
      <p:sp>
        <p:nvSpPr>
          <p:cNvPr id="18" name="矩形 17">
            <a:extLst>
              <a:ext uri="{FF2B5EF4-FFF2-40B4-BE49-F238E27FC236}">
                <a16:creationId xmlns:a16="http://schemas.microsoft.com/office/drawing/2014/main" id="{DFA7F2C8-98F5-40D0-94C5-32316328066C}"/>
              </a:ext>
            </a:extLst>
          </p:cNvPr>
          <p:cNvSpPr/>
          <p:nvPr/>
        </p:nvSpPr>
        <p:spPr>
          <a:xfrm>
            <a:off x="3327686" y="4896739"/>
            <a:ext cx="5256365" cy="458908"/>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因此，厂商性质或者市场结构就很关键了</a:t>
            </a:r>
          </a:p>
        </p:txBody>
      </p:sp>
      <p:pic>
        <p:nvPicPr>
          <p:cNvPr id="10" name="图片 9">
            <a:extLst>
              <a:ext uri="{FF2B5EF4-FFF2-40B4-BE49-F238E27FC236}">
                <a16:creationId xmlns:a16="http://schemas.microsoft.com/office/drawing/2014/main" id="{D7D7A6E1-9AEE-489C-8264-E66DB00DD56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8156"/>
          <a:stretch/>
        </p:blipFill>
        <p:spPr>
          <a:xfrm flipH="1">
            <a:off x="1115760" y="2299412"/>
            <a:ext cx="1810953" cy="3495420"/>
          </a:xfrm>
          <a:prstGeom prst="rect">
            <a:avLst/>
          </a:prstGeom>
        </p:spPr>
      </p:pic>
    </p:spTree>
    <p:extLst>
      <p:ext uri="{BB962C8B-B14F-4D97-AF65-F5344CB8AC3E}">
        <p14:creationId xmlns:p14="http://schemas.microsoft.com/office/powerpoint/2010/main" val="358112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53"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ppt_w</p:attrName>
                                        </p:attrNameLst>
                                      </p:cBhvr>
                                      <p:tavLst>
                                        <p:tav tm="0">
                                          <p:val>
                                            <p:fltVal val="0"/>
                                          </p:val>
                                        </p:tav>
                                        <p:tav tm="100000">
                                          <p:val>
                                            <p:strVal val="#ppt_w"/>
                                          </p:val>
                                        </p:tav>
                                      </p:tavLst>
                                    </p:anim>
                                    <p:anim calcmode="lin" valueType="num">
                                      <p:cBhvr>
                                        <p:cTn id="11" dur="500" fill="hold"/>
                                        <p:tgtEl>
                                          <p:spTgt spid="4"/>
                                        </p:tgtEl>
                                        <p:attrNameLst>
                                          <p:attrName>ppt_h</p:attrName>
                                        </p:attrNameLst>
                                      </p:cBhvr>
                                      <p:tavLst>
                                        <p:tav tm="0">
                                          <p:val>
                                            <p:fltVal val="0"/>
                                          </p:val>
                                        </p:tav>
                                        <p:tav tm="100000">
                                          <p:val>
                                            <p:strVal val="#ppt_h"/>
                                          </p:val>
                                        </p:tav>
                                      </p:tavLst>
                                    </p:anim>
                                    <p:animEffect transition="in" filter="fade">
                                      <p:cBhvr>
                                        <p:cTn id="12" dur="500"/>
                                        <p:tgtEl>
                                          <p:spTgt spid="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left)">
                                      <p:cBhvr>
                                        <p:cTn id="3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p:bldP spid="15" grpId="0"/>
      <p:bldP spid="16"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FD701A9D-B437-4365-8EAE-39596CD5F811}"/>
              </a:ext>
            </a:extLst>
          </p:cNvPr>
          <p:cNvGrpSpPr/>
          <p:nvPr/>
        </p:nvGrpSpPr>
        <p:grpSpPr>
          <a:xfrm>
            <a:off x="458213" y="1301850"/>
            <a:ext cx="3046987" cy="514350"/>
            <a:chOff x="458213" y="1296677"/>
            <a:chExt cx="2893707"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58213" y="1296677"/>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企业的收益与市场类型</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59832" y="1353827"/>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13" name="矩形 12">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一、企业收益和市场结构</a:t>
            </a:r>
          </a:p>
        </p:txBody>
      </p:sp>
      <p:sp>
        <p:nvSpPr>
          <p:cNvPr id="22" name="矩形 21">
            <a:extLst>
              <a:ext uri="{FF2B5EF4-FFF2-40B4-BE49-F238E27FC236}">
                <a16:creationId xmlns:a16="http://schemas.microsoft.com/office/drawing/2014/main" id="{DFA7F2C8-98F5-40D0-94C5-32316328066C}"/>
              </a:ext>
            </a:extLst>
          </p:cNvPr>
          <p:cNvSpPr/>
          <p:nvPr/>
        </p:nvSpPr>
        <p:spPr>
          <a:xfrm>
            <a:off x="754763" y="2000449"/>
            <a:ext cx="8136565" cy="507831"/>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企业的收益</a:t>
            </a:r>
            <a:r>
              <a:rPr lang="en-US" altLang="zh-CN" spc="150" dirty="0">
                <a:solidFill>
                  <a:srgbClr val="000000"/>
                </a:solidFill>
                <a:latin typeface="微软雅黑" panose="020B0503020204020204" pitchFamily="34" charset="-122"/>
                <a:ea typeface="微软雅黑" panose="020B0503020204020204" pitchFamily="34" charset="-122"/>
              </a:rPr>
              <a:t>TR</a:t>
            </a:r>
            <a:r>
              <a:rPr lang="zh-CN" altLang="en-US" spc="150" dirty="0">
                <a:solidFill>
                  <a:srgbClr val="000000"/>
                </a:solidFill>
                <a:latin typeface="微软雅黑" panose="020B0503020204020204" pitchFamily="34" charset="-122"/>
                <a:ea typeface="微软雅黑" panose="020B0503020204020204" pitchFamily="34" charset="-122"/>
              </a:rPr>
              <a:t>与企业所处的市场结构</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或市场环境</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密切相关</a:t>
            </a:r>
            <a:r>
              <a:rPr lang="en-US" altLang="zh-CN" spc="150" dirty="0">
                <a:solidFill>
                  <a:srgbClr val="000000"/>
                </a:solidFill>
                <a:latin typeface="微软雅黑" panose="020B0503020204020204" pitchFamily="34" charset="-122"/>
                <a:ea typeface="微软雅黑" panose="020B0503020204020204" pitchFamily="34" charset="-122"/>
              </a:rPr>
              <a:t>:</a:t>
            </a: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DFA7F2C8-98F5-40D0-94C5-32316328066C}"/>
                  </a:ext>
                </a:extLst>
              </p:cNvPr>
              <p:cNvSpPr/>
              <p:nvPr/>
            </p:nvSpPr>
            <p:spPr>
              <a:xfrm>
                <a:off x="4151356" y="2823315"/>
                <a:ext cx="3300844" cy="458908"/>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14:m>
                  <m:oMath xmlns:m="http://schemas.openxmlformats.org/officeDocument/2006/math">
                    <m:r>
                      <a:rPr lang="en-US" altLang="zh-CN" b="0" i="1" spc="150" dirty="0" smtClean="0">
                        <a:solidFill>
                          <a:srgbClr val="000000"/>
                        </a:solidFill>
                        <a:latin typeface="Cambria Math" panose="02040503050406030204" pitchFamily="18" charset="0"/>
                        <a:ea typeface="微软雅黑" panose="020B0503020204020204" pitchFamily="34" charset="-122"/>
                      </a:rPr>
                      <m:t>𝑇</m:t>
                    </m:r>
                    <m:r>
                      <a:rPr lang="en-US" altLang="zh-CN" spc="150" dirty="0" smtClean="0">
                        <a:solidFill>
                          <a:srgbClr val="000000"/>
                        </a:solidFill>
                        <a:latin typeface="Cambria Math" panose="02040503050406030204" pitchFamily="18" charset="0"/>
                        <a:ea typeface="微软雅黑" panose="020B0503020204020204" pitchFamily="34" charset="-122"/>
                      </a:rPr>
                      <m:t>𝑅</m:t>
                    </m:r>
                    <m:r>
                      <a:rPr lang="en-US" altLang="zh-CN" spc="150" dirty="0">
                        <a:solidFill>
                          <a:srgbClr val="000000"/>
                        </a:solidFill>
                        <a:latin typeface="Cambria Math" panose="02040503050406030204" pitchFamily="18" charset="0"/>
                        <a:ea typeface="微软雅黑" panose="020B0503020204020204" pitchFamily="34" charset="-122"/>
                      </a:rPr>
                      <m:t>(</m:t>
                    </m:r>
                    <m:r>
                      <a:rPr lang="en-US" altLang="zh-CN" spc="150" dirty="0">
                        <a:solidFill>
                          <a:srgbClr val="000000"/>
                        </a:solidFill>
                        <a:latin typeface="Cambria Math" panose="02040503050406030204" pitchFamily="18" charset="0"/>
                        <a:ea typeface="微软雅黑" panose="020B0503020204020204" pitchFamily="34" charset="-122"/>
                      </a:rPr>
                      <m:t>𝑄</m:t>
                    </m:r>
                    <m:r>
                      <a:rPr lang="en-US" altLang="zh-CN" spc="150" dirty="0">
                        <a:solidFill>
                          <a:srgbClr val="000000"/>
                        </a:solidFill>
                        <a:latin typeface="Cambria Math" panose="02040503050406030204" pitchFamily="18" charset="0"/>
                        <a:ea typeface="微软雅黑" panose="020B0503020204020204" pitchFamily="34" charset="-122"/>
                      </a:rPr>
                      <m:t>) = </m:t>
                    </m:r>
                    <m:r>
                      <a:rPr lang="en-US" altLang="zh-CN" spc="150" dirty="0">
                        <a:solidFill>
                          <a:srgbClr val="000000"/>
                        </a:solidFill>
                        <a:latin typeface="Cambria Math" panose="02040503050406030204" pitchFamily="18" charset="0"/>
                        <a:ea typeface="微软雅黑" panose="020B0503020204020204" pitchFamily="34" charset="-122"/>
                      </a:rPr>
                      <m:t>𝑃</m:t>
                    </m:r>
                    <m:r>
                      <a:rPr lang="en-US" altLang="zh-CN" spc="150" dirty="0">
                        <a:solidFill>
                          <a:srgbClr val="000000"/>
                        </a:solidFill>
                        <a:latin typeface="Cambria Math" panose="02040503050406030204" pitchFamily="18" charset="0"/>
                        <a:ea typeface="微软雅黑" panose="020B0503020204020204" pitchFamily="34" charset="-122"/>
                      </a:rPr>
                      <m:t>(</m:t>
                    </m:r>
                    <m:r>
                      <a:rPr lang="en-US" altLang="zh-CN" spc="150" dirty="0">
                        <a:solidFill>
                          <a:srgbClr val="000000"/>
                        </a:solidFill>
                        <a:latin typeface="Cambria Math" panose="02040503050406030204" pitchFamily="18" charset="0"/>
                        <a:ea typeface="微软雅黑" panose="020B0503020204020204" pitchFamily="34" charset="-122"/>
                      </a:rPr>
                      <m:t>𝑄</m:t>
                    </m:r>
                    <m:r>
                      <a:rPr lang="en-US" altLang="zh-CN" spc="150" dirty="0">
                        <a:solidFill>
                          <a:srgbClr val="000000"/>
                        </a:solidFill>
                        <a:latin typeface="Cambria Math" panose="02040503050406030204" pitchFamily="18" charset="0"/>
                        <a:ea typeface="微软雅黑" panose="020B0503020204020204" pitchFamily="34" charset="-122"/>
                      </a:rPr>
                      <m:t>)</m:t>
                    </m:r>
                    <m:r>
                      <a:rPr lang="en-US" altLang="zh-CN" spc="150" dirty="0">
                        <a:solidFill>
                          <a:srgbClr val="000000"/>
                        </a:solidFill>
                        <a:latin typeface="Cambria Math" panose="02040503050406030204" pitchFamily="18" charset="0"/>
                        <a:ea typeface="微软雅黑" panose="020B0503020204020204" pitchFamily="34" charset="-122"/>
                      </a:rPr>
                      <m:t>𝑄</m:t>
                    </m:r>
                  </m:oMath>
                </a14:m>
                <a:endParaRPr lang="en-US" altLang="zh-CN"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23" name="矩形 22">
                <a:extLst>
                  <a:ext uri="{FF2B5EF4-FFF2-40B4-BE49-F238E27FC236}">
                    <a16:creationId xmlns:a16="http://schemas.microsoft.com/office/drawing/2014/main" id="{DFA7F2C8-98F5-40D0-94C5-32316328066C}"/>
                  </a:ext>
                </a:extLst>
              </p:cNvPr>
              <p:cNvSpPr>
                <a:spLocks noRot="1" noChangeAspect="1" noMove="1" noResize="1" noEditPoints="1" noAdjustHandles="1" noChangeArrowheads="1" noChangeShapeType="1" noTextEdit="1"/>
              </p:cNvSpPr>
              <p:nvPr/>
            </p:nvSpPr>
            <p:spPr>
              <a:xfrm>
                <a:off x="4151356" y="2823315"/>
                <a:ext cx="3300844" cy="458908"/>
              </a:xfrm>
              <a:prstGeom prst="rect">
                <a:avLst/>
              </a:prstGeom>
              <a:blipFill>
                <a:blip r:embed="rId4"/>
                <a:stretch>
                  <a:fillRect l="-1294" b="-17333"/>
                </a:stretch>
              </a:blipFill>
            </p:spPr>
            <p:txBody>
              <a:bodyPr/>
              <a:lstStyle/>
              <a:p>
                <a:r>
                  <a:rPr lang="zh-CN" altLang="en-US">
                    <a:noFill/>
                  </a:rPr>
                  <a:t> </a:t>
                </a:r>
              </a:p>
            </p:txBody>
          </p:sp>
        </mc:Fallback>
      </mc:AlternateContent>
      <p:sp>
        <p:nvSpPr>
          <p:cNvPr id="25" name="矩形 24">
            <a:extLst>
              <a:ext uri="{FF2B5EF4-FFF2-40B4-BE49-F238E27FC236}">
                <a16:creationId xmlns:a16="http://schemas.microsoft.com/office/drawing/2014/main" id="{DFA7F2C8-98F5-40D0-94C5-32316328066C}"/>
              </a:ext>
            </a:extLst>
          </p:cNvPr>
          <p:cNvSpPr/>
          <p:nvPr/>
        </p:nvSpPr>
        <p:spPr>
          <a:xfrm>
            <a:off x="4151356" y="3591807"/>
            <a:ext cx="3732874" cy="458908"/>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en-US" altLang="zh-CN" spc="150" dirty="0">
                <a:solidFill>
                  <a:srgbClr val="000000"/>
                </a:solidFill>
                <a:latin typeface="微软雅黑" panose="020B0503020204020204" pitchFamily="34" charset="-122"/>
                <a:ea typeface="微软雅黑" panose="020B0503020204020204" pitchFamily="34" charset="-122"/>
              </a:rPr>
              <a:t>P(Q)</a:t>
            </a:r>
            <a:r>
              <a:rPr lang="zh-CN" altLang="en-US" spc="150" dirty="0">
                <a:solidFill>
                  <a:srgbClr val="000000"/>
                </a:solidFill>
                <a:latin typeface="微软雅黑" panose="020B0503020204020204" pitchFamily="34" charset="-122"/>
                <a:ea typeface="微软雅黑" panose="020B0503020204020204" pitchFamily="34" charset="-122"/>
              </a:rPr>
              <a:t>是企业面临的市场需求</a:t>
            </a:r>
          </a:p>
        </p:txBody>
      </p:sp>
      <p:sp>
        <p:nvSpPr>
          <p:cNvPr id="27" name="矩形 26">
            <a:extLst>
              <a:ext uri="{FF2B5EF4-FFF2-40B4-BE49-F238E27FC236}">
                <a16:creationId xmlns:a16="http://schemas.microsoft.com/office/drawing/2014/main" id="{DFA7F2C8-98F5-40D0-94C5-32316328066C}"/>
              </a:ext>
            </a:extLst>
          </p:cNvPr>
          <p:cNvSpPr/>
          <p:nvPr/>
        </p:nvSpPr>
        <p:spPr>
          <a:xfrm>
            <a:off x="4139970" y="4390803"/>
            <a:ext cx="3816265" cy="458908"/>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en-US" altLang="zh-CN" spc="150" dirty="0">
                <a:solidFill>
                  <a:srgbClr val="000000"/>
                </a:solidFill>
                <a:latin typeface="微软雅黑" panose="020B0503020204020204" pitchFamily="34" charset="-122"/>
                <a:ea typeface="微软雅黑" panose="020B0503020204020204" pitchFamily="34" charset="-122"/>
              </a:rPr>
              <a:t>P(Q</a:t>
            </a:r>
            <a:r>
              <a:rPr lang="zh-CN" altLang="en-US" spc="150" dirty="0">
                <a:solidFill>
                  <a:srgbClr val="000000"/>
                </a:solidFill>
                <a:latin typeface="微软雅黑" panose="020B0503020204020204" pitchFamily="34" charset="-122"/>
                <a:ea typeface="微软雅黑" panose="020B0503020204020204" pitchFamily="34" charset="-122"/>
              </a:rPr>
              <a:t>）依赖于市场的类型</a:t>
            </a:r>
          </a:p>
        </p:txBody>
      </p:sp>
      <p:sp>
        <p:nvSpPr>
          <p:cNvPr id="28" name="矩形 27">
            <a:extLst>
              <a:ext uri="{FF2B5EF4-FFF2-40B4-BE49-F238E27FC236}">
                <a16:creationId xmlns:a16="http://schemas.microsoft.com/office/drawing/2014/main" id="{DFA7F2C8-98F5-40D0-94C5-32316328066C}"/>
              </a:ext>
            </a:extLst>
          </p:cNvPr>
          <p:cNvSpPr/>
          <p:nvPr/>
        </p:nvSpPr>
        <p:spPr>
          <a:xfrm>
            <a:off x="4112630" y="5189799"/>
            <a:ext cx="4635660" cy="458908"/>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因此，</a:t>
            </a:r>
            <a:r>
              <a:rPr lang="en-US" altLang="zh-CN" spc="150" dirty="0">
                <a:solidFill>
                  <a:srgbClr val="000000"/>
                </a:solidFill>
                <a:latin typeface="微软雅黑" panose="020B0503020204020204" pitchFamily="34" charset="-122"/>
                <a:ea typeface="微软雅黑" panose="020B0503020204020204" pitchFamily="34" charset="-122"/>
              </a:rPr>
              <a:t>TR(Q)</a:t>
            </a:r>
            <a:r>
              <a:rPr lang="zh-CN" altLang="en-US" spc="150" dirty="0">
                <a:solidFill>
                  <a:srgbClr val="000000"/>
                </a:solidFill>
                <a:latin typeface="微软雅黑" panose="020B0503020204020204" pitchFamily="34" charset="-122"/>
                <a:ea typeface="微软雅黑" panose="020B0503020204020204" pitchFamily="34" charset="-122"/>
              </a:rPr>
              <a:t>的规律与市场类型有关</a:t>
            </a:r>
          </a:p>
        </p:txBody>
      </p:sp>
      <p:pic>
        <p:nvPicPr>
          <p:cNvPr id="12" name="图片 11">
            <a:extLst>
              <a:ext uri="{FF2B5EF4-FFF2-40B4-BE49-F238E27FC236}">
                <a16:creationId xmlns:a16="http://schemas.microsoft.com/office/drawing/2014/main" id="{0976E3F3-57B3-4B38-9372-275DD7C9A00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8156"/>
          <a:stretch/>
        </p:blipFill>
        <p:spPr>
          <a:xfrm flipH="1">
            <a:off x="1813567" y="2602685"/>
            <a:ext cx="1657102" cy="3198465"/>
          </a:xfrm>
          <a:prstGeom prst="rect">
            <a:avLst/>
          </a:prstGeom>
        </p:spPr>
      </p:pic>
    </p:spTree>
    <p:extLst>
      <p:ext uri="{BB962C8B-B14F-4D97-AF65-F5344CB8AC3E}">
        <p14:creationId xmlns:p14="http://schemas.microsoft.com/office/powerpoint/2010/main" val="2836070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randombar(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left)">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left)">
                                      <p:cBhvr>
                                        <p:cTn id="3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5" grpId="0"/>
      <p:bldP spid="27"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26CC98E5-B2B8-4C3B-B94F-E7BEACD62A0A}"/>
              </a:ext>
            </a:extLst>
          </p:cNvPr>
          <p:cNvGrpSpPr/>
          <p:nvPr/>
        </p:nvGrpSpPr>
        <p:grpSpPr>
          <a:xfrm>
            <a:off x="467544" y="1324005"/>
            <a:ext cx="2304331" cy="561026"/>
            <a:chOff x="467544" y="1268760"/>
            <a:chExt cx="8192278" cy="1306490"/>
          </a:xfrm>
        </p:grpSpPr>
        <p:sp>
          <p:nvSpPr>
            <p:cNvPr id="23" name="矩形 22">
              <a:extLst>
                <a:ext uri="{FF2B5EF4-FFF2-40B4-BE49-F238E27FC236}">
                  <a16:creationId xmlns:a16="http://schemas.microsoft.com/office/drawing/2014/main" id="{92D01AA6-4D0E-4603-BAB9-D99E90DEC435}"/>
                </a:ext>
              </a:extLst>
            </p:cNvPr>
            <p:cNvSpPr/>
            <p:nvPr/>
          </p:nvSpPr>
          <p:spPr>
            <a:xfrm>
              <a:off x="467544" y="1268760"/>
              <a:ext cx="8192278" cy="13064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113FB8C-1FA4-44D4-BC31-6C2C4056C077}"/>
                </a:ext>
              </a:extLst>
            </p:cNvPr>
            <p:cNvSpPr/>
            <p:nvPr/>
          </p:nvSpPr>
          <p:spPr>
            <a:xfrm>
              <a:off x="538031" y="1342300"/>
              <a:ext cx="8051305" cy="115941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a:extLst>
              <a:ext uri="{FF2B5EF4-FFF2-40B4-BE49-F238E27FC236}">
                <a16:creationId xmlns:a16="http://schemas.microsoft.com/office/drawing/2014/main" id="{D230191B-D751-4BE7-8407-E83F26D8845E}"/>
              </a:ext>
            </a:extLst>
          </p:cNvPr>
          <p:cNvSpPr/>
          <p:nvPr/>
        </p:nvSpPr>
        <p:spPr>
          <a:xfrm>
            <a:off x="730101" y="2091619"/>
            <a:ext cx="8018189" cy="646331"/>
          </a:xfrm>
          <a:prstGeom prst="rect">
            <a:avLst/>
          </a:prstGeom>
        </p:spPr>
        <p:txBody>
          <a:bodyPr wrap="square">
            <a:spAutoFit/>
          </a:bodyPr>
          <a:lstStyle/>
          <a:p>
            <a:pPr marL="285750" indent="-285750">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市场由一些生产者和消费者为了买卖某种商品而结成的相互联系</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或者说得更加简单一点</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市场就是把买卖商品的各方联系在一起的纽带。</a:t>
            </a:r>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二、市场结构及划分依据</a:t>
            </a:r>
          </a:p>
        </p:txBody>
      </p:sp>
      <p:sp>
        <p:nvSpPr>
          <p:cNvPr id="12" name="矩形 11">
            <a:extLst>
              <a:ext uri="{FF2B5EF4-FFF2-40B4-BE49-F238E27FC236}">
                <a16:creationId xmlns:a16="http://schemas.microsoft.com/office/drawing/2014/main" id="{49C733EB-F3D1-4EC8-8D19-B58AE2477326}"/>
              </a:ext>
            </a:extLst>
          </p:cNvPr>
          <p:cNvSpPr/>
          <p:nvPr/>
        </p:nvSpPr>
        <p:spPr>
          <a:xfrm>
            <a:off x="920061" y="1420848"/>
            <a:ext cx="1435008" cy="369332"/>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市场的定义</a:t>
            </a:r>
          </a:p>
        </p:txBody>
      </p:sp>
      <p:pic>
        <p:nvPicPr>
          <p:cNvPr id="13" name="图片 12">
            <a:extLst>
              <a:ext uri="{FF2B5EF4-FFF2-40B4-BE49-F238E27FC236}">
                <a16:creationId xmlns:a16="http://schemas.microsoft.com/office/drawing/2014/main" id="{910856D5-C79D-4924-8E1B-F628F801C8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021" y="1341736"/>
            <a:ext cx="448444" cy="448444"/>
          </a:xfrm>
          <a:prstGeom prst="rect">
            <a:avLst/>
          </a:prstGeom>
          <a:effectLst>
            <a:innerShdw blurRad="114300">
              <a:prstClr val="black"/>
            </a:innerShdw>
          </a:effectLst>
        </p:spPr>
      </p:pic>
      <p:sp>
        <p:nvSpPr>
          <p:cNvPr id="24" name="矩形 23">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DFA7F2C8-98F5-40D0-94C5-32316328066C}"/>
              </a:ext>
            </a:extLst>
          </p:cNvPr>
          <p:cNvSpPr/>
          <p:nvPr/>
        </p:nvSpPr>
        <p:spPr>
          <a:xfrm>
            <a:off x="754763" y="2846822"/>
            <a:ext cx="8136565" cy="458908"/>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市场主体的联系</a:t>
            </a:r>
          </a:p>
        </p:txBody>
      </p: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DFA7F2C8-98F5-40D0-94C5-32316328066C}"/>
                  </a:ext>
                </a:extLst>
              </p:cNvPr>
              <p:cNvSpPr/>
              <p:nvPr/>
            </p:nvSpPr>
            <p:spPr>
              <a:xfrm>
                <a:off x="1547790" y="3455319"/>
                <a:ext cx="6822504" cy="459036"/>
              </a:xfrm>
              <a:prstGeom prst="rect">
                <a:avLst/>
              </a:prstGeom>
            </p:spPr>
            <p:txBody>
              <a:bodyPr wrap="square">
                <a:spAutoFit/>
              </a:bodyPr>
              <a:lstStyle/>
              <a:p>
                <a:pPr marL="342900" indent="-342900">
                  <a:lnSpc>
                    <a:spcPct val="150000"/>
                  </a:lnSpc>
                  <a:spcBef>
                    <a:spcPct val="40000"/>
                  </a:spcBef>
                  <a:buFont typeface="Arial" panose="020B0604020202020204" pitchFamily="34" charset="0"/>
                  <a:buChar char="•"/>
                </a:pPr>
                <a14:m>
                  <m:oMath xmlns:m="http://schemas.openxmlformats.org/officeDocument/2006/math">
                    <m:r>
                      <m:rPr>
                        <m:nor/>
                      </m:rPr>
                      <a:rPr lang="zh-CN" altLang="en-US" spc="150" dirty="0">
                        <a:solidFill>
                          <a:srgbClr val="000000"/>
                        </a:solidFill>
                        <a:latin typeface="微软雅黑" panose="020B0503020204020204" pitchFamily="34" charset="-122"/>
                        <a:ea typeface="微软雅黑" panose="020B0503020204020204" pitchFamily="34" charset="-122"/>
                      </a:rPr>
                      <m:t>买者之间</m:t>
                    </m:r>
                  </m:oMath>
                </a14:m>
                <a:endParaRPr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27" name="矩形 26">
                <a:extLst>
                  <a:ext uri="{FF2B5EF4-FFF2-40B4-BE49-F238E27FC236}">
                    <a16:creationId xmlns:a16="http://schemas.microsoft.com/office/drawing/2014/main" id="{DFA7F2C8-98F5-40D0-94C5-32316328066C}"/>
                  </a:ext>
                </a:extLst>
              </p:cNvPr>
              <p:cNvSpPr>
                <a:spLocks noRot="1" noChangeAspect="1" noMove="1" noResize="1" noEditPoints="1" noAdjustHandles="1" noChangeArrowheads="1" noChangeShapeType="1" noTextEdit="1"/>
              </p:cNvSpPr>
              <p:nvPr/>
            </p:nvSpPr>
            <p:spPr>
              <a:xfrm>
                <a:off x="1547790" y="3455319"/>
                <a:ext cx="6822504" cy="459036"/>
              </a:xfrm>
              <a:prstGeom prst="rect">
                <a:avLst/>
              </a:prstGeom>
              <a:blipFill>
                <a:blip r:embed="rId4"/>
                <a:stretch>
                  <a:fillRect l="-626" b="-17333"/>
                </a:stretch>
              </a:blipFill>
            </p:spPr>
            <p:txBody>
              <a:bodyPr/>
              <a:lstStyle/>
              <a:p>
                <a:r>
                  <a:rPr lang="zh-CN" altLang="en-US">
                    <a:noFill/>
                  </a:rPr>
                  <a:t> </a:t>
                </a:r>
              </a:p>
            </p:txBody>
          </p:sp>
        </mc:Fallback>
      </mc:AlternateContent>
      <p:sp>
        <p:nvSpPr>
          <p:cNvPr id="28" name="矩形 27">
            <a:extLst>
              <a:ext uri="{FF2B5EF4-FFF2-40B4-BE49-F238E27FC236}">
                <a16:creationId xmlns:a16="http://schemas.microsoft.com/office/drawing/2014/main" id="{DFA7F2C8-98F5-40D0-94C5-32316328066C}"/>
              </a:ext>
            </a:extLst>
          </p:cNvPr>
          <p:cNvSpPr/>
          <p:nvPr/>
        </p:nvSpPr>
        <p:spPr>
          <a:xfrm>
            <a:off x="1547790" y="4041898"/>
            <a:ext cx="6822504" cy="458908"/>
          </a:xfrm>
          <a:prstGeom prst="rect">
            <a:avLst/>
          </a:prstGeom>
        </p:spPr>
        <p:txBody>
          <a:bodyPr wrap="square">
            <a:spAutoFit/>
          </a:bodyPr>
          <a:lstStyle/>
          <a:p>
            <a:pPr marL="342900" indent="-342900">
              <a:lnSpc>
                <a:spcPct val="150000"/>
              </a:lnSpc>
              <a:spcBef>
                <a:spcPct val="40000"/>
              </a:spcBef>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卖者之间</a:t>
            </a:r>
          </a:p>
        </p:txBody>
      </p:sp>
      <p:sp>
        <p:nvSpPr>
          <p:cNvPr id="29" name="矩形 28">
            <a:extLst>
              <a:ext uri="{FF2B5EF4-FFF2-40B4-BE49-F238E27FC236}">
                <a16:creationId xmlns:a16="http://schemas.microsoft.com/office/drawing/2014/main" id="{DFA7F2C8-98F5-40D0-94C5-32316328066C}"/>
              </a:ext>
            </a:extLst>
          </p:cNvPr>
          <p:cNvSpPr/>
          <p:nvPr/>
        </p:nvSpPr>
        <p:spPr>
          <a:xfrm>
            <a:off x="1536404" y="4534508"/>
            <a:ext cx="6822504" cy="458908"/>
          </a:xfrm>
          <a:prstGeom prst="rect">
            <a:avLst/>
          </a:prstGeom>
        </p:spPr>
        <p:txBody>
          <a:bodyPr wrap="square">
            <a:spAutoFit/>
          </a:bodyPr>
          <a:lstStyle/>
          <a:p>
            <a:pPr marL="342900" indent="-342900">
              <a:lnSpc>
                <a:spcPct val="150000"/>
              </a:lnSpc>
              <a:spcBef>
                <a:spcPct val="40000"/>
              </a:spcBef>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买者和卖者之间</a:t>
            </a:r>
          </a:p>
        </p:txBody>
      </p:sp>
      <p:sp>
        <p:nvSpPr>
          <p:cNvPr id="30" name="矩形 29">
            <a:extLst>
              <a:ext uri="{FF2B5EF4-FFF2-40B4-BE49-F238E27FC236}">
                <a16:creationId xmlns:a16="http://schemas.microsoft.com/office/drawing/2014/main" id="{DFA7F2C8-98F5-40D0-94C5-32316328066C}"/>
              </a:ext>
            </a:extLst>
          </p:cNvPr>
          <p:cNvSpPr/>
          <p:nvPr/>
        </p:nvSpPr>
        <p:spPr>
          <a:xfrm>
            <a:off x="754763" y="5121087"/>
            <a:ext cx="4465281" cy="874407"/>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需要关注进出市场的难易程度，因为会影响企业和市场的长期均衡</a:t>
            </a:r>
          </a:p>
        </p:txBody>
      </p:sp>
      <p:pic>
        <p:nvPicPr>
          <p:cNvPr id="15" name="图片 14">
            <a:extLst>
              <a:ext uri="{FF2B5EF4-FFF2-40B4-BE49-F238E27FC236}">
                <a16:creationId xmlns:a16="http://schemas.microsoft.com/office/drawing/2014/main" id="{4718C696-D625-4195-BD96-338723D4B6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4499995" y="2944538"/>
            <a:ext cx="2448170" cy="2866551"/>
          </a:xfrm>
          <a:prstGeom prst="rect">
            <a:avLst/>
          </a:prstGeom>
        </p:spPr>
      </p:pic>
    </p:spTree>
    <p:extLst>
      <p:ext uri="{BB962C8B-B14F-4D97-AF65-F5344CB8AC3E}">
        <p14:creationId xmlns:p14="http://schemas.microsoft.com/office/powerpoint/2010/main" val="138714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randombar(horizontal)">
                                      <p:cBhvr>
                                        <p:cTn id="12" dur="500"/>
                                        <p:tgtEl>
                                          <p:spTgt spid="25"/>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animEffect transition="in" filter="fade">
                                      <p:cBhvr>
                                        <p:cTn id="18" dur="500"/>
                                        <p:tgtEl>
                                          <p:spTgt spid="1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par>
                                <p:cTn id="32" presetID="14" presetClass="entr" presetSubtype="1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randombar(horizontal)">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5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wipe(left)">
                                      <p:cBhvr>
                                        <p:cTn id="44" dur="500"/>
                                        <p:tgtEl>
                                          <p:spTgt spid="2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5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wipe(left)">
                                      <p:cBhvr>
                                        <p:cTn id="5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P spid="20" grpId="0"/>
      <p:bldP spid="27" grpId="0"/>
      <p:bldP spid="28" grpId="0"/>
      <p:bldP spid="29" grpId="0"/>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FD701A9D-B437-4365-8EAE-39596CD5F811}"/>
              </a:ext>
            </a:extLst>
          </p:cNvPr>
          <p:cNvGrpSpPr/>
          <p:nvPr/>
        </p:nvGrpSpPr>
        <p:grpSpPr>
          <a:xfrm>
            <a:off x="458213" y="1296677"/>
            <a:ext cx="2893707" cy="514350"/>
            <a:chOff x="458213" y="1296677"/>
            <a:chExt cx="2893707"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58213" y="1296677"/>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市场类型的划分依据</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59832" y="1353827"/>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3" name="矩形 2">
            <a:extLst>
              <a:ext uri="{FF2B5EF4-FFF2-40B4-BE49-F238E27FC236}">
                <a16:creationId xmlns:a16="http://schemas.microsoft.com/office/drawing/2014/main" id="{DC352424-0443-43CC-9DB7-D6B00F0C4B2E}"/>
              </a:ext>
            </a:extLst>
          </p:cNvPr>
          <p:cNvSpPr/>
          <p:nvPr/>
        </p:nvSpPr>
        <p:spPr>
          <a:xfrm>
            <a:off x="765109" y="1803872"/>
            <a:ext cx="8378891" cy="5271764"/>
          </a:xfrm>
          <a:prstGeom prst="rect">
            <a:avLst/>
          </a:prstGeom>
        </p:spPr>
        <p:txBody>
          <a:bodyPr wrap="square">
            <a:spAutoFit/>
          </a:bodyPr>
          <a:lstStyle/>
          <a:p>
            <a:pPr marL="285750" indent="-285750">
              <a:lnSpc>
                <a:spcPct val="2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厂商数量</a:t>
            </a:r>
          </a:p>
          <a:p>
            <a:pPr marL="285750" indent="-285750">
              <a:lnSpc>
                <a:spcPct val="2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单个还是多个</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highlight>
                  <a:srgbClr val="F3C97F"/>
                </a:highlight>
                <a:latin typeface="微软雅黑" panose="020B0503020204020204" pitchFamily="34" charset="-122"/>
                <a:ea typeface="微软雅黑" panose="020B0503020204020204" pitchFamily="34" charset="-122"/>
              </a:rPr>
              <a:t>完全垄断</a:t>
            </a:r>
            <a:r>
              <a:rPr lang="zh-CN" altLang="en-US" spc="150" dirty="0">
                <a:solidFill>
                  <a:srgbClr val="000000"/>
                </a:solidFill>
                <a:latin typeface="微软雅黑" panose="020B0503020204020204" pitchFamily="34" charset="-122"/>
                <a:ea typeface="微软雅黑" panose="020B0503020204020204" pitchFamily="34" charset="-122"/>
              </a:rPr>
              <a:t>和其他厂商</a:t>
            </a:r>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2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多个时，多到什么程度</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是否相互影响</a:t>
            </a:r>
            <a:r>
              <a:rPr lang="en-US" altLang="zh-CN" dirty="0">
                <a:sym typeface="Wingdings" panose="05000000000000000000" pitchFamily="2" charset="2"/>
              </a:rPr>
              <a:t></a:t>
            </a:r>
            <a:r>
              <a:rPr lang="zh-CN" altLang="en-US" spc="150" dirty="0">
                <a:solidFill>
                  <a:srgbClr val="000000"/>
                </a:solidFill>
                <a:latin typeface="微软雅黑" panose="020B0503020204020204" pitchFamily="34" charset="-122"/>
                <a:ea typeface="微软雅黑" panose="020B0503020204020204" pitchFamily="34" charset="-122"/>
              </a:rPr>
              <a:t>是否构成</a:t>
            </a:r>
            <a:r>
              <a:rPr lang="zh-CN" altLang="en-US" spc="150" dirty="0">
                <a:solidFill>
                  <a:srgbClr val="000000"/>
                </a:solidFill>
                <a:highlight>
                  <a:srgbClr val="00FF00"/>
                </a:highlight>
                <a:latin typeface="微软雅黑" panose="020B0503020204020204" pitchFamily="34" charset="-122"/>
                <a:ea typeface="微软雅黑" panose="020B0503020204020204" pitchFamily="34" charset="-122"/>
              </a:rPr>
              <a:t>寡头垄断</a:t>
            </a:r>
            <a:endParaRPr lang="en-US" altLang="zh-CN" spc="150" dirty="0">
              <a:solidFill>
                <a:srgbClr val="000000"/>
              </a:solidFill>
              <a:highlight>
                <a:srgbClr val="00FF00"/>
              </a:highlight>
              <a:latin typeface="微软雅黑" panose="020B0503020204020204" pitchFamily="34" charset="-122"/>
              <a:ea typeface="微软雅黑" panose="020B0503020204020204" pitchFamily="34" charset="-122"/>
            </a:endParaRPr>
          </a:p>
          <a:p>
            <a:pPr marL="285750" indent="-285750">
              <a:lnSpc>
                <a:spcPct val="2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多个时，市场集中度</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高还是低决定着是否相互影响</a:t>
            </a:r>
          </a:p>
          <a:p>
            <a:pPr marL="285750" indent="-285750">
              <a:lnSpc>
                <a:spcPct val="2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厂商数量多而份额分散时，产品是否有差异</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highlight>
                  <a:srgbClr val="FFD9D9"/>
                </a:highlight>
                <a:latin typeface="微软雅黑" panose="020B0503020204020204" pitchFamily="34" charset="-122"/>
                <a:ea typeface="微软雅黑" panose="020B0503020204020204" pitchFamily="34" charset="-122"/>
              </a:rPr>
              <a:t>完全竞争</a:t>
            </a:r>
            <a:r>
              <a:rPr lang="zh-CN" altLang="en-US" spc="150" dirty="0">
                <a:solidFill>
                  <a:srgbClr val="000000"/>
                </a:solidFill>
                <a:latin typeface="微软雅黑" panose="020B0503020204020204" pitchFamily="34" charset="-122"/>
                <a:ea typeface="微软雅黑" panose="020B0503020204020204" pitchFamily="34" charset="-122"/>
              </a:rPr>
              <a:t>还是</a:t>
            </a:r>
            <a:r>
              <a:rPr lang="zh-CN" altLang="en-US" spc="150" dirty="0">
                <a:solidFill>
                  <a:srgbClr val="000000"/>
                </a:solidFill>
                <a:highlight>
                  <a:srgbClr val="FFFF00"/>
                </a:highlight>
                <a:latin typeface="微软雅黑" panose="020B0503020204020204" pitchFamily="34" charset="-122"/>
                <a:ea typeface="微软雅黑" panose="020B0503020204020204" pitchFamily="34" charset="-122"/>
              </a:rPr>
              <a:t>垄断竞争</a:t>
            </a:r>
          </a:p>
          <a:p>
            <a:pPr marL="285750" indent="-285750">
              <a:lnSpc>
                <a:spcPct val="2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进入退出市场的难易程度</a:t>
            </a:r>
          </a:p>
          <a:p>
            <a:pPr marL="285750" indent="-285750">
              <a:lnSpc>
                <a:spcPct val="200000"/>
              </a:lnSpc>
              <a:buFont typeface="Wingdings" panose="05000000000000000000" pitchFamily="2" charset="2"/>
              <a:buChar char="Ø"/>
            </a:pPr>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Ø"/>
            </a:pP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88F10CB6-16BB-4FFA-849E-338B87928C0F}"/>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二、市场结构及划分依据</a:t>
            </a:r>
          </a:p>
        </p:txBody>
      </p:sp>
    </p:spTree>
    <p:extLst>
      <p:ext uri="{BB962C8B-B14F-4D97-AF65-F5344CB8AC3E}">
        <p14:creationId xmlns:p14="http://schemas.microsoft.com/office/powerpoint/2010/main" val="421114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left)">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left)">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11"/>
          <p:cNvSpPr/>
          <p:nvPr/>
        </p:nvSpPr>
        <p:spPr bwMode="auto">
          <a:xfrm>
            <a:off x="794446" y="2572299"/>
            <a:ext cx="6552624" cy="474803"/>
          </a:xfrm>
          <a:prstGeom prst="roundRect">
            <a:avLst/>
          </a:prstGeom>
          <a:solidFill>
            <a:schemeClr val="accent1">
              <a:alpha val="55000"/>
            </a:schemeClr>
          </a:solidFill>
          <a:ln w="9525" cap="flat" cmpd="sng" algn="ctr">
            <a:solidFill>
              <a:schemeClr val="accent3">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圆角矩形 1"/>
          <p:cNvSpPr/>
          <p:nvPr/>
        </p:nvSpPr>
        <p:spPr bwMode="auto">
          <a:xfrm>
            <a:off x="794446" y="3047102"/>
            <a:ext cx="6552623" cy="1879524"/>
          </a:xfrm>
          <a:prstGeom prst="roundRect">
            <a:avLst>
              <a:gd name="adj" fmla="val 4954"/>
            </a:avLst>
          </a:prstGeom>
          <a:solidFill>
            <a:schemeClr val="accent1">
              <a:alpha val="55000"/>
            </a:schemeClr>
          </a:solidFill>
          <a:ln w="9525" cap="flat" cmpd="sng" algn="ctr">
            <a:solidFill>
              <a:srgbClr val="BB152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graphicFrame>
        <p:nvGraphicFramePr>
          <p:cNvPr id="219139" name="Group 3"/>
          <p:cNvGraphicFramePr>
            <a:graphicFrameLocks noGrp="1"/>
          </p:cNvGraphicFramePr>
          <p:nvPr>
            <p:extLst>
              <p:ext uri="{D42A27DB-BD31-4B8C-83A1-F6EECF244321}">
                <p14:modId xmlns:p14="http://schemas.microsoft.com/office/powerpoint/2010/main" val="3939595161"/>
              </p:ext>
            </p:extLst>
          </p:nvPr>
        </p:nvGraphicFramePr>
        <p:xfrm>
          <a:off x="794447" y="1828640"/>
          <a:ext cx="6552623" cy="3110164"/>
        </p:xfrm>
        <a:graphic>
          <a:graphicData uri="http://schemas.openxmlformats.org/drawingml/2006/table">
            <a:tbl>
              <a:tblPr/>
              <a:tblGrid>
                <a:gridCol w="1348730">
                  <a:extLst>
                    <a:ext uri="{9D8B030D-6E8A-4147-A177-3AD203B41FA5}">
                      <a16:colId xmlns:a16="http://schemas.microsoft.com/office/drawing/2014/main" val="20000"/>
                    </a:ext>
                  </a:extLst>
                </a:gridCol>
                <a:gridCol w="817275">
                  <a:extLst>
                    <a:ext uri="{9D8B030D-6E8A-4147-A177-3AD203B41FA5}">
                      <a16:colId xmlns:a16="http://schemas.microsoft.com/office/drawing/2014/main" val="20001"/>
                    </a:ext>
                  </a:extLst>
                </a:gridCol>
                <a:gridCol w="1030986">
                  <a:extLst>
                    <a:ext uri="{9D8B030D-6E8A-4147-A177-3AD203B41FA5}">
                      <a16:colId xmlns:a16="http://schemas.microsoft.com/office/drawing/2014/main" val="20002"/>
                    </a:ext>
                  </a:extLst>
                </a:gridCol>
                <a:gridCol w="935294">
                  <a:extLst>
                    <a:ext uri="{9D8B030D-6E8A-4147-A177-3AD203B41FA5}">
                      <a16:colId xmlns:a16="http://schemas.microsoft.com/office/drawing/2014/main" val="20003"/>
                    </a:ext>
                  </a:extLst>
                </a:gridCol>
                <a:gridCol w="1224442">
                  <a:extLst>
                    <a:ext uri="{9D8B030D-6E8A-4147-A177-3AD203B41FA5}">
                      <a16:colId xmlns:a16="http://schemas.microsoft.com/office/drawing/2014/main" val="20004"/>
                    </a:ext>
                  </a:extLst>
                </a:gridCol>
                <a:gridCol w="1195896">
                  <a:extLst>
                    <a:ext uri="{9D8B030D-6E8A-4147-A177-3AD203B41FA5}">
                      <a16:colId xmlns:a16="http://schemas.microsoft.com/office/drawing/2014/main" val="20005"/>
                    </a:ext>
                  </a:extLst>
                </a:gridCol>
              </a:tblGrid>
              <a:tr h="73463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市场</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厂商数量</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产品</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差别</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进入与退出</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相互影响</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典型行业</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979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完全竞争</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无数</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同质</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Free</a:t>
                      </a: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Yes</a:t>
                      </a: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农业</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7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垄断竞争</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很多</a:t>
                      </a:r>
                      <a:endParaRPr kumimoji="1"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有差异</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Easy</a:t>
                      </a: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NO</a:t>
                      </a: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制造业</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4735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寡头垄断</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很少</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同质或有差异</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困难</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Yes</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重工</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463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完全垄断</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一家</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障碍</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巨大</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公用</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事业</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4963" marR="74963" marT="37482" marB="3748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 name="Line 2"/>
          <p:cNvSpPr>
            <a:spLocks noChangeShapeType="1"/>
          </p:cNvSpPr>
          <p:nvPr/>
        </p:nvSpPr>
        <p:spPr bwMode="auto">
          <a:xfrm flipV="1">
            <a:off x="655981" y="6000092"/>
            <a:ext cx="7204496" cy="1"/>
          </a:xfrm>
          <a:prstGeom prst="line">
            <a:avLst/>
          </a:prstGeom>
          <a:noFill/>
          <a:ln w="1016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Rectangle 4"/>
          <p:cNvSpPr>
            <a:spLocks noChangeArrowheads="1"/>
          </p:cNvSpPr>
          <p:nvPr/>
        </p:nvSpPr>
        <p:spPr bwMode="auto">
          <a:xfrm>
            <a:off x="680022" y="5312871"/>
            <a:ext cx="16238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dirty="0">
                <a:solidFill>
                  <a:srgbClr val="000000"/>
                </a:solidFill>
                <a:latin typeface="微软雅黑" panose="020B0503020204020204" pitchFamily="34" charset="-122"/>
                <a:ea typeface="微软雅黑" panose="020B0503020204020204" pitchFamily="34" charset="-122"/>
              </a:rPr>
              <a:t>Perfect</a:t>
            </a:r>
          </a:p>
          <a:p>
            <a:pPr algn="ctr"/>
            <a:r>
              <a:rPr kumimoji="0" lang="en-US" altLang="zh-CN" sz="1800" b="1" dirty="0">
                <a:solidFill>
                  <a:srgbClr val="000000"/>
                </a:solidFill>
                <a:latin typeface="微软雅黑" panose="020B0503020204020204" pitchFamily="34" charset="-122"/>
                <a:ea typeface="微软雅黑" panose="020B0503020204020204" pitchFamily="34" charset="-122"/>
              </a:rPr>
              <a:t>Competition</a:t>
            </a:r>
          </a:p>
        </p:txBody>
      </p:sp>
      <p:sp>
        <p:nvSpPr>
          <p:cNvPr id="7" name="Rectangle 5"/>
          <p:cNvSpPr>
            <a:spLocks noChangeArrowheads="1"/>
          </p:cNvSpPr>
          <p:nvPr/>
        </p:nvSpPr>
        <p:spPr bwMode="auto">
          <a:xfrm>
            <a:off x="6318376" y="5298584"/>
            <a:ext cx="167944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dirty="0">
                <a:solidFill>
                  <a:srgbClr val="000000"/>
                </a:solidFill>
                <a:latin typeface="微软雅黑" panose="020B0503020204020204" pitchFamily="34" charset="-122"/>
                <a:ea typeface="微软雅黑" panose="020B0503020204020204" pitchFamily="34" charset="-122"/>
              </a:rPr>
              <a:t>Perfect</a:t>
            </a:r>
          </a:p>
          <a:p>
            <a:pPr algn="ctr"/>
            <a:r>
              <a:rPr kumimoji="0" lang="en-US" altLang="zh-CN" sz="1800" b="1" dirty="0">
                <a:solidFill>
                  <a:srgbClr val="000000"/>
                </a:solidFill>
                <a:latin typeface="微软雅黑" panose="020B0503020204020204" pitchFamily="34" charset="-122"/>
                <a:ea typeface="微软雅黑" panose="020B0503020204020204" pitchFamily="34" charset="-122"/>
              </a:rPr>
              <a:t>Monopoly</a:t>
            </a:r>
          </a:p>
        </p:txBody>
      </p:sp>
      <p:sp>
        <p:nvSpPr>
          <p:cNvPr id="8" name="Rectangle 6"/>
          <p:cNvSpPr>
            <a:spLocks noChangeArrowheads="1"/>
          </p:cNvSpPr>
          <p:nvPr/>
        </p:nvSpPr>
        <p:spPr bwMode="auto">
          <a:xfrm>
            <a:off x="2544527" y="5321389"/>
            <a:ext cx="1736548"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dirty="0">
                <a:solidFill>
                  <a:srgbClr val="000000"/>
                </a:solidFill>
                <a:latin typeface="微软雅黑" panose="020B0503020204020204" pitchFamily="34" charset="-122"/>
                <a:ea typeface="微软雅黑" panose="020B0503020204020204" pitchFamily="34" charset="-122"/>
              </a:rPr>
              <a:t>Monopolistic</a:t>
            </a:r>
          </a:p>
          <a:p>
            <a:pPr algn="ctr"/>
            <a:r>
              <a:rPr kumimoji="0" lang="en-US" altLang="zh-CN" sz="1800" b="1" dirty="0">
                <a:solidFill>
                  <a:srgbClr val="000000"/>
                </a:solidFill>
                <a:latin typeface="微软雅黑" panose="020B0503020204020204" pitchFamily="34" charset="-122"/>
                <a:ea typeface="微软雅黑" panose="020B0503020204020204" pitchFamily="34" charset="-122"/>
              </a:rPr>
              <a:t>Competition</a:t>
            </a:r>
          </a:p>
        </p:txBody>
      </p:sp>
      <p:sp>
        <p:nvSpPr>
          <p:cNvPr id="9" name="Rectangle 7"/>
          <p:cNvSpPr>
            <a:spLocks noChangeArrowheads="1"/>
          </p:cNvSpPr>
          <p:nvPr/>
        </p:nvSpPr>
        <p:spPr bwMode="auto">
          <a:xfrm>
            <a:off x="4644005" y="5519550"/>
            <a:ext cx="1311441"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dirty="0">
                <a:solidFill>
                  <a:srgbClr val="000000"/>
                </a:solidFill>
                <a:latin typeface="微软雅黑" panose="020B0503020204020204" pitchFamily="34" charset="-122"/>
                <a:ea typeface="微软雅黑" panose="020B0503020204020204" pitchFamily="34" charset="-122"/>
              </a:rPr>
              <a:t>Oligopoly</a:t>
            </a:r>
          </a:p>
        </p:txBody>
      </p:sp>
      <p:sp>
        <p:nvSpPr>
          <p:cNvPr id="10" name="Oval 10"/>
          <p:cNvSpPr>
            <a:spLocks noChangeArrowheads="1"/>
          </p:cNvSpPr>
          <p:nvPr/>
        </p:nvSpPr>
        <p:spPr bwMode="auto">
          <a:xfrm>
            <a:off x="595163" y="5248753"/>
            <a:ext cx="1793538" cy="892790"/>
          </a:xfrm>
          <a:prstGeom prst="ellipse">
            <a:avLst/>
          </a:prstGeom>
          <a:noFill/>
          <a:ln w="762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 name="矩形 2"/>
          <p:cNvSpPr/>
          <p:nvPr/>
        </p:nvSpPr>
        <p:spPr>
          <a:xfrm>
            <a:off x="7347068" y="3161324"/>
            <a:ext cx="908607" cy="1698927"/>
          </a:xfrm>
          <a:prstGeom prst="rect">
            <a:avLst/>
          </a:prstGeom>
          <a:solidFill>
            <a:srgbClr val="F3C97F"/>
          </a:solidFill>
        </p:spPr>
        <p:txBody>
          <a:bodyPr wrap="square">
            <a:spAutoFit/>
          </a:bodyPr>
          <a:lstStyle/>
          <a:p>
            <a:pPr lvl="0" algn="ctr" eaLnBrk="1" hangingPunct="1">
              <a:spcBef>
                <a:spcPct val="20000"/>
              </a:spcBef>
            </a:pPr>
            <a:r>
              <a:rPr kumimoji="1" lang="zh-CN" altLang="en-US" dirty="0">
                <a:latin typeface="微软雅黑" panose="020B0503020204020204" pitchFamily="34" charset="-122"/>
                <a:ea typeface="微软雅黑" panose="020B0503020204020204" pitchFamily="34" charset="-122"/>
              </a:rPr>
              <a:t>不</a:t>
            </a:r>
            <a:endParaRPr kumimoji="1" lang="en-US" altLang="zh-CN" dirty="0">
              <a:latin typeface="微软雅黑" panose="020B0503020204020204" pitchFamily="34" charset="-122"/>
              <a:ea typeface="微软雅黑" panose="020B0503020204020204" pitchFamily="34" charset="-122"/>
            </a:endParaRPr>
          </a:p>
          <a:p>
            <a:pPr lvl="0" algn="ctr" eaLnBrk="1" hangingPunct="1">
              <a:spcBef>
                <a:spcPct val="20000"/>
              </a:spcBef>
            </a:pPr>
            <a:r>
              <a:rPr kumimoji="1" lang="zh-CN" altLang="en-US" dirty="0">
                <a:latin typeface="微软雅黑" panose="020B0503020204020204" pitchFamily="34" charset="-122"/>
                <a:ea typeface="微软雅黑" panose="020B0503020204020204" pitchFamily="34" charset="-122"/>
              </a:rPr>
              <a:t>完</a:t>
            </a:r>
            <a:endParaRPr kumimoji="1" lang="en-US" altLang="zh-CN" dirty="0">
              <a:latin typeface="微软雅黑" panose="020B0503020204020204" pitchFamily="34" charset="-122"/>
              <a:ea typeface="微软雅黑" panose="020B0503020204020204" pitchFamily="34" charset="-122"/>
            </a:endParaRPr>
          </a:p>
          <a:p>
            <a:pPr lvl="0" algn="ctr" eaLnBrk="1" hangingPunct="1">
              <a:spcBef>
                <a:spcPct val="20000"/>
              </a:spcBef>
            </a:pPr>
            <a:r>
              <a:rPr kumimoji="1" lang="zh-CN" altLang="en-US" dirty="0">
                <a:latin typeface="微软雅黑" panose="020B0503020204020204" pitchFamily="34" charset="-122"/>
                <a:ea typeface="微软雅黑" panose="020B0503020204020204" pitchFamily="34" charset="-122"/>
              </a:rPr>
              <a:t>全</a:t>
            </a:r>
            <a:endParaRPr kumimoji="1" lang="en-US" altLang="zh-CN" dirty="0">
              <a:latin typeface="微软雅黑" panose="020B0503020204020204" pitchFamily="34" charset="-122"/>
              <a:ea typeface="微软雅黑" panose="020B0503020204020204" pitchFamily="34" charset="-122"/>
            </a:endParaRPr>
          </a:p>
          <a:p>
            <a:pPr lvl="0" algn="ctr" eaLnBrk="1" hangingPunct="1">
              <a:spcBef>
                <a:spcPct val="20000"/>
              </a:spcBef>
            </a:pPr>
            <a:r>
              <a:rPr kumimoji="1" lang="zh-CN" altLang="en-US" dirty="0">
                <a:latin typeface="微软雅黑" panose="020B0503020204020204" pitchFamily="34" charset="-122"/>
                <a:ea typeface="微软雅黑" panose="020B0503020204020204" pitchFamily="34" charset="-122"/>
              </a:rPr>
              <a:t>竞</a:t>
            </a:r>
            <a:endParaRPr kumimoji="1" lang="en-US" altLang="zh-CN" dirty="0">
              <a:latin typeface="微软雅黑" panose="020B0503020204020204" pitchFamily="34" charset="-122"/>
              <a:ea typeface="微软雅黑" panose="020B0503020204020204" pitchFamily="34" charset="-122"/>
            </a:endParaRPr>
          </a:p>
          <a:p>
            <a:pPr lvl="0" algn="ctr" eaLnBrk="1" hangingPunct="1">
              <a:spcBef>
                <a:spcPct val="20000"/>
              </a:spcBef>
            </a:pPr>
            <a:r>
              <a:rPr kumimoji="1" lang="zh-CN" altLang="en-US" dirty="0">
                <a:latin typeface="微软雅黑" panose="020B0503020204020204" pitchFamily="34" charset="-122"/>
                <a:ea typeface="微软雅黑" panose="020B0503020204020204" pitchFamily="34" charset="-122"/>
              </a:rPr>
              <a:t>争</a:t>
            </a:r>
            <a:endParaRPr kumimoji="1" lang="en-US" altLang="zh-CN" dirty="0">
              <a:latin typeface="微软雅黑" panose="020B0503020204020204" pitchFamily="34" charset="-122"/>
              <a:ea typeface="微软雅黑" panose="020B0503020204020204" pitchFamily="34" charset="-122"/>
            </a:endParaRPr>
          </a:p>
        </p:txBody>
      </p:sp>
      <p:sp>
        <p:nvSpPr>
          <p:cNvPr id="13" name="矩形 12"/>
          <p:cNvSpPr/>
          <p:nvPr/>
        </p:nvSpPr>
        <p:spPr>
          <a:xfrm>
            <a:off x="7161201" y="2620028"/>
            <a:ext cx="1673229" cy="369332"/>
          </a:xfrm>
          <a:prstGeom prst="rect">
            <a:avLst/>
          </a:prstGeom>
          <a:solidFill>
            <a:srgbClr val="F3C97F"/>
          </a:solidFill>
        </p:spPr>
        <p:txBody>
          <a:bodyPr wrap="square">
            <a:spAutoFit/>
          </a:bodyPr>
          <a:lstStyle/>
          <a:p>
            <a:pPr lvl="0" algn="ctr" eaLnBrk="1" hangingPunct="1">
              <a:spcBef>
                <a:spcPct val="20000"/>
              </a:spcBef>
            </a:pPr>
            <a:r>
              <a:rPr kumimoji="1" lang="zh-CN" altLang="en-US" dirty="0">
                <a:latin typeface="微软雅黑" panose="020B0503020204020204" pitchFamily="34" charset="-122"/>
                <a:ea typeface="微软雅黑" panose="020B0503020204020204" pitchFamily="34" charset="-122"/>
              </a:rPr>
              <a:t>（完全）竞争</a:t>
            </a:r>
            <a:endParaRPr kumimoji="1" lang="en-US" altLang="zh-CN" dirty="0">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p:grpSp>
        <p:nvGrpSpPr>
          <p:cNvPr id="19" name="组合 18">
            <a:extLst>
              <a:ext uri="{FF2B5EF4-FFF2-40B4-BE49-F238E27FC236}">
                <a16:creationId xmlns:a16="http://schemas.microsoft.com/office/drawing/2014/main" id="{FD701A9D-B437-4365-8EAE-39596CD5F811}"/>
              </a:ext>
            </a:extLst>
          </p:cNvPr>
          <p:cNvGrpSpPr/>
          <p:nvPr/>
        </p:nvGrpSpPr>
        <p:grpSpPr>
          <a:xfrm>
            <a:off x="458213" y="1116592"/>
            <a:ext cx="3046987" cy="514350"/>
            <a:chOff x="458213" y="1296677"/>
            <a:chExt cx="2893707" cy="514350"/>
          </a:xfrm>
        </p:grpSpPr>
        <p:sp>
          <p:nvSpPr>
            <p:cNvPr id="20"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58213" y="1296677"/>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市场结构的四种标杆</a:t>
              </a:r>
            </a:p>
          </p:txBody>
        </p:sp>
        <p:sp>
          <p:nvSpPr>
            <p:cNvPr id="21"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59832" y="1353827"/>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18" name="矩形 17">
            <a:extLst>
              <a:ext uri="{FF2B5EF4-FFF2-40B4-BE49-F238E27FC236}">
                <a16:creationId xmlns:a16="http://schemas.microsoft.com/office/drawing/2014/main" id="{23CF813F-3ADE-48DD-9CA8-17B37527CBB9}"/>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二、市场结构及划分依据</a:t>
            </a:r>
          </a:p>
        </p:txBody>
      </p:sp>
    </p:spTree>
    <p:extLst>
      <p:ext uri="{BB962C8B-B14F-4D97-AF65-F5344CB8AC3E}">
        <p14:creationId xmlns:p14="http://schemas.microsoft.com/office/powerpoint/2010/main" val="609409337"/>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19139"/>
                                        </p:tgtEl>
                                        <p:attrNameLst>
                                          <p:attrName>style.visibility</p:attrName>
                                        </p:attrNameLst>
                                      </p:cBhvr>
                                      <p:to>
                                        <p:strVal val="visible"/>
                                      </p:to>
                                    </p:set>
                                    <p:animEffect transition="in" filter="barn(inVertical)">
                                      <p:cBhvr>
                                        <p:cTn id="12" dur="500"/>
                                        <p:tgtEl>
                                          <p:spTgt spid="219139"/>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arn(inVertical)">
                                      <p:cBhvr>
                                        <p:cTn id="18" dur="500"/>
                                        <p:tgtEl>
                                          <p:spTgt spid="10"/>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inVertical)">
                                      <p:cBhvr>
                                        <p:cTn id="21" dur="500"/>
                                        <p:tgtEl>
                                          <p:spTgt spid="4"/>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arn(inVertical)">
                                      <p:cBhvr>
                                        <p:cTn id="24" dur="500"/>
                                        <p:tgtEl>
                                          <p:spTgt spid="8"/>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arn(inVertical)">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randombar(horizontal)">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1000"/>
                                        <p:tgtEl>
                                          <p:spTgt spid="13"/>
                                        </p:tgtEl>
                                      </p:cBhvr>
                                    </p:animEffect>
                                    <p:anim calcmode="lin" valueType="num">
                                      <p:cBhvr>
                                        <p:cTn id="41" dur="1000" fill="hold"/>
                                        <p:tgtEl>
                                          <p:spTgt spid="13"/>
                                        </p:tgtEl>
                                        <p:attrNameLst>
                                          <p:attrName>ppt_x</p:attrName>
                                        </p:attrNameLst>
                                      </p:cBhvr>
                                      <p:tavLst>
                                        <p:tav tm="0">
                                          <p:val>
                                            <p:strVal val="#ppt_x"/>
                                          </p:val>
                                        </p:tav>
                                        <p:tav tm="100000">
                                          <p:val>
                                            <p:strVal val="#ppt_x"/>
                                          </p:val>
                                        </p:tav>
                                      </p:tavLst>
                                    </p:anim>
                                    <p:anim calcmode="lin" valueType="num">
                                      <p:cBhvr>
                                        <p:cTn id="4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randombar(horizontal)">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1000"/>
                                        <p:tgtEl>
                                          <p:spTgt spid="3"/>
                                        </p:tgtEl>
                                      </p:cBhvr>
                                    </p:animEffect>
                                    <p:anim calcmode="lin" valueType="num">
                                      <p:cBhvr>
                                        <p:cTn id="53" dur="1000" fill="hold"/>
                                        <p:tgtEl>
                                          <p:spTgt spid="3"/>
                                        </p:tgtEl>
                                        <p:attrNameLst>
                                          <p:attrName>ppt_x</p:attrName>
                                        </p:attrNameLst>
                                      </p:cBhvr>
                                      <p:tavLst>
                                        <p:tav tm="0">
                                          <p:val>
                                            <p:strVal val="#ppt_x"/>
                                          </p:val>
                                        </p:tav>
                                        <p:tav tm="100000">
                                          <p:val>
                                            <p:strVal val="#ppt_x"/>
                                          </p:val>
                                        </p:tav>
                                      </p:tavLst>
                                    </p:anim>
                                    <p:anim calcmode="lin" valueType="num">
                                      <p:cBhvr>
                                        <p:cTn id="5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 grpId="0" animBg="1"/>
      <p:bldP spid="4" grpId="0" animBg="1"/>
      <p:bldP spid="6" grpId="0"/>
      <p:bldP spid="7" grpId="0"/>
      <p:bldP spid="8" grpId="0"/>
      <p:bldP spid="9" grpId="0"/>
      <p:bldP spid="10" grpId="0" animBg="1"/>
      <p:bldP spid="3"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FD701A9D-B437-4365-8EAE-39596CD5F811}"/>
              </a:ext>
            </a:extLst>
          </p:cNvPr>
          <p:cNvGrpSpPr/>
          <p:nvPr/>
        </p:nvGrpSpPr>
        <p:grpSpPr>
          <a:xfrm>
            <a:off x="467544" y="1412860"/>
            <a:ext cx="3969777" cy="514350"/>
            <a:chOff x="458213" y="1296677"/>
            <a:chExt cx="2893707"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58213" y="1296677"/>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市场类型的划分需要注意的几点</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59832" y="1353827"/>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3" name="矩形 2">
            <a:extLst>
              <a:ext uri="{FF2B5EF4-FFF2-40B4-BE49-F238E27FC236}">
                <a16:creationId xmlns:a16="http://schemas.microsoft.com/office/drawing/2014/main" id="{DC352424-0443-43CC-9DB7-D6B00F0C4B2E}"/>
              </a:ext>
            </a:extLst>
          </p:cNvPr>
          <p:cNvSpPr/>
          <p:nvPr/>
        </p:nvSpPr>
        <p:spPr>
          <a:xfrm>
            <a:off x="765109" y="1844890"/>
            <a:ext cx="8378891" cy="4821641"/>
          </a:xfrm>
          <a:prstGeom prst="rect">
            <a:avLst/>
          </a:prstGeom>
        </p:spPr>
        <p:txBody>
          <a:bodyPr wrap="square">
            <a:spAutoFit/>
          </a:bodyPr>
          <a:lstStyle/>
          <a:p>
            <a:pPr marL="285750" indent="-285750">
              <a:lnSpc>
                <a:spcPct val="2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市场结构本来是连续的，四种市场结构是“标杆”，还有很多企业介于两两之间，在具体操作时根据需要“归队”</a:t>
            </a:r>
          </a:p>
          <a:p>
            <a:pPr marL="285750" indent="-285750">
              <a:lnSpc>
                <a:spcPct val="2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四类市场又可分为竞争和不完全竞争</a:t>
            </a:r>
          </a:p>
          <a:p>
            <a:pPr marL="285750" indent="-285750">
              <a:lnSpc>
                <a:spcPct val="2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理论分析的一个重要关注点是，厂商是否能够决定或者影响价格，即是</a:t>
            </a:r>
            <a:r>
              <a:rPr lang="en-US" altLang="zh-CN" spc="150" dirty="0">
                <a:solidFill>
                  <a:srgbClr val="000000"/>
                </a:solidFill>
                <a:latin typeface="微软雅黑" panose="020B0503020204020204" pitchFamily="34" charset="-122"/>
                <a:ea typeface="微软雅黑" panose="020B0503020204020204" pitchFamily="34" charset="-122"/>
              </a:rPr>
              <a:t>price maker</a:t>
            </a:r>
            <a:r>
              <a:rPr lang="zh-CN" altLang="en-US" spc="150" dirty="0">
                <a:solidFill>
                  <a:srgbClr val="000000"/>
                </a:solidFill>
                <a:latin typeface="微软雅黑" panose="020B0503020204020204" pitchFamily="34" charset="-122"/>
                <a:ea typeface="微软雅黑" panose="020B0503020204020204" pitchFamily="34" charset="-122"/>
              </a:rPr>
              <a:t>还是</a:t>
            </a:r>
            <a:r>
              <a:rPr lang="en-US" altLang="zh-CN" spc="150" dirty="0">
                <a:solidFill>
                  <a:srgbClr val="000000"/>
                </a:solidFill>
                <a:latin typeface="微软雅黑" panose="020B0503020204020204" pitchFamily="34" charset="-122"/>
                <a:ea typeface="微软雅黑" panose="020B0503020204020204" pitchFamily="34" charset="-122"/>
              </a:rPr>
              <a:t>price taker</a:t>
            </a:r>
          </a:p>
          <a:p>
            <a:pPr marL="285750" indent="-285750">
              <a:lnSpc>
                <a:spcPct val="2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竞争企业是</a:t>
            </a:r>
            <a:r>
              <a:rPr lang="en-US" altLang="zh-CN" spc="150" dirty="0">
                <a:solidFill>
                  <a:srgbClr val="000000"/>
                </a:solidFill>
                <a:latin typeface="微软雅黑" panose="020B0503020204020204" pitchFamily="34" charset="-122"/>
                <a:ea typeface="微软雅黑" panose="020B0503020204020204" pitchFamily="34" charset="-122"/>
              </a:rPr>
              <a:t>price taker</a:t>
            </a:r>
            <a:r>
              <a:rPr lang="zh-CN" altLang="en-US" spc="150" dirty="0">
                <a:solidFill>
                  <a:srgbClr val="000000"/>
                </a:solidFill>
                <a:latin typeface="微软雅黑" panose="020B0503020204020204" pitchFamily="34" charset="-122"/>
                <a:ea typeface="微软雅黑" panose="020B0503020204020204" pitchFamily="34" charset="-122"/>
              </a:rPr>
              <a:t>，不完全竞争的三类企业都是</a:t>
            </a:r>
            <a:r>
              <a:rPr lang="en-US" altLang="zh-CN" spc="150" dirty="0">
                <a:solidFill>
                  <a:srgbClr val="000000"/>
                </a:solidFill>
                <a:latin typeface="微软雅黑" panose="020B0503020204020204" pitchFamily="34" charset="-122"/>
                <a:ea typeface="微软雅黑" panose="020B0503020204020204" pitchFamily="34" charset="-122"/>
              </a:rPr>
              <a:t>price maker</a:t>
            </a:r>
          </a:p>
          <a:p>
            <a:pPr marL="285750" indent="-285750">
              <a:lnSpc>
                <a:spcPct val="250000"/>
              </a:lnSpc>
              <a:buFont typeface="Wingdings" panose="05000000000000000000" pitchFamily="2" charset="2"/>
              <a:buChar char="Ø"/>
            </a:pP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2E327D59-C461-4EB2-88FD-5922C7F25897}"/>
              </a:ext>
            </a:extLst>
          </p:cNvPr>
          <p:cNvSpPr/>
          <p:nvPr/>
        </p:nvSpPr>
        <p:spPr>
          <a:xfrm>
            <a:off x="467544" y="548680"/>
            <a:ext cx="3781805"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二、市场结构及划分依据</a:t>
            </a:r>
          </a:p>
        </p:txBody>
      </p:sp>
    </p:spTree>
    <p:extLst>
      <p:ext uri="{BB962C8B-B14F-4D97-AF65-F5344CB8AC3E}">
        <p14:creationId xmlns:p14="http://schemas.microsoft.com/office/powerpoint/2010/main" val="222619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26CC98E5-B2B8-4C3B-B94F-E7BEACD62A0A}"/>
              </a:ext>
            </a:extLst>
          </p:cNvPr>
          <p:cNvGrpSpPr/>
          <p:nvPr/>
        </p:nvGrpSpPr>
        <p:grpSpPr>
          <a:xfrm>
            <a:off x="467544" y="1268759"/>
            <a:ext cx="8192278" cy="1592651"/>
            <a:chOff x="467544" y="1268760"/>
            <a:chExt cx="8192278" cy="1306490"/>
          </a:xfrm>
        </p:grpSpPr>
        <p:sp>
          <p:nvSpPr>
            <p:cNvPr id="23" name="矩形 22">
              <a:extLst>
                <a:ext uri="{FF2B5EF4-FFF2-40B4-BE49-F238E27FC236}">
                  <a16:creationId xmlns:a16="http://schemas.microsoft.com/office/drawing/2014/main" id="{92D01AA6-4D0E-4603-BAB9-D99E90DEC435}"/>
                </a:ext>
              </a:extLst>
            </p:cNvPr>
            <p:cNvSpPr/>
            <p:nvPr/>
          </p:nvSpPr>
          <p:spPr>
            <a:xfrm>
              <a:off x="467544" y="1268760"/>
              <a:ext cx="8192278" cy="13064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113FB8C-1FA4-44D4-BC31-6C2C4056C077}"/>
                </a:ext>
              </a:extLst>
            </p:cNvPr>
            <p:cNvSpPr/>
            <p:nvPr/>
          </p:nvSpPr>
          <p:spPr>
            <a:xfrm>
              <a:off x="538031" y="1342300"/>
              <a:ext cx="8051305" cy="115941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a:extLst>
              <a:ext uri="{FF2B5EF4-FFF2-40B4-BE49-F238E27FC236}">
                <a16:creationId xmlns:a16="http://schemas.microsoft.com/office/drawing/2014/main" id="{D230191B-D751-4BE7-8407-E83F26D8845E}"/>
              </a:ext>
            </a:extLst>
          </p:cNvPr>
          <p:cNvSpPr/>
          <p:nvPr/>
        </p:nvSpPr>
        <p:spPr>
          <a:xfrm>
            <a:off x="1181944" y="1920484"/>
            <a:ext cx="7128792" cy="369332"/>
          </a:xfrm>
          <a:prstGeom prst="rect">
            <a:avLst/>
          </a:prstGeom>
        </p:spPr>
        <p:txBody>
          <a:bodyPr wrap="square">
            <a:spAutoFit/>
          </a:bodyPr>
          <a:lstStyle/>
          <a:p>
            <a:pPr marL="285750" indent="-285750">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指经济利润或超额利润，利润</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收益</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成本</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F68E5273-CD77-47B9-B841-9D29349C133D}"/>
              </a:ext>
            </a:extLst>
          </p:cNvPr>
          <p:cNvSpPr/>
          <p:nvPr/>
        </p:nvSpPr>
        <p:spPr>
          <a:xfrm>
            <a:off x="467544" y="548680"/>
            <a:ext cx="410881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三、企业的利润最大化原则</a:t>
            </a:r>
          </a:p>
        </p:txBody>
      </p:sp>
      <p:sp>
        <p:nvSpPr>
          <p:cNvPr id="12" name="矩形 11">
            <a:extLst>
              <a:ext uri="{FF2B5EF4-FFF2-40B4-BE49-F238E27FC236}">
                <a16:creationId xmlns:a16="http://schemas.microsoft.com/office/drawing/2014/main" id="{49C733EB-F3D1-4EC8-8D19-B58AE2477326}"/>
              </a:ext>
            </a:extLst>
          </p:cNvPr>
          <p:cNvSpPr/>
          <p:nvPr/>
        </p:nvSpPr>
        <p:spPr>
          <a:xfrm>
            <a:off x="1181943" y="1520270"/>
            <a:ext cx="797877" cy="369332"/>
          </a:xfrm>
          <a:prstGeom prst="rect">
            <a:avLst/>
          </a:prstGeom>
        </p:spPr>
        <p:txBody>
          <a:bodyPr wrap="squar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利润</a:t>
            </a:r>
            <a:endParaRPr lang="en-US" altLang="zh-CN" spc="150" dirty="0">
              <a:solidFill>
                <a:srgbClr val="000000"/>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910856D5-C79D-4924-8E1B-F628F801C8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499" y="1456599"/>
            <a:ext cx="448444" cy="448444"/>
          </a:xfrm>
          <a:prstGeom prst="rect">
            <a:avLst/>
          </a:prstGeom>
          <a:effectLst>
            <a:innerShdw blurRad="114300">
              <a:prstClr val="black"/>
            </a:innerShdw>
          </a:effectLst>
        </p:spPr>
      </p:pic>
      <p:sp>
        <p:nvSpPr>
          <p:cNvPr id="20" name="矩形 19">
            <a:extLst>
              <a:ext uri="{FF2B5EF4-FFF2-40B4-BE49-F238E27FC236}">
                <a16:creationId xmlns:a16="http://schemas.microsoft.com/office/drawing/2014/main" id="{99A861F3-1BF5-4FA4-A7CE-A93F6E99B7C4}"/>
              </a:ext>
            </a:extLst>
          </p:cNvPr>
          <p:cNvSpPr/>
          <p:nvPr/>
        </p:nvSpPr>
        <p:spPr>
          <a:xfrm>
            <a:off x="4290189" y="0"/>
            <a:ext cx="4862228"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第一节  企业收益、市场结构和利润最大化</a:t>
            </a:r>
          </a:p>
          <a:p>
            <a:endParaRPr lang="zh-CN" altLang="en-US" spc="15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D230191B-D751-4BE7-8407-E83F26D8845E}"/>
                  </a:ext>
                </a:extLst>
              </p:cNvPr>
              <p:cNvSpPr/>
              <p:nvPr/>
            </p:nvSpPr>
            <p:spPr>
              <a:xfrm>
                <a:off x="3059895" y="2017745"/>
                <a:ext cx="7128792" cy="646331"/>
              </a:xfrm>
              <a:prstGeom prst="rect">
                <a:avLst/>
              </a:prstGeom>
            </p:spPr>
            <p:txBody>
              <a:bodyPr wrap="square">
                <a:spAutoFit/>
              </a:bodyPr>
              <a:lstStyle/>
              <a:p>
                <a:endParaRPr lang="en-US" altLang="zh-CN" spc="150" dirty="0">
                  <a:solidFill>
                    <a:srgbClr val="000000"/>
                  </a:solidFill>
                  <a:latin typeface="微软雅黑" panose="020B0503020204020204" pitchFamily="34" charset="-122"/>
                  <a:ea typeface="微软雅黑" panose="020B0503020204020204" pitchFamily="34" charset="-122"/>
                </a:endParaRPr>
              </a:p>
              <a:p>
                <a:r>
                  <a:rPr lang="zh-CN" altLang="en-US" spc="150" dirty="0">
                    <a:solidFill>
                      <a:srgbClr val="000000"/>
                    </a:solidFill>
                    <a:ea typeface="微软雅黑" panose="020B0503020204020204" pitchFamily="34" charset="-122"/>
                    <a:sym typeface="Symbol" panose="05050102010706020507" pitchFamily="18" charset="2"/>
                  </a:rPr>
                  <a:t>     </a:t>
                </a:r>
                <a14:m>
                  <m:oMath xmlns:m="http://schemas.openxmlformats.org/officeDocument/2006/math">
                    <m:r>
                      <a:rPr lang="zh-CN" altLang="en-US"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m:t>
                    </m:r>
                    <m:r>
                      <a:rPr lang="zh-CN" altLang="en-US" b="1"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𝑄</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m:t>
                    </m:r>
                    <m:r>
                      <a:rPr lang="en-US" altLang="zh-CN" b="0"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𝑇</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𝑅</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𝑄</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m:t>
                    </m:r>
                    <m:r>
                      <a:rPr lang="en-US" altLang="zh-CN" b="0"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𝑇</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𝐶</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𝑄</m:t>
                    </m:r>
                    <m:r>
                      <a:rPr lang="en-US" altLang="zh-CN" i="1" spc="150" dirty="0" smtClean="0">
                        <a:solidFill>
                          <a:srgbClr val="000000"/>
                        </a:solidFill>
                        <a:latin typeface="Cambria Math" panose="02040503050406030204" pitchFamily="18" charset="0"/>
                        <a:ea typeface="微软雅黑" panose="020B0503020204020204" pitchFamily="34" charset="-122"/>
                        <a:sym typeface="Symbol" panose="05050102010706020507" pitchFamily="18" charset="2"/>
                      </a:rPr>
                      <m:t>)</m:t>
                    </m:r>
                  </m:oMath>
                </a14:m>
                <a:endParaRPr lang="zh-CN" altLang="en-US"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15" name="矩形 14">
                <a:extLst>
                  <a:ext uri="{FF2B5EF4-FFF2-40B4-BE49-F238E27FC236}">
                    <a16:creationId xmlns:a16="http://schemas.microsoft.com/office/drawing/2014/main" id="{D230191B-D751-4BE7-8407-E83F26D8845E}"/>
                  </a:ext>
                </a:extLst>
              </p:cNvPr>
              <p:cNvSpPr>
                <a:spLocks noRot="1" noChangeAspect="1" noMove="1" noResize="1" noEditPoints="1" noAdjustHandles="1" noChangeArrowheads="1" noChangeShapeType="1" noTextEdit="1"/>
              </p:cNvSpPr>
              <p:nvPr/>
            </p:nvSpPr>
            <p:spPr>
              <a:xfrm>
                <a:off x="3059895" y="2017745"/>
                <a:ext cx="7128792" cy="646331"/>
              </a:xfrm>
              <a:prstGeom prst="rect">
                <a:avLst/>
              </a:prstGeom>
              <a:blipFill>
                <a:blip r:embed="rId4"/>
                <a:stretch>
                  <a:fillRect b="-7547"/>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DFA7F2C8-98F5-40D0-94C5-32316328066C}"/>
              </a:ext>
            </a:extLst>
          </p:cNvPr>
          <p:cNvSpPr/>
          <p:nvPr/>
        </p:nvSpPr>
        <p:spPr>
          <a:xfrm>
            <a:off x="754763" y="2846822"/>
            <a:ext cx="8136565" cy="458908"/>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利润最大化条件（一般原则）</a:t>
            </a:r>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DFA7F2C8-98F5-40D0-94C5-32316328066C}"/>
                  </a:ext>
                </a:extLst>
              </p:cNvPr>
              <p:cNvSpPr/>
              <p:nvPr/>
            </p:nvSpPr>
            <p:spPr>
              <a:xfrm>
                <a:off x="1181943" y="3323415"/>
                <a:ext cx="7254534" cy="1570110"/>
              </a:xfrm>
              <a:prstGeom prst="rect">
                <a:avLst/>
              </a:prstGeom>
            </p:spPr>
            <p:txBody>
              <a:bodyPr wrap="square">
                <a:spAutoFit/>
              </a:bodyPr>
              <a:lstStyle/>
              <a:p>
                <a:pPr marL="285750" indent="-285750">
                  <a:lnSpc>
                    <a:spcPct val="150000"/>
                  </a:lnSpc>
                  <a:spcBef>
                    <a:spcPct val="40000"/>
                  </a:spcBef>
                  <a:buFont typeface="Wingdings" panose="05000000000000000000" pitchFamily="2" charset="2"/>
                  <a:buChar char="Ø"/>
                </a:pPr>
                <a14:m>
                  <m:oMath xmlns:m="http://schemas.openxmlformats.org/officeDocument/2006/math">
                    <m:r>
                      <a:rPr lang="zh-CN" altLang="en-US" i="1" spc="150" dirty="0" smtClean="0">
                        <a:solidFill>
                          <a:srgbClr val="000000"/>
                        </a:solidFill>
                        <a:latin typeface="Cambria Math" panose="02040503050406030204" pitchFamily="18" charset="0"/>
                        <a:ea typeface="微软雅黑" panose="020B0503020204020204" pitchFamily="34" charset="-122"/>
                      </a:rPr>
                      <m:t>利润等于收益与成本之差</m:t>
                    </m:r>
                    <m:r>
                      <a:rPr lang="zh-CN" altLang="en-US" i="1" spc="150" dirty="0">
                        <a:solidFill>
                          <a:srgbClr val="000000"/>
                        </a:solidFill>
                        <a:latin typeface="Cambria Math" panose="02040503050406030204" pitchFamily="18" charset="0"/>
                        <a:ea typeface="微软雅黑" panose="020B0503020204020204" pitchFamily="34" charset="-122"/>
                      </a:rPr>
                      <m:t>，而收益和成本对产量的一阶</m:t>
                    </m:r>
                  </m:oMath>
                </a14:m>
                <a:endParaRPr lang="en-US" altLang="zh-CN" i="1" spc="150" dirty="0">
                  <a:solidFill>
                    <a:srgbClr val="000000"/>
                  </a:solidFill>
                  <a:latin typeface="Cambria Math" panose="02040503050406030204" pitchFamily="18" charset="0"/>
                  <a:ea typeface="微软雅黑" panose="020B0503020204020204" pitchFamily="34" charset="-122"/>
                </a:endParaRPr>
              </a:p>
              <a:p>
                <a:pPr>
                  <a:lnSpc>
                    <a:spcPct val="150000"/>
                  </a:lnSpc>
                  <a:spcBef>
                    <a:spcPct val="40000"/>
                  </a:spcBef>
                </a:pPr>
                <a:r>
                  <a:rPr lang="en-US" altLang="zh-CN" i="1" spc="150" dirty="0">
                    <a:solidFill>
                      <a:srgbClr val="000000"/>
                    </a:solidFill>
                    <a:latin typeface="Cambria Math" panose="02040503050406030204" pitchFamily="18" charset="0"/>
                    <a:ea typeface="微软雅黑" panose="020B0503020204020204" pitchFamily="34" charset="-122"/>
                  </a:rPr>
                  <a:t> </a:t>
                </a:r>
                <a14:m>
                  <m:oMath xmlns:m="http://schemas.openxmlformats.org/officeDocument/2006/math">
                    <m:r>
                      <a:rPr lang="en-US" altLang="zh-CN" b="0" i="1" spc="150" dirty="0" smtClean="0">
                        <a:solidFill>
                          <a:srgbClr val="000000"/>
                        </a:solidFill>
                        <a:latin typeface="Cambria Math" panose="02040503050406030204" pitchFamily="18" charset="0"/>
                        <a:ea typeface="微软雅黑" panose="020B0503020204020204" pitchFamily="34" charset="-122"/>
                      </a:rPr>
                      <m:t>   </m:t>
                    </m:r>
                    <m:r>
                      <a:rPr lang="zh-CN" altLang="en-US" i="1" spc="150" dirty="0">
                        <a:solidFill>
                          <a:srgbClr val="000000"/>
                        </a:solidFill>
                        <a:latin typeface="Cambria Math" panose="02040503050406030204" pitchFamily="18" charset="0"/>
                        <a:ea typeface="微软雅黑" panose="020B0503020204020204" pitchFamily="34" charset="-122"/>
                      </a:rPr>
                      <m:t>导数是边际收益和边际成本。函数取得最大值的必要</m:t>
                    </m:r>
                  </m:oMath>
                </a14:m>
                <a:endParaRPr lang="en-US" altLang="zh-CN" i="1" spc="150" dirty="0">
                  <a:solidFill>
                    <a:srgbClr val="000000"/>
                  </a:solidFill>
                  <a:latin typeface="Cambria Math" panose="02040503050406030204" pitchFamily="18" charset="0"/>
                  <a:ea typeface="微软雅黑" panose="020B0503020204020204" pitchFamily="34" charset="-122"/>
                </a:endParaRPr>
              </a:p>
              <a:p>
                <a:pPr>
                  <a:lnSpc>
                    <a:spcPct val="150000"/>
                  </a:lnSpc>
                  <a:spcBef>
                    <a:spcPct val="40000"/>
                  </a:spcBef>
                </a:pPr>
                <a:r>
                  <a:rPr lang="zh-CN" altLang="en-US" spc="150" dirty="0">
                    <a:solidFill>
                      <a:srgbClr val="000000"/>
                    </a:solidFill>
                    <a:ea typeface="微软雅黑" panose="020B0503020204020204" pitchFamily="34" charset="-122"/>
                  </a:rPr>
                  <a:t>    </a:t>
                </a:r>
                <a14:m>
                  <m:oMath xmlns:m="http://schemas.openxmlformats.org/officeDocument/2006/math">
                    <m:r>
                      <a:rPr lang="zh-CN" altLang="en-US" i="1" spc="150" dirty="0">
                        <a:solidFill>
                          <a:srgbClr val="000000"/>
                        </a:solidFill>
                        <a:latin typeface="Cambria Math" panose="02040503050406030204" pitchFamily="18" charset="0"/>
                        <a:ea typeface="微软雅黑" panose="020B0503020204020204" pitchFamily="34" charset="-122"/>
                      </a:rPr>
                      <m:t>条件是它的一阶导数等于零。</m:t>
                    </m:r>
                  </m:oMath>
                </a14:m>
                <a:endParaRPr sz="1600" dirty="0"/>
              </a:p>
            </p:txBody>
          </p:sp>
        </mc:Choice>
        <mc:Fallback xmlns="">
          <p:sp>
            <p:nvSpPr>
              <p:cNvPr id="21" name="矩形 20">
                <a:extLst>
                  <a:ext uri="{FF2B5EF4-FFF2-40B4-BE49-F238E27FC236}">
                    <a16:creationId xmlns:a16="http://schemas.microsoft.com/office/drawing/2014/main" id="{DFA7F2C8-98F5-40D0-94C5-32316328066C}"/>
                  </a:ext>
                </a:extLst>
              </p:cNvPr>
              <p:cNvSpPr>
                <a:spLocks noRot="1" noChangeAspect="1" noMove="1" noResize="1" noEditPoints="1" noAdjustHandles="1" noChangeArrowheads="1" noChangeShapeType="1" noTextEdit="1"/>
              </p:cNvSpPr>
              <p:nvPr/>
            </p:nvSpPr>
            <p:spPr>
              <a:xfrm>
                <a:off x="1181943" y="3323415"/>
                <a:ext cx="7254534" cy="1570110"/>
              </a:xfrm>
              <a:prstGeom prst="rect">
                <a:avLst/>
              </a:prstGeom>
              <a:blipFill>
                <a:blip r:embed="rId5"/>
                <a:stretch>
                  <a:fillRect l="-588"/>
                </a:stretch>
              </a:blipFill>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DFA7F2C8-98F5-40D0-94C5-32316328066C}"/>
              </a:ext>
            </a:extLst>
          </p:cNvPr>
          <p:cNvSpPr/>
          <p:nvPr/>
        </p:nvSpPr>
        <p:spPr>
          <a:xfrm>
            <a:off x="1248126" y="4939811"/>
            <a:ext cx="6822504" cy="458459"/>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en-US" altLang="zh-CN" dirty="0">
                <a:sym typeface="Wingdings" panose="05000000000000000000" pitchFamily="2" charset="2"/>
              </a:rPr>
              <a:t></a:t>
            </a:r>
            <a:r>
              <a:rPr lang="zh-CN" altLang="en-US" spc="150" dirty="0">
                <a:solidFill>
                  <a:srgbClr val="000000"/>
                </a:solidFill>
                <a:latin typeface="微软雅黑" panose="020B0503020204020204" pitchFamily="34" charset="-122"/>
                <a:ea typeface="微软雅黑" panose="020B0503020204020204" pitchFamily="34" charset="-122"/>
              </a:rPr>
              <a:t>利润最大化条件为：边际收益等于边际成本</a:t>
            </a:r>
          </a:p>
        </p:txBody>
      </p:sp>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DFA7F2C8-98F5-40D0-94C5-32316328066C}"/>
                  </a:ext>
                </a:extLst>
              </p:cNvPr>
              <p:cNvSpPr/>
              <p:nvPr/>
            </p:nvSpPr>
            <p:spPr>
              <a:xfrm>
                <a:off x="1335088" y="5499594"/>
                <a:ext cx="6822504" cy="507831"/>
              </a:xfrm>
              <a:prstGeom prst="rect">
                <a:avLst/>
              </a:prstGeom>
            </p:spPr>
            <p:txBody>
              <a:bodyPr wrap="square">
                <a:spAutoFit/>
              </a:bodyPr>
              <a:lstStyle/>
              <a:p>
                <a:pPr algn="ctr">
                  <a:lnSpc>
                    <a:spcPct val="150000"/>
                  </a:lnSpc>
                  <a:spcBef>
                    <a:spcPct val="40000"/>
                  </a:spcBef>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sym typeface="Wingdings" panose="05000000000000000000" pitchFamily="2" charset="2"/>
                        </a:rPr>
                        <m:t>𝑀𝑅</m:t>
                      </m:r>
                      <m:r>
                        <a:rPr lang="en-US" altLang="zh-CN" i="1" dirty="0" smtClean="0">
                          <a:latin typeface="Cambria Math" panose="02040503050406030204" pitchFamily="18" charset="0"/>
                          <a:sym typeface="Wingdings" panose="05000000000000000000" pitchFamily="2" charset="2"/>
                        </a:rPr>
                        <m:t>(</m:t>
                      </m:r>
                      <m:r>
                        <a:rPr lang="en-US" altLang="zh-CN" i="1" dirty="0" smtClean="0">
                          <a:latin typeface="Cambria Math" panose="02040503050406030204" pitchFamily="18" charset="0"/>
                          <a:sym typeface="Wingdings" panose="05000000000000000000" pitchFamily="2" charset="2"/>
                        </a:rPr>
                        <m:t>𝑄</m:t>
                      </m:r>
                      <m:r>
                        <a:rPr lang="en-US" altLang="zh-CN" i="1" dirty="0" smtClean="0">
                          <a:latin typeface="Cambria Math" panose="02040503050406030204" pitchFamily="18" charset="0"/>
                          <a:sym typeface="Wingdings" panose="05000000000000000000" pitchFamily="2" charset="2"/>
                        </a:rPr>
                        <m:t>)=</m:t>
                      </m:r>
                      <m:r>
                        <a:rPr lang="en-US" altLang="zh-CN" i="1" dirty="0" smtClean="0">
                          <a:latin typeface="Cambria Math" panose="02040503050406030204" pitchFamily="18" charset="0"/>
                          <a:sym typeface="Wingdings" panose="05000000000000000000" pitchFamily="2" charset="2"/>
                        </a:rPr>
                        <m:t>𝑀𝐶</m:t>
                      </m:r>
                      <m:r>
                        <a:rPr lang="en-US" altLang="zh-CN" i="1" dirty="0" smtClean="0">
                          <a:latin typeface="Cambria Math" panose="02040503050406030204" pitchFamily="18" charset="0"/>
                          <a:sym typeface="Wingdings" panose="05000000000000000000" pitchFamily="2" charset="2"/>
                        </a:rPr>
                        <m:t>(</m:t>
                      </m:r>
                      <m:r>
                        <a:rPr lang="en-US" altLang="zh-CN" i="1" dirty="0" smtClean="0">
                          <a:latin typeface="Cambria Math" panose="02040503050406030204" pitchFamily="18" charset="0"/>
                          <a:sym typeface="Wingdings" panose="05000000000000000000" pitchFamily="2" charset="2"/>
                        </a:rPr>
                        <m:t>𝑄</m:t>
                      </m:r>
                      <m:r>
                        <a:rPr lang="en-US" altLang="zh-CN" i="1" dirty="0" smtClean="0">
                          <a:latin typeface="Cambria Math" panose="02040503050406030204" pitchFamily="18" charset="0"/>
                          <a:sym typeface="Wingdings" panose="05000000000000000000" pitchFamily="2" charset="2"/>
                        </a:rPr>
                        <m:t>)</m:t>
                      </m:r>
                    </m:oMath>
                  </m:oMathPara>
                </a14:m>
                <a:endParaRPr lang="zh-CN" altLang="en-US"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26" name="矩形 25">
                <a:extLst>
                  <a:ext uri="{FF2B5EF4-FFF2-40B4-BE49-F238E27FC236}">
                    <a16:creationId xmlns:a16="http://schemas.microsoft.com/office/drawing/2014/main" id="{DFA7F2C8-98F5-40D0-94C5-32316328066C}"/>
                  </a:ext>
                </a:extLst>
              </p:cNvPr>
              <p:cNvSpPr>
                <a:spLocks noRot="1" noChangeAspect="1" noMove="1" noResize="1" noEditPoints="1" noAdjustHandles="1" noChangeArrowheads="1" noChangeShapeType="1" noTextEdit="1"/>
              </p:cNvSpPr>
              <p:nvPr/>
            </p:nvSpPr>
            <p:spPr>
              <a:xfrm>
                <a:off x="1335088" y="5499594"/>
                <a:ext cx="6822504" cy="507831"/>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7745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randombar(horizontal)">
                                      <p:cBhvr>
                                        <p:cTn id="12" dur="500"/>
                                        <p:tgtEl>
                                          <p:spTgt spid="25"/>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animEffect transition="in" filter="fade">
                                      <p:cBhvr>
                                        <p:cTn id="18" dur="500"/>
                                        <p:tgtEl>
                                          <p:spTgt spid="1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left)">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left)">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left)">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left)">
                                      <p:cBhvr>
                                        <p:cTn id="5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P spid="15" grpId="0"/>
      <p:bldP spid="19" grpId="0"/>
      <p:bldP spid="21" grpId="0"/>
      <p:bldP spid="24" grpId="0"/>
      <p:bldP spid="2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5">
            <a:extLst>
              <a:ext uri="{FF2B5EF4-FFF2-40B4-BE49-F238E27FC236}">
                <a16:creationId xmlns:a16="http://schemas.microsoft.com/office/drawing/2014/main" id="{BD68FBFB-6B9D-4DF8-AAFB-84A5391181EA}"/>
              </a:ext>
            </a:extLst>
          </p:cNvPr>
          <p:cNvSpPr>
            <a:spLocks noChangeShapeType="1"/>
          </p:cNvSpPr>
          <p:nvPr/>
        </p:nvSpPr>
        <p:spPr bwMode="auto">
          <a:xfrm>
            <a:off x="1982788" y="981075"/>
            <a:ext cx="0" cy="4011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 name="Line 6">
            <a:extLst>
              <a:ext uri="{FF2B5EF4-FFF2-40B4-BE49-F238E27FC236}">
                <a16:creationId xmlns:a16="http://schemas.microsoft.com/office/drawing/2014/main" id="{2F82A7C0-4804-4A3D-9FFD-AED9FE1E2B1A}"/>
              </a:ext>
            </a:extLst>
          </p:cNvPr>
          <p:cNvSpPr>
            <a:spLocks noChangeShapeType="1"/>
          </p:cNvSpPr>
          <p:nvPr/>
        </p:nvSpPr>
        <p:spPr bwMode="auto">
          <a:xfrm>
            <a:off x="1997075" y="4978400"/>
            <a:ext cx="55356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Rectangle 7">
            <a:extLst>
              <a:ext uri="{FF2B5EF4-FFF2-40B4-BE49-F238E27FC236}">
                <a16:creationId xmlns:a16="http://schemas.microsoft.com/office/drawing/2014/main" id="{E26EBF45-911C-4E69-A916-38F3F851FA3F}"/>
              </a:ext>
            </a:extLst>
          </p:cNvPr>
          <p:cNvSpPr>
            <a:spLocks noChangeArrowheads="1"/>
          </p:cNvSpPr>
          <p:nvPr/>
        </p:nvSpPr>
        <p:spPr bwMode="auto">
          <a:xfrm>
            <a:off x="1714500" y="4929188"/>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O</a:t>
            </a:r>
            <a:endParaRPr lang="zh-CN" altLang="en-US" sz="2000">
              <a:latin typeface="Times New Roman" panose="02020603050405020304" pitchFamily="18" charset="0"/>
              <a:ea typeface="宋体" panose="02010600030101010101" pitchFamily="2" charset="-122"/>
            </a:endParaRPr>
          </a:p>
        </p:txBody>
      </p:sp>
      <p:sp>
        <p:nvSpPr>
          <p:cNvPr id="7" name="Rectangle 8">
            <a:extLst>
              <a:ext uri="{FF2B5EF4-FFF2-40B4-BE49-F238E27FC236}">
                <a16:creationId xmlns:a16="http://schemas.microsoft.com/office/drawing/2014/main" id="{6CC37AFD-0535-4F58-82FB-B61E507FE882}"/>
              </a:ext>
            </a:extLst>
          </p:cNvPr>
          <p:cNvSpPr>
            <a:spLocks noChangeArrowheads="1"/>
          </p:cNvSpPr>
          <p:nvPr/>
        </p:nvSpPr>
        <p:spPr bwMode="auto">
          <a:xfrm>
            <a:off x="1273175" y="1544638"/>
            <a:ext cx="5937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r" eaLnBrk="1" hangingPunct="1">
              <a:spcBef>
                <a:spcPct val="0"/>
              </a:spcBef>
              <a:buClrTx/>
              <a:buFontTx/>
              <a:buNone/>
            </a:pPr>
            <a:r>
              <a:rPr lang="zh-CN" altLang="en-US" sz="1600"/>
              <a:t>成本</a:t>
            </a:r>
          </a:p>
          <a:p>
            <a:pPr algn="r" eaLnBrk="1" hangingPunct="1">
              <a:spcBef>
                <a:spcPct val="0"/>
              </a:spcBef>
              <a:buClrTx/>
              <a:buFontTx/>
              <a:buNone/>
            </a:pPr>
            <a:r>
              <a:rPr lang="zh-CN" altLang="en-US" sz="1600"/>
              <a:t>收入</a:t>
            </a:r>
          </a:p>
          <a:p>
            <a:pPr algn="r" eaLnBrk="1" hangingPunct="1">
              <a:spcBef>
                <a:spcPct val="0"/>
              </a:spcBef>
              <a:buClrTx/>
              <a:buFontTx/>
              <a:buNone/>
            </a:pPr>
            <a:r>
              <a:rPr lang="zh-CN" altLang="en-US" sz="1600"/>
              <a:t>利润</a:t>
            </a:r>
          </a:p>
        </p:txBody>
      </p:sp>
      <p:sp>
        <p:nvSpPr>
          <p:cNvPr id="8" name="Rectangle 9">
            <a:extLst>
              <a:ext uri="{FF2B5EF4-FFF2-40B4-BE49-F238E27FC236}">
                <a16:creationId xmlns:a16="http://schemas.microsoft.com/office/drawing/2014/main" id="{47CCD089-1141-4E14-8CE9-C2252B4D0037}"/>
              </a:ext>
            </a:extLst>
          </p:cNvPr>
          <p:cNvSpPr>
            <a:spLocks noChangeArrowheads="1"/>
          </p:cNvSpPr>
          <p:nvPr/>
        </p:nvSpPr>
        <p:spPr bwMode="auto">
          <a:xfrm>
            <a:off x="7200900" y="5000625"/>
            <a:ext cx="6635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t>产量 </a:t>
            </a:r>
          </a:p>
        </p:txBody>
      </p:sp>
      <p:sp>
        <p:nvSpPr>
          <p:cNvPr id="9" name="Freeform 10">
            <a:extLst>
              <a:ext uri="{FF2B5EF4-FFF2-40B4-BE49-F238E27FC236}">
                <a16:creationId xmlns:a16="http://schemas.microsoft.com/office/drawing/2014/main" id="{95470DC5-9B54-42A3-972B-A6B1D2CAA29C}"/>
              </a:ext>
            </a:extLst>
          </p:cNvPr>
          <p:cNvSpPr>
            <a:spLocks/>
          </p:cNvSpPr>
          <p:nvPr/>
        </p:nvSpPr>
        <p:spPr bwMode="auto">
          <a:xfrm>
            <a:off x="1997075" y="2041525"/>
            <a:ext cx="4573588" cy="2927350"/>
          </a:xfrm>
          <a:custGeom>
            <a:avLst/>
            <a:gdLst>
              <a:gd name="T0" fmla="*/ 0 w 2881"/>
              <a:gd name="T1" fmla="*/ 2147483646 h 1844"/>
              <a:gd name="T2" fmla="*/ 2147483646 w 2881"/>
              <a:gd name="T3" fmla="*/ 2147483646 h 1844"/>
              <a:gd name="T4" fmla="*/ 2147483646 w 2881"/>
              <a:gd name="T5" fmla="*/ 2147483646 h 1844"/>
              <a:gd name="T6" fmla="*/ 2147483646 w 2881"/>
              <a:gd name="T7" fmla="*/ 2147483646 h 1844"/>
              <a:gd name="T8" fmla="*/ 2147483646 w 2881"/>
              <a:gd name="T9" fmla="*/ 2147483646 h 1844"/>
              <a:gd name="T10" fmla="*/ 2147483646 w 2881"/>
              <a:gd name="T11" fmla="*/ 2147483646 h 1844"/>
              <a:gd name="T12" fmla="*/ 2147483646 w 2881"/>
              <a:gd name="T13" fmla="*/ 2147483646 h 1844"/>
              <a:gd name="T14" fmla="*/ 2147483646 w 2881"/>
              <a:gd name="T15" fmla="*/ 2147483646 h 1844"/>
              <a:gd name="T16" fmla="*/ 2147483646 w 2881"/>
              <a:gd name="T17" fmla="*/ 2147483646 h 1844"/>
              <a:gd name="T18" fmla="*/ 2147483646 w 2881"/>
              <a:gd name="T19" fmla="*/ 2147483646 h 1844"/>
              <a:gd name="T20" fmla="*/ 2147483646 w 2881"/>
              <a:gd name="T21" fmla="*/ 2147483646 h 1844"/>
              <a:gd name="T22" fmla="*/ 2147483646 w 2881"/>
              <a:gd name="T23" fmla="*/ 2147483646 h 1844"/>
              <a:gd name="T24" fmla="*/ 2147483646 w 2881"/>
              <a:gd name="T25" fmla="*/ 2147483646 h 1844"/>
              <a:gd name="T26" fmla="*/ 2147483646 w 2881"/>
              <a:gd name="T27" fmla="*/ 2147483646 h 1844"/>
              <a:gd name="T28" fmla="*/ 2147483646 w 2881"/>
              <a:gd name="T29" fmla="*/ 2147483646 h 1844"/>
              <a:gd name="T30" fmla="*/ 2147483646 w 2881"/>
              <a:gd name="T31" fmla="*/ 2147483646 h 1844"/>
              <a:gd name="T32" fmla="*/ 2147483646 w 2881"/>
              <a:gd name="T33" fmla="*/ 2147483646 h 1844"/>
              <a:gd name="T34" fmla="*/ 2147483646 w 2881"/>
              <a:gd name="T35" fmla="*/ 2147483646 h 1844"/>
              <a:gd name="T36" fmla="*/ 2147483646 w 2881"/>
              <a:gd name="T37" fmla="*/ 2147483646 h 1844"/>
              <a:gd name="T38" fmla="*/ 2147483646 w 2881"/>
              <a:gd name="T39" fmla="*/ 2147483646 h 1844"/>
              <a:gd name="T40" fmla="*/ 2147483646 w 2881"/>
              <a:gd name="T41" fmla="*/ 2147483646 h 1844"/>
              <a:gd name="T42" fmla="*/ 2147483646 w 2881"/>
              <a:gd name="T43" fmla="*/ 2147483646 h 1844"/>
              <a:gd name="T44" fmla="*/ 2147483646 w 2881"/>
              <a:gd name="T45" fmla="*/ 0 h 1844"/>
              <a:gd name="T46" fmla="*/ 2147483646 w 2881"/>
              <a:gd name="T47" fmla="*/ 0 h 1844"/>
              <a:gd name="T48" fmla="*/ 2147483646 w 2881"/>
              <a:gd name="T49" fmla="*/ 2147483646 h 1844"/>
              <a:gd name="T50" fmla="*/ 2147483646 w 2881"/>
              <a:gd name="T51" fmla="*/ 2147483646 h 184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881"/>
              <a:gd name="T79" fmla="*/ 0 h 1844"/>
              <a:gd name="T80" fmla="*/ 2881 w 2881"/>
              <a:gd name="T81" fmla="*/ 1844 h 184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881" h="1844">
                <a:moveTo>
                  <a:pt x="0" y="1843"/>
                </a:moveTo>
                <a:lnTo>
                  <a:pt x="224" y="1550"/>
                </a:lnTo>
                <a:lnTo>
                  <a:pt x="342" y="1405"/>
                </a:lnTo>
                <a:lnTo>
                  <a:pt x="454" y="1272"/>
                </a:lnTo>
                <a:lnTo>
                  <a:pt x="566" y="1138"/>
                </a:lnTo>
                <a:lnTo>
                  <a:pt x="685" y="1009"/>
                </a:lnTo>
                <a:lnTo>
                  <a:pt x="797" y="896"/>
                </a:lnTo>
                <a:lnTo>
                  <a:pt x="909" y="788"/>
                </a:lnTo>
                <a:lnTo>
                  <a:pt x="1028" y="690"/>
                </a:lnTo>
                <a:lnTo>
                  <a:pt x="1146" y="603"/>
                </a:lnTo>
                <a:lnTo>
                  <a:pt x="1265" y="520"/>
                </a:lnTo>
                <a:lnTo>
                  <a:pt x="1384" y="448"/>
                </a:lnTo>
                <a:lnTo>
                  <a:pt x="1496" y="376"/>
                </a:lnTo>
                <a:lnTo>
                  <a:pt x="1615" y="319"/>
                </a:lnTo>
                <a:lnTo>
                  <a:pt x="1720" y="263"/>
                </a:lnTo>
                <a:lnTo>
                  <a:pt x="1824" y="211"/>
                </a:lnTo>
                <a:lnTo>
                  <a:pt x="1922" y="170"/>
                </a:lnTo>
                <a:lnTo>
                  <a:pt x="2020" y="134"/>
                </a:lnTo>
                <a:lnTo>
                  <a:pt x="2111" y="103"/>
                </a:lnTo>
                <a:lnTo>
                  <a:pt x="2195" y="78"/>
                </a:lnTo>
                <a:lnTo>
                  <a:pt x="2356" y="41"/>
                </a:lnTo>
                <a:lnTo>
                  <a:pt x="2496" y="16"/>
                </a:lnTo>
                <a:lnTo>
                  <a:pt x="2614" y="0"/>
                </a:lnTo>
                <a:lnTo>
                  <a:pt x="2712" y="0"/>
                </a:lnTo>
                <a:lnTo>
                  <a:pt x="2803" y="5"/>
                </a:lnTo>
                <a:lnTo>
                  <a:pt x="2880" y="16"/>
                </a:lnTo>
              </a:path>
            </a:pathLst>
          </a:custGeom>
          <a:noFill/>
          <a:ln w="50800" cap="rnd">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 name="Rectangle 11">
            <a:extLst>
              <a:ext uri="{FF2B5EF4-FFF2-40B4-BE49-F238E27FC236}">
                <a16:creationId xmlns:a16="http://schemas.microsoft.com/office/drawing/2014/main" id="{51866F27-1E57-4FCB-A29F-1AB7A2B74588}"/>
              </a:ext>
            </a:extLst>
          </p:cNvPr>
          <p:cNvSpPr>
            <a:spLocks noChangeArrowheads="1"/>
          </p:cNvSpPr>
          <p:nvPr/>
        </p:nvSpPr>
        <p:spPr bwMode="auto">
          <a:xfrm>
            <a:off x="6564313" y="1760538"/>
            <a:ext cx="823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a:t>TR(Q)</a:t>
            </a:r>
          </a:p>
        </p:txBody>
      </p:sp>
      <p:sp>
        <p:nvSpPr>
          <p:cNvPr id="11" name="Text Box 12">
            <a:extLst>
              <a:ext uri="{FF2B5EF4-FFF2-40B4-BE49-F238E27FC236}">
                <a16:creationId xmlns:a16="http://schemas.microsoft.com/office/drawing/2014/main" id="{8BEBF75C-BD06-472C-AC6F-BB60B8B9E50D}"/>
              </a:ext>
            </a:extLst>
          </p:cNvPr>
          <p:cNvSpPr txBox="1">
            <a:spLocks noChangeArrowheads="1"/>
          </p:cNvSpPr>
          <p:nvPr/>
        </p:nvSpPr>
        <p:spPr bwMode="auto">
          <a:xfrm>
            <a:off x="6008688" y="1295400"/>
            <a:ext cx="13382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t>总收入曲线</a:t>
            </a:r>
          </a:p>
        </p:txBody>
      </p:sp>
      <p:sp>
        <p:nvSpPr>
          <p:cNvPr id="12" name="Text Box 13">
            <a:extLst>
              <a:ext uri="{FF2B5EF4-FFF2-40B4-BE49-F238E27FC236}">
                <a16:creationId xmlns:a16="http://schemas.microsoft.com/office/drawing/2014/main" id="{8F0C8DFF-76BF-425E-B510-894049FB0CE3}"/>
              </a:ext>
            </a:extLst>
          </p:cNvPr>
          <p:cNvSpPr txBox="1">
            <a:spLocks noChangeArrowheads="1"/>
          </p:cNvSpPr>
          <p:nvPr/>
        </p:nvSpPr>
        <p:spPr bwMode="auto">
          <a:xfrm>
            <a:off x="4718050" y="3363913"/>
            <a:ext cx="2095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a:t>TR(Q)</a:t>
            </a:r>
            <a:r>
              <a:rPr lang="zh-CN" altLang="en-US" sz="1800"/>
              <a:t>的斜率 = </a:t>
            </a:r>
            <a:r>
              <a:rPr lang="en-US" altLang="zh-CN" sz="1800"/>
              <a:t>MR</a:t>
            </a:r>
          </a:p>
        </p:txBody>
      </p:sp>
      <p:sp>
        <p:nvSpPr>
          <p:cNvPr id="2" name="标注: 线形 1">
            <a:extLst>
              <a:ext uri="{FF2B5EF4-FFF2-40B4-BE49-F238E27FC236}">
                <a16:creationId xmlns:a16="http://schemas.microsoft.com/office/drawing/2014/main" id="{C7562D92-D7A5-452F-8453-9FA7198C18D9}"/>
              </a:ext>
            </a:extLst>
          </p:cNvPr>
          <p:cNvSpPr/>
          <p:nvPr/>
        </p:nvSpPr>
        <p:spPr bwMode="auto">
          <a:xfrm>
            <a:off x="7346949" y="476795"/>
            <a:ext cx="1338263" cy="470941"/>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总量分析法</a:t>
            </a:r>
          </a:p>
        </p:txBody>
      </p:sp>
    </p:spTree>
    <p:extLst>
      <p:ext uri="{BB962C8B-B14F-4D97-AF65-F5344CB8AC3E}">
        <p14:creationId xmlns:p14="http://schemas.microsoft.com/office/powerpoint/2010/main" val="1650381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5">
            <a:extLst>
              <a:ext uri="{FF2B5EF4-FFF2-40B4-BE49-F238E27FC236}">
                <a16:creationId xmlns:a16="http://schemas.microsoft.com/office/drawing/2014/main" id="{B4A68BBB-DBB3-4C5D-9CDF-F38432FF88FB}"/>
              </a:ext>
            </a:extLst>
          </p:cNvPr>
          <p:cNvSpPr>
            <a:spLocks noChangeShapeType="1"/>
          </p:cNvSpPr>
          <p:nvPr/>
        </p:nvSpPr>
        <p:spPr bwMode="auto">
          <a:xfrm>
            <a:off x="2130425" y="969963"/>
            <a:ext cx="0" cy="4011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 name="Line 6">
            <a:extLst>
              <a:ext uri="{FF2B5EF4-FFF2-40B4-BE49-F238E27FC236}">
                <a16:creationId xmlns:a16="http://schemas.microsoft.com/office/drawing/2014/main" id="{80EC9A40-A5B7-4639-BCC3-F2EDE382412C}"/>
              </a:ext>
            </a:extLst>
          </p:cNvPr>
          <p:cNvSpPr>
            <a:spLocks noChangeShapeType="1"/>
          </p:cNvSpPr>
          <p:nvPr/>
        </p:nvSpPr>
        <p:spPr bwMode="auto">
          <a:xfrm>
            <a:off x="2144713" y="4968875"/>
            <a:ext cx="55356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Rectangle 7">
            <a:extLst>
              <a:ext uri="{FF2B5EF4-FFF2-40B4-BE49-F238E27FC236}">
                <a16:creationId xmlns:a16="http://schemas.microsoft.com/office/drawing/2014/main" id="{C6D9F2C3-F4D4-49B1-983A-34011A75E4FC}"/>
              </a:ext>
            </a:extLst>
          </p:cNvPr>
          <p:cNvSpPr>
            <a:spLocks noChangeArrowheads="1"/>
          </p:cNvSpPr>
          <p:nvPr/>
        </p:nvSpPr>
        <p:spPr bwMode="auto">
          <a:xfrm>
            <a:off x="1928813" y="5005388"/>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O</a:t>
            </a:r>
            <a:endParaRPr lang="zh-CN" altLang="en-US" sz="2000">
              <a:latin typeface="Times New Roman" panose="02020603050405020304" pitchFamily="18" charset="0"/>
              <a:ea typeface="宋体" panose="02010600030101010101" pitchFamily="2" charset="-122"/>
            </a:endParaRPr>
          </a:p>
        </p:txBody>
      </p:sp>
      <p:sp>
        <p:nvSpPr>
          <p:cNvPr id="7" name="Rectangle 8">
            <a:extLst>
              <a:ext uri="{FF2B5EF4-FFF2-40B4-BE49-F238E27FC236}">
                <a16:creationId xmlns:a16="http://schemas.microsoft.com/office/drawing/2014/main" id="{030515AA-0013-40DE-9B32-940069431B2E}"/>
              </a:ext>
            </a:extLst>
          </p:cNvPr>
          <p:cNvSpPr>
            <a:spLocks noChangeArrowheads="1"/>
          </p:cNvSpPr>
          <p:nvPr/>
        </p:nvSpPr>
        <p:spPr bwMode="auto">
          <a:xfrm>
            <a:off x="1420813" y="1143000"/>
            <a:ext cx="5937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r" eaLnBrk="1" hangingPunct="1">
              <a:spcBef>
                <a:spcPct val="0"/>
              </a:spcBef>
              <a:buClrTx/>
              <a:buFontTx/>
              <a:buNone/>
            </a:pPr>
            <a:r>
              <a:rPr lang="zh-CN" altLang="en-US" sz="1600"/>
              <a:t>成本</a:t>
            </a:r>
          </a:p>
          <a:p>
            <a:pPr algn="r" eaLnBrk="1" hangingPunct="1">
              <a:spcBef>
                <a:spcPct val="0"/>
              </a:spcBef>
              <a:buClrTx/>
              <a:buFontTx/>
              <a:buNone/>
            </a:pPr>
            <a:r>
              <a:rPr lang="zh-CN" altLang="en-US" sz="1600"/>
              <a:t>收入</a:t>
            </a:r>
          </a:p>
          <a:p>
            <a:pPr algn="r" eaLnBrk="1" hangingPunct="1">
              <a:spcBef>
                <a:spcPct val="0"/>
              </a:spcBef>
              <a:buClrTx/>
              <a:buFontTx/>
              <a:buNone/>
            </a:pPr>
            <a:r>
              <a:rPr lang="zh-CN" altLang="en-US" sz="1600"/>
              <a:t>利润</a:t>
            </a:r>
          </a:p>
        </p:txBody>
      </p:sp>
      <p:sp>
        <p:nvSpPr>
          <p:cNvPr id="8" name="Rectangle 9">
            <a:extLst>
              <a:ext uri="{FF2B5EF4-FFF2-40B4-BE49-F238E27FC236}">
                <a16:creationId xmlns:a16="http://schemas.microsoft.com/office/drawing/2014/main" id="{25E0CB67-706E-4217-94DF-A1CD73AB8108}"/>
              </a:ext>
            </a:extLst>
          </p:cNvPr>
          <p:cNvSpPr>
            <a:spLocks noChangeArrowheads="1"/>
          </p:cNvSpPr>
          <p:nvPr/>
        </p:nvSpPr>
        <p:spPr bwMode="auto">
          <a:xfrm>
            <a:off x="7281863" y="5068888"/>
            <a:ext cx="5905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t>产量</a:t>
            </a:r>
          </a:p>
        </p:txBody>
      </p:sp>
      <p:sp>
        <p:nvSpPr>
          <p:cNvPr id="9" name="Freeform 12">
            <a:extLst>
              <a:ext uri="{FF2B5EF4-FFF2-40B4-BE49-F238E27FC236}">
                <a16:creationId xmlns:a16="http://schemas.microsoft.com/office/drawing/2014/main" id="{35BB1F91-9A59-491E-95DC-33494637C90D}"/>
              </a:ext>
            </a:extLst>
          </p:cNvPr>
          <p:cNvSpPr>
            <a:spLocks/>
          </p:cNvSpPr>
          <p:nvPr/>
        </p:nvSpPr>
        <p:spPr bwMode="auto">
          <a:xfrm>
            <a:off x="2133600" y="1616075"/>
            <a:ext cx="4419600" cy="2593975"/>
          </a:xfrm>
          <a:custGeom>
            <a:avLst/>
            <a:gdLst>
              <a:gd name="T0" fmla="*/ 0 w 2784"/>
              <a:gd name="T1" fmla="*/ 2147483646 h 1634"/>
              <a:gd name="T2" fmla="*/ 2147483646 w 2784"/>
              <a:gd name="T3" fmla="*/ 2147483646 h 1634"/>
              <a:gd name="T4" fmla="*/ 2147483646 w 2784"/>
              <a:gd name="T5" fmla="*/ 2147483646 h 1634"/>
              <a:gd name="T6" fmla="*/ 2147483646 w 2784"/>
              <a:gd name="T7" fmla="*/ 2147483646 h 1634"/>
              <a:gd name="T8" fmla="*/ 2147483646 w 2784"/>
              <a:gd name="T9" fmla="*/ 2147483646 h 1634"/>
              <a:gd name="T10" fmla="*/ 2147483646 w 2784"/>
              <a:gd name="T11" fmla="*/ 2147483646 h 1634"/>
              <a:gd name="T12" fmla="*/ 2147483646 w 2784"/>
              <a:gd name="T13" fmla="*/ 2147483646 h 1634"/>
              <a:gd name="T14" fmla="*/ 2147483646 w 2784"/>
              <a:gd name="T15" fmla="*/ 2147483646 h 1634"/>
              <a:gd name="T16" fmla="*/ 2147483646 w 2784"/>
              <a:gd name="T17" fmla="*/ 2147483646 h 1634"/>
              <a:gd name="T18" fmla="*/ 2147483646 w 2784"/>
              <a:gd name="T19" fmla="*/ 2147483646 h 1634"/>
              <a:gd name="T20" fmla="*/ 2147483646 w 2784"/>
              <a:gd name="T21" fmla="*/ 2147483646 h 1634"/>
              <a:gd name="T22" fmla="*/ 2147483646 w 2784"/>
              <a:gd name="T23" fmla="*/ 2147483646 h 1634"/>
              <a:gd name="T24" fmla="*/ 2147483646 w 2784"/>
              <a:gd name="T25" fmla="*/ 2147483646 h 1634"/>
              <a:gd name="T26" fmla="*/ 2147483646 w 2784"/>
              <a:gd name="T27" fmla="*/ 2147483646 h 1634"/>
              <a:gd name="T28" fmla="*/ 2147483646 w 2784"/>
              <a:gd name="T29" fmla="*/ 2147483646 h 1634"/>
              <a:gd name="T30" fmla="*/ 2147483646 w 2784"/>
              <a:gd name="T31" fmla="*/ 2147483646 h 1634"/>
              <a:gd name="T32" fmla="*/ 2147483646 w 2784"/>
              <a:gd name="T33" fmla="*/ 2147483646 h 1634"/>
              <a:gd name="T34" fmla="*/ 2147483646 w 2784"/>
              <a:gd name="T35" fmla="*/ 2147483646 h 1634"/>
              <a:gd name="T36" fmla="*/ 2147483646 w 2784"/>
              <a:gd name="T37" fmla="*/ 2147483646 h 1634"/>
              <a:gd name="T38" fmla="*/ 2147483646 w 2784"/>
              <a:gd name="T39" fmla="*/ 2147483646 h 1634"/>
              <a:gd name="T40" fmla="*/ 2147483646 w 2784"/>
              <a:gd name="T41" fmla="*/ 2147483646 h 1634"/>
              <a:gd name="T42" fmla="*/ 2147483646 w 2784"/>
              <a:gd name="T43" fmla="*/ 2147483646 h 1634"/>
              <a:gd name="T44" fmla="*/ 2147483646 w 2784"/>
              <a:gd name="T45" fmla="*/ 2147483646 h 1634"/>
              <a:gd name="T46" fmla="*/ 2147483646 w 2784"/>
              <a:gd name="T47" fmla="*/ 2147483646 h 1634"/>
              <a:gd name="T48" fmla="*/ 2147483646 w 2784"/>
              <a:gd name="T49" fmla="*/ 2147483646 h 1634"/>
              <a:gd name="T50" fmla="*/ 2147483646 w 2784"/>
              <a:gd name="T51" fmla="*/ 2147483646 h 1634"/>
              <a:gd name="T52" fmla="*/ 2147483646 w 2784"/>
              <a:gd name="T53" fmla="*/ 2147483646 h 1634"/>
              <a:gd name="T54" fmla="*/ 2147483646 w 2784"/>
              <a:gd name="T55" fmla="*/ 2147483646 h 1634"/>
              <a:gd name="T56" fmla="*/ 2147483646 w 2784"/>
              <a:gd name="T57" fmla="*/ 2147483646 h 1634"/>
              <a:gd name="T58" fmla="*/ 2147483646 w 2784"/>
              <a:gd name="T59" fmla="*/ 2147483646 h 1634"/>
              <a:gd name="T60" fmla="*/ 2147483646 w 2784"/>
              <a:gd name="T61" fmla="*/ 2147483646 h 1634"/>
              <a:gd name="T62" fmla="*/ 2147483646 w 2784"/>
              <a:gd name="T63" fmla="*/ 2147483646 h 1634"/>
              <a:gd name="T64" fmla="*/ 2147483646 w 2784"/>
              <a:gd name="T65" fmla="*/ 0 h 163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784"/>
              <a:gd name="T100" fmla="*/ 0 h 1634"/>
              <a:gd name="T101" fmla="*/ 2784 w 2784"/>
              <a:gd name="T102" fmla="*/ 1634 h 163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784" h="1634">
                <a:moveTo>
                  <a:pt x="0" y="1633"/>
                </a:moveTo>
                <a:lnTo>
                  <a:pt x="28" y="1620"/>
                </a:lnTo>
                <a:lnTo>
                  <a:pt x="69" y="1602"/>
                </a:lnTo>
                <a:lnTo>
                  <a:pt x="117" y="1585"/>
                </a:lnTo>
                <a:lnTo>
                  <a:pt x="171" y="1563"/>
                </a:lnTo>
                <a:lnTo>
                  <a:pt x="281" y="1524"/>
                </a:lnTo>
                <a:lnTo>
                  <a:pt x="329" y="1506"/>
                </a:lnTo>
                <a:lnTo>
                  <a:pt x="376" y="1493"/>
                </a:lnTo>
                <a:lnTo>
                  <a:pt x="452" y="1475"/>
                </a:lnTo>
                <a:lnTo>
                  <a:pt x="513" y="1462"/>
                </a:lnTo>
                <a:lnTo>
                  <a:pt x="575" y="1458"/>
                </a:lnTo>
                <a:lnTo>
                  <a:pt x="616" y="1453"/>
                </a:lnTo>
                <a:lnTo>
                  <a:pt x="664" y="1445"/>
                </a:lnTo>
                <a:lnTo>
                  <a:pt x="780" y="1427"/>
                </a:lnTo>
                <a:lnTo>
                  <a:pt x="910" y="1405"/>
                </a:lnTo>
                <a:lnTo>
                  <a:pt x="1053" y="1379"/>
                </a:lnTo>
                <a:lnTo>
                  <a:pt x="1197" y="1344"/>
                </a:lnTo>
                <a:lnTo>
                  <a:pt x="1347" y="1300"/>
                </a:lnTo>
                <a:lnTo>
                  <a:pt x="1505" y="1248"/>
                </a:lnTo>
                <a:lnTo>
                  <a:pt x="1580" y="1217"/>
                </a:lnTo>
                <a:lnTo>
                  <a:pt x="1662" y="1186"/>
                </a:lnTo>
                <a:lnTo>
                  <a:pt x="1744" y="1147"/>
                </a:lnTo>
                <a:lnTo>
                  <a:pt x="1819" y="1103"/>
                </a:lnTo>
                <a:lnTo>
                  <a:pt x="1901" y="1055"/>
                </a:lnTo>
                <a:lnTo>
                  <a:pt x="1983" y="1007"/>
                </a:lnTo>
                <a:lnTo>
                  <a:pt x="2154" y="889"/>
                </a:lnTo>
                <a:lnTo>
                  <a:pt x="2311" y="762"/>
                </a:lnTo>
                <a:lnTo>
                  <a:pt x="2380" y="696"/>
                </a:lnTo>
                <a:lnTo>
                  <a:pt x="2448" y="626"/>
                </a:lnTo>
                <a:lnTo>
                  <a:pt x="2557" y="481"/>
                </a:lnTo>
                <a:lnTo>
                  <a:pt x="2639" y="328"/>
                </a:lnTo>
                <a:lnTo>
                  <a:pt x="2715" y="166"/>
                </a:lnTo>
                <a:lnTo>
                  <a:pt x="2783"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 name="Rectangle 13">
            <a:extLst>
              <a:ext uri="{FF2B5EF4-FFF2-40B4-BE49-F238E27FC236}">
                <a16:creationId xmlns:a16="http://schemas.microsoft.com/office/drawing/2014/main" id="{A238E995-3B98-4028-99DC-C1822F0185B7}"/>
              </a:ext>
            </a:extLst>
          </p:cNvPr>
          <p:cNvSpPr>
            <a:spLocks noChangeArrowheads="1"/>
          </p:cNvSpPr>
          <p:nvPr/>
        </p:nvSpPr>
        <p:spPr bwMode="auto">
          <a:xfrm>
            <a:off x="6081713" y="1154113"/>
            <a:ext cx="854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a:t>TC(Q)</a:t>
            </a:r>
          </a:p>
        </p:txBody>
      </p:sp>
      <p:sp>
        <p:nvSpPr>
          <p:cNvPr id="11" name="Text Box 16">
            <a:extLst>
              <a:ext uri="{FF2B5EF4-FFF2-40B4-BE49-F238E27FC236}">
                <a16:creationId xmlns:a16="http://schemas.microsoft.com/office/drawing/2014/main" id="{AEDDE32F-192E-41A3-BF97-821D79ED184E}"/>
              </a:ext>
            </a:extLst>
          </p:cNvPr>
          <p:cNvSpPr txBox="1">
            <a:spLocks noChangeArrowheads="1"/>
          </p:cNvSpPr>
          <p:nvPr/>
        </p:nvSpPr>
        <p:spPr bwMode="auto">
          <a:xfrm>
            <a:off x="4722813" y="1143000"/>
            <a:ext cx="1462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t>总成本曲线</a:t>
            </a:r>
          </a:p>
        </p:txBody>
      </p:sp>
      <p:sp>
        <p:nvSpPr>
          <p:cNvPr id="12" name="Text Box 17">
            <a:extLst>
              <a:ext uri="{FF2B5EF4-FFF2-40B4-BE49-F238E27FC236}">
                <a16:creationId xmlns:a16="http://schemas.microsoft.com/office/drawing/2014/main" id="{CDABA219-A08E-43F7-9292-59E9FD8D672F}"/>
              </a:ext>
            </a:extLst>
          </p:cNvPr>
          <p:cNvSpPr txBox="1">
            <a:spLocks noChangeArrowheads="1"/>
          </p:cNvSpPr>
          <p:nvPr/>
        </p:nvSpPr>
        <p:spPr bwMode="auto">
          <a:xfrm>
            <a:off x="5307013" y="3219450"/>
            <a:ext cx="2309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a:t>TC(Q)</a:t>
            </a:r>
            <a:r>
              <a:rPr lang="zh-CN" altLang="en-US" sz="2000"/>
              <a:t>的斜率 = </a:t>
            </a:r>
            <a:r>
              <a:rPr lang="en-US" altLang="zh-CN" sz="2000"/>
              <a:t>MC</a:t>
            </a:r>
          </a:p>
        </p:txBody>
      </p:sp>
      <p:sp>
        <p:nvSpPr>
          <p:cNvPr id="13" name="Text Box 20">
            <a:extLst>
              <a:ext uri="{FF2B5EF4-FFF2-40B4-BE49-F238E27FC236}">
                <a16:creationId xmlns:a16="http://schemas.microsoft.com/office/drawing/2014/main" id="{82B8A21A-1C5B-4258-9A79-DDEC25A71250}"/>
              </a:ext>
            </a:extLst>
          </p:cNvPr>
          <p:cNvSpPr txBox="1">
            <a:spLocks noChangeArrowheads="1"/>
          </p:cNvSpPr>
          <p:nvPr/>
        </p:nvSpPr>
        <p:spPr bwMode="auto">
          <a:xfrm>
            <a:off x="3074988" y="4349750"/>
            <a:ext cx="4972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solidFill>
                  <a:srgbClr val="FF3300"/>
                </a:solidFill>
              </a:rPr>
              <a:t>注意：为什么产出为零时，</a:t>
            </a:r>
            <a:r>
              <a:rPr lang="en-US" altLang="zh-CN" sz="2000">
                <a:solidFill>
                  <a:srgbClr val="FF3300"/>
                </a:solidFill>
              </a:rPr>
              <a:t>TC(Q)</a:t>
            </a:r>
            <a:r>
              <a:rPr lang="zh-CN" altLang="en-US" sz="2000">
                <a:solidFill>
                  <a:srgbClr val="FF3300"/>
                </a:solidFill>
              </a:rPr>
              <a:t>为正值？</a:t>
            </a:r>
          </a:p>
        </p:txBody>
      </p:sp>
    </p:spTree>
    <p:extLst>
      <p:ext uri="{BB962C8B-B14F-4D97-AF65-F5344CB8AC3E}">
        <p14:creationId xmlns:p14="http://schemas.microsoft.com/office/powerpoint/2010/main" val="3187164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501" name="Rectangle 5">
            <a:extLst>
              <a:ext uri="{FF2B5EF4-FFF2-40B4-BE49-F238E27FC236}">
                <a16:creationId xmlns:a16="http://schemas.microsoft.com/office/drawing/2014/main" id="{425A12C3-27F0-49FC-8FB7-98F57D56933A}"/>
              </a:ext>
            </a:extLst>
          </p:cNvPr>
          <p:cNvSpPr>
            <a:spLocks noGrp="1" noChangeArrowheads="1"/>
          </p:cNvSpPr>
          <p:nvPr>
            <p:ph type="body" sz="half" idx="1"/>
          </p:nvPr>
        </p:nvSpPr>
        <p:spPr>
          <a:xfrm>
            <a:off x="381000" y="1447800"/>
            <a:ext cx="4038600" cy="4114800"/>
          </a:xfrm>
          <a:noFill/>
        </p:spPr>
        <p:txBody>
          <a:bodyPr/>
          <a:lstStyle/>
          <a:p>
            <a:pPr eaLnBrk="1" hangingPunct="1">
              <a:spcBef>
                <a:spcPct val="70000"/>
              </a:spcBef>
            </a:pPr>
            <a:r>
              <a:rPr lang="zh-CN" altLang="en-US" sz="2400">
                <a:latin typeface="黑体" panose="02010609060101010101" pitchFamily="49" charset="-122"/>
                <a:ea typeface="黑体" panose="02010609060101010101" pitchFamily="49" charset="-122"/>
              </a:rPr>
              <a:t>比较</a:t>
            </a:r>
            <a:r>
              <a:rPr lang="en-US" altLang="zh-CN" sz="2400">
                <a:latin typeface="黑体" panose="02010609060101010101" pitchFamily="49" charset="-122"/>
                <a:ea typeface="黑体" panose="02010609060101010101" pitchFamily="49" charset="-122"/>
              </a:rPr>
              <a:t>TR(Q)</a:t>
            </a:r>
            <a:r>
              <a:rPr lang="zh-CN" altLang="en-US" sz="2400">
                <a:latin typeface="黑体" panose="02010609060101010101" pitchFamily="49" charset="-122"/>
                <a:ea typeface="黑体" panose="02010609060101010101" pitchFamily="49" charset="-122"/>
              </a:rPr>
              <a:t>与</a:t>
            </a:r>
            <a:r>
              <a:rPr lang="en-US" altLang="zh-CN" sz="2400">
                <a:latin typeface="黑体" panose="02010609060101010101" pitchFamily="49" charset="-122"/>
                <a:ea typeface="黑体" panose="02010609060101010101" pitchFamily="49" charset="-122"/>
              </a:rPr>
              <a:t>TC(Q)</a:t>
            </a:r>
          </a:p>
          <a:p>
            <a:pPr lvl="1" eaLnBrk="1" hangingPunct="1">
              <a:buSzPct val="75000"/>
            </a:pPr>
            <a:r>
              <a:rPr lang="zh-CN" altLang="en-US">
                <a:latin typeface="黑体" panose="02010609060101010101" pitchFamily="49" charset="-122"/>
                <a:ea typeface="黑体" panose="02010609060101010101" pitchFamily="49" charset="-122"/>
              </a:rPr>
              <a:t>产量在0</a:t>
            </a:r>
            <a:r>
              <a:rPr lang="en-US" altLang="zh-CN">
                <a:latin typeface="黑体" panose="02010609060101010101" pitchFamily="49" charset="-122"/>
                <a:ea typeface="黑体" panose="02010609060101010101" pitchFamily="49" charset="-122"/>
              </a:rPr>
              <a:t>—q</a:t>
            </a:r>
            <a:r>
              <a:rPr lang="en-US" altLang="zh-CN" baseline="-25000">
                <a:latin typeface="黑体" panose="02010609060101010101" pitchFamily="49" charset="-122"/>
                <a:ea typeface="黑体" panose="02010609060101010101" pitchFamily="49" charset="-122"/>
              </a:rPr>
              <a:t>0</a:t>
            </a:r>
            <a:r>
              <a:rPr lang="zh-CN" altLang="en-US">
                <a:latin typeface="黑体" panose="02010609060101010101" pitchFamily="49" charset="-122"/>
                <a:ea typeface="黑体" panose="02010609060101010101" pitchFamily="49" charset="-122"/>
              </a:rPr>
              <a:t>时： </a:t>
            </a:r>
          </a:p>
          <a:p>
            <a:pPr lvl="2" eaLnBrk="1" hangingPunct="1">
              <a:spcBef>
                <a:spcPct val="35000"/>
              </a:spcBef>
            </a:pPr>
            <a:r>
              <a:rPr lang="en-US" altLang="zh-CN" sz="2400">
                <a:latin typeface="黑体" panose="02010609060101010101" pitchFamily="49" charset="-122"/>
                <a:ea typeface="黑体" panose="02010609060101010101" pitchFamily="49" charset="-122"/>
              </a:rPr>
              <a:t>TC(Q)&gt; TR(Q)</a:t>
            </a:r>
          </a:p>
          <a:p>
            <a:pPr lvl="3" eaLnBrk="1" hangingPunct="1"/>
            <a:r>
              <a:rPr lang="zh-CN" altLang="en-US">
                <a:latin typeface="黑体" panose="02010609060101010101" pitchFamily="49" charset="-122"/>
                <a:ea typeface="黑体" panose="02010609060101010101" pitchFamily="49" charset="-122"/>
              </a:rPr>
              <a:t>利润为负 </a:t>
            </a:r>
          </a:p>
          <a:p>
            <a:pPr lvl="2" eaLnBrk="1" hangingPunct="1">
              <a:spcBef>
                <a:spcPct val="35000"/>
              </a:spcBef>
            </a:pPr>
            <a:r>
              <a:rPr lang="en-US" altLang="zh-CN" sz="2400">
                <a:latin typeface="黑体" panose="02010609060101010101" pitchFamily="49" charset="-122"/>
                <a:ea typeface="黑体" panose="02010609060101010101" pitchFamily="49" charset="-122"/>
              </a:rPr>
              <a:t>FC + VC &gt; TR(Q)</a:t>
            </a:r>
          </a:p>
          <a:p>
            <a:pPr lvl="2" eaLnBrk="1" hangingPunct="1">
              <a:spcBef>
                <a:spcPct val="35000"/>
              </a:spcBef>
            </a:pPr>
            <a:r>
              <a:rPr lang="zh-CN" altLang="en-US" sz="2400">
                <a:latin typeface="黑体" panose="02010609060101010101" pitchFamily="49" charset="-122"/>
                <a:ea typeface="黑体" panose="02010609060101010101" pitchFamily="49" charset="-122"/>
              </a:rPr>
              <a:t>但是</a:t>
            </a:r>
            <a:r>
              <a:rPr lang="en-US" altLang="zh-CN" sz="2400">
                <a:latin typeface="黑体" panose="02010609060101010101" pitchFamily="49" charset="-122"/>
                <a:ea typeface="黑体" panose="02010609060101010101" pitchFamily="49" charset="-122"/>
              </a:rPr>
              <a:t>MR &gt; MC</a:t>
            </a:r>
          </a:p>
          <a:p>
            <a:pPr lvl="3" eaLnBrk="1" hangingPunct="1"/>
            <a:r>
              <a:rPr lang="zh-CN" altLang="en-US">
                <a:latin typeface="黑体" panose="02010609060101010101" pitchFamily="49" charset="-122"/>
                <a:ea typeface="黑体" panose="02010609060101010101" pitchFamily="49" charset="-122"/>
              </a:rPr>
              <a:t>这意味着增加产量将提高利润。</a:t>
            </a:r>
          </a:p>
        </p:txBody>
      </p:sp>
      <p:sp>
        <p:nvSpPr>
          <p:cNvPr id="18435" name="Rectangle 2">
            <a:extLst>
              <a:ext uri="{FF2B5EF4-FFF2-40B4-BE49-F238E27FC236}">
                <a16:creationId xmlns:a16="http://schemas.microsoft.com/office/drawing/2014/main" id="{B22DFEB7-B64D-4018-8F5B-C3A7877536CC}"/>
              </a:ext>
            </a:extLst>
          </p:cNvPr>
          <p:cNvSpPr>
            <a:spLocks noChangeArrowheads="1"/>
          </p:cNvSpPr>
          <p:nvPr/>
        </p:nvSpPr>
        <p:spPr bwMode="auto">
          <a:xfrm>
            <a:off x="7620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18436" name="Line 6">
            <a:extLst>
              <a:ext uri="{FF2B5EF4-FFF2-40B4-BE49-F238E27FC236}">
                <a16:creationId xmlns:a16="http://schemas.microsoft.com/office/drawing/2014/main" id="{C3C4E24A-B2BA-4271-AE8E-3DE50803D115}"/>
              </a:ext>
            </a:extLst>
          </p:cNvPr>
          <p:cNvSpPr>
            <a:spLocks noChangeShapeType="1"/>
          </p:cNvSpPr>
          <p:nvPr/>
        </p:nvSpPr>
        <p:spPr bwMode="auto">
          <a:xfrm>
            <a:off x="5021263" y="2835275"/>
            <a:ext cx="0" cy="285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7" name="Line 7">
            <a:extLst>
              <a:ext uri="{FF2B5EF4-FFF2-40B4-BE49-F238E27FC236}">
                <a16:creationId xmlns:a16="http://schemas.microsoft.com/office/drawing/2014/main" id="{99C4532A-B285-4522-91D7-1ED0F8EB308F}"/>
              </a:ext>
            </a:extLst>
          </p:cNvPr>
          <p:cNvSpPr>
            <a:spLocks noChangeShapeType="1"/>
          </p:cNvSpPr>
          <p:nvPr/>
        </p:nvSpPr>
        <p:spPr bwMode="auto">
          <a:xfrm>
            <a:off x="5035550" y="4941888"/>
            <a:ext cx="39433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8" name="Rectangle 8">
            <a:extLst>
              <a:ext uri="{FF2B5EF4-FFF2-40B4-BE49-F238E27FC236}">
                <a16:creationId xmlns:a16="http://schemas.microsoft.com/office/drawing/2014/main" id="{09A0F613-6515-47B7-9B1A-BD46178D8719}"/>
              </a:ext>
            </a:extLst>
          </p:cNvPr>
          <p:cNvSpPr>
            <a:spLocks noChangeArrowheads="1"/>
          </p:cNvSpPr>
          <p:nvPr/>
        </p:nvSpPr>
        <p:spPr bwMode="auto">
          <a:xfrm>
            <a:off x="5005388" y="4967288"/>
            <a:ext cx="32226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0</a:t>
            </a:r>
          </a:p>
        </p:txBody>
      </p:sp>
      <p:sp>
        <p:nvSpPr>
          <p:cNvPr id="18439" name="Rectangle 9">
            <a:extLst>
              <a:ext uri="{FF2B5EF4-FFF2-40B4-BE49-F238E27FC236}">
                <a16:creationId xmlns:a16="http://schemas.microsoft.com/office/drawing/2014/main" id="{F1A970DC-BB5D-4AAD-B0BF-701C6CEF7B67}"/>
              </a:ext>
            </a:extLst>
          </p:cNvPr>
          <p:cNvSpPr>
            <a:spLocks noChangeArrowheads="1"/>
          </p:cNvSpPr>
          <p:nvPr/>
        </p:nvSpPr>
        <p:spPr bwMode="auto">
          <a:xfrm>
            <a:off x="4141788" y="2352675"/>
            <a:ext cx="1619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成本，收入，利润</a:t>
            </a:r>
          </a:p>
        </p:txBody>
      </p:sp>
      <p:sp>
        <p:nvSpPr>
          <p:cNvPr id="18440" name="Rectangle 10">
            <a:extLst>
              <a:ext uri="{FF2B5EF4-FFF2-40B4-BE49-F238E27FC236}">
                <a16:creationId xmlns:a16="http://schemas.microsoft.com/office/drawing/2014/main" id="{1EB2E50B-B59C-474A-8FCF-55BE61E2DCE7}"/>
              </a:ext>
            </a:extLst>
          </p:cNvPr>
          <p:cNvSpPr>
            <a:spLocks noChangeArrowheads="1"/>
          </p:cNvSpPr>
          <p:nvPr/>
        </p:nvSpPr>
        <p:spPr bwMode="auto">
          <a:xfrm>
            <a:off x="8266113" y="5572125"/>
            <a:ext cx="5365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latin typeface="Times New Roman" panose="02020603050405020304" pitchFamily="18" charset="0"/>
                <a:ea typeface="宋体" panose="02010600030101010101" pitchFamily="2" charset="-122"/>
              </a:rPr>
              <a:t>产量</a:t>
            </a:r>
          </a:p>
        </p:txBody>
      </p:sp>
      <p:grpSp>
        <p:nvGrpSpPr>
          <p:cNvPr id="2" name="Group 31">
            <a:extLst>
              <a:ext uri="{FF2B5EF4-FFF2-40B4-BE49-F238E27FC236}">
                <a16:creationId xmlns:a16="http://schemas.microsoft.com/office/drawing/2014/main" id="{321D1BAD-5A26-4DE5-B55F-86CA0C8F5AE1}"/>
              </a:ext>
            </a:extLst>
          </p:cNvPr>
          <p:cNvGrpSpPr>
            <a:grpSpLocks/>
          </p:cNvGrpSpPr>
          <p:nvPr/>
        </p:nvGrpSpPr>
        <p:grpSpPr bwMode="auto">
          <a:xfrm>
            <a:off x="5019675" y="2701925"/>
            <a:ext cx="4021138" cy="2243138"/>
            <a:chOff x="3258" y="1942"/>
            <a:chExt cx="2533" cy="1413"/>
          </a:xfrm>
        </p:grpSpPr>
        <p:sp>
          <p:nvSpPr>
            <p:cNvPr id="18460" name="Freeform 11">
              <a:extLst>
                <a:ext uri="{FF2B5EF4-FFF2-40B4-BE49-F238E27FC236}">
                  <a16:creationId xmlns:a16="http://schemas.microsoft.com/office/drawing/2014/main" id="{1CEE99FC-0E0F-4DD6-BAC8-22BEE473D97B}"/>
                </a:ext>
              </a:extLst>
            </p:cNvPr>
            <p:cNvSpPr>
              <a:spLocks/>
            </p:cNvSpPr>
            <p:nvPr/>
          </p:nvSpPr>
          <p:spPr bwMode="auto">
            <a:xfrm>
              <a:off x="3258" y="2038"/>
              <a:ext cx="2059" cy="1317"/>
            </a:xfrm>
            <a:custGeom>
              <a:avLst/>
              <a:gdLst>
                <a:gd name="T0" fmla="*/ 0 w 2059"/>
                <a:gd name="T1" fmla="*/ 1316 h 1317"/>
                <a:gd name="T2" fmla="*/ 161 w 2059"/>
                <a:gd name="T3" fmla="*/ 1107 h 1317"/>
                <a:gd name="T4" fmla="*/ 331 w 2059"/>
                <a:gd name="T5" fmla="*/ 908 h 1317"/>
                <a:gd name="T6" fmla="*/ 408 w 2059"/>
                <a:gd name="T7" fmla="*/ 809 h 1317"/>
                <a:gd name="T8" fmla="*/ 493 w 2059"/>
                <a:gd name="T9" fmla="*/ 721 h 1317"/>
                <a:gd name="T10" fmla="*/ 570 w 2059"/>
                <a:gd name="T11" fmla="*/ 639 h 1317"/>
                <a:gd name="T12" fmla="*/ 655 w 2059"/>
                <a:gd name="T13" fmla="*/ 562 h 1317"/>
                <a:gd name="T14" fmla="*/ 740 w 2059"/>
                <a:gd name="T15" fmla="*/ 490 h 1317"/>
                <a:gd name="T16" fmla="*/ 816 w 2059"/>
                <a:gd name="T17" fmla="*/ 429 h 1317"/>
                <a:gd name="T18" fmla="*/ 986 w 2059"/>
                <a:gd name="T19" fmla="*/ 319 h 1317"/>
                <a:gd name="T20" fmla="*/ 1148 w 2059"/>
                <a:gd name="T21" fmla="*/ 226 h 1317"/>
                <a:gd name="T22" fmla="*/ 1301 w 2059"/>
                <a:gd name="T23" fmla="*/ 148 h 1317"/>
                <a:gd name="T24" fmla="*/ 1369 w 2059"/>
                <a:gd name="T25" fmla="*/ 121 h 1317"/>
                <a:gd name="T26" fmla="*/ 1437 w 2059"/>
                <a:gd name="T27" fmla="*/ 93 h 1317"/>
                <a:gd name="T28" fmla="*/ 1565 w 2059"/>
                <a:gd name="T29" fmla="*/ 55 h 1317"/>
                <a:gd name="T30" fmla="*/ 1684 w 2059"/>
                <a:gd name="T31" fmla="*/ 33 h 1317"/>
                <a:gd name="T32" fmla="*/ 1786 w 2059"/>
                <a:gd name="T33" fmla="*/ 11 h 1317"/>
                <a:gd name="T34" fmla="*/ 1871 w 2059"/>
                <a:gd name="T35" fmla="*/ 0 h 1317"/>
                <a:gd name="T36" fmla="*/ 1939 w 2059"/>
                <a:gd name="T37" fmla="*/ 0 h 1317"/>
                <a:gd name="T38" fmla="*/ 1998 w 2059"/>
                <a:gd name="T39" fmla="*/ 5 h 1317"/>
                <a:gd name="T40" fmla="*/ 2058 w 2059"/>
                <a:gd name="T41" fmla="*/ 11 h 13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59"/>
                <a:gd name="T64" fmla="*/ 0 h 1317"/>
                <a:gd name="T65" fmla="*/ 2059 w 2059"/>
                <a:gd name="T66" fmla="*/ 1317 h 13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59" h="1317">
                  <a:moveTo>
                    <a:pt x="0" y="1316"/>
                  </a:moveTo>
                  <a:lnTo>
                    <a:pt x="161" y="1107"/>
                  </a:lnTo>
                  <a:lnTo>
                    <a:pt x="331" y="908"/>
                  </a:lnTo>
                  <a:lnTo>
                    <a:pt x="408" y="809"/>
                  </a:lnTo>
                  <a:lnTo>
                    <a:pt x="493" y="721"/>
                  </a:lnTo>
                  <a:lnTo>
                    <a:pt x="570" y="639"/>
                  </a:lnTo>
                  <a:lnTo>
                    <a:pt x="655" y="562"/>
                  </a:lnTo>
                  <a:lnTo>
                    <a:pt x="740" y="490"/>
                  </a:lnTo>
                  <a:lnTo>
                    <a:pt x="816" y="429"/>
                  </a:lnTo>
                  <a:lnTo>
                    <a:pt x="986" y="319"/>
                  </a:lnTo>
                  <a:lnTo>
                    <a:pt x="1148" y="226"/>
                  </a:lnTo>
                  <a:lnTo>
                    <a:pt x="1301" y="148"/>
                  </a:lnTo>
                  <a:lnTo>
                    <a:pt x="1369" y="121"/>
                  </a:lnTo>
                  <a:lnTo>
                    <a:pt x="1437" y="93"/>
                  </a:lnTo>
                  <a:lnTo>
                    <a:pt x="1565" y="55"/>
                  </a:lnTo>
                  <a:lnTo>
                    <a:pt x="1684" y="33"/>
                  </a:lnTo>
                  <a:lnTo>
                    <a:pt x="1786" y="11"/>
                  </a:lnTo>
                  <a:lnTo>
                    <a:pt x="1871" y="0"/>
                  </a:lnTo>
                  <a:lnTo>
                    <a:pt x="1939" y="0"/>
                  </a:lnTo>
                  <a:lnTo>
                    <a:pt x="1998" y="5"/>
                  </a:lnTo>
                  <a:lnTo>
                    <a:pt x="2058" y="11"/>
                  </a:lnTo>
                </a:path>
              </a:pathLst>
            </a:custGeom>
            <a:noFill/>
            <a:ln w="50800" cap="rnd">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461" name="Rectangle 12">
              <a:extLst>
                <a:ext uri="{FF2B5EF4-FFF2-40B4-BE49-F238E27FC236}">
                  <a16:creationId xmlns:a16="http://schemas.microsoft.com/office/drawing/2014/main" id="{2DE1D5D6-FB45-4392-AC16-A8CF09F6341C}"/>
                </a:ext>
              </a:extLst>
            </p:cNvPr>
            <p:cNvSpPr>
              <a:spLocks noChangeArrowheads="1"/>
            </p:cNvSpPr>
            <p:nvPr/>
          </p:nvSpPr>
          <p:spPr bwMode="auto">
            <a:xfrm>
              <a:off x="5304" y="1942"/>
              <a:ext cx="4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TR(Q)</a:t>
              </a:r>
            </a:p>
          </p:txBody>
        </p:sp>
      </p:grpSp>
      <p:grpSp>
        <p:nvGrpSpPr>
          <p:cNvPr id="3" name="Group 32">
            <a:extLst>
              <a:ext uri="{FF2B5EF4-FFF2-40B4-BE49-F238E27FC236}">
                <a16:creationId xmlns:a16="http://schemas.microsoft.com/office/drawing/2014/main" id="{5FC4DC16-39B1-4966-AE6D-F4C4346BAD12}"/>
              </a:ext>
            </a:extLst>
          </p:cNvPr>
          <p:cNvGrpSpPr>
            <a:grpSpLocks/>
          </p:cNvGrpSpPr>
          <p:nvPr/>
        </p:nvGrpSpPr>
        <p:grpSpPr bwMode="auto">
          <a:xfrm>
            <a:off x="5018088" y="2266950"/>
            <a:ext cx="3594100" cy="2135188"/>
            <a:chOff x="3257" y="1668"/>
            <a:chExt cx="2264" cy="1345"/>
          </a:xfrm>
        </p:grpSpPr>
        <p:sp>
          <p:nvSpPr>
            <p:cNvPr id="18458" name="Freeform 13">
              <a:extLst>
                <a:ext uri="{FF2B5EF4-FFF2-40B4-BE49-F238E27FC236}">
                  <a16:creationId xmlns:a16="http://schemas.microsoft.com/office/drawing/2014/main" id="{1AF29187-8541-4C25-8CA0-C5DD80CFA713}"/>
                </a:ext>
              </a:extLst>
            </p:cNvPr>
            <p:cNvSpPr>
              <a:spLocks/>
            </p:cNvSpPr>
            <p:nvPr/>
          </p:nvSpPr>
          <p:spPr bwMode="auto">
            <a:xfrm>
              <a:off x="3257" y="1846"/>
              <a:ext cx="1991" cy="1167"/>
            </a:xfrm>
            <a:custGeom>
              <a:avLst/>
              <a:gdLst>
                <a:gd name="T0" fmla="*/ 0 w 1991"/>
                <a:gd name="T1" fmla="*/ 1166 h 1167"/>
                <a:gd name="T2" fmla="*/ 59 w 1991"/>
                <a:gd name="T3" fmla="*/ 1131 h 1167"/>
                <a:gd name="T4" fmla="*/ 101 w 1991"/>
                <a:gd name="T5" fmla="*/ 1111 h 1167"/>
                <a:gd name="T6" fmla="*/ 143 w 1991"/>
                <a:gd name="T7" fmla="*/ 1097 h 1167"/>
                <a:gd name="T8" fmla="*/ 185 w 1991"/>
                <a:gd name="T9" fmla="*/ 1087 h 1167"/>
                <a:gd name="T10" fmla="*/ 235 w 1991"/>
                <a:gd name="T11" fmla="*/ 1082 h 1167"/>
                <a:gd name="T12" fmla="*/ 303 w 1991"/>
                <a:gd name="T13" fmla="*/ 1077 h 1167"/>
                <a:gd name="T14" fmla="*/ 378 w 1991"/>
                <a:gd name="T15" fmla="*/ 1062 h 1167"/>
                <a:gd name="T16" fmla="*/ 428 w 1991"/>
                <a:gd name="T17" fmla="*/ 1052 h 1167"/>
                <a:gd name="T18" fmla="*/ 479 w 1991"/>
                <a:gd name="T19" fmla="*/ 1042 h 1167"/>
                <a:gd name="T20" fmla="*/ 605 w 1991"/>
                <a:gd name="T21" fmla="*/ 1017 h 1167"/>
                <a:gd name="T22" fmla="*/ 739 w 1991"/>
                <a:gd name="T23" fmla="*/ 992 h 1167"/>
                <a:gd name="T24" fmla="*/ 857 w 1991"/>
                <a:gd name="T25" fmla="*/ 958 h 1167"/>
                <a:gd name="T26" fmla="*/ 974 w 1991"/>
                <a:gd name="T27" fmla="*/ 923 h 1167"/>
                <a:gd name="T28" fmla="*/ 1083 w 1991"/>
                <a:gd name="T29" fmla="*/ 888 h 1167"/>
                <a:gd name="T30" fmla="*/ 1192 w 1991"/>
                <a:gd name="T31" fmla="*/ 844 h 1167"/>
                <a:gd name="T32" fmla="*/ 1302 w 1991"/>
                <a:gd name="T33" fmla="*/ 789 h 1167"/>
                <a:gd name="T34" fmla="*/ 1419 w 1991"/>
                <a:gd name="T35" fmla="*/ 715 h 1167"/>
                <a:gd name="T36" fmla="*/ 1537 w 1991"/>
                <a:gd name="T37" fmla="*/ 635 h 1167"/>
                <a:gd name="T38" fmla="*/ 1654 w 1991"/>
                <a:gd name="T39" fmla="*/ 541 h 1167"/>
                <a:gd name="T40" fmla="*/ 1747 w 1991"/>
                <a:gd name="T41" fmla="*/ 447 h 1167"/>
                <a:gd name="T42" fmla="*/ 1822 w 1991"/>
                <a:gd name="T43" fmla="*/ 343 h 1167"/>
                <a:gd name="T44" fmla="*/ 1889 w 1991"/>
                <a:gd name="T45" fmla="*/ 234 h 1167"/>
                <a:gd name="T46" fmla="*/ 1940 w 1991"/>
                <a:gd name="T47" fmla="*/ 119 h 1167"/>
                <a:gd name="T48" fmla="*/ 1990 w 1991"/>
                <a:gd name="T49" fmla="*/ 0 h 1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91"/>
                <a:gd name="T76" fmla="*/ 0 h 1167"/>
                <a:gd name="T77" fmla="*/ 1991 w 1991"/>
                <a:gd name="T78" fmla="*/ 1167 h 116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91" h="1167">
                  <a:moveTo>
                    <a:pt x="0" y="1166"/>
                  </a:moveTo>
                  <a:lnTo>
                    <a:pt x="59" y="1131"/>
                  </a:lnTo>
                  <a:lnTo>
                    <a:pt x="101" y="1111"/>
                  </a:lnTo>
                  <a:lnTo>
                    <a:pt x="143" y="1097"/>
                  </a:lnTo>
                  <a:lnTo>
                    <a:pt x="185" y="1087"/>
                  </a:lnTo>
                  <a:lnTo>
                    <a:pt x="235" y="1082"/>
                  </a:lnTo>
                  <a:lnTo>
                    <a:pt x="303" y="1077"/>
                  </a:lnTo>
                  <a:lnTo>
                    <a:pt x="378" y="1062"/>
                  </a:lnTo>
                  <a:lnTo>
                    <a:pt x="428" y="1052"/>
                  </a:lnTo>
                  <a:lnTo>
                    <a:pt x="479" y="1042"/>
                  </a:lnTo>
                  <a:lnTo>
                    <a:pt x="605" y="1017"/>
                  </a:lnTo>
                  <a:lnTo>
                    <a:pt x="739" y="992"/>
                  </a:lnTo>
                  <a:lnTo>
                    <a:pt x="857" y="958"/>
                  </a:lnTo>
                  <a:lnTo>
                    <a:pt x="974" y="923"/>
                  </a:lnTo>
                  <a:lnTo>
                    <a:pt x="1083" y="888"/>
                  </a:lnTo>
                  <a:lnTo>
                    <a:pt x="1192" y="844"/>
                  </a:lnTo>
                  <a:lnTo>
                    <a:pt x="1302" y="789"/>
                  </a:lnTo>
                  <a:lnTo>
                    <a:pt x="1419" y="715"/>
                  </a:lnTo>
                  <a:lnTo>
                    <a:pt x="1537" y="635"/>
                  </a:lnTo>
                  <a:lnTo>
                    <a:pt x="1654" y="541"/>
                  </a:lnTo>
                  <a:lnTo>
                    <a:pt x="1747" y="447"/>
                  </a:lnTo>
                  <a:lnTo>
                    <a:pt x="1822" y="343"/>
                  </a:lnTo>
                  <a:lnTo>
                    <a:pt x="1889" y="234"/>
                  </a:lnTo>
                  <a:lnTo>
                    <a:pt x="1940" y="119"/>
                  </a:lnTo>
                  <a:lnTo>
                    <a:pt x="1990"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459" name="Rectangle 15">
              <a:extLst>
                <a:ext uri="{FF2B5EF4-FFF2-40B4-BE49-F238E27FC236}">
                  <a16:creationId xmlns:a16="http://schemas.microsoft.com/office/drawing/2014/main" id="{C6589ACC-9868-412F-80DE-8A3792CFD8FF}"/>
                </a:ext>
              </a:extLst>
            </p:cNvPr>
            <p:cNvSpPr>
              <a:spLocks noChangeArrowheads="1"/>
            </p:cNvSpPr>
            <p:nvPr/>
          </p:nvSpPr>
          <p:spPr bwMode="auto">
            <a:xfrm>
              <a:off x="5026" y="1668"/>
              <a:ext cx="4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TC(Q)</a:t>
              </a:r>
            </a:p>
          </p:txBody>
        </p:sp>
      </p:grpSp>
      <p:grpSp>
        <p:nvGrpSpPr>
          <p:cNvPr id="4" name="Group 33">
            <a:extLst>
              <a:ext uri="{FF2B5EF4-FFF2-40B4-BE49-F238E27FC236}">
                <a16:creationId xmlns:a16="http://schemas.microsoft.com/office/drawing/2014/main" id="{54A80D9D-C82F-4032-A56A-8DF01B20278B}"/>
              </a:ext>
            </a:extLst>
          </p:cNvPr>
          <p:cNvGrpSpPr>
            <a:grpSpLocks/>
          </p:cNvGrpSpPr>
          <p:nvPr/>
        </p:nvGrpSpPr>
        <p:grpSpPr bwMode="auto">
          <a:xfrm>
            <a:off x="6110288" y="2592388"/>
            <a:ext cx="1801812" cy="1749425"/>
            <a:chOff x="3945" y="1873"/>
            <a:chExt cx="1135" cy="1102"/>
          </a:xfrm>
        </p:grpSpPr>
        <p:grpSp>
          <p:nvGrpSpPr>
            <p:cNvPr id="18451" name="Group 26">
              <a:extLst>
                <a:ext uri="{FF2B5EF4-FFF2-40B4-BE49-F238E27FC236}">
                  <a16:creationId xmlns:a16="http://schemas.microsoft.com/office/drawing/2014/main" id="{776A711E-E3F0-4132-BFE7-D73403F6D8A2}"/>
                </a:ext>
              </a:extLst>
            </p:cNvPr>
            <p:cNvGrpSpPr>
              <a:grpSpLocks/>
            </p:cNvGrpSpPr>
            <p:nvPr/>
          </p:nvGrpSpPr>
          <p:grpSpPr bwMode="auto">
            <a:xfrm>
              <a:off x="3945" y="1873"/>
              <a:ext cx="1135" cy="1102"/>
              <a:chOff x="3945" y="1961"/>
              <a:chExt cx="1135" cy="1102"/>
            </a:xfrm>
          </p:grpSpPr>
          <p:sp>
            <p:nvSpPr>
              <p:cNvPr id="18456" name="Line 27">
                <a:extLst>
                  <a:ext uri="{FF2B5EF4-FFF2-40B4-BE49-F238E27FC236}">
                    <a16:creationId xmlns:a16="http://schemas.microsoft.com/office/drawing/2014/main" id="{E047AAE4-66DF-41DC-9EF4-1D24F961F665}"/>
                  </a:ext>
                </a:extLst>
              </p:cNvPr>
              <p:cNvSpPr>
                <a:spLocks noChangeShapeType="1"/>
              </p:cNvSpPr>
              <p:nvPr/>
            </p:nvSpPr>
            <p:spPr bwMode="auto">
              <a:xfrm flipV="1">
                <a:off x="3945" y="1961"/>
                <a:ext cx="1135" cy="62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7" name="Line 28">
                <a:extLst>
                  <a:ext uri="{FF2B5EF4-FFF2-40B4-BE49-F238E27FC236}">
                    <a16:creationId xmlns:a16="http://schemas.microsoft.com/office/drawing/2014/main" id="{B652CCF2-8F35-496E-B3CB-30CA4CC6FB2B}"/>
                  </a:ext>
                </a:extLst>
              </p:cNvPr>
              <p:cNvSpPr>
                <a:spLocks noChangeShapeType="1"/>
              </p:cNvSpPr>
              <p:nvPr/>
            </p:nvSpPr>
            <p:spPr bwMode="auto">
              <a:xfrm flipV="1">
                <a:off x="3945" y="2436"/>
                <a:ext cx="1135" cy="62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452" name="Oval 17">
              <a:extLst>
                <a:ext uri="{FF2B5EF4-FFF2-40B4-BE49-F238E27FC236}">
                  <a16:creationId xmlns:a16="http://schemas.microsoft.com/office/drawing/2014/main" id="{A5414FDC-4679-443B-929E-4E824F1E981A}"/>
                </a:ext>
              </a:extLst>
            </p:cNvPr>
            <p:cNvSpPr>
              <a:spLocks noChangeArrowheads="1"/>
            </p:cNvSpPr>
            <p:nvPr/>
          </p:nvSpPr>
          <p:spPr bwMode="auto">
            <a:xfrm>
              <a:off x="4458" y="2634"/>
              <a:ext cx="69" cy="68"/>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18453" name="Oval 18">
              <a:extLst>
                <a:ext uri="{FF2B5EF4-FFF2-40B4-BE49-F238E27FC236}">
                  <a16:creationId xmlns:a16="http://schemas.microsoft.com/office/drawing/2014/main" id="{C59B473A-7953-4858-8E3D-5C53E5F49165}"/>
                </a:ext>
              </a:extLst>
            </p:cNvPr>
            <p:cNvSpPr>
              <a:spLocks noChangeArrowheads="1"/>
            </p:cNvSpPr>
            <p:nvPr/>
          </p:nvSpPr>
          <p:spPr bwMode="auto">
            <a:xfrm>
              <a:off x="4458" y="2188"/>
              <a:ext cx="69" cy="69"/>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18454" name="Rectangle 19">
              <a:extLst>
                <a:ext uri="{FF2B5EF4-FFF2-40B4-BE49-F238E27FC236}">
                  <a16:creationId xmlns:a16="http://schemas.microsoft.com/office/drawing/2014/main" id="{4C05A040-7DB4-4072-A5E1-A911043AC962}"/>
                </a:ext>
              </a:extLst>
            </p:cNvPr>
            <p:cNvSpPr>
              <a:spLocks noChangeArrowheads="1"/>
            </p:cNvSpPr>
            <p:nvPr/>
          </p:nvSpPr>
          <p:spPr bwMode="auto">
            <a:xfrm>
              <a:off x="4317" y="1973"/>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A</a:t>
              </a:r>
            </a:p>
          </p:txBody>
        </p:sp>
        <p:sp>
          <p:nvSpPr>
            <p:cNvPr id="18455" name="Rectangle 20">
              <a:extLst>
                <a:ext uri="{FF2B5EF4-FFF2-40B4-BE49-F238E27FC236}">
                  <a16:creationId xmlns:a16="http://schemas.microsoft.com/office/drawing/2014/main" id="{311E1EF9-C432-4A69-9D0D-FA14DEF7C610}"/>
                </a:ext>
              </a:extLst>
            </p:cNvPr>
            <p:cNvSpPr>
              <a:spLocks noChangeArrowheads="1"/>
            </p:cNvSpPr>
            <p:nvPr/>
          </p:nvSpPr>
          <p:spPr bwMode="auto">
            <a:xfrm>
              <a:off x="4269" y="2453"/>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B</a:t>
              </a:r>
            </a:p>
          </p:txBody>
        </p:sp>
      </p:grpSp>
      <p:grpSp>
        <p:nvGrpSpPr>
          <p:cNvPr id="6" name="Group 36">
            <a:extLst>
              <a:ext uri="{FF2B5EF4-FFF2-40B4-BE49-F238E27FC236}">
                <a16:creationId xmlns:a16="http://schemas.microsoft.com/office/drawing/2014/main" id="{3ACED835-828D-4E1D-8817-300AE5CA4C9A}"/>
              </a:ext>
            </a:extLst>
          </p:cNvPr>
          <p:cNvGrpSpPr>
            <a:grpSpLocks/>
          </p:cNvGrpSpPr>
          <p:nvPr/>
        </p:nvGrpSpPr>
        <p:grpSpPr bwMode="auto">
          <a:xfrm>
            <a:off x="5440363" y="3162300"/>
            <a:ext cx="1771650" cy="2168525"/>
            <a:chOff x="3523" y="2232"/>
            <a:chExt cx="1116" cy="1366"/>
          </a:xfrm>
        </p:grpSpPr>
        <p:sp>
          <p:nvSpPr>
            <p:cNvPr id="18447" name="Rectangle 21">
              <a:extLst>
                <a:ext uri="{FF2B5EF4-FFF2-40B4-BE49-F238E27FC236}">
                  <a16:creationId xmlns:a16="http://schemas.microsoft.com/office/drawing/2014/main" id="{D97DE499-8C63-4E58-81D8-7F0B68FA956E}"/>
                </a:ext>
              </a:extLst>
            </p:cNvPr>
            <p:cNvSpPr>
              <a:spLocks noChangeArrowheads="1"/>
            </p:cNvSpPr>
            <p:nvPr/>
          </p:nvSpPr>
          <p:spPr bwMode="auto">
            <a:xfrm>
              <a:off x="3523" y="3350"/>
              <a:ext cx="27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25000">
                  <a:latin typeface="Times New Roman" panose="02020603050405020304" pitchFamily="18" charset="0"/>
                  <a:ea typeface="宋体" panose="02010600030101010101" pitchFamily="2" charset="-122"/>
                </a:rPr>
                <a:t>0</a:t>
              </a:r>
            </a:p>
          </p:txBody>
        </p:sp>
        <p:sp>
          <p:nvSpPr>
            <p:cNvPr id="18448" name="Line 14">
              <a:extLst>
                <a:ext uri="{FF2B5EF4-FFF2-40B4-BE49-F238E27FC236}">
                  <a16:creationId xmlns:a16="http://schemas.microsoft.com/office/drawing/2014/main" id="{E46E1C68-BAC7-4A6E-94DC-113F55926032}"/>
                </a:ext>
              </a:extLst>
            </p:cNvPr>
            <p:cNvSpPr>
              <a:spLocks noChangeShapeType="1"/>
            </p:cNvSpPr>
            <p:nvPr/>
          </p:nvSpPr>
          <p:spPr bwMode="auto">
            <a:xfrm>
              <a:off x="3602" y="2917"/>
              <a:ext cx="0" cy="4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9" name="Line 16">
              <a:extLst>
                <a:ext uri="{FF2B5EF4-FFF2-40B4-BE49-F238E27FC236}">
                  <a16:creationId xmlns:a16="http://schemas.microsoft.com/office/drawing/2014/main" id="{9C23E9C7-63A7-47FE-99D5-C6E34DB4F18A}"/>
                </a:ext>
              </a:extLst>
            </p:cNvPr>
            <p:cNvSpPr>
              <a:spLocks noChangeShapeType="1"/>
            </p:cNvSpPr>
            <p:nvPr/>
          </p:nvSpPr>
          <p:spPr bwMode="auto">
            <a:xfrm>
              <a:off x="4492" y="2232"/>
              <a:ext cx="29" cy="111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0" name="Rectangle 22">
              <a:extLst>
                <a:ext uri="{FF2B5EF4-FFF2-40B4-BE49-F238E27FC236}">
                  <a16:creationId xmlns:a16="http://schemas.microsoft.com/office/drawing/2014/main" id="{003C1E86-E9BD-483D-90B6-FE7715642AE0}"/>
                </a:ext>
              </a:extLst>
            </p:cNvPr>
            <p:cNvSpPr>
              <a:spLocks noChangeArrowheads="1"/>
            </p:cNvSpPr>
            <p:nvPr/>
          </p:nvSpPr>
          <p:spPr bwMode="auto">
            <a:xfrm>
              <a:off x="4387" y="3350"/>
              <a:ext cx="2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30000">
                  <a:latin typeface="Times New Roman" panose="02020603050405020304" pitchFamily="18" charset="0"/>
                  <a:ea typeface="宋体" panose="02010600030101010101" pitchFamily="2" charset="-122"/>
                </a:rPr>
                <a:t>*</a:t>
              </a:r>
            </a:p>
          </p:txBody>
        </p:sp>
      </p:grpSp>
      <p:sp>
        <p:nvSpPr>
          <p:cNvPr id="18445" name="Freeform 23">
            <a:extLst>
              <a:ext uri="{FF2B5EF4-FFF2-40B4-BE49-F238E27FC236}">
                <a16:creationId xmlns:a16="http://schemas.microsoft.com/office/drawing/2014/main" id="{1BB73B0C-3C51-4777-85E4-6D67CB9DEFD9}"/>
              </a:ext>
            </a:extLst>
          </p:cNvPr>
          <p:cNvSpPr>
            <a:spLocks/>
          </p:cNvSpPr>
          <p:nvPr/>
        </p:nvSpPr>
        <p:spPr bwMode="auto">
          <a:xfrm>
            <a:off x="5014913" y="4271963"/>
            <a:ext cx="3267075" cy="1271587"/>
          </a:xfrm>
          <a:custGeom>
            <a:avLst/>
            <a:gdLst>
              <a:gd name="T0" fmla="*/ 0 w 2058"/>
              <a:gd name="T1" fmla="*/ 2147483646 h 801"/>
              <a:gd name="T2" fmla="*/ 2147483646 w 2058"/>
              <a:gd name="T3" fmla="*/ 2147483646 h 801"/>
              <a:gd name="T4" fmla="*/ 2147483646 w 2058"/>
              <a:gd name="T5" fmla="*/ 2147483646 h 801"/>
              <a:gd name="T6" fmla="*/ 2147483646 w 2058"/>
              <a:gd name="T7" fmla="*/ 2147483646 h 801"/>
              <a:gd name="T8" fmla="*/ 2147483646 w 2058"/>
              <a:gd name="T9" fmla="*/ 2147483646 h 801"/>
              <a:gd name="T10" fmla="*/ 2147483646 w 2058"/>
              <a:gd name="T11" fmla="*/ 2147483646 h 801"/>
              <a:gd name="T12" fmla="*/ 2147483646 w 2058"/>
              <a:gd name="T13" fmla="*/ 2147483646 h 801"/>
              <a:gd name="T14" fmla="*/ 2147483646 w 2058"/>
              <a:gd name="T15" fmla="*/ 2147483646 h 801"/>
              <a:gd name="T16" fmla="*/ 2147483646 w 2058"/>
              <a:gd name="T17" fmla="*/ 2147483646 h 801"/>
              <a:gd name="T18" fmla="*/ 2147483646 w 2058"/>
              <a:gd name="T19" fmla="*/ 2147483646 h 801"/>
              <a:gd name="T20" fmla="*/ 2147483646 w 2058"/>
              <a:gd name="T21" fmla="*/ 2147483646 h 801"/>
              <a:gd name="T22" fmla="*/ 2147483646 w 2058"/>
              <a:gd name="T23" fmla="*/ 2147483646 h 801"/>
              <a:gd name="T24" fmla="*/ 2147483646 w 2058"/>
              <a:gd name="T25" fmla="*/ 2147483646 h 801"/>
              <a:gd name="T26" fmla="*/ 2147483646 w 2058"/>
              <a:gd name="T27" fmla="*/ 2147483646 h 801"/>
              <a:gd name="T28" fmla="*/ 2147483646 w 2058"/>
              <a:gd name="T29" fmla="*/ 2147483646 h 801"/>
              <a:gd name="T30" fmla="*/ 2147483646 w 2058"/>
              <a:gd name="T31" fmla="*/ 2147483646 h 801"/>
              <a:gd name="T32" fmla="*/ 2147483646 w 2058"/>
              <a:gd name="T33" fmla="*/ 2147483646 h 801"/>
              <a:gd name="T34" fmla="*/ 2147483646 w 2058"/>
              <a:gd name="T35" fmla="*/ 2147483646 h 801"/>
              <a:gd name="T36" fmla="*/ 2147483646 w 2058"/>
              <a:gd name="T37" fmla="*/ 2147483646 h 801"/>
              <a:gd name="T38" fmla="*/ 2147483646 w 2058"/>
              <a:gd name="T39" fmla="*/ 0 h 801"/>
              <a:gd name="T40" fmla="*/ 2147483646 w 2058"/>
              <a:gd name="T41" fmla="*/ 2147483646 h 801"/>
              <a:gd name="T42" fmla="*/ 2147483646 w 2058"/>
              <a:gd name="T43" fmla="*/ 2147483646 h 801"/>
              <a:gd name="T44" fmla="*/ 2147483646 w 2058"/>
              <a:gd name="T45" fmla="*/ 2147483646 h 801"/>
              <a:gd name="T46" fmla="*/ 2147483646 w 2058"/>
              <a:gd name="T47" fmla="*/ 2147483646 h 801"/>
              <a:gd name="T48" fmla="*/ 2147483646 w 2058"/>
              <a:gd name="T49" fmla="*/ 2147483646 h 801"/>
              <a:gd name="T50" fmla="*/ 2147483646 w 2058"/>
              <a:gd name="T51" fmla="*/ 2147483646 h 801"/>
              <a:gd name="T52" fmla="*/ 2147483646 w 2058"/>
              <a:gd name="T53" fmla="*/ 2147483646 h 801"/>
              <a:gd name="T54" fmla="*/ 2147483646 w 2058"/>
              <a:gd name="T55" fmla="*/ 2147483646 h 801"/>
              <a:gd name="T56" fmla="*/ 2147483646 w 2058"/>
              <a:gd name="T57" fmla="*/ 2147483646 h 801"/>
              <a:gd name="T58" fmla="*/ 2147483646 w 2058"/>
              <a:gd name="T59" fmla="*/ 2147483646 h 801"/>
              <a:gd name="T60" fmla="*/ 2147483646 w 2058"/>
              <a:gd name="T61" fmla="*/ 2147483646 h 801"/>
              <a:gd name="T62" fmla="*/ 2147483646 w 2058"/>
              <a:gd name="T63" fmla="*/ 2147483646 h 801"/>
              <a:gd name="T64" fmla="*/ 2147483646 w 2058"/>
              <a:gd name="T65" fmla="*/ 2147483646 h 8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8"/>
              <a:gd name="T100" fmla="*/ 0 h 801"/>
              <a:gd name="T101" fmla="*/ 2058 w 2058"/>
              <a:gd name="T102" fmla="*/ 801 h 8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8" h="801">
                <a:moveTo>
                  <a:pt x="0" y="800"/>
                </a:moveTo>
                <a:lnTo>
                  <a:pt x="26" y="794"/>
                </a:lnTo>
                <a:lnTo>
                  <a:pt x="51" y="788"/>
                </a:lnTo>
                <a:lnTo>
                  <a:pt x="85" y="769"/>
                </a:lnTo>
                <a:lnTo>
                  <a:pt x="102" y="751"/>
                </a:lnTo>
                <a:lnTo>
                  <a:pt x="119" y="733"/>
                </a:lnTo>
                <a:lnTo>
                  <a:pt x="145" y="708"/>
                </a:lnTo>
                <a:lnTo>
                  <a:pt x="162" y="672"/>
                </a:lnTo>
                <a:lnTo>
                  <a:pt x="213" y="592"/>
                </a:lnTo>
                <a:lnTo>
                  <a:pt x="272" y="507"/>
                </a:lnTo>
                <a:lnTo>
                  <a:pt x="349" y="421"/>
                </a:lnTo>
                <a:lnTo>
                  <a:pt x="434" y="336"/>
                </a:lnTo>
                <a:lnTo>
                  <a:pt x="544" y="250"/>
                </a:lnTo>
                <a:lnTo>
                  <a:pt x="655" y="171"/>
                </a:lnTo>
                <a:lnTo>
                  <a:pt x="714" y="140"/>
                </a:lnTo>
                <a:lnTo>
                  <a:pt x="774" y="110"/>
                </a:lnTo>
                <a:lnTo>
                  <a:pt x="884" y="61"/>
                </a:lnTo>
                <a:lnTo>
                  <a:pt x="1003" y="24"/>
                </a:lnTo>
                <a:lnTo>
                  <a:pt x="1122" y="6"/>
                </a:lnTo>
                <a:lnTo>
                  <a:pt x="1233" y="0"/>
                </a:lnTo>
                <a:lnTo>
                  <a:pt x="1292" y="6"/>
                </a:lnTo>
                <a:lnTo>
                  <a:pt x="1352" y="18"/>
                </a:lnTo>
                <a:lnTo>
                  <a:pt x="1462" y="61"/>
                </a:lnTo>
                <a:lnTo>
                  <a:pt x="1573" y="110"/>
                </a:lnTo>
                <a:lnTo>
                  <a:pt x="1666" y="165"/>
                </a:lnTo>
                <a:lnTo>
                  <a:pt x="1743" y="220"/>
                </a:lnTo>
                <a:lnTo>
                  <a:pt x="1811" y="287"/>
                </a:lnTo>
                <a:lnTo>
                  <a:pt x="1870" y="360"/>
                </a:lnTo>
                <a:lnTo>
                  <a:pt x="1921" y="421"/>
                </a:lnTo>
                <a:lnTo>
                  <a:pt x="1964" y="482"/>
                </a:lnTo>
                <a:lnTo>
                  <a:pt x="2006" y="543"/>
                </a:lnTo>
                <a:lnTo>
                  <a:pt x="2032" y="598"/>
                </a:lnTo>
                <a:lnTo>
                  <a:pt x="2057" y="641"/>
                </a:lnTo>
              </a:path>
            </a:pathLst>
          </a:custGeom>
          <a:noFill/>
          <a:ln w="50800" cap="rnd">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dirty="0"/>
          </a:p>
        </p:txBody>
      </p:sp>
      <p:graphicFrame>
        <p:nvGraphicFramePr>
          <p:cNvPr id="18446" name="Object 2">
            <a:hlinkClick r:id="" action="ppaction://ole?verb=0"/>
            <a:extLst>
              <a:ext uri="{FF2B5EF4-FFF2-40B4-BE49-F238E27FC236}">
                <a16:creationId xmlns:a16="http://schemas.microsoft.com/office/drawing/2014/main" id="{2B639B8A-6715-41C9-A149-A2A5E0F3DC27}"/>
              </a:ext>
            </a:extLst>
          </p:cNvPr>
          <p:cNvGraphicFramePr>
            <a:graphicFrameLocks/>
          </p:cNvGraphicFramePr>
          <p:nvPr/>
        </p:nvGraphicFramePr>
        <p:xfrm>
          <a:off x="8175625" y="5268913"/>
          <a:ext cx="503238" cy="312737"/>
        </p:xfrm>
        <a:graphic>
          <a:graphicData uri="http://schemas.openxmlformats.org/presentationml/2006/ole">
            <mc:AlternateContent xmlns:mc="http://schemas.openxmlformats.org/markup-compatibility/2006">
              <mc:Choice xmlns:v="urn:schemas-microsoft-com:vml" Requires="v">
                <p:oleObj spid="_x0000_s3099" name="Equation" r:id="rId4" imgW="501496" imgH="311655" progId="Equation.DSMT4">
                  <p:embed/>
                </p:oleObj>
              </mc:Choice>
              <mc:Fallback>
                <p:oleObj name="Equation" r:id="rId4" imgW="501496" imgH="311655" progId="Equation.DSMT4">
                  <p:embed/>
                  <p:pic>
                    <p:nvPicPr>
                      <p:cNvPr id="18446" name="Object 2">
                        <a:hlinkClick r:id="" action="ppaction://ole?verb=0"/>
                        <a:extLst>
                          <a:ext uri="{FF2B5EF4-FFF2-40B4-BE49-F238E27FC236}">
                            <a16:creationId xmlns:a16="http://schemas.microsoft.com/office/drawing/2014/main" id="{2B639B8A-6715-41C9-A149-A2A5E0F3DC2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5625" y="5268913"/>
                        <a:ext cx="503238"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6501">
                                            <p:txEl>
                                              <p:pRg st="0" end="0"/>
                                            </p:txEl>
                                          </p:spTgt>
                                        </p:tgtEl>
                                        <p:attrNameLst>
                                          <p:attrName>style.visibility</p:attrName>
                                        </p:attrNameLst>
                                      </p:cBhvr>
                                      <p:to>
                                        <p:strVal val="visible"/>
                                      </p:to>
                                    </p:set>
                                    <p:animEffect transition="in" filter="wipe(left)">
                                      <p:cBhvr>
                                        <p:cTn id="27" dur="500"/>
                                        <p:tgtEl>
                                          <p:spTgt spid="106501">
                                            <p:txEl>
                                              <p:pRg st="0" end="0"/>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06501">
                                            <p:txEl>
                                              <p:pRg st="1" end="1"/>
                                            </p:txEl>
                                          </p:spTgt>
                                        </p:tgtEl>
                                        <p:attrNameLst>
                                          <p:attrName>style.visibility</p:attrName>
                                        </p:attrNameLst>
                                      </p:cBhvr>
                                      <p:to>
                                        <p:strVal val="visible"/>
                                      </p:to>
                                    </p:set>
                                    <p:animEffect transition="in" filter="wipe(left)">
                                      <p:cBhvr>
                                        <p:cTn id="30" dur="500"/>
                                        <p:tgtEl>
                                          <p:spTgt spid="106501">
                                            <p:txEl>
                                              <p:pRg st="1" end="1"/>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06501">
                                            <p:txEl>
                                              <p:pRg st="2" end="2"/>
                                            </p:txEl>
                                          </p:spTgt>
                                        </p:tgtEl>
                                        <p:attrNameLst>
                                          <p:attrName>style.visibility</p:attrName>
                                        </p:attrNameLst>
                                      </p:cBhvr>
                                      <p:to>
                                        <p:strVal val="visible"/>
                                      </p:to>
                                    </p:set>
                                    <p:animEffect transition="in" filter="wipe(left)">
                                      <p:cBhvr>
                                        <p:cTn id="33" dur="500"/>
                                        <p:tgtEl>
                                          <p:spTgt spid="106501">
                                            <p:txEl>
                                              <p:pRg st="2" end="2"/>
                                            </p:txEl>
                                          </p:spTgt>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06501">
                                            <p:txEl>
                                              <p:pRg st="3" end="3"/>
                                            </p:txEl>
                                          </p:spTgt>
                                        </p:tgtEl>
                                        <p:attrNameLst>
                                          <p:attrName>style.visibility</p:attrName>
                                        </p:attrNameLst>
                                      </p:cBhvr>
                                      <p:to>
                                        <p:strVal val="visible"/>
                                      </p:to>
                                    </p:set>
                                    <p:animEffect transition="in" filter="wipe(left)">
                                      <p:cBhvr>
                                        <p:cTn id="36" dur="500"/>
                                        <p:tgtEl>
                                          <p:spTgt spid="106501">
                                            <p:txEl>
                                              <p:pRg st="3" end="3"/>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06501">
                                            <p:txEl>
                                              <p:pRg st="4" end="4"/>
                                            </p:txEl>
                                          </p:spTgt>
                                        </p:tgtEl>
                                        <p:attrNameLst>
                                          <p:attrName>style.visibility</p:attrName>
                                        </p:attrNameLst>
                                      </p:cBhvr>
                                      <p:to>
                                        <p:strVal val="visible"/>
                                      </p:to>
                                    </p:set>
                                    <p:animEffect transition="in" filter="wipe(left)">
                                      <p:cBhvr>
                                        <p:cTn id="39" dur="500"/>
                                        <p:tgtEl>
                                          <p:spTgt spid="106501">
                                            <p:txEl>
                                              <p:pRg st="4" end="4"/>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06501">
                                            <p:txEl>
                                              <p:pRg st="5" end="5"/>
                                            </p:txEl>
                                          </p:spTgt>
                                        </p:tgtEl>
                                        <p:attrNameLst>
                                          <p:attrName>style.visibility</p:attrName>
                                        </p:attrNameLst>
                                      </p:cBhvr>
                                      <p:to>
                                        <p:strVal val="visible"/>
                                      </p:to>
                                    </p:set>
                                    <p:animEffect transition="in" filter="wipe(left)">
                                      <p:cBhvr>
                                        <p:cTn id="42" dur="500"/>
                                        <p:tgtEl>
                                          <p:spTgt spid="106501">
                                            <p:txEl>
                                              <p:pRg st="5" end="5"/>
                                            </p:txEl>
                                          </p:spTgt>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06501">
                                            <p:txEl>
                                              <p:pRg st="6" end="6"/>
                                            </p:txEl>
                                          </p:spTgt>
                                        </p:tgtEl>
                                        <p:attrNameLst>
                                          <p:attrName>style.visibility</p:attrName>
                                        </p:attrNameLst>
                                      </p:cBhvr>
                                      <p:to>
                                        <p:strVal val="visible"/>
                                      </p:to>
                                    </p:set>
                                    <p:animEffect transition="in" filter="wipe(left)">
                                      <p:cBhvr>
                                        <p:cTn id="45" dur="500"/>
                                        <p:tgtEl>
                                          <p:spTgt spid="10650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1"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a:extLst>
              <a:ext uri="{FF2B5EF4-FFF2-40B4-BE49-F238E27FC236}">
                <a16:creationId xmlns:a16="http://schemas.microsoft.com/office/drawing/2014/main" id="{1CDC312A-2D17-4D03-AD72-048DEB89C7BB}"/>
              </a:ext>
            </a:extLst>
          </p:cNvPr>
          <p:cNvSpPr>
            <a:spLocks noGrp="1" noChangeArrowheads="1"/>
          </p:cNvSpPr>
          <p:nvPr>
            <p:ph type="body" sz="half" idx="1"/>
          </p:nvPr>
        </p:nvSpPr>
        <p:spPr>
          <a:xfrm>
            <a:off x="323850" y="1219200"/>
            <a:ext cx="3714750" cy="4114800"/>
          </a:xfrm>
          <a:noFill/>
        </p:spPr>
        <p:txBody>
          <a:bodyPr/>
          <a:lstStyle/>
          <a:p>
            <a:pPr eaLnBrk="1" hangingPunct="1">
              <a:spcBef>
                <a:spcPct val="70000"/>
              </a:spcBef>
              <a:buFont typeface="Wingdings" panose="05000000000000000000" pitchFamily="2" charset="2"/>
              <a:buNone/>
            </a:pPr>
            <a:endParaRPr lang="en-US" altLang="zh-CN" sz="2400">
              <a:latin typeface="黑体" panose="02010609060101010101" pitchFamily="49" charset="-122"/>
              <a:ea typeface="黑体" panose="02010609060101010101" pitchFamily="49" charset="-122"/>
            </a:endParaRPr>
          </a:p>
          <a:p>
            <a:pPr lvl="1" eaLnBrk="1" hangingPunct="1">
              <a:buSzPct val="75000"/>
            </a:pPr>
            <a:r>
              <a:rPr lang="zh-CN" altLang="en-US">
                <a:latin typeface="黑体" panose="02010609060101010101" pitchFamily="49" charset="-122"/>
                <a:ea typeface="黑体" panose="02010609060101010101" pitchFamily="49" charset="-122"/>
              </a:rPr>
              <a:t>产量在</a:t>
            </a:r>
            <a:r>
              <a:rPr lang="en-US" altLang="zh-CN">
                <a:latin typeface="黑体" panose="02010609060101010101" pitchFamily="49" charset="-122"/>
                <a:ea typeface="黑体" panose="02010609060101010101" pitchFamily="49" charset="-122"/>
              </a:rPr>
              <a:t>q</a:t>
            </a:r>
            <a:r>
              <a:rPr lang="en-US" altLang="zh-CN" baseline="-25000">
                <a:latin typeface="黑体" panose="02010609060101010101" pitchFamily="49" charset="-122"/>
                <a:ea typeface="黑体" panose="02010609060101010101" pitchFamily="49" charset="-122"/>
              </a:rPr>
              <a:t>0</a:t>
            </a:r>
            <a:r>
              <a:rPr lang="en-US" altLang="zh-CN">
                <a:latin typeface="黑体" panose="02010609060101010101" pitchFamily="49" charset="-122"/>
                <a:ea typeface="黑体" panose="02010609060101010101" pitchFamily="49" charset="-122"/>
              </a:rPr>
              <a:t> - </a:t>
            </a:r>
            <a:r>
              <a:rPr lang="en-US" altLang="zh-CN" baseline="-25000">
                <a:latin typeface="黑体" panose="02010609060101010101" pitchFamily="49" charset="-122"/>
                <a:ea typeface="黑体" panose="02010609060101010101" pitchFamily="49" charset="-122"/>
              </a:rPr>
              <a:t> </a:t>
            </a:r>
            <a:r>
              <a:rPr lang="en-US" altLang="zh-CN">
                <a:latin typeface="黑体" panose="02010609060101010101" pitchFamily="49" charset="-122"/>
                <a:ea typeface="黑体" panose="02010609060101010101" pitchFamily="49" charset="-122"/>
              </a:rPr>
              <a:t>q</a:t>
            </a:r>
            <a:r>
              <a:rPr lang="en-US" altLang="zh-CN" baseline="30000">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之间时：</a:t>
            </a:r>
          </a:p>
          <a:p>
            <a:pPr lvl="2" eaLnBrk="1" hangingPunct="1">
              <a:spcBef>
                <a:spcPct val="35000"/>
              </a:spcBef>
            </a:pPr>
            <a:r>
              <a:rPr lang="en-US" altLang="zh-CN" sz="2400">
                <a:latin typeface="黑体" panose="02010609060101010101" pitchFamily="49" charset="-122"/>
                <a:ea typeface="黑体" panose="02010609060101010101" pitchFamily="49" charset="-122"/>
              </a:rPr>
              <a:t>TR(Q) &gt; TC(Q)</a:t>
            </a:r>
          </a:p>
          <a:p>
            <a:pPr lvl="2" eaLnBrk="1" hangingPunct="1">
              <a:spcBef>
                <a:spcPct val="35000"/>
              </a:spcBef>
            </a:pPr>
            <a:r>
              <a:rPr lang="en-US" altLang="zh-CN" sz="2400">
                <a:latin typeface="黑体" panose="02010609060101010101" pitchFamily="49" charset="-122"/>
                <a:ea typeface="黑体" panose="02010609060101010101" pitchFamily="49" charset="-122"/>
              </a:rPr>
              <a:t>MR &gt; MC</a:t>
            </a:r>
          </a:p>
          <a:p>
            <a:pPr lvl="3" eaLnBrk="1" hangingPunct="1"/>
            <a:r>
              <a:rPr lang="zh-CN" altLang="en-US">
                <a:latin typeface="黑体" panose="02010609060101010101" pitchFamily="49" charset="-122"/>
                <a:ea typeface="黑体" panose="02010609060101010101" pitchFamily="49" charset="-122"/>
              </a:rPr>
              <a:t>这意味着产量越高，利润也越高。</a:t>
            </a:r>
          </a:p>
          <a:p>
            <a:pPr lvl="3" eaLnBrk="1" hangingPunct="1"/>
            <a:r>
              <a:rPr lang="zh-CN" altLang="en-US">
                <a:latin typeface="黑体" panose="02010609060101010101" pitchFamily="49" charset="-122"/>
                <a:ea typeface="黑体" panose="02010609060101010101" pitchFamily="49" charset="-122"/>
              </a:rPr>
              <a:t>利润在不断地增加。</a:t>
            </a:r>
          </a:p>
        </p:txBody>
      </p:sp>
      <p:sp>
        <p:nvSpPr>
          <p:cNvPr id="20483" name="Rectangle 3">
            <a:extLst>
              <a:ext uri="{FF2B5EF4-FFF2-40B4-BE49-F238E27FC236}">
                <a16:creationId xmlns:a16="http://schemas.microsoft.com/office/drawing/2014/main" id="{31561D41-1397-411D-A2B5-1C143E73FFFF}"/>
              </a:ext>
            </a:extLst>
          </p:cNvPr>
          <p:cNvSpPr>
            <a:spLocks noChangeArrowheads="1"/>
          </p:cNvSpPr>
          <p:nvPr/>
        </p:nvSpPr>
        <p:spPr bwMode="auto">
          <a:xfrm>
            <a:off x="32766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20484" name="Line 54">
            <a:extLst>
              <a:ext uri="{FF2B5EF4-FFF2-40B4-BE49-F238E27FC236}">
                <a16:creationId xmlns:a16="http://schemas.microsoft.com/office/drawing/2014/main" id="{1A5BD060-9B35-4FFD-B8EA-53E876930A97}"/>
              </a:ext>
            </a:extLst>
          </p:cNvPr>
          <p:cNvSpPr>
            <a:spLocks noChangeShapeType="1"/>
          </p:cNvSpPr>
          <p:nvPr/>
        </p:nvSpPr>
        <p:spPr bwMode="auto">
          <a:xfrm>
            <a:off x="4654550" y="4713288"/>
            <a:ext cx="39433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0485" name="Group 55">
            <a:extLst>
              <a:ext uri="{FF2B5EF4-FFF2-40B4-BE49-F238E27FC236}">
                <a16:creationId xmlns:a16="http://schemas.microsoft.com/office/drawing/2014/main" id="{B6D127E8-CF74-430E-A689-338AA9F24D2D}"/>
              </a:ext>
            </a:extLst>
          </p:cNvPr>
          <p:cNvGrpSpPr>
            <a:grpSpLocks/>
          </p:cNvGrpSpPr>
          <p:nvPr/>
        </p:nvGrpSpPr>
        <p:grpSpPr bwMode="auto">
          <a:xfrm>
            <a:off x="4638675" y="2473325"/>
            <a:ext cx="4021138" cy="2243138"/>
            <a:chOff x="3258" y="1942"/>
            <a:chExt cx="2533" cy="1413"/>
          </a:xfrm>
        </p:grpSpPr>
        <p:sp>
          <p:nvSpPr>
            <p:cNvPr id="20509" name="Freeform 56">
              <a:extLst>
                <a:ext uri="{FF2B5EF4-FFF2-40B4-BE49-F238E27FC236}">
                  <a16:creationId xmlns:a16="http://schemas.microsoft.com/office/drawing/2014/main" id="{8E71938E-9EDB-44C3-8D82-831B097708E1}"/>
                </a:ext>
              </a:extLst>
            </p:cNvPr>
            <p:cNvSpPr>
              <a:spLocks/>
            </p:cNvSpPr>
            <p:nvPr/>
          </p:nvSpPr>
          <p:spPr bwMode="auto">
            <a:xfrm>
              <a:off x="3258" y="2038"/>
              <a:ext cx="2059" cy="1317"/>
            </a:xfrm>
            <a:custGeom>
              <a:avLst/>
              <a:gdLst>
                <a:gd name="T0" fmla="*/ 0 w 2059"/>
                <a:gd name="T1" fmla="*/ 1316 h 1317"/>
                <a:gd name="T2" fmla="*/ 161 w 2059"/>
                <a:gd name="T3" fmla="*/ 1107 h 1317"/>
                <a:gd name="T4" fmla="*/ 331 w 2059"/>
                <a:gd name="T5" fmla="*/ 908 h 1317"/>
                <a:gd name="T6" fmla="*/ 408 w 2059"/>
                <a:gd name="T7" fmla="*/ 809 h 1317"/>
                <a:gd name="T8" fmla="*/ 493 w 2059"/>
                <a:gd name="T9" fmla="*/ 721 h 1317"/>
                <a:gd name="T10" fmla="*/ 570 w 2059"/>
                <a:gd name="T11" fmla="*/ 639 h 1317"/>
                <a:gd name="T12" fmla="*/ 655 w 2059"/>
                <a:gd name="T13" fmla="*/ 562 h 1317"/>
                <a:gd name="T14" fmla="*/ 740 w 2059"/>
                <a:gd name="T15" fmla="*/ 490 h 1317"/>
                <a:gd name="T16" fmla="*/ 816 w 2059"/>
                <a:gd name="T17" fmla="*/ 429 h 1317"/>
                <a:gd name="T18" fmla="*/ 986 w 2059"/>
                <a:gd name="T19" fmla="*/ 319 h 1317"/>
                <a:gd name="T20" fmla="*/ 1148 w 2059"/>
                <a:gd name="T21" fmla="*/ 226 h 1317"/>
                <a:gd name="T22" fmla="*/ 1301 w 2059"/>
                <a:gd name="T23" fmla="*/ 148 h 1317"/>
                <a:gd name="T24" fmla="*/ 1369 w 2059"/>
                <a:gd name="T25" fmla="*/ 121 h 1317"/>
                <a:gd name="T26" fmla="*/ 1437 w 2059"/>
                <a:gd name="T27" fmla="*/ 93 h 1317"/>
                <a:gd name="T28" fmla="*/ 1565 w 2059"/>
                <a:gd name="T29" fmla="*/ 55 h 1317"/>
                <a:gd name="T30" fmla="*/ 1684 w 2059"/>
                <a:gd name="T31" fmla="*/ 33 h 1317"/>
                <a:gd name="T32" fmla="*/ 1786 w 2059"/>
                <a:gd name="T33" fmla="*/ 11 h 1317"/>
                <a:gd name="T34" fmla="*/ 1871 w 2059"/>
                <a:gd name="T35" fmla="*/ 0 h 1317"/>
                <a:gd name="T36" fmla="*/ 1939 w 2059"/>
                <a:gd name="T37" fmla="*/ 0 h 1317"/>
                <a:gd name="T38" fmla="*/ 1998 w 2059"/>
                <a:gd name="T39" fmla="*/ 5 h 1317"/>
                <a:gd name="T40" fmla="*/ 2058 w 2059"/>
                <a:gd name="T41" fmla="*/ 11 h 13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59"/>
                <a:gd name="T64" fmla="*/ 0 h 1317"/>
                <a:gd name="T65" fmla="*/ 2059 w 2059"/>
                <a:gd name="T66" fmla="*/ 1317 h 13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59" h="1317">
                  <a:moveTo>
                    <a:pt x="0" y="1316"/>
                  </a:moveTo>
                  <a:lnTo>
                    <a:pt x="161" y="1107"/>
                  </a:lnTo>
                  <a:lnTo>
                    <a:pt x="331" y="908"/>
                  </a:lnTo>
                  <a:lnTo>
                    <a:pt x="408" y="809"/>
                  </a:lnTo>
                  <a:lnTo>
                    <a:pt x="493" y="721"/>
                  </a:lnTo>
                  <a:lnTo>
                    <a:pt x="570" y="639"/>
                  </a:lnTo>
                  <a:lnTo>
                    <a:pt x="655" y="562"/>
                  </a:lnTo>
                  <a:lnTo>
                    <a:pt x="740" y="490"/>
                  </a:lnTo>
                  <a:lnTo>
                    <a:pt x="816" y="429"/>
                  </a:lnTo>
                  <a:lnTo>
                    <a:pt x="986" y="319"/>
                  </a:lnTo>
                  <a:lnTo>
                    <a:pt x="1148" y="226"/>
                  </a:lnTo>
                  <a:lnTo>
                    <a:pt x="1301" y="148"/>
                  </a:lnTo>
                  <a:lnTo>
                    <a:pt x="1369" y="121"/>
                  </a:lnTo>
                  <a:lnTo>
                    <a:pt x="1437" y="93"/>
                  </a:lnTo>
                  <a:lnTo>
                    <a:pt x="1565" y="55"/>
                  </a:lnTo>
                  <a:lnTo>
                    <a:pt x="1684" y="33"/>
                  </a:lnTo>
                  <a:lnTo>
                    <a:pt x="1786" y="11"/>
                  </a:lnTo>
                  <a:lnTo>
                    <a:pt x="1871" y="0"/>
                  </a:lnTo>
                  <a:lnTo>
                    <a:pt x="1939" y="0"/>
                  </a:lnTo>
                  <a:lnTo>
                    <a:pt x="1998" y="5"/>
                  </a:lnTo>
                  <a:lnTo>
                    <a:pt x="2058" y="11"/>
                  </a:lnTo>
                </a:path>
              </a:pathLst>
            </a:custGeom>
            <a:noFill/>
            <a:ln w="50800" cap="rnd">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10" name="Rectangle 57">
              <a:extLst>
                <a:ext uri="{FF2B5EF4-FFF2-40B4-BE49-F238E27FC236}">
                  <a16:creationId xmlns:a16="http://schemas.microsoft.com/office/drawing/2014/main" id="{E74732A3-CACD-4A0D-B81C-7D8316D53FD5}"/>
                </a:ext>
              </a:extLst>
            </p:cNvPr>
            <p:cNvSpPr>
              <a:spLocks noChangeArrowheads="1"/>
            </p:cNvSpPr>
            <p:nvPr/>
          </p:nvSpPr>
          <p:spPr bwMode="auto">
            <a:xfrm>
              <a:off x="5304" y="1942"/>
              <a:ext cx="4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TR(Q)</a:t>
              </a:r>
            </a:p>
          </p:txBody>
        </p:sp>
      </p:grpSp>
      <p:sp>
        <p:nvSpPr>
          <p:cNvPr id="20486" name="Line 59">
            <a:extLst>
              <a:ext uri="{FF2B5EF4-FFF2-40B4-BE49-F238E27FC236}">
                <a16:creationId xmlns:a16="http://schemas.microsoft.com/office/drawing/2014/main" id="{3A266B8B-5081-42ED-BF58-A938E41B74ED}"/>
              </a:ext>
            </a:extLst>
          </p:cNvPr>
          <p:cNvSpPr>
            <a:spLocks noChangeShapeType="1"/>
          </p:cNvSpPr>
          <p:nvPr/>
        </p:nvSpPr>
        <p:spPr bwMode="auto">
          <a:xfrm>
            <a:off x="4640263" y="2606675"/>
            <a:ext cx="0" cy="285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87" name="Rectangle 60">
            <a:extLst>
              <a:ext uri="{FF2B5EF4-FFF2-40B4-BE49-F238E27FC236}">
                <a16:creationId xmlns:a16="http://schemas.microsoft.com/office/drawing/2014/main" id="{4F2E4B80-FA49-4147-B5F5-B7E9EE645E5B}"/>
              </a:ext>
            </a:extLst>
          </p:cNvPr>
          <p:cNvSpPr>
            <a:spLocks noChangeArrowheads="1"/>
          </p:cNvSpPr>
          <p:nvPr/>
        </p:nvSpPr>
        <p:spPr bwMode="auto">
          <a:xfrm>
            <a:off x="4286250" y="4738688"/>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O</a:t>
            </a:r>
            <a:endParaRPr lang="zh-CN" altLang="en-US" sz="2000">
              <a:latin typeface="Times New Roman" panose="02020603050405020304" pitchFamily="18" charset="0"/>
              <a:ea typeface="宋体" panose="02010600030101010101" pitchFamily="2" charset="-122"/>
            </a:endParaRPr>
          </a:p>
        </p:txBody>
      </p:sp>
      <p:sp>
        <p:nvSpPr>
          <p:cNvPr id="20488" name="Rectangle 61">
            <a:extLst>
              <a:ext uri="{FF2B5EF4-FFF2-40B4-BE49-F238E27FC236}">
                <a16:creationId xmlns:a16="http://schemas.microsoft.com/office/drawing/2014/main" id="{47BA5DF0-DBA6-4A29-88CB-6CB88DF301CB}"/>
              </a:ext>
            </a:extLst>
          </p:cNvPr>
          <p:cNvSpPr>
            <a:spLocks noChangeArrowheads="1"/>
          </p:cNvSpPr>
          <p:nvPr/>
        </p:nvSpPr>
        <p:spPr bwMode="auto">
          <a:xfrm>
            <a:off x="4256088" y="1776413"/>
            <a:ext cx="54133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收入</a:t>
            </a:r>
          </a:p>
          <a:p>
            <a:pPr algn="ctr" eaLnBrk="1" hangingPunct="1">
              <a:spcBef>
                <a:spcPct val="0"/>
              </a:spcBef>
              <a:buClrTx/>
              <a:buFontTx/>
              <a:buNone/>
            </a:pPr>
            <a:r>
              <a:rPr lang="zh-CN" altLang="en-US" sz="1400"/>
              <a:t>成本</a:t>
            </a:r>
          </a:p>
          <a:p>
            <a:pPr algn="ctr" eaLnBrk="1" hangingPunct="1">
              <a:spcBef>
                <a:spcPct val="0"/>
              </a:spcBef>
              <a:buClrTx/>
              <a:buFontTx/>
              <a:buNone/>
            </a:pPr>
            <a:r>
              <a:rPr lang="zh-CN" altLang="en-US" sz="1400"/>
              <a:t>利润</a:t>
            </a:r>
          </a:p>
        </p:txBody>
      </p:sp>
      <p:sp>
        <p:nvSpPr>
          <p:cNvPr id="20489" name="Rectangle 62">
            <a:extLst>
              <a:ext uri="{FF2B5EF4-FFF2-40B4-BE49-F238E27FC236}">
                <a16:creationId xmlns:a16="http://schemas.microsoft.com/office/drawing/2014/main" id="{A3CE0744-2391-4945-96BE-21C6FCD8430F}"/>
              </a:ext>
            </a:extLst>
          </p:cNvPr>
          <p:cNvSpPr>
            <a:spLocks noChangeArrowheads="1"/>
          </p:cNvSpPr>
          <p:nvPr/>
        </p:nvSpPr>
        <p:spPr bwMode="auto">
          <a:xfrm>
            <a:off x="7897813" y="5318125"/>
            <a:ext cx="541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产量</a:t>
            </a:r>
          </a:p>
        </p:txBody>
      </p:sp>
      <p:grpSp>
        <p:nvGrpSpPr>
          <p:cNvPr id="20490" name="Group 63">
            <a:extLst>
              <a:ext uri="{FF2B5EF4-FFF2-40B4-BE49-F238E27FC236}">
                <a16:creationId xmlns:a16="http://schemas.microsoft.com/office/drawing/2014/main" id="{FCD24C85-596E-4CEB-9A95-354BA6C41F8E}"/>
              </a:ext>
            </a:extLst>
          </p:cNvPr>
          <p:cNvGrpSpPr>
            <a:grpSpLocks/>
          </p:cNvGrpSpPr>
          <p:nvPr/>
        </p:nvGrpSpPr>
        <p:grpSpPr bwMode="auto">
          <a:xfrm>
            <a:off x="4637088" y="2038350"/>
            <a:ext cx="3594100" cy="2135188"/>
            <a:chOff x="3257" y="1668"/>
            <a:chExt cx="2264" cy="1345"/>
          </a:xfrm>
        </p:grpSpPr>
        <p:sp>
          <p:nvSpPr>
            <p:cNvPr id="20507" name="Freeform 64">
              <a:extLst>
                <a:ext uri="{FF2B5EF4-FFF2-40B4-BE49-F238E27FC236}">
                  <a16:creationId xmlns:a16="http://schemas.microsoft.com/office/drawing/2014/main" id="{57113377-AA59-4C37-8CAB-D3F89B77D48E}"/>
                </a:ext>
              </a:extLst>
            </p:cNvPr>
            <p:cNvSpPr>
              <a:spLocks/>
            </p:cNvSpPr>
            <p:nvPr/>
          </p:nvSpPr>
          <p:spPr bwMode="auto">
            <a:xfrm>
              <a:off x="3257" y="1846"/>
              <a:ext cx="1991" cy="1167"/>
            </a:xfrm>
            <a:custGeom>
              <a:avLst/>
              <a:gdLst>
                <a:gd name="T0" fmla="*/ 0 w 1991"/>
                <a:gd name="T1" fmla="*/ 1166 h 1167"/>
                <a:gd name="T2" fmla="*/ 59 w 1991"/>
                <a:gd name="T3" fmla="*/ 1131 h 1167"/>
                <a:gd name="T4" fmla="*/ 101 w 1991"/>
                <a:gd name="T5" fmla="*/ 1111 h 1167"/>
                <a:gd name="T6" fmla="*/ 143 w 1991"/>
                <a:gd name="T7" fmla="*/ 1097 h 1167"/>
                <a:gd name="T8" fmla="*/ 185 w 1991"/>
                <a:gd name="T9" fmla="*/ 1087 h 1167"/>
                <a:gd name="T10" fmla="*/ 235 w 1991"/>
                <a:gd name="T11" fmla="*/ 1082 h 1167"/>
                <a:gd name="T12" fmla="*/ 303 w 1991"/>
                <a:gd name="T13" fmla="*/ 1077 h 1167"/>
                <a:gd name="T14" fmla="*/ 378 w 1991"/>
                <a:gd name="T15" fmla="*/ 1062 h 1167"/>
                <a:gd name="T16" fmla="*/ 428 w 1991"/>
                <a:gd name="T17" fmla="*/ 1052 h 1167"/>
                <a:gd name="T18" fmla="*/ 479 w 1991"/>
                <a:gd name="T19" fmla="*/ 1042 h 1167"/>
                <a:gd name="T20" fmla="*/ 605 w 1991"/>
                <a:gd name="T21" fmla="*/ 1017 h 1167"/>
                <a:gd name="T22" fmla="*/ 739 w 1991"/>
                <a:gd name="T23" fmla="*/ 992 h 1167"/>
                <a:gd name="T24" fmla="*/ 857 w 1991"/>
                <a:gd name="T25" fmla="*/ 958 h 1167"/>
                <a:gd name="T26" fmla="*/ 974 w 1991"/>
                <a:gd name="T27" fmla="*/ 923 h 1167"/>
                <a:gd name="T28" fmla="*/ 1083 w 1991"/>
                <a:gd name="T29" fmla="*/ 888 h 1167"/>
                <a:gd name="T30" fmla="*/ 1192 w 1991"/>
                <a:gd name="T31" fmla="*/ 844 h 1167"/>
                <a:gd name="T32" fmla="*/ 1302 w 1991"/>
                <a:gd name="T33" fmla="*/ 789 h 1167"/>
                <a:gd name="T34" fmla="*/ 1419 w 1991"/>
                <a:gd name="T35" fmla="*/ 715 h 1167"/>
                <a:gd name="T36" fmla="*/ 1537 w 1991"/>
                <a:gd name="T37" fmla="*/ 635 h 1167"/>
                <a:gd name="T38" fmla="*/ 1654 w 1991"/>
                <a:gd name="T39" fmla="*/ 541 h 1167"/>
                <a:gd name="T40" fmla="*/ 1747 w 1991"/>
                <a:gd name="T41" fmla="*/ 447 h 1167"/>
                <a:gd name="T42" fmla="*/ 1822 w 1991"/>
                <a:gd name="T43" fmla="*/ 343 h 1167"/>
                <a:gd name="T44" fmla="*/ 1889 w 1991"/>
                <a:gd name="T45" fmla="*/ 234 h 1167"/>
                <a:gd name="T46" fmla="*/ 1940 w 1991"/>
                <a:gd name="T47" fmla="*/ 119 h 1167"/>
                <a:gd name="T48" fmla="*/ 1990 w 1991"/>
                <a:gd name="T49" fmla="*/ 0 h 1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91"/>
                <a:gd name="T76" fmla="*/ 0 h 1167"/>
                <a:gd name="T77" fmla="*/ 1991 w 1991"/>
                <a:gd name="T78" fmla="*/ 1167 h 116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91" h="1167">
                  <a:moveTo>
                    <a:pt x="0" y="1166"/>
                  </a:moveTo>
                  <a:lnTo>
                    <a:pt x="59" y="1131"/>
                  </a:lnTo>
                  <a:lnTo>
                    <a:pt x="101" y="1111"/>
                  </a:lnTo>
                  <a:lnTo>
                    <a:pt x="143" y="1097"/>
                  </a:lnTo>
                  <a:lnTo>
                    <a:pt x="185" y="1087"/>
                  </a:lnTo>
                  <a:lnTo>
                    <a:pt x="235" y="1082"/>
                  </a:lnTo>
                  <a:lnTo>
                    <a:pt x="303" y="1077"/>
                  </a:lnTo>
                  <a:lnTo>
                    <a:pt x="378" y="1062"/>
                  </a:lnTo>
                  <a:lnTo>
                    <a:pt x="428" y="1052"/>
                  </a:lnTo>
                  <a:lnTo>
                    <a:pt x="479" y="1042"/>
                  </a:lnTo>
                  <a:lnTo>
                    <a:pt x="605" y="1017"/>
                  </a:lnTo>
                  <a:lnTo>
                    <a:pt x="739" y="992"/>
                  </a:lnTo>
                  <a:lnTo>
                    <a:pt x="857" y="958"/>
                  </a:lnTo>
                  <a:lnTo>
                    <a:pt x="974" y="923"/>
                  </a:lnTo>
                  <a:lnTo>
                    <a:pt x="1083" y="888"/>
                  </a:lnTo>
                  <a:lnTo>
                    <a:pt x="1192" y="844"/>
                  </a:lnTo>
                  <a:lnTo>
                    <a:pt x="1302" y="789"/>
                  </a:lnTo>
                  <a:lnTo>
                    <a:pt x="1419" y="715"/>
                  </a:lnTo>
                  <a:lnTo>
                    <a:pt x="1537" y="635"/>
                  </a:lnTo>
                  <a:lnTo>
                    <a:pt x="1654" y="541"/>
                  </a:lnTo>
                  <a:lnTo>
                    <a:pt x="1747" y="447"/>
                  </a:lnTo>
                  <a:lnTo>
                    <a:pt x="1822" y="343"/>
                  </a:lnTo>
                  <a:lnTo>
                    <a:pt x="1889" y="234"/>
                  </a:lnTo>
                  <a:lnTo>
                    <a:pt x="1940" y="119"/>
                  </a:lnTo>
                  <a:lnTo>
                    <a:pt x="1990"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08" name="Rectangle 65">
              <a:extLst>
                <a:ext uri="{FF2B5EF4-FFF2-40B4-BE49-F238E27FC236}">
                  <a16:creationId xmlns:a16="http://schemas.microsoft.com/office/drawing/2014/main" id="{EA8694AE-25DA-4EA4-BD6A-6C7B081D8D5B}"/>
                </a:ext>
              </a:extLst>
            </p:cNvPr>
            <p:cNvSpPr>
              <a:spLocks noChangeArrowheads="1"/>
            </p:cNvSpPr>
            <p:nvPr/>
          </p:nvSpPr>
          <p:spPr bwMode="auto">
            <a:xfrm>
              <a:off x="5026" y="1668"/>
              <a:ext cx="4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TC(Q)</a:t>
              </a:r>
            </a:p>
          </p:txBody>
        </p:sp>
      </p:grpSp>
      <p:grpSp>
        <p:nvGrpSpPr>
          <p:cNvPr id="20491" name="Group 66">
            <a:extLst>
              <a:ext uri="{FF2B5EF4-FFF2-40B4-BE49-F238E27FC236}">
                <a16:creationId xmlns:a16="http://schemas.microsoft.com/office/drawing/2014/main" id="{F2504BE4-A1F9-410B-A53C-3977BDA4CC02}"/>
              </a:ext>
            </a:extLst>
          </p:cNvPr>
          <p:cNvGrpSpPr>
            <a:grpSpLocks/>
          </p:cNvGrpSpPr>
          <p:nvPr/>
        </p:nvGrpSpPr>
        <p:grpSpPr bwMode="auto">
          <a:xfrm>
            <a:off x="5729288" y="2363788"/>
            <a:ext cx="1801812" cy="1749425"/>
            <a:chOff x="3945" y="1873"/>
            <a:chExt cx="1135" cy="1102"/>
          </a:xfrm>
        </p:grpSpPr>
        <p:grpSp>
          <p:nvGrpSpPr>
            <p:cNvPr id="20500" name="Group 67">
              <a:extLst>
                <a:ext uri="{FF2B5EF4-FFF2-40B4-BE49-F238E27FC236}">
                  <a16:creationId xmlns:a16="http://schemas.microsoft.com/office/drawing/2014/main" id="{3E5FE18F-CDAF-4118-92EC-4B357DED198C}"/>
                </a:ext>
              </a:extLst>
            </p:cNvPr>
            <p:cNvGrpSpPr>
              <a:grpSpLocks/>
            </p:cNvGrpSpPr>
            <p:nvPr/>
          </p:nvGrpSpPr>
          <p:grpSpPr bwMode="auto">
            <a:xfrm>
              <a:off x="3945" y="1873"/>
              <a:ext cx="1135" cy="1102"/>
              <a:chOff x="3945" y="1961"/>
              <a:chExt cx="1135" cy="1102"/>
            </a:xfrm>
          </p:grpSpPr>
          <p:sp>
            <p:nvSpPr>
              <p:cNvPr id="20505" name="Line 68">
                <a:extLst>
                  <a:ext uri="{FF2B5EF4-FFF2-40B4-BE49-F238E27FC236}">
                    <a16:creationId xmlns:a16="http://schemas.microsoft.com/office/drawing/2014/main" id="{0F4A1F20-B97F-4B6D-AE78-BC6021E369E7}"/>
                  </a:ext>
                </a:extLst>
              </p:cNvPr>
              <p:cNvSpPr>
                <a:spLocks noChangeShapeType="1"/>
              </p:cNvSpPr>
              <p:nvPr/>
            </p:nvSpPr>
            <p:spPr bwMode="auto">
              <a:xfrm flipV="1">
                <a:off x="3945" y="1961"/>
                <a:ext cx="1135" cy="62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6" name="Line 69">
                <a:extLst>
                  <a:ext uri="{FF2B5EF4-FFF2-40B4-BE49-F238E27FC236}">
                    <a16:creationId xmlns:a16="http://schemas.microsoft.com/office/drawing/2014/main" id="{D0E68AD2-4BD8-4AAF-9FBF-DD0402598279}"/>
                  </a:ext>
                </a:extLst>
              </p:cNvPr>
              <p:cNvSpPr>
                <a:spLocks noChangeShapeType="1"/>
              </p:cNvSpPr>
              <p:nvPr/>
            </p:nvSpPr>
            <p:spPr bwMode="auto">
              <a:xfrm flipV="1">
                <a:off x="3945" y="2436"/>
                <a:ext cx="1135" cy="62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501" name="Oval 70">
              <a:extLst>
                <a:ext uri="{FF2B5EF4-FFF2-40B4-BE49-F238E27FC236}">
                  <a16:creationId xmlns:a16="http://schemas.microsoft.com/office/drawing/2014/main" id="{890D8A11-B4CD-4B98-A6A6-4B5BFA3BB1B4}"/>
                </a:ext>
              </a:extLst>
            </p:cNvPr>
            <p:cNvSpPr>
              <a:spLocks noChangeArrowheads="1"/>
            </p:cNvSpPr>
            <p:nvPr/>
          </p:nvSpPr>
          <p:spPr bwMode="auto">
            <a:xfrm>
              <a:off x="4458" y="2634"/>
              <a:ext cx="69" cy="68"/>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20502" name="Oval 71">
              <a:extLst>
                <a:ext uri="{FF2B5EF4-FFF2-40B4-BE49-F238E27FC236}">
                  <a16:creationId xmlns:a16="http://schemas.microsoft.com/office/drawing/2014/main" id="{86C9A6C8-1AFD-4A91-9D5D-B2E7AD45308B}"/>
                </a:ext>
              </a:extLst>
            </p:cNvPr>
            <p:cNvSpPr>
              <a:spLocks noChangeArrowheads="1"/>
            </p:cNvSpPr>
            <p:nvPr/>
          </p:nvSpPr>
          <p:spPr bwMode="auto">
            <a:xfrm>
              <a:off x="4458" y="2188"/>
              <a:ext cx="69" cy="69"/>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20503" name="Rectangle 72">
              <a:extLst>
                <a:ext uri="{FF2B5EF4-FFF2-40B4-BE49-F238E27FC236}">
                  <a16:creationId xmlns:a16="http://schemas.microsoft.com/office/drawing/2014/main" id="{52191836-5864-4B9E-A5C4-8C78B4054987}"/>
                </a:ext>
              </a:extLst>
            </p:cNvPr>
            <p:cNvSpPr>
              <a:spLocks noChangeArrowheads="1"/>
            </p:cNvSpPr>
            <p:nvPr/>
          </p:nvSpPr>
          <p:spPr bwMode="auto">
            <a:xfrm>
              <a:off x="4317" y="1973"/>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A</a:t>
              </a:r>
            </a:p>
          </p:txBody>
        </p:sp>
        <p:sp>
          <p:nvSpPr>
            <p:cNvPr id="20504" name="Rectangle 73">
              <a:extLst>
                <a:ext uri="{FF2B5EF4-FFF2-40B4-BE49-F238E27FC236}">
                  <a16:creationId xmlns:a16="http://schemas.microsoft.com/office/drawing/2014/main" id="{E6550AD9-70CD-457E-8325-61837E4B5857}"/>
                </a:ext>
              </a:extLst>
            </p:cNvPr>
            <p:cNvSpPr>
              <a:spLocks noChangeArrowheads="1"/>
            </p:cNvSpPr>
            <p:nvPr/>
          </p:nvSpPr>
          <p:spPr bwMode="auto">
            <a:xfrm>
              <a:off x="4269" y="2453"/>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B</a:t>
              </a:r>
            </a:p>
          </p:txBody>
        </p:sp>
      </p:grpSp>
      <p:grpSp>
        <p:nvGrpSpPr>
          <p:cNvPr id="20492" name="Group 74">
            <a:extLst>
              <a:ext uri="{FF2B5EF4-FFF2-40B4-BE49-F238E27FC236}">
                <a16:creationId xmlns:a16="http://schemas.microsoft.com/office/drawing/2014/main" id="{7DB92AC5-9468-4D0A-8E98-345D25205723}"/>
              </a:ext>
            </a:extLst>
          </p:cNvPr>
          <p:cNvGrpSpPr>
            <a:grpSpLocks/>
          </p:cNvGrpSpPr>
          <p:nvPr/>
        </p:nvGrpSpPr>
        <p:grpSpPr bwMode="auto">
          <a:xfrm>
            <a:off x="5059363" y="2933700"/>
            <a:ext cx="1771650" cy="2168525"/>
            <a:chOff x="3523" y="2232"/>
            <a:chExt cx="1116" cy="1366"/>
          </a:xfrm>
        </p:grpSpPr>
        <p:sp>
          <p:nvSpPr>
            <p:cNvPr id="20496" name="Rectangle 75">
              <a:extLst>
                <a:ext uri="{FF2B5EF4-FFF2-40B4-BE49-F238E27FC236}">
                  <a16:creationId xmlns:a16="http://schemas.microsoft.com/office/drawing/2014/main" id="{070F360B-C007-47D0-A594-D505D1F70D14}"/>
                </a:ext>
              </a:extLst>
            </p:cNvPr>
            <p:cNvSpPr>
              <a:spLocks noChangeArrowheads="1"/>
            </p:cNvSpPr>
            <p:nvPr/>
          </p:nvSpPr>
          <p:spPr bwMode="auto">
            <a:xfrm>
              <a:off x="3523" y="3350"/>
              <a:ext cx="27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25000">
                  <a:latin typeface="Times New Roman" panose="02020603050405020304" pitchFamily="18" charset="0"/>
                  <a:ea typeface="宋体" panose="02010600030101010101" pitchFamily="2" charset="-122"/>
                </a:rPr>
                <a:t>0</a:t>
              </a:r>
            </a:p>
          </p:txBody>
        </p:sp>
        <p:sp>
          <p:nvSpPr>
            <p:cNvPr id="20497" name="Line 76">
              <a:extLst>
                <a:ext uri="{FF2B5EF4-FFF2-40B4-BE49-F238E27FC236}">
                  <a16:creationId xmlns:a16="http://schemas.microsoft.com/office/drawing/2014/main" id="{92C4C838-B1A7-4497-96F5-9E05F8A10894}"/>
                </a:ext>
              </a:extLst>
            </p:cNvPr>
            <p:cNvSpPr>
              <a:spLocks noChangeShapeType="1"/>
            </p:cNvSpPr>
            <p:nvPr/>
          </p:nvSpPr>
          <p:spPr bwMode="auto">
            <a:xfrm>
              <a:off x="3602" y="2917"/>
              <a:ext cx="0" cy="4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8" name="Line 77">
              <a:extLst>
                <a:ext uri="{FF2B5EF4-FFF2-40B4-BE49-F238E27FC236}">
                  <a16:creationId xmlns:a16="http://schemas.microsoft.com/office/drawing/2014/main" id="{A8938532-DB45-41E0-A329-9B93EEC21A5D}"/>
                </a:ext>
              </a:extLst>
            </p:cNvPr>
            <p:cNvSpPr>
              <a:spLocks noChangeShapeType="1"/>
            </p:cNvSpPr>
            <p:nvPr/>
          </p:nvSpPr>
          <p:spPr bwMode="auto">
            <a:xfrm>
              <a:off x="4492" y="2232"/>
              <a:ext cx="0" cy="111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9" name="Rectangle 78">
              <a:extLst>
                <a:ext uri="{FF2B5EF4-FFF2-40B4-BE49-F238E27FC236}">
                  <a16:creationId xmlns:a16="http://schemas.microsoft.com/office/drawing/2014/main" id="{F972B4DF-95EB-477C-9136-01EE621F57F2}"/>
                </a:ext>
              </a:extLst>
            </p:cNvPr>
            <p:cNvSpPr>
              <a:spLocks noChangeArrowheads="1"/>
            </p:cNvSpPr>
            <p:nvPr/>
          </p:nvSpPr>
          <p:spPr bwMode="auto">
            <a:xfrm>
              <a:off x="4387" y="3350"/>
              <a:ext cx="2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30000">
                  <a:latin typeface="Times New Roman" panose="02020603050405020304" pitchFamily="18" charset="0"/>
                  <a:ea typeface="宋体" panose="02010600030101010101" pitchFamily="2" charset="-122"/>
                </a:rPr>
                <a:t>*</a:t>
              </a:r>
            </a:p>
          </p:txBody>
        </p:sp>
      </p:grpSp>
      <p:grpSp>
        <p:nvGrpSpPr>
          <p:cNvPr id="20493" name="Group 85">
            <a:extLst>
              <a:ext uri="{FF2B5EF4-FFF2-40B4-BE49-F238E27FC236}">
                <a16:creationId xmlns:a16="http://schemas.microsoft.com/office/drawing/2014/main" id="{FFD1C493-5F78-444F-AAF6-0789D9EFE2A9}"/>
              </a:ext>
            </a:extLst>
          </p:cNvPr>
          <p:cNvGrpSpPr>
            <a:grpSpLocks/>
          </p:cNvGrpSpPr>
          <p:nvPr/>
        </p:nvGrpSpPr>
        <p:grpSpPr bwMode="auto">
          <a:xfrm>
            <a:off x="4633913" y="4043363"/>
            <a:ext cx="3663950" cy="1309687"/>
            <a:chOff x="3255" y="2931"/>
            <a:chExt cx="2308" cy="825"/>
          </a:xfrm>
        </p:grpSpPr>
        <p:sp>
          <p:nvSpPr>
            <p:cNvPr id="20494" name="Freeform 80">
              <a:extLst>
                <a:ext uri="{FF2B5EF4-FFF2-40B4-BE49-F238E27FC236}">
                  <a16:creationId xmlns:a16="http://schemas.microsoft.com/office/drawing/2014/main" id="{10CB3F03-0BD9-440B-9EA2-0C92C0FAC9AE}"/>
                </a:ext>
              </a:extLst>
            </p:cNvPr>
            <p:cNvSpPr>
              <a:spLocks/>
            </p:cNvSpPr>
            <p:nvPr/>
          </p:nvSpPr>
          <p:spPr bwMode="auto">
            <a:xfrm>
              <a:off x="3255" y="2931"/>
              <a:ext cx="2058" cy="801"/>
            </a:xfrm>
            <a:custGeom>
              <a:avLst/>
              <a:gdLst>
                <a:gd name="T0" fmla="*/ 0 w 2058"/>
                <a:gd name="T1" fmla="*/ 800 h 801"/>
                <a:gd name="T2" fmla="*/ 26 w 2058"/>
                <a:gd name="T3" fmla="*/ 794 h 801"/>
                <a:gd name="T4" fmla="*/ 51 w 2058"/>
                <a:gd name="T5" fmla="*/ 788 h 801"/>
                <a:gd name="T6" fmla="*/ 85 w 2058"/>
                <a:gd name="T7" fmla="*/ 769 h 801"/>
                <a:gd name="T8" fmla="*/ 102 w 2058"/>
                <a:gd name="T9" fmla="*/ 751 h 801"/>
                <a:gd name="T10" fmla="*/ 119 w 2058"/>
                <a:gd name="T11" fmla="*/ 733 h 801"/>
                <a:gd name="T12" fmla="*/ 145 w 2058"/>
                <a:gd name="T13" fmla="*/ 708 h 801"/>
                <a:gd name="T14" fmla="*/ 162 w 2058"/>
                <a:gd name="T15" fmla="*/ 672 h 801"/>
                <a:gd name="T16" fmla="*/ 213 w 2058"/>
                <a:gd name="T17" fmla="*/ 592 h 801"/>
                <a:gd name="T18" fmla="*/ 272 w 2058"/>
                <a:gd name="T19" fmla="*/ 507 h 801"/>
                <a:gd name="T20" fmla="*/ 349 w 2058"/>
                <a:gd name="T21" fmla="*/ 421 h 801"/>
                <a:gd name="T22" fmla="*/ 434 w 2058"/>
                <a:gd name="T23" fmla="*/ 336 h 801"/>
                <a:gd name="T24" fmla="*/ 544 w 2058"/>
                <a:gd name="T25" fmla="*/ 250 h 801"/>
                <a:gd name="T26" fmla="*/ 655 w 2058"/>
                <a:gd name="T27" fmla="*/ 171 h 801"/>
                <a:gd name="T28" fmla="*/ 714 w 2058"/>
                <a:gd name="T29" fmla="*/ 140 h 801"/>
                <a:gd name="T30" fmla="*/ 774 w 2058"/>
                <a:gd name="T31" fmla="*/ 110 h 801"/>
                <a:gd name="T32" fmla="*/ 884 w 2058"/>
                <a:gd name="T33" fmla="*/ 61 h 801"/>
                <a:gd name="T34" fmla="*/ 1003 w 2058"/>
                <a:gd name="T35" fmla="*/ 24 h 801"/>
                <a:gd name="T36" fmla="*/ 1122 w 2058"/>
                <a:gd name="T37" fmla="*/ 6 h 801"/>
                <a:gd name="T38" fmla="*/ 1233 w 2058"/>
                <a:gd name="T39" fmla="*/ 0 h 801"/>
                <a:gd name="T40" fmla="*/ 1292 w 2058"/>
                <a:gd name="T41" fmla="*/ 6 h 801"/>
                <a:gd name="T42" fmla="*/ 1352 w 2058"/>
                <a:gd name="T43" fmla="*/ 18 h 801"/>
                <a:gd name="T44" fmla="*/ 1462 w 2058"/>
                <a:gd name="T45" fmla="*/ 61 h 801"/>
                <a:gd name="T46" fmla="*/ 1573 w 2058"/>
                <a:gd name="T47" fmla="*/ 110 h 801"/>
                <a:gd name="T48" fmla="*/ 1666 w 2058"/>
                <a:gd name="T49" fmla="*/ 165 h 801"/>
                <a:gd name="T50" fmla="*/ 1743 w 2058"/>
                <a:gd name="T51" fmla="*/ 220 h 801"/>
                <a:gd name="T52" fmla="*/ 1811 w 2058"/>
                <a:gd name="T53" fmla="*/ 287 h 801"/>
                <a:gd name="T54" fmla="*/ 1870 w 2058"/>
                <a:gd name="T55" fmla="*/ 360 h 801"/>
                <a:gd name="T56" fmla="*/ 1921 w 2058"/>
                <a:gd name="T57" fmla="*/ 421 h 801"/>
                <a:gd name="T58" fmla="*/ 1964 w 2058"/>
                <a:gd name="T59" fmla="*/ 482 h 801"/>
                <a:gd name="T60" fmla="*/ 2006 w 2058"/>
                <a:gd name="T61" fmla="*/ 543 h 801"/>
                <a:gd name="T62" fmla="*/ 2032 w 2058"/>
                <a:gd name="T63" fmla="*/ 598 h 801"/>
                <a:gd name="T64" fmla="*/ 2057 w 2058"/>
                <a:gd name="T65" fmla="*/ 641 h 8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8"/>
                <a:gd name="T100" fmla="*/ 0 h 801"/>
                <a:gd name="T101" fmla="*/ 2058 w 2058"/>
                <a:gd name="T102" fmla="*/ 801 h 8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8" h="801">
                  <a:moveTo>
                    <a:pt x="0" y="800"/>
                  </a:moveTo>
                  <a:lnTo>
                    <a:pt x="26" y="794"/>
                  </a:lnTo>
                  <a:lnTo>
                    <a:pt x="51" y="788"/>
                  </a:lnTo>
                  <a:lnTo>
                    <a:pt x="85" y="769"/>
                  </a:lnTo>
                  <a:lnTo>
                    <a:pt x="102" y="751"/>
                  </a:lnTo>
                  <a:lnTo>
                    <a:pt x="119" y="733"/>
                  </a:lnTo>
                  <a:lnTo>
                    <a:pt x="145" y="708"/>
                  </a:lnTo>
                  <a:lnTo>
                    <a:pt x="162" y="672"/>
                  </a:lnTo>
                  <a:lnTo>
                    <a:pt x="213" y="592"/>
                  </a:lnTo>
                  <a:lnTo>
                    <a:pt x="272" y="507"/>
                  </a:lnTo>
                  <a:lnTo>
                    <a:pt x="349" y="421"/>
                  </a:lnTo>
                  <a:lnTo>
                    <a:pt x="434" y="336"/>
                  </a:lnTo>
                  <a:lnTo>
                    <a:pt x="544" y="250"/>
                  </a:lnTo>
                  <a:lnTo>
                    <a:pt x="655" y="171"/>
                  </a:lnTo>
                  <a:lnTo>
                    <a:pt x="714" y="140"/>
                  </a:lnTo>
                  <a:lnTo>
                    <a:pt x="774" y="110"/>
                  </a:lnTo>
                  <a:lnTo>
                    <a:pt x="884" y="61"/>
                  </a:lnTo>
                  <a:lnTo>
                    <a:pt x="1003" y="24"/>
                  </a:lnTo>
                  <a:lnTo>
                    <a:pt x="1122" y="6"/>
                  </a:lnTo>
                  <a:lnTo>
                    <a:pt x="1233" y="0"/>
                  </a:lnTo>
                  <a:lnTo>
                    <a:pt x="1292" y="6"/>
                  </a:lnTo>
                  <a:lnTo>
                    <a:pt x="1352" y="18"/>
                  </a:lnTo>
                  <a:lnTo>
                    <a:pt x="1462" y="61"/>
                  </a:lnTo>
                  <a:lnTo>
                    <a:pt x="1573" y="110"/>
                  </a:lnTo>
                  <a:lnTo>
                    <a:pt x="1666" y="165"/>
                  </a:lnTo>
                  <a:lnTo>
                    <a:pt x="1743" y="220"/>
                  </a:lnTo>
                  <a:lnTo>
                    <a:pt x="1811" y="287"/>
                  </a:lnTo>
                  <a:lnTo>
                    <a:pt x="1870" y="360"/>
                  </a:lnTo>
                  <a:lnTo>
                    <a:pt x="1921" y="421"/>
                  </a:lnTo>
                  <a:lnTo>
                    <a:pt x="1964" y="482"/>
                  </a:lnTo>
                  <a:lnTo>
                    <a:pt x="2006" y="543"/>
                  </a:lnTo>
                  <a:lnTo>
                    <a:pt x="2032" y="598"/>
                  </a:lnTo>
                  <a:lnTo>
                    <a:pt x="2057" y="641"/>
                  </a:lnTo>
                </a:path>
              </a:pathLst>
            </a:custGeom>
            <a:noFill/>
            <a:ln w="50800" cap="rnd">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0495" name="Object 2">
              <a:hlinkClick r:id="" action="ppaction://ole?verb=0"/>
              <a:extLst>
                <a:ext uri="{FF2B5EF4-FFF2-40B4-BE49-F238E27FC236}">
                  <a16:creationId xmlns:a16="http://schemas.microsoft.com/office/drawing/2014/main" id="{6E125C31-CB54-41F9-AC8E-DA1E24390CE8}"/>
                </a:ext>
              </a:extLst>
            </p:cNvPr>
            <p:cNvGraphicFramePr>
              <a:graphicFrameLocks/>
            </p:cNvGraphicFramePr>
            <p:nvPr/>
          </p:nvGraphicFramePr>
          <p:xfrm>
            <a:off x="5246" y="3559"/>
            <a:ext cx="317" cy="197"/>
          </p:xfrm>
          <a:graphic>
            <a:graphicData uri="http://schemas.openxmlformats.org/presentationml/2006/ole">
              <mc:AlternateContent xmlns:mc="http://schemas.openxmlformats.org/markup-compatibility/2006">
                <mc:Choice xmlns:v="urn:schemas-microsoft-com:vml" Requires="v">
                  <p:oleObj spid="_x0000_s4123" name="Equation" r:id="rId4" imgW="501496" imgH="311655" progId="Equation.DSMT4">
                    <p:embed/>
                  </p:oleObj>
                </mc:Choice>
                <mc:Fallback>
                  <p:oleObj name="Equation" r:id="rId4" imgW="501496" imgH="311655" progId="Equation.DSMT4">
                    <p:embed/>
                    <p:pic>
                      <p:nvPicPr>
                        <p:cNvPr id="20495" name="Object 2">
                          <a:hlinkClick r:id="" action="ppaction://ole?verb=0"/>
                          <a:extLst>
                            <a:ext uri="{FF2B5EF4-FFF2-40B4-BE49-F238E27FC236}">
                              <a16:creationId xmlns:a16="http://schemas.microsoft.com/office/drawing/2014/main" id="{6E125C31-CB54-41F9-AC8E-DA1E24390CE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6" y="3559"/>
                          <a:ext cx="317"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a:extLst>
              <a:ext uri="{FF2B5EF4-FFF2-40B4-BE49-F238E27FC236}">
                <a16:creationId xmlns:a16="http://schemas.microsoft.com/office/drawing/2014/main" id="{A6F770EB-F5E2-473C-88F3-F446D21254D5}"/>
              </a:ext>
            </a:extLst>
          </p:cNvPr>
          <p:cNvSpPr>
            <a:spLocks noGrp="1" noChangeArrowheads="1"/>
          </p:cNvSpPr>
          <p:nvPr>
            <p:ph type="body" sz="half" idx="1"/>
          </p:nvPr>
        </p:nvSpPr>
        <p:spPr>
          <a:xfrm>
            <a:off x="428625" y="1219200"/>
            <a:ext cx="3609975" cy="4114800"/>
          </a:xfrm>
          <a:noFill/>
        </p:spPr>
        <p:txBody>
          <a:bodyPr/>
          <a:lstStyle/>
          <a:p>
            <a:pPr eaLnBrk="1" hangingPunct="1">
              <a:spcBef>
                <a:spcPct val="70000"/>
              </a:spcBef>
              <a:buFont typeface="Wingdings" panose="05000000000000000000" pitchFamily="2" charset="2"/>
              <a:buNone/>
            </a:pPr>
            <a:endParaRPr lang="en-US" altLang="zh-CN" sz="2400" i="1" dirty="0">
              <a:latin typeface="黑体" panose="02010609060101010101" pitchFamily="49" charset="-122"/>
              <a:ea typeface="宋体" panose="02010600030101010101" pitchFamily="2" charset="-122"/>
            </a:endParaRPr>
          </a:p>
          <a:p>
            <a:pPr lvl="1" eaLnBrk="1" hangingPunct="1">
              <a:buSzPct val="75000"/>
            </a:pPr>
            <a:r>
              <a:rPr lang="zh-CN" altLang="en-US" dirty="0">
                <a:latin typeface="黑体" panose="02010609060101010101" pitchFamily="49" charset="-122"/>
                <a:ea typeface="黑体" panose="02010609060101010101" pitchFamily="49" charset="-122"/>
              </a:rPr>
              <a:t>在</a:t>
            </a:r>
            <a:r>
              <a:rPr lang="en-US" altLang="zh-CN" dirty="0">
                <a:latin typeface="黑体" panose="02010609060101010101" pitchFamily="49" charset="-122"/>
                <a:ea typeface="黑体" panose="02010609060101010101" pitchFamily="49" charset="-122"/>
              </a:rPr>
              <a:t>q</a:t>
            </a:r>
            <a:r>
              <a:rPr lang="en-US" altLang="zh-CN" baseline="30000"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产量处：</a:t>
            </a:r>
          </a:p>
          <a:p>
            <a:pPr lvl="2" eaLnBrk="1" hangingPunct="1">
              <a:spcBef>
                <a:spcPct val="35000"/>
              </a:spcBef>
            </a:pPr>
            <a:r>
              <a:rPr lang="en-US" altLang="zh-CN" sz="2400" dirty="0">
                <a:latin typeface="黑体" panose="02010609060101010101" pitchFamily="49" charset="-122"/>
                <a:ea typeface="黑体" panose="02010609060101010101" pitchFamily="49" charset="-122"/>
              </a:rPr>
              <a:t>MR = MC</a:t>
            </a:r>
          </a:p>
          <a:p>
            <a:pPr lvl="2" eaLnBrk="1" hangingPunct="1">
              <a:spcBef>
                <a:spcPct val="35000"/>
              </a:spcBef>
            </a:pPr>
            <a:r>
              <a:rPr lang="zh-CN" altLang="en-US" sz="2400" dirty="0">
                <a:latin typeface="黑体" panose="02010609060101010101" pitchFamily="49" charset="-122"/>
                <a:ea typeface="黑体" panose="02010609060101010101" pitchFamily="49" charset="-122"/>
              </a:rPr>
              <a:t>利润实现最大化</a:t>
            </a:r>
          </a:p>
        </p:txBody>
      </p:sp>
      <p:sp>
        <p:nvSpPr>
          <p:cNvPr id="22531" name="Line 32">
            <a:extLst>
              <a:ext uri="{FF2B5EF4-FFF2-40B4-BE49-F238E27FC236}">
                <a16:creationId xmlns:a16="http://schemas.microsoft.com/office/drawing/2014/main" id="{658B94A6-CA8F-4C9A-9685-C01D0589CA3E}"/>
              </a:ext>
            </a:extLst>
          </p:cNvPr>
          <p:cNvSpPr>
            <a:spLocks noChangeShapeType="1"/>
          </p:cNvSpPr>
          <p:nvPr/>
        </p:nvSpPr>
        <p:spPr bwMode="auto">
          <a:xfrm>
            <a:off x="4654550" y="4713288"/>
            <a:ext cx="39433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2532" name="Group 33">
            <a:extLst>
              <a:ext uri="{FF2B5EF4-FFF2-40B4-BE49-F238E27FC236}">
                <a16:creationId xmlns:a16="http://schemas.microsoft.com/office/drawing/2014/main" id="{149E71AE-D194-47EA-9FBF-96431CCA2129}"/>
              </a:ext>
            </a:extLst>
          </p:cNvPr>
          <p:cNvGrpSpPr>
            <a:grpSpLocks/>
          </p:cNvGrpSpPr>
          <p:nvPr/>
        </p:nvGrpSpPr>
        <p:grpSpPr bwMode="auto">
          <a:xfrm>
            <a:off x="4638675" y="2473325"/>
            <a:ext cx="4021138" cy="2243138"/>
            <a:chOff x="3258" y="1942"/>
            <a:chExt cx="2533" cy="1413"/>
          </a:xfrm>
        </p:grpSpPr>
        <p:sp>
          <p:nvSpPr>
            <p:cNvPr id="22556" name="Freeform 34">
              <a:extLst>
                <a:ext uri="{FF2B5EF4-FFF2-40B4-BE49-F238E27FC236}">
                  <a16:creationId xmlns:a16="http://schemas.microsoft.com/office/drawing/2014/main" id="{44CCAA44-FC05-497C-8DFC-D8F2FFEB1C43}"/>
                </a:ext>
              </a:extLst>
            </p:cNvPr>
            <p:cNvSpPr>
              <a:spLocks/>
            </p:cNvSpPr>
            <p:nvPr/>
          </p:nvSpPr>
          <p:spPr bwMode="auto">
            <a:xfrm>
              <a:off x="3258" y="2038"/>
              <a:ext cx="2059" cy="1317"/>
            </a:xfrm>
            <a:custGeom>
              <a:avLst/>
              <a:gdLst>
                <a:gd name="T0" fmla="*/ 0 w 2059"/>
                <a:gd name="T1" fmla="*/ 1316 h 1317"/>
                <a:gd name="T2" fmla="*/ 161 w 2059"/>
                <a:gd name="T3" fmla="*/ 1107 h 1317"/>
                <a:gd name="T4" fmla="*/ 331 w 2059"/>
                <a:gd name="T5" fmla="*/ 908 h 1317"/>
                <a:gd name="T6" fmla="*/ 408 w 2059"/>
                <a:gd name="T7" fmla="*/ 809 h 1317"/>
                <a:gd name="T8" fmla="*/ 493 w 2059"/>
                <a:gd name="T9" fmla="*/ 721 h 1317"/>
                <a:gd name="T10" fmla="*/ 570 w 2059"/>
                <a:gd name="T11" fmla="*/ 639 h 1317"/>
                <a:gd name="T12" fmla="*/ 655 w 2059"/>
                <a:gd name="T13" fmla="*/ 562 h 1317"/>
                <a:gd name="T14" fmla="*/ 740 w 2059"/>
                <a:gd name="T15" fmla="*/ 490 h 1317"/>
                <a:gd name="T16" fmla="*/ 816 w 2059"/>
                <a:gd name="T17" fmla="*/ 429 h 1317"/>
                <a:gd name="T18" fmla="*/ 986 w 2059"/>
                <a:gd name="T19" fmla="*/ 319 h 1317"/>
                <a:gd name="T20" fmla="*/ 1148 w 2059"/>
                <a:gd name="T21" fmla="*/ 226 h 1317"/>
                <a:gd name="T22" fmla="*/ 1301 w 2059"/>
                <a:gd name="T23" fmla="*/ 148 h 1317"/>
                <a:gd name="T24" fmla="*/ 1369 w 2059"/>
                <a:gd name="T25" fmla="*/ 121 h 1317"/>
                <a:gd name="T26" fmla="*/ 1437 w 2059"/>
                <a:gd name="T27" fmla="*/ 93 h 1317"/>
                <a:gd name="T28" fmla="*/ 1565 w 2059"/>
                <a:gd name="T29" fmla="*/ 55 h 1317"/>
                <a:gd name="T30" fmla="*/ 1684 w 2059"/>
                <a:gd name="T31" fmla="*/ 33 h 1317"/>
                <a:gd name="T32" fmla="*/ 1786 w 2059"/>
                <a:gd name="T33" fmla="*/ 11 h 1317"/>
                <a:gd name="T34" fmla="*/ 1871 w 2059"/>
                <a:gd name="T35" fmla="*/ 0 h 1317"/>
                <a:gd name="T36" fmla="*/ 1939 w 2059"/>
                <a:gd name="T37" fmla="*/ 0 h 1317"/>
                <a:gd name="T38" fmla="*/ 1998 w 2059"/>
                <a:gd name="T39" fmla="*/ 5 h 1317"/>
                <a:gd name="T40" fmla="*/ 2058 w 2059"/>
                <a:gd name="T41" fmla="*/ 11 h 13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59"/>
                <a:gd name="T64" fmla="*/ 0 h 1317"/>
                <a:gd name="T65" fmla="*/ 2059 w 2059"/>
                <a:gd name="T66" fmla="*/ 1317 h 13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59" h="1317">
                  <a:moveTo>
                    <a:pt x="0" y="1316"/>
                  </a:moveTo>
                  <a:lnTo>
                    <a:pt x="161" y="1107"/>
                  </a:lnTo>
                  <a:lnTo>
                    <a:pt x="331" y="908"/>
                  </a:lnTo>
                  <a:lnTo>
                    <a:pt x="408" y="809"/>
                  </a:lnTo>
                  <a:lnTo>
                    <a:pt x="493" y="721"/>
                  </a:lnTo>
                  <a:lnTo>
                    <a:pt x="570" y="639"/>
                  </a:lnTo>
                  <a:lnTo>
                    <a:pt x="655" y="562"/>
                  </a:lnTo>
                  <a:lnTo>
                    <a:pt x="740" y="490"/>
                  </a:lnTo>
                  <a:lnTo>
                    <a:pt x="816" y="429"/>
                  </a:lnTo>
                  <a:lnTo>
                    <a:pt x="986" y="319"/>
                  </a:lnTo>
                  <a:lnTo>
                    <a:pt x="1148" y="226"/>
                  </a:lnTo>
                  <a:lnTo>
                    <a:pt x="1301" y="148"/>
                  </a:lnTo>
                  <a:lnTo>
                    <a:pt x="1369" y="121"/>
                  </a:lnTo>
                  <a:lnTo>
                    <a:pt x="1437" y="93"/>
                  </a:lnTo>
                  <a:lnTo>
                    <a:pt x="1565" y="55"/>
                  </a:lnTo>
                  <a:lnTo>
                    <a:pt x="1684" y="33"/>
                  </a:lnTo>
                  <a:lnTo>
                    <a:pt x="1786" y="11"/>
                  </a:lnTo>
                  <a:lnTo>
                    <a:pt x="1871" y="0"/>
                  </a:lnTo>
                  <a:lnTo>
                    <a:pt x="1939" y="0"/>
                  </a:lnTo>
                  <a:lnTo>
                    <a:pt x="1998" y="5"/>
                  </a:lnTo>
                  <a:lnTo>
                    <a:pt x="2058" y="11"/>
                  </a:lnTo>
                </a:path>
              </a:pathLst>
            </a:custGeom>
            <a:noFill/>
            <a:ln w="50800" cap="rnd">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7" name="Rectangle 35">
              <a:extLst>
                <a:ext uri="{FF2B5EF4-FFF2-40B4-BE49-F238E27FC236}">
                  <a16:creationId xmlns:a16="http://schemas.microsoft.com/office/drawing/2014/main" id="{26747BF4-3426-411E-B0D6-35B805723DA3}"/>
                </a:ext>
              </a:extLst>
            </p:cNvPr>
            <p:cNvSpPr>
              <a:spLocks noChangeArrowheads="1"/>
            </p:cNvSpPr>
            <p:nvPr/>
          </p:nvSpPr>
          <p:spPr bwMode="auto">
            <a:xfrm>
              <a:off x="5304" y="1942"/>
              <a:ext cx="4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TR(Q)</a:t>
              </a:r>
            </a:p>
          </p:txBody>
        </p:sp>
      </p:grpSp>
      <p:sp>
        <p:nvSpPr>
          <p:cNvPr id="22533" name="Line 37">
            <a:extLst>
              <a:ext uri="{FF2B5EF4-FFF2-40B4-BE49-F238E27FC236}">
                <a16:creationId xmlns:a16="http://schemas.microsoft.com/office/drawing/2014/main" id="{59FA7146-4952-4501-ACCF-702C94F18EF1}"/>
              </a:ext>
            </a:extLst>
          </p:cNvPr>
          <p:cNvSpPr>
            <a:spLocks noChangeShapeType="1"/>
          </p:cNvSpPr>
          <p:nvPr/>
        </p:nvSpPr>
        <p:spPr bwMode="auto">
          <a:xfrm>
            <a:off x="4640263" y="2606675"/>
            <a:ext cx="0" cy="285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4" name="Rectangle 38">
            <a:extLst>
              <a:ext uri="{FF2B5EF4-FFF2-40B4-BE49-F238E27FC236}">
                <a16:creationId xmlns:a16="http://schemas.microsoft.com/office/drawing/2014/main" id="{6EEE2A18-6F11-44EF-B923-E8BC8EF24CEA}"/>
              </a:ext>
            </a:extLst>
          </p:cNvPr>
          <p:cNvSpPr>
            <a:spLocks noChangeArrowheads="1"/>
          </p:cNvSpPr>
          <p:nvPr/>
        </p:nvSpPr>
        <p:spPr bwMode="auto">
          <a:xfrm>
            <a:off x="4321175" y="4738688"/>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O</a:t>
            </a:r>
            <a:endParaRPr lang="zh-CN" altLang="en-US" sz="2000">
              <a:latin typeface="Times New Roman" panose="02020603050405020304" pitchFamily="18" charset="0"/>
              <a:ea typeface="宋体" panose="02010600030101010101" pitchFamily="2" charset="-122"/>
            </a:endParaRPr>
          </a:p>
        </p:txBody>
      </p:sp>
      <p:sp>
        <p:nvSpPr>
          <p:cNvPr id="22535" name="Rectangle 39">
            <a:extLst>
              <a:ext uri="{FF2B5EF4-FFF2-40B4-BE49-F238E27FC236}">
                <a16:creationId xmlns:a16="http://schemas.microsoft.com/office/drawing/2014/main" id="{D9755880-5594-4B52-BC15-F075CBD7D324}"/>
              </a:ext>
            </a:extLst>
          </p:cNvPr>
          <p:cNvSpPr>
            <a:spLocks noChangeArrowheads="1"/>
          </p:cNvSpPr>
          <p:nvPr/>
        </p:nvSpPr>
        <p:spPr bwMode="auto">
          <a:xfrm>
            <a:off x="4205288" y="1531938"/>
            <a:ext cx="54133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收入</a:t>
            </a:r>
          </a:p>
          <a:p>
            <a:pPr algn="ctr" eaLnBrk="1" hangingPunct="1">
              <a:spcBef>
                <a:spcPct val="0"/>
              </a:spcBef>
              <a:buClrTx/>
              <a:buFontTx/>
              <a:buNone/>
            </a:pPr>
            <a:r>
              <a:rPr lang="zh-CN" altLang="en-US" sz="1400"/>
              <a:t>成本</a:t>
            </a:r>
          </a:p>
          <a:p>
            <a:pPr algn="ctr" eaLnBrk="1" hangingPunct="1">
              <a:spcBef>
                <a:spcPct val="0"/>
              </a:spcBef>
              <a:buClrTx/>
              <a:buFontTx/>
              <a:buNone/>
            </a:pPr>
            <a:r>
              <a:rPr lang="zh-CN" altLang="en-US" sz="1400"/>
              <a:t>利润</a:t>
            </a:r>
            <a:endParaRPr lang="en-US" altLang="zh-CN" sz="1400"/>
          </a:p>
        </p:txBody>
      </p:sp>
      <p:sp>
        <p:nvSpPr>
          <p:cNvPr id="22536" name="Rectangle 40">
            <a:extLst>
              <a:ext uri="{FF2B5EF4-FFF2-40B4-BE49-F238E27FC236}">
                <a16:creationId xmlns:a16="http://schemas.microsoft.com/office/drawing/2014/main" id="{A0C4545F-ECDE-4FA8-8F02-99ED75A7CC2F}"/>
              </a:ext>
            </a:extLst>
          </p:cNvPr>
          <p:cNvSpPr>
            <a:spLocks noChangeArrowheads="1"/>
          </p:cNvSpPr>
          <p:nvPr/>
        </p:nvSpPr>
        <p:spPr bwMode="auto">
          <a:xfrm>
            <a:off x="7897813" y="5356225"/>
            <a:ext cx="541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产量</a:t>
            </a:r>
          </a:p>
        </p:txBody>
      </p:sp>
      <p:grpSp>
        <p:nvGrpSpPr>
          <p:cNvPr id="22537" name="Group 41">
            <a:extLst>
              <a:ext uri="{FF2B5EF4-FFF2-40B4-BE49-F238E27FC236}">
                <a16:creationId xmlns:a16="http://schemas.microsoft.com/office/drawing/2014/main" id="{1B3E53EE-6DCA-4D40-B6D8-B84438BFB07F}"/>
              </a:ext>
            </a:extLst>
          </p:cNvPr>
          <p:cNvGrpSpPr>
            <a:grpSpLocks/>
          </p:cNvGrpSpPr>
          <p:nvPr/>
        </p:nvGrpSpPr>
        <p:grpSpPr bwMode="auto">
          <a:xfrm>
            <a:off x="4637088" y="2038350"/>
            <a:ext cx="3594100" cy="2135188"/>
            <a:chOff x="3257" y="1668"/>
            <a:chExt cx="2264" cy="1345"/>
          </a:xfrm>
        </p:grpSpPr>
        <p:sp>
          <p:nvSpPr>
            <p:cNvPr id="22554" name="Freeform 42">
              <a:extLst>
                <a:ext uri="{FF2B5EF4-FFF2-40B4-BE49-F238E27FC236}">
                  <a16:creationId xmlns:a16="http://schemas.microsoft.com/office/drawing/2014/main" id="{D47EBF41-A86E-4600-95EB-2D9B2B1EFD8F}"/>
                </a:ext>
              </a:extLst>
            </p:cNvPr>
            <p:cNvSpPr>
              <a:spLocks/>
            </p:cNvSpPr>
            <p:nvPr/>
          </p:nvSpPr>
          <p:spPr bwMode="auto">
            <a:xfrm>
              <a:off x="3257" y="1846"/>
              <a:ext cx="1991" cy="1167"/>
            </a:xfrm>
            <a:custGeom>
              <a:avLst/>
              <a:gdLst>
                <a:gd name="T0" fmla="*/ 0 w 1991"/>
                <a:gd name="T1" fmla="*/ 1166 h 1167"/>
                <a:gd name="T2" fmla="*/ 59 w 1991"/>
                <a:gd name="T3" fmla="*/ 1131 h 1167"/>
                <a:gd name="T4" fmla="*/ 101 w 1991"/>
                <a:gd name="T5" fmla="*/ 1111 h 1167"/>
                <a:gd name="T6" fmla="*/ 143 w 1991"/>
                <a:gd name="T7" fmla="*/ 1097 h 1167"/>
                <a:gd name="T8" fmla="*/ 185 w 1991"/>
                <a:gd name="T9" fmla="*/ 1087 h 1167"/>
                <a:gd name="T10" fmla="*/ 235 w 1991"/>
                <a:gd name="T11" fmla="*/ 1082 h 1167"/>
                <a:gd name="T12" fmla="*/ 303 w 1991"/>
                <a:gd name="T13" fmla="*/ 1077 h 1167"/>
                <a:gd name="T14" fmla="*/ 378 w 1991"/>
                <a:gd name="T15" fmla="*/ 1062 h 1167"/>
                <a:gd name="T16" fmla="*/ 428 w 1991"/>
                <a:gd name="T17" fmla="*/ 1052 h 1167"/>
                <a:gd name="T18" fmla="*/ 479 w 1991"/>
                <a:gd name="T19" fmla="*/ 1042 h 1167"/>
                <a:gd name="T20" fmla="*/ 605 w 1991"/>
                <a:gd name="T21" fmla="*/ 1017 h 1167"/>
                <a:gd name="T22" fmla="*/ 739 w 1991"/>
                <a:gd name="T23" fmla="*/ 992 h 1167"/>
                <a:gd name="T24" fmla="*/ 857 w 1991"/>
                <a:gd name="T25" fmla="*/ 958 h 1167"/>
                <a:gd name="T26" fmla="*/ 974 w 1991"/>
                <a:gd name="T27" fmla="*/ 923 h 1167"/>
                <a:gd name="T28" fmla="*/ 1083 w 1991"/>
                <a:gd name="T29" fmla="*/ 888 h 1167"/>
                <a:gd name="T30" fmla="*/ 1192 w 1991"/>
                <a:gd name="T31" fmla="*/ 844 h 1167"/>
                <a:gd name="T32" fmla="*/ 1302 w 1991"/>
                <a:gd name="T33" fmla="*/ 789 h 1167"/>
                <a:gd name="T34" fmla="*/ 1419 w 1991"/>
                <a:gd name="T35" fmla="*/ 715 h 1167"/>
                <a:gd name="T36" fmla="*/ 1537 w 1991"/>
                <a:gd name="T37" fmla="*/ 635 h 1167"/>
                <a:gd name="T38" fmla="*/ 1654 w 1991"/>
                <a:gd name="T39" fmla="*/ 541 h 1167"/>
                <a:gd name="T40" fmla="*/ 1747 w 1991"/>
                <a:gd name="T41" fmla="*/ 447 h 1167"/>
                <a:gd name="T42" fmla="*/ 1822 w 1991"/>
                <a:gd name="T43" fmla="*/ 343 h 1167"/>
                <a:gd name="T44" fmla="*/ 1889 w 1991"/>
                <a:gd name="T45" fmla="*/ 234 h 1167"/>
                <a:gd name="T46" fmla="*/ 1940 w 1991"/>
                <a:gd name="T47" fmla="*/ 119 h 1167"/>
                <a:gd name="T48" fmla="*/ 1990 w 1991"/>
                <a:gd name="T49" fmla="*/ 0 h 1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91"/>
                <a:gd name="T76" fmla="*/ 0 h 1167"/>
                <a:gd name="T77" fmla="*/ 1991 w 1991"/>
                <a:gd name="T78" fmla="*/ 1167 h 116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91" h="1167">
                  <a:moveTo>
                    <a:pt x="0" y="1166"/>
                  </a:moveTo>
                  <a:lnTo>
                    <a:pt x="59" y="1131"/>
                  </a:lnTo>
                  <a:lnTo>
                    <a:pt x="101" y="1111"/>
                  </a:lnTo>
                  <a:lnTo>
                    <a:pt x="143" y="1097"/>
                  </a:lnTo>
                  <a:lnTo>
                    <a:pt x="185" y="1087"/>
                  </a:lnTo>
                  <a:lnTo>
                    <a:pt x="235" y="1082"/>
                  </a:lnTo>
                  <a:lnTo>
                    <a:pt x="303" y="1077"/>
                  </a:lnTo>
                  <a:lnTo>
                    <a:pt x="378" y="1062"/>
                  </a:lnTo>
                  <a:lnTo>
                    <a:pt x="428" y="1052"/>
                  </a:lnTo>
                  <a:lnTo>
                    <a:pt x="479" y="1042"/>
                  </a:lnTo>
                  <a:lnTo>
                    <a:pt x="605" y="1017"/>
                  </a:lnTo>
                  <a:lnTo>
                    <a:pt x="739" y="992"/>
                  </a:lnTo>
                  <a:lnTo>
                    <a:pt x="857" y="958"/>
                  </a:lnTo>
                  <a:lnTo>
                    <a:pt x="974" y="923"/>
                  </a:lnTo>
                  <a:lnTo>
                    <a:pt x="1083" y="888"/>
                  </a:lnTo>
                  <a:lnTo>
                    <a:pt x="1192" y="844"/>
                  </a:lnTo>
                  <a:lnTo>
                    <a:pt x="1302" y="789"/>
                  </a:lnTo>
                  <a:lnTo>
                    <a:pt x="1419" y="715"/>
                  </a:lnTo>
                  <a:lnTo>
                    <a:pt x="1537" y="635"/>
                  </a:lnTo>
                  <a:lnTo>
                    <a:pt x="1654" y="541"/>
                  </a:lnTo>
                  <a:lnTo>
                    <a:pt x="1747" y="447"/>
                  </a:lnTo>
                  <a:lnTo>
                    <a:pt x="1822" y="343"/>
                  </a:lnTo>
                  <a:lnTo>
                    <a:pt x="1889" y="234"/>
                  </a:lnTo>
                  <a:lnTo>
                    <a:pt x="1940" y="119"/>
                  </a:lnTo>
                  <a:lnTo>
                    <a:pt x="1990"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5" name="Rectangle 43">
              <a:extLst>
                <a:ext uri="{FF2B5EF4-FFF2-40B4-BE49-F238E27FC236}">
                  <a16:creationId xmlns:a16="http://schemas.microsoft.com/office/drawing/2014/main" id="{F2DFA950-F9D4-4BF8-B2AC-E5C76182971D}"/>
                </a:ext>
              </a:extLst>
            </p:cNvPr>
            <p:cNvSpPr>
              <a:spLocks noChangeArrowheads="1"/>
            </p:cNvSpPr>
            <p:nvPr/>
          </p:nvSpPr>
          <p:spPr bwMode="auto">
            <a:xfrm>
              <a:off x="5026" y="1668"/>
              <a:ext cx="4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TC(Q)</a:t>
              </a:r>
            </a:p>
          </p:txBody>
        </p:sp>
      </p:grpSp>
      <p:grpSp>
        <p:nvGrpSpPr>
          <p:cNvPr id="22538" name="Group 44">
            <a:extLst>
              <a:ext uri="{FF2B5EF4-FFF2-40B4-BE49-F238E27FC236}">
                <a16:creationId xmlns:a16="http://schemas.microsoft.com/office/drawing/2014/main" id="{6ACCF805-3411-45E0-B6A4-077D67B63F50}"/>
              </a:ext>
            </a:extLst>
          </p:cNvPr>
          <p:cNvGrpSpPr>
            <a:grpSpLocks/>
          </p:cNvGrpSpPr>
          <p:nvPr/>
        </p:nvGrpSpPr>
        <p:grpSpPr bwMode="auto">
          <a:xfrm>
            <a:off x="5729288" y="2363788"/>
            <a:ext cx="1801812" cy="1749425"/>
            <a:chOff x="3945" y="1873"/>
            <a:chExt cx="1135" cy="1102"/>
          </a:xfrm>
        </p:grpSpPr>
        <p:grpSp>
          <p:nvGrpSpPr>
            <p:cNvPr id="22547" name="Group 45">
              <a:extLst>
                <a:ext uri="{FF2B5EF4-FFF2-40B4-BE49-F238E27FC236}">
                  <a16:creationId xmlns:a16="http://schemas.microsoft.com/office/drawing/2014/main" id="{4F47EEE3-93FA-4613-BDD6-888BF00D250C}"/>
                </a:ext>
              </a:extLst>
            </p:cNvPr>
            <p:cNvGrpSpPr>
              <a:grpSpLocks/>
            </p:cNvGrpSpPr>
            <p:nvPr/>
          </p:nvGrpSpPr>
          <p:grpSpPr bwMode="auto">
            <a:xfrm>
              <a:off x="3945" y="1873"/>
              <a:ext cx="1135" cy="1102"/>
              <a:chOff x="3945" y="1961"/>
              <a:chExt cx="1135" cy="1102"/>
            </a:xfrm>
          </p:grpSpPr>
          <p:sp>
            <p:nvSpPr>
              <p:cNvPr id="22552" name="Line 46">
                <a:extLst>
                  <a:ext uri="{FF2B5EF4-FFF2-40B4-BE49-F238E27FC236}">
                    <a16:creationId xmlns:a16="http://schemas.microsoft.com/office/drawing/2014/main" id="{D12996E1-37F2-4FC5-B1E2-CE5C4BE6D660}"/>
                  </a:ext>
                </a:extLst>
              </p:cNvPr>
              <p:cNvSpPr>
                <a:spLocks noChangeShapeType="1"/>
              </p:cNvSpPr>
              <p:nvPr/>
            </p:nvSpPr>
            <p:spPr bwMode="auto">
              <a:xfrm flipV="1">
                <a:off x="3945" y="1961"/>
                <a:ext cx="1135" cy="62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3" name="Line 47">
                <a:extLst>
                  <a:ext uri="{FF2B5EF4-FFF2-40B4-BE49-F238E27FC236}">
                    <a16:creationId xmlns:a16="http://schemas.microsoft.com/office/drawing/2014/main" id="{9136B6BB-CC7E-4782-9A1B-D6FEB855D493}"/>
                  </a:ext>
                </a:extLst>
              </p:cNvPr>
              <p:cNvSpPr>
                <a:spLocks noChangeShapeType="1"/>
              </p:cNvSpPr>
              <p:nvPr/>
            </p:nvSpPr>
            <p:spPr bwMode="auto">
              <a:xfrm flipV="1">
                <a:off x="3945" y="2436"/>
                <a:ext cx="1135" cy="62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2548" name="Oval 48">
              <a:extLst>
                <a:ext uri="{FF2B5EF4-FFF2-40B4-BE49-F238E27FC236}">
                  <a16:creationId xmlns:a16="http://schemas.microsoft.com/office/drawing/2014/main" id="{9892D510-522E-473A-934C-09BCE08AB268}"/>
                </a:ext>
              </a:extLst>
            </p:cNvPr>
            <p:cNvSpPr>
              <a:spLocks noChangeArrowheads="1"/>
            </p:cNvSpPr>
            <p:nvPr/>
          </p:nvSpPr>
          <p:spPr bwMode="auto">
            <a:xfrm>
              <a:off x="4458" y="2634"/>
              <a:ext cx="69" cy="68"/>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22549" name="Oval 49">
              <a:extLst>
                <a:ext uri="{FF2B5EF4-FFF2-40B4-BE49-F238E27FC236}">
                  <a16:creationId xmlns:a16="http://schemas.microsoft.com/office/drawing/2014/main" id="{1E76E556-514C-4AA3-919D-C07E0FAB16FB}"/>
                </a:ext>
              </a:extLst>
            </p:cNvPr>
            <p:cNvSpPr>
              <a:spLocks noChangeArrowheads="1"/>
            </p:cNvSpPr>
            <p:nvPr/>
          </p:nvSpPr>
          <p:spPr bwMode="auto">
            <a:xfrm>
              <a:off x="4458" y="2188"/>
              <a:ext cx="69" cy="69"/>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22550" name="Rectangle 50">
              <a:extLst>
                <a:ext uri="{FF2B5EF4-FFF2-40B4-BE49-F238E27FC236}">
                  <a16:creationId xmlns:a16="http://schemas.microsoft.com/office/drawing/2014/main" id="{1EA50684-A9B5-437A-9420-11B025E912CE}"/>
                </a:ext>
              </a:extLst>
            </p:cNvPr>
            <p:cNvSpPr>
              <a:spLocks noChangeArrowheads="1"/>
            </p:cNvSpPr>
            <p:nvPr/>
          </p:nvSpPr>
          <p:spPr bwMode="auto">
            <a:xfrm>
              <a:off x="4317" y="1973"/>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A</a:t>
              </a:r>
            </a:p>
          </p:txBody>
        </p:sp>
        <p:sp>
          <p:nvSpPr>
            <p:cNvPr id="22551" name="Rectangle 51">
              <a:extLst>
                <a:ext uri="{FF2B5EF4-FFF2-40B4-BE49-F238E27FC236}">
                  <a16:creationId xmlns:a16="http://schemas.microsoft.com/office/drawing/2014/main" id="{2DD40465-6BE1-447B-87DB-8A9349AEB176}"/>
                </a:ext>
              </a:extLst>
            </p:cNvPr>
            <p:cNvSpPr>
              <a:spLocks noChangeArrowheads="1"/>
            </p:cNvSpPr>
            <p:nvPr/>
          </p:nvSpPr>
          <p:spPr bwMode="auto">
            <a:xfrm>
              <a:off x="4269" y="2453"/>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B</a:t>
              </a:r>
            </a:p>
          </p:txBody>
        </p:sp>
      </p:grpSp>
      <p:grpSp>
        <p:nvGrpSpPr>
          <p:cNvPr id="22539" name="Group 52">
            <a:extLst>
              <a:ext uri="{FF2B5EF4-FFF2-40B4-BE49-F238E27FC236}">
                <a16:creationId xmlns:a16="http://schemas.microsoft.com/office/drawing/2014/main" id="{F02A5E72-0811-4CEB-904C-9C0115E83B3B}"/>
              </a:ext>
            </a:extLst>
          </p:cNvPr>
          <p:cNvGrpSpPr>
            <a:grpSpLocks/>
          </p:cNvGrpSpPr>
          <p:nvPr/>
        </p:nvGrpSpPr>
        <p:grpSpPr bwMode="auto">
          <a:xfrm>
            <a:off x="5059363" y="2933700"/>
            <a:ext cx="1771650" cy="2168525"/>
            <a:chOff x="3523" y="2232"/>
            <a:chExt cx="1116" cy="1366"/>
          </a:xfrm>
        </p:grpSpPr>
        <p:sp>
          <p:nvSpPr>
            <p:cNvPr id="22543" name="Rectangle 53">
              <a:extLst>
                <a:ext uri="{FF2B5EF4-FFF2-40B4-BE49-F238E27FC236}">
                  <a16:creationId xmlns:a16="http://schemas.microsoft.com/office/drawing/2014/main" id="{1559AC2D-AC30-43F2-BB2D-DEB382335E18}"/>
                </a:ext>
              </a:extLst>
            </p:cNvPr>
            <p:cNvSpPr>
              <a:spLocks noChangeArrowheads="1"/>
            </p:cNvSpPr>
            <p:nvPr/>
          </p:nvSpPr>
          <p:spPr bwMode="auto">
            <a:xfrm>
              <a:off x="3523" y="3350"/>
              <a:ext cx="27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25000">
                  <a:latin typeface="Times New Roman" panose="02020603050405020304" pitchFamily="18" charset="0"/>
                  <a:ea typeface="宋体" panose="02010600030101010101" pitchFamily="2" charset="-122"/>
                </a:rPr>
                <a:t>0</a:t>
              </a:r>
            </a:p>
          </p:txBody>
        </p:sp>
        <p:sp>
          <p:nvSpPr>
            <p:cNvPr id="22544" name="Line 54">
              <a:extLst>
                <a:ext uri="{FF2B5EF4-FFF2-40B4-BE49-F238E27FC236}">
                  <a16:creationId xmlns:a16="http://schemas.microsoft.com/office/drawing/2014/main" id="{5E2126CE-D9DB-4986-8A28-3C115B46D5D5}"/>
                </a:ext>
              </a:extLst>
            </p:cNvPr>
            <p:cNvSpPr>
              <a:spLocks noChangeShapeType="1"/>
            </p:cNvSpPr>
            <p:nvPr/>
          </p:nvSpPr>
          <p:spPr bwMode="auto">
            <a:xfrm>
              <a:off x="3602" y="2917"/>
              <a:ext cx="0" cy="4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5" name="Line 55">
              <a:extLst>
                <a:ext uri="{FF2B5EF4-FFF2-40B4-BE49-F238E27FC236}">
                  <a16:creationId xmlns:a16="http://schemas.microsoft.com/office/drawing/2014/main" id="{CC9EC5EF-506E-40CD-B8B7-36C2CE4E4901}"/>
                </a:ext>
              </a:extLst>
            </p:cNvPr>
            <p:cNvSpPr>
              <a:spLocks noChangeShapeType="1"/>
            </p:cNvSpPr>
            <p:nvPr/>
          </p:nvSpPr>
          <p:spPr bwMode="auto">
            <a:xfrm>
              <a:off x="4492" y="2232"/>
              <a:ext cx="0" cy="111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6" name="Rectangle 56">
              <a:extLst>
                <a:ext uri="{FF2B5EF4-FFF2-40B4-BE49-F238E27FC236}">
                  <a16:creationId xmlns:a16="http://schemas.microsoft.com/office/drawing/2014/main" id="{7A9B72E4-E0CD-4582-9BA4-50D3976CA93D}"/>
                </a:ext>
              </a:extLst>
            </p:cNvPr>
            <p:cNvSpPr>
              <a:spLocks noChangeArrowheads="1"/>
            </p:cNvSpPr>
            <p:nvPr/>
          </p:nvSpPr>
          <p:spPr bwMode="auto">
            <a:xfrm>
              <a:off x="4387" y="3350"/>
              <a:ext cx="2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30000">
                  <a:latin typeface="Times New Roman" panose="02020603050405020304" pitchFamily="18" charset="0"/>
                  <a:ea typeface="宋体" panose="02010600030101010101" pitchFamily="2" charset="-122"/>
                </a:rPr>
                <a:t>*</a:t>
              </a:r>
            </a:p>
          </p:txBody>
        </p:sp>
      </p:grpSp>
      <p:grpSp>
        <p:nvGrpSpPr>
          <p:cNvPr id="22540" name="Group 91">
            <a:extLst>
              <a:ext uri="{FF2B5EF4-FFF2-40B4-BE49-F238E27FC236}">
                <a16:creationId xmlns:a16="http://schemas.microsoft.com/office/drawing/2014/main" id="{EBEED968-78A4-4BAA-ABA2-78323038EC8C}"/>
              </a:ext>
            </a:extLst>
          </p:cNvPr>
          <p:cNvGrpSpPr>
            <a:grpSpLocks/>
          </p:cNvGrpSpPr>
          <p:nvPr/>
        </p:nvGrpSpPr>
        <p:grpSpPr bwMode="auto">
          <a:xfrm>
            <a:off x="4633913" y="4043363"/>
            <a:ext cx="3663950" cy="1309687"/>
            <a:chOff x="3255" y="2931"/>
            <a:chExt cx="2308" cy="825"/>
          </a:xfrm>
        </p:grpSpPr>
        <p:sp>
          <p:nvSpPr>
            <p:cNvPr id="22541" name="Freeform 58">
              <a:extLst>
                <a:ext uri="{FF2B5EF4-FFF2-40B4-BE49-F238E27FC236}">
                  <a16:creationId xmlns:a16="http://schemas.microsoft.com/office/drawing/2014/main" id="{5C1468CB-0929-4A4A-B875-A7C2D8ACE14F}"/>
                </a:ext>
              </a:extLst>
            </p:cNvPr>
            <p:cNvSpPr>
              <a:spLocks/>
            </p:cNvSpPr>
            <p:nvPr/>
          </p:nvSpPr>
          <p:spPr bwMode="auto">
            <a:xfrm>
              <a:off x="3255" y="2931"/>
              <a:ext cx="2058" cy="801"/>
            </a:xfrm>
            <a:custGeom>
              <a:avLst/>
              <a:gdLst>
                <a:gd name="T0" fmla="*/ 0 w 2058"/>
                <a:gd name="T1" fmla="*/ 800 h 801"/>
                <a:gd name="T2" fmla="*/ 26 w 2058"/>
                <a:gd name="T3" fmla="*/ 794 h 801"/>
                <a:gd name="T4" fmla="*/ 51 w 2058"/>
                <a:gd name="T5" fmla="*/ 788 h 801"/>
                <a:gd name="T6" fmla="*/ 85 w 2058"/>
                <a:gd name="T7" fmla="*/ 769 h 801"/>
                <a:gd name="T8" fmla="*/ 102 w 2058"/>
                <a:gd name="T9" fmla="*/ 751 h 801"/>
                <a:gd name="T10" fmla="*/ 119 w 2058"/>
                <a:gd name="T11" fmla="*/ 733 h 801"/>
                <a:gd name="T12" fmla="*/ 145 w 2058"/>
                <a:gd name="T13" fmla="*/ 708 h 801"/>
                <a:gd name="T14" fmla="*/ 162 w 2058"/>
                <a:gd name="T15" fmla="*/ 672 h 801"/>
                <a:gd name="T16" fmla="*/ 213 w 2058"/>
                <a:gd name="T17" fmla="*/ 592 h 801"/>
                <a:gd name="T18" fmla="*/ 272 w 2058"/>
                <a:gd name="T19" fmla="*/ 507 h 801"/>
                <a:gd name="T20" fmla="*/ 349 w 2058"/>
                <a:gd name="T21" fmla="*/ 421 h 801"/>
                <a:gd name="T22" fmla="*/ 434 w 2058"/>
                <a:gd name="T23" fmla="*/ 336 h 801"/>
                <a:gd name="T24" fmla="*/ 544 w 2058"/>
                <a:gd name="T25" fmla="*/ 250 h 801"/>
                <a:gd name="T26" fmla="*/ 655 w 2058"/>
                <a:gd name="T27" fmla="*/ 171 h 801"/>
                <a:gd name="T28" fmla="*/ 714 w 2058"/>
                <a:gd name="T29" fmla="*/ 140 h 801"/>
                <a:gd name="T30" fmla="*/ 774 w 2058"/>
                <a:gd name="T31" fmla="*/ 110 h 801"/>
                <a:gd name="T32" fmla="*/ 884 w 2058"/>
                <a:gd name="T33" fmla="*/ 61 h 801"/>
                <a:gd name="T34" fmla="*/ 1003 w 2058"/>
                <a:gd name="T35" fmla="*/ 24 h 801"/>
                <a:gd name="T36" fmla="*/ 1122 w 2058"/>
                <a:gd name="T37" fmla="*/ 6 h 801"/>
                <a:gd name="T38" fmla="*/ 1233 w 2058"/>
                <a:gd name="T39" fmla="*/ 0 h 801"/>
                <a:gd name="T40" fmla="*/ 1292 w 2058"/>
                <a:gd name="T41" fmla="*/ 6 h 801"/>
                <a:gd name="T42" fmla="*/ 1352 w 2058"/>
                <a:gd name="T43" fmla="*/ 18 h 801"/>
                <a:gd name="T44" fmla="*/ 1462 w 2058"/>
                <a:gd name="T45" fmla="*/ 61 h 801"/>
                <a:gd name="T46" fmla="*/ 1573 w 2058"/>
                <a:gd name="T47" fmla="*/ 110 h 801"/>
                <a:gd name="T48" fmla="*/ 1666 w 2058"/>
                <a:gd name="T49" fmla="*/ 165 h 801"/>
                <a:gd name="T50" fmla="*/ 1743 w 2058"/>
                <a:gd name="T51" fmla="*/ 220 h 801"/>
                <a:gd name="T52" fmla="*/ 1811 w 2058"/>
                <a:gd name="T53" fmla="*/ 287 h 801"/>
                <a:gd name="T54" fmla="*/ 1870 w 2058"/>
                <a:gd name="T55" fmla="*/ 360 h 801"/>
                <a:gd name="T56" fmla="*/ 1921 w 2058"/>
                <a:gd name="T57" fmla="*/ 421 h 801"/>
                <a:gd name="T58" fmla="*/ 1964 w 2058"/>
                <a:gd name="T59" fmla="*/ 482 h 801"/>
                <a:gd name="T60" fmla="*/ 2006 w 2058"/>
                <a:gd name="T61" fmla="*/ 543 h 801"/>
                <a:gd name="T62" fmla="*/ 2032 w 2058"/>
                <a:gd name="T63" fmla="*/ 598 h 801"/>
                <a:gd name="T64" fmla="*/ 2057 w 2058"/>
                <a:gd name="T65" fmla="*/ 641 h 8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8"/>
                <a:gd name="T100" fmla="*/ 0 h 801"/>
                <a:gd name="T101" fmla="*/ 2058 w 2058"/>
                <a:gd name="T102" fmla="*/ 801 h 8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8" h="801">
                  <a:moveTo>
                    <a:pt x="0" y="800"/>
                  </a:moveTo>
                  <a:lnTo>
                    <a:pt x="26" y="794"/>
                  </a:lnTo>
                  <a:lnTo>
                    <a:pt x="51" y="788"/>
                  </a:lnTo>
                  <a:lnTo>
                    <a:pt x="85" y="769"/>
                  </a:lnTo>
                  <a:lnTo>
                    <a:pt x="102" y="751"/>
                  </a:lnTo>
                  <a:lnTo>
                    <a:pt x="119" y="733"/>
                  </a:lnTo>
                  <a:lnTo>
                    <a:pt x="145" y="708"/>
                  </a:lnTo>
                  <a:lnTo>
                    <a:pt x="162" y="672"/>
                  </a:lnTo>
                  <a:lnTo>
                    <a:pt x="213" y="592"/>
                  </a:lnTo>
                  <a:lnTo>
                    <a:pt x="272" y="507"/>
                  </a:lnTo>
                  <a:lnTo>
                    <a:pt x="349" y="421"/>
                  </a:lnTo>
                  <a:lnTo>
                    <a:pt x="434" y="336"/>
                  </a:lnTo>
                  <a:lnTo>
                    <a:pt x="544" y="250"/>
                  </a:lnTo>
                  <a:lnTo>
                    <a:pt x="655" y="171"/>
                  </a:lnTo>
                  <a:lnTo>
                    <a:pt x="714" y="140"/>
                  </a:lnTo>
                  <a:lnTo>
                    <a:pt x="774" y="110"/>
                  </a:lnTo>
                  <a:lnTo>
                    <a:pt x="884" y="61"/>
                  </a:lnTo>
                  <a:lnTo>
                    <a:pt x="1003" y="24"/>
                  </a:lnTo>
                  <a:lnTo>
                    <a:pt x="1122" y="6"/>
                  </a:lnTo>
                  <a:lnTo>
                    <a:pt x="1233" y="0"/>
                  </a:lnTo>
                  <a:lnTo>
                    <a:pt x="1292" y="6"/>
                  </a:lnTo>
                  <a:lnTo>
                    <a:pt x="1352" y="18"/>
                  </a:lnTo>
                  <a:lnTo>
                    <a:pt x="1462" y="61"/>
                  </a:lnTo>
                  <a:lnTo>
                    <a:pt x="1573" y="110"/>
                  </a:lnTo>
                  <a:lnTo>
                    <a:pt x="1666" y="165"/>
                  </a:lnTo>
                  <a:lnTo>
                    <a:pt x="1743" y="220"/>
                  </a:lnTo>
                  <a:lnTo>
                    <a:pt x="1811" y="287"/>
                  </a:lnTo>
                  <a:lnTo>
                    <a:pt x="1870" y="360"/>
                  </a:lnTo>
                  <a:lnTo>
                    <a:pt x="1921" y="421"/>
                  </a:lnTo>
                  <a:lnTo>
                    <a:pt x="1964" y="482"/>
                  </a:lnTo>
                  <a:lnTo>
                    <a:pt x="2006" y="543"/>
                  </a:lnTo>
                  <a:lnTo>
                    <a:pt x="2032" y="598"/>
                  </a:lnTo>
                  <a:lnTo>
                    <a:pt x="2057" y="641"/>
                  </a:lnTo>
                </a:path>
              </a:pathLst>
            </a:custGeom>
            <a:noFill/>
            <a:ln w="50800" cap="rnd">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2542" name="Object 2">
              <a:hlinkClick r:id="" action="ppaction://ole?verb=0"/>
              <a:extLst>
                <a:ext uri="{FF2B5EF4-FFF2-40B4-BE49-F238E27FC236}">
                  <a16:creationId xmlns:a16="http://schemas.microsoft.com/office/drawing/2014/main" id="{968882DE-29DD-4B1F-816E-3881085287E6}"/>
                </a:ext>
              </a:extLst>
            </p:cNvPr>
            <p:cNvGraphicFramePr>
              <a:graphicFrameLocks/>
            </p:cNvGraphicFramePr>
            <p:nvPr/>
          </p:nvGraphicFramePr>
          <p:xfrm>
            <a:off x="5246" y="3559"/>
            <a:ext cx="317" cy="197"/>
          </p:xfrm>
          <a:graphic>
            <a:graphicData uri="http://schemas.openxmlformats.org/presentationml/2006/ole">
              <mc:AlternateContent xmlns:mc="http://schemas.openxmlformats.org/markup-compatibility/2006">
                <mc:Choice xmlns:v="urn:schemas-microsoft-com:vml" Requires="v">
                  <p:oleObj spid="_x0000_s5148" name="Equation" r:id="rId4" imgW="501496" imgH="311655" progId="Equation.DSMT4">
                    <p:embed/>
                  </p:oleObj>
                </mc:Choice>
                <mc:Fallback>
                  <p:oleObj name="Equation" r:id="rId4" imgW="501496" imgH="311655" progId="Equation.DSMT4">
                    <p:embed/>
                    <p:pic>
                      <p:nvPicPr>
                        <p:cNvPr id="22542" name="Object 2">
                          <a:hlinkClick r:id="" action="ppaction://ole?verb=0"/>
                          <a:extLst>
                            <a:ext uri="{FF2B5EF4-FFF2-40B4-BE49-F238E27FC236}">
                              <a16:creationId xmlns:a16="http://schemas.microsoft.com/office/drawing/2014/main" id="{968882DE-29DD-4B1F-816E-3881085287E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6" y="3559"/>
                          <a:ext cx="317"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5">
            <a:extLst>
              <a:ext uri="{FF2B5EF4-FFF2-40B4-BE49-F238E27FC236}">
                <a16:creationId xmlns:a16="http://schemas.microsoft.com/office/drawing/2014/main" id="{D505BBF0-45EC-4518-894F-5159C231917D}"/>
              </a:ext>
            </a:extLst>
          </p:cNvPr>
          <p:cNvSpPr>
            <a:spLocks noGrp="1" noChangeArrowheads="1"/>
          </p:cNvSpPr>
          <p:nvPr>
            <p:ph type="body" sz="half" idx="1"/>
          </p:nvPr>
        </p:nvSpPr>
        <p:spPr>
          <a:xfrm>
            <a:off x="571500" y="1219200"/>
            <a:ext cx="3749675" cy="4114800"/>
          </a:xfrm>
          <a:noFill/>
        </p:spPr>
        <p:txBody>
          <a:bodyPr/>
          <a:lstStyle/>
          <a:p>
            <a:pPr eaLnBrk="1" hangingPunct="1">
              <a:spcBef>
                <a:spcPct val="70000"/>
              </a:spcBef>
              <a:buFont typeface="Wingdings" panose="05000000000000000000" pitchFamily="2" charset="2"/>
              <a:buNone/>
            </a:pPr>
            <a:endParaRPr lang="zh-CN" altLang="en-US" sz="2400" i="1">
              <a:latin typeface="黑体" panose="02010609060101010101" pitchFamily="49" charset="-122"/>
              <a:ea typeface="宋体" panose="02010600030101010101" pitchFamily="2" charset="-122"/>
            </a:endParaRPr>
          </a:p>
          <a:p>
            <a:pPr lvl="1" eaLnBrk="1" hangingPunct="1">
              <a:buSzPct val="75000"/>
            </a:pPr>
            <a:r>
              <a:rPr lang="zh-CN" altLang="en-US">
                <a:latin typeface="黑体" panose="02010609060101010101" pitchFamily="49" charset="-122"/>
                <a:ea typeface="黑体" panose="02010609060101010101" pitchFamily="49" charset="-122"/>
              </a:rPr>
              <a:t>在</a:t>
            </a:r>
            <a:r>
              <a:rPr lang="en-US" altLang="zh-CN">
                <a:latin typeface="黑体" panose="02010609060101010101" pitchFamily="49" charset="-122"/>
                <a:ea typeface="黑体" panose="02010609060101010101" pitchFamily="49" charset="-122"/>
              </a:rPr>
              <a:t>q</a:t>
            </a:r>
            <a:r>
              <a:rPr lang="en-US" altLang="zh-CN" baseline="30000">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产量之后： </a:t>
            </a:r>
          </a:p>
          <a:p>
            <a:pPr lvl="2" eaLnBrk="1" hangingPunct="1">
              <a:spcBef>
                <a:spcPct val="35000"/>
              </a:spcBef>
            </a:pPr>
            <a:r>
              <a:rPr lang="en-US" altLang="zh-CN" sz="2400">
                <a:latin typeface="黑体" panose="02010609060101010101" pitchFamily="49" charset="-122"/>
                <a:ea typeface="黑体" panose="02010609060101010101" pitchFamily="49" charset="-122"/>
              </a:rPr>
              <a:t>TR(Q) &gt; TC(Q)</a:t>
            </a:r>
          </a:p>
          <a:p>
            <a:pPr lvl="2" eaLnBrk="1" hangingPunct="1">
              <a:spcBef>
                <a:spcPct val="35000"/>
              </a:spcBef>
            </a:pPr>
            <a:r>
              <a:rPr lang="zh-CN" altLang="en-US" sz="2400">
                <a:latin typeface="黑体" panose="02010609060101010101" pitchFamily="49" charset="-122"/>
                <a:ea typeface="黑体" panose="02010609060101010101" pitchFamily="49" charset="-122"/>
              </a:rPr>
              <a:t>但是</a:t>
            </a:r>
            <a:r>
              <a:rPr lang="en-US" altLang="zh-CN" sz="2400">
                <a:latin typeface="黑体" panose="02010609060101010101" pitchFamily="49" charset="-122"/>
                <a:ea typeface="黑体" panose="02010609060101010101" pitchFamily="49" charset="-122"/>
              </a:rPr>
              <a:t>MC &gt; MR</a:t>
            </a:r>
          </a:p>
          <a:p>
            <a:pPr lvl="3" eaLnBrk="1" hangingPunct="1">
              <a:spcBef>
                <a:spcPct val="35000"/>
              </a:spcBef>
            </a:pPr>
            <a:r>
              <a:rPr lang="zh-CN" altLang="en-US">
                <a:latin typeface="黑体" panose="02010609060101010101" pitchFamily="49" charset="-122"/>
                <a:ea typeface="黑体" panose="02010609060101010101" pitchFamily="49" charset="-122"/>
              </a:rPr>
              <a:t>说明利润下降</a:t>
            </a:r>
          </a:p>
        </p:txBody>
      </p:sp>
      <p:sp>
        <p:nvSpPr>
          <p:cNvPr id="24579" name="Line 60">
            <a:extLst>
              <a:ext uri="{FF2B5EF4-FFF2-40B4-BE49-F238E27FC236}">
                <a16:creationId xmlns:a16="http://schemas.microsoft.com/office/drawing/2014/main" id="{A1EC69D7-019F-4C11-8019-9428882A1E9A}"/>
              </a:ext>
            </a:extLst>
          </p:cNvPr>
          <p:cNvSpPr>
            <a:spLocks noChangeShapeType="1"/>
          </p:cNvSpPr>
          <p:nvPr/>
        </p:nvSpPr>
        <p:spPr bwMode="auto">
          <a:xfrm>
            <a:off x="4937125" y="4713288"/>
            <a:ext cx="39433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4580" name="Group 61">
            <a:extLst>
              <a:ext uri="{FF2B5EF4-FFF2-40B4-BE49-F238E27FC236}">
                <a16:creationId xmlns:a16="http://schemas.microsoft.com/office/drawing/2014/main" id="{2900A6BB-3AD8-4DB1-B217-E6EE2325EF84}"/>
              </a:ext>
            </a:extLst>
          </p:cNvPr>
          <p:cNvGrpSpPr>
            <a:grpSpLocks/>
          </p:cNvGrpSpPr>
          <p:nvPr/>
        </p:nvGrpSpPr>
        <p:grpSpPr bwMode="auto">
          <a:xfrm>
            <a:off x="4921250" y="2473325"/>
            <a:ext cx="4021138" cy="2243138"/>
            <a:chOff x="3258" y="1942"/>
            <a:chExt cx="2533" cy="1413"/>
          </a:xfrm>
        </p:grpSpPr>
        <p:sp>
          <p:nvSpPr>
            <p:cNvPr id="24604" name="Freeform 62">
              <a:extLst>
                <a:ext uri="{FF2B5EF4-FFF2-40B4-BE49-F238E27FC236}">
                  <a16:creationId xmlns:a16="http://schemas.microsoft.com/office/drawing/2014/main" id="{F760D24C-14C6-4CC8-8DE9-08A844F302A6}"/>
                </a:ext>
              </a:extLst>
            </p:cNvPr>
            <p:cNvSpPr>
              <a:spLocks/>
            </p:cNvSpPr>
            <p:nvPr/>
          </p:nvSpPr>
          <p:spPr bwMode="auto">
            <a:xfrm>
              <a:off x="3258" y="2038"/>
              <a:ext cx="2059" cy="1317"/>
            </a:xfrm>
            <a:custGeom>
              <a:avLst/>
              <a:gdLst>
                <a:gd name="T0" fmla="*/ 0 w 2059"/>
                <a:gd name="T1" fmla="*/ 1316 h 1317"/>
                <a:gd name="T2" fmla="*/ 161 w 2059"/>
                <a:gd name="T3" fmla="*/ 1107 h 1317"/>
                <a:gd name="T4" fmla="*/ 331 w 2059"/>
                <a:gd name="T5" fmla="*/ 908 h 1317"/>
                <a:gd name="T6" fmla="*/ 408 w 2059"/>
                <a:gd name="T7" fmla="*/ 809 h 1317"/>
                <a:gd name="T8" fmla="*/ 493 w 2059"/>
                <a:gd name="T9" fmla="*/ 721 h 1317"/>
                <a:gd name="T10" fmla="*/ 570 w 2059"/>
                <a:gd name="T11" fmla="*/ 639 h 1317"/>
                <a:gd name="T12" fmla="*/ 655 w 2059"/>
                <a:gd name="T13" fmla="*/ 562 h 1317"/>
                <a:gd name="T14" fmla="*/ 740 w 2059"/>
                <a:gd name="T15" fmla="*/ 490 h 1317"/>
                <a:gd name="T16" fmla="*/ 816 w 2059"/>
                <a:gd name="T17" fmla="*/ 429 h 1317"/>
                <a:gd name="T18" fmla="*/ 986 w 2059"/>
                <a:gd name="T19" fmla="*/ 319 h 1317"/>
                <a:gd name="T20" fmla="*/ 1148 w 2059"/>
                <a:gd name="T21" fmla="*/ 226 h 1317"/>
                <a:gd name="T22" fmla="*/ 1301 w 2059"/>
                <a:gd name="T23" fmla="*/ 148 h 1317"/>
                <a:gd name="T24" fmla="*/ 1369 w 2059"/>
                <a:gd name="T25" fmla="*/ 121 h 1317"/>
                <a:gd name="T26" fmla="*/ 1437 w 2059"/>
                <a:gd name="T27" fmla="*/ 93 h 1317"/>
                <a:gd name="T28" fmla="*/ 1565 w 2059"/>
                <a:gd name="T29" fmla="*/ 55 h 1317"/>
                <a:gd name="T30" fmla="*/ 1684 w 2059"/>
                <a:gd name="T31" fmla="*/ 33 h 1317"/>
                <a:gd name="T32" fmla="*/ 1786 w 2059"/>
                <a:gd name="T33" fmla="*/ 11 h 1317"/>
                <a:gd name="T34" fmla="*/ 1871 w 2059"/>
                <a:gd name="T35" fmla="*/ 0 h 1317"/>
                <a:gd name="T36" fmla="*/ 1939 w 2059"/>
                <a:gd name="T37" fmla="*/ 0 h 1317"/>
                <a:gd name="T38" fmla="*/ 1998 w 2059"/>
                <a:gd name="T39" fmla="*/ 5 h 1317"/>
                <a:gd name="T40" fmla="*/ 2058 w 2059"/>
                <a:gd name="T41" fmla="*/ 11 h 13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59"/>
                <a:gd name="T64" fmla="*/ 0 h 1317"/>
                <a:gd name="T65" fmla="*/ 2059 w 2059"/>
                <a:gd name="T66" fmla="*/ 1317 h 13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59" h="1317">
                  <a:moveTo>
                    <a:pt x="0" y="1316"/>
                  </a:moveTo>
                  <a:lnTo>
                    <a:pt x="161" y="1107"/>
                  </a:lnTo>
                  <a:lnTo>
                    <a:pt x="331" y="908"/>
                  </a:lnTo>
                  <a:lnTo>
                    <a:pt x="408" y="809"/>
                  </a:lnTo>
                  <a:lnTo>
                    <a:pt x="493" y="721"/>
                  </a:lnTo>
                  <a:lnTo>
                    <a:pt x="570" y="639"/>
                  </a:lnTo>
                  <a:lnTo>
                    <a:pt x="655" y="562"/>
                  </a:lnTo>
                  <a:lnTo>
                    <a:pt x="740" y="490"/>
                  </a:lnTo>
                  <a:lnTo>
                    <a:pt x="816" y="429"/>
                  </a:lnTo>
                  <a:lnTo>
                    <a:pt x="986" y="319"/>
                  </a:lnTo>
                  <a:lnTo>
                    <a:pt x="1148" y="226"/>
                  </a:lnTo>
                  <a:lnTo>
                    <a:pt x="1301" y="148"/>
                  </a:lnTo>
                  <a:lnTo>
                    <a:pt x="1369" y="121"/>
                  </a:lnTo>
                  <a:lnTo>
                    <a:pt x="1437" y="93"/>
                  </a:lnTo>
                  <a:lnTo>
                    <a:pt x="1565" y="55"/>
                  </a:lnTo>
                  <a:lnTo>
                    <a:pt x="1684" y="33"/>
                  </a:lnTo>
                  <a:lnTo>
                    <a:pt x="1786" y="11"/>
                  </a:lnTo>
                  <a:lnTo>
                    <a:pt x="1871" y="0"/>
                  </a:lnTo>
                  <a:lnTo>
                    <a:pt x="1939" y="0"/>
                  </a:lnTo>
                  <a:lnTo>
                    <a:pt x="1998" y="5"/>
                  </a:lnTo>
                  <a:lnTo>
                    <a:pt x="2058" y="11"/>
                  </a:lnTo>
                </a:path>
              </a:pathLst>
            </a:custGeom>
            <a:noFill/>
            <a:ln w="50800" cap="rnd">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05" name="Rectangle 63">
              <a:extLst>
                <a:ext uri="{FF2B5EF4-FFF2-40B4-BE49-F238E27FC236}">
                  <a16:creationId xmlns:a16="http://schemas.microsoft.com/office/drawing/2014/main" id="{2A54B90B-ED7E-439E-AE5E-354AA60EB490}"/>
                </a:ext>
              </a:extLst>
            </p:cNvPr>
            <p:cNvSpPr>
              <a:spLocks noChangeArrowheads="1"/>
            </p:cNvSpPr>
            <p:nvPr/>
          </p:nvSpPr>
          <p:spPr bwMode="auto">
            <a:xfrm>
              <a:off x="5304" y="1942"/>
              <a:ext cx="4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TR(Q)</a:t>
              </a:r>
            </a:p>
          </p:txBody>
        </p:sp>
      </p:grpSp>
      <p:sp>
        <p:nvSpPr>
          <p:cNvPr id="24581" name="Line 65">
            <a:extLst>
              <a:ext uri="{FF2B5EF4-FFF2-40B4-BE49-F238E27FC236}">
                <a16:creationId xmlns:a16="http://schemas.microsoft.com/office/drawing/2014/main" id="{393D2EE4-BA49-473F-A4F4-8F0B8EE789AE}"/>
              </a:ext>
            </a:extLst>
          </p:cNvPr>
          <p:cNvSpPr>
            <a:spLocks noChangeShapeType="1"/>
          </p:cNvSpPr>
          <p:nvPr/>
        </p:nvSpPr>
        <p:spPr bwMode="auto">
          <a:xfrm>
            <a:off x="4922838" y="2606675"/>
            <a:ext cx="0" cy="285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82" name="Rectangle 66">
            <a:extLst>
              <a:ext uri="{FF2B5EF4-FFF2-40B4-BE49-F238E27FC236}">
                <a16:creationId xmlns:a16="http://schemas.microsoft.com/office/drawing/2014/main" id="{CDF91AF6-848B-4E0F-8A55-C538AA0F0EC1}"/>
              </a:ext>
            </a:extLst>
          </p:cNvPr>
          <p:cNvSpPr>
            <a:spLocks noChangeArrowheads="1"/>
          </p:cNvSpPr>
          <p:nvPr/>
        </p:nvSpPr>
        <p:spPr bwMode="auto">
          <a:xfrm>
            <a:off x="4572000" y="4738688"/>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O</a:t>
            </a:r>
            <a:endParaRPr lang="zh-CN" altLang="en-US" sz="2000">
              <a:latin typeface="Times New Roman" panose="02020603050405020304" pitchFamily="18" charset="0"/>
              <a:ea typeface="宋体" panose="02010600030101010101" pitchFamily="2" charset="-122"/>
            </a:endParaRPr>
          </a:p>
        </p:txBody>
      </p:sp>
      <p:sp>
        <p:nvSpPr>
          <p:cNvPr id="24583" name="Rectangle 67">
            <a:extLst>
              <a:ext uri="{FF2B5EF4-FFF2-40B4-BE49-F238E27FC236}">
                <a16:creationId xmlns:a16="http://schemas.microsoft.com/office/drawing/2014/main" id="{7E6E488D-26CC-4729-BF75-D668B070ABCC}"/>
              </a:ext>
            </a:extLst>
          </p:cNvPr>
          <p:cNvSpPr>
            <a:spLocks noChangeArrowheads="1"/>
          </p:cNvSpPr>
          <p:nvPr/>
        </p:nvSpPr>
        <p:spPr bwMode="auto">
          <a:xfrm>
            <a:off x="4487863" y="1531938"/>
            <a:ext cx="54133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收入</a:t>
            </a:r>
          </a:p>
          <a:p>
            <a:pPr algn="ctr" eaLnBrk="1" hangingPunct="1">
              <a:spcBef>
                <a:spcPct val="0"/>
              </a:spcBef>
              <a:buClrTx/>
              <a:buFontTx/>
              <a:buNone/>
            </a:pPr>
            <a:r>
              <a:rPr lang="zh-CN" altLang="en-US" sz="1400"/>
              <a:t>成本</a:t>
            </a:r>
          </a:p>
          <a:p>
            <a:pPr algn="ctr" eaLnBrk="1" hangingPunct="1">
              <a:spcBef>
                <a:spcPct val="0"/>
              </a:spcBef>
              <a:buClrTx/>
              <a:buFontTx/>
              <a:buNone/>
            </a:pPr>
            <a:r>
              <a:rPr lang="zh-CN" altLang="en-US" sz="1400"/>
              <a:t>利润</a:t>
            </a:r>
            <a:endParaRPr lang="en-US" altLang="zh-CN" sz="1400"/>
          </a:p>
        </p:txBody>
      </p:sp>
      <p:sp>
        <p:nvSpPr>
          <p:cNvPr id="24584" name="Rectangle 68">
            <a:extLst>
              <a:ext uri="{FF2B5EF4-FFF2-40B4-BE49-F238E27FC236}">
                <a16:creationId xmlns:a16="http://schemas.microsoft.com/office/drawing/2014/main" id="{D0957B02-3FE8-4F7F-87A7-27D9F64AA0B2}"/>
              </a:ext>
            </a:extLst>
          </p:cNvPr>
          <p:cNvSpPr>
            <a:spLocks noChangeArrowheads="1"/>
          </p:cNvSpPr>
          <p:nvPr/>
        </p:nvSpPr>
        <p:spPr bwMode="auto">
          <a:xfrm>
            <a:off x="7935913" y="5343525"/>
            <a:ext cx="541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产量</a:t>
            </a:r>
          </a:p>
        </p:txBody>
      </p:sp>
      <p:grpSp>
        <p:nvGrpSpPr>
          <p:cNvPr id="24585" name="Group 69">
            <a:extLst>
              <a:ext uri="{FF2B5EF4-FFF2-40B4-BE49-F238E27FC236}">
                <a16:creationId xmlns:a16="http://schemas.microsoft.com/office/drawing/2014/main" id="{E415A471-A1FC-4C86-8D8E-FCDEF50D41BF}"/>
              </a:ext>
            </a:extLst>
          </p:cNvPr>
          <p:cNvGrpSpPr>
            <a:grpSpLocks/>
          </p:cNvGrpSpPr>
          <p:nvPr/>
        </p:nvGrpSpPr>
        <p:grpSpPr bwMode="auto">
          <a:xfrm>
            <a:off x="4919663" y="2038350"/>
            <a:ext cx="3594100" cy="2135188"/>
            <a:chOff x="3257" y="1668"/>
            <a:chExt cx="2264" cy="1345"/>
          </a:xfrm>
        </p:grpSpPr>
        <p:sp>
          <p:nvSpPr>
            <p:cNvPr id="24602" name="Freeform 70">
              <a:extLst>
                <a:ext uri="{FF2B5EF4-FFF2-40B4-BE49-F238E27FC236}">
                  <a16:creationId xmlns:a16="http://schemas.microsoft.com/office/drawing/2014/main" id="{C31D1C0E-E0E7-4B7B-9D16-A423AB1DB881}"/>
                </a:ext>
              </a:extLst>
            </p:cNvPr>
            <p:cNvSpPr>
              <a:spLocks/>
            </p:cNvSpPr>
            <p:nvPr/>
          </p:nvSpPr>
          <p:spPr bwMode="auto">
            <a:xfrm>
              <a:off x="3257" y="1846"/>
              <a:ext cx="1991" cy="1167"/>
            </a:xfrm>
            <a:custGeom>
              <a:avLst/>
              <a:gdLst>
                <a:gd name="T0" fmla="*/ 0 w 1991"/>
                <a:gd name="T1" fmla="*/ 1166 h 1167"/>
                <a:gd name="T2" fmla="*/ 59 w 1991"/>
                <a:gd name="T3" fmla="*/ 1131 h 1167"/>
                <a:gd name="T4" fmla="*/ 101 w 1991"/>
                <a:gd name="T5" fmla="*/ 1111 h 1167"/>
                <a:gd name="T6" fmla="*/ 143 w 1991"/>
                <a:gd name="T7" fmla="*/ 1097 h 1167"/>
                <a:gd name="T8" fmla="*/ 185 w 1991"/>
                <a:gd name="T9" fmla="*/ 1087 h 1167"/>
                <a:gd name="T10" fmla="*/ 235 w 1991"/>
                <a:gd name="T11" fmla="*/ 1082 h 1167"/>
                <a:gd name="T12" fmla="*/ 303 w 1991"/>
                <a:gd name="T13" fmla="*/ 1077 h 1167"/>
                <a:gd name="T14" fmla="*/ 378 w 1991"/>
                <a:gd name="T15" fmla="*/ 1062 h 1167"/>
                <a:gd name="T16" fmla="*/ 428 w 1991"/>
                <a:gd name="T17" fmla="*/ 1052 h 1167"/>
                <a:gd name="T18" fmla="*/ 479 w 1991"/>
                <a:gd name="T19" fmla="*/ 1042 h 1167"/>
                <a:gd name="T20" fmla="*/ 605 w 1991"/>
                <a:gd name="T21" fmla="*/ 1017 h 1167"/>
                <a:gd name="T22" fmla="*/ 739 w 1991"/>
                <a:gd name="T23" fmla="*/ 992 h 1167"/>
                <a:gd name="T24" fmla="*/ 857 w 1991"/>
                <a:gd name="T25" fmla="*/ 958 h 1167"/>
                <a:gd name="T26" fmla="*/ 974 w 1991"/>
                <a:gd name="T27" fmla="*/ 923 h 1167"/>
                <a:gd name="T28" fmla="*/ 1083 w 1991"/>
                <a:gd name="T29" fmla="*/ 888 h 1167"/>
                <a:gd name="T30" fmla="*/ 1192 w 1991"/>
                <a:gd name="T31" fmla="*/ 844 h 1167"/>
                <a:gd name="T32" fmla="*/ 1302 w 1991"/>
                <a:gd name="T33" fmla="*/ 789 h 1167"/>
                <a:gd name="T34" fmla="*/ 1419 w 1991"/>
                <a:gd name="T35" fmla="*/ 715 h 1167"/>
                <a:gd name="T36" fmla="*/ 1537 w 1991"/>
                <a:gd name="T37" fmla="*/ 635 h 1167"/>
                <a:gd name="T38" fmla="*/ 1654 w 1991"/>
                <a:gd name="T39" fmla="*/ 541 h 1167"/>
                <a:gd name="T40" fmla="*/ 1747 w 1991"/>
                <a:gd name="T41" fmla="*/ 447 h 1167"/>
                <a:gd name="T42" fmla="*/ 1822 w 1991"/>
                <a:gd name="T43" fmla="*/ 343 h 1167"/>
                <a:gd name="T44" fmla="*/ 1889 w 1991"/>
                <a:gd name="T45" fmla="*/ 234 h 1167"/>
                <a:gd name="T46" fmla="*/ 1940 w 1991"/>
                <a:gd name="T47" fmla="*/ 119 h 1167"/>
                <a:gd name="T48" fmla="*/ 1990 w 1991"/>
                <a:gd name="T49" fmla="*/ 0 h 1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91"/>
                <a:gd name="T76" fmla="*/ 0 h 1167"/>
                <a:gd name="T77" fmla="*/ 1991 w 1991"/>
                <a:gd name="T78" fmla="*/ 1167 h 116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91" h="1167">
                  <a:moveTo>
                    <a:pt x="0" y="1166"/>
                  </a:moveTo>
                  <a:lnTo>
                    <a:pt x="59" y="1131"/>
                  </a:lnTo>
                  <a:lnTo>
                    <a:pt x="101" y="1111"/>
                  </a:lnTo>
                  <a:lnTo>
                    <a:pt x="143" y="1097"/>
                  </a:lnTo>
                  <a:lnTo>
                    <a:pt x="185" y="1087"/>
                  </a:lnTo>
                  <a:lnTo>
                    <a:pt x="235" y="1082"/>
                  </a:lnTo>
                  <a:lnTo>
                    <a:pt x="303" y="1077"/>
                  </a:lnTo>
                  <a:lnTo>
                    <a:pt x="378" y="1062"/>
                  </a:lnTo>
                  <a:lnTo>
                    <a:pt x="428" y="1052"/>
                  </a:lnTo>
                  <a:lnTo>
                    <a:pt x="479" y="1042"/>
                  </a:lnTo>
                  <a:lnTo>
                    <a:pt x="605" y="1017"/>
                  </a:lnTo>
                  <a:lnTo>
                    <a:pt x="739" y="992"/>
                  </a:lnTo>
                  <a:lnTo>
                    <a:pt x="857" y="958"/>
                  </a:lnTo>
                  <a:lnTo>
                    <a:pt x="974" y="923"/>
                  </a:lnTo>
                  <a:lnTo>
                    <a:pt x="1083" y="888"/>
                  </a:lnTo>
                  <a:lnTo>
                    <a:pt x="1192" y="844"/>
                  </a:lnTo>
                  <a:lnTo>
                    <a:pt x="1302" y="789"/>
                  </a:lnTo>
                  <a:lnTo>
                    <a:pt x="1419" y="715"/>
                  </a:lnTo>
                  <a:lnTo>
                    <a:pt x="1537" y="635"/>
                  </a:lnTo>
                  <a:lnTo>
                    <a:pt x="1654" y="541"/>
                  </a:lnTo>
                  <a:lnTo>
                    <a:pt x="1747" y="447"/>
                  </a:lnTo>
                  <a:lnTo>
                    <a:pt x="1822" y="343"/>
                  </a:lnTo>
                  <a:lnTo>
                    <a:pt x="1889" y="234"/>
                  </a:lnTo>
                  <a:lnTo>
                    <a:pt x="1940" y="119"/>
                  </a:lnTo>
                  <a:lnTo>
                    <a:pt x="1990"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03" name="Rectangle 71">
              <a:extLst>
                <a:ext uri="{FF2B5EF4-FFF2-40B4-BE49-F238E27FC236}">
                  <a16:creationId xmlns:a16="http://schemas.microsoft.com/office/drawing/2014/main" id="{3F75656B-40DF-4E1F-8EFE-3231BA2A4EF6}"/>
                </a:ext>
              </a:extLst>
            </p:cNvPr>
            <p:cNvSpPr>
              <a:spLocks noChangeArrowheads="1"/>
            </p:cNvSpPr>
            <p:nvPr/>
          </p:nvSpPr>
          <p:spPr bwMode="auto">
            <a:xfrm>
              <a:off x="5026" y="1668"/>
              <a:ext cx="4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TC(Q)</a:t>
              </a:r>
            </a:p>
          </p:txBody>
        </p:sp>
      </p:grpSp>
      <p:grpSp>
        <p:nvGrpSpPr>
          <p:cNvPr id="24586" name="Group 72">
            <a:extLst>
              <a:ext uri="{FF2B5EF4-FFF2-40B4-BE49-F238E27FC236}">
                <a16:creationId xmlns:a16="http://schemas.microsoft.com/office/drawing/2014/main" id="{F013E81C-7BA0-4C87-9F57-92F214531F95}"/>
              </a:ext>
            </a:extLst>
          </p:cNvPr>
          <p:cNvGrpSpPr>
            <a:grpSpLocks/>
          </p:cNvGrpSpPr>
          <p:nvPr/>
        </p:nvGrpSpPr>
        <p:grpSpPr bwMode="auto">
          <a:xfrm>
            <a:off x="6011863" y="2363788"/>
            <a:ext cx="1801812" cy="1749425"/>
            <a:chOff x="3945" y="1873"/>
            <a:chExt cx="1135" cy="1102"/>
          </a:xfrm>
        </p:grpSpPr>
        <p:grpSp>
          <p:nvGrpSpPr>
            <p:cNvPr id="24595" name="Group 73">
              <a:extLst>
                <a:ext uri="{FF2B5EF4-FFF2-40B4-BE49-F238E27FC236}">
                  <a16:creationId xmlns:a16="http://schemas.microsoft.com/office/drawing/2014/main" id="{A3D859CB-EC4F-458A-BA5D-DD2D7052AA05}"/>
                </a:ext>
              </a:extLst>
            </p:cNvPr>
            <p:cNvGrpSpPr>
              <a:grpSpLocks/>
            </p:cNvGrpSpPr>
            <p:nvPr/>
          </p:nvGrpSpPr>
          <p:grpSpPr bwMode="auto">
            <a:xfrm>
              <a:off x="3945" y="1873"/>
              <a:ext cx="1135" cy="1102"/>
              <a:chOff x="3945" y="1961"/>
              <a:chExt cx="1135" cy="1102"/>
            </a:xfrm>
          </p:grpSpPr>
          <p:sp>
            <p:nvSpPr>
              <p:cNvPr id="24600" name="Line 74">
                <a:extLst>
                  <a:ext uri="{FF2B5EF4-FFF2-40B4-BE49-F238E27FC236}">
                    <a16:creationId xmlns:a16="http://schemas.microsoft.com/office/drawing/2014/main" id="{B3A96902-4945-4BFF-9D0A-E017311B5CDF}"/>
                  </a:ext>
                </a:extLst>
              </p:cNvPr>
              <p:cNvSpPr>
                <a:spLocks noChangeShapeType="1"/>
              </p:cNvSpPr>
              <p:nvPr/>
            </p:nvSpPr>
            <p:spPr bwMode="auto">
              <a:xfrm flipV="1">
                <a:off x="3945" y="1961"/>
                <a:ext cx="1135" cy="62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1" name="Line 75">
                <a:extLst>
                  <a:ext uri="{FF2B5EF4-FFF2-40B4-BE49-F238E27FC236}">
                    <a16:creationId xmlns:a16="http://schemas.microsoft.com/office/drawing/2014/main" id="{3D024BC9-4993-4B2F-935A-A99CAF27F776}"/>
                  </a:ext>
                </a:extLst>
              </p:cNvPr>
              <p:cNvSpPr>
                <a:spLocks noChangeShapeType="1"/>
              </p:cNvSpPr>
              <p:nvPr/>
            </p:nvSpPr>
            <p:spPr bwMode="auto">
              <a:xfrm flipV="1">
                <a:off x="3945" y="2436"/>
                <a:ext cx="1135" cy="62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4596" name="Oval 76">
              <a:extLst>
                <a:ext uri="{FF2B5EF4-FFF2-40B4-BE49-F238E27FC236}">
                  <a16:creationId xmlns:a16="http://schemas.microsoft.com/office/drawing/2014/main" id="{FEC60433-FBED-4AA5-9665-85CBBA642D08}"/>
                </a:ext>
              </a:extLst>
            </p:cNvPr>
            <p:cNvSpPr>
              <a:spLocks noChangeArrowheads="1"/>
            </p:cNvSpPr>
            <p:nvPr/>
          </p:nvSpPr>
          <p:spPr bwMode="auto">
            <a:xfrm>
              <a:off x="4458" y="2634"/>
              <a:ext cx="69" cy="68"/>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24597" name="Oval 77">
              <a:extLst>
                <a:ext uri="{FF2B5EF4-FFF2-40B4-BE49-F238E27FC236}">
                  <a16:creationId xmlns:a16="http://schemas.microsoft.com/office/drawing/2014/main" id="{A79FF390-6C42-4856-9A43-1737322A57F9}"/>
                </a:ext>
              </a:extLst>
            </p:cNvPr>
            <p:cNvSpPr>
              <a:spLocks noChangeArrowheads="1"/>
            </p:cNvSpPr>
            <p:nvPr/>
          </p:nvSpPr>
          <p:spPr bwMode="auto">
            <a:xfrm>
              <a:off x="4458" y="2188"/>
              <a:ext cx="69" cy="69"/>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24598" name="Rectangle 78">
              <a:extLst>
                <a:ext uri="{FF2B5EF4-FFF2-40B4-BE49-F238E27FC236}">
                  <a16:creationId xmlns:a16="http://schemas.microsoft.com/office/drawing/2014/main" id="{E7EE5461-A12E-473D-B297-E1D817DD504E}"/>
                </a:ext>
              </a:extLst>
            </p:cNvPr>
            <p:cNvSpPr>
              <a:spLocks noChangeArrowheads="1"/>
            </p:cNvSpPr>
            <p:nvPr/>
          </p:nvSpPr>
          <p:spPr bwMode="auto">
            <a:xfrm>
              <a:off x="4317" y="1973"/>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A</a:t>
              </a:r>
            </a:p>
          </p:txBody>
        </p:sp>
        <p:sp>
          <p:nvSpPr>
            <p:cNvPr id="24599" name="Rectangle 79">
              <a:extLst>
                <a:ext uri="{FF2B5EF4-FFF2-40B4-BE49-F238E27FC236}">
                  <a16:creationId xmlns:a16="http://schemas.microsoft.com/office/drawing/2014/main" id="{3C109455-7759-4661-929E-B5C38F7F46DA}"/>
                </a:ext>
              </a:extLst>
            </p:cNvPr>
            <p:cNvSpPr>
              <a:spLocks noChangeArrowheads="1"/>
            </p:cNvSpPr>
            <p:nvPr/>
          </p:nvSpPr>
          <p:spPr bwMode="auto">
            <a:xfrm>
              <a:off x="4269" y="2453"/>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B</a:t>
              </a:r>
            </a:p>
          </p:txBody>
        </p:sp>
      </p:grpSp>
      <p:grpSp>
        <p:nvGrpSpPr>
          <p:cNvPr id="24587" name="Group 80">
            <a:extLst>
              <a:ext uri="{FF2B5EF4-FFF2-40B4-BE49-F238E27FC236}">
                <a16:creationId xmlns:a16="http://schemas.microsoft.com/office/drawing/2014/main" id="{077B8A89-B782-4F65-8F39-444D4845888E}"/>
              </a:ext>
            </a:extLst>
          </p:cNvPr>
          <p:cNvGrpSpPr>
            <a:grpSpLocks/>
          </p:cNvGrpSpPr>
          <p:nvPr/>
        </p:nvGrpSpPr>
        <p:grpSpPr bwMode="auto">
          <a:xfrm>
            <a:off x="5341938" y="2933700"/>
            <a:ext cx="1771650" cy="2168525"/>
            <a:chOff x="3523" y="2232"/>
            <a:chExt cx="1116" cy="1366"/>
          </a:xfrm>
        </p:grpSpPr>
        <p:sp>
          <p:nvSpPr>
            <p:cNvPr id="24591" name="Rectangle 81">
              <a:extLst>
                <a:ext uri="{FF2B5EF4-FFF2-40B4-BE49-F238E27FC236}">
                  <a16:creationId xmlns:a16="http://schemas.microsoft.com/office/drawing/2014/main" id="{84B255C9-5921-4D06-B62D-03259D9257B8}"/>
                </a:ext>
              </a:extLst>
            </p:cNvPr>
            <p:cNvSpPr>
              <a:spLocks noChangeArrowheads="1"/>
            </p:cNvSpPr>
            <p:nvPr/>
          </p:nvSpPr>
          <p:spPr bwMode="auto">
            <a:xfrm>
              <a:off x="3523" y="3350"/>
              <a:ext cx="27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25000">
                  <a:latin typeface="Times New Roman" panose="02020603050405020304" pitchFamily="18" charset="0"/>
                  <a:ea typeface="宋体" panose="02010600030101010101" pitchFamily="2" charset="-122"/>
                </a:rPr>
                <a:t>0</a:t>
              </a:r>
            </a:p>
          </p:txBody>
        </p:sp>
        <p:sp>
          <p:nvSpPr>
            <p:cNvPr id="24592" name="Line 82">
              <a:extLst>
                <a:ext uri="{FF2B5EF4-FFF2-40B4-BE49-F238E27FC236}">
                  <a16:creationId xmlns:a16="http://schemas.microsoft.com/office/drawing/2014/main" id="{859ED368-ECB1-4BEC-AAF7-B5BA82D38819}"/>
                </a:ext>
              </a:extLst>
            </p:cNvPr>
            <p:cNvSpPr>
              <a:spLocks noChangeShapeType="1"/>
            </p:cNvSpPr>
            <p:nvPr/>
          </p:nvSpPr>
          <p:spPr bwMode="auto">
            <a:xfrm>
              <a:off x="3602" y="2917"/>
              <a:ext cx="0" cy="4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3" name="Line 83">
              <a:extLst>
                <a:ext uri="{FF2B5EF4-FFF2-40B4-BE49-F238E27FC236}">
                  <a16:creationId xmlns:a16="http://schemas.microsoft.com/office/drawing/2014/main" id="{985B81F5-32F9-4C78-B3AE-621477159EA7}"/>
                </a:ext>
              </a:extLst>
            </p:cNvPr>
            <p:cNvSpPr>
              <a:spLocks noChangeShapeType="1"/>
            </p:cNvSpPr>
            <p:nvPr/>
          </p:nvSpPr>
          <p:spPr bwMode="auto">
            <a:xfrm>
              <a:off x="4492" y="2232"/>
              <a:ext cx="0" cy="111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4" name="Rectangle 84">
              <a:extLst>
                <a:ext uri="{FF2B5EF4-FFF2-40B4-BE49-F238E27FC236}">
                  <a16:creationId xmlns:a16="http://schemas.microsoft.com/office/drawing/2014/main" id="{4DF567C7-98C2-45E2-A2AD-7C2E4622F96E}"/>
                </a:ext>
              </a:extLst>
            </p:cNvPr>
            <p:cNvSpPr>
              <a:spLocks noChangeArrowheads="1"/>
            </p:cNvSpPr>
            <p:nvPr/>
          </p:nvSpPr>
          <p:spPr bwMode="auto">
            <a:xfrm>
              <a:off x="4387" y="3350"/>
              <a:ext cx="2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30000">
                  <a:latin typeface="Times New Roman" panose="02020603050405020304" pitchFamily="18" charset="0"/>
                  <a:ea typeface="宋体" panose="02010600030101010101" pitchFamily="2" charset="-122"/>
                </a:rPr>
                <a:t>*</a:t>
              </a:r>
            </a:p>
          </p:txBody>
        </p:sp>
      </p:grpSp>
      <p:grpSp>
        <p:nvGrpSpPr>
          <p:cNvPr id="24588" name="Group 85">
            <a:extLst>
              <a:ext uri="{FF2B5EF4-FFF2-40B4-BE49-F238E27FC236}">
                <a16:creationId xmlns:a16="http://schemas.microsoft.com/office/drawing/2014/main" id="{989EC88E-67D6-4E45-A050-4B5E6B1C11F8}"/>
              </a:ext>
            </a:extLst>
          </p:cNvPr>
          <p:cNvGrpSpPr>
            <a:grpSpLocks/>
          </p:cNvGrpSpPr>
          <p:nvPr/>
        </p:nvGrpSpPr>
        <p:grpSpPr bwMode="auto">
          <a:xfrm>
            <a:off x="4916488" y="4043363"/>
            <a:ext cx="3663950" cy="1309687"/>
            <a:chOff x="3255" y="2931"/>
            <a:chExt cx="2308" cy="825"/>
          </a:xfrm>
        </p:grpSpPr>
        <p:sp>
          <p:nvSpPr>
            <p:cNvPr id="24589" name="Freeform 86">
              <a:extLst>
                <a:ext uri="{FF2B5EF4-FFF2-40B4-BE49-F238E27FC236}">
                  <a16:creationId xmlns:a16="http://schemas.microsoft.com/office/drawing/2014/main" id="{A677531B-7828-408D-8F3A-4F968FA8B9FC}"/>
                </a:ext>
              </a:extLst>
            </p:cNvPr>
            <p:cNvSpPr>
              <a:spLocks/>
            </p:cNvSpPr>
            <p:nvPr/>
          </p:nvSpPr>
          <p:spPr bwMode="auto">
            <a:xfrm>
              <a:off x="3255" y="2931"/>
              <a:ext cx="2058" cy="801"/>
            </a:xfrm>
            <a:custGeom>
              <a:avLst/>
              <a:gdLst>
                <a:gd name="T0" fmla="*/ 0 w 2058"/>
                <a:gd name="T1" fmla="*/ 800 h 801"/>
                <a:gd name="T2" fmla="*/ 26 w 2058"/>
                <a:gd name="T3" fmla="*/ 794 h 801"/>
                <a:gd name="T4" fmla="*/ 51 w 2058"/>
                <a:gd name="T5" fmla="*/ 788 h 801"/>
                <a:gd name="T6" fmla="*/ 85 w 2058"/>
                <a:gd name="T7" fmla="*/ 769 h 801"/>
                <a:gd name="T8" fmla="*/ 102 w 2058"/>
                <a:gd name="T9" fmla="*/ 751 h 801"/>
                <a:gd name="T10" fmla="*/ 119 w 2058"/>
                <a:gd name="T11" fmla="*/ 733 h 801"/>
                <a:gd name="T12" fmla="*/ 145 w 2058"/>
                <a:gd name="T13" fmla="*/ 708 h 801"/>
                <a:gd name="T14" fmla="*/ 162 w 2058"/>
                <a:gd name="T15" fmla="*/ 672 h 801"/>
                <a:gd name="T16" fmla="*/ 213 w 2058"/>
                <a:gd name="T17" fmla="*/ 592 h 801"/>
                <a:gd name="T18" fmla="*/ 272 w 2058"/>
                <a:gd name="T19" fmla="*/ 507 h 801"/>
                <a:gd name="T20" fmla="*/ 349 w 2058"/>
                <a:gd name="T21" fmla="*/ 421 h 801"/>
                <a:gd name="T22" fmla="*/ 434 w 2058"/>
                <a:gd name="T23" fmla="*/ 336 h 801"/>
                <a:gd name="T24" fmla="*/ 544 w 2058"/>
                <a:gd name="T25" fmla="*/ 250 h 801"/>
                <a:gd name="T26" fmla="*/ 655 w 2058"/>
                <a:gd name="T27" fmla="*/ 171 h 801"/>
                <a:gd name="T28" fmla="*/ 714 w 2058"/>
                <a:gd name="T29" fmla="*/ 140 h 801"/>
                <a:gd name="T30" fmla="*/ 774 w 2058"/>
                <a:gd name="T31" fmla="*/ 110 h 801"/>
                <a:gd name="T32" fmla="*/ 884 w 2058"/>
                <a:gd name="T33" fmla="*/ 61 h 801"/>
                <a:gd name="T34" fmla="*/ 1003 w 2058"/>
                <a:gd name="T35" fmla="*/ 24 h 801"/>
                <a:gd name="T36" fmla="*/ 1122 w 2058"/>
                <a:gd name="T37" fmla="*/ 6 h 801"/>
                <a:gd name="T38" fmla="*/ 1233 w 2058"/>
                <a:gd name="T39" fmla="*/ 0 h 801"/>
                <a:gd name="T40" fmla="*/ 1292 w 2058"/>
                <a:gd name="T41" fmla="*/ 6 h 801"/>
                <a:gd name="T42" fmla="*/ 1352 w 2058"/>
                <a:gd name="T43" fmla="*/ 18 h 801"/>
                <a:gd name="T44" fmla="*/ 1462 w 2058"/>
                <a:gd name="T45" fmla="*/ 61 h 801"/>
                <a:gd name="T46" fmla="*/ 1573 w 2058"/>
                <a:gd name="T47" fmla="*/ 110 h 801"/>
                <a:gd name="T48" fmla="*/ 1666 w 2058"/>
                <a:gd name="T49" fmla="*/ 165 h 801"/>
                <a:gd name="T50" fmla="*/ 1743 w 2058"/>
                <a:gd name="T51" fmla="*/ 220 h 801"/>
                <a:gd name="T52" fmla="*/ 1811 w 2058"/>
                <a:gd name="T53" fmla="*/ 287 h 801"/>
                <a:gd name="T54" fmla="*/ 1870 w 2058"/>
                <a:gd name="T55" fmla="*/ 360 h 801"/>
                <a:gd name="T56" fmla="*/ 1921 w 2058"/>
                <a:gd name="T57" fmla="*/ 421 h 801"/>
                <a:gd name="T58" fmla="*/ 1964 w 2058"/>
                <a:gd name="T59" fmla="*/ 482 h 801"/>
                <a:gd name="T60" fmla="*/ 2006 w 2058"/>
                <a:gd name="T61" fmla="*/ 543 h 801"/>
                <a:gd name="T62" fmla="*/ 2032 w 2058"/>
                <a:gd name="T63" fmla="*/ 598 h 801"/>
                <a:gd name="T64" fmla="*/ 2057 w 2058"/>
                <a:gd name="T65" fmla="*/ 641 h 8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8"/>
                <a:gd name="T100" fmla="*/ 0 h 801"/>
                <a:gd name="T101" fmla="*/ 2058 w 2058"/>
                <a:gd name="T102" fmla="*/ 801 h 8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8" h="801">
                  <a:moveTo>
                    <a:pt x="0" y="800"/>
                  </a:moveTo>
                  <a:lnTo>
                    <a:pt x="26" y="794"/>
                  </a:lnTo>
                  <a:lnTo>
                    <a:pt x="51" y="788"/>
                  </a:lnTo>
                  <a:lnTo>
                    <a:pt x="85" y="769"/>
                  </a:lnTo>
                  <a:lnTo>
                    <a:pt x="102" y="751"/>
                  </a:lnTo>
                  <a:lnTo>
                    <a:pt x="119" y="733"/>
                  </a:lnTo>
                  <a:lnTo>
                    <a:pt x="145" y="708"/>
                  </a:lnTo>
                  <a:lnTo>
                    <a:pt x="162" y="672"/>
                  </a:lnTo>
                  <a:lnTo>
                    <a:pt x="213" y="592"/>
                  </a:lnTo>
                  <a:lnTo>
                    <a:pt x="272" y="507"/>
                  </a:lnTo>
                  <a:lnTo>
                    <a:pt x="349" y="421"/>
                  </a:lnTo>
                  <a:lnTo>
                    <a:pt x="434" y="336"/>
                  </a:lnTo>
                  <a:lnTo>
                    <a:pt x="544" y="250"/>
                  </a:lnTo>
                  <a:lnTo>
                    <a:pt x="655" y="171"/>
                  </a:lnTo>
                  <a:lnTo>
                    <a:pt x="714" y="140"/>
                  </a:lnTo>
                  <a:lnTo>
                    <a:pt x="774" y="110"/>
                  </a:lnTo>
                  <a:lnTo>
                    <a:pt x="884" y="61"/>
                  </a:lnTo>
                  <a:lnTo>
                    <a:pt x="1003" y="24"/>
                  </a:lnTo>
                  <a:lnTo>
                    <a:pt x="1122" y="6"/>
                  </a:lnTo>
                  <a:lnTo>
                    <a:pt x="1233" y="0"/>
                  </a:lnTo>
                  <a:lnTo>
                    <a:pt x="1292" y="6"/>
                  </a:lnTo>
                  <a:lnTo>
                    <a:pt x="1352" y="18"/>
                  </a:lnTo>
                  <a:lnTo>
                    <a:pt x="1462" y="61"/>
                  </a:lnTo>
                  <a:lnTo>
                    <a:pt x="1573" y="110"/>
                  </a:lnTo>
                  <a:lnTo>
                    <a:pt x="1666" y="165"/>
                  </a:lnTo>
                  <a:lnTo>
                    <a:pt x="1743" y="220"/>
                  </a:lnTo>
                  <a:lnTo>
                    <a:pt x="1811" y="287"/>
                  </a:lnTo>
                  <a:lnTo>
                    <a:pt x="1870" y="360"/>
                  </a:lnTo>
                  <a:lnTo>
                    <a:pt x="1921" y="421"/>
                  </a:lnTo>
                  <a:lnTo>
                    <a:pt x="1964" y="482"/>
                  </a:lnTo>
                  <a:lnTo>
                    <a:pt x="2006" y="543"/>
                  </a:lnTo>
                  <a:lnTo>
                    <a:pt x="2032" y="598"/>
                  </a:lnTo>
                  <a:lnTo>
                    <a:pt x="2057" y="641"/>
                  </a:lnTo>
                </a:path>
              </a:pathLst>
            </a:custGeom>
            <a:noFill/>
            <a:ln w="50800" cap="rnd">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4590" name="Object 2">
              <a:hlinkClick r:id="" action="ppaction://ole?verb=0"/>
              <a:extLst>
                <a:ext uri="{FF2B5EF4-FFF2-40B4-BE49-F238E27FC236}">
                  <a16:creationId xmlns:a16="http://schemas.microsoft.com/office/drawing/2014/main" id="{6BCFFA1C-01AF-4E28-AAE4-BEB110FF1175}"/>
                </a:ext>
              </a:extLst>
            </p:cNvPr>
            <p:cNvGraphicFramePr>
              <a:graphicFrameLocks/>
            </p:cNvGraphicFramePr>
            <p:nvPr/>
          </p:nvGraphicFramePr>
          <p:xfrm>
            <a:off x="5246" y="3559"/>
            <a:ext cx="317" cy="197"/>
          </p:xfrm>
          <a:graphic>
            <a:graphicData uri="http://schemas.openxmlformats.org/presentationml/2006/ole">
              <mc:AlternateContent xmlns:mc="http://schemas.openxmlformats.org/markup-compatibility/2006">
                <mc:Choice xmlns:v="urn:schemas-microsoft-com:vml" Requires="v">
                  <p:oleObj spid="_x0000_s6171" name="Equation" r:id="rId4" imgW="501496" imgH="311655" progId="Equation.DSMT4">
                    <p:embed/>
                  </p:oleObj>
                </mc:Choice>
                <mc:Fallback>
                  <p:oleObj name="Equation" r:id="rId4" imgW="501496" imgH="311655" progId="Equation.DSMT4">
                    <p:embed/>
                    <p:pic>
                      <p:nvPicPr>
                        <p:cNvPr id="24590" name="Object 2">
                          <a:hlinkClick r:id="" action="ppaction://ole?verb=0"/>
                          <a:extLst>
                            <a:ext uri="{FF2B5EF4-FFF2-40B4-BE49-F238E27FC236}">
                              <a16:creationId xmlns:a16="http://schemas.microsoft.com/office/drawing/2014/main" id="{6BCFFA1C-01AF-4E28-AAE4-BEB110FF117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6" y="3559"/>
                          <a:ext cx="317"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5">
            <a:extLst>
              <a:ext uri="{FF2B5EF4-FFF2-40B4-BE49-F238E27FC236}">
                <a16:creationId xmlns:a16="http://schemas.microsoft.com/office/drawing/2014/main" id="{4E8CB92E-D89C-467A-AFC8-123887786958}"/>
              </a:ext>
            </a:extLst>
          </p:cNvPr>
          <p:cNvSpPr>
            <a:spLocks noGrp="1" noChangeArrowheads="1"/>
          </p:cNvSpPr>
          <p:nvPr>
            <p:ph type="body" sz="half" idx="1"/>
          </p:nvPr>
        </p:nvSpPr>
        <p:spPr>
          <a:xfrm>
            <a:off x="381000" y="1327150"/>
            <a:ext cx="3405188" cy="4114800"/>
          </a:xfrm>
          <a:noFill/>
        </p:spPr>
        <p:txBody>
          <a:bodyPr/>
          <a:lstStyle/>
          <a:p>
            <a:pPr eaLnBrk="1" hangingPunct="1">
              <a:spcBef>
                <a:spcPct val="70000"/>
              </a:spcBef>
            </a:pPr>
            <a:r>
              <a:rPr lang="zh-CN" altLang="en-US">
                <a:latin typeface="黑体" panose="02010609060101010101" pitchFamily="49" charset="-122"/>
                <a:ea typeface="宋体" panose="02010600030101010101" pitchFamily="2" charset="-122"/>
              </a:rPr>
              <a:t>因此，当</a:t>
            </a:r>
            <a:r>
              <a:rPr lang="en-US" altLang="zh-CN">
                <a:latin typeface="黑体" panose="02010609060101010101" pitchFamily="49" charset="-122"/>
                <a:ea typeface="宋体" panose="02010600030101010101" pitchFamily="2" charset="-122"/>
              </a:rPr>
              <a:t>MR=MC</a:t>
            </a:r>
            <a:r>
              <a:rPr lang="zh-CN" altLang="en-US">
                <a:latin typeface="黑体" panose="02010609060101010101" pitchFamily="49" charset="-122"/>
                <a:ea typeface="宋体" panose="02010600030101010101" pitchFamily="2" charset="-122"/>
              </a:rPr>
              <a:t>时，利润实现最大化。</a:t>
            </a:r>
          </a:p>
        </p:txBody>
      </p:sp>
      <p:sp>
        <p:nvSpPr>
          <p:cNvPr id="26627" name="Line 59">
            <a:extLst>
              <a:ext uri="{FF2B5EF4-FFF2-40B4-BE49-F238E27FC236}">
                <a16:creationId xmlns:a16="http://schemas.microsoft.com/office/drawing/2014/main" id="{D94A5796-C2BD-491B-B34F-B7F2B43DD740}"/>
              </a:ext>
            </a:extLst>
          </p:cNvPr>
          <p:cNvSpPr>
            <a:spLocks noChangeShapeType="1"/>
          </p:cNvSpPr>
          <p:nvPr/>
        </p:nvSpPr>
        <p:spPr bwMode="auto">
          <a:xfrm>
            <a:off x="5035550" y="4821238"/>
            <a:ext cx="39433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6628" name="Group 60">
            <a:extLst>
              <a:ext uri="{FF2B5EF4-FFF2-40B4-BE49-F238E27FC236}">
                <a16:creationId xmlns:a16="http://schemas.microsoft.com/office/drawing/2014/main" id="{F0D0C70A-89D9-4E29-BA7A-44DD87A27697}"/>
              </a:ext>
            </a:extLst>
          </p:cNvPr>
          <p:cNvGrpSpPr>
            <a:grpSpLocks/>
          </p:cNvGrpSpPr>
          <p:nvPr/>
        </p:nvGrpSpPr>
        <p:grpSpPr bwMode="auto">
          <a:xfrm>
            <a:off x="5019675" y="2581275"/>
            <a:ext cx="3952875" cy="2243138"/>
            <a:chOff x="3258" y="1942"/>
            <a:chExt cx="2490" cy="1413"/>
          </a:xfrm>
        </p:grpSpPr>
        <p:sp>
          <p:nvSpPr>
            <p:cNvPr id="26652" name="Freeform 61">
              <a:extLst>
                <a:ext uri="{FF2B5EF4-FFF2-40B4-BE49-F238E27FC236}">
                  <a16:creationId xmlns:a16="http://schemas.microsoft.com/office/drawing/2014/main" id="{00E187A6-DD49-43AD-8920-5F2840815EE8}"/>
                </a:ext>
              </a:extLst>
            </p:cNvPr>
            <p:cNvSpPr>
              <a:spLocks/>
            </p:cNvSpPr>
            <p:nvPr/>
          </p:nvSpPr>
          <p:spPr bwMode="auto">
            <a:xfrm>
              <a:off x="3258" y="2038"/>
              <a:ext cx="2059" cy="1317"/>
            </a:xfrm>
            <a:custGeom>
              <a:avLst/>
              <a:gdLst>
                <a:gd name="T0" fmla="*/ 0 w 2059"/>
                <a:gd name="T1" fmla="*/ 1316 h 1317"/>
                <a:gd name="T2" fmla="*/ 161 w 2059"/>
                <a:gd name="T3" fmla="*/ 1107 h 1317"/>
                <a:gd name="T4" fmla="*/ 331 w 2059"/>
                <a:gd name="T5" fmla="*/ 908 h 1317"/>
                <a:gd name="T6" fmla="*/ 408 w 2059"/>
                <a:gd name="T7" fmla="*/ 809 h 1317"/>
                <a:gd name="T8" fmla="*/ 493 w 2059"/>
                <a:gd name="T9" fmla="*/ 721 h 1317"/>
                <a:gd name="T10" fmla="*/ 570 w 2059"/>
                <a:gd name="T11" fmla="*/ 639 h 1317"/>
                <a:gd name="T12" fmla="*/ 655 w 2059"/>
                <a:gd name="T13" fmla="*/ 562 h 1317"/>
                <a:gd name="T14" fmla="*/ 740 w 2059"/>
                <a:gd name="T15" fmla="*/ 490 h 1317"/>
                <a:gd name="T16" fmla="*/ 816 w 2059"/>
                <a:gd name="T17" fmla="*/ 429 h 1317"/>
                <a:gd name="T18" fmla="*/ 986 w 2059"/>
                <a:gd name="T19" fmla="*/ 319 h 1317"/>
                <a:gd name="T20" fmla="*/ 1148 w 2059"/>
                <a:gd name="T21" fmla="*/ 226 h 1317"/>
                <a:gd name="T22" fmla="*/ 1301 w 2059"/>
                <a:gd name="T23" fmla="*/ 148 h 1317"/>
                <a:gd name="T24" fmla="*/ 1369 w 2059"/>
                <a:gd name="T25" fmla="*/ 121 h 1317"/>
                <a:gd name="T26" fmla="*/ 1437 w 2059"/>
                <a:gd name="T27" fmla="*/ 93 h 1317"/>
                <a:gd name="T28" fmla="*/ 1565 w 2059"/>
                <a:gd name="T29" fmla="*/ 55 h 1317"/>
                <a:gd name="T30" fmla="*/ 1684 w 2059"/>
                <a:gd name="T31" fmla="*/ 33 h 1317"/>
                <a:gd name="T32" fmla="*/ 1786 w 2059"/>
                <a:gd name="T33" fmla="*/ 11 h 1317"/>
                <a:gd name="T34" fmla="*/ 1871 w 2059"/>
                <a:gd name="T35" fmla="*/ 0 h 1317"/>
                <a:gd name="T36" fmla="*/ 1939 w 2059"/>
                <a:gd name="T37" fmla="*/ 0 h 1317"/>
                <a:gd name="T38" fmla="*/ 1998 w 2059"/>
                <a:gd name="T39" fmla="*/ 5 h 1317"/>
                <a:gd name="T40" fmla="*/ 2058 w 2059"/>
                <a:gd name="T41" fmla="*/ 11 h 13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59"/>
                <a:gd name="T64" fmla="*/ 0 h 1317"/>
                <a:gd name="T65" fmla="*/ 2059 w 2059"/>
                <a:gd name="T66" fmla="*/ 1317 h 13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59" h="1317">
                  <a:moveTo>
                    <a:pt x="0" y="1316"/>
                  </a:moveTo>
                  <a:lnTo>
                    <a:pt x="161" y="1107"/>
                  </a:lnTo>
                  <a:lnTo>
                    <a:pt x="331" y="908"/>
                  </a:lnTo>
                  <a:lnTo>
                    <a:pt x="408" y="809"/>
                  </a:lnTo>
                  <a:lnTo>
                    <a:pt x="493" y="721"/>
                  </a:lnTo>
                  <a:lnTo>
                    <a:pt x="570" y="639"/>
                  </a:lnTo>
                  <a:lnTo>
                    <a:pt x="655" y="562"/>
                  </a:lnTo>
                  <a:lnTo>
                    <a:pt x="740" y="490"/>
                  </a:lnTo>
                  <a:lnTo>
                    <a:pt x="816" y="429"/>
                  </a:lnTo>
                  <a:lnTo>
                    <a:pt x="986" y="319"/>
                  </a:lnTo>
                  <a:lnTo>
                    <a:pt x="1148" y="226"/>
                  </a:lnTo>
                  <a:lnTo>
                    <a:pt x="1301" y="148"/>
                  </a:lnTo>
                  <a:lnTo>
                    <a:pt x="1369" y="121"/>
                  </a:lnTo>
                  <a:lnTo>
                    <a:pt x="1437" y="93"/>
                  </a:lnTo>
                  <a:lnTo>
                    <a:pt x="1565" y="55"/>
                  </a:lnTo>
                  <a:lnTo>
                    <a:pt x="1684" y="33"/>
                  </a:lnTo>
                  <a:lnTo>
                    <a:pt x="1786" y="11"/>
                  </a:lnTo>
                  <a:lnTo>
                    <a:pt x="1871" y="0"/>
                  </a:lnTo>
                  <a:lnTo>
                    <a:pt x="1939" y="0"/>
                  </a:lnTo>
                  <a:lnTo>
                    <a:pt x="1998" y="5"/>
                  </a:lnTo>
                  <a:lnTo>
                    <a:pt x="2058" y="11"/>
                  </a:lnTo>
                </a:path>
              </a:pathLst>
            </a:custGeom>
            <a:noFill/>
            <a:ln w="50800" cap="rnd">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53" name="Rectangle 62">
              <a:extLst>
                <a:ext uri="{FF2B5EF4-FFF2-40B4-BE49-F238E27FC236}">
                  <a16:creationId xmlns:a16="http://schemas.microsoft.com/office/drawing/2014/main" id="{C021FDE8-C0EA-4744-AE91-3232F07EBA16}"/>
                </a:ext>
              </a:extLst>
            </p:cNvPr>
            <p:cNvSpPr>
              <a:spLocks noChangeArrowheads="1"/>
            </p:cNvSpPr>
            <p:nvPr/>
          </p:nvSpPr>
          <p:spPr bwMode="auto">
            <a:xfrm>
              <a:off x="5346" y="1942"/>
              <a:ext cx="402"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R(q)</a:t>
              </a:r>
            </a:p>
          </p:txBody>
        </p:sp>
      </p:grpSp>
      <p:sp>
        <p:nvSpPr>
          <p:cNvPr id="26629" name="Line 64">
            <a:extLst>
              <a:ext uri="{FF2B5EF4-FFF2-40B4-BE49-F238E27FC236}">
                <a16:creationId xmlns:a16="http://schemas.microsoft.com/office/drawing/2014/main" id="{0418D1FF-E3D3-4228-A452-998D75052B44}"/>
              </a:ext>
            </a:extLst>
          </p:cNvPr>
          <p:cNvSpPr>
            <a:spLocks noChangeShapeType="1"/>
          </p:cNvSpPr>
          <p:nvPr/>
        </p:nvSpPr>
        <p:spPr bwMode="auto">
          <a:xfrm>
            <a:off x="5021263" y="2714625"/>
            <a:ext cx="0" cy="28559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0" name="Rectangle 65">
            <a:extLst>
              <a:ext uri="{FF2B5EF4-FFF2-40B4-BE49-F238E27FC236}">
                <a16:creationId xmlns:a16="http://schemas.microsoft.com/office/drawing/2014/main" id="{A2FC3B60-9C06-4574-BABE-35DD613181BD}"/>
              </a:ext>
            </a:extLst>
          </p:cNvPr>
          <p:cNvSpPr>
            <a:spLocks noChangeArrowheads="1"/>
          </p:cNvSpPr>
          <p:nvPr/>
        </p:nvSpPr>
        <p:spPr bwMode="auto">
          <a:xfrm>
            <a:off x="4643438" y="4846638"/>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O</a:t>
            </a:r>
            <a:endParaRPr lang="zh-CN" altLang="en-US" sz="2000">
              <a:latin typeface="Times New Roman" panose="02020603050405020304" pitchFamily="18" charset="0"/>
              <a:ea typeface="宋体" panose="02010600030101010101" pitchFamily="2" charset="-122"/>
            </a:endParaRPr>
          </a:p>
        </p:txBody>
      </p:sp>
      <p:sp>
        <p:nvSpPr>
          <p:cNvPr id="26631" name="Rectangle 66">
            <a:extLst>
              <a:ext uri="{FF2B5EF4-FFF2-40B4-BE49-F238E27FC236}">
                <a16:creationId xmlns:a16="http://schemas.microsoft.com/office/drawing/2014/main" id="{01A8B309-D794-43AF-B76B-3DF86DB709BB}"/>
              </a:ext>
            </a:extLst>
          </p:cNvPr>
          <p:cNvSpPr>
            <a:spLocks noChangeArrowheads="1"/>
          </p:cNvSpPr>
          <p:nvPr/>
        </p:nvSpPr>
        <p:spPr bwMode="auto">
          <a:xfrm>
            <a:off x="4586288" y="1639888"/>
            <a:ext cx="54133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收入</a:t>
            </a:r>
          </a:p>
          <a:p>
            <a:pPr algn="ctr" eaLnBrk="1" hangingPunct="1">
              <a:spcBef>
                <a:spcPct val="0"/>
              </a:spcBef>
              <a:buClrTx/>
              <a:buFontTx/>
              <a:buNone/>
            </a:pPr>
            <a:r>
              <a:rPr lang="zh-CN" altLang="en-US" sz="1400"/>
              <a:t>成本</a:t>
            </a:r>
          </a:p>
          <a:p>
            <a:pPr algn="ctr" eaLnBrk="1" hangingPunct="1">
              <a:spcBef>
                <a:spcPct val="0"/>
              </a:spcBef>
              <a:buClrTx/>
              <a:buFontTx/>
              <a:buNone/>
            </a:pPr>
            <a:r>
              <a:rPr lang="zh-CN" altLang="en-US" sz="1400"/>
              <a:t>利润</a:t>
            </a:r>
            <a:endParaRPr lang="en-US" altLang="zh-CN" sz="1400"/>
          </a:p>
        </p:txBody>
      </p:sp>
      <p:sp>
        <p:nvSpPr>
          <p:cNvPr id="26632" name="Rectangle 67">
            <a:extLst>
              <a:ext uri="{FF2B5EF4-FFF2-40B4-BE49-F238E27FC236}">
                <a16:creationId xmlns:a16="http://schemas.microsoft.com/office/drawing/2014/main" id="{C344C96E-36EF-4E2C-8EAD-F9F35E6849E5}"/>
              </a:ext>
            </a:extLst>
          </p:cNvPr>
          <p:cNvSpPr>
            <a:spLocks noChangeArrowheads="1"/>
          </p:cNvSpPr>
          <p:nvPr/>
        </p:nvSpPr>
        <p:spPr bwMode="auto">
          <a:xfrm>
            <a:off x="8150225" y="5413375"/>
            <a:ext cx="5413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产量</a:t>
            </a:r>
          </a:p>
        </p:txBody>
      </p:sp>
      <p:grpSp>
        <p:nvGrpSpPr>
          <p:cNvPr id="26633" name="Group 68">
            <a:extLst>
              <a:ext uri="{FF2B5EF4-FFF2-40B4-BE49-F238E27FC236}">
                <a16:creationId xmlns:a16="http://schemas.microsoft.com/office/drawing/2014/main" id="{A348417D-5668-464A-97D8-BAAC9EF70754}"/>
              </a:ext>
            </a:extLst>
          </p:cNvPr>
          <p:cNvGrpSpPr>
            <a:grpSpLocks/>
          </p:cNvGrpSpPr>
          <p:nvPr/>
        </p:nvGrpSpPr>
        <p:grpSpPr bwMode="auto">
          <a:xfrm>
            <a:off x="5018088" y="2146300"/>
            <a:ext cx="3519487" cy="2135188"/>
            <a:chOff x="3257" y="1668"/>
            <a:chExt cx="2217" cy="1345"/>
          </a:xfrm>
        </p:grpSpPr>
        <p:sp>
          <p:nvSpPr>
            <p:cNvPr id="26650" name="Freeform 69">
              <a:extLst>
                <a:ext uri="{FF2B5EF4-FFF2-40B4-BE49-F238E27FC236}">
                  <a16:creationId xmlns:a16="http://schemas.microsoft.com/office/drawing/2014/main" id="{179F3C92-674C-4FE8-8CEC-ADF98DD2C08F}"/>
                </a:ext>
              </a:extLst>
            </p:cNvPr>
            <p:cNvSpPr>
              <a:spLocks/>
            </p:cNvSpPr>
            <p:nvPr/>
          </p:nvSpPr>
          <p:spPr bwMode="auto">
            <a:xfrm>
              <a:off x="3257" y="1846"/>
              <a:ext cx="1991" cy="1167"/>
            </a:xfrm>
            <a:custGeom>
              <a:avLst/>
              <a:gdLst>
                <a:gd name="T0" fmla="*/ 0 w 1991"/>
                <a:gd name="T1" fmla="*/ 1166 h 1167"/>
                <a:gd name="T2" fmla="*/ 59 w 1991"/>
                <a:gd name="T3" fmla="*/ 1131 h 1167"/>
                <a:gd name="T4" fmla="*/ 101 w 1991"/>
                <a:gd name="T5" fmla="*/ 1111 h 1167"/>
                <a:gd name="T6" fmla="*/ 143 w 1991"/>
                <a:gd name="T7" fmla="*/ 1097 h 1167"/>
                <a:gd name="T8" fmla="*/ 185 w 1991"/>
                <a:gd name="T9" fmla="*/ 1087 h 1167"/>
                <a:gd name="T10" fmla="*/ 235 w 1991"/>
                <a:gd name="T11" fmla="*/ 1082 h 1167"/>
                <a:gd name="T12" fmla="*/ 303 w 1991"/>
                <a:gd name="T13" fmla="*/ 1077 h 1167"/>
                <a:gd name="T14" fmla="*/ 378 w 1991"/>
                <a:gd name="T15" fmla="*/ 1062 h 1167"/>
                <a:gd name="T16" fmla="*/ 428 w 1991"/>
                <a:gd name="T17" fmla="*/ 1052 h 1167"/>
                <a:gd name="T18" fmla="*/ 479 w 1991"/>
                <a:gd name="T19" fmla="*/ 1042 h 1167"/>
                <a:gd name="T20" fmla="*/ 605 w 1991"/>
                <a:gd name="T21" fmla="*/ 1017 h 1167"/>
                <a:gd name="T22" fmla="*/ 739 w 1991"/>
                <a:gd name="T23" fmla="*/ 992 h 1167"/>
                <a:gd name="T24" fmla="*/ 857 w 1991"/>
                <a:gd name="T25" fmla="*/ 958 h 1167"/>
                <a:gd name="T26" fmla="*/ 974 w 1991"/>
                <a:gd name="T27" fmla="*/ 923 h 1167"/>
                <a:gd name="T28" fmla="*/ 1083 w 1991"/>
                <a:gd name="T29" fmla="*/ 888 h 1167"/>
                <a:gd name="T30" fmla="*/ 1192 w 1991"/>
                <a:gd name="T31" fmla="*/ 844 h 1167"/>
                <a:gd name="T32" fmla="*/ 1302 w 1991"/>
                <a:gd name="T33" fmla="*/ 789 h 1167"/>
                <a:gd name="T34" fmla="*/ 1419 w 1991"/>
                <a:gd name="T35" fmla="*/ 715 h 1167"/>
                <a:gd name="T36" fmla="*/ 1537 w 1991"/>
                <a:gd name="T37" fmla="*/ 635 h 1167"/>
                <a:gd name="T38" fmla="*/ 1654 w 1991"/>
                <a:gd name="T39" fmla="*/ 541 h 1167"/>
                <a:gd name="T40" fmla="*/ 1747 w 1991"/>
                <a:gd name="T41" fmla="*/ 447 h 1167"/>
                <a:gd name="T42" fmla="*/ 1822 w 1991"/>
                <a:gd name="T43" fmla="*/ 343 h 1167"/>
                <a:gd name="T44" fmla="*/ 1889 w 1991"/>
                <a:gd name="T45" fmla="*/ 234 h 1167"/>
                <a:gd name="T46" fmla="*/ 1940 w 1991"/>
                <a:gd name="T47" fmla="*/ 119 h 1167"/>
                <a:gd name="T48" fmla="*/ 1990 w 1991"/>
                <a:gd name="T49" fmla="*/ 0 h 1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91"/>
                <a:gd name="T76" fmla="*/ 0 h 1167"/>
                <a:gd name="T77" fmla="*/ 1991 w 1991"/>
                <a:gd name="T78" fmla="*/ 1167 h 116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91" h="1167">
                  <a:moveTo>
                    <a:pt x="0" y="1166"/>
                  </a:moveTo>
                  <a:lnTo>
                    <a:pt x="59" y="1131"/>
                  </a:lnTo>
                  <a:lnTo>
                    <a:pt x="101" y="1111"/>
                  </a:lnTo>
                  <a:lnTo>
                    <a:pt x="143" y="1097"/>
                  </a:lnTo>
                  <a:lnTo>
                    <a:pt x="185" y="1087"/>
                  </a:lnTo>
                  <a:lnTo>
                    <a:pt x="235" y="1082"/>
                  </a:lnTo>
                  <a:lnTo>
                    <a:pt x="303" y="1077"/>
                  </a:lnTo>
                  <a:lnTo>
                    <a:pt x="378" y="1062"/>
                  </a:lnTo>
                  <a:lnTo>
                    <a:pt x="428" y="1052"/>
                  </a:lnTo>
                  <a:lnTo>
                    <a:pt x="479" y="1042"/>
                  </a:lnTo>
                  <a:lnTo>
                    <a:pt x="605" y="1017"/>
                  </a:lnTo>
                  <a:lnTo>
                    <a:pt x="739" y="992"/>
                  </a:lnTo>
                  <a:lnTo>
                    <a:pt x="857" y="958"/>
                  </a:lnTo>
                  <a:lnTo>
                    <a:pt x="974" y="923"/>
                  </a:lnTo>
                  <a:lnTo>
                    <a:pt x="1083" y="888"/>
                  </a:lnTo>
                  <a:lnTo>
                    <a:pt x="1192" y="844"/>
                  </a:lnTo>
                  <a:lnTo>
                    <a:pt x="1302" y="789"/>
                  </a:lnTo>
                  <a:lnTo>
                    <a:pt x="1419" y="715"/>
                  </a:lnTo>
                  <a:lnTo>
                    <a:pt x="1537" y="635"/>
                  </a:lnTo>
                  <a:lnTo>
                    <a:pt x="1654" y="541"/>
                  </a:lnTo>
                  <a:lnTo>
                    <a:pt x="1747" y="447"/>
                  </a:lnTo>
                  <a:lnTo>
                    <a:pt x="1822" y="343"/>
                  </a:lnTo>
                  <a:lnTo>
                    <a:pt x="1889" y="234"/>
                  </a:lnTo>
                  <a:lnTo>
                    <a:pt x="1940" y="119"/>
                  </a:lnTo>
                  <a:lnTo>
                    <a:pt x="1990"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51" name="Rectangle 70">
              <a:extLst>
                <a:ext uri="{FF2B5EF4-FFF2-40B4-BE49-F238E27FC236}">
                  <a16:creationId xmlns:a16="http://schemas.microsoft.com/office/drawing/2014/main" id="{27B24D7D-81F8-4132-AD02-8D78FA6F53E6}"/>
                </a:ext>
              </a:extLst>
            </p:cNvPr>
            <p:cNvSpPr>
              <a:spLocks noChangeArrowheads="1"/>
            </p:cNvSpPr>
            <p:nvPr/>
          </p:nvSpPr>
          <p:spPr bwMode="auto">
            <a:xfrm>
              <a:off x="5072" y="1668"/>
              <a:ext cx="402"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C(q)</a:t>
              </a:r>
            </a:p>
          </p:txBody>
        </p:sp>
      </p:grpSp>
      <p:grpSp>
        <p:nvGrpSpPr>
          <p:cNvPr id="26634" name="Group 71">
            <a:extLst>
              <a:ext uri="{FF2B5EF4-FFF2-40B4-BE49-F238E27FC236}">
                <a16:creationId xmlns:a16="http://schemas.microsoft.com/office/drawing/2014/main" id="{99AAFD82-26AB-4BA4-A7C6-DB007159D1F1}"/>
              </a:ext>
            </a:extLst>
          </p:cNvPr>
          <p:cNvGrpSpPr>
            <a:grpSpLocks/>
          </p:cNvGrpSpPr>
          <p:nvPr/>
        </p:nvGrpSpPr>
        <p:grpSpPr bwMode="auto">
          <a:xfrm>
            <a:off x="6110288" y="2471738"/>
            <a:ext cx="1801812" cy="1749425"/>
            <a:chOff x="3945" y="1873"/>
            <a:chExt cx="1135" cy="1102"/>
          </a:xfrm>
        </p:grpSpPr>
        <p:grpSp>
          <p:nvGrpSpPr>
            <p:cNvPr id="26643" name="Group 72">
              <a:extLst>
                <a:ext uri="{FF2B5EF4-FFF2-40B4-BE49-F238E27FC236}">
                  <a16:creationId xmlns:a16="http://schemas.microsoft.com/office/drawing/2014/main" id="{2ACEAC42-FF6C-424B-95F6-30C0C9162D76}"/>
                </a:ext>
              </a:extLst>
            </p:cNvPr>
            <p:cNvGrpSpPr>
              <a:grpSpLocks/>
            </p:cNvGrpSpPr>
            <p:nvPr/>
          </p:nvGrpSpPr>
          <p:grpSpPr bwMode="auto">
            <a:xfrm>
              <a:off x="3945" y="1873"/>
              <a:ext cx="1135" cy="1102"/>
              <a:chOff x="3945" y="1961"/>
              <a:chExt cx="1135" cy="1102"/>
            </a:xfrm>
          </p:grpSpPr>
          <p:sp>
            <p:nvSpPr>
              <p:cNvPr id="26648" name="Line 73">
                <a:extLst>
                  <a:ext uri="{FF2B5EF4-FFF2-40B4-BE49-F238E27FC236}">
                    <a16:creationId xmlns:a16="http://schemas.microsoft.com/office/drawing/2014/main" id="{FFA7BE9D-1558-47DB-AE51-42F3ED38BCC6}"/>
                  </a:ext>
                </a:extLst>
              </p:cNvPr>
              <p:cNvSpPr>
                <a:spLocks noChangeShapeType="1"/>
              </p:cNvSpPr>
              <p:nvPr/>
            </p:nvSpPr>
            <p:spPr bwMode="auto">
              <a:xfrm flipV="1">
                <a:off x="3945" y="1961"/>
                <a:ext cx="1135" cy="62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9" name="Line 74">
                <a:extLst>
                  <a:ext uri="{FF2B5EF4-FFF2-40B4-BE49-F238E27FC236}">
                    <a16:creationId xmlns:a16="http://schemas.microsoft.com/office/drawing/2014/main" id="{8115E0C9-A6D5-4E38-999E-935E0518961F}"/>
                  </a:ext>
                </a:extLst>
              </p:cNvPr>
              <p:cNvSpPr>
                <a:spLocks noChangeShapeType="1"/>
              </p:cNvSpPr>
              <p:nvPr/>
            </p:nvSpPr>
            <p:spPr bwMode="auto">
              <a:xfrm flipV="1">
                <a:off x="3945" y="2436"/>
                <a:ext cx="1135" cy="62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6644" name="Oval 75">
              <a:extLst>
                <a:ext uri="{FF2B5EF4-FFF2-40B4-BE49-F238E27FC236}">
                  <a16:creationId xmlns:a16="http://schemas.microsoft.com/office/drawing/2014/main" id="{9D6D33AC-C820-44E7-BC08-1B68E58CEA9F}"/>
                </a:ext>
              </a:extLst>
            </p:cNvPr>
            <p:cNvSpPr>
              <a:spLocks noChangeArrowheads="1"/>
            </p:cNvSpPr>
            <p:nvPr/>
          </p:nvSpPr>
          <p:spPr bwMode="auto">
            <a:xfrm>
              <a:off x="4458" y="2634"/>
              <a:ext cx="69" cy="68"/>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26645" name="Oval 76">
              <a:extLst>
                <a:ext uri="{FF2B5EF4-FFF2-40B4-BE49-F238E27FC236}">
                  <a16:creationId xmlns:a16="http://schemas.microsoft.com/office/drawing/2014/main" id="{AA70FD8C-6628-4B4A-B0DC-6DA9BAE4253C}"/>
                </a:ext>
              </a:extLst>
            </p:cNvPr>
            <p:cNvSpPr>
              <a:spLocks noChangeArrowheads="1"/>
            </p:cNvSpPr>
            <p:nvPr/>
          </p:nvSpPr>
          <p:spPr bwMode="auto">
            <a:xfrm>
              <a:off x="4458" y="2188"/>
              <a:ext cx="69" cy="69"/>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26646" name="Rectangle 77">
              <a:extLst>
                <a:ext uri="{FF2B5EF4-FFF2-40B4-BE49-F238E27FC236}">
                  <a16:creationId xmlns:a16="http://schemas.microsoft.com/office/drawing/2014/main" id="{E55C52B7-11B6-4693-A654-514BC6CA7C99}"/>
                </a:ext>
              </a:extLst>
            </p:cNvPr>
            <p:cNvSpPr>
              <a:spLocks noChangeArrowheads="1"/>
            </p:cNvSpPr>
            <p:nvPr/>
          </p:nvSpPr>
          <p:spPr bwMode="auto">
            <a:xfrm>
              <a:off x="4317" y="1973"/>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A</a:t>
              </a:r>
            </a:p>
          </p:txBody>
        </p:sp>
        <p:sp>
          <p:nvSpPr>
            <p:cNvPr id="26647" name="Rectangle 78">
              <a:extLst>
                <a:ext uri="{FF2B5EF4-FFF2-40B4-BE49-F238E27FC236}">
                  <a16:creationId xmlns:a16="http://schemas.microsoft.com/office/drawing/2014/main" id="{6AD215BF-EFFC-40B2-8207-DA78B5971C57}"/>
                </a:ext>
              </a:extLst>
            </p:cNvPr>
            <p:cNvSpPr>
              <a:spLocks noChangeArrowheads="1"/>
            </p:cNvSpPr>
            <p:nvPr/>
          </p:nvSpPr>
          <p:spPr bwMode="auto">
            <a:xfrm>
              <a:off x="4269" y="2453"/>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B</a:t>
              </a:r>
            </a:p>
          </p:txBody>
        </p:sp>
      </p:grpSp>
      <p:grpSp>
        <p:nvGrpSpPr>
          <p:cNvPr id="26635" name="Group 79">
            <a:extLst>
              <a:ext uri="{FF2B5EF4-FFF2-40B4-BE49-F238E27FC236}">
                <a16:creationId xmlns:a16="http://schemas.microsoft.com/office/drawing/2014/main" id="{39C5CCE8-1913-402B-B853-33A5B4135646}"/>
              </a:ext>
            </a:extLst>
          </p:cNvPr>
          <p:cNvGrpSpPr>
            <a:grpSpLocks/>
          </p:cNvGrpSpPr>
          <p:nvPr/>
        </p:nvGrpSpPr>
        <p:grpSpPr bwMode="auto">
          <a:xfrm>
            <a:off x="5440363" y="3041650"/>
            <a:ext cx="1771650" cy="2168525"/>
            <a:chOff x="3523" y="2232"/>
            <a:chExt cx="1116" cy="1366"/>
          </a:xfrm>
        </p:grpSpPr>
        <p:sp>
          <p:nvSpPr>
            <p:cNvPr id="26639" name="Rectangle 80">
              <a:extLst>
                <a:ext uri="{FF2B5EF4-FFF2-40B4-BE49-F238E27FC236}">
                  <a16:creationId xmlns:a16="http://schemas.microsoft.com/office/drawing/2014/main" id="{6A882328-15A0-47C4-B2A5-01C9EA0B2202}"/>
                </a:ext>
              </a:extLst>
            </p:cNvPr>
            <p:cNvSpPr>
              <a:spLocks noChangeArrowheads="1"/>
            </p:cNvSpPr>
            <p:nvPr/>
          </p:nvSpPr>
          <p:spPr bwMode="auto">
            <a:xfrm>
              <a:off x="3523" y="3350"/>
              <a:ext cx="27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25000">
                  <a:latin typeface="Times New Roman" panose="02020603050405020304" pitchFamily="18" charset="0"/>
                  <a:ea typeface="宋体" panose="02010600030101010101" pitchFamily="2" charset="-122"/>
                </a:rPr>
                <a:t>0</a:t>
              </a:r>
            </a:p>
          </p:txBody>
        </p:sp>
        <p:sp>
          <p:nvSpPr>
            <p:cNvPr id="26640" name="Line 81">
              <a:extLst>
                <a:ext uri="{FF2B5EF4-FFF2-40B4-BE49-F238E27FC236}">
                  <a16:creationId xmlns:a16="http://schemas.microsoft.com/office/drawing/2014/main" id="{84444681-55E2-43EF-990E-849EE1EE5FF5}"/>
                </a:ext>
              </a:extLst>
            </p:cNvPr>
            <p:cNvSpPr>
              <a:spLocks noChangeShapeType="1"/>
            </p:cNvSpPr>
            <p:nvPr/>
          </p:nvSpPr>
          <p:spPr bwMode="auto">
            <a:xfrm>
              <a:off x="3602" y="2917"/>
              <a:ext cx="0" cy="4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1" name="Line 82">
              <a:extLst>
                <a:ext uri="{FF2B5EF4-FFF2-40B4-BE49-F238E27FC236}">
                  <a16:creationId xmlns:a16="http://schemas.microsoft.com/office/drawing/2014/main" id="{B51DC24C-E345-44EA-95DF-91B01DFB10D9}"/>
                </a:ext>
              </a:extLst>
            </p:cNvPr>
            <p:cNvSpPr>
              <a:spLocks noChangeShapeType="1"/>
            </p:cNvSpPr>
            <p:nvPr/>
          </p:nvSpPr>
          <p:spPr bwMode="auto">
            <a:xfrm>
              <a:off x="4492" y="2232"/>
              <a:ext cx="0" cy="111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2" name="Rectangle 83">
              <a:extLst>
                <a:ext uri="{FF2B5EF4-FFF2-40B4-BE49-F238E27FC236}">
                  <a16:creationId xmlns:a16="http://schemas.microsoft.com/office/drawing/2014/main" id="{A9062625-2F7D-46F3-9C89-C9A3BF9CE4CA}"/>
                </a:ext>
              </a:extLst>
            </p:cNvPr>
            <p:cNvSpPr>
              <a:spLocks noChangeArrowheads="1"/>
            </p:cNvSpPr>
            <p:nvPr/>
          </p:nvSpPr>
          <p:spPr bwMode="auto">
            <a:xfrm>
              <a:off x="4387" y="3350"/>
              <a:ext cx="2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30000">
                  <a:latin typeface="Times New Roman" panose="02020603050405020304" pitchFamily="18" charset="0"/>
                  <a:ea typeface="宋体" panose="02010600030101010101" pitchFamily="2" charset="-122"/>
                </a:rPr>
                <a:t>*</a:t>
              </a:r>
            </a:p>
          </p:txBody>
        </p:sp>
      </p:grpSp>
      <p:grpSp>
        <p:nvGrpSpPr>
          <p:cNvPr id="26636" name="Group 84">
            <a:extLst>
              <a:ext uri="{FF2B5EF4-FFF2-40B4-BE49-F238E27FC236}">
                <a16:creationId xmlns:a16="http://schemas.microsoft.com/office/drawing/2014/main" id="{786B5904-A4F6-4E3F-BF1A-E9718018E262}"/>
              </a:ext>
            </a:extLst>
          </p:cNvPr>
          <p:cNvGrpSpPr>
            <a:grpSpLocks/>
          </p:cNvGrpSpPr>
          <p:nvPr/>
        </p:nvGrpSpPr>
        <p:grpSpPr bwMode="auto">
          <a:xfrm>
            <a:off x="5014913" y="4151313"/>
            <a:ext cx="3663950" cy="1309687"/>
            <a:chOff x="3255" y="2931"/>
            <a:chExt cx="2308" cy="825"/>
          </a:xfrm>
        </p:grpSpPr>
        <p:sp>
          <p:nvSpPr>
            <p:cNvPr id="26637" name="Freeform 85">
              <a:extLst>
                <a:ext uri="{FF2B5EF4-FFF2-40B4-BE49-F238E27FC236}">
                  <a16:creationId xmlns:a16="http://schemas.microsoft.com/office/drawing/2014/main" id="{771CFB29-118C-4CB0-BC00-3DD61DE8E9E0}"/>
                </a:ext>
              </a:extLst>
            </p:cNvPr>
            <p:cNvSpPr>
              <a:spLocks/>
            </p:cNvSpPr>
            <p:nvPr/>
          </p:nvSpPr>
          <p:spPr bwMode="auto">
            <a:xfrm>
              <a:off x="3255" y="2931"/>
              <a:ext cx="2058" cy="801"/>
            </a:xfrm>
            <a:custGeom>
              <a:avLst/>
              <a:gdLst>
                <a:gd name="T0" fmla="*/ 0 w 2058"/>
                <a:gd name="T1" fmla="*/ 800 h 801"/>
                <a:gd name="T2" fmla="*/ 26 w 2058"/>
                <a:gd name="T3" fmla="*/ 794 h 801"/>
                <a:gd name="T4" fmla="*/ 51 w 2058"/>
                <a:gd name="T5" fmla="*/ 788 h 801"/>
                <a:gd name="T6" fmla="*/ 85 w 2058"/>
                <a:gd name="T7" fmla="*/ 769 h 801"/>
                <a:gd name="T8" fmla="*/ 102 w 2058"/>
                <a:gd name="T9" fmla="*/ 751 h 801"/>
                <a:gd name="T10" fmla="*/ 119 w 2058"/>
                <a:gd name="T11" fmla="*/ 733 h 801"/>
                <a:gd name="T12" fmla="*/ 145 w 2058"/>
                <a:gd name="T13" fmla="*/ 708 h 801"/>
                <a:gd name="T14" fmla="*/ 162 w 2058"/>
                <a:gd name="T15" fmla="*/ 672 h 801"/>
                <a:gd name="T16" fmla="*/ 213 w 2058"/>
                <a:gd name="T17" fmla="*/ 592 h 801"/>
                <a:gd name="T18" fmla="*/ 272 w 2058"/>
                <a:gd name="T19" fmla="*/ 507 h 801"/>
                <a:gd name="T20" fmla="*/ 349 w 2058"/>
                <a:gd name="T21" fmla="*/ 421 h 801"/>
                <a:gd name="T22" fmla="*/ 434 w 2058"/>
                <a:gd name="T23" fmla="*/ 336 h 801"/>
                <a:gd name="T24" fmla="*/ 544 w 2058"/>
                <a:gd name="T25" fmla="*/ 250 h 801"/>
                <a:gd name="T26" fmla="*/ 655 w 2058"/>
                <a:gd name="T27" fmla="*/ 171 h 801"/>
                <a:gd name="T28" fmla="*/ 714 w 2058"/>
                <a:gd name="T29" fmla="*/ 140 h 801"/>
                <a:gd name="T30" fmla="*/ 774 w 2058"/>
                <a:gd name="T31" fmla="*/ 110 h 801"/>
                <a:gd name="T32" fmla="*/ 884 w 2058"/>
                <a:gd name="T33" fmla="*/ 61 h 801"/>
                <a:gd name="T34" fmla="*/ 1003 w 2058"/>
                <a:gd name="T35" fmla="*/ 24 h 801"/>
                <a:gd name="T36" fmla="*/ 1122 w 2058"/>
                <a:gd name="T37" fmla="*/ 6 h 801"/>
                <a:gd name="T38" fmla="*/ 1233 w 2058"/>
                <a:gd name="T39" fmla="*/ 0 h 801"/>
                <a:gd name="T40" fmla="*/ 1292 w 2058"/>
                <a:gd name="T41" fmla="*/ 6 h 801"/>
                <a:gd name="T42" fmla="*/ 1352 w 2058"/>
                <a:gd name="T43" fmla="*/ 18 h 801"/>
                <a:gd name="T44" fmla="*/ 1462 w 2058"/>
                <a:gd name="T45" fmla="*/ 61 h 801"/>
                <a:gd name="T46" fmla="*/ 1573 w 2058"/>
                <a:gd name="T47" fmla="*/ 110 h 801"/>
                <a:gd name="T48" fmla="*/ 1666 w 2058"/>
                <a:gd name="T49" fmla="*/ 165 h 801"/>
                <a:gd name="T50" fmla="*/ 1743 w 2058"/>
                <a:gd name="T51" fmla="*/ 220 h 801"/>
                <a:gd name="T52" fmla="*/ 1811 w 2058"/>
                <a:gd name="T53" fmla="*/ 287 h 801"/>
                <a:gd name="T54" fmla="*/ 1870 w 2058"/>
                <a:gd name="T55" fmla="*/ 360 h 801"/>
                <a:gd name="T56" fmla="*/ 1921 w 2058"/>
                <a:gd name="T57" fmla="*/ 421 h 801"/>
                <a:gd name="T58" fmla="*/ 1964 w 2058"/>
                <a:gd name="T59" fmla="*/ 482 h 801"/>
                <a:gd name="T60" fmla="*/ 2006 w 2058"/>
                <a:gd name="T61" fmla="*/ 543 h 801"/>
                <a:gd name="T62" fmla="*/ 2032 w 2058"/>
                <a:gd name="T63" fmla="*/ 598 h 801"/>
                <a:gd name="T64" fmla="*/ 2057 w 2058"/>
                <a:gd name="T65" fmla="*/ 641 h 8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8"/>
                <a:gd name="T100" fmla="*/ 0 h 801"/>
                <a:gd name="T101" fmla="*/ 2058 w 2058"/>
                <a:gd name="T102" fmla="*/ 801 h 8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8" h="801">
                  <a:moveTo>
                    <a:pt x="0" y="800"/>
                  </a:moveTo>
                  <a:lnTo>
                    <a:pt x="26" y="794"/>
                  </a:lnTo>
                  <a:lnTo>
                    <a:pt x="51" y="788"/>
                  </a:lnTo>
                  <a:lnTo>
                    <a:pt x="85" y="769"/>
                  </a:lnTo>
                  <a:lnTo>
                    <a:pt x="102" y="751"/>
                  </a:lnTo>
                  <a:lnTo>
                    <a:pt x="119" y="733"/>
                  </a:lnTo>
                  <a:lnTo>
                    <a:pt x="145" y="708"/>
                  </a:lnTo>
                  <a:lnTo>
                    <a:pt x="162" y="672"/>
                  </a:lnTo>
                  <a:lnTo>
                    <a:pt x="213" y="592"/>
                  </a:lnTo>
                  <a:lnTo>
                    <a:pt x="272" y="507"/>
                  </a:lnTo>
                  <a:lnTo>
                    <a:pt x="349" y="421"/>
                  </a:lnTo>
                  <a:lnTo>
                    <a:pt x="434" y="336"/>
                  </a:lnTo>
                  <a:lnTo>
                    <a:pt x="544" y="250"/>
                  </a:lnTo>
                  <a:lnTo>
                    <a:pt x="655" y="171"/>
                  </a:lnTo>
                  <a:lnTo>
                    <a:pt x="714" y="140"/>
                  </a:lnTo>
                  <a:lnTo>
                    <a:pt x="774" y="110"/>
                  </a:lnTo>
                  <a:lnTo>
                    <a:pt x="884" y="61"/>
                  </a:lnTo>
                  <a:lnTo>
                    <a:pt x="1003" y="24"/>
                  </a:lnTo>
                  <a:lnTo>
                    <a:pt x="1122" y="6"/>
                  </a:lnTo>
                  <a:lnTo>
                    <a:pt x="1233" y="0"/>
                  </a:lnTo>
                  <a:lnTo>
                    <a:pt x="1292" y="6"/>
                  </a:lnTo>
                  <a:lnTo>
                    <a:pt x="1352" y="18"/>
                  </a:lnTo>
                  <a:lnTo>
                    <a:pt x="1462" y="61"/>
                  </a:lnTo>
                  <a:lnTo>
                    <a:pt x="1573" y="110"/>
                  </a:lnTo>
                  <a:lnTo>
                    <a:pt x="1666" y="165"/>
                  </a:lnTo>
                  <a:lnTo>
                    <a:pt x="1743" y="220"/>
                  </a:lnTo>
                  <a:lnTo>
                    <a:pt x="1811" y="287"/>
                  </a:lnTo>
                  <a:lnTo>
                    <a:pt x="1870" y="360"/>
                  </a:lnTo>
                  <a:lnTo>
                    <a:pt x="1921" y="421"/>
                  </a:lnTo>
                  <a:lnTo>
                    <a:pt x="1964" y="482"/>
                  </a:lnTo>
                  <a:lnTo>
                    <a:pt x="2006" y="543"/>
                  </a:lnTo>
                  <a:lnTo>
                    <a:pt x="2032" y="598"/>
                  </a:lnTo>
                  <a:lnTo>
                    <a:pt x="2057" y="641"/>
                  </a:lnTo>
                </a:path>
              </a:pathLst>
            </a:custGeom>
            <a:noFill/>
            <a:ln w="50800" cap="rnd">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26638" name="Object 2">
              <a:hlinkClick r:id="" action="ppaction://ole?verb=0"/>
              <a:extLst>
                <a:ext uri="{FF2B5EF4-FFF2-40B4-BE49-F238E27FC236}">
                  <a16:creationId xmlns:a16="http://schemas.microsoft.com/office/drawing/2014/main" id="{038C4C04-9FC9-48E6-AD47-18897EE9D569}"/>
                </a:ext>
              </a:extLst>
            </p:cNvPr>
            <p:cNvGraphicFramePr>
              <a:graphicFrameLocks/>
            </p:cNvGraphicFramePr>
            <p:nvPr/>
          </p:nvGraphicFramePr>
          <p:xfrm>
            <a:off x="5246" y="3559"/>
            <a:ext cx="317" cy="197"/>
          </p:xfrm>
          <a:graphic>
            <a:graphicData uri="http://schemas.openxmlformats.org/presentationml/2006/ole">
              <mc:AlternateContent xmlns:mc="http://schemas.openxmlformats.org/markup-compatibility/2006">
                <mc:Choice xmlns:v="urn:schemas-microsoft-com:vml" Requires="v">
                  <p:oleObj spid="_x0000_s7195" name="Equation" r:id="rId4" imgW="501496" imgH="311655" progId="Equation.DSMT4">
                    <p:embed/>
                  </p:oleObj>
                </mc:Choice>
                <mc:Fallback>
                  <p:oleObj name="Equation" r:id="rId4" imgW="501496" imgH="311655" progId="Equation.DSMT4">
                    <p:embed/>
                    <p:pic>
                      <p:nvPicPr>
                        <p:cNvPr id="26638" name="Object 2">
                          <a:hlinkClick r:id="" action="ppaction://ole?verb=0"/>
                          <a:extLst>
                            <a:ext uri="{FF2B5EF4-FFF2-40B4-BE49-F238E27FC236}">
                              <a16:creationId xmlns:a16="http://schemas.microsoft.com/office/drawing/2014/main" id="{038C4C04-9FC9-48E6-AD47-18897EE9D569}"/>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6" y="3559"/>
                          <a:ext cx="317"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27843F-C8C8-4131-BFDC-E49DAECFC098}"/>
              </a:ext>
            </a:extLst>
          </p:cNvPr>
          <p:cNvSpPr/>
          <p:nvPr/>
        </p:nvSpPr>
        <p:spPr>
          <a:xfrm>
            <a:off x="395710" y="919360"/>
            <a:ext cx="8597225" cy="584775"/>
          </a:xfrm>
          <a:prstGeom prst="rect">
            <a:avLst/>
          </a:prstGeom>
        </p:spPr>
        <p:txBody>
          <a:bodyPr wrap="none">
            <a:spAutoFit/>
          </a:bodyPr>
          <a:lstStyle/>
          <a:p>
            <a:r>
              <a:rPr lang="zh-CN" altLang="zh-CN" sz="3200" b="1" dirty="0">
                <a:latin typeface="微软雅黑" panose="020B0503020204020204" pitchFamily="34" charset="-122"/>
                <a:ea typeface="微软雅黑" panose="020B0503020204020204" pitchFamily="34" charset="-122"/>
                <a:cs typeface="+mj-cs"/>
              </a:rPr>
              <a:t>第</a:t>
            </a:r>
            <a:r>
              <a:rPr lang="zh-CN" altLang="en-US" sz="3200" b="1" dirty="0">
                <a:latin typeface="微软雅黑" panose="020B0503020204020204" pitchFamily="34" charset="-122"/>
                <a:ea typeface="微软雅黑" panose="020B0503020204020204" pitchFamily="34" charset="-122"/>
                <a:cs typeface="+mj-cs"/>
              </a:rPr>
              <a:t>二</a:t>
            </a:r>
            <a:r>
              <a:rPr lang="zh-CN" altLang="zh-CN" sz="3200" b="1" dirty="0">
                <a:latin typeface="微软雅黑" panose="020B0503020204020204" pitchFamily="34" charset="-122"/>
                <a:ea typeface="微软雅黑" panose="020B0503020204020204" pitchFamily="34" charset="-122"/>
                <a:cs typeface="+mj-cs"/>
              </a:rPr>
              <a:t>节  </a:t>
            </a:r>
            <a:r>
              <a:rPr lang="zh-CN" altLang="en-US" sz="3200" b="1" dirty="0">
                <a:latin typeface="微软雅黑" panose="020B0503020204020204" pitchFamily="34" charset="-122"/>
                <a:ea typeface="微软雅黑" panose="020B0503020204020204" pitchFamily="34" charset="-122"/>
                <a:cs typeface="+mj-cs"/>
              </a:rPr>
              <a:t>	完全竞争企业面临的需求曲线和收益</a:t>
            </a: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050903" y="283483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1982640" y="253320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2050903" y="4356024"/>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1982640" y="4054399"/>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5"/>
            </p:custDataLst>
          </p:nvPr>
        </p:nvCxnSpPr>
        <p:spPr>
          <a:xfrm>
            <a:off x="2562078" y="2888808"/>
            <a:ext cx="0" cy="1165591"/>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3347915" y="2492935"/>
            <a:ext cx="4435830"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完全竞争企业面临的需求曲线</a:t>
            </a:r>
          </a:p>
        </p:txBody>
      </p:sp>
      <p:sp>
        <p:nvSpPr>
          <p:cNvPr id="18" name="矩形 17">
            <a:extLst>
              <a:ext uri="{FF2B5EF4-FFF2-40B4-BE49-F238E27FC236}">
                <a16:creationId xmlns:a16="http://schemas.microsoft.com/office/drawing/2014/main" id="{6BA99CA7-A4CC-4245-BA58-DB89FA49F037}"/>
              </a:ext>
            </a:extLst>
          </p:cNvPr>
          <p:cNvSpPr/>
          <p:nvPr/>
        </p:nvSpPr>
        <p:spPr>
          <a:xfrm>
            <a:off x="3344120" y="4027109"/>
            <a:ext cx="3127779"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完全竞争企业的收益</a:t>
            </a:r>
          </a:p>
        </p:txBody>
      </p:sp>
    </p:spTree>
    <p:extLst>
      <p:ext uri="{BB962C8B-B14F-4D97-AF65-F5344CB8AC3E}">
        <p14:creationId xmlns:p14="http://schemas.microsoft.com/office/powerpoint/2010/main" val="373170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17" grpId="0"/>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88E64304-A318-44E5-8B2C-DCEFC99551AF}"/>
              </a:ext>
            </a:extLst>
          </p:cNvPr>
          <p:cNvSpPr/>
          <p:nvPr/>
        </p:nvSpPr>
        <p:spPr>
          <a:xfrm>
            <a:off x="4067223" y="0"/>
            <a:ext cx="5120312" cy="646331"/>
          </a:xfrm>
          <a:prstGeom prst="rect">
            <a:avLst/>
          </a:prstGeom>
        </p:spPr>
        <p:txBody>
          <a:bodyPr wrap="none">
            <a:spAutoFit/>
          </a:bodyPr>
          <a:lstStyle/>
          <a:p>
            <a:pPr lvl="0" defTabSz="457200" eaLnBrk="1" fontAlgn="auto" hangingPunct="1">
              <a:spcBef>
                <a:spcPts val="0"/>
              </a:spcBef>
              <a:spcAft>
                <a:spcPts val="0"/>
              </a:spcAf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a:t>
            </a:r>
            <a:r>
              <a:rPr lang="zh-CN" altLang="en-US" spc="150" dirty="0">
                <a:solidFill>
                  <a:srgbClr val="000000"/>
                </a:solidFill>
                <a:latin typeface="微软雅黑" panose="020B0503020204020204" pitchFamily="34" charset="-122"/>
                <a:ea typeface="微软雅黑" panose="020B0503020204020204" pitchFamily="34" charset="-122"/>
              </a:rPr>
              <a:t>二节  完全竞争企业面临的需求曲线和收益</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endPar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6" name="组合 5">
            <a:extLst>
              <a:ext uri="{FF2B5EF4-FFF2-40B4-BE49-F238E27FC236}">
                <a16:creationId xmlns:a16="http://schemas.microsoft.com/office/drawing/2014/main" id="{FD701A9D-B437-4365-8EAE-39596CD5F811}"/>
              </a:ext>
            </a:extLst>
          </p:cNvPr>
          <p:cNvGrpSpPr/>
          <p:nvPr/>
        </p:nvGrpSpPr>
        <p:grpSpPr>
          <a:xfrm>
            <a:off x="458213" y="1296677"/>
            <a:ext cx="1881631" cy="514350"/>
            <a:chOff x="458213" y="1296677"/>
            <a:chExt cx="2893707"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58213" y="1296677"/>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完全竞争</a:t>
              </a:r>
              <a:r>
                <a:rPr lang="en-US" altLang="zh-CN" spc="150" dirty="0">
                  <a:solidFill>
                    <a:srgbClr val="000000"/>
                  </a:solidFill>
                  <a:latin typeface="微软雅黑" panose="020B0503020204020204" pitchFamily="34" charset="-122"/>
                  <a:ea typeface="微软雅黑" panose="020B0503020204020204" pitchFamily="34" charset="-122"/>
                </a:rPr>
                <a:t>:</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59832" y="1353827"/>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3" name="矩形 2">
            <a:extLst>
              <a:ext uri="{FF2B5EF4-FFF2-40B4-BE49-F238E27FC236}">
                <a16:creationId xmlns:a16="http://schemas.microsoft.com/office/drawing/2014/main" id="{DC352424-0443-43CC-9DB7-D6B00F0C4B2E}"/>
              </a:ext>
            </a:extLst>
          </p:cNvPr>
          <p:cNvSpPr/>
          <p:nvPr/>
        </p:nvSpPr>
        <p:spPr>
          <a:xfrm>
            <a:off x="772437" y="2007490"/>
            <a:ext cx="3816435" cy="2674899"/>
          </a:xfrm>
          <a:prstGeom prst="rect">
            <a:avLst/>
          </a:prstGeom>
        </p:spPr>
        <p:txBody>
          <a:bodyPr wrap="square">
            <a:spAutoFit/>
          </a:bodyPr>
          <a:lstStyle/>
          <a:p>
            <a:pPr marL="285750" indent="-285750">
              <a:lnSpc>
                <a:spcPct val="200000"/>
              </a:lnSpc>
              <a:buFont typeface="Wingdings" panose="05000000000000000000" pitchFamily="2" charset="2"/>
              <a:buChar char="Ø"/>
            </a:pPr>
            <a:r>
              <a:rPr lang="zh-CN" altLang="en-US" spc="150" dirty="0">
                <a:solidFill>
                  <a:srgbClr val="C00000"/>
                </a:solidFill>
                <a:latin typeface="微软雅黑" panose="020B0503020204020204" pitchFamily="34" charset="-122"/>
                <a:ea typeface="微软雅黑" panose="020B0503020204020204" pitchFamily="34" charset="-122"/>
              </a:rPr>
              <a:t> 非常多的厂商数量</a:t>
            </a:r>
          </a:p>
          <a:p>
            <a:pPr marL="285750" indent="-285750">
              <a:lnSpc>
                <a:spcPct val="200000"/>
              </a:lnSpc>
              <a:buFont typeface="Wingdings" panose="05000000000000000000" pitchFamily="2" charset="2"/>
              <a:buChar char="Ø"/>
            </a:pPr>
            <a:r>
              <a:rPr lang="zh-CN" altLang="en-US" spc="150" dirty="0">
                <a:solidFill>
                  <a:srgbClr val="C00000"/>
                </a:solidFill>
                <a:latin typeface="微软雅黑" panose="020B0503020204020204" pitchFamily="34" charset="-122"/>
                <a:ea typeface="微软雅黑" panose="020B0503020204020204" pitchFamily="34" charset="-122"/>
              </a:rPr>
              <a:t>标准化的生产（产品无差异）</a:t>
            </a:r>
          </a:p>
          <a:p>
            <a:pPr marL="285750" indent="-285750">
              <a:lnSpc>
                <a:spcPct val="200000"/>
              </a:lnSpc>
              <a:buFont typeface="Wingdings" panose="05000000000000000000" pitchFamily="2" charset="2"/>
              <a:buChar char="Ø"/>
            </a:pPr>
            <a:r>
              <a:rPr lang="zh-CN" altLang="en-US" spc="150" dirty="0">
                <a:solidFill>
                  <a:srgbClr val="C00000"/>
                </a:solidFill>
                <a:latin typeface="微软雅黑" panose="020B0503020204020204" pitchFamily="34" charset="-122"/>
                <a:ea typeface="微软雅黑" panose="020B0503020204020204" pitchFamily="34" charset="-122"/>
              </a:rPr>
              <a:t>自由进出市场</a:t>
            </a:r>
            <a:endParaRPr lang="en-US" altLang="zh-CN" spc="150" dirty="0">
              <a:solidFill>
                <a:srgbClr val="C00000"/>
              </a:solidFill>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Ø"/>
            </a:pPr>
            <a:r>
              <a:rPr lang="zh-CN" altLang="en-US" spc="150" dirty="0">
                <a:solidFill>
                  <a:srgbClr val="C00000"/>
                </a:solidFill>
                <a:latin typeface="微软雅黑" panose="020B0503020204020204" pitchFamily="34" charset="-122"/>
                <a:ea typeface="微软雅黑" panose="020B0503020204020204" pitchFamily="34" charset="-122"/>
              </a:rPr>
              <a:t>完全信息</a:t>
            </a:r>
            <a:endParaRPr lang="en-US" altLang="zh-CN" spc="150" dirty="0">
              <a:solidFill>
                <a:srgbClr val="C0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7E4A3EC2-8BCD-493E-A833-DC957F042B43}"/>
              </a:ext>
            </a:extLst>
          </p:cNvPr>
          <p:cNvSpPr/>
          <p:nvPr/>
        </p:nvSpPr>
        <p:spPr>
          <a:xfrm>
            <a:off x="467545" y="548680"/>
            <a:ext cx="511252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lvl="0" eaLnBrk="1" hangingPunct="1">
              <a:defRPr/>
            </a:pPr>
            <a:r>
              <a:rPr lang="zh-CN" altLang="en-US" sz="2400" b="1" spc="150" dirty="0">
                <a:solidFill>
                  <a:srgbClr val="FFFFFF"/>
                </a:solidFill>
                <a:latin typeface="微软雅黑" panose="020B0503020204020204" pitchFamily="34" charset="-122"/>
                <a:ea typeface="微软雅黑" panose="020B0503020204020204" pitchFamily="34" charset="-122"/>
              </a:rPr>
              <a:t>一、完全竞争企业面临的需求曲线</a:t>
            </a:r>
          </a:p>
        </p:txBody>
      </p:sp>
      <p:sp>
        <p:nvSpPr>
          <p:cNvPr id="13" name="右大括号 12"/>
          <p:cNvSpPr/>
          <p:nvPr/>
        </p:nvSpPr>
        <p:spPr bwMode="auto">
          <a:xfrm>
            <a:off x="4324093" y="2201949"/>
            <a:ext cx="375644" cy="1999554"/>
          </a:xfrm>
          <a:prstGeom prst="rightBrace">
            <a:avLst>
              <a:gd name="adj1" fmla="val 22814"/>
              <a:gd name="adj2" fmla="val 50665"/>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800" i="0" u="none" strike="noStrike" cap="none" normalizeH="0" baseline="0">
              <a:ln>
                <a:noFill/>
              </a:ln>
              <a:solidFill>
                <a:schemeClr val="tx1"/>
              </a:solidFill>
              <a:effectLst/>
              <a:latin typeface="Times New Roman" pitchFamily="18" charset="0"/>
              <a:ea typeface="宋体" pitchFamily="2" charset="-122"/>
            </a:endParaRPr>
          </a:p>
        </p:txBody>
      </p:sp>
      <p:sp>
        <p:nvSpPr>
          <p:cNvPr id="14" name="Line 2"/>
          <p:cNvSpPr>
            <a:spLocks noChangeShapeType="1"/>
          </p:cNvSpPr>
          <p:nvPr/>
        </p:nvSpPr>
        <p:spPr bwMode="auto">
          <a:xfrm>
            <a:off x="395536" y="5535508"/>
            <a:ext cx="8488392" cy="0"/>
          </a:xfrm>
          <a:prstGeom prst="line">
            <a:avLst/>
          </a:prstGeom>
          <a:noFill/>
          <a:ln w="1016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7" name="Rectangle 4"/>
          <p:cNvSpPr>
            <a:spLocks noChangeArrowheads="1"/>
          </p:cNvSpPr>
          <p:nvPr/>
        </p:nvSpPr>
        <p:spPr bwMode="auto">
          <a:xfrm>
            <a:off x="340549" y="5046838"/>
            <a:ext cx="2060772"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dirty="0">
                <a:solidFill>
                  <a:srgbClr val="000000"/>
                </a:solidFill>
                <a:latin typeface="微软雅黑" panose="020B0503020204020204" pitchFamily="34" charset="-122"/>
                <a:ea typeface="微软雅黑" panose="020B0503020204020204" pitchFamily="34" charset="-122"/>
              </a:rPr>
              <a:t>完全竞争</a:t>
            </a:r>
            <a:endParaRPr kumimoji="0" lang="en-US" altLang="zh-CN" sz="1800" dirty="0">
              <a:solidFill>
                <a:srgbClr val="000000"/>
              </a:solidFill>
              <a:latin typeface="微软雅黑" panose="020B0503020204020204" pitchFamily="34" charset="-122"/>
              <a:ea typeface="微软雅黑" panose="020B0503020204020204" pitchFamily="34" charset="-122"/>
            </a:endParaRPr>
          </a:p>
        </p:txBody>
      </p:sp>
      <p:sp>
        <p:nvSpPr>
          <p:cNvPr id="18" name="Rectangle 5"/>
          <p:cNvSpPr>
            <a:spLocks noChangeArrowheads="1"/>
          </p:cNvSpPr>
          <p:nvPr/>
        </p:nvSpPr>
        <p:spPr bwMode="auto">
          <a:xfrm>
            <a:off x="6512240" y="5066462"/>
            <a:ext cx="230557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dirty="0">
                <a:solidFill>
                  <a:srgbClr val="000000"/>
                </a:solidFill>
                <a:latin typeface="微软雅黑" panose="020B0503020204020204" pitchFamily="34" charset="-122"/>
                <a:ea typeface="微软雅黑" panose="020B0503020204020204" pitchFamily="34" charset="-122"/>
              </a:rPr>
              <a:t>垄断</a:t>
            </a:r>
            <a:endParaRPr kumimoji="0" lang="en-US" altLang="zh-CN" sz="1800" dirty="0">
              <a:solidFill>
                <a:srgbClr val="000000"/>
              </a:solidFill>
              <a:latin typeface="微软雅黑" panose="020B0503020204020204" pitchFamily="34" charset="-122"/>
              <a:ea typeface="微软雅黑" panose="020B0503020204020204" pitchFamily="34" charset="-122"/>
            </a:endParaRPr>
          </a:p>
        </p:txBody>
      </p:sp>
      <p:sp>
        <p:nvSpPr>
          <p:cNvPr id="23" name="Rectangle 6"/>
          <p:cNvSpPr>
            <a:spLocks noChangeArrowheads="1"/>
          </p:cNvSpPr>
          <p:nvPr/>
        </p:nvSpPr>
        <p:spPr bwMode="auto">
          <a:xfrm>
            <a:off x="2653973" y="5045042"/>
            <a:ext cx="218793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dirty="0">
                <a:solidFill>
                  <a:srgbClr val="000000"/>
                </a:solidFill>
                <a:latin typeface="微软雅黑" panose="020B0503020204020204" pitchFamily="34" charset="-122"/>
                <a:ea typeface="微软雅黑" panose="020B0503020204020204" pitchFamily="34" charset="-122"/>
              </a:rPr>
              <a:t>垄断竞争</a:t>
            </a:r>
            <a:endParaRPr kumimoji="0" lang="en-US" altLang="zh-CN" sz="1800" dirty="0">
              <a:solidFill>
                <a:srgbClr val="000000"/>
              </a:solidFill>
              <a:latin typeface="微软雅黑" panose="020B0503020204020204" pitchFamily="34" charset="-122"/>
              <a:ea typeface="微软雅黑" panose="020B0503020204020204" pitchFamily="34" charset="-122"/>
            </a:endParaRPr>
          </a:p>
        </p:txBody>
      </p:sp>
      <p:sp>
        <p:nvSpPr>
          <p:cNvPr id="24" name="Rectangle 7"/>
          <p:cNvSpPr>
            <a:spLocks noChangeArrowheads="1"/>
          </p:cNvSpPr>
          <p:nvPr/>
        </p:nvSpPr>
        <p:spPr bwMode="auto">
          <a:xfrm>
            <a:off x="4872306" y="5046838"/>
            <a:ext cx="1609531"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zh-CN" altLang="en-US" sz="1800" dirty="0">
                <a:solidFill>
                  <a:srgbClr val="000000"/>
                </a:solidFill>
                <a:latin typeface="微软雅黑" panose="020B0503020204020204" pitchFamily="34" charset="-122"/>
                <a:ea typeface="微软雅黑" panose="020B0503020204020204" pitchFamily="34" charset="-122"/>
              </a:rPr>
              <a:t>寡头</a:t>
            </a:r>
            <a:endParaRPr kumimoji="0" lang="en-US" altLang="zh-CN" sz="1800" dirty="0">
              <a:solidFill>
                <a:srgbClr val="000000"/>
              </a:solidFill>
              <a:latin typeface="微软雅黑" panose="020B0503020204020204" pitchFamily="34" charset="-122"/>
              <a:ea typeface="微软雅黑" panose="020B0503020204020204" pitchFamily="34" charset="-122"/>
            </a:endParaRPr>
          </a:p>
        </p:txBody>
      </p:sp>
      <p:sp>
        <p:nvSpPr>
          <p:cNvPr id="26" name="右箭头 25"/>
          <p:cNvSpPr/>
          <p:nvPr/>
        </p:nvSpPr>
        <p:spPr bwMode="auto">
          <a:xfrm>
            <a:off x="4731038" y="3133595"/>
            <a:ext cx="326880" cy="182924"/>
          </a:xfrm>
          <a:prstGeom prst="rightArrow">
            <a:avLst/>
          </a:prstGeom>
          <a:solidFill>
            <a:srgbClr val="F3C97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800" i="0" u="none" strike="noStrike" cap="none" normalizeH="0" baseline="0">
              <a:ln>
                <a:noFill/>
              </a:ln>
              <a:solidFill>
                <a:schemeClr val="tx1"/>
              </a:solidFill>
              <a:effectLst/>
              <a:latin typeface="Times New Roman" pitchFamily="18" charset="0"/>
              <a:ea typeface="宋体" pitchFamily="2" charset="-122"/>
            </a:endParaRPr>
          </a:p>
        </p:txBody>
      </p:sp>
      <p:sp>
        <p:nvSpPr>
          <p:cNvPr id="27" name="矩形 26"/>
          <p:cNvSpPr/>
          <p:nvPr/>
        </p:nvSpPr>
        <p:spPr>
          <a:xfrm>
            <a:off x="4581862" y="2554082"/>
            <a:ext cx="4202867" cy="341632"/>
          </a:xfrm>
          <a:prstGeom prst="rect">
            <a:avLst/>
          </a:prstGeom>
        </p:spPr>
        <p:txBody>
          <a:bodyPr wrap="square">
            <a:spAutoFit/>
          </a:bodyPr>
          <a:lstStyle/>
          <a:p>
            <a:pPr algn="ctr" eaLnBrk="1" hangingPunct="1">
              <a:lnSpc>
                <a:spcPct val="90000"/>
              </a:lnSpc>
              <a:buFontTx/>
              <a:buNone/>
            </a:pPr>
            <a:r>
              <a:rPr lang="zh-CN" altLang="en-US" dirty="0">
                <a:latin typeface="微软雅黑" panose="020B0503020204020204" pitchFamily="34" charset="-122"/>
                <a:ea typeface="微软雅黑" panose="020B0503020204020204" pitchFamily="34" charset="-122"/>
              </a:rPr>
              <a:t>市场与行业是一个概念，交替使用</a:t>
            </a:r>
            <a:endParaRPr lang="en-US" altLang="zh-CN" dirty="0">
              <a:latin typeface="微软雅黑" panose="020B0503020204020204" pitchFamily="34" charset="-122"/>
              <a:ea typeface="微软雅黑" panose="020B0503020204020204" pitchFamily="34" charset="-122"/>
            </a:endParaRPr>
          </a:p>
        </p:txBody>
      </p:sp>
      <p:sp>
        <p:nvSpPr>
          <p:cNvPr id="28" name="矩形 27"/>
          <p:cNvSpPr/>
          <p:nvPr/>
        </p:nvSpPr>
        <p:spPr>
          <a:xfrm>
            <a:off x="5476259" y="3044562"/>
            <a:ext cx="1800493" cy="369332"/>
          </a:xfrm>
          <a:prstGeom prst="rect">
            <a:avLst/>
          </a:prstGeom>
        </p:spPr>
        <p:txBody>
          <a:bodyPr wrap="none">
            <a:spAutoFit/>
          </a:bodyPr>
          <a:lstStyle/>
          <a:p>
            <a:r>
              <a:rPr kumimoji="0" lang="en-US" altLang="zh-CN" dirty="0">
                <a:solidFill>
                  <a:srgbClr val="CC0000"/>
                </a:solidFill>
                <a:latin typeface="微软雅黑" panose="020B0503020204020204" pitchFamily="34" charset="-122"/>
                <a:ea typeface="微软雅黑" panose="020B0503020204020204" pitchFamily="34" charset="-122"/>
              </a:rPr>
              <a:t>“</a:t>
            </a:r>
            <a:r>
              <a:rPr kumimoji="0" lang="zh-CN" altLang="en-US" dirty="0">
                <a:solidFill>
                  <a:srgbClr val="CC0000"/>
                </a:solidFill>
                <a:latin typeface="微软雅黑" panose="020B0503020204020204" pitchFamily="34" charset="-122"/>
                <a:ea typeface="微软雅黑" panose="020B0503020204020204" pitchFamily="34" charset="-122"/>
              </a:rPr>
              <a:t>价格接受者</a:t>
            </a:r>
            <a:r>
              <a:rPr kumimoji="0" lang="en-US" altLang="zh-CN" dirty="0">
                <a:solidFill>
                  <a:srgbClr val="CC0000"/>
                </a:solidFill>
                <a:latin typeface="微软雅黑" panose="020B0503020204020204" pitchFamily="34" charset="-122"/>
                <a:ea typeface="微软雅黑" panose="020B0503020204020204" pitchFamily="34" charset="-122"/>
              </a:rPr>
              <a:t>”</a:t>
            </a:r>
          </a:p>
        </p:txBody>
      </p:sp>
      <p:sp>
        <p:nvSpPr>
          <p:cNvPr id="29" name="矩形 28"/>
          <p:cNvSpPr/>
          <p:nvPr/>
        </p:nvSpPr>
        <p:spPr>
          <a:xfrm>
            <a:off x="4699737" y="3668517"/>
            <a:ext cx="3710094" cy="341632"/>
          </a:xfrm>
          <a:prstGeom prst="rect">
            <a:avLst/>
          </a:prstGeom>
        </p:spPr>
        <p:txBody>
          <a:bodyPr wrap="square">
            <a:spAutoFit/>
          </a:bodyPr>
          <a:lstStyle/>
          <a:p>
            <a:pPr eaLnBrk="1" hangingPunct="1">
              <a:lnSpc>
                <a:spcPct val="90000"/>
              </a:lnSpc>
              <a:buFontTx/>
              <a:buNone/>
            </a:pPr>
            <a:r>
              <a:rPr lang="zh-CN" altLang="en-US" dirty="0">
                <a:latin typeface="微软雅黑" panose="020B0503020204020204" pitchFamily="34" charset="-122"/>
                <a:ea typeface="微软雅黑" panose="020B0503020204020204" pitchFamily="34" charset="-122"/>
              </a:rPr>
              <a:t>完全竞争是一个标杆式的类型</a:t>
            </a:r>
            <a:endParaRPr lang="en-US" altLang="zh-CN" dirty="0">
              <a:latin typeface="微软雅黑" panose="020B0503020204020204" pitchFamily="34" charset="-122"/>
              <a:ea typeface="微软雅黑" panose="020B0503020204020204" pitchFamily="34" charset="-122"/>
            </a:endParaRPr>
          </a:p>
        </p:txBody>
      </p:sp>
      <p:sp>
        <p:nvSpPr>
          <p:cNvPr id="33" name="平行四边形 32">
            <a:extLst>
              <a:ext uri="{FF2B5EF4-FFF2-40B4-BE49-F238E27FC236}">
                <a16:creationId xmlns:a16="http://schemas.microsoft.com/office/drawing/2014/main" id="{F26D4013-C82B-41ED-A645-05DC11DE7BEF}"/>
              </a:ext>
            </a:extLst>
          </p:cNvPr>
          <p:cNvSpPr/>
          <p:nvPr/>
        </p:nvSpPr>
        <p:spPr>
          <a:xfrm>
            <a:off x="962336" y="5683673"/>
            <a:ext cx="2817609" cy="461665"/>
          </a:xfrm>
          <a:prstGeom prst="parallelogram">
            <a:avLst/>
          </a:prstGeom>
          <a:solidFill>
            <a:srgbClr val="999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pc="150" dirty="0">
                <a:solidFill>
                  <a:schemeClr val="bg1"/>
                </a:solidFill>
                <a:latin typeface="微软雅黑" panose="020B0503020204020204" pitchFamily="34" charset="-122"/>
                <a:ea typeface="微软雅黑" panose="020B0503020204020204" pitchFamily="34" charset="-122"/>
              </a:rPr>
              <a:t>市场结构的连续性</a:t>
            </a:r>
          </a:p>
        </p:txBody>
      </p:sp>
      <p:sp>
        <p:nvSpPr>
          <p:cNvPr id="25" name="Oval 10"/>
          <p:cNvSpPr>
            <a:spLocks noChangeArrowheads="1"/>
          </p:cNvSpPr>
          <p:nvPr/>
        </p:nvSpPr>
        <p:spPr bwMode="auto">
          <a:xfrm>
            <a:off x="493646" y="4904733"/>
            <a:ext cx="1907675" cy="917568"/>
          </a:xfrm>
          <a:prstGeom prst="ellipse">
            <a:avLst/>
          </a:prstGeom>
          <a:noFill/>
          <a:ln w="76200">
            <a:solidFill>
              <a:srgbClr val="CC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p>
        </p:txBody>
      </p:sp>
    </p:spTree>
    <p:extLst>
      <p:ext uri="{BB962C8B-B14F-4D97-AF65-F5344CB8AC3E}">
        <p14:creationId xmlns:p14="http://schemas.microsoft.com/office/powerpoint/2010/main" val="191971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left)">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wipe(left)">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up)">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left)">
                                      <p:cBhvr>
                                        <p:cTn id="47" dur="500"/>
                                        <p:tgtEl>
                                          <p:spTgt spid="26"/>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left)">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barn(inVertical)">
                                      <p:cBhvr>
                                        <p:cTn id="61" dur="500"/>
                                        <p:tgtEl>
                                          <p:spTgt spid="17"/>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barn(inVertical)">
                                      <p:cBhvr>
                                        <p:cTn id="64" dur="500"/>
                                        <p:tgtEl>
                                          <p:spTgt spid="23"/>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barn(inVertical)">
                                      <p:cBhvr>
                                        <p:cTn id="67" dur="500"/>
                                        <p:tgtEl>
                                          <p:spTgt spid="24"/>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barn(inVertical)">
                                      <p:cBhvr>
                                        <p:cTn id="70" dur="500"/>
                                        <p:tgtEl>
                                          <p:spTgt spid="18"/>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barn(inVertical)">
                                      <p:cBhvr>
                                        <p:cTn id="73" dur="500"/>
                                        <p:tgtEl>
                                          <p:spTgt spid="14"/>
                                        </p:tgtEl>
                                      </p:cBhvr>
                                    </p:animEffect>
                                  </p:childTnLst>
                                </p:cTn>
                              </p:par>
                            </p:childTnLst>
                          </p:cTn>
                        </p:par>
                      </p:childTnLst>
                    </p:cTn>
                  </p:par>
                  <p:par>
                    <p:cTn id="74" fill="hold">
                      <p:stCondLst>
                        <p:cond delay="indefinite"/>
                      </p:stCondLst>
                      <p:childTnLst>
                        <p:par>
                          <p:cTn id="75" fill="hold">
                            <p:stCondLst>
                              <p:cond delay="0"/>
                            </p:stCondLst>
                            <p:childTnLst>
                              <p:par>
                                <p:cTn id="76" presetID="14" presetClass="entr" presetSubtype="10"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randombar(horizontal)">
                                      <p:cBhvr>
                                        <p:cTn id="78" dur="500"/>
                                        <p:tgtEl>
                                          <p:spTgt spid="25"/>
                                        </p:tgtEl>
                                      </p:cBhvr>
                                    </p:animEffect>
                                  </p:childTnLst>
                                </p:cTn>
                              </p:par>
                              <p:par>
                                <p:cTn id="79" presetID="14" presetClass="entr" presetSubtype="10"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randombar(horizontal)">
                                      <p:cBhvr>
                                        <p:cTn id="8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7" grpId="0"/>
      <p:bldP spid="18" grpId="0"/>
      <p:bldP spid="23" grpId="0"/>
      <p:bldP spid="24" grpId="0"/>
      <p:bldP spid="26" grpId="0" animBg="1"/>
      <p:bldP spid="27" grpId="0"/>
      <p:bldP spid="28" grpId="0"/>
      <p:bldP spid="29" grpId="0"/>
      <p:bldP spid="33" grpId="0" animBg="1"/>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88E64304-A318-44E5-8B2C-DCEFC99551AF}"/>
              </a:ext>
            </a:extLst>
          </p:cNvPr>
          <p:cNvSpPr/>
          <p:nvPr/>
        </p:nvSpPr>
        <p:spPr>
          <a:xfrm>
            <a:off x="4067223" y="0"/>
            <a:ext cx="5120312" cy="646331"/>
          </a:xfrm>
          <a:prstGeom prst="rect">
            <a:avLst/>
          </a:prstGeom>
        </p:spPr>
        <p:txBody>
          <a:bodyPr wrap="none">
            <a:spAutoFit/>
          </a:bodyPr>
          <a:lstStyle/>
          <a:p>
            <a:pPr lvl="0" defTabSz="457200" eaLnBrk="1" fontAlgn="auto" hangingPunct="1">
              <a:spcBef>
                <a:spcPts val="0"/>
              </a:spcBef>
              <a:spcAft>
                <a:spcPts val="0"/>
              </a:spcAf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a:t>
            </a:r>
            <a:r>
              <a:rPr lang="zh-CN" altLang="en-US" spc="150" dirty="0">
                <a:solidFill>
                  <a:srgbClr val="000000"/>
                </a:solidFill>
                <a:latin typeface="微软雅黑" panose="020B0503020204020204" pitchFamily="34" charset="-122"/>
                <a:ea typeface="微软雅黑" panose="020B0503020204020204" pitchFamily="34" charset="-122"/>
              </a:rPr>
              <a:t>二节  完全竞争企业面临的需求曲线和收益</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endPar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6" name="组合 5">
            <a:extLst>
              <a:ext uri="{FF2B5EF4-FFF2-40B4-BE49-F238E27FC236}">
                <a16:creationId xmlns:a16="http://schemas.microsoft.com/office/drawing/2014/main" id="{FD701A9D-B437-4365-8EAE-39596CD5F811}"/>
              </a:ext>
            </a:extLst>
          </p:cNvPr>
          <p:cNvGrpSpPr/>
          <p:nvPr/>
        </p:nvGrpSpPr>
        <p:grpSpPr>
          <a:xfrm>
            <a:off x="458214" y="1296677"/>
            <a:ext cx="2817696" cy="514350"/>
            <a:chOff x="458213" y="1296677"/>
            <a:chExt cx="2893707"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58213" y="1296677"/>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重要性质：价格接受者</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59832" y="1353827"/>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3" name="矩形 2">
            <a:extLst>
              <a:ext uri="{FF2B5EF4-FFF2-40B4-BE49-F238E27FC236}">
                <a16:creationId xmlns:a16="http://schemas.microsoft.com/office/drawing/2014/main" id="{DC352424-0443-43CC-9DB7-D6B00F0C4B2E}"/>
              </a:ext>
            </a:extLst>
          </p:cNvPr>
          <p:cNvSpPr/>
          <p:nvPr/>
        </p:nvSpPr>
        <p:spPr>
          <a:xfrm>
            <a:off x="674062" y="1811027"/>
            <a:ext cx="8416383" cy="1116781"/>
          </a:xfrm>
          <a:prstGeom prst="rect">
            <a:avLst/>
          </a:prstGeom>
        </p:spPr>
        <p:txBody>
          <a:bodyPr wrap="square">
            <a:spAutoFit/>
          </a:bodyPr>
          <a:lstStyle/>
          <a:p>
            <a:pPr marL="285750" indent="-285750">
              <a:lnSpc>
                <a:spcPct val="20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任何一个厂商都只是无数个厂商中的一个，因而对市场没有影响力，只能接受市场价格，而无力改变它。</a:t>
            </a:r>
          </a:p>
        </p:txBody>
      </p:sp>
      <p:sp>
        <p:nvSpPr>
          <p:cNvPr id="12" name="矩形 11">
            <a:extLst>
              <a:ext uri="{FF2B5EF4-FFF2-40B4-BE49-F238E27FC236}">
                <a16:creationId xmlns:a16="http://schemas.microsoft.com/office/drawing/2014/main" id="{7E4A3EC2-8BCD-493E-A833-DC957F042B43}"/>
              </a:ext>
            </a:extLst>
          </p:cNvPr>
          <p:cNvSpPr/>
          <p:nvPr/>
        </p:nvSpPr>
        <p:spPr>
          <a:xfrm>
            <a:off x="467545" y="548680"/>
            <a:ext cx="511252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lvl="0" eaLnBrk="1" hangingPunct="1">
              <a:defRPr/>
            </a:pPr>
            <a:r>
              <a:rPr kumimoji="0" lang="zh-CN" altLang="en-US" sz="2400" b="1" i="0" u="none" strike="noStrike" kern="1200" cap="none" spc="15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一</a:t>
            </a:r>
            <a:r>
              <a:rPr lang="zh-CN" altLang="en-US" sz="2400" b="1" spc="150" dirty="0">
                <a:solidFill>
                  <a:srgbClr val="FFFFFF"/>
                </a:solidFill>
                <a:latin typeface="微软雅黑" panose="020B0503020204020204" pitchFamily="34" charset="-122"/>
                <a:ea typeface="微软雅黑" panose="020B0503020204020204" pitchFamily="34" charset="-122"/>
              </a:rPr>
              <a:t>、完全竞争企业面临的需求曲线</a:t>
            </a:r>
          </a:p>
        </p:txBody>
      </p:sp>
      <p:sp>
        <p:nvSpPr>
          <p:cNvPr id="30" name="矩形: 圆角 4">
            <a:extLst>
              <a:ext uri="{FF2B5EF4-FFF2-40B4-BE49-F238E27FC236}">
                <a16:creationId xmlns:a16="http://schemas.microsoft.com/office/drawing/2014/main" id="{F5501FC4-6109-488A-9E7B-E591DF9E4D96}"/>
              </a:ext>
            </a:extLst>
          </p:cNvPr>
          <p:cNvSpPr/>
          <p:nvPr/>
        </p:nvSpPr>
        <p:spPr>
          <a:xfrm>
            <a:off x="502750" y="3142919"/>
            <a:ext cx="2773160" cy="85841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26C14FD7-288B-4EBC-97AB-25CDCA72654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11850" y="3142919"/>
            <a:ext cx="1065715" cy="1065715"/>
          </a:xfrm>
          <a:prstGeom prst="rect">
            <a:avLst/>
          </a:prstGeom>
        </p:spPr>
      </p:pic>
      <p:sp>
        <p:nvSpPr>
          <p:cNvPr id="32" name="矩形 31">
            <a:extLst>
              <a:ext uri="{FF2B5EF4-FFF2-40B4-BE49-F238E27FC236}">
                <a16:creationId xmlns:a16="http://schemas.microsoft.com/office/drawing/2014/main" id="{F2E1D167-2D51-47EE-8CA8-1E1607A3745D}"/>
              </a:ext>
            </a:extLst>
          </p:cNvPr>
          <p:cNvSpPr/>
          <p:nvPr/>
        </p:nvSpPr>
        <p:spPr>
          <a:xfrm>
            <a:off x="616296" y="3333724"/>
            <a:ext cx="1723549"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为什么呢？</a:t>
            </a:r>
            <a:endParaRPr lang="en-US" altLang="zh-CN" spc="15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DC352424-0443-43CC-9DB7-D6B00F0C4B2E}"/>
                  </a:ext>
                </a:extLst>
              </p:cNvPr>
              <p:cNvSpPr/>
              <p:nvPr/>
            </p:nvSpPr>
            <p:spPr>
              <a:xfrm>
                <a:off x="695068" y="4058979"/>
                <a:ext cx="8416383" cy="646331"/>
              </a:xfrm>
              <a:prstGeom prst="rect">
                <a:avLst/>
              </a:prstGeom>
            </p:spPr>
            <p:txBody>
              <a:bodyPr wrap="square">
                <a:spAutoFit/>
              </a:bodyPr>
              <a:lstStyle/>
              <a:p>
                <a:pPr marL="285750" indent="-285750">
                  <a:lnSpc>
                    <a:spcPct val="20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假定一个竞争厂商</a:t>
                </a:r>
                <a:r>
                  <a:rPr lang="en-US" altLang="zh-CN" spc="150" dirty="0">
                    <a:solidFill>
                      <a:srgbClr val="000000"/>
                    </a:solidFill>
                    <a:latin typeface="微软雅黑" panose="020B0503020204020204" pitchFamily="34" charset="-122"/>
                    <a:ea typeface="微软雅黑" panose="020B0503020204020204" pitchFamily="34" charset="-122"/>
                  </a:rPr>
                  <a:t>1</a:t>
                </a:r>
                <a:r>
                  <a:rPr lang="zh-CN" altLang="en-US" spc="150" dirty="0">
                    <a:solidFill>
                      <a:srgbClr val="000000"/>
                    </a:solidFill>
                    <a:latin typeface="微软雅黑" panose="020B0503020204020204" pitchFamily="34" charset="-122"/>
                    <a:ea typeface="微软雅黑" panose="020B0503020204020204" pitchFamily="34" charset="-122"/>
                  </a:rPr>
                  <a:t>要改变价格，如</a:t>
                </a:r>
                <a14:m>
                  <m:oMath xmlns:m="http://schemas.openxmlformats.org/officeDocument/2006/math">
                    <m:r>
                      <a:rPr lang="en-US" altLang="zh-CN" i="1" spc="150" dirty="0" smtClean="0">
                        <a:solidFill>
                          <a:srgbClr val="000000"/>
                        </a:solidFill>
                        <a:latin typeface="Cambria Math" panose="02040503050406030204" pitchFamily="18" charset="0"/>
                        <a:ea typeface="微软雅黑" panose="020B0503020204020204" pitchFamily="34" charset="-122"/>
                      </a:rPr>
                      <m:t>𝑃</m:t>
                    </m:r>
                    <m:r>
                      <a:rPr lang="en-US" altLang="zh-CN" i="1" spc="150" baseline="-25000" dirty="0" smtClean="0">
                        <a:solidFill>
                          <a:srgbClr val="000000"/>
                        </a:solidFill>
                        <a:latin typeface="Cambria Math" panose="02040503050406030204" pitchFamily="18" charset="0"/>
                        <a:ea typeface="微软雅黑" panose="020B0503020204020204" pitchFamily="34" charset="-122"/>
                      </a:rPr>
                      <m:t>1</m:t>
                    </m:r>
                    <m:r>
                      <a:rPr lang="en-US" altLang="zh-CN" i="1" spc="150" dirty="0" smtClean="0">
                        <a:solidFill>
                          <a:srgbClr val="000000"/>
                        </a:solidFill>
                        <a:latin typeface="Cambria Math" panose="02040503050406030204" pitchFamily="18" charset="0"/>
                        <a:ea typeface="微软雅黑" panose="020B0503020204020204" pitchFamily="34" charset="-122"/>
                      </a:rPr>
                      <m:t> &gt; </m:t>
                    </m:r>
                    <m:r>
                      <a:rPr lang="en-US" altLang="zh-CN" i="1" dirty="0">
                        <a:latin typeface="Cambria Math" panose="02040503050406030204" pitchFamily="18" charset="0"/>
                        <a:sym typeface="Wingdings" panose="05000000000000000000" pitchFamily="2" charset="2"/>
                      </a:rPr>
                      <m:t>𝑃</m:t>
                    </m:r>
                    <m:r>
                      <a:rPr lang="en-US" altLang="zh-CN" i="1" baseline="-25000" dirty="0">
                        <a:latin typeface="Cambria Math" panose="02040503050406030204" pitchFamily="18" charset="0"/>
                        <a:sym typeface="Wingdings" panose="05000000000000000000" pitchFamily="2" charset="2"/>
                      </a:rPr>
                      <m:t>0</m:t>
                    </m:r>
                  </m:oMath>
                </a14:m>
                <a:r>
                  <a:rPr lang="zh-CN" altLang="en-US" spc="150" dirty="0">
                    <a:solidFill>
                      <a:srgbClr val="000000"/>
                    </a:solidFill>
                    <a:latin typeface="微软雅黑" panose="020B0503020204020204" pitchFamily="34" charset="-122"/>
                    <a:ea typeface="微软雅黑" panose="020B0503020204020204" pitchFamily="34" charset="-122"/>
                  </a:rPr>
                  <a:t>，结果呢：</a:t>
                </a:r>
              </a:p>
            </p:txBody>
          </p:sp>
        </mc:Choice>
        <mc:Fallback xmlns="">
          <p:sp>
            <p:nvSpPr>
              <p:cNvPr id="34" name="矩形 33">
                <a:extLst>
                  <a:ext uri="{FF2B5EF4-FFF2-40B4-BE49-F238E27FC236}">
                    <a16:creationId xmlns:a16="http://schemas.microsoft.com/office/drawing/2014/main" id="{DC352424-0443-43CC-9DB7-D6B00F0C4B2E}"/>
                  </a:ext>
                </a:extLst>
              </p:cNvPr>
              <p:cNvSpPr>
                <a:spLocks noRot="1" noChangeAspect="1" noMove="1" noResize="1" noEditPoints="1" noAdjustHandles="1" noChangeArrowheads="1" noChangeShapeType="1" noTextEdit="1"/>
              </p:cNvSpPr>
              <p:nvPr/>
            </p:nvSpPr>
            <p:spPr>
              <a:xfrm>
                <a:off x="695068" y="4058979"/>
                <a:ext cx="8416383" cy="646331"/>
              </a:xfrm>
              <a:prstGeom prst="rect">
                <a:avLst/>
              </a:prstGeom>
              <a:blipFill>
                <a:blip r:embed="rId6"/>
                <a:stretch>
                  <a:fillRect l="-434" b="-18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1623B8E6-CF08-4AFB-BAD9-5F7E77D0E7F6}"/>
                  </a:ext>
                </a:extLst>
              </p:cNvPr>
              <p:cNvSpPr/>
              <p:nvPr/>
            </p:nvSpPr>
            <p:spPr>
              <a:xfrm>
                <a:off x="973028" y="4762953"/>
                <a:ext cx="5654351" cy="1144929"/>
              </a:xfrm>
              <a:prstGeom prst="rect">
                <a:avLst/>
              </a:prstGeom>
            </p:spPr>
            <p:txBody>
              <a:bodyPr wrap="square">
                <a:spAutoFit/>
              </a:bodyPr>
              <a:lstStyle/>
              <a:p>
                <a:pPr marL="342900" indent="-342900">
                  <a:spcBef>
                    <a:spcPct val="40000"/>
                  </a:spcBef>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但是每个消费者都知道</a:t>
                </a:r>
                <a14:m>
                  <m:oMath xmlns:m="http://schemas.openxmlformats.org/officeDocument/2006/math">
                    <m:r>
                      <a:rPr lang="en-US" altLang="zh-CN" i="1" spc="150" dirty="0" smtClean="0">
                        <a:solidFill>
                          <a:srgbClr val="000000"/>
                        </a:solidFill>
                        <a:latin typeface="Cambria Math" panose="02040503050406030204" pitchFamily="18" charset="0"/>
                        <a:ea typeface="微软雅黑" panose="020B0503020204020204" pitchFamily="34" charset="-122"/>
                      </a:rPr>
                      <m:t>𝑃</m:t>
                    </m:r>
                    <m:r>
                      <a:rPr lang="en-US" altLang="zh-CN" i="1" spc="150" baseline="-25000" dirty="0" smtClean="0">
                        <a:solidFill>
                          <a:srgbClr val="000000"/>
                        </a:solidFill>
                        <a:latin typeface="Cambria Math" panose="02040503050406030204" pitchFamily="18" charset="0"/>
                        <a:ea typeface="微软雅黑" panose="020B0503020204020204" pitchFamily="34" charset="-122"/>
                      </a:rPr>
                      <m:t>1</m:t>
                    </m:r>
                    <m:r>
                      <a:rPr lang="en-US" altLang="zh-CN" i="1" spc="150" dirty="0" smtClean="0">
                        <a:solidFill>
                          <a:srgbClr val="000000"/>
                        </a:solidFill>
                        <a:latin typeface="Cambria Math" panose="02040503050406030204" pitchFamily="18" charset="0"/>
                        <a:ea typeface="微软雅黑" panose="020B0503020204020204" pitchFamily="34" charset="-122"/>
                      </a:rPr>
                      <m:t>&gt;</m:t>
                    </m:r>
                    <m:r>
                      <a:rPr lang="en-US" altLang="zh-CN" i="1" dirty="0" smtClean="0">
                        <a:latin typeface="Cambria Math" panose="02040503050406030204" pitchFamily="18" charset="0"/>
                        <a:sym typeface="Wingdings" panose="05000000000000000000" pitchFamily="2" charset="2"/>
                      </a:rPr>
                      <m:t>𝑃</m:t>
                    </m:r>
                    <m:r>
                      <a:rPr lang="en-US" altLang="zh-CN" i="1" baseline="-25000" dirty="0" smtClean="0">
                        <a:latin typeface="Cambria Math" panose="02040503050406030204" pitchFamily="18" charset="0"/>
                        <a:sym typeface="Wingdings" panose="05000000000000000000" pitchFamily="2" charset="2"/>
                      </a:rPr>
                      <m:t>0</m:t>
                    </m:r>
                  </m:oMath>
                </a14:m>
                <a:endParaRPr lang="en-US" altLang="zh-CN" spc="150" dirty="0">
                  <a:solidFill>
                    <a:srgbClr val="000000"/>
                  </a:solidFill>
                  <a:latin typeface="微软雅黑" panose="020B0503020204020204" pitchFamily="34" charset="-122"/>
                  <a:ea typeface="微软雅黑" panose="020B0503020204020204" pitchFamily="34" charset="-122"/>
                </a:endParaRPr>
              </a:p>
              <a:p>
                <a:pPr marL="342900" indent="-342900">
                  <a:spcBef>
                    <a:spcPct val="40000"/>
                  </a:spcBef>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产品是同质产品</a:t>
                </a:r>
              </a:p>
              <a:p>
                <a:pPr marL="342900" indent="-342900">
                  <a:spcBef>
                    <a:spcPct val="40000"/>
                  </a:spcBef>
                  <a:buFont typeface="Arial" panose="020B0604020202020204" pitchFamily="34" charset="0"/>
                  <a:buChar char="•"/>
                </a:pPr>
                <a:r>
                  <a:rPr lang="zh-CN" altLang="en-US" spc="150" dirty="0">
                    <a:solidFill>
                      <a:srgbClr val="000000"/>
                    </a:solidFill>
                    <a:latin typeface="微软雅黑" panose="020B0503020204020204" pitchFamily="34" charset="-122"/>
                    <a:ea typeface="微软雅黑" panose="020B0503020204020204" pitchFamily="34" charset="-122"/>
                  </a:rPr>
                  <a:t>所以没有人会从这个厂商购买产品</a:t>
                </a:r>
                <a:endParaRPr lang="en-US" altLang="zh-CN"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35" name="矩形 34">
                <a:extLst>
                  <a:ext uri="{FF2B5EF4-FFF2-40B4-BE49-F238E27FC236}">
                    <a16:creationId xmlns:a16="http://schemas.microsoft.com/office/drawing/2014/main" id="{1623B8E6-CF08-4AFB-BAD9-5F7E77D0E7F6}"/>
                  </a:ext>
                </a:extLst>
              </p:cNvPr>
              <p:cNvSpPr>
                <a:spLocks noRot="1" noChangeAspect="1" noMove="1" noResize="1" noEditPoints="1" noAdjustHandles="1" noChangeArrowheads="1" noChangeShapeType="1" noTextEdit="1"/>
              </p:cNvSpPr>
              <p:nvPr/>
            </p:nvSpPr>
            <p:spPr>
              <a:xfrm>
                <a:off x="973028" y="4762953"/>
                <a:ext cx="5654351" cy="1144929"/>
              </a:xfrm>
              <a:prstGeom prst="rect">
                <a:avLst/>
              </a:prstGeom>
              <a:blipFill>
                <a:blip r:embed="rId7"/>
                <a:stretch>
                  <a:fillRect l="-755" t="-2660" b="-74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674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randombar(horizontal)">
                                      <p:cBhvr>
                                        <p:cTn id="17" dur="500"/>
                                        <p:tgtEl>
                                          <p:spTgt spid="30"/>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randombar(horizontal)">
                                      <p:cBhvr>
                                        <p:cTn id="20" dur="500"/>
                                        <p:tgtEl>
                                          <p:spTgt spid="32"/>
                                        </p:tgtEl>
                                      </p:cBhvr>
                                    </p:animEffect>
                                  </p:childTnLst>
                                </p:cTn>
                              </p:par>
                            </p:childTnLst>
                          </p:cTn>
                        </p:par>
                        <p:par>
                          <p:cTn id="21" fill="hold">
                            <p:stCondLst>
                              <p:cond delay="500"/>
                            </p:stCondLst>
                            <p:childTnLst>
                              <p:par>
                                <p:cTn id="22" presetID="14" presetClass="entr" presetSubtype="10" fill="hold" nodeType="after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randombar(horizontal)">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4">
                                            <p:txEl>
                                              <p:pRg st="0" end="0"/>
                                            </p:txEl>
                                          </p:spTgt>
                                        </p:tgtEl>
                                        <p:attrNameLst>
                                          <p:attrName>style.visibility</p:attrName>
                                        </p:attrNameLst>
                                      </p:cBhvr>
                                      <p:to>
                                        <p:strVal val="visible"/>
                                      </p:to>
                                    </p:set>
                                    <p:animEffect transition="in" filter="wipe(left)">
                                      <p:cBhvr>
                                        <p:cTn id="29" dur="500"/>
                                        <p:tgtEl>
                                          <p:spTgt spid="34">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5">
                                            <p:txEl>
                                              <p:pRg st="0" end="0"/>
                                            </p:txEl>
                                          </p:spTgt>
                                        </p:tgtEl>
                                        <p:attrNameLst>
                                          <p:attrName>style.visibility</p:attrName>
                                        </p:attrNameLst>
                                      </p:cBhvr>
                                      <p:to>
                                        <p:strVal val="visible"/>
                                      </p:to>
                                    </p:set>
                                    <p:animEffect transition="in" filter="wipe(left)">
                                      <p:cBhvr>
                                        <p:cTn id="34" dur="500"/>
                                        <p:tgtEl>
                                          <p:spTgt spid="35">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5">
                                            <p:txEl>
                                              <p:pRg st="1" end="1"/>
                                            </p:txEl>
                                          </p:spTgt>
                                        </p:tgtEl>
                                        <p:attrNameLst>
                                          <p:attrName>style.visibility</p:attrName>
                                        </p:attrNameLst>
                                      </p:cBhvr>
                                      <p:to>
                                        <p:strVal val="visible"/>
                                      </p:to>
                                    </p:set>
                                    <p:animEffect transition="in" filter="wipe(left)">
                                      <p:cBhvr>
                                        <p:cTn id="39" dur="500"/>
                                        <p:tgtEl>
                                          <p:spTgt spid="35">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5">
                                            <p:txEl>
                                              <p:pRg st="2" end="2"/>
                                            </p:txEl>
                                          </p:spTgt>
                                        </p:tgtEl>
                                        <p:attrNameLst>
                                          <p:attrName>style.visibility</p:attrName>
                                        </p:attrNameLst>
                                      </p:cBhvr>
                                      <p:to>
                                        <p:strVal val="visible"/>
                                      </p:to>
                                    </p:set>
                                    <p:animEffect transition="in" filter="wipe(left)">
                                      <p:cBhvr>
                                        <p:cTn id="44" dur="500"/>
                                        <p:tgtEl>
                                          <p:spTgt spid="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标注 5">
            <a:extLst>
              <a:ext uri="{FF2B5EF4-FFF2-40B4-BE49-F238E27FC236}">
                <a16:creationId xmlns:a16="http://schemas.microsoft.com/office/drawing/2014/main" id="{000B2A87-2B7D-4B94-87B8-61432F30D800}"/>
              </a:ext>
            </a:extLst>
          </p:cNvPr>
          <p:cNvSpPr/>
          <p:nvPr/>
        </p:nvSpPr>
        <p:spPr>
          <a:xfrm>
            <a:off x="899676" y="3429000"/>
            <a:ext cx="4006616" cy="2093632"/>
          </a:xfrm>
          <a:prstGeom prst="wedgeRoundRectCallout">
            <a:avLst>
              <a:gd name="adj1" fmla="val 60586"/>
              <a:gd name="adj2" fmla="val -22490"/>
              <a:gd name="adj3" fmla="val 16667"/>
            </a:avLst>
          </a:prstGeom>
          <a:solidFill>
            <a:srgbClr val="F3C9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43144617-86E7-4C79-8DA7-59FB06215111}"/>
                  </a:ext>
                </a:extLst>
              </p:cNvPr>
              <p:cNvSpPr/>
              <p:nvPr/>
            </p:nvSpPr>
            <p:spPr>
              <a:xfrm>
                <a:off x="3779945" y="1580170"/>
                <a:ext cx="2369944" cy="338554"/>
              </a:xfrm>
              <a:prstGeom prst="rect">
                <a:avLst/>
              </a:prstGeom>
            </p:spPr>
            <p:txBody>
              <a:bodyPr wrap="none">
                <a:spAutoFit/>
              </a:bodyPr>
              <a:lstStyle/>
              <a:p>
                <a:pPr marL="342900" indent="-342900">
                  <a:lnSpc>
                    <a:spcPct val="80000"/>
                  </a:lnSpc>
                  <a:spcBef>
                    <a:spcPct val="40000"/>
                  </a:spcBef>
                  <a:buFont typeface="Wingdings" panose="05000000000000000000" pitchFamily="2" charset="2"/>
                  <a:buChar char="Ø"/>
                </a:pPr>
                <a14:m>
                  <m:oMath xmlns:m="http://schemas.openxmlformats.org/officeDocument/2006/math">
                    <m:r>
                      <a:rPr lang="en-US" altLang="zh-CN" i="1" spc="150" dirty="0" smtClean="0">
                        <a:solidFill>
                          <a:srgbClr val="000000"/>
                        </a:solidFill>
                        <a:latin typeface="Cambria Math" panose="02040503050406030204" pitchFamily="18" charset="0"/>
                        <a:ea typeface="微软雅黑" panose="020B0503020204020204" pitchFamily="34" charset="-122"/>
                      </a:rPr>
                      <m:t>𝑃</m:t>
                    </m:r>
                    <m:r>
                      <a:rPr lang="en-US" altLang="zh-CN" i="1" spc="150" dirty="0" smtClean="0">
                        <a:solidFill>
                          <a:srgbClr val="000000"/>
                        </a:solidFill>
                        <a:latin typeface="Cambria Math" panose="02040503050406030204" pitchFamily="18" charset="0"/>
                        <a:ea typeface="微软雅黑" panose="020B0503020204020204" pitchFamily="34" charset="-122"/>
                      </a:rPr>
                      <m:t> = </m:t>
                    </m:r>
                    <m:r>
                      <a:rPr lang="en-US" altLang="zh-CN" i="1" spc="150" dirty="0" smtClean="0">
                        <a:solidFill>
                          <a:srgbClr val="000000"/>
                        </a:solidFill>
                        <a:latin typeface="Cambria Math" panose="02040503050406030204" pitchFamily="18" charset="0"/>
                        <a:ea typeface="微软雅黑" panose="020B0503020204020204" pitchFamily="34" charset="-122"/>
                      </a:rPr>
                      <m:t>𝑃</m:t>
                    </m:r>
                    <m:r>
                      <a:rPr lang="en-US" altLang="zh-CN" i="1" spc="150" dirty="0" smtClean="0">
                        <a:solidFill>
                          <a:srgbClr val="000000"/>
                        </a:solidFill>
                        <a:latin typeface="Cambria Math" panose="02040503050406030204" pitchFamily="18" charset="0"/>
                        <a:ea typeface="微软雅黑" panose="020B0503020204020204" pitchFamily="34" charset="-122"/>
                      </a:rPr>
                      <m:t>(</m:t>
                    </m:r>
                    <m:r>
                      <a:rPr lang="en-US" altLang="zh-CN" i="1" spc="150" dirty="0" smtClean="0">
                        <a:solidFill>
                          <a:srgbClr val="000000"/>
                        </a:solidFill>
                        <a:latin typeface="Cambria Math" panose="02040503050406030204" pitchFamily="18" charset="0"/>
                        <a:ea typeface="微软雅黑" panose="020B0503020204020204" pitchFamily="34" charset="-122"/>
                      </a:rPr>
                      <m:t>𝑄</m:t>
                    </m:r>
                    <m:r>
                      <a:rPr lang="en-US" altLang="zh-CN" i="1" spc="150" dirty="0" smtClean="0">
                        <a:solidFill>
                          <a:srgbClr val="000000"/>
                        </a:solidFill>
                        <a:latin typeface="Cambria Math" panose="02040503050406030204" pitchFamily="18" charset="0"/>
                        <a:ea typeface="微软雅黑" panose="020B0503020204020204" pitchFamily="34" charset="-122"/>
                      </a:rPr>
                      <m:t>) =</m:t>
                    </m:r>
                    <m:r>
                      <m:rPr>
                        <m:nor/>
                      </m:rPr>
                      <a:rPr lang="en-US" altLang="zh-CN" dirty="0">
                        <a:sym typeface="Wingdings" panose="05000000000000000000" pitchFamily="2" charset="2"/>
                      </a:rPr>
                      <m:t>P</m:t>
                    </m:r>
                    <m:r>
                      <m:rPr>
                        <m:nor/>
                      </m:rPr>
                      <a:rPr lang="en-US" altLang="zh-CN" baseline="-25000" dirty="0">
                        <a:sym typeface="Wingdings" panose="05000000000000000000" pitchFamily="2" charset="2"/>
                      </a:rPr>
                      <m:t>0</m:t>
                    </m:r>
                  </m:oMath>
                </a14:m>
                <a:endParaRPr lang="en-US" altLang="zh-CN" sz="2000"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2" name="矩形 1">
                <a:extLst>
                  <a:ext uri="{FF2B5EF4-FFF2-40B4-BE49-F238E27FC236}">
                    <a16:creationId xmlns:a16="http://schemas.microsoft.com/office/drawing/2014/main" id="{43144617-86E7-4C79-8DA7-59FB06215111}"/>
                  </a:ext>
                </a:extLst>
              </p:cNvPr>
              <p:cNvSpPr>
                <a:spLocks noRot="1" noChangeAspect="1" noMove="1" noResize="1" noEditPoints="1" noAdjustHandles="1" noChangeArrowheads="1" noChangeShapeType="1" noTextEdit="1"/>
              </p:cNvSpPr>
              <p:nvPr/>
            </p:nvSpPr>
            <p:spPr>
              <a:xfrm>
                <a:off x="3779945" y="1580170"/>
                <a:ext cx="2369944" cy="338554"/>
              </a:xfrm>
              <a:prstGeom prst="rect">
                <a:avLst/>
              </a:prstGeom>
              <a:blipFill>
                <a:blip r:embed="rId7"/>
                <a:stretch>
                  <a:fillRect l="-1542" t="-12500" b="-19643"/>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D2162600-114A-4C05-A7A2-48990CE89835}"/>
              </a:ext>
            </a:extLst>
          </p:cNvPr>
          <p:cNvSpPr/>
          <p:nvPr/>
        </p:nvSpPr>
        <p:spPr>
          <a:xfrm>
            <a:off x="1017093" y="3605220"/>
            <a:ext cx="3889199" cy="1754326"/>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完全竞争企业的行为对市场价格不会造成任何影响，其面临的需求曲线是一条由市场价格决定的水平线</a:t>
            </a:r>
          </a:p>
        </p:txBody>
      </p:sp>
      <p:sp>
        <p:nvSpPr>
          <p:cNvPr id="59" name="矩形 58">
            <a:extLst>
              <a:ext uri="{FF2B5EF4-FFF2-40B4-BE49-F238E27FC236}">
                <a16:creationId xmlns:a16="http://schemas.microsoft.com/office/drawing/2014/main" id="{88E64304-A318-44E5-8B2C-DCEFC99551AF}"/>
              </a:ext>
            </a:extLst>
          </p:cNvPr>
          <p:cNvSpPr/>
          <p:nvPr/>
        </p:nvSpPr>
        <p:spPr>
          <a:xfrm>
            <a:off x="4067223" y="0"/>
            <a:ext cx="5120312" cy="646331"/>
          </a:xfrm>
          <a:prstGeom prst="rect">
            <a:avLst/>
          </a:prstGeom>
        </p:spPr>
        <p:txBody>
          <a:bodyPr wrap="none">
            <a:spAutoFit/>
          </a:bodyPr>
          <a:lstStyle/>
          <a:p>
            <a:pPr lvl="0" defTabSz="457200" eaLnBrk="1" fontAlgn="auto" hangingPunct="1">
              <a:spcBef>
                <a:spcPts val="0"/>
              </a:spcBef>
              <a:spcAft>
                <a:spcPts val="0"/>
              </a:spcAf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a:t>
            </a:r>
            <a:r>
              <a:rPr lang="zh-CN" altLang="en-US" spc="150" dirty="0">
                <a:solidFill>
                  <a:srgbClr val="000000"/>
                </a:solidFill>
                <a:latin typeface="微软雅黑" panose="020B0503020204020204" pitchFamily="34" charset="-122"/>
                <a:ea typeface="微软雅黑" panose="020B0503020204020204" pitchFamily="34" charset="-122"/>
              </a:rPr>
              <a:t>二节  完全竞争企业面临的需求曲线和收益</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endPar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0" name="矩形 59">
            <a:extLst>
              <a:ext uri="{FF2B5EF4-FFF2-40B4-BE49-F238E27FC236}">
                <a16:creationId xmlns:a16="http://schemas.microsoft.com/office/drawing/2014/main" id="{7E4A3EC2-8BCD-493E-A833-DC957F042B43}"/>
              </a:ext>
            </a:extLst>
          </p:cNvPr>
          <p:cNvSpPr/>
          <p:nvPr/>
        </p:nvSpPr>
        <p:spPr>
          <a:xfrm>
            <a:off x="467545" y="548680"/>
            <a:ext cx="511252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lvl="0" eaLnBrk="1" hangingPunct="1">
              <a:defRPr/>
            </a:pPr>
            <a:r>
              <a:rPr lang="zh-CN" altLang="en-US" sz="2400" b="1" spc="150" dirty="0">
                <a:solidFill>
                  <a:srgbClr val="FFFFFF"/>
                </a:solidFill>
                <a:latin typeface="微软雅黑" panose="020B0503020204020204" pitchFamily="34" charset="-122"/>
                <a:ea typeface="微软雅黑" panose="020B0503020204020204" pitchFamily="34" charset="-122"/>
              </a:rPr>
              <a:t>一、完全竞争企业面临的需求曲线</a:t>
            </a:r>
          </a:p>
        </p:txBody>
      </p:sp>
      <p:grpSp>
        <p:nvGrpSpPr>
          <p:cNvPr id="64" name="组合 63">
            <a:extLst>
              <a:ext uri="{FF2B5EF4-FFF2-40B4-BE49-F238E27FC236}">
                <a16:creationId xmlns:a16="http://schemas.microsoft.com/office/drawing/2014/main" id="{FD701A9D-B437-4365-8EAE-39596CD5F811}"/>
              </a:ext>
            </a:extLst>
          </p:cNvPr>
          <p:cNvGrpSpPr/>
          <p:nvPr/>
        </p:nvGrpSpPr>
        <p:grpSpPr>
          <a:xfrm>
            <a:off x="899707" y="1492272"/>
            <a:ext cx="2573741" cy="514350"/>
            <a:chOff x="458213" y="1296677"/>
            <a:chExt cx="2893707" cy="514350"/>
          </a:xfrm>
        </p:grpSpPr>
        <p:sp>
          <p:nvSpPr>
            <p:cNvPr id="65"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58213" y="1296677"/>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需求函数</a:t>
              </a:r>
              <a:r>
                <a:rPr lang="en-US" altLang="zh-CN" spc="150" dirty="0">
                  <a:solidFill>
                    <a:srgbClr val="000000"/>
                  </a:solidFill>
                  <a:latin typeface="微软雅黑" panose="020B0503020204020204" pitchFamily="34" charset="-122"/>
                  <a:ea typeface="微软雅黑" panose="020B0503020204020204" pitchFamily="34" charset="-122"/>
                </a:rPr>
                <a:t>:</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66"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3159832" y="1353827"/>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grpSp>
        <p:nvGrpSpPr>
          <p:cNvPr id="70" name="组合 18"/>
          <p:cNvGrpSpPr>
            <a:grpSpLocks/>
          </p:cNvGrpSpPr>
          <p:nvPr/>
        </p:nvGrpSpPr>
        <p:grpSpPr bwMode="auto">
          <a:xfrm>
            <a:off x="5580070" y="2278570"/>
            <a:ext cx="2924175" cy="3526594"/>
            <a:chOff x="0" y="0"/>
            <a:chExt cx="4000530" cy="3196008"/>
          </a:xfrm>
        </p:grpSpPr>
        <p:sp>
          <p:nvSpPr>
            <p:cNvPr id="71" name="直接箭头连接符 5"/>
            <p:cNvSpPr>
              <a:spLocks noChangeShapeType="1"/>
            </p:cNvSpPr>
            <p:nvPr/>
          </p:nvSpPr>
          <p:spPr bwMode="auto">
            <a:xfrm rot="5400000" flipH="1">
              <a:off x="-984590" y="1341494"/>
              <a:ext cx="2625071" cy="1"/>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2" name="直接箭头连接符 6"/>
            <p:cNvSpPr>
              <a:spLocks noChangeShapeType="1"/>
            </p:cNvSpPr>
            <p:nvPr/>
          </p:nvSpPr>
          <p:spPr bwMode="auto">
            <a:xfrm rot="16200000" flipH="1">
              <a:off x="2069140" y="910766"/>
              <a:ext cx="18618" cy="3501007"/>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3" name="TextBox 11"/>
            <p:cNvSpPr>
              <a:spLocks noChangeArrowheads="1"/>
            </p:cNvSpPr>
            <p:nvPr/>
          </p:nvSpPr>
          <p:spPr bwMode="auto">
            <a:xfrm>
              <a:off x="0" y="0"/>
              <a:ext cx="3571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74" name="TextBox 12"/>
            <p:cNvSpPr>
              <a:spLocks noChangeArrowheads="1"/>
            </p:cNvSpPr>
            <p:nvPr/>
          </p:nvSpPr>
          <p:spPr bwMode="auto">
            <a:xfrm>
              <a:off x="142876" y="2714644"/>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O</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75" name="TextBox 16"/>
            <p:cNvSpPr>
              <a:spLocks noChangeArrowheads="1"/>
            </p:cNvSpPr>
            <p:nvPr/>
          </p:nvSpPr>
          <p:spPr bwMode="auto">
            <a:xfrm>
              <a:off x="3323745" y="2714644"/>
              <a:ext cx="676785" cy="48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900">
                  <a:solidFill>
                    <a:srgbClr val="000000"/>
                  </a:solidFill>
                  <a:latin typeface="Cambria Math" panose="02040503050406030204" pitchFamily="18" charset="0"/>
                  <a:sym typeface="Cambria Math" panose="02040503050406030204" pitchFamily="18" charset="0"/>
                </a:rPr>
                <a:t>0</a:t>
              </a:r>
              <a:endParaRPr lang="zh-CN" altLang="en-US">
                <a:solidFill>
                  <a:srgbClr val="000000"/>
                </a:solidFill>
                <a:latin typeface="Cambria Math" panose="02040503050406030204" pitchFamily="18" charset="0"/>
                <a:sym typeface="Cambria Math" panose="02040503050406030204" pitchFamily="18" charset="0"/>
              </a:endParaRPr>
            </a:p>
          </p:txBody>
        </p:sp>
      </p:grpSp>
      <p:grpSp>
        <p:nvGrpSpPr>
          <p:cNvPr id="76" name="组合 19"/>
          <p:cNvGrpSpPr>
            <a:grpSpLocks/>
          </p:cNvGrpSpPr>
          <p:nvPr/>
        </p:nvGrpSpPr>
        <p:grpSpPr bwMode="auto">
          <a:xfrm>
            <a:off x="5865820" y="2776000"/>
            <a:ext cx="2714625" cy="2929418"/>
            <a:chOff x="0" y="0"/>
            <a:chExt cx="3714749" cy="2515091"/>
          </a:xfrm>
        </p:grpSpPr>
        <p:sp>
          <p:nvSpPr>
            <p:cNvPr id="77" name="TextBox 3"/>
            <p:cNvSpPr>
              <a:spLocks noChangeArrowheads="1"/>
            </p:cNvSpPr>
            <p:nvPr/>
          </p:nvSpPr>
          <p:spPr bwMode="auto">
            <a:xfrm>
              <a:off x="488782" y="2033632"/>
              <a:ext cx="725654" cy="48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r>
                <a:rPr lang="en-US" altLang="zh-CN" sz="900">
                  <a:solidFill>
                    <a:srgbClr val="000000"/>
                  </a:solidFill>
                  <a:latin typeface="Cambria Math" panose="02040503050406030204" pitchFamily="18" charset="0"/>
                  <a:sym typeface="Cambria Math" panose="02040503050406030204" pitchFamily="18" charset="0"/>
                </a:rPr>
                <a:t>1</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78" name="TextBox 4"/>
            <p:cNvSpPr>
              <a:spLocks noChangeArrowheads="1"/>
            </p:cNvSpPr>
            <p:nvPr/>
          </p:nvSpPr>
          <p:spPr bwMode="auto">
            <a:xfrm>
              <a:off x="1075322" y="2033634"/>
              <a:ext cx="782052" cy="48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r>
                <a:rPr lang="en-US" altLang="zh-CN" sz="900">
                  <a:solidFill>
                    <a:srgbClr val="000000"/>
                  </a:solidFill>
                  <a:latin typeface="Cambria Math" panose="02040503050406030204" pitchFamily="18" charset="0"/>
                  <a:sym typeface="Cambria Math" panose="02040503050406030204" pitchFamily="18" charset="0"/>
                </a:rPr>
                <a:t>2</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79" name="TextBox 5"/>
            <p:cNvSpPr>
              <a:spLocks noChangeArrowheads="1"/>
            </p:cNvSpPr>
            <p:nvPr/>
          </p:nvSpPr>
          <p:spPr bwMode="auto">
            <a:xfrm>
              <a:off x="1759616" y="2033634"/>
              <a:ext cx="740694" cy="48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r>
                <a:rPr lang="en-US" altLang="zh-CN" sz="900">
                  <a:solidFill>
                    <a:srgbClr val="000000"/>
                  </a:solidFill>
                  <a:latin typeface="Cambria Math" panose="02040503050406030204" pitchFamily="18" charset="0"/>
                  <a:sym typeface="Cambria Math" panose="02040503050406030204" pitchFamily="18" charset="0"/>
                </a:rPr>
                <a:t>3</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80" name="直接连接符 14"/>
            <p:cNvSpPr>
              <a:spLocks noChangeShapeType="1"/>
            </p:cNvSpPr>
            <p:nvPr/>
          </p:nvSpPr>
          <p:spPr bwMode="auto">
            <a:xfrm>
              <a:off x="0" y="474037"/>
              <a:ext cx="3071728" cy="14491"/>
            </a:xfrm>
            <a:prstGeom prst="line">
              <a:avLst/>
            </a:prstGeom>
            <a:noFill/>
            <a:ln w="28575"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TextBox 13"/>
            <p:cNvSpPr>
              <a:spLocks noChangeArrowheads="1"/>
            </p:cNvSpPr>
            <p:nvPr/>
          </p:nvSpPr>
          <p:spPr bwMode="auto">
            <a:xfrm>
              <a:off x="1857374" y="0"/>
              <a:ext cx="1857375" cy="48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P=P(Q)=P</a:t>
              </a:r>
              <a:r>
                <a:rPr lang="en-US" altLang="zh-CN" sz="1100" dirty="0">
                  <a:solidFill>
                    <a:srgbClr val="000000"/>
                  </a:solidFill>
                  <a:latin typeface="Cambria Math" panose="02040503050406030204" pitchFamily="18" charset="0"/>
                  <a:sym typeface="Cambria Math" panose="02040503050406030204" pitchFamily="18" charset="0"/>
                </a:rPr>
                <a:t>0</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82" name="直接连接符 16"/>
            <p:cNvSpPr>
              <a:spLocks noChangeShapeType="1"/>
            </p:cNvSpPr>
            <p:nvPr/>
          </p:nvSpPr>
          <p:spPr bwMode="auto">
            <a:xfrm rot="5400000">
              <a:off x="107696" y="1238914"/>
              <a:ext cx="1500774" cy="1"/>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83" name="直接连接符 17"/>
            <p:cNvSpPr>
              <a:spLocks noChangeShapeType="1"/>
            </p:cNvSpPr>
            <p:nvPr/>
          </p:nvSpPr>
          <p:spPr bwMode="auto">
            <a:xfrm rot="5400000">
              <a:off x="821319" y="1235757"/>
              <a:ext cx="1500776" cy="2173"/>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直接连接符 18"/>
            <p:cNvSpPr>
              <a:spLocks noChangeShapeType="1"/>
            </p:cNvSpPr>
            <p:nvPr/>
          </p:nvSpPr>
          <p:spPr bwMode="auto">
            <a:xfrm rot="5400000">
              <a:off x="1536030" y="1235759"/>
              <a:ext cx="1500776" cy="2172"/>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 name="TextBox 19"/>
          <p:cNvSpPr>
            <a:spLocks noChangeArrowheads="1"/>
          </p:cNvSpPr>
          <p:nvPr/>
        </p:nvSpPr>
        <p:spPr bwMode="auto">
          <a:xfrm>
            <a:off x="5437195" y="3639908"/>
            <a:ext cx="393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900" dirty="0">
                <a:solidFill>
                  <a:srgbClr val="000000"/>
                </a:solidFill>
                <a:latin typeface="Cambria Math" panose="02040503050406030204" pitchFamily="18" charset="0"/>
                <a:sym typeface="Cambria Math" panose="02040503050406030204" pitchFamily="18" charset="0"/>
              </a:rPr>
              <a:t>0</a:t>
            </a:r>
            <a:endParaRPr lang="zh-CN" altLang="en-US" dirty="0">
              <a:solidFill>
                <a:srgbClr val="000000"/>
              </a:solidFill>
              <a:latin typeface="Cambria Math" panose="02040503050406030204" pitchFamily="18" charset="0"/>
              <a:sym typeface="Cambria Math" panose="02040503050406030204" pitchFamily="18" charset="0"/>
            </a:endParaRPr>
          </a:p>
        </p:txBody>
      </p:sp>
      <p:grpSp>
        <p:nvGrpSpPr>
          <p:cNvPr id="31" name="组合 30">
            <a:extLst>
              <a:ext uri="{FF2B5EF4-FFF2-40B4-BE49-F238E27FC236}">
                <a16:creationId xmlns:a16="http://schemas.microsoft.com/office/drawing/2014/main" id="{FD701A9D-B437-4365-8EAE-39596CD5F811}"/>
              </a:ext>
            </a:extLst>
          </p:cNvPr>
          <p:cNvGrpSpPr/>
          <p:nvPr/>
        </p:nvGrpSpPr>
        <p:grpSpPr>
          <a:xfrm>
            <a:off x="899707" y="2221420"/>
            <a:ext cx="2573741" cy="514350"/>
            <a:chOff x="458213" y="1296677"/>
            <a:chExt cx="2893707" cy="514350"/>
          </a:xfrm>
        </p:grpSpPr>
        <p:sp>
          <p:nvSpPr>
            <p:cNvPr id="32"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58213" y="1296677"/>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需求曲线水平</a:t>
              </a:r>
              <a:r>
                <a:rPr lang="en-US" altLang="zh-CN" spc="150" dirty="0">
                  <a:solidFill>
                    <a:srgbClr val="000000"/>
                  </a:solidFill>
                  <a:latin typeface="微软雅黑" panose="020B0503020204020204" pitchFamily="34" charset="-122"/>
                  <a:ea typeface="微软雅黑" panose="020B0503020204020204" pitchFamily="34" charset="-122"/>
                </a:rPr>
                <a:t>:</a:t>
              </a:r>
              <a:endParaRPr lang="zh-CN" altLang="en-US" spc="150" dirty="0">
                <a:solidFill>
                  <a:srgbClr val="000000"/>
                </a:solidFill>
                <a:latin typeface="微软雅黑" panose="020B0503020204020204" pitchFamily="34" charset="-122"/>
                <a:ea typeface="微软雅黑" panose="020B0503020204020204" pitchFamily="34" charset="-122"/>
              </a:endParaRPr>
            </a:p>
          </p:txBody>
        </p:sp>
        <p:sp>
          <p:nvSpPr>
            <p:cNvPr id="33"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59832" y="1353827"/>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Tree>
    <p:extLst>
      <p:ext uri="{BB962C8B-B14F-4D97-AF65-F5344CB8AC3E}">
        <p14:creationId xmlns:p14="http://schemas.microsoft.com/office/powerpoint/2010/main" val="2807076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wipe(left)">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5"/>
                                        </p:tgtEl>
                                        <p:attrNameLst>
                                          <p:attrName>style.visibility</p:attrName>
                                        </p:attrNameLst>
                                      </p:cBhvr>
                                      <p:to>
                                        <p:strVal val="visible"/>
                                      </p:to>
                                    </p:set>
                                    <p:animEffect transition="in" filter="randombar(horizontal)">
                                      <p:cBhvr>
                                        <p:cTn id="27" dur="500"/>
                                        <p:tgtEl>
                                          <p:spTgt spid="8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6"/>
                                        </p:tgtEl>
                                        <p:attrNameLst>
                                          <p:attrName>style.visibility</p:attrName>
                                        </p:attrNameLst>
                                      </p:cBhvr>
                                      <p:to>
                                        <p:strVal val="visible"/>
                                      </p:to>
                                    </p:set>
                                    <p:animEffect transition="in" filter="wipe(left)">
                                      <p:cBhvr>
                                        <p:cTn id="32" dur="500"/>
                                        <p:tgtEl>
                                          <p:spTgt spid="76"/>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randombar(horizontal)">
                                      <p:cBhvr>
                                        <p:cTn id="37" dur="500"/>
                                        <p:tgtEl>
                                          <p:spTgt spid="4"/>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randombar(horizontal)">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4" grpId="0"/>
      <p:bldP spid="8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C89127F-ADCA-48DE-84CE-48D8E9E0ED8B}"/>
              </a:ext>
            </a:extLst>
          </p:cNvPr>
          <p:cNvSpPr>
            <a:spLocks noChangeArrowheads="1"/>
          </p:cNvSpPr>
          <p:nvPr/>
        </p:nvSpPr>
        <p:spPr bwMode="auto">
          <a:xfrm>
            <a:off x="762000" y="58293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0723" name="Rectangle 4">
            <a:extLst>
              <a:ext uri="{FF2B5EF4-FFF2-40B4-BE49-F238E27FC236}">
                <a16:creationId xmlns:a16="http://schemas.microsoft.com/office/drawing/2014/main" id="{EB4D6996-4F59-4AB9-A6DB-38AA29826F41}"/>
              </a:ext>
            </a:extLst>
          </p:cNvPr>
          <p:cNvSpPr>
            <a:spLocks noGrp="1" noChangeArrowheads="1"/>
          </p:cNvSpPr>
          <p:nvPr>
            <p:ph type="title"/>
          </p:nvPr>
        </p:nvSpPr>
        <p:spPr>
          <a:noFill/>
        </p:spPr>
        <p:txBody>
          <a:bodyPr/>
          <a:lstStyle/>
          <a:p>
            <a:pPr eaLnBrk="1" hangingPunct="1"/>
            <a:r>
              <a:rPr lang="zh-CN" altLang="en-US">
                <a:latin typeface="黑体" panose="02010609060101010101" pitchFamily="49" charset="-122"/>
                <a:ea typeface="宋体" panose="02010600030101010101" pitchFamily="2" charset="-122"/>
              </a:rPr>
              <a:t>竞争性厂商面临的需求曲线</a:t>
            </a:r>
            <a:endParaRPr lang="en-US" altLang="zh-CN">
              <a:latin typeface="黑体" panose="02010609060101010101" pitchFamily="49" charset="-122"/>
              <a:ea typeface="宋体" panose="02010600030101010101" pitchFamily="2" charset="-122"/>
            </a:endParaRPr>
          </a:p>
        </p:txBody>
      </p:sp>
      <p:sp>
        <p:nvSpPr>
          <p:cNvPr id="30724" name="Line 5">
            <a:extLst>
              <a:ext uri="{FF2B5EF4-FFF2-40B4-BE49-F238E27FC236}">
                <a16:creationId xmlns:a16="http://schemas.microsoft.com/office/drawing/2014/main" id="{73CA17E8-6276-469B-BA05-A6B0EA7D9365}"/>
              </a:ext>
            </a:extLst>
          </p:cNvPr>
          <p:cNvSpPr>
            <a:spLocks noChangeShapeType="1"/>
          </p:cNvSpPr>
          <p:nvPr/>
        </p:nvSpPr>
        <p:spPr bwMode="auto">
          <a:xfrm>
            <a:off x="779463" y="1670050"/>
            <a:ext cx="0" cy="39354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5" name="Line 6">
            <a:extLst>
              <a:ext uri="{FF2B5EF4-FFF2-40B4-BE49-F238E27FC236}">
                <a16:creationId xmlns:a16="http://schemas.microsoft.com/office/drawing/2014/main" id="{41B2FF7E-701F-436D-9897-410E15CFADB2}"/>
              </a:ext>
            </a:extLst>
          </p:cNvPr>
          <p:cNvSpPr>
            <a:spLocks noChangeShapeType="1"/>
          </p:cNvSpPr>
          <p:nvPr/>
        </p:nvSpPr>
        <p:spPr bwMode="auto">
          <a:xfrm>
            <a:off x="5046663" y="1670050"/>
            <a:ext cx="0" cy="39354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6" name="Line 7">
            <a:extLst>
              <a:ext uri="{FF2B5EF4-FFF2-40B4-BE49-F238E27FC236}">
                <a16:creationId xmlns:a16="http://schemas.microsoft.com/office/drawing/2014/main" id="{A6B21D01-828E-48C2-BFBB-4ED87A7500DD}"/>
              </a:ext>
            </a:extLst>
          </p:cNvPr>
          <p:cNvSpPr>
            <a:spLocks noChangeShapeType="1"/>
          </p:cNvSpPr>
          <p:nvPr/>
        </p:nvSpPr>
        <p:spPr bwMode="auto">
          <a:xfrm>
            <a:off x="776288" y="5600700"/>
            <a:ext cx="39354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7" name="Line 8">
            <a:extLst>
              <a:ext uri="{FF2B5EF4-FFF2-40B4-BE49-F238E27FC236}">
                <a16:creationId xmlns:a16="http://schemas.microsoft.com/office/drawing/2014/main" id="{06B595FB-5319-4949-86D8-148BE9326886}"/>
              </a:ext>
            </a:extLst>
          </p:cNvPr>
          <p:cNvSpPr>
            <a:spLocks noChangeShapeType="1"/>
          </p:cNvSpPr>
          <p:nvPr/>
        </p:nvSpPr>
        <p:spPr bwMode="auto">
          <a:xfrm>
            <a:off x="5043488" y="5600700"/>
            <a:ext cx="39354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8" name="Rectangle 9">
            <a:extLst>
              <a:ext uri="{FF2B5EF4-FFF2-40B4-BE49-F238E27FC236}">
                <a16:creationId xmlns:a16="http://schemas.microsoft.com/office/drawing/2014/main" id="{A9940316-98EF-4632-A704-606395B0002A}"/>
              </a:ext>
            </a:extLst>
          </p:cNvPr>
          <p:cNvSpPr>
            <a:spLocks noChangeArrowheads="1"/>
          </p:cNvSpPr>
          <p:nvPr/>
        </p:nvSpPr>
        <p:spPr bwMode="auto">
          <a:xfrm>
            <a:off x="3881438" y="5624513"/>
            <a:ext cx="1047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产量</a:t>
            </a:r>
            <a:r>
              <a:rPr lang="en-US" altLang="zh-CN" sz="1400"/>
              <a:t>q</a:t>
            </a:r>
            <a:endParaRPr lang="zh-CN" altLang="en-US" sz="1400"/>
          </a:p>
        </p:txBody>
      </p:sp>
      <p:sp>
        <p:nvSpPr>
          <p:cNvPr id="30729" name="Rectangle 10">
            <a:extLst>
              <a:ext uri="{FF2B5EF4-FFF2-40B4-BE49-F238E27FC236}">
                <a16:creationId xmlns:a16="http://schemas.microsoft.com/office/drawing/2014/main" id="{1AFE0314-0E1A-4F28-ACDF-08E8715B41C2}"/>
              </a:ext>
            </a:extLst>
          </p:cNvPr>
          <p:cNvSpPr>
            <a:spLocks noChangeArrowheads="1"/>
          </p:cNvSpPr>
          <p:nvPr/>
        </p:nvSpPr>
        <p:spPr bwMode="auto">
          <a:xfrm>
            <a:off x="142875" y="1285875"/>
            <a:ext cx="7985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t>  价格</a:t>
            </a:r>
          </a:p>
        </p:txBody>
      </p:sp>
      <p:sp>
        <p:nvSpPr>
          <p:cNvPr id="30730" name="Rectangle 11">
            <a:extLst>
              <a:ext uri="{FF2B5EF4-FFF2-40B4-BE49-F238E27FC236}">
                <a16:creationId xmlns:a16="http://schemas.microsoft.com/office/drawing/2014/main" id="{CC2D395E-168B-4BA4-B6F3-A5619DBA6102}"/>
              </a:ext>
            </a:extLst>
          </p:cNvPr>
          <p:cNvSpPr>
            <a:spLocks noChangeArrowheads="1"/>
          </p:cNvSpPr>
          <p:nvPr/>
        </p:nvSpPr>
        <p:spPr bwMode="auto">
          <a:xfrm>
            <a:off x="4695825" y="1357313"/>
            <a:ext cx="5905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t>价格</a:t>
            </a:r>
          </a:p>
        </p:txBody>
      </p:sp>
      <p:sp>
        <p:nvSpPr>
          <p:cNvPr id="30731" name="Rectangle 12">
            <a:extLst>
              <a:ext uri="{FF2B5EF4-FFF2-40B4-BE49-F238E27FC236}">
                <a16:creationId xmlns:a16="http://schemas.microsoft.com/office/drawing/2014/main" id="{FD792F6F-BCB2-46A8-8542-5D5411C8E883}"/>
              </a:ext>
            </a:extLst>
          </p:cNvPr>
          <p:cNvSpPr>
            <a:spLocks noChangeArrowheads="1"/>
          </p:cNvSpPr>
          <p:nvPr/>
        </p:nvSpPr>
        <p:spPr bwMode="auto">
          <a:xfrm>
            <a:off x="8078788" y="5589588"/>
            <a:ext cx="631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400"/>
              <a:t>产量</a:t>
            </a:r>
            <a:r>
              <a:rPr lang="en-US" altLang="zh-CN" sz="1400"/>
              <a:t>Q</a:t>
            </a:r>
            <a:endParaRPr lang="zh-CN" altLang="en-US" sz="1400"/>
          </a:p>
        </p:txBody>
      </p:sp>
      <p:grpSp>
        <p:nvGrpSpPr>
          <p:cNvPr id="2" name="Group 32">
            <a:extLst>
              <a:ext uri="{FF2B5EF4-FFF2-40B4-BE49-F238E27FC236}">
                <a16:creationId xmlns:a16="http://schemas.microsoft.com/office/drawing/2014/main" id="{C63AF337-8E09-4B17-B747-428C6D00EC7F}"/>
              </a:ext>
            </a:extLst>
          </p:cNvPr>
          <p:cNvGrpSpPr>
            <a:grpSpLocks/>
          </p:cNvGrpSpPr>
          <p:nvPr/>
        </p:nvGrpSpPr>
        <p:grpSpPr bwMode="auto">
          <a:xfrm>
            <a:off x="180975" y="3503613"/>
            <a:ext cx="4113213" cy="396875"/>
            <a:chOff x="114" y="2207"/>
            <a:chExt cx="2591" cy="250"/>
          </a:xfrm>
        </p:grpSpPr>
        <p:sp>
          <p:nvSpPr>
            <p:cNvPr id="30747" name="Line 13">
              <a:extLst>
                <a:ext uri="{FF2B5EF4-FFF2-40B4-BE49-F238E27FC236}">
                  <a16:creationId xmlns:a16="http://schemas.microsoft.com/office/drawing/2014/main" id="{79CBA34C-DFBB-423B-BC7E-7C7D5E25B1BD}"/>
                </a:ext>
              </a:extLst>
            </p:cNvPr>
            <p:cNvSpPr>
              <a:spLocks noChangeShapeType="1"/>
            </p:cNvSpPr>
            <p:nvPr/>
          </p:nvSpPr>
          <p:spPr bwMode="auto">
            <a:xfrm>
              <a:off x="497" y="2376"/>
              <a:ext cx="1935" cy="0"/>
            </a:xfrm>
            <a:prstGeom prst="line">
              <a:avLst/>
            </a:prstGeom>
            <a:noFill/>
            <a:ln w="50800">
              <a:solidFill>
                <a:srgbClr val="7030A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0748" name="Rectangle 14">
              <a:extLst>
                <a:ext uri="{FF2B5EF4-FFF2-40B4-BE49-F238E27FC236}">
                  <a16:creationId xmlns:a16="http://schemas.microsoft.com/office/drawing/2014/main" id="{5BAC344D-1621-448F-AFE7-C9658454A269}"/>
                </a:ext>
              </a:extLst>
            </p:cNvPr>
            <p:cNvSpPr>
              <a:spLocks noChangeArrowheads="1"/>
            </p:cNvSpPr>
            <p:nvPr/>
          </p:nvSpPr>
          <p:spPr bwMode="auto">
            <a:xfrm>
              <a:off x="2493" y="2207"/>
              <a:ext cx="21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d</a:t>
              </a:r>
            </a:p>
          </p:txBody>
        </p:sp>
        <p:sp>
          <p:nvSpPr>
            <p:cNvPr id="30749" name="Rectangle 15">
              <a:extLst>
                <a:ext uri="{FF2B5EF4-FFF2-40B4-BE49-F238E27FC236}">
                  <a16:creationId xmlns:a16="http://schemas.microsoft.com/office/drawing/2014/main" id="{D4425FC2-01A8-4C49-8221-44E77AB1F084}"/>
                </a:ext>
              </a:extLst>
            </p:cNvPr>
            <p:cNvSpPr>
              <a:spLocks noChangeArrowheads="1"/>
            </p:cNvSpPr>
            <p:nvPr/>
          </p:nvSpPr>
          <p:spPr bwMode="auto">
            <a:xfrm>
              <a:off x="114" y="2207"/>
              <a:ext cx="3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 ￥4</a:t>
              </a:r>
            </a:p>
          </p:txBody>
        </p:sp>
      </p:grpSp>
      <p:sp>
        <p:nvSpPr>
          <p:cNvPr id="30733" name="Rectangle 18">
            <a:extLst>
              <a:ext uri="{FF2B5EF4-FFF2-40B4-BE49-F238E27FC236}">
                <a16:creationId xmlns:a16="http://schemas.microsoft.com/office/drawing/2014/main" id="{932AC0F8-F146-488C-A089-85B161F4048A}"/>
              </a:ext>
            </a:extLst>
          </p:cNvPr>
          <p:cNvSpPr>
            <a:spLocks noChangeArrowheads="1"/>
          </p:cNvSpPr>
          <p:nvPr/>
        </p:nvSpPr>
        <p:spPr bwMode="auto">
          <a:xfrm>
            <a:off x="1579563" y="5637213"/>
            <a:ext cx="6048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100</a:t>
            </a:r>
          </a:p>
        </p:txBody>
      </p:sp>
      <p:sp>
        <p:nvSpPr>
          <p:cNvPr id="30734" name="Rectangle 19">
            <a:extLst>
              <a:ext uri="{FF2B5EF4-FFF2-40B4-BE49-F238E27FC236}">
                <a16:creationId xmlns:a16="http://schemas.microsoft.com/office/drawing/2014/main" id="{21AE1E4C-4135-4695-8F36-0DE8F9C34805}"/>
              </a:ext>
            </a:extLst>
          </p:cNvPr>
          <p:cNvSpPr>
            <a:spLocks noChangeArrowheads="1"/>
          </p:cNvSpPr>
          <p:nvPr/>
        </p:nvSpPr>
        <p:spPr bwMode="auto">
          <a:xfrm>
            <a:off x="2890838" y="5637213"/>
            <a:ext cx="6048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200</a:t>
            </a:r>
          </a:p>
        </p:txBody>
      </p:sp>
      <p:sp>
        <p:nvSpPr>
          <p:cNvPr id="30735" name="Rectangle 20">
            <a:extLst>
              <a:ext uri="{FF2B5EF4-FFF2-40B4-BE49-F238E27FC236}">
                <a16:creationId xmlns:a16="http://schemas.microsoft.com/office/drawing/2014/main" id="{DD462ADF-6EF4-454A-8156-F31F96A90A01}"/>
              </a:ext>
            </a:extLst>
          </p:cNvPr>
          <p:cNvSpPr>
            <a:spLocks noChangeArrowheads="1"/>
          </p:cNvSpPr>
          <p:nvPr/>
        </p:nvSpPr>
        <p:spPr bwMode="auto">
          <a:xfrm>
            <a:off x="6243638" y="5637213"/>
            <a:ext cx="60483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100</a:t>
            </a:r>
          </a:p>
        </p:txBody>
      </p:sp>
      <p:sp>
        <p:nvSpPr>
          <p:cNvPr id="30736" name="Rectangle 21">
            <a:extLst>
              <a:ext uri="{FF2B5EF4-FFF2-40B4-BE49-F238E27FC236}">
                <a16:creationId xmlns:a16="http://schemas.microsoft.com/office/drawing/2014/main" id="{9CDEF628-34D6-4A01-86E0-6CCE631EC64A}"/>
              </a:ext>
            </a:extLst>
          </p:cNvPr>
          <p:cNvSpPr>
            <a:spLocks noChangeArrowheads="1"/>
          </p:cNvSpPr>
          <p:nvPr/>
        </p:nvSpPr>
        <p:spPr bwMode="auto">
          <a:xfrm>
            <a:off x="2571750" y="2071688"/>
            <a:ext cx="698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b="1">
                <a:solidFill>
                  <a:srgbClr val="7030A0"/>
                </a:solidFill>
                <a:latin typeface="Times New Roman" panose="02020603050405020304" pitchFamily="18" charset="0"/>
                <a:ea typeface="宋体" panose="02010600030101010101" pitchFamily="2" charset="-122"/>
              </a:rPr>
              <a:t>厂商</a:t>
            </a:r>
          </a:p>
        </p:txBody>
      </p:sp>
      <p:sp>
        <p:nvSpPr>
          <p:cNvPr id="30737" name="Rectangle 22">
            <a:extLst>
              <a:ext uri="{FF2B5EF4-FFF2-40B4-BE49-F238E27FC236}">
                <a16:creationId xmlns:a16="http://schemas.microsoft.com/office/drawing/2014/main" id="{CD54276B-413D-4A19-8595-580F31CF7750}"/>
              </a:ext>
            </a:extLst>
          </p:cNvPr>
          <p:cNvSpPr>
            <a:spLocks noChangeArrowheads="1"/>
          </p:cNvSpPr>
          <p:nvPr/>
        </p:nvSpPr>
        <p:spPr bwMode="auto">
          <a:xfrm>
            <a:off x="6624638" y="1751013"/>
            <a:ext cx="101917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3200" b="1" dirty="0">
                <a:solidFill>
                  <a:srgbClr val="FF3300"/>
                </a:solidFill>
                <a:latin typeface="Times New Roman" panose="02020603050405020304" pitchFamily="18" charset="0"/>
                <a:ea typeface="宋体" panose="02010600030101010101" pitchFamily="2" charset="-122"/>
              </a:rPr>
              <a:t>行业</a:t>
            </a:r>
          </a:p>
        </p:txBody>
      </p:sp>
      <p:grpSp>
        <p:nvGrpSpPr>
          <p:cNvPr id="3" name="Group 33">
            <a:extLst>
              <a:ext uri="{FF2B5EF4-FFF2-40B4-BE49-F238E27FC236}">
                <a16:creationId xmlns:a16="http://schemas.microsoft.com/office/drawing/2014/main" id="{6F094DD7-57EB-494D-8934-5234F78DBD1A}"/>
              </a:ext>
            </a:extLst>
          </p:cNvPr>
          <p:cNvGrpSpPr>
            <a:grpSpLocks/>
          </p:cNvGrpSpPr>
          <p:nvPr/>
        </p:nvGrpSpPr>
        <p:grpSpPr bwMode="auto">
          <a:xfrm>
            <a:off x="4514850" y="1970088"/>
            <a:ext cx="4151313" cy="3617912"/>
            <a:chOff x="2844" y="1241"/>
            <a:chExt cx="2615" cy="2279"/>
          </a:xfrm>
        </p:grpSpPr>
        <p:sp>
          <p:nvSpPr>
            <p:cNvPr id="30741" name="Line 16">
              <a:extLst>
                <a:ext uri="{FF2B5EF4-FFF2-40B4-BE49-F238E27FC236}">
                  <a16:creationId xmlns:a16="http://schemas.microsoft.com/office/drawing/2014/main" id="{CB4371C7-4C5C-4DB4-9C1C-8680028C137C}"/>
                </a:ext>
              </a:extLst>
            </p:cNvPr>
            <p:cNvSpPr>
              <a:spLocks noChangeShapeType="1"/>
            </p:cNvSpPr>
            <p:nvPr/>
          </p:nvSpPr>
          <p:spPr bwMode="auto">
            <a:xfrm>
              <a:off x="3377" y="1241"/>
              <a:ext cx="1839" cy="1839"/>
            </a:xfrm>
            <a:prstGeom prst="line">
              <a:avLst/>
            </a:prstGeom>
            <a:noFill/>
            <a:ln w="5080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2" name="Rectangle 17">
              <a:extLst>
                <a:ext uri="{FF2B5EF4-FFF2-40B4-BE49-F238E27FC236}">
                  <a16:creationId xmlns:a16="http://schemas.microsoft.com/office/drawing/2014/main" id="{71C90428-2198-4D85-BE97-E4C36FC1C720}"/>
                </a:ext>
              </a:extLst>
            </p:cNvPr>
            <p:cNvSpPr>
              <a:spLocks noChangeArrowheads="1"/>
            </p:cNvSpPr>
            <p:nvPr/>
          </p:nvSpPr>
          <p:spPr bwMode="auto">
            <a:xfrm>
              <a:off x="5229" y="3045"/>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D</a:t>
              </a:r>
            </a:p>
          </p:txBody>
        </p:sp>
        <p:sp>
          <p:nvSpPr>
            <p:cNvPr id="30743" name="Rectangle 23">
              <a:extLst>
                <a:ext uri="{FF2B5EF4-FFF2-40B4-BE49-F238E27FC236}">
                  <a16:creationId xmlns:a16="http://schemas.microsoft.com/office/drawing/2014/main" id="{45E1BAB7-C64C-4B09-9F44-81DB4B8C7B80}"/>
                </a:ext>
              </a:extLst>
            </p:cNvPr>
            <p:cNvSpPr>
              <a:spLocks noChangeArrowheads="1"/>
            </p:cNvSpPr>
            <p:nvPr/>
          </p:nvSpPr>
          <p:spPr bwMode="auto">
            <a:xfrm>
              <a:off x="2844" y="2207"/>
              <a:ext cx="3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￥4</a:t>
              </a:r>
            </a:p>
          </p:txBody>
        </p:sp>
        <p:sp>
          <p:nvSpPr>
            <p:cNvPr id="30744" name="Line 24">
              <a:extLst>
                <a:ext uri="{FF2B5EF4-FFF2-40B4-BE49-F238E27FC236}">
                  <a16:creationId xmlns:a16="http://schemas.microsoft.com/office/drawing/2014/main" id="{43F312CC-C822-48F1-8435-0C320864196E}"/>
                </a:ext>
              </a:extLst>
            </p:cNvPr>
            <p:cNvSpPr>
              <a:spLocks noChangeShapeType="1"/>
            </p:cNvSpPr>
            <p:nvPr/>
          </p:nvSpPr>
          <p:spPr bwMode="auto">
            <a:xfrm>
              <a:off x="3177" y="2328"/>
              <a:ext cx="1279"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5" name="Line 25">
              <a:extLst>
                <a:ext uri="{FF2B5EF4-FFF2-40B4-BE49-F238E27FC236}">
                  <a16:creationId xmlns:a16="http://schemas.microsoft.com/office/drawing/2014/main" id="{CDD41D31-5323-48C1-97DA-5591566F8468}"/>
                </a:ext>
              </a:extLst>
            </p:cNvPr>
            <p:cNvSpPr>
              <a:spLocks noChangeShapeType="1"/>
            </p:cNvSpPr>
            <p:nvPr/>
          </p:nvSpPr>
          <p:spPr bwMode="auto">
            <a:xfrm>
              <a:off x="4464" y="2337"/>
              <a:ext cx="0" cy="118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6" name="Oval 31">
              <a:extLst>
                <a:ext uri="{FF2B5EF4-FFF2-40B4-BE49-F238E27FC236}">
                  <a16:creationId xmlns:a16="http://schemas.microsoft.com/office/drawing/2014/main" id="{F55F3950-287D-47CF-94DB-7D2A32C395D9}"/>
                </a:ext>
              </a:extLst>
            </p:cNvPr>
            <p:cNvSpPr>
              <a:spLocks noChangeArrowheads="1"/>
            </p:cNvSpPr>
            <p:nvPr/>
          </p:nvSpPr>
          <p:spPr bwMode="auto">
            <a:xfrm>
              <a:off x="4423" y="2278"/>
              <a:ext cx="100" cy="100"/>
            </a:xfrm>
            <a:prstGeom prst="ellipse">
              <a:avLst/>
            </a:prstGeom>
            <a:solidFill>
              <a:schemeClr val="tx1"/>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grpSp>
      <p:cxnSp>
        <p:nvCxnSpPr>
          <p:cNvPr id="30" name="直接连接符 29">
            <a:extLst>
              <a:ext uri="{FF2B5EF4-FFF2-40B4-BE49-F238E27FC236}">
                <a16:creationId xmlns:a16="http://schemas.microsoft.com/office/drawing/2014/main" id="{2D24B09E-0D00-4F7E-AA69-68039AAEB6E4}"/>
              </a:ext>
            </a:extLst>
          </p:cNvPr>
          <p:cNvCxnSpPr/>
          <p:nvPr/>
        </p:nvCxnSpPr>
        <p:spPr>
          <a:xfrm flipV="1">
            <a:off x="5572125" y="2500313"/>
            <a:ext cx="3071813" cy="2357437"/>
          </a:xfrm>
          <a:prstGeom prst="line">
            <a:avLst/>
          </a:prstGeom>
          <a:ln w="50800">
            <a:solidFill>
              <a:srgbClr val="0033CC"/>
            </a:solidFill>
          </a:ln>
        </p:spPr>
        <p:style>
          <a:lnRef idx="2">
            <a:schemeClr val="accent2"/>
          </a:lnRef>
          <a:fillRef idx="0">
            <a:schemeClr val="accent2"/>
          </a:fillRef>
          <a:effectRef idx="1">
            <a:schemeClr val="accent2"/>
          </a:effectRef>
          <a:fontRef idx="minor">
            <a:schemeClr val="tx1"/>
          </a:fontRef>
        </p:style>
      </p:cxnSp>
      <p:sp>
        <p:nvSpPr>
          <p:cNvPr id="30740" name="TextBox 30">
            <a:extLst>
              <a:ext uri="{FF2B5EF4-FFF2-40B4-BE49-F238E27FC236}">
                <a16:creationId xmlns:a16="http://schemas.microsoft.com/office/drawing/2014/main" id="{CC1DE61E-958F-413E-A873-F0050BB5E3B9}"/>
              </a:ext>
            </a:extLst>
          </p:cNvPr>
          <p:cNvSpPr txBox="1">
            <a:spLocks noChangeArrowheads="1"/>
          </p:cNvSpPr>
          <p:nvPr/>
        </p:nvSpPr>
        <p:spPr bwMode="auto">
          <a:xfrm>
            <a:off x="3214688" y="4000500"/>
            <a:ext cx="1500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a:t>P=AR=MR</a:t>
            </a:r>
            <a:endParaRPr lang="zh-CN" altLang="en-US" sz="180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KSO_Shape">
            <a:extLst>
              <a:ext uri="{FF2B5EF4-FFF2-40B4-BE49-F238E27FC236}">
                <a16:creationId xmlns:a16="http://schemas.microsoft.com/office/drawing/2014/main" id="{F91E9D36-B1A1-4122-9C43-B7EE72F70046}"/>
              </a:ext>
            </a:extLst>
          </p:cNvPr>
          <p:cNvSpPr/>
          <p:nvPr/>
        </p:nvSpPr>
        <p:spPr>
          <a:xfrm>
            <a:off x="899745" y="1556870"/>
            <a:ext cx="2687217" cy="503853"/>
          </a:xfrm>
          <a:prstGeom prst="roundRect">
            <a:avLst>
              <a:gd name="adj" fmla="val 50000"/>
            </a:avLst>
          </a:prstGeom>
          <a:solidFill>
            <a:srgbClr val="BB152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zh-CN" altLang="en-US" spc="150" dirty="0">
                <a:solidFill>
                  <a:schemeClr val="bg1"/>
                </a:solidFill>
                <a:latin typeface="微软雅黑" panose="020B0503020204020204" pitchFamily="34" charset="-122"/>
                <a:ea typeface="微软雅黑" panose="020B0503020204020204" pitchFamily="34" charset="-122"/>
              </a:rPr>
              <a:t>收益</a:t>
            </a: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2F1D2E82-C64A-4D3B-869E-F531575B6DA6}"/>
                  </a:ext>
                </a:extLst>
              </p:cNvPr>
              <p:cNvGraphicFramePr>
                <a:graphicFrameLocks noGrp="1"/>
              </p:cNvGraphicFramePr>
              <p:nvPr>
                <p:extLst>
                  <p:ext uri="{D42A27DB-BD31-4B8C-83A1-F6EECF244321}">
                    <p14:modId xmlns:p14="http://schemas.microsoft.com/office/powerpoint/2010/main" val="2832311681"/>
                  </p:ext>
                </p:extLst>
              </p:nvPr>
            </p:nvGraphicFramePr>
            <p:xfrm>
              <a:off x="755735" y="2564940"/>
              <a:ext cx="8239235" cy="2768091"/>
            </p:xfrm>
            <a:graphic>
              <a:graphicData uri="http://schemas.openxmlformats.org/drawingml/2006/table">
                <a:tbl>
                  <a:tblPr firstRow="1" lastRow="1" bandRow="1">
                    <a:tableStyleId>{5940675A-B579-460E-94D1-54222C63F5DA}</a:tableStyleId>
                  </a:tblPr>
                  <a:tblGrid>
                    <a:gridCol w="2746411">
                      <a:extLst>
                        <a:ext uri="{9D8B030D-6E8A-4147-A177-3AD203B41FA5}">
                          <a16:colId xmlns:a16="http://schemas.microsoft.com/office/drawing/2014/main" val="3760116452"/>
                        </a:ext>
                      </a:extLst>
                    </a:gridCol>
                    <a:gridCol w="5492824">
                      <a:extLst>
                        <a:ext uri="{9D8B030D-6E8A-4147-A177-3AD203B41FA5}">
                          <a16:colId xmlns:a16="http://schemas.microsoft.com/office/drawing/2014/main" val="3423923078"/>
                        </a:ext>
                      </a:extLst>
                    </a:gridCol>
                  </a:tblGrid>
                  <a:tr h="922697">
                    <a:tc>
                      <a:txBody>
                        <a:bodyPr/>
                        <a:lstStyle/>
                        <a:p>
                          <a:pPr algn="ctr"/>
                          <a:r>
                            <a:rPr lang="zh-CN" altLang="en-US" sz="1800" kern="1200" spc="150" dirty="0">
                              <a:latin typeface="微软雅黑" panose="020B0503020204020204" pitchFamily="34" charset="-122"/>
                              <a:ea typeface="微软雅黑" panose="020B0503020204020204" pitchFamily="34" charset="-122"/>
                            </a:rPr>
                            <a:t>收益函数</a:t>
                          </a:r>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en-US" altLang="zh-CN" sz="1800" b="0" i="1" dirty="0" smtClean="0">
                                    <a:latin typeface="Cambria Math" panose="02040503050406030204" pitchFamily="18" charset="0"/>
                                  </a:rPr>
                                  <m:t>𝑇</m:t>
                                </m:r>
                                <m:r>
                                  <a:rPr lang="en-US" altLang="zh-CN" sz="1800" dirty="0" smtClean="0">
                                    <a:latin typeface="Cambria Math" panose="02040503050406030204" pitchFamily="18" charset="0"/>
                                  </a:rPr>
                                  <m:t>𝑅</m:t>
                                </m:r>
                                <m:r>
                                  <a:rPr lang="en-US" altLang="zh-CN" sz="1800" dirty="0" smtClean="0">
                                    <a:latin typeface="Cambria Math" panose="02040503050406030204" pitchFamily="18" charset="0"/>
                                  </a:rPr>
                                  <m:t>=</m:t>
                                </m:r>
                                <m:r>
                                  <a:rPr lang="en-US" altLang="zh-CN" sz="1800" dirty="0" smtClean="0">
                                    <a:latin typeface="Cambria Math" panose="02040503050406030204" pitchFamily="18" charset="0"/>
                                  </a:rPr>
                                  <m:t>𝑃𝑄</m:t>
                                </m:r>
                                <m:r>
                                  <a:rPr lang="en-US" altLang="zh-CN" sz="1800" dirty="0" smtClean="0">
                                    <a:latin typeface="Cambria Math" panose="02040503050406030204" pitchFamily="18" charset="0"/>
                                  </a:rPr>
                                  <m:t>=</m:t>
                                </m:r>
                                <m:sSub>
                                  <m:sSubPr>
                                    <m:ctrlPr>
                                      <a:rPr lang="pt-BR" altLang="zh-CN" sz="1800" i="1" strike="noStrike" smtClean="0">
                                        <a:latin typeface="Cambria Math" panose="02040503050406030204" pitchFamily="18" charset="0"/>
                                      </a:rPr>
                                    </m:ctrlPr>
                                  </m:sSubPr>
                                  <m:e>
                                    <m:r>
                                      <a:rPr lang="en-US" altLang="zh-CN" sz="1800" strike="noStrike" smtClean="0">
                                        <a:latin typeface="Cambria Math" panose="02040503050406030204" pitchFamily="18" charset="0"/>
                                      </a:rPr>
                                      <m:t>𝑃</m:t>
                                    </m:r>
                                  </m:e>
                                  <m:sub>
                                    <m:r>
                                      <a:rPr lang="pt-BR" altLang="zh-CN" sz="1800" strike="noStrike" smtClean="0">
                                        <a:latin typeface="Cambria Math" panose="02040503050406030204" pitchFamily="18" charset="0"/>
                                      </a:rPr>
                                      <m:t>0</m:t>
                                    </m:r>
                                  </m:sub>
                                </m:sSub>
                                <m:r>
                                  <m:rPr>
                                    <m:sty m:val="p"/>
                                  </m:rPr>
                                  <a:rPr lang="en-US" altLang="zh-CN" sz="1800" strike="noStrike" smtClean="0">
                                    <a:latin typeface="Cambria Math" panose="02040503050406030204" pitchFamily="18" charset="0"/>
                                  </a:rPr>
                                  <m:t>Q</m:t>
                                </m:r>
                              </m:oMath>
                            </m:oMathPara>
                          </a14:m>
                          <a:endParaRPr lang="zh-CN" altLang="en-US" sz="1800" strike="noStrike" dirty="0"/>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559779"/>
                      </a:ext>
                    </a:extLst>
                  </a:tr>
                  <a:tr h="922697">
                    <a:tc>
                      <a:txBody>
                        <a:bodyPr/>
                        <a:lstStyle/>
                        <a:p>
                          <a:pPr algn="ctr"/>
                          <a:r>
                            <a:rPr lang="zh-CN" altLang="en-US" sz="1800" kern="1200" spc="150" dirty="0">
                              <a:latin typeface="微软雅黑" panose="020B0503020204020204" pitchFamily="34" charset="-122"/>
                              <a:ea typeface="微软雅黑" panose="020B0503020204020204" pitchFamily="34" charset="-122"/>
                            </a:rPr>
                            <a:t>平均收益函数</a:t>
                          </a:r>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en-US" altLang="zh-CN" sz="1800" kern="1200" smtClean="0">
                                    <a:latin typeface="Cambria Math" panose="02040503050406030204" pitchFamily="18" charset="0"/>
                                  </a:rPr>
                                  <m:t>   </m:t>
                                </m:r>
                                <m:r>
                                  <a:rPr lang="en-US" altLang="zh-CN" sz="1800" kern="1200" smtClean="0">
                                    <a:latin typeface="Cambria Math" panose="02040503050406030204" pitchFamily="18" charset="0"/>
                                  </a:rPr>
                                  <m:t>𝐴𝑅</m:t>
                                </m:r>
                                <m:r>
                                  <a:rPr lang="en-US" altLang="zh-CN" sz="1800" kern="1200" smtClean="0">
                                    <a:latin typeface="Cambria Math" panose="02040503050406030204" pitchFamily="18" charset="0"/>
                                  </a:rPr>
                                  <m:t>=</m:t>
                                </m:r>
                                <m:f>
                                  <m:fPr>
                                    <m:ctrlPr>
                                      <a:rPr lang="en-US" altLang="zh-CN" sz="1800" i="1" kern="1200" smtClean="0">
                                        <a:latin typeface="Cambria Math" panose="02040503050406030204" pitchFamily="18" charset="0"/>
                                      </a:rPr>
                                    </m:ctrlPr>
                                  </m:fPr>
                                  <m:num>
                                    <m:r>
                                      <a:rPr lang="en-US" altLang="zh-CN" sz="1800" b="0" i="1" kern="1200" smtClean="0">
                                        <a:latin typeface="Cambria Math" panose="02040503050406030204" pitchFamily="18" charset="0"/>
                                      </a:rPr>
                                      <m:t>𝑇</m:t>
                                    </m:r>
                                    <m:r>
                                      <a:rPr lang="en-US" altLang="zh-CN" sz="1800" kern="1200" smtClean="0">
                                        <a:latin typeface="Cambria Math" panose="02040503050406030204" pitchFamily="18" charset="0"/>
                                      </a:rPr>
                                      <m:t>𝑅</m:t>
                                    </m:r>
                                  </m:num>
                                  <m:den>
                                    <m:r>
                                      <a:rPr lang="en-US" altLang="zh-CN" sz="1800" kern="1200" smtClean="0">
                                        <a:latin typeface="Cambria Math" panose="02040503050406030204" pitchFamily="18" charset="0"/>
                                      </a:rPr>
                                      <m:t>𝑄</m:t>
                                    </m:r>
                                  </m:den>
                                </m:f>
                                <m:r>
                                  <a:rPr lang="en-US" altLang="zh-CN" sz="1800" kern="1200" smtClean="0">
                                    <a:latin typeface="Cambria Math" panose="02040503050406030204" pitchFamily="18" charset="0"/>
                                  </a:rPr>
                                  <m:t>=</m:t>
                                </m:r>
                                <m:f>
                                  <m:fPr>
                                    <m:ctrlPr>
                                      <a:rPr lang="en-US" altLang="zh-CN" sz="1800" i="1" kern="1200" smtClean="0">
                                        <a:latin typeface="Cambria Math" panose="02040503050406030204" pitchFamily="18" charset="0"/>
                                      </a:rPr>
                                    </m:ctrlPr>
                                  </m:fPr>
                                  <m:num>
                                    <m:sSub>
                                      <m:sSubPr>
                                        <m:ctrlPr>
                                          <a:rPr lang="pt-BR" altLang="zh-CN" sz="1800" i="1" strike="noStrike" smtClean="0">
                                            <a:latin typeface="Cambria Math" panose="02040503050406030204" pitchFamily="18" charset="0"/>
                                          </a:rPr>
                                        </m:ctrlPr>
                                      </m:sSubPr>
                                      <m:e>
                                        <m:r>
                                          <a:rPr lang="en-US" altLang="zh-CN" sz="1800" strike="noStrike" smtClean="0">
                                            <a:latin typeface="Cambria Math" panose="02040503050406030204" pitchFamily="18" charset="0"/>
                                          </a:rPr>
                                          <m:t>𝑃</m:t>
                                        </m:r>
                                      </m:e>
                                      <m:sub>
                                        <m:r>
                                          <a:rPr lang="pt-BR" altLang="zh-CN" sz="1800" strike="noStrike" smtClean="0">
                                            <a:latin typeface="Cambria Math" panose="02040503050406030204" pitchFamily="18" charset="0"/>
                                          </a:rPr>
                                          <m:t>0</m:t>
                                        </m:r>
                                      </m:sub>
                                    </m:sSub>
                                    <m:r>
                                      <a:rPr lang="en-US" altLang="zh-CN" sz="1800" strike="noStrike" smtClean="0">
                                        <a:latin typeface="Cambria Math" panose="02040503050406030204" pitchFamily="18" charset="0"/>
                                      </a:rPr>
                                      <m:t>𝑄</m:t>
                                    </m:r>
                                  </m:num>
                                  <m:den>
                                    <m:r>
                                      <a:rPr lang="en-US" altLang="zh-CN" sz="1800" kern="1200" smtClean="0">
                                        <a:latin typeface="Cambria Math" panose="02040503050406030204" pitchFamily="18" charset="0"/>
                                      </a:rPr>
                                      <m:t>𝑄</m:t>
                                    </m:r>
                                  </m:den>
                                </m:f>
                                <m:r>
                                  <a:rPr lang="en-US" altLang="zh-CN" sz="1800" kern="1200" smtClean="0">
                                    <a:latin typeface="Cambria Math" panose="02040503050406030204" pitchFamily="18" charset="0"/>
                                  </a:rPr>
                                  <m:t>=</m:t>
                                </m:r>
                                <m:sSub>
                                  <m:sSubPr>
                                    <m:ctrlPr>
                                      <a:rPr lang="pt-BR" altLang="zh-CN" sz="1800" i="1" strike="noStrike" smtClean="0">
                                        <a:latin typeface="Cambria Math" panose="02040503050406030204" pitchFamily="18" charset="0"/>
                                      </a:rPr>
                                    </m:ctrlPr>
                                  </m:sSubPr>
                                  <m:e>
                                    <m:r>
                                      <a:rPr lang="en-US" altLang="zh-CN" sz="1800" strike="noStrike" smtClean="0">
                                        <a:latin typeface="Cambria Math" panose="02040503050406030204" pitchFamily="18" charset="0"/>
                                      </a:rPr>
                                      <m:t>𝑃</m:t>
                                    </m:r>
                                  </m:e>
                                  <m:sub>
                                    <m:r>
                                      <a:rPr lang="pt-BR" altLang="zh-CN" sz="1800" strike="noStrike" smtClean="0">
                                        <a:latin typeface="Cambria Math" panose="02040503050406030204" pitchFamily="18" charset="0"/>
                                      </a:rPr>
                                      <m:t>0</m:t>
                                    </m:r>
                                  </m:sub>
                                </m:sSub>
                              </m:oMath>
                            </m:oMathPara>
                          </a14:m>
                          <a:endParaRPr lang="zh-CN" altLang="en-US" sz="2400" b="0" i="0" kern="1200" dirty="0">
                            <a:solidFill>
                              <a:schemeClr val="tx1"/>
                            </a:solidFill>
                            <a:latin typeface="Cambria Math" panose="02040503050406030204" pitchFamily="18" charset="0"/>
                            <a:ea typeface="+mn-ea"/>
                            <a:cs typeface="+mn-cs"/>
                          </a:endParaRPr>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0459254"/>
                      </a:ext>
                    </a:extLst>
                  </a:tr>
                  <a:tr h="922697">
                    <a:tc>
                      <a:txBody>
                        <a:bodyPr/>
                        <a:lstStyle/>
                        <a:p>
                          <a:pPr algn="ctr"/>
                          <a:r>
                            <a:rPr lang="zh-CN" altLang="en-US" sz="1800" kern="1200" spc="150" dirty="0">
                              <a:latin typeface="微软雅黑" panose="020B0503020204020204" pitchFamily="34" charset="-122"/>
                              <a:ea typeface="微软雅黑" panose="020B0503020204020204" pitchFamily="34" charset="-122"/>
                            </a:rPr>
                            <a:t>边际收益函数</a:t>
                          </a:r>
                        </a:p>
                        <a:p>
                          <a:pPr algn="ctr"/>
                          <a:endParaRPr lang="zh-CN" altLang="en-US" sz="1800" kern="1200" spc="150" dirty="0"/>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r>
                                  <a:rPr lang="en-US" altLang="zh-CN" sz="1800" b="0" i="1" kern="1200" dirty="0" smtClean="0">
                                    <a:solidFill>
                                      <a:schemeClr val="tx1"/>
                                    </a:solidFill>
                                    <a:latin typeface="Cambria Math" panose="02040503050406030204" pitchFamily="18" charset="0"/>
                                    <a:ea typeface="+mn-ea"/>
                                    <a:cs typeface="+mn-cs"/>
                                  </a:rPr>
                                  <m:t>𝑀𝑅</m:t>
                                </m:r>
                                <m:r>
                                  <a:rPr lang="en-US" altLang="zh-CN" sz="1800" b="0" i="1" kern="1200" dirty="0" smtClean="0">
                                    <a:solidFill>
                                      <a:schemeClr val="tx1"/>
                                    </a:solidFill>
                                    <a:latin typeface="Cambria Math" panose="02040503050406030204" pitchFamily="18" charset="0"/>
                                    <a:ea typeface="+mn-ea"/>
                                    <a:cs typeface="+mn-cs"/>
                                  </a:rPr>
                                  <m:t>=</m:t>
                                </m:r>
                                <m:f>
                                  <m:fPr>
                                    <m:ctrlPr>
                                      <a:rPr lang="en-US" altLang="zh-CN" sz="1800" i="1" kern="1200" smtClean="0">
                                        <a:latin typeface="Cambria Math" panose="02040503050406030204" pitchFamily="18" charset="0"/>
                                      </a:rPr>
                                    </m:ctrlPr>
                                  </m:fPr>
                                  <m:num>
                                    <m:r>
                                      <a:rPr lang="en-US" altLang="zh-CN" sz="1800" b="0" i="1" kern="1200" smtClean="0">
                                        <a:latin typeface="Cambria Math" panose="02040503050406030204" pitchFamily="18" charset="0"/>
                                      </a:rPr>
                                      <m:t>𝑑𝑇𝑅</m:t>
                                    </m:r>
                                  </m:num>
                                  <m:den>
                                    <m:r>
                                      <m:rPr>
                                        <m:sty m:val="p"/>
                                      </m:rPr>
                                      <a:rPr lang="en-US" altLang="zh-CN" sz="1800" i="1" kern="1200" smtClean="0">
                                        <a:latin typeface="Cambria Math" panose="02040503050406030204" pitchFamily="18" charset="0"/>
                                      </a:rPr>
                                      <m:t>d</m:t>
                                    </m:r>
                                    <m:r>
                                      <a:rPr lang="en-US" altLang="zh-CN" sz="1800" kern="1200" smtClean="0">
                                        <a:latin typeface="Cambria Math" panose="02040503050406030204" pitchFamily="18" charset="0"/>
                                      </a:rPr>
                                      <m:t>𝑄</m:t>
                                    </m:r>
                                  </m:den>
                                </m:f>
                                <m:r>
                                  <a:rPr lang="en-US" altLang="zh-CN" sz="1800" b="0" i="1" kern="1200" smtClean="0">
                                    <a:latin typeface="Cambria Math" panose="02040503050406030204" pitchFamily="18" charset="0"/>
                                  </a:rPr>
                                  <m:t>=</m:t>
                                </m:r>
                                <m:sSup>
                                  <m:sSupPr>
                                    <m:ctrlPr>
                                      <a:rPr lang="en-US" altLang="zh-CN" sz="1800" b="0" i="1" strike="noStrike" kern="1200" smtClean="0">
                                        <a:latin typeface="Cambria Math" panose="02040503050406030204" pitchFamily="18" charset="0"/>
                                      </a:rPr>
                                    </m:ctrlPr>
                                  </m:sSupPr>
                                  <m:e>
                                    <m:d>
                                      <m:dPr>
                                        <m:ctrlPr>
                                          <a:rPr lang="en-US" altLang="zh-CN" sz="1800" b="0" i="1" strike="noStrike" kern="1200" smtClean="0">
                                            <a:latin typeface="Cambria Math" panose="02040503050406030204" pitchFamily="18" charset="0"/>
                                          </a:rPr>
                                        </m:ctrlPr>
                                      </m:dPr>
                                      <m:e>
                                        <m:sSub>
                                          <m:sSubPr>
                                            <m:ctrlPr>
                                              <a:rPr lang="pt-BR" altLang="zh-CN" sz="1800" i="1" strike="noStrike" smtClean="0">
                                                <a:latin typeface="Cambria Math" panose="02040503050406030204" pitchFamily="18" charset="0"/>
                                              </a:rPr>
                                            </m:ctrlPr>
                                          </m:sSubPr>
                                          <m:e>
                                            <m:r>
                                              <a:rPr lang="en-US" altLang="zh-CN" sz="1800" strike="noStrike" smtClean="0">
                                                <a:latin typeface="Cambria Math" panose="02040503050406030204" pitchFamily="18" charset="0"/>
                                              </a:rPr>
                                              <m:t>𝑃</m:t>
                                            </m:r>
                                          </m:e>
                                          <m:sub>
                                            <m:r>
                                              <a:rPr lang="pt-BR" altLang="zh-CN" sz="1800" strike="noStrike" smtClean="0">
                                                <a:latin typeface="Cambria Math" panose="02040503050406030204" pitchFamily="18" charset="0"/>
                                              </a:rPr>
                                              <m:t>0</m:t>
                                            </m:r>
                                          </m:sub>
                                        </m:sSub>
                                        <m:r>
                                          <a:rPr lang="en-US" altLang="zh-CN" sz="1800" b="0" i="1" strike="noStrike" smtClean="0">
                                            <a:latin typeface="Cambria Math" panose="02040503050406030204" pitchFamily="18" charset="0"/>
                                          </a:rPr>
                                          <m:t>𝑄</m:t>
                                        </m:r>
                                      </m:e>
                                    </m:d>
                                  </m:e>
                                  <m:sup>
                                    <m:r>
                                      <a:rPr lang="en-US" altLang="zh-CN" sz="1800" b="0" i="0" strike="noStrike" kern="1200" smtClean="0">
                                        <a:latin typeface="Cambria Math" panose="02040503050406030204" pitchFamily="18" charset="0"/>
                                      </a:rPr>
                                      <m:t>′</m:t>
                                    </m:r>
                                  </m:sup>
                                </m:sSup>
                                <m:r>
                                  <a:rPr lang="en-US" altLang="zh-CN" sz="1800" b="0" i="0" kern="1200" smtClean="0">
                                    <a:latin typeface="Cambria Math" panose="02040503050406030204" pitchFamily="18" charset="0"/>
                                  </a:rPr>
                                  <m:t>=</m:t>
                                </m:r>
                                <m:sSub>
                                  <m:sSubPr>
                                    <m:ctrlPr>
                                      <a:rPr lang="pt-BR" altLang="zh-CN" sz="1800" i="1" strike="noStrike" smtClean="0">
                                        <a:latin typeface="Cambria Math" panose="02040503050406030204" pitchFamily="18" charset="0"/>
                                      </a:rPr>
                                    </m:ctrlPr>
                                  </m:sSubPr>
                                  <m:e>
                                    <m:r>
                                      <a:rPr lang="en-US" altLang="zh-CN" sz="1800" strike="noStrike" smtClean="0">
                                        <a:latin typeface="Cambria Math" panose="02040503050406030204" pitchFamily="18" charset="0"/>
                                      </a:rPr>
                                      <m:t>𝑃</m:t>
                                    </m:r>
                                  </m:e>
                                  <m:sub>
                                    <m:r>
                                      <a:rPr lang="pt-BR" altLang="zh-CN" sz="1800" strike="noStrike" smtClean="0">
                                        <a:latin typeface="Cambria Math" panose="02040503050406030204" pitchFamily="18" charset="0"/>
                                      </a:rPr>
                                      <m:t>0</m:t>
                                    </m:r>
                                  </m:sub>
                                </m:sSub>
                              </m:oMath>
                            </m:oMathPara>
                          </a14:m>
                          <a:endParaRPr lang="zh-CN" altLang="en-US" sz="1800" b="0" i="0" kern="1200" dirty="0">
                            <a:solidFill>
                              <a:schemeClr val="tx1"/>
                            </a:solidFill>
                            <a:latin typeface="Cambria Math" panose="02040503050406030204" pitchFamily="18" charset="0"/>
                            <a:ea typeface="+mn-ea"/>
                            <a:cs typeface="+mn-cs"/>
                          </a:endParaRPr>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57454"/>
                      </a:ext>
                    </a:extLst>
                  </a:tr>
                </a:tbl>
              </a:graphicData>
            </a:graphic>
          </p:graphicFrame>
        </mc:Choice>
        <mc:Fallback xmlns="">
          <p:graphicFrame>
            <p:nvGraphicFramePr>
              <p:cNvPr id="3" name="表格 2">
                <a:extLst>
                  <a:ext uri="{FF2B5EF4-FFF2-40B4-BE49-F238E27FC236}">
                    <a16:creationId xmlns:a16="http://schemas.microsoft.com/office/drawing/2014/main" id="{2F1D2E82-C64A-4D3B-869E-F531575B6DA6}"/>
                  </a:ext>
                </a:extLst>
              </p:cNvPr>
              <p:cNvGraphicFramePr>
                <a:graphicFrameLocks noGrp="1"/>
              </p:cNvGraphicFramePr>
              <p:nvPr>
                <p:extLst>
                  <p:ext uri="{D42A27DB-BD31-4B8C-83A1-F6EECF244321}">
                    <p14:modId xmlns:p14="http://schemas.microsoft.com/office/powerpoint/2010/main" val="2832311681"/>
                  </p:ext>
                </p:extLst>
              </p:nvPr>
            </p:nvGraphicFramePr>
            <p:xfrm>
              <a:off x="755735" y="2564940"/>
              <a:ext cx="8239235" cy="2768091"/>
            </p:xfrm>
            <a:graphic>
              <a:graphicData uri="http://schemas.openxmlformats.org/drawingml/2006/table">
                <a:tbl>
                  <a:tblPr firstRow="1" lastRow="1" bandRow="1">
                    <a:tableStyleId>{5940675A-B579-460E-94D1-54222C63F5DA}</a:tableStyleId>
                  </a:tblPr>
                  <a:tblGrid>
                    <a:gridCol w="2746411">
                      <a:extLst>
                        <a:ext uri="{9D8B030D-6E8A-4147-A177-3AD203B41FA5}">
                          <a16:colId xmlns:a16="http://schemas.microsoft.com/office/drawing/2014/main" val="3760116452"/>
                        </a:ext>
                      </a:extLst>
                    </a:gridCol>
                    <a:gridCol w="5492824">
                      <a:extLst>
                        <a:ext uri="{9D8B030D-6E8A-4147-A177-3AD203B41FA5}">
                          <a16:colId xmlns:a16="http://schemas.microsoft.com/office/drawing/2014/main" val="3423923078"/>
                        </a:ext>
                      </a:extLst>
                    </a:gridCol>
                  </a:tblGrid>
                  <a:tr h="922697">
                    <a:tc>
                      <a:txBody>
                        <a:bodyPr/>
                        <a:lstStyle/>
                        <a:p>
                          <a:pPr algn="ctr"/>
                          <a:r>
                            <a:rPr lang="zh-CN" altLang="en-US" sz="1800" kern="1200" spc="150" dirty="0">
                              <a:latin typeface="微软雅黑" panose="020B0503020204020204" pitchFamily="34" charset="-122"/>
                              <a:ea typeface="微软雅黑" panose="020B0503020204020204" pitchFamily="34" charset="-122"/>
                            </a:rPr>
                            <a:t>收益函数</a:t>
                          </a:r>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0111" t="-658" r="-222" b="-200658"/>
                          </a:stretch>
                        </a:blipFill>
                      </a:tcPr>
                    </a:tc>
                    <a:extLst>
                      <a:ext uri="{0D108BD9-81ED-4DB2-BD59-A6C34878D82A}">
                        <a16:rowId xmlns:a16="http://schemas.microsoft.com/office/drawing/2014/main" val="265559779"/>
                      </a:ext>
                    </a:extLst>
                  </a:tr>
                  <a:tr h="922697">
                    <a:tc>
                      <a:txBody>
                        <a:bodyPr/>
                        <a:lstStyle/>
                        <a:p>
                          <a:pPr algn="ctr"/>
                          <a:r>
                            <a:rPr lang="zh-CN" altLang="en-US" sz="1800" kern="1200" spc="150" dirty="0">
                              <a:latin typeface="微软雅黑" panose="020B0503020204020204" pitchFamily="34" charset="-122"/>
                              <a:ea typeface="微软雅黑" panose="020B0503020204020204" pitchFamily="34" charset="-122"/>
                            </a:rPr>
                            <a:t>平均收益函数</a:t>
                          </a:r>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0111" t="-101325" r="-222" b="-101987"/>
                          </a:stretch>
                        </a:blipFill>
                      </a:tcPr>
                    </a:tc>
                    <a:extLst>
                      <a:ext uri="{0D108BD9-81ED-4DB2-BD59-A6C34878D82A}">
                        <a16:rowId xmlns:a16="http://schemas.microsoft.com/office/drawing/2014/main" val="4200459254"/>
                      </a:ext>
                    </a:extLst>
                  </a:tr>
                  <a:tr h="922697">
                    <a:tc>
                      <a:txBody>
                        <a:bodyPr/>
                        <a:lstStyle/>
                        <a:p>
                          <a:pPr algn="ctr"/>
                          <a:r>
                            <a:rPr lang="zh-CN" altLang="en-US" sz="1800" kern="1200" spc="150" dirty="0">
                              <a:latin typeface="微软雅黑" panose="020B0503020204020204" pitchFamily="34" charset="-122"/>
                              <a:ea typeface="微软雅黑" panose="020B0503020204020204" pitchFamily="34" charset="-122"/>
                            </a:rPr>
                            <a:t>边际收益函数</a:t>
                          </a:r>
                        </a:p>
                        <a:p>
                          <a:pPr algn="ctr"/>
                          <a:endParaRPr lang="zh-CN" altLang="en-US" sz="1800" kern="1200" spc="150" dirty="0"/>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marL="123588" marR="123588" marT="61794" marB="617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50111" t="-200000" r="-222" b="-1316"/>
                          </a:stretch>
                        </a:blipFill>
                      </a:tcPr>
                    </a:tc>
                    <a:extLst>
                      <a:ext uri="{0D108BD9-81ED-4DB2-BD59-A6C34878D82A}">
                        <a16:rowId xmlns:a16="http://schemas.microsoft.com/office/drawing/2014/main" val="128957454"/>
                      </a:ext>
                    </a:extLst>
                  </a:tr>
                </a:tbl>
              </a:graphicData>
            </a:graphic>
          </p:graphicFrame>
        </mc:Fallback>
      </mc:AlternateContent>
      <p:sp>
        <p:nvSpPr>
          <p:cNvPr id="16" name="矩形 15">
            <a:extLst>
              <a:ext uri="{FF2B5EF4-FFF2-40B4-BE49-F238E27FC236}">
                <a16:creationId xmlns:a16="http://schemas.microsoft.com/office/drawing/2014/main" id="{88E64304-A318-44E5-8B2C-DCEFC99551AF}"/>
              </a:ext>
            </a:extLst>
          </p:cNvPr>
          <p:cNvSpPr/>
          <p:nvPr/>
        </p:nvSpPr>
        <p:spPr>
          <a:xfrm>
            <a:off x="4067223" y="0"/>
            <a:ext cx="5120312" cy="646331"/>
          </a:xfrm>
          <a:prstGeom prst="rect">
            <a:avLst/>
          </a:prstGeom>
        </p:spPr>
        <p:txBody>
          <a:bodyPr wrap="none">
            <a:spAutoFit/>
          </a:bodyPr>
          <a:lstStyle/>
          <a:p>
            <a:pPr lvl="0" defTabSz="457200" eaLnBrk="1" fontAlgn="auto" hangingPunct="1">
              <a:spcBef>
                <a:spcPts val="0"/>
              </a:spcBef>
              <a:spcAft>
                <a:spcPts val="0"/>
              </a:spcAf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a:t>
            </a:r>
            <a:r>
              <a:rPr lang="zh-CN" altLang="en-US" spc="150" dirty="0">
                <a:solidFill>
                  <a:srgbClr val="000000"/>
                </a:solidFill>
                <a:latin typeface="微软雅黑" panose="020B0503020204020204" pitchFamily="34" charset="-122"/>
                <a:ea typeface="微软雅黑" panose="020B0503020204020204" pitchFamily="34" charset="-122"/>
              </a:rPr>
              <a:t>二节  完全竞争企业面临的需求曲线和收益</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endPar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a16="http://schemas.microsoft.com/office/drawing/2014/main" id="{31C552E8-D730-4B0E-9745-0BAF753B84F5}"/>
              </a:ext>
            </a:extLst>
          </p:cNvPr>
          <p:cNvSpPr/>
          <p:nvPr/>
        </p:nvSpPr>
        <p:spPr>
          <a:xfrm>
            <a:off x="467545" y="548680"/>
            <a:ext cx="3816435"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lvl="0" eaLnBrk="1" hangingPunct="1">
              <a:defRPr/>
            </a:pPr>
            <a:r>
              <a:rPr lang="zh-CN" altLang="en-US" sz="2400" b="1" spc="150" dirty="0">
                <a:solidFill>
                  <a:srgbClr val="FFFFFF"/>
                </a:solidFill>
                <a:latin typeface="微软雅黑" panose="020B0503020204020204" pitchFamily="34" charset="-122"/>
                <a:ea typeface="微软雅黑" panose="020B0503020204020204" pitchFamily="34" charset="-122"/>
              </a:rPr>
              <a:t>二、完全竞争企业的收益</a:t>
            </a:r>
          </a:p>
        </p:txBody>
      </p:sp>
    </p:spTree>
    <p:extLst>
      <p:ext uri="{BB962C8B-B14F-4D97-AF65-F5344CB8AC3E}">
        <p14:creationId xmlns:p14="http://schemas.microsoft.com/office/powerpoint/2010/main" val="217339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a:extLst>
              <a:ext uri="{FF2B5EF4-FFF2-40B4-BE49-F238E27FC236}">
                <a16:creationId xmlns:a16="http://schemas.microsoft.com/office/drawing/2014/main" id="{88E64304-A318-44E5-8B2C-DCEFC99551AF}"/>
              </a:ext>
            </a:extLst>
          </p:cNvPr>
          <p:cNvSpPr/>
          <p:nvPr/>
        </p:nvSpPr>
        <p:spPr>
          <a:xfrm>
            <a:off x="4067223" y="0"/>
            <a:ext cx="5120312" cy="646331"/>
          </a:xfrm>
          <a:prstGeom prst="rect">
            <a:avLst/>
          </a:prstGeom>
        </p:spPr>
        <p:txBody>
          <a:bodyPr wrap="none">
            <a:spAutoFit/>
          </a:bodyPr>
          <a:lstStyle/>
          <a:p>
            <a:pPr lvl="0" defTabSz="457200" eaLnBrk="1" fontAlgn="auto" hangingPunct="1">
              <a:spcBef>
                <a:spcPts val="0"/>
              </a:spcBef>
              <a:spcAft>
                <a:spcPts val="0"/>
              </a:spcAf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a:t>
            </a:r>
            <a:r>
              <a:rPr lang="zh-CN" altLang="en-US" spc="150" dirty="0">
                <a:solidFill>
                  <a:srgbClr val="000000"/>
                </a:solidFill>
                <a:latin typeface="微软雅黑" panose="020B0503020204020204" pitchFamily="34" charset="-122"/>
                <a:ea typeface="微软雅黑" panose="020B0503020204020204" pitchFamily="34" charset="-122"/>
              </a:rPr>
              <a:t>二节  完全竞争企业面临的需求曲线和收益</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endPar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64" name="组合 63">
            <a:extLst>
              <a:ext uri="{FF2B5EF4-FFF2-40B4-BE49-F238E27FC236}">
                <a16:creationId xmlns:a16="http://schemas.microsoft.com/office/drawing/2014/main" id="{FD701A9D-B437-4365-8EAE-39596CD5F811}"/>
              </a:ext>
            </a:extLst>
          </p:cNvPr>
          <p:cNvGrpSpPr/>
          <p:nvPr/>
        </p:nvGrpSpPr>
        <p:grpSpPr>
          <a:xfrm>
            <a:off x="458213" y="1296142"/>
            <a:ext cx="1593611" cy="514350"/>
            <a:chOff x="458213" y="1096652"/>
            <a:chExt cx="2893707" cy="514350"/>
          </a:xfrm>
        </p:grpSpPr>
        <p:sp>
          <p:nvSpPr>
            <p:cNvPr id="65"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58213" y="1096652"/>
              <a:ext cx="2893707"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lvl="0" algn="ctr">
                <a:defRPr/>
              </a:pPr>
              <a:r>
                <a:rPr lang="zh-CN" altLang="en-US" spc="150" dirty="0">
                  <a:solidFill>
                    <a:srgbClr val="000000"/>
                  </a:solidFill>
                  <a:latin typeface="微软雅黑" panose="020B0503020204020204" pitchFamily="34" charset="-122"/>
                  <a:ea typeface="微软雅黑" panose="020B0503020204020204" pitchFamily="34" charset="-122"/>
                </a:rPr>
                <a:t>收益规律</a:t>
              </a:r>
            </a:p>
          </p:txBody>
        </p:sp>
        <p:sp>
          <p:nvSpPr>
            <p:cNvPr id="66"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59832" y="1158374"/>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DC352424-0443-43CC-9DB7-D6B00F0C4B2E}"/>
                  </a:ext>
                </a:extLst>
              </p:cNvPr>
              <p:cNvSpPr/>
              <p:nvPr/>
            </p:nvSpPr>
            <p:spPr>
              <a:xfrm>
                <a:off x="504188" y="1769980"/>
                <a:ext cx="4724584" cy="5432193"/>
              </a:xfrm>
              <a:prstGeom prst="rect">
                <a:avLst/>
              </a:prstGeom>
            </p:spPr>
            <p:txBody>
              <a:bodyPr wrap="square">
                <a:spAutoFit/>
              </a:bodyPr>
              <a:lstStyle/>
              <a:p>
                <a:pPr marL="285750" indent="-285750">
                  <a:lnSpc>
                    <a:spcPct val="20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价格接受者</a:t>
                </a:r>
                <a:r>
                  <a:rPr lang="en-US" altLang="zh-CN" dirty="0">
                    <a:sym typeface="Wingdings" panose="05000000000000000000" pitchFamily="2" charset="2"/>
                  </a:rPr>
                  <a:t> </a:t>
                </a:r>
                <a14:m>
                  <m:oMath xmlns:m="http://schemas.openxmlformats.org/officeDocument/2006/math">
                    <m:r>
                      <a:rPr lang="en-US" altLang="zh-CN" i="1" spc="150" dirty="0" smtClean="0">
                        <a:solidFill>
                          <a:srgbClr val="000000"/>
                        </a:solidFill>
                        <a:latin typeface="Cambria Math" panose="02040503050406030204" pitchFamily="18" charset="0"/>
                        <a:ea typeface="微软雅黑" panose="020B0503020204020204" pitchFamily="34" charset="-122"/>
                      </a:rPr>
                      <m:t>𝑃</m:t>
                    </m:r>
                    <m:r>
                      <a:rPr lang="en-US" altLang="zh-CN" i="1" spc="150" dirty="0" smtClean="0">
                        <a:solidFill>
                          <a:srgbClr val="000000"/>
                        </a:solidFill>
                        <a:latin typeface="Cambria Math" panose="02040503050406030204" pitchFamily="18" charset="0"/>
                        <a:ea typeface="微软雅黑" panose="020B0503020204020204" pitchFamily="34" charset="-122"/>
                      </a:rPr>
                      <m:t>=</m:t>
                    </m:r>
                    <m:r>
                      <a:rPr lang="en-US" altLang="zh-CN" i="1" dirty="0" smtClean="0">
                        <a:latin typeface="Cambria Math" panose="02040503050406030204" pitchFamily="18" charset="0"/>
                        <a:sym typeface="Wingdings" panose="05000000000000000000" pitchFamily="2" charset="2"/>
                      </a:rPr>
                      <m:t>𝑃</m:t>
                    </m:r>
                    <m:r>
                      <a:rPr lang="en-US" altLang="zh-CN" i="1" baseline="-25000" dirty="0" smtClean="0">
                        <a:latin typeface="Cambria Math" panose="02040503050406030204" pitchFamily="18" charset="0"/>
                        <a:sym typeface="Wingdings" panose="05000000000000000000" pitchFamily="2" charset="2"/>
                      </a:rPr>
                      <m:t>0</m:t>
                    </m:r>
                  </m:oMath>
                </a14:m>
                <a:r>
                  <a:rPr lang="zh-CN" altLang="en-US" spc="150" dirty="0">
                    <a:solidFill>
                      <a:srgbClr val="000000"/>
                    </a:solidFill>
                    <a:latin typeface="微软雅黑" panose="020B0503020204020204" pitchFamily="34" charset="-122"/>
                    <a:ea typeface="微软雅黑" panose="020B0503020204020204" pitchFamily="34" charset="-122"/>
                  </a:rPr>
                  <a:t>外生给定（市场决定）</a:t>
                </a:r>
              </a:p>
              <a:p>
                <a:pPr marL="285750" indent="-285750">
                  <a:lnSpc>
                    <a:spcPct val="200000"/>
                  </a:lnSpc>
                  <a:buFont typeface="Wingdings" panose="05000000000000000000" pitchFamily="2" charset="2"/>
                  <a:buChar char="Ø"/>
                </a:pPr>
                <a14:m>
                  <m:oMath xmlns:m="http://schemas.openxmlformats.org/officeDocument/2006/math">
                    <m:r>
                      <a:rPr lang="en-US" altLang="zh-CN" b="0" i="1" spc="150" dirty="0" smtClean="0">
                        <a:solidFill>
                          <a:srgbClr val="000000"/>
                        </a:solidFill>
                        <a:latin typeface="Cambria Math" panose="02040503050406030204" pitchFamily="18" charset="0"/>
                        <a:ea typeface="微软雅黑" panose="020B0503020204020204" pitchFamily="34" charset="-122"/>
                      </a:rPr>
                      <m:t>𝑇</m:t>
                    </m:r>
                    <m:r>
                      <a:rPr lang="en-US" altLang="zh-CN" i="1" spc="150" dirty="0" smtClean="0">
                        <a:solidFill>
                          <a:srgbClr val="000000"/>
                        </a:solidFill>
                        <a:latin typeface="Cambria Math" panose="02040503050406030204" pitchFamily="18" charset="0"/>
                        <a:ea typeface="微软雅黑" panose="020B0503020204020204" pitchFamily="34" charset="-122"/>
                      </a:rPr>
                      <m:t>𝑅</m:t>
                    </m:r>
                    <m:r>
                      <a:rPr lang="en-US" altLang="zh-CN" i="1" spc="150" dirty="0" smtClean="0">
                        <a:solidFill>
                          <a:srgbClr val="000000"/>
                        </a:solidFill>
                        <a:latin typeface="Cambria Math" panose="02040503050406030204" pitchFamily="18" charset="0"/>
                        <a:ea typeface="微软雅黑" panose="020B0503020204020204" pitchFamily="34" charset="-122"/>
                      </a:rPr>
                      <m:t>=</m:t>
                    </m:r>
                    <m:r>
                      <a:rPr lang="en-US" altLang="zh-CN" i="1" dirty="0" smtClean="0">
                        <a:latin typeface="Cambria Math" panose="02040503050406030204" pitchFamily="18" charset="0"/>
                        <a:sym typeface="Wingdings" panose="05000000000000000000" pitchFamily="2" charset="2"/>
                      </a:rPr>
                      <m:t>𝑃</m:t>
                    </m:r>
                    <m:r>
                      <a:rPr lang="en-US" altLang="zh-CN" i="1" baseline="-25000" dirty="0" smtClean="0">
                        <a:latin typeface="Cambria Math" panose="02040503050406030204" pitchFamily="18" charset="0"/>
                        <a:sym typeface="Wingdings" panose="05000000000000000000" pitchFamily="2" charset="2"/>
                      </a:rPr>
                      <m:t>0</m:t>
                    </m:r>
                    <m:r>
                      <a:rPr lang="en-US" altLang="zh-CN" i="1" spc="150" dirty="0" smtClean="0">
                        <a:solidFill>
                          <a:srgbClr val="000000"/>
                        </a:solidFill>
                        <a:latin typeface="Cambria Math" panose="02040503050406030204" pitchFamily="18" charset="0"/>
                        <a:ea typeface="微软雅黑" panose="020B0503020204020204" pitchFamily="34" charset="-122"/>
                      </a:rPr>
                      <m:t>𝑄</m:t>
                    </m:r>
                    <m:r>
                      <a:rPr lang="en-US" altLang="zh-CN" i="1" dirty="0" smtClean="0">
                        <a:latin typeface="Cambria Math" panose="02040503050406030204" pitchFamily="18" charset="0"/>
                        <a:sym typeface="Wingdings" panose="05000000000000000000" pitchFamily="2" charset="2"/>
                      </a:rPr>
                      <m:t> </m:t>
                    </m:r>
                  </m:oMath>
                </a14:m>
                <a:r>
                  <a:rPr lang="en-US" altLang="zh-CN" dirty="0">
                    <a:sym typeface="Wingdings" panose="05000000000000000000" pitchFamily="2" charset="2"/>
                  </a:rPr>
                  <a:t></a:t>
                </a:r>
                <a:r>
                  <a:rPr lang="zh-CN" altLang="en-US" spc="150" dirty="0">
                    <a:solidFill>
                      <a:srgbClr val="000000"/>
                    </a:solidFill>
                    <a:latin typeface="微软雅黑" panose="020B0503020204020204" pitchFamily="34" charset="-122"/>
                    <a:ea typeface="微软雅黑" panose="020B0503020204020204" pitchFamily="34" charset="-122"/>
                  </a:rPr>
                  <a:t>收益是其产量的线性函数</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与其产量成正比。</a:t>
                </a:r>
              </a:p>
              <a:p>
                <a:pPr marL="285750" indent="-285750">
                  <a:lnSpc>
                    <a:spcPct val="200000"/>
                  </a:lnSpc>
                  <a:buFont typeface="Wingdings" panose="05000000000000000000" pitchFamily="2" charset="2"/>
                  <a:buChar char="Ø"/>
                </a:pPr>
                <a14:m>
                  <m:oMath xmlns:m="http://schemas.openxmlformats.org/officeDocument/2006/math">
                    <m:r>
                      <a:rPr lang="en-US" altLang="zh-CN" i="1" spc="150" dirty="0" smtClean="0">
                        <a:solidFill>
                          <a:srgbClr val="000000"/>
                        </a:solidFill>
                        <a:latin typeface="Cambria Math" panose="02040503050406030204" pitchFamily="18" charset="0"/>
                        <a:ea typeface="微软雅黑" panose="020B0503020204020204" pitchFamily="34" charset="-122"/>
                      </a:rPr>
                      <m:t>𝐴𝑅</m:t>
                    </m:r>
                    <m:r>
                      <a:rPr lang="en-US" altLang="zh-CN" i="1" spc="150" dirty="0" smtClean="0">
                        <a:solidFill>
                          <a:srgbClr val="000000"/>
                        </a:solidFill>
                        <a:latin typeface="Cambria Math" panose="02040503050406030204" pitchFamily="18" charset="0"/>
                        <a:ea typeface="微软雅黑" panose="020B0503020204020204" pitchFamily="34" charset="-122"/>
                      </a:rPr>
                      <m:t>=</m:t>
                    </m:r>
                    <m:r>
                      <a:rPr lang="en-US" altLang="zh-CN" i="1" spc="150" dirty="0" smtClean="0">
                        <a:solidFill>
                          <a:srgbClr val="000000"/>
                        </a:solidFill>
                        <a:latin typeface="Cambria Math" panose="02040503050406030204" pitchFamily="18" charset="0"/>
                        <a:ea typeface="微软雅黑" panose="020B0503020204020204" pitchFamily="34" charset="-122"/>
                      </a:rPr>
                      <m:t>𝑀𝑅</m:t>
                    </m:r>
                    <m:r>
                      <a:rPr lang="en-US" altLang="zh-CN" i="1" spc="150" dirty="0" smtClean="0">
                        <a:solidFill>
                          <a:srgbClr val="000000"/>
                        </a:solidFill>
                        <a:latin typeface="Cambria Math" panose="02040503050406030204" pitchFamily="18" charset="0"/>
                        <a:ea typeface="微软雅黑" panose="020B0503020204020204" pitchFamily="34" charset="-122"/>
                      </a:rPr>
                      <m:t>=</m:t>
                    </m:r>
                    <m:r>
                      <a:rPr lang="en-US" altLang="zh-CN" i="1" dirty="0" smtClean="0">
                        <a:latin typeface="Cambria Math" panose="02040503050406030204" pitchFamily="18" charset="0"/>
                        <a:sym typeface="Wingdings" panose="05000000000000000000" pitchFamily="2" charset="2"/>
                      </a:rPr>
                      <m:t>𝑃</m:t>
                    </m:r>
                    <m:r>
                      <a:rPr lang="en-US" altLang="zh-CN" i="1" baseline="-25000" dirty="0" smtClean="0">
                        <a:latin typeface="Cambria Math" panose="02040503050406030204" pitchFamily="18" charset="0"/>
                        <a:sym typeface="Wingdings" panose="05000000000000000000" pitchFamily="2" charset="2"/>
                      </a:rPr>
                      <m:t>0</m:t>
                    </m:r>
                  </m:oMath>
                </a14:m>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Ø"/>
                </a:pPr>
                <a14:m>
                  <m:oMath xmlns:m="http://schemas.openxmlformats.org/officeDocument/2006/math">
                    <m:r>
                      <a:rPr lang="en-US" altLang="zh-CN" i="1" spc="150" dirty="0" smtClean="0">
                        <a:solidFill>
                          <a:srgbClr val="000000"/>
                        </a:solidFill>
                        <a:latin typeface="Cambria Math" panose="02040503050406030204" pitchFamily="18" charset="0"/>
                        <a:ea typeface="微软雅黑" panose="020B0503020204020204" pitchFamily="34" charset="-122"/>
                      </a:rPr>
                      <m:t>𝑀𝑅</m:t>
                    </m:r>
                    <m:r>
                      <a:rPr lang="en-US" altLang="zh-CN" i="1" spc="150" dirty="0" smtClean="0">
                        <a:solidFill>
                          <a:srgbClr val="000000"/>
                        </a:solidFill>
                        <a:latin typeface="Cambria Math" panose="02040503050406030204" pitchFamily="18" charset="0"/>
                        <a:ea typeface="微软雅黑" panose="020B0503020204020204" pitchFamily="34" charset="-122"/>
                      </a:rPr>
                      <m:t> = ∆</m:t>
                    </m:r>
                    <m:r>
                      <a:rPr lang="en-US" altLang="zh-CN" i="1" spc="150" dirty="0" smtClean="0">
                        <a:solidFill>
                          <a:srgbClr val="000000"/>
                        </a:solidFill>
                        <a:latin typeface="Cambria Math" panose="02040503050406030204" pitchFamily="18" charset="0"/>
                        <a:ea typeface="微软雅黑" panose="020B0503020204020204" pitchFamily="34" charset="-122"/>
                      </a:rPr>
                      <m:t>𝑅</m:t>
                    </m:r>
                    <m:r>
                      <a:rPr lang="en-US" altLang="zh-CN" i="1" spc="150" dirty="0" smtClean="0">
                        <a:solidFill>
                          <a:srgbClr val="000000"/>
                        </a:solidFill>
                        <a:latin typeface="Cambria Math" panose="02040503050406030204" pitchFamily="18" charset="0"/>
                        <a:ea typeface="微软雅黑" panose="020B0503020204020204" pitchFamily="34" charset="-122"/>
                      </a:rPr>
                      <m:t>/∆</m:t>
                    </m:r>
                    <m:r>
                      <a:rPr lang="en-US" altLang="zh-CN" i="1" spc="150" dirty="0" smtClean="0">
                        <a:solidFill>
                          <a:srgbClr val="000000"/>
                        </a:solidFill>
                        <a:latin typeface="Cambria Math" panose="02040503050406030204" pitchFamily="18" charset="0"/>
                        <a:ea typeface="微软雅黑" panose="020B0503020204020204" pitchFamily="34" charset="-122"/>
                      </a:rPr>
                      <m:t>𝑄</m:t>
                    </m:r>
                  </m:oMath>
                </a14:m>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Ø"/>
                </a:pPr>
                <a14:m>
                  <m:oMath xmlns:m="http://schemas.openxmlformats.org/officeDocument/2006/math">
                    <m:r>
                      <a:rPr lang="en-US" altLang="zh-CN" b="0" i="1" spc="150" dirty="0" smtClean="0">
                        <a:solidFill>
                          <a:srgbClr val="000000"/>
                        </a:solidFill>
                        <a:latin typeface="Cambria Math" panose="02040503050406030204" pitchFamily="18" charset="0"/>
                        <a:ea typeface="微软雅黑" panose="020B0503020204020204" pitchFamily="34" charset="-122"/>
                      </a:rPr>
                      <m:t>𝑇𝑅</m:t>
                    </m:r>
                    <m:r>
                      <a:rPr lang="en-US" altLang="zh-CN" i="1" spc="150" dirty="0" smtClean="0">
                        <a:solidFill>
                          <a:srgbClr val="000000"/>
                        </a:solidFill>
                        <a:latin typeface="Cambria Math" panose="02040503050406030204" pitchFamily="18" charset="0"/>
                        <a:ea typeface="微软雅黑" panose="020B0503020204020204" pitchFamily="34" charset="-122"/>
                      </a:rPr>
                      <m:t>=</m:t>
                    </m:r>
                    <m:r>
                      <a:rPr lang="en-US" altLang="zh-CN" i="1" dirty="0">
                        <a:latin typeface="Cambria Math" panose="02040503050406030204" pitchFamily="18" charset="0"/>
                        <a:sym typeface="Wingdings" panose="05000000000000000000" pitchFamily="2" charset="2"/>
                      </a:rPr>
                      <m:t>𝑃</m:t>
                    </m:r>
                    <m:r>
                      <a:rPr lang="en-US" altLang="zh-CN" i="1" baseline="-25000" dirty="0">
                        <a:latin typeface="Cambria Math" panose="02040503050406030204" pitchFamily="18" charset="0"/>
                        <a:sym typeface="Wingdings" panose="05000000000000000000" pitchFamily="2" charset="2"/>
                      </a:rPr>
                      <m:t>0</m:t>
                    </m:r>
                    <m:r>
                      <a:rPr lang="en-US" altLang="zh-CN" i="1" spc="150" dirty="0" smtClean="0">
                        <a:solidFill>
                          <a:srgbClr val="000000"/>
                        </a:solidFill>
                        <a:latin typeface="Cambria Math" panose="02040503050406030204" pitchFamily="18" charset="0"/>
                        <a:ea typeface="微软雅黑" panose="020B0503020204020204" pitchFamily="34" charset="-122"/>
                      </a:rPr>
                      <m:t>·</m:t>
                    </m:r>
                    <m:r>
                      <a:rPr lang="en-US" altLang="zh-CN" i="1" spc="150" dirty="0" smtClean="0">
                        <a:solidFill>
                          <a:srgbClr val="000000"/>
                        </a:solidFill>
                        <a:latin typeface="Cambria Math" panose="02040503050406030204" pitchFamily="18" charset="0"/>
                        <a:ea typeface="微软雅黑" panose="020B0503020204020204" pitchFamily="34" charset="-122"/>
                      </a:rPr>
                      <m:t>𝑄</m:t>
                    </m:r>
                    <m:r>
                      <m:rPr>
                        <m:nor/>
                      </m:rPr>
                      <a:rPr lang="en-US" altLang="zh-CN" dirty="0">
                        <a:sym typeface="Wingdings" panose="05000000000000000000" pitchFamily="2" charset="2"/>
                      </a:rPr>
                      <m:t></m:t>
                    </m:r>
                    <m:r>
                      <a:rPr lang="en-US" altLang="zh-CN" i="1" spc="150" dirty="0">
                        <a:solidFill>
                          <a:srgbClr val="000000"/>
                        </a:solidFill>
                        <a:latin typeface="Cambria Math" panose="02040503050406030204" pitchFamily="18" charset="0"/>
                        <a:ea typeface="微软雅黑" panose="020B0503020204020204" pitchFamily="34" charset="-122"/>
                      </a:rPr>
                      <m:t>𝑀𝑅</m:t>
                    </m:r>
                    <m:r>
                      <a:rPr lang="en-US" altLang="zh-CN" i="1" spc="150" dirty="0">
                        <a:solidFill>
                          <a:srgbClr val="000000"/>
                        </a:solidFill>
                        <a:latin typeface="Cambria Math" panose="02040503050406030204" pitchFamily="18" charset="0"/>
                        <a:ea typeface="微软雅黑" panose="020B0503020204020204" pitchFamily="34" charset="-122"/>
                      </a:rPr>
                      <m:t> =∆</m:t>
                    </m:r>
                    <m:r>
                      <a:rPr lang="en-US" altLang="zh-CN" b="0" i="1" spc="150" dirty="0" smtClean="0">
                        <a:solidFill>
                          <a:srgbClr val="000000"/>
                        </a:solidFill>
                        <a:latin typeface="Cambria Math" panose="02040503050406030204" pitchFamily="18" charset="0"/>
                        <a:ea typeface="微软雅黑" panose="020B0503020204020204" pitchFamily="34" charset="-122"/>
                      </a:rPr>
                      <m:t>𝑇</m:t>
                    </m:r>
                    <m:r>
                      <a:rPr lang="en-US" altLang="zh-CN" i="1" spc="150" dirty="0">
                        <a:solidFill>
                          <a:srgbClr val="000000"/>
                        </a:solidFill>
                        <a:latin typeface="Cambria Math" panose="02040503050406030204" pitchFamily="18" charset="0"/>
                        <a:ea typeface="微软雅黑" panose="020B0503020204020204" pitchFamily="34" charset="-122"/>
                      </a:rPr>
                      <m:t>𝑅</m:t>
                    </m:r>
                    <m:r>
                      <a:rPr lang="en-US" altLang="zh-CN" i="1" spc="150" dirty="0">
                        <a:solidFill>
                          <a:srgbClr val="000000"/>
                        </a:solidFill>
                        <a:latin typeface="Cambria Math" panose="02040503050406030204" pitchFamily="18" charset="0"/>
                        <a:ea typeface="微软雅黑" panose="020B0503020204020204" pitchFamily="34" charset="-122"/>
                      </a:rPr>
                      <m:t>/∆</m:t>
                    </m:r>
                    <m:r>
                      <a:rPr lang="en-US" altLang="zh-CN" i="1" spc="150" dirty="0">
                        <a:solidFill>
                          <a:srgbClr val="000000"/>
                        </a:solidFill>
                        <a:latin typeface="Cambria Math" panose="02040503050406030204" pitchFamily="18" charset="0"/>
                        <a:ea typeface="微软雅黑" panose="020B0503020204020204" pitchFamily="34" charset="-122"/>
                      </a:rPr>
                      <m:t>𝑄</m:t>
                    </m:r>
                    <m:r>
                      <a:rPr lang="en-US" altLang="zh-CN" i="1" spc="150" dirty="0">
                        <a:solidFill>
                          <a:srgbClr val="000000"/>
                        </a:solidFill>
                        <a:latin typeface="Cambria Math" panose="02040503050406030204" pitchFamily="18" charset="0"/>
                        <a:ea typeface="微软雅黑" panose="020B0503020204020204" pitchFamily="34" charset="-122"/>
                      </a:rPr>
                      <m:t> = ∆ (</m:t>
                    </m:r>
                    <m:r>
                      <a:rPr lang="en-US" altLang="zh-CN" i="1" dirty="0">
                        <a:latin typeface="Cambria Math" panose="02040503050406030204" pitchFamily="18" charset="0"/>
                        <a:sym typeface="Wingdings" panose="05000000000000000000" pitchFamily="2" charset="2"/>
                      </a:rPr>
                      <m:t>𝑃</m:t>
                    </m:r>
                    <m:r>
                      <a:rPr lang="en-US" altLang="zh-CN" i="1" baseline="-25000" dirty="0">
                        <a:latin typeface="Cambria Math" panose="02040503050406030204" pitchFamily="18" charset="0"/>
                        <a:sym typeface="Wingdings" panose="05000000000000000000" pitchFamily="2" charset="2"/>
                      </a:rPr>
                      <m:t>0</m:t>
                    </m:r>
                    <m:r>
                      <a:rPr lang="en-US" altLang="zh-CN" i="1" spc="150" dirty="0" smtClean="0">
                        <a:solidFill>
                          <a:srgbClr val="000000"/>
                        </a:solidFill>
                        <a:latin typeface="Cambria Math" panose="02040503050406030204" pitchFamily="18" charset="0"/>
                        <a:ea typeface="微软雅黑" panose="020B0503020204020204" pitchFamily="34" charset="-122"/>
                      </a:rPr>
                      <m:t>·</m:t>
                    </m:r>
                    <m:r>
                      <a:rPr lang="en-US" altLang="zh-CN" i="1" spc="150" dirty="0" smtClean="0">
                        <a:solidFill>
                          <a:srgbClr val="000000"/>
                        </a:solidFill>
                        <a:latin typeface="Cambria Math" panose="02040503050406030204" pitchFamily="18" charset="0"/>
                        <a:ea typeface="微软雅黑" panose="020B0503020204020204" pitchFamily="34" charset="-122"/>
                      </a:rPr>
                      <m:t>𝑄</m:t>
                    </m:r>
                    <m:r>
                      <a:rPr lang="en-US" altLang="zh-CN" i="1" spc="150" dirty="0" smtClean="0">
                        <a:solidFill>
                          <a:srgbClr val="000000"/>
                        </a:solidFill>
                        <a:latin typeface="Cambria Math" panose="02040503050406030204" pitchFamily="18" charset="0"/>
                        <a:ea typeface="微软雅黑" panose="020B0503020204020204" pitchFamily="34" charset="-122"/>
                      </a:rPr>
                      <m:t> )/ ∆</m:t>
                    </m:r>
                    <m:r>
                      <a:rPr lang="en-US" altLang="zh-CN" i="1" spc="150" dirty="0">
                        <a:solidFill>
                          <a:srgbClr val="000000"/>
                        </a:solidFill>
                        <a:latin typeface="Cambria Math" panose="02040503050406030204" pitchFamily="18" charset="0"/>
                        <a:ea typeface="微软雅黑" panose="020B0503020204020204" pitchFamily="34" charset="-122"/>
                      </a:rPr>
                      <m:t>𝑄</m:t>
                    </m:r>
                    <m:r>
                      <a:rPr lang="en-US" altLang="zh-CN" i="1" spc="150" dirty="0">
                        <a:solidFill>
                          <a:srgbClr val="000000"/>
                        </a:solidFill>
                        <a:latin typeface="Cambria Math" panose="02040503050406030204" pitchFamily="18" charset="0"/>
                        <a:ea typeface="微软雅黑" panose="020B0503020204020204" pitchFamily="34" charset="-122"/>
                      </a:rPr>
                      <m:t>= </m:t>
                    </m:r>
                    <m:r>
                      <a:rPr lang="en-US" altLang="zh-CN" i="1" spc="150" dirty="0">
                        <a:solidFill>
                          <a:srgbClr val="000000"/>
                        </a:solidFill>
                        <a:latin typeface="Cambria Math" panose="02040503050406030204" pitchFamily="18" charset="0"/>
                        <a:ea typeface="微软雅黑" panose="020B0503020204020204" pitchFamily="34" charset="-122"/>
                      </a:rPr>
                      <m:t>𝑃</m:t>
                    </m:r>
                    <m:r>
                      <a:rPr lang="en-US" altLang="zh-CN" i="1" spc="150" dirty="0">
                        <a:solidFill>
                          <a:srgbClr val="000000"/>
                        </a:solidFill>
                        <a:latin typeface="Cambria Math" panose="02040503050406030204" pitchFamily="18" charset="0"/>
                        <a:ea typeface="微软雅黑" panose="020B0503020204020204" pitchFamily="34" charset="-122"/>
                      </a:rPr>
                      <m:t>0·∆ </m:t>
                    </m:r>
                    <m:r>
                      <a:rPr lang="en-US" altLang="zh-CN" i="1" spc="150" dirty="0">
                        <a:solidFill>
                          <a:srgbClr val="000000"/>
                        </a:solidFill>
                        <a:latin typeface="Cambria Math" panose="02040503050406030204" pitchFamily="18" charset="0"/>
                        <a:ea typeface="微软雅黑" panose="020B0503020204020204" pitchFamily="34" charset="-122"/>
                      </a:rPr>
                      <m:t>𝑄</m:t>
                    </m:r>
                    <m:r>
                      <a:rPr lang="en-US" altLang="zh-CN" i="1" spc="150" dirty="0">
                        <a:solidFill>
                          <a:srgbClr val="000000"/>
                        </a:solidFill>
                        <a:latin typeface="Cambria Math" panose="02040503050406030204" pitchFamily="18" charset="0"/>
                        <a:ea typeface="微软雅黑" panose="020B0503020204020204" pitchFamily="34" charset="-122"/>
                      </a:rPr>
                      <m:t> / ∆</m:t>
                    </m:r>
                    <m:r>
                      <a:rPr lang="en-US" altLang="zh-CN" i="1" spc="150" dirty="0">
                        <a:solidFill>
                          <a:srgbClr val="000000"/>
                        </a:solidFill>
                        <a:latin typeface="Cambria Math" panose="02040503050406030204" pitchFamily="18" charset="0"/>
                        <a:ea typeface="微软雅黑" panose="020B0503020204020204" pitchFamily="34" charset="-122"/>
                      </a:rPr>
                      <m:t>𝑄</m:t>
                    </m:r>
                    <m:r>
                      <a:rPr lang="en-US" altLang="zh-CN" i="1" spc="150" dirty="0">
                        <a:solidFill>
                          <a:srgbClr val="000000"/>
                        </a:solidFill>
                        <a:latin typeface="Cambria Math" panose="02040503050406030204" pitchFamily="18" charset="0"/>
                        <a:ea typeface="微软雅黑" panose="020B0503020204020204" pitchFamily="34" charset="-122"/>
                      </a:rPr>
                      <m:t>= </m:t>
                    </m:r>
                    <m:r>
                      <a:rPr lang="en-US" altLang="zh-CN" i="1" dirty="0">
                        <a:latin typeface="Cambria Math" panose="02040503050406030204" pitchFamily="18" charset="0"/>
                        <a:sym typeface="Wingdings" panose="05000000000000000000" pitchFamily="2" charset="2"/>
                      </a:rPr>
                      <m:t>𝑃</m:t>
                    </m:r>
                    <m:r>
                      <a:rPr lang="en-US" altLang="zh-CN" i="1" baseline="-25000" dirty="0">
                        <a:latin typeface="Cambria Math" panose="02040503050406030204" pitchFamily="18" charset="0"/>
                        <a:sym typeface="Wingdings" panose="05000000000000000000" pitchFamily="2" charset="2"/>
                      </a:rPr>
                      <m:t>0</m:t>
                    </m:r>
                  </m:oMath>
                </a14:m>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Ø"/>
                </a:pPr>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endParaRPr lang="zh-CN" altLang="en-US" spc="150" dirty="0">
                  <a:solidFill>
                    <a:srgbClr val="000000"/>
                  </a:solidFill>
                  <a:latin typeface="微软雅黑" panose="020B0503020204020204" pitchFamily="34" charset="-122"/>
                  <a:ea typeface="微软雅黑" panose="020B0503020204020204" pitchFamily="34" charset="-122"/>
                </a:endParaRPr>
              </a:p>
            </p:txBody>
          </p:sp>
        </mc:Choice>
        <mc:Fallback xmlns="">
          <p:sp>
            <p:nvSpPr>
              <p:cNvPr id="29" name="矩形 28">
                <a:extLst>
                  <a:ext uri="{FF2B5EF4-FFF2-40B4-BE49-F238E27FC236}">
                    <a16:creationId xmlns:a16="http://schemas.microsoft.com/office/drawing/2014/main" id="{DC352424-0443-43CC-9DB7-D6B00F0C4B2E}"/>
                  </a:ext>
                </a:extLst>
              </p:cNvPr>
              <p:cNvSpPr>
                <a:spLocks noRot="1" noChangeAspect="1" noMove="1" noResize="1" noEditPoints="1" noAdjustHandles="1" noChangeArrowheads="1" noChangeShapeType="1" noTextEdit="1"/>
              </p:cNvSpPr>
              <p:nvPr/>
            </p:nvSpPr>
            <p:spPr>
              <a:xfrm>
                <a:off x="504188" y="1769980"/>
                <a:ext cx="4724584" cy="5432193"/>
              </a:xfrm>
              <a:prstGeom prst="rect">
                <a:avLst/>
              </a:prstGeom>
              <a:blipFill>
                <a:blip r:embed="rId4"/>
                <a:stretch>
                  <a:fillRect l="-903" r="-1032"/>
                </a:stretch>
              </a:blipFill>
            </p:spPr>
            <p:txBody>
              <a:bodyPr/>
              <a:lstStyle/>
              <a:p>
                <a:r>
                  <a:rPr lang="zh-CN" altLang="en-US">
                    <a:noFill/>
                  </a:rPr>
                  <a:t> </a:t>
                </a:r>
              </a:p>
            </p:txBody>
          </p:sp>
        </mc:Fallback>
      </mc:AlternateContent>
      <p:cxnSp>
        <p:nvCxnSpPr>
          <p:cNvPr id="42" name="直接箭头连接符 12"/>
          <p:cNvCxnSpPr>
            <a:cxnSpLocks noChangeShapeType="1"/>
          </p:cNvCxnSpPr>
          <p:nvPr/>
        </p:nvCxnSpPr>
        <p:spPr bwMode="auto">
          <a:xfrm rot="5400000" flipH="1">
            <a:off x="3854043" y="4208185"/>
            <a:ext cx="2625725" cy="1270"/>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43" name="TextBox 14"/>
          <p:cNvSpPr>
            <a:spLocks noChangeArrowheads="1"/>
          </p:cNvSpPr>
          <p:nvPr/>
        </p:nvSpPr>
        <p:spPr bwMode="auto">
          <a:xfrm>
            <a:off x="5216118" y="2708950"/>
            <a:ext cx="1285875" cy="369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TR, AR, MR</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3" name="TextBox 10"/>
          <p:cNvSpPr>
            <a:spLocks noChangeArrowheads="1"/>
          </p:cNvSpPr>
          <p:nvPr/>
        </p:nvSpPr>
        <p:spPr bwMode="auto">
          <a:xfrm>
            <a:off x="4823688" y="3818295"/>
            <a:ext cx="499745" cy="369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900" dirty="0">
                <a:solidFill>
                  <a:srgbClr val="000000"/>
                </a:solidFill>
                <a:latin typeface="Cambria Math" panose="02040503050406030204" pitchFamily="18" charset="0"/>
                <a:sym typeface="Cambria Math" panose="02040503050406030204" pitchFamily="18" charset="0"/>
              </a:rPr>
              <a:t>0</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4" name="直接箭头连接符 13"/>
          <p:cNvSpPr>
            <a:spLocks noChangeShapeType="1"/>
          </p:cNvSpPr>
          <p:nvPr/>
        </p:nvSpPr>
        <p:spPr bwMode="auto">
          <a:xfrm>
            <a:off x="5180558" y="5526445"/>
            <a:ext cx="3714750" cy="6350"/>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5" name="TextBox 15"/>
          <p:cNvSpPr>
            <a:spLocks noChangeArrowheads="1"/>
          </p:cNvSpPr>
          <p:nvPr/>
        </p:nvSpPr>
        <p:spPr bwMode="auto">
          <a:xfrm>
            <a:off x="4966563" y="5532795"/>
            <a:ext cx="499745" cy="369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O</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6" name="TextBox 16"/>
          <p:cNvSpPr>
            <a:spLocks noChangeArrowheads="1"/>
          </p:cNvSpPr>
          <p:nvPr/>
        </p:nvSpPr>
        <p:spPr bwMode="auto">
          <a:xfrm>
            <a:off x="8609558" y="5532795"/>
            <a:ext cx="500380" cy="369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7" name="直接连接符 17"/>
          <p:cNvSpPr>
            <a:spLocks noChangeShapeType="1"/>
          </p:cNvSpPr>
          <p:nvPr/>
        </p:nvSpPr>
        <p:spPr bwMode="auto">
          <a:xfrm>
            <a:off x="5180558" y="4044990"/>
            <a:ext cx="3072130" cy="1905"/>
          </a:xfrm>
          <a:prstGeom prst="line">
            <a:avLst/>
          </a:prstGeom>
          <a:noFill/>
          <a:ln w="28575"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38" name="TextBox 18"/>
              <p:cNvSpPr>
                <a:spLocks noChangeArrowheads="1"/>
              </p:cNvSpPr>
              <p:nvPr/>
            </p:nvSpPr>
            <p:spPr bwMode="auto">
              <a:xfrm>
                <a:off x="5166270" y="4545370"/>
                <a:ext cx="1229043" cy="3629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dirty="0" smtClean="0">
                          <a:solidFill>
                            <a:srgbClr val="000000"/>
                          </a:solidFill>
                          <a:latin typeface="Cambria Math" panose="02040503050406030204" pitchFamily="18" charset="0"/>
                          <a:sym typeface="Cambria Math" panose="02040503050406030204" pitchFamily="18" charset="0"/>
                        </a:rPr>
                        <m:t>𝑇</m:t>
                      </m:r>
                      <m:r>
                        <a:rPr lang="en-US" altLang="zh-CN" i="1" dirty="0" smtClean="0">
                          <a:solidFill>
                            <a:srgbClr val="000000"/>
                          </a:solidFill>
                          <a:latin typeface="Cambria Math" panose="02040503050406030204" pitchFamily="18" charset="0"/>
                          <a:sym typeface="Cambria Math" panose="02040503050406030204" pitchFamily="18" charset="0"/>
                        </a:rPr>
                        <m:t>𝑅</m:t>
                      </m:r>
                      <m:r>
                        <a:rPr lang="en-US" altLang="zh-CN" i="1" dirty="0" smtClean="0">
                          <a:solidFill>
                            <a:srgbClr val="000000"/>
                          </a:solidFill>
                          <a:latin typeface="Cambria Math" panose="02040503050406030204" pitchFamily="18" charset="0"/>
                          <a:sym typeface="Cambria Math" panose="02040503050406030204" pitchFamily="18" charset="0"/>
                        </a:rPr>
                        <m:t>=</m:t>
                      </m:r>
                      <m:r>
                        <a:rPr lang="en-US" altLang="zh-CN" i="1" dirty="0" smtClean="0">
                          <a:solidFill>
                            <a:srgbClr val="000000"/>
                          </a:solidFill>
                          <a:latin typeface="Cambria Math" panose="02040503050406030204" pitchFamily="18" charset="0"/>
                          <a:sym typeface="Cambria Math" panose="02040503050406030204" pitchFamily="18" charset="0"/>
                        </a:rPr>
                        <m:t>𝑃</m:t>
                      </m:r>
                      <m:r>
                        <a:rPr lang="en-US" altLang="zh-CN" sz="1100" i="1" dirty="0">
                          <a:solidFill>
                            <a:srgbClr val="000000"/>
                          </a:solidFill>
                          <a:latin typeface="Cambria Math" panose="02040503050406030204" pitchFamily="18" charset="0"/>
                          <a:sym typeface="Cambria Math" panose="02040503050406030204" pitchFamily="18" charset="0"/>
                        </a:rPr>
                        <m:t>0</m:t>
                      </m:r>
                      <m:r>
                        <a:rPr lang="en-US" altLang="zh-CN" i="1" dirty="0">
                          <a:solidFill>
                            <a:srgbClr val="000000"/>
                          </a:solidFill>
                          <a:latin typeface="Cambria Math" panose="02040503050406030204" pitchFamily="18" charset="0"/>
                          <a:sym typeface="Cambria Math" panose="02040503050406030204" pitchFamily="18" charset="0"/>
                        </a:rPr>
                        <m:t>𝑄</m:t>
                      </m:r>
                      <m:r>
                        <a:rPr lang="en-US" altLang="zh-CN" sz="1100" i="1" dirty="0">
                          <a:solidFill>
                            <a:srgbClr val="000000"/>
                          </a:solidFill>
                          <a:latin typeface="Cambria Math" panose="02040503050406030204" pitchFamily="18" charset="0"/>
                          <a:sym typeface="Cambria Math" panose="02040503050406030204" pitchFamily="18" charset="0"/>
                        </a:rPr>
                        <m:t>1</m:t>
                      </m:r>
                    </m:oMath>
                  </m:oMathPara>
                </a14:m>
                <a:endParaRPr lang="zh-CN" altLang="en-US" dirty="0">
                  <a:solidFill>
                    <a:srgbClr val="000000"/>
                  </a:solidFill>
                  <a:latin typeface="Cambria Math" panose="02040503050406030204" pitchFamily="18" charset="0"/>
                  <a:sym typeface="Cambria Math" panose="02040503050406030204" pitchFamily="18" charset="0"/>
                </a:endParaRPr>
              </a:p>
            </p:txBody>
          </p:sp>
        </mc:Choice>
        <mc:Fallback xmlns="">
          <p:sp>
            <p:nvSpPr>
              <p:cNvPr id="38" name="TextBox 18"/>
              <p:cNvSpPr>
                <a:spLocks noRot="1" noChangeAspect="1" noMove="1" noResize="1" noEditPoints="1" noAdjustHandles="1" noChangeArrowheads="1" noChangeShapeType="1" noTextEdit="1"/>
              </p:cNvSpPr>
              <p:nvPr/>
            </p:nvSpPr>
            <p:spPr bwMode="auto">
              <a:xfrm>
                <a:off x="5166270" y="4545370"/>
                <a:ext cx="1229043" cy="362984"/>
              </a:xfrm>
              <a:prstGeom prst="rect">
                <a:avLst/>
              </a:prstGeom>
              <a:blipFill>
                <a:blip r:embed="rId5"/>
                <a:stretch>
                  <a:fillRect b="-135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TextBox 24"/>
              <p:cNvSpPr>
                <a:spLocks noChangeArrowheads="1"/>
              </p:cNvSpPr>
              <p:nvPr/>
            </p:nvSpPr>
            <p:spPr bwMode="auto">
              <a:xfrm>
                <a:off x="7434030" y="4142727"/>
                <a:ext cx="164465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000000"/>
                          </a:solidFill>
                          <a:latin typeface="Cambria Math" panose="02040503050406030204" pitchFamily="18" charset="0"/>
                          <a:sym typeface="Cambria Math" panose="02040503050406030204" pitchFamily="18" charset="0"/>
                        </a:rPr>
                        <m:t>𝑃</m:t>
                      </m:r>
                      <m:r>
                        <a:rPr lang="en-US" altLang="zh-CN" sz="1100" i="1" dirty="0">
                          <a:solidFill>
                            <a:srgbClr val="000000"/>
                          </a:solidFill>
                          <a:latin typeface="Cambria Math" panose="02040503050406030204" pitchFamily="18" charset="0"/>
                          <a:sym typeface="Cambria Math" panose="02040503050406030204" pitchFamily="18" charset="0"/>
                        </a:rPr>
                        <m:t>0</m:t>
                      </m:r>
                      <m:r>
                        <a:rPr lang="en-US" altLang="zh-CN" i="1" dirty="0">
                          <a:solidFill>
                            <a:srgbClr val="000000"/>
                          </a:solidFill>
                          <a:latin typeface="Cambria Math" panose="02040503050406030204" pitchFamily="18" charset="0"/>
                          <a:sym typeface="Cambria Math" panose="02040503050406030204" pitchFamily="18" charset="0"/>
                        </a:rPr>
                        <m:t>=</m:t>
                      </m:r>
                      <m:r>
                        <a:rPr lang="en-US" altLang="zh-CN" i="1" dirty="0">
                          <a:solidFill>
                            <a:srgbClr val="000000"/>
                          </a:solidFill>
                          <a:latin typeface="Cambria Math" panose="02040503050406030204" pitchFamily="18" charset="0"/>
                          <a:sym typeface="Cambria Math" panose="02040503050406030204" pitchFamily="18" charset="0"/>
                        </a:rPr>
                        <m:t>𝐴𝑅</m:t>
                      </m:r>
                      <m:r>
                        <a:rPr lang="en-US" altLang="zh-CN" i="1" dirty="0">
                          <a:solidFill>
                            <a:srgbClr val="000000"/>
                          </a:solidFill>
                          <a:latin typeface="Cambria Math" panose="02040503050406030204" pitchFamily="18" charset="0"/>
                          <a:sym typeface="Cambria Math" panose="02040503050406030204" pitchFamily="18" charset="0"/>
                        </a:rPr>
                        <m:t>=</m:t>
                      </m:r>
                      <m:r>
                        <a:rPr lang="en-US" altLang="zh-CN" i="1" dirty="0">
                          <a:solidFill>
                            <a:srgbClr val="000000"/>
                          </a:solidFill>
                          <a:latin typeface="Cambria Math" panose="02040503050406030204" pitchFamily="18" charset="0"/>
                          <a:sym typeface="Cambria Math" panose="02040503050406030204" pitchFamily="18" charset="0"/>
                        </a:rPr>
                        <m:t>𝑀𝑅</m:t>
                      </m:r>
                    </m:oMath>
                  </m:oMathPara>
                </a14:m>
                <a:endParaRPr lang="zh-CN" altLang="en-US" dirty="0">
                  <a:solidFill>
                    <a:srgbClr val="000000"/>
                  </a:solidFill>
                  <a:latin typeface="Cambria Math" panose="02040503050406030204" pitchFamily="18" charset="0"/>
                  <a:sym typeface="Cambria Math" panose="02040503050406030204" pitchFamily="18" charset="0"/>
                </a:endParaRPr>
              </a:p>
            </p:txBody>
          </p:sp>
        </mc:Choice>
        <mc:Fallback xmlns="">
          <p:sp>
            <p:nvSpPr>
              <p:cNvPr id="39" name="TextBox 24"/>
              <p:cNvSpPr>
                <a:spLocks noRot="1" noChangeAspect="1" noMove="1" noResize="1" noEditPoints="1" noAdjustHandles="1" noChangeArrowheads="1" noChangeShapeType="1" noTextEdit="1"/>
              </p:cNvSpPr>
              <p:nvPr/>
            </p:nvSpPr>
            <p:spPr bwMode="auto">
              <a:xfrm>
                <a:off x="7434030" y="4142727"/>
                <a:ext cx="1644650" cy="369332"/>
              </a:xfrm>
              <a:prstGeom prst="rect">
                <a:avLst/>
              </a:prstGeom>
              <a:blipFill>
                <a:blip r:embed="rId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0" name="直接连接符 21"/>
          <p:cNvSpPr>
            <a:spLocks noChangeShapeType="1"/>
          </p:cNvSpPr>
          <p:nvPr/>
        </p:nvSpPr>
        <p:spPr bwMode="auto">
          <a:xfrm rot="5400000">
            <a:off x="5499963" y="4782225"/>
            <a:ext cx="1501775" cy="635"/>
          </a:xfrm>
          <a:prstGeom prst="line">
            <a:avLst/>
          </a:prstGeom>
          <a:noFill/>
          <a:ln w="28575"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TextBox 26"/>
          <p:cNvSpPr>
            <a:spLocks noChangeArrowheads="1"/>
          </p:cNvSpPr>
          <p:nvPr/>
        </p:nvSpPr>
        <p:spPr bwMode="auto">
          <a:xfrm>
            <a:off x="6037808" y="5532795"/>
            <a:ext cx="500380" cy="369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1100" dirty="0">
                <a:solidFill>
                  <a:srgbClr val="000000"/>
                </a:solidFill>
                <a:latin typeface="Cambria Math" panose="02040503050406030204" pitchFamily="18" charset="0"/>
                <a:sym typeface="Cambria Math" panose="02040503050406030204" pitchFamily="18" charset="0"/>
              </a:rPr>
              <a:t>1</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19" name="矩形 18">
            <a:extLst>
              <a:ext uri="{FF2B5EF4-FFF2-40B4-BE49-F238E27FC236}">
                <a16:creationId xmlns:a16="http://schemas.microsoft.com/office/drawing/2014/main" id="{9B600E55-4E27-403B-A0B5-50EF2594B4F8}"/>
              </a:ext>
            </a:extLst>
          </p:cNvPr>
          <p:cNvSpPr/>
          <p:nvPr/>
        </p:nvSpPr>
        <p:spPr>
          <a:xfrm>
            <a:off x="467545" y="548680"/>
            <a:ext cx="3816435"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lvl="0" eaLnBrk="1" hangingPunct="1">
              <a:defRPr/>
            </a:pPr>
            <a:r>
              <a:rPr lang="zh-CN" altLang="en-US" sz="2400" b="1" spc="150" dirty="0">
                <a:solidFill>
                  <a:srgbClr val="FFFFFF"/>
                </a:solidFill>
                <a:latin typeface="微软雅黑" panose="020B0503020204020204" pitchFamily="34" charset="-122"/>
                <a:ea typeface="微软雅黑" panose="020B0503020204020204" pitchFamily="34" charset="-122"/>
              </a:rPr>
              <a:t>二、完全竞争企业的收益</a:t>
            </a:r>
          </a:p>
        </p:txBody>
      </p:sp>
    </p:spTree>
    <p:extLst>
      <p:ext uri="{BB962C8B-B14F-4D97-AF65-F5344CB8AC3E}">
        <p14:creationId xmlns:p14="http://schemas.microsoft.com/office/powerpoint/2010/main" val="428497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xEl>
                                              <p:pRg st="0" end="0"/>
                                            </p:txEl>
                                          </p:spTgt>
                                        </p:tgtEl>
                                        <p:attrNameLst>
                                          <p:attrName>style.visibility</p:attrName>
                                        </p:attrNameLst>
                                      </p:cBhvr>
                                      <p:to>
                                        <p:strVal val="visible"/>
                                      </p:to>
                                    </p:set>
                                    <p:animEffect transition="in" filter="wipe(left)">
                                      <p:cBhvr>
                                        <p:cTn id="12" dur="500"/>
                                        <p:tgtEl>
                                          <p:spTgt spid="2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xEl>
                                              <p:pRg st="1" end="1"/>
                                            </p:txEl>
                                          </p:spTgt>
                                        </p:tgtEl>
                                        <p:attrNameLst>
                                          <p:attrName>style.visibility</p:attrName>
                                        </p:attrNameLst>
                                      </p:cBhvr>
                                      <p:to>
                                        <p:strVal val="visible"/>
                                      </p:to>
                                    </p:set>
                                    <p:animEffect transition="in" filter="wipe(left)">
                                      <p:cBhvr>
                                        <p:cTn id="17" dur="500"/>
                                        <p:tgtEl>
                                          <p:spTgt spid="2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xEl>
                                              <p:pRg st="2" end="2"/>
                                            </p:txEl>
                                          </p:spTgt>
                                        </p:tgtEl>
                                        <p:attrNameLst>
                                          <p:attrName>style.visibility</p:attrName>
                                        </p:attrNameLst>
                                      </p:cBhvr>
                                      <p:to>
                                        <p:strVal val="visible"/>
                                      </p:to>
                                    </p:set>
                                    <p:animEffect transition="in" filter="wipe(left)">
                                      <p:cBhvr>
                                        <p:cTn id="22" dur="500"/>
                                        <p:tgtEl>
                                          <p:spTgt spid="2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9">
                                            <p:txEl>
                                              <p:pRg st="3" end="3"/>
                                            </p:txEl>
                                          </p:spTgt>
                                        </p:tgtEl>
                                        <p:attrNameLst>
                                          <p:attrName>style.visibility</p:attrName>
                                        </p:attrNameLst>
                                      </p:cBhvr>
                                      <p:to>
                                        <p:strVal val="visible"/>
                                      </p:to>
                                    </p:set>
                                    <p:animEffect transition="in" filter="wipe(left)">
                                      <p:cBhvr>
                                        <p:cTn id="27" dur="500"/>
                                        <p:tgtEl>
                                          <p:spTgt spid="29">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9">
                                            <p:txEl>
                                              <p:pRg st="4" end="4"/>
                                            </p:txEl>
                                          </p:spTgt>
                                        </p:tgtEl>
                                        <p:attrNameLst>
                                          <p:attrName>style.visibility</p:attrName>
                                        </p:attrNameLst>
                                      </p:cBhvr>
                                      <p:to>
                                        <p:strVal val="visible"/>
                                      </p:to>
                                    </p:set>
                                    <p:animEffect transition="in" filter="wipe(left)">
                                      <p:cBhvr>
                                        <p:cTn id="32" dur="500"/>
                                        <p:tgtEl>
                                          <p:spTgt spid="29">
                                            <p:txEl>
                                              <p:pRg st="4" end="4"/>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wipe(left)">
                                      <p:cBhvr>
                                        <p:cTn id="35" dur="500"/>
                                        <p:tgtEl>
                                          <p:spTgt spid="34"/>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randombar(horizontal)">
                                      <p:cBhvr>
                                        <p:cTn id="38" dur="500"/>
                                        <p:tgtEl>
                                          <p:spTgt spid="33"/>
                                        </p:tgtEl>
                                      </p:cBhvr>
                                    </p:animEffect>
                                  </p:childTnLst>
                                </p:cTn>
                              </p:par>
                              <p:par>
                                <p:cTn id="39" presetID="22" presetClass="entr" presetSubtype="4" fill="hold" nodeType="with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wipe(down)">
                                      <p:cBhvr>
                                        <p:cTn id="41" dur="500"/>
                                        <p:tgtEl>
                                          <p:spTgt spid="42"/>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randombar(horizontal)">
                                      <p:cBhvr>
                                        <p:cTn id="44" dur="500"/>
                                        <p:tgtEl>
                                          <p:spTgt spid="35"/>
                                        </p:tgtEl>
                                      </p:cBhvr>
                                    </p:animEffect>
                                  </p:childTnLst>
                                </p:cTn>
                              </p:par>
                              <p:par>
                                <p:cTn id="45" presetID="14" presetClass="entr" presetSubtype="1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randombar(horizontal)">
                                      <p:cBhvr>
                                        <p:cTn id="47" dur="500"/>
                                        <p:tgtEl>
                                          <p:spTgt spid="41"/>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randombar(horizontal)">
                                      <p:cBhvr>
                                        <p:cTn id="50" dur="500"/>
                                        <p:tgtEl>
                                          <p:spTgt spid="43"/>
                                        </p:tgtEl>
                                      </p:cBhvr>
                                    </p:animEffect>
                                  </p:childTnLst>
                                </p:cTn>
                              </p:par>
                              <p:par>
                                <p:cTn id="51" presetID="14" presetClass="entr" presetSubtype="1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randombar(horizontal)">
                                      <p:cBhvr>
                                        <p:cTn id="53" dur="500"/>
                                        <p:tgtEl>
                                          <p:spTgt spid="36"/>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wipe(left)">
                                      <p:cBhvr>
                                        <p:cTn id="56" dur="500"/>
                                        <p:tgtEl>
                                          <p:spTgt spid="38"/>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wipe(left)">
                                      <p:cBhvr>
                                        <p:cTn id="59" dur="500"/>
                                        <p:tgtEl>
                                          <p:spTgt spid="37"/>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down)">
                                      <p:cBhvr>
                                        <p:cTn id="62" dur="500"/>
                                        <p:tgtEl>
                                          <p:spTgt spid="40"/>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39"/>
                                        </p:tgtEl>
                                        <p:attrNameLst>
                                          <p:attrName>style.visibility</p:attrName>
                                        </p:attrNameLst>
                                      </p:cBhvr>
                                      <p:to>
                                        <p:strVal val="visible"/>
                                      </p:to>
                                    </p:set>
                                    <p:animEffect transition="in" filter="wipe(left)">
                                      <p:cBhvr>
                                        <p:cTn id="6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33" grpId="0"/>
      <p:bldP spid="34" grpId="0" animBg="1"/>
      <p:bldP spid="35" grpId="0"/>
      <p:bldP spid="36" grpId="0"/>
      <p:bldP spid="37" grpId="0" animBg="1"/>
      <p:bldP spid="38" grpId="0"/>
      <p:bldP spid="39" grpId="0"/>
      <p:bldP spid="40" grpId="0" animBg="1"/>
      <p:bldP spid="4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7E4A3EC2-8BCD-493E-A833-DC957F042B43}"/>
              </a:ext>
            </a:extLst>
          </p:cNvPr>
          <p:cNvSpPr/>
          <p:nvPr/>
        </p:nvSpPr>
        <p:spPr>
          <a:xfrm>
            <a:off x="467545" y="548680"/>
            <a:ext cx="3816435"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lvl="0" eaLnBrk="1" hangingPunct="1">
              <a:defRPr/>
            </a:pPr>
            <a:r>
              <a:rPr lang="zh-CN" altLang="en-US" sz="2400" b="1" spc="150" dirty="0">
                <a:solidFill>
                  <a:srgbClr val="FFFFFF"/>
                </a:solidFill>
                <a:latin typeface="微软雅黑" panose="020B0503020204020204" pitchFamily="34" charset="-122"/>
                <a:ea typeface="微软雅黑" panose="020B0503020204020204" pitchFamily="34" charset="-122"/>
              </a:rPr>
              <a:t>二、完全竞争企业的收益</a:t>
            </a:r>
          </a:p>
        </p:txBody>
      </p:sp>
      <p:sp>
        <p:nvSpPr>
          <p:cNvPr id="16" name="矩形 15">
            <a:extLst>
              <a:ext uri="{FF2B5EF4-FFF2-40B4-BE49-F238E27FC236}">
                <a16:creationId xmlns:a16="http://schemas.microsoft.com/office/drawing/2014/main" id="{88E64304-A318-44E5-8B2C-DCEFC99551AF}"/>
              </a:ext>
            </a:extLst>
          </p:cNvPr>
          <p:cNvSpPr/>
          <p:nvPr/>
        </p:nvSpPr>
        <p:spPr>
          <a:xfrm>
            <a:off x="4067223" y="0"/>
            <a:ext cx="5120312" cy="646331"/>
          </a:xfrm>
          <a:prstGeom prst="rect">
            <a:avLst/>
          </a:prstGeom>
        </p:spPr>
        <p:txBody>
          <a:bodyPr wrap="none">
            <a:spAutoFit/>
          </a:bodyPr>
          <a:lstStyle/>
          <a:p>
            <a:pPr lvl="0" defTabSz="457200" eaLnBrk="1" fontAlgn="auto" hangingPunct="1">
              <a:spcBef>
                <a:spcPts val="0"/>
              </a:spcBef>
              <a:spcAft>
                <a:spcPts val="0"/>
              </a:spcAft>
              <a:defRPr/>
            </a:pPr>
            <a:r>
              <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第</a:t>
            </a:r>
            <a:r>
              <a:rPr lang="zh-CN" altLang="en-US" spc="150" dirty="0">
                <a:solidFill>
                  <a:srgbClr val="000000"/>
                </a:solidFill>
                <a:latin typeface="微软雅黑" panose="020B0503020204020204" pitchFamily="34" charset="-122"/>
                <a:ea typeface="微软雅黑" panose="020B0503020204020204" pitchFamily="34" charset="-122"/>
              </a:rPr>
              <a:t>二节  完全竞争企业面临的需求曲线和收益</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endParaRPr kumimoji="0" lang="zh-CN" altLang="en-US" sz="1800" b="0" i="0" u="none" strike="noStrike" kern="1200" cap="none" spc="15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4" name="组合 3"/>
          <p:cNvGrpSpPr/>
          <p:nvPr/>
        </p:nvGrpSpPr>
        <p:grpSpPr>
          <a:xfrm>
            <a:off x="827740" y="1661394"/>
            <a:ext cx="7163361" cy="643766"/>
            <a:chOff x="657706" y="1054315"/>
            <a:chExt cx="7163361" cy="643766"/>
          </a:xfrm>
        </p:grpSpPr>
        <p:sp>
          <p:nvSpPr>
            <p:cNvPr id="8" name="Rectangle 7"/>
            <p:cNvSpPr>
              <a:spLocks noChangeArrowheads="1"/>
            </p:cNvSpPr>
            <p:nvPr/>
          </p:nvSpPr>
          <p:spPr bwMode="auto">
            <a:xfrm>
              <a:off x="657706" y="1054315"/>
              <a:ext cx="2371676" cy="643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00"/>
                  </a:solidFill>
                  <a:latin typeface="微软雅黑" panose="020B0503020204020204" pitchFamily="34" charset="-122"/>
                  <a:ea typeface="微软雅黑" panose="020B0503020204020204" pitchFamily="34" charset="-122"/>
                </a:rPr>
                <a:t>价格</a:t>
              </a:r>
              <a:r>
                <a:rPr lang="en-US" altLang="zh-CN" b="1" dirty="0">
                  <a:solidFill>
                    <a:srgbClr val="000000"/>
                  </a:solidFill>
                  <a:latin typeface="微软雅黑" panose="020B0503020204020204" pitchFamily="34" charset="-122"/>
                  <a:ea typeface="微软雅黑" panose="020B0503020204020204" pitchFamily="34" charset="-122"/>
                </a:rPr>
                <a:t> (P)</a:t>
              </a:r>
              <a:endParaRPr lang="zh-CN" altLang="en-US" b="1" dirty="0">
                <a:solidFill>
                  <a:srgbClr val="000000"/>
                </a:solidFill>
                <a:latin typeface="微软雅黑" panose="020B0503020204020204" pitchFamily="34" charset="-122"/>
                <a:ea typeface="微软雅黑" panose="020B0503020204020204" pitchFamily="34" charset="-122"/>
              </a:endParaRPr>
            </a:p>
            <a:p>
              <a:pPr algn="ctr"/>
              <a:r>
                <a:rPr lang="en-US" altLang="zh-CN" b="1" i="1" dirty="0">
                  <a:solidFill>
                    <a:srgbClr val="CC0000"/>
                  </a:solidFill>
                  <a:latin typeface="微软雅黑" panose="020B0503020204020204" pitchFamily="34" charset="-122"/>
                  <a:ea typeface="微软雅黑" panose="020B0503020204020204" pitchFamily="34" charset="-122"/>
                </a:rPr>
                <a:t>(Average Revenue)</a:t>
              </a:r>
              <a:endParaRPr lang="zh-CN" altLang="en-US" sz="1600" dirty="0">
                <a:latin typeface="微软雅黑" panose="020B0503020204020204" pitchFamily="34" charset="-122"/>
                <a:ea typeface="微软雅黑" panose="020B0503020204020204" pitchFamily="34" charset="-122"/>
              </a:endParaRPr>
            </a:p>
          </p:txBody>
        </p:sp>
        <p:sp>
          <p:nvSpPr>
            <p:cNvPr id="9" name="Rectangle 8"/>
            <p:cNvSpPr>
              <a:spLocks noChangeArrowheads="1"/>
            </p:cNvSpPr>
            <p:nvPr/>
          </p:nvSpPr>
          <p:spPr bwMode="auto">
            <a:xfrm>
              <a:off x="5044473" y="1054315"/>
              <a:ext cx="875241" cy="643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00"/>
                  </a:solidFill>
                  <a:latin typeface="微软雅黑" panose="020B0503020204020204" pitchFamily="34" charset="-122"/>
                  <a:ea typeface="微软雅黑" panose="020B0503020204020204" pitchFamily="34" charset="-122"/>
                </a:rPr>
                <a:t>总收益</a:t>
              </a:r>
              <a:endParaRPr lang="en-US" altLang="zh-CN" b="1" dirty="0">
                <a:solidFill>
                  <a:srgbClr val="000000"/>
                </a:solidFill>
                <a:latin typeface="微软雅黑" panose="020B0503020204020204" pitchFamily="34" charset="-122"/>
                <a:ea typeface="微软雅黑" panose="020B0503020204020204" pitchFamily="34" charset="-122"/>
              </a:endParaRPr>
            </a:p>
            <a:p>
              <a:pPr algn="ctr"/>
              <a:r>
                <a:rPr lang="en-US" altLang="zh-CN" b="1" dirty="0">
                  <a:solidFill>
                    <a:srgbClr val="000000"/>
                  </a:solidFill>
                  <a:latin typeface="微软雅黑" panose="020B0503020204020204" pitchFamily="34" charset="-122"/>
                  <a:ea typeface="微软雅黑" panose="020B0503020204020204" pitchFamily="34" charset="-122"/>
                </a:rPr>
                <a:t> (TR)</a:t>
              </a:r>
              <a:endParaRPr lang="zh-CN" altLang="en-US" sz="1600" dirty="0">
                <a:latin typeface="微软雅黑" panose="020B0503020204020204" pitchFamily="34" charset="-122"/>
                <a:ea typeface="微软雅黑" panose="020B0503020204020204" pitchFamily="34" charset="-122"/>
              </a:endParaRPr>
            </a:p>
          </p:txBody>
        </p:sp>
        <p:sp>
          <p:nvSpPr>
            <p:cNvPr id="10" name="Rectangle 9"/>
            <p:cNvSpPr>
              <a:spLocks noChangeArrowheads="1"/>
            </p:cNvSpPr>
            <p:nvPr/>
          </p:nvSpPr>
          <p:spPr bwMode="auto">
            <a:xfrm>
              <a:off x="6714994" y="1054315"/>
              <a:ext cx="1106073" cy="643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00"/>
                  </a:solidFill>
                  <a:latin typeface="微软雅黑" panose="020B0503020204020204" pitchFamily="34" charset="-122"/>
                  <a:ea typeface="微软雅黑" panose="020B0503020204020204" pitchFamily="34" charset="-122"/>
                </a:rPr>
                <a:t>边际收益</a:t>
              </a:r>
              <a:endParaRPr lang="en-US" altLang="zh-CN" b="1" dirty="0">
                <a:solidFill>
                  <a:srgbClr val="000000"/>
                </a:solidFill>
                <a:latin typeface="微软雅黑" panose="020B0503020204020204" pitchFamily="34" charset="-122"/>
                <a:ea typeface="微软雅黑" panose="020B0503020204020204" pitchFamily="34" charset="-122"/>
              </a:endParaRPr>
            </a:p>
            <a:p>
              <a:pPr algn="ctr"/>
              <a:r>
                <a:rPr lang="en-US" altLang="zh-CN" b="1" dirty="0">
                  <a:solidFill>
                    <a:srgbClr val="000000"/>
                  </a:solidFill>
                  <a:latin typeface="微软雅黑" panose="020B0503020204020204" pitchFamily="34" charset="-122"/>
                  <a:ea typeface="微软雅黑" panose="020B0503020204020204" pitchFamily="34" charset="-122"/>
                </a:rPr>
                <a:t> (MR)</a:t>
              </a:r>
              <a:endParaRPr lang="zh-CN" altLang="en-US" sz="1600" dirty="0">
                <a:latin typeface="微软雅黑" panose="020B0503020204020204" pitchFamily="34" charset="-122"/>
                <a:ea typeface="微软雅黑" panose="020B0503020204020204" pitchFamily="34" charset="-122"/>
              </a:endParaRPr>
            </a:p>
          </p:txBody>
        </p:sp>
        <p:sp>
          <p:nvSpPr>
            <p:cNvPr id="11" name="Rectangle 10"/>
            <p:cNvSpPr>
              <a:spLocks noChangeArrowheads="1"/>
            </p:cNvSpPr>
            <p:nvPr/>
          </p:nvSpPr>
          <p:spPr bwMode="auto">
            <a:xfrm>
              <a:off x="3316479" y="1054315"/>
              <a:ext cx="875241" cy="643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00"/>
                  </a:solidFill>
                  <a:latin typeface="微软雅黑" panose="020B0503020204020204" pitchFamily="34" charset="-122"/>
                  <a:ea typeface="微软雅黑" panose="020B0503020204020204" pitchFamily="34" charset="-122"/>
                </a:rPr>
                <a:t>需求量</a:t>
              </a:r>
              <a:endParaRPr lang="en-US" altLang="zh-CN" b="1" dirty="0">
                <a:solidFill>
                  <a:srgbClr val="000000"/>
                </a:solidFill>
                <a:latin typeface="微软雅黑" panose="020B0503020204020204" pitchFamily="34" charset="-122"/>
                <a:ea typeface="微软雅黑" panose="020B0503020204020204" pitchFamily="34" charset="-122"/>
              </a:endParaRPr>
            </a:p>
            <a:p>
              <a:pPr algn="ctr"/>
              <a:r>
                <a:rPr lang="en-US" altLang="zh-CN" b="1" dirty="0">
                  <a:solidFill>
                    <a:srgbClr val="000000"/>
                  </a:solidFill>
                  <a:latin typeface="微软雅黑" panose="020B0503020204020204" pitchFamily="34" charset="-122"/>
                  <a:ea typeface="微软雅黑" panose="020B0503020204020204" pitchFamily="34" charset="-122"/>
                </a:rPr>
                <a:t> (Q)</a:t>
              </a:r>
              <a:endParaRPr lang="en-US" altLang="zh-CN" b="1" i="1" dirty="0">
                <a:solidFill>
                  <a:srgbClr val="FC0128"/>
                </a:solidFill>
                <a:latin typeface="微软雅黑" panose="020B0503020204020204" pitchFamily="34" charset="-122"/>
                <a:ea typeface="微软雅黑" panose="020B0503020204020204" pitchFamily="34" charset="-122"/>
              </a:endParaRPr>
            </a:p>
          </p:txBody>
        </p:sp>
      </p:grpSp>
      <p:sp>
        <p:nvSpPr>
          <p:cNvPr id="6" name="Rectangle 3"/>
          <p:cNvSpPr>
            <a:spLocks noChangeArrowheads="1"/>
          </p:cNvSpPr>
          <p:nvPr/>
        </p:nvSpPr>
        <p:spPr bwMode="auto">
          <a:xfrm>
            <a:off x="1495738" y="2454092"/>
            <a:ext cx="753412" cy="31367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  131</a:t>
            </a:r>
            <a:endParaRPr lang="en-US" altLang="zh-CN" b="1" dirty="0">
              <a:solidFill>
                <a:srgbClr val="FC0128"/>
              </a:solidFill>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en-US" altLang="zh-CN" b="1" dirty="0">
              <a:solidFill>
                <a:srgbClr val="FC0128"/>
              </a:solidFill>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sz="1200" dirty="0">
              <a:latin typeface="微软雅黑" panose="020B0503020204020204" pitchFamily="34" charset="-122"/>
              <a:ea typeface="微软雅黑" panose="020B0503020204020204" pitchFamily="34" charset="-122"/>
            </a:endParaRPr>
          </a:p>
        </p:txBody>
      </p:sp>
      <p:sp>
        <p:nvSpPr>
          <p:cNvPr id="7" name="Rectangle 4"/>
          <p:cNvSpPr>
            <a:spLocks noChangeArrowheads="1"/>
          </p:cNvSpPr>
          <p:nvPr/>
        </p:nvSpPr>
        <p:spPr bwMode="auto">
          <a:xfrm>
            <a:off x="3573359" y="2454092"/>
            <a:ext cx="468078" cy="31367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  0</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  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  2</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3</a:t>
            </a:r>
            <a:endParaRPr lang="en-US" altLang="zh-CN" b="1" dirty="0">
              <a:solidFill>
                <a:srgbClr val="FC0128"/>
              </a:solidFill>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4</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5</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6</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7</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8</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9</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10</a:t>
            </a:r>
            <a:endParaRPr lang="zh-CN" altLang="en-US" sz="1200" dirty="0">
              <a:latin typeface="微软雅黑" panose="020B0503020204020204" pitchFamily="34" charset="-122"/>
              <a:ea typeface="微软雅黑" panose="020B0503020204020204" pitchFamily="34" charset="-122"/>
            </a:endParaRPr>
          </a:p>
        </p:txBody>
      </p:sp>
      <p:sp>
        <p:nvSpPr>
          <p:cNvPr id="13" name="Rectangle 5"/>
          <p:cNvSpPr>
            <a:spLocks noChangeArrowheads="1"/>
          </p:cNvSpPr>
          <p:nvPr/>
        </p:nvSpPr>
        <p:spPr bwMode="auto">
          <a:xfrm>
            <a:off x="5128810" y="2526097"/>
            <a:ext cx="812530" cy="313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     0</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262</a:t>
            </a:r>
            <a:endParaRPr lang="en-US" altLang="zh-CN" b="1" dirty="0">
              <a:solidFill>
                <a:srgbClr val="FC0128"/>
              </a:solidFill>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393</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524</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655</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786</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917</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1048</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1179</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1310</a:t>
            </a:r>
            <a:endParaRPr lang="zh-CN" altLang="en-US" sz="1200" dirty="0">
              <a:latin typeface="微软雅黑" panose="020B0503020204020204" pitchFamily="34" charset="-122"/>
              <a:ea typeface="微软雅黑" panose="020B0503020204020204" pitchFamily="34" charset="-122"/>
            </a:endParaRPr>
          </a:p>
        </p:txBody>
      </p:sp>
      <p:sp>
        <p:nvSpPr>
          <p:cNvPr id="15" name="Rectangle 6"/>
          <p:cNvSpPr>
            <a:spLocks noChangeArrowheads="1"/>
          </p:cNvSpPr>
          <p:nvPr/>
        </p:nvSpPr>
        <p:spPr bwMode="auto">
          <a:xfrm>
            <a:off x="6635339" y="2615567"/>
            <a:ext cx="1233887" cy="29577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b="1" dirty="0">
              <a:latin typeface="微软雅黑" panose="020B0503020204020204" pitchFamily="34" charset="-122"/>
              <a:ea typeface="微软雅黑" panose="020B0503020204020204" pitchFamily="34" charset="-122"/>
              <a:sym typeface="Arial" panose="020B0604020202020204" pitchFamily="34" charset="0"/>
            </a:endParaRPr>
          </a:p>
          <a:p>
            <a:pPr algn="r"/>
            <a:r>
              <a:rPr lang="en-US" altLang="zh-CN" b="1" dirty="0">
                <a:latin typeface="微软雅黑" panose="020B0503020204020204" pitchFamily="34" charset="-122"/>
                <a:ea typeface="微软雅黑" panose="020B0503020204020204" pitchFamily="34" charset="-122"/>
                <a:sym typeface="Arial" panose="020B0604020202020204" pitchFamily="34" charset="0"/>
              </a:rPr>
              <a:t>131</a:t>
            </a:r>
            <a:endParaRPr lang="zh-CN" altLang="en-US" sz="1200" dirty="0">
              <a:latin typeface="微软雅黑" panose="020B0503020204020204" pitchFamily="34" charset="-122"/>
              <a:ea typeface="微软雅黑" panose="020B0503020204020204" pitchFamily="34" charset="-122"/>
            </a:endParaRPr>
          </a:p>
        </p:txBody>
      </p:sp>
      <p:sp>
        <p:nvSpPr>
          <p:cNvPr id="49" name="Line 43"/>
          <p:cNvSpPr>
            <a:spLocks noChangeShapeType="1"/>
          </p:cNvSpPr>
          <p:nvPr/>
        </p:nvSpPr>
        <p:spPr bwMode="auto">
          <a:xfrm>
            <a:off x="1187112" y="2382655"/>
            <a:ext cx="7075488" cy="0"/>
          </a:xfrm>
          <a:prstGeom prst="line">
            <a:avLst/>
          </a:prstGeom>
          <a:noFill/>
          <a:ln w="50800" cap="flat" cmpd="sng">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nvGrpSpPr>
          <p:cNvPr id="86" name="组合 85">
            <a:extLst>
              <a:ext uri="{FF2B5EF4-FFF2-40B4-BE49-F238E27FC236}">
                <a16:creationId xmlns:a16="http://schemas.microsoft.com/office/drawing/2014/main" id="{A5539993-E062-470A-8686-C17CC78367B1}"/>
              </a:ext>
            </a:extLst>
          </p:cNvPr>
          <p:cNvGrpSpPr/>
          <p:nvPr/>
        </p:nvGrpSpPr>
        <p:grpSpPr>
          <a:xfrm>
            <a:off x="5868090" y="2492935"/>
            <a:ext cx="1272878" cy="3034300"/>
            <a:chOff x="5796986" y="1891041"/>
            <a:chExt cx="1272878" cy="3034300"/>
          </a:xfrm>
        </p:grpSpPr>
        <p:grpSp>
          <p:nvGrpSpPr>
            <p:cNvPr id="28" name="组合 27">
              <a:extLst>
                <a:ext uri="{FF2B5EF4-FFF2-40B4-BE49-F238E27FC236}">
                  <a16:creationId xmlns:a16="http://schemas.microsoft.com/office/drawing/2014/main" id="{68C5DE33-4D08-4D77-BE37-F001B8075678}"/>
                </a:ext>
              </a:extLst>
            </p:cNvPr>
            <p:cNvGrpSpPr/>
            <p:nvPr/>
          </p:nvGrpSpPr>
          <p:grpSpPr>
            <a:xfrm>
              <a:off x="5796986" y="1891041"/>
              <a:ext cx="1260087" cy="459100"/>
              <a:chOff x="5796986" y="1891041"/>
              <a:chExt cx="1260087" cy="459100"/>
            </a:xfrm>
          </p:grpSpPr>
          <p:sp>
            <p:nvSpPr>
              <p:cNvPr id="47" name="Rectangle 13"/>
              <p:cNvSpPr>
                <a:spLocks noChangeArrowheads="1"/>
              </p:cNvSpPr>
              <p:nvPr/>
            </p:nvSpPr>
            <p:spPr bwMode="auto">
              <a:xfrm>
                <a:off x="5796986" y="1891041"/>
                <a:ext cx="264048" cy="4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endParaRPr>
              </a:p>
            </p:txBody>
          </p:sp>
          <p:sp>
            <p:nvSpPr>
              <p:cNvPr id="48" name="Line 14"/>
              <p:cNvSpPr>
                <a:spLocks noChangeShapeType="1"/>
              </p:cNvSpPr>
              <p:nvPr/>
            </p:nvSpPr>
            <p:spPr bwMode="auto">
              <a:xfrm>
                <a:off x="5956617" y="2133193"/>
                <a:ext cx="1100456" cy="6473"/>
              </a:xfrm>
              <a:prstGeom prst="line">
                <a:avLst/>
              </a:prstGeom>
              <a:noFill/>
              <a:ln w="57150" cap="flat" cmpd="sng">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z="140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53" name="组合 52">
              <a:extLst>
                <a:ext uri="{FF2B5EF4-FFF2-40B4-BE49-F238E27FC236}">
                  <a16:creationId xmlns:a16="http://schemas.microsoft.com/office/drawing/2014/main" id="{D77C71CA-4DFD-47EB-BA84-A92D66D10653}"/>
                </a:ext>
              </a:extLst>
            </p:cNvPr>
            <p:cNvGrpSpPr/>
            <p:nvPr/>
          </p:nvGrpSpPr>
          <p:grpSpPr>
            <a:xfrm>
              <a:off x="5796986" y="2177845"/>
              <a:ext cx="1260087" cy="459100"/>
              <a:chOff x="5787690" y="1878885"/>
              <a:chExt cx="1260087" cy="459100"/>
            </a:xfrm>
          </p:grpSpPr>
          <p:sp>
            <p:nvSpPr>
              <p:cNvPr id="54" name="Rectangle 13">
                <a:extLst>
                  <a:ext uri="{FF2B5EF4-FFF2-40B4-BE49-F238E27FC236}">
                    <a16:creationId xmlns:a16="http://schemas.microsoft.com/office/drawing/2014/main" id="{15CDAB4B-AA6D-429F-A0B0-EFBCA0966583}"/>
                  </a:ext>
                </a:extLst>
              </p:cNvPr>
              <p:cNvSpPr>
                <a:spLocks noChangeArrowheads="1"/>
              </p:cNvSpPr>
              <p:nvPr/>
            </p:nvSpPr>
            <p:spPr bwMode="auto">
              <a:xfrm>
                <a:off x="5787690" y="1878885"/>
                <a:ext cx="264048" cy="4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endParaRPr>
              </a:p>
            </p:txBody>
          </p:sp>
          <p:sp>
            <p:nvSpPr>
              <p:cNvPr id="55" name="Line 14">
                <a:extLst>
                  <a:ext uri="{FF2B5EF4-FFF2-40B4-BE49-F238E27FC236}">
                    <a16:creationId xmlns:a16="http://schemas.microsoft.com/office/drawing/2014/main" id="{8AE55700-0737-448E-991D-0126F255BDBB}"/>
                  </a:ext>
                </a:extLst>
              </p:cNvPr>
              <p:cNvSpPr>
                <a:spLocks noChangeShapeType="1"/>
              </p:cNvSpPr>
              <p:nvPr/>
            </p:nvSpPr>
            <p:spPr bwMode="auto">
              <a:xfrm>
                <a:off x="5947321" y="2112146"/>
                <a:ext cx="1100456" cy="6473"/>
              </a:xfrm>
              <a:prstGeom prst="line">
                <a:avLst/>
              </a:prstGeom>
              <a:noFill/>
              <a:ln w="57150" cap="flat" cmpd="sng">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z="140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56" name="组合 55">
              <a:extLst>
                <a:ext uri="{FF2B5EF4-FFF2-40B4-BE49-F238E27FC236}">
                  <a16:creationId xmlns:a16="http://schemas.microsoft.com/office/drawing/2014/main" id="{5CE5ECF6-9621-4691-833A-B02D095F4587}"/>
                </a:ext>
              </a:extLst>
            </p:cNvPr>
            <p:cNvGrpSpPr/>
            <p:nvPr/>
          </p:nvGrpSpPr>
          <p:grpSpPr>
            <a:xfrm>
              <a:off x="5797000" y="2463647"/>
              <a:ext cx="1260087" cy="459100"/>
              <a:chOff x="5787690" y="1849597"/>
              <a:chExt cx="1260087" cy="459100"/>
            </a:xfrm>
          </p:grpSpPr>
          <p:sp>
            <p:nvSpPr>
              <p:cNvPr id="57" name="Rectangle 13">
                <a:extLst>
                  <a:ext uri="{FF2B5EF4-FFF2-40B4-BE49-F238E27FC236}">
                    <a16:creationId xmlns:a16="http://schemas.microsoft.com/office/drawing/2014/main" id="{5BB9C971-6891-4416-ADD2-323CDAA69DD3}"/>
                  </a:ext>
                </a:extLst>
              </p:cNvPr>
              <p:cNvSpPr>
                <a:spLocks noChangeArrowheads="1"/>
              </p:cNvSpPr>
              <p:nvPr/>
            </p:nvSpPr>
            <p:spPr bwMode="auto">
              <a:xfrm>
                <a:off x="5787690" y="1849597"/>
                <a:ext cx="264048" cy="4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endParaRPr>
              </a:p>
            </p:txBody>
          </p:sp>
          <p:sp>
            <p:nvSpPr>
              <p:cNvPr id="58" name="Line 14">
                <a:extLst>
                  <a:ext uri="{FF2B5EF4-FFF2-40B4-BE49-F238E27FC236}">
                    <a16:creationId xmlns:a16="http://schemas.microsoft.com/office/drawing/2014/main" id="{AC027E07-03DE-4A39-BB8B-9049090B0E6E}"/>
                  </a:ext>
                </a:extLst>
              </p:cNvPr>
              <p:cNvSpPr>
                <a:spLocks noChangeShapeType="1"/>
              </p:cNvSpPr>
              <p:nvPr/>
            </p:nvSpPr>
            <p:spPr bwMode="auto">
              <a:xfrm>
                <a:off x="5947321" y="2091749"/>
                <a:ext cx="1100456" cy="6473"/>
              </a:xfrm>
              <a:prstGeom prst="line">
                <a:avLst/>
              </a:prstGeom>
              <a:noFill/>
              <a:ln w="57150" cap="flat" cmpd="sng">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z="140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59" name="组合 58">
              <a:extLst>
                <a:ext uri="{FF2B5EF4-FFF2-40B4-BE49-F238E27FC236}">
                  <a16:creationId xmlns:a16="http://schemas.microsoft.com/office/drawing/2014/main" id="{17C63D69-A8F0-4C01-B26B-4495B4508847}"/>
                </a:ext>
              </a:extLst>
            </p:cNvPr>
            <p:cNvGrpSpPr/>
            <p:nvPr/>
          </p:nvGrpSpPr>
          <p:grpSpPr>
            <a:xfrm>
              <a:off x="5796986" y="2749966"/>
              <a:ext cx="1260087" cy="459100"/>
              <a:chOff x="5787690" y="1802961"/>
              <a:chExt cx="1260087" cy="459100"/>
            </a:xfrm>
          </p:grpSpPr>
          <p:sp>
            <p:nvSpPr>
              <p:cNvPr id="60" name="Rectangle 13">
                <a:extLst>
                  <a:ext uri="{FF2B5EF4-FFF2-40B4-BE49-F238E27FC236}">
                    <a16:creationId xmlns:a16="http://schemas.microsoft.com/office/drawing/2014/main" id="{A4CED1B6-5BD0-404D-92DE-D946FD2139B5}"/>
                  </a:ext>
                </a:extLst>
              </p:cNvPr>
              <p:cNvSpPr>
                <a:spLocks noChangeArrowheads="1"/>
              </p:cNvSpPr>
              <p:nvPr/>
            </p:nvSpPr>
            <p:spPr bwMode="auto">
              <a:xfrm>
                <a:off x="5787690" y="1802961"/>
                <a:ext cx="264048" cy="4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endParaRPr>
              </a:p>
            </p:txBody>
          </p:sp>
          <p:sp>
            <p:nvSpPr>
              <p:cNvPr id="61" name="Line 14">
                <a:extLst>
                  <a:ext uri="{FF2B5EF4-FFF2-40B4-BE49-F238E27FC236}">
                    <a16:creationId xmlns:a16="http://schemas.microsoft.com/office/drawing/2014/main" id="{E443808F-0265-4896-B8D4-5EB4F4736DB2}"/>
                  </a:ext>
                </a:extLst>
              </p:cNvPr>
              <p:cNvSpPr>
                <a:spLocks noChangeShapeType="1"/>
              </p:cNvSpPr>
              <p:nvPr/>
            </p:nvSpPr>
            <p:spPr bwMode="auto">
              <a:xfrm>
                <a:off x="5947321" y="2036222"/>
                <a:ext cx="1100456" cy="6473"/>
              </a:xfrm>
              <a:prstGeom prst="line">
                <a:avLst/>
              </a:prstGeom>
              <a:noFill/>
              <a:ln w="57150" cap="flat" cmpd="sng">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z="140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71" name="组合 70">
              <a:extLst>
                <a:ext uri="{FF2B5EF4-FFF2-40B4-BE49-F238E27FC236}">
                  <a16:creationId xmlns:a16="http://schemas.microsoft.com/office/drawing/2014/main" id="{76D6A0D0-8238-437A-86FE-17D26175F968}"/>
                </a:ext>
              </a:extLst>
            </p:cNvPr>
            <p:cNvGrpSpPr/>
            <p:nvPr/>
          </p:nvGrpSpPr>
          <p:grpSpPr>
            <a:xfrm>
              <a:off x="5796986" y="3036253"/>
              <a:ext cx="1260087" cy="459100"/>
              <a:chOff x="5787676" y="1767738"/>
              <a:chExt cx="1260087" cy="459100"/>
            </a:xfrm>
          </p:grpSpPr>
          <p:sp>
            <p:nvSpPr>
              <p:cNvPr id="72" name="Rectangle 13">
                <a:extLst>
                  <a:ext uri="{FF2B5EF4-FFF2-40B4-BE49-F238E27FC236}">
                    <a16:creationId xmlns:a16="http://schemas.microsoft.com/office/drawing/2014/main" id="{808103D9-6814-4B1F-8F00-500D954DD2E1}"/>
                  </a:ext>
                </a:extLst>
              </p:cNvPr>
              <p:cNvSpPr>
                <a:spLocks noChangeArrowheads="1"/>
              </p:cNvSpPr>
              <p:nvPr/>
            </p:nvSpPr>
            <p:spPr bwMode="auto">
              <a:xfrm>
                <a:off x="5787676" y="1767738"/>
                <a:ext cx="264048" cy="4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endParaRPr>
              </a:p>
            </p:txBody>
          </p:sp>
          <p:sp>
            <p:nvSpPr>
              <p:cNvPr id="73" name="Line 14">
                <a:extLst>
                  <a:ext uri="{FF2B5EF4-FFF2-40B4-BE49-F238E27FC236}">
                    <a16:creationId xmlns:a16="http://schemas.microsoft.com/office/drawing/2014/main" id="{BAC38850-FD78-4FBF-A524-5A23CBCCF144}"/>
                  </a:ext>
                </a:extLst>
              </p:cNvPr>
              <p:cNvSpPr>
                <a:spLocks noChangeShapeType="1"/>
              </p:cNvSpPr>
              <p:nvPr/>
            </p:nvSpPr>
            <p:spPr bwMode="auto">
              <a:xfrm>
                <a:off x="5947307" y="2009890"/>
                <a:ext cx="1100456" cy="6473"/>
              </a:xfrm>
              <a:prstGeom prst="line">
                <a:avLst/>
              </a:prstGeom>
              <a:noFill/>
              <a:ln w="57150" cap="flat" cmpd="sng">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z="140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74" name="组合 73">
              <a:extLst>
                <a:ext uri="{FF2B5EF4-FFF2-40B4-BE49-F238E27FC236}">
                  <a16:creationId xmlns:a16="http://schemas.microsoft.com/office/drawing/2014/main" id="{E1EBBA81-4698-4F41-8D9B-568EE68CD0E6}"/>
                </a:ext>
              </a:extLst>
            </p:cNvPr>
            <p:cNvGrpSpPr/>
            <p:nvPr/>
          </p:nvGrpSpPr>
          <p:grpSpPr>
            <a:xfrm>
              <a:off x="5796986" y="3321229"/>
              <a:ext cx="1260087" cy="459100"/>
              <a:chOff x="5778380" y="1753754"/>
              <a:chExt cx="1260087" cy="459100"/>
            </a:xfrm>
          </p:grpSpPr>
          <p:sp>
            <p:nvSpPr>
              <p:cNvPr id="75" name="Rectangle 13">
                <a:extLst>
                  <a:ext uri="{FF2B5EF4-FFF2-40B4-BE49-F238E27FC236}">
                    <a16:creationId xmlns:a16="http://schemas.microsoft.com/office/drawing/2014/main" id="{CD55FF82-21E0-4A36-B275-77DBD75CE6F2}"/>
                  </a:ext>
                </a:extLst>
              </p:cNvPr>
              <p:cNvSpPr>
                <a:spLocks noChangeArrowheads="1"/>
              </p:cNvSpPr>
              <p:nvPr/>
            </p:nvSpPr>
            <p:spPr bwMode="auto">
              <a:xfrm>
                <a:off x="5778380" y="1753754"/>
                <a:ext cx="264048" cy="4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endParaRPr>
              </a:p>
            </p:txBody>
          </p:sp>
          <p:sp>
            <p:nvSpPr>
              <p:cNvPr id="76" name="Line 14">
                <a:extLst>
                  <a:ext uri="{FF2B5EF4-FFF2-40B4-BE49-F238E27FC236}">
                    <a16:creationId xmlns:a16="http://schemas.microsoft.com/office/drawing/2014/main" id="{8921B61F-4094-4009-9D6C-28F538FAA590}"/>
                  </a:ext>
                </a:extLst>
              </p:cNvPr>
              <p:cNvSpPr>
                <a:spLocks noChangeShapeType="1"/>
              </p:cNvSpPr>
              <p:nvPr/>
            </p:nvSpPr>
            <p:spPr bwMode="auto">
              <a:xfrm>
                <a:off x="5938011" y="1987015"/>
                <a:ext cx="1100456" cy="6473"/>
              </a:xfrm>
              <a:prstGeom prst="line">
                <a:avLst/>
              </a:prstGeom>
              <a:noFill/>
              <a:ln w="57150" cap="flat" cmpd="sng">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z="140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77" name="组合 76">
              <a:extLst>
                <a:ext uri="{FF2B5EF4-FFF2-40B4-BE49-F238E27FC236}">
                  <a16:creationId xmlns:a16="http://schemas.microsoft.com/office/drawing/2014/main" id="{67FC0065-BB02-4EFA-85FE-AA6963DA26A6}"/>
                </a:ext>
              </a:extLst>
            </p:cNvPr>
            <p:cNvGrpSpPr/>
            <p:nvPr/>
          </p:nvGrpSpPr>
          <p:grpSpPr>
            <a:xfrm>
              <a:off x="5796986" y="3606933"/>
              <a:ext cx="1260087" cy="459100"/>
              <a:chOff x="5778366" y="1724368"/>
              <a:chExt cx="1260087" cy="459100"/>
            </a:xfrm>
          </p:grpSpPr>
          <p:sp>
            <p:nvSpPr>
              <p:cNvPr id="78" name="Rectangle 13">
                <a:extLst>
                  <a:ext uri="{FF2B5EF4-FFF2-40B4-BE49-F238E27FC236}">
                    <a16:creationId xmlns:a16="http://schemas.microsoft.com/office/drawing/2014/main" id="{4D4F1089-720A-4AF5-9D32-2354E993D180}"/>
                  </a:ext>
                </a:extLst>
              </p:cNvPr>
              <p:cNvSpPr>
                <a:spLocks noChangeArrowheads="1"/>
              </p:cNvSpPr>
              <p:nvPr/>
            </p:nvSpPr>
            <p:spPr bwMode="auto">
              <a:xfrm>
                <a:off x="5778366" y="1724368"/>
                <a:ext cx="264048" cy="4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endParaRPr>
              </a:p>
            </p:txBody>
          </p:sp>
          <p:sp>
            <p:nvSpPr>
              <p:cNvPr id="79" name="Line 14">
                <a:extLst>
                  <a:ext uri="{FF2B5EF4-FFF2-40B4-BE49-F238E27FC236}">
                    <a16:creationId xmlns:a16="http://schemas.microsoft.com/office/drawing/2014/main" id="{B081E512-4951-415B-91ED-522062D04C36}"/>
                  </a:ext>
                </a:extLst>
              </p:cNvPr>
              <p:cNvSpPr>
                <a:spLocks noChangeShapeType="1"/>
              </p:cNvSpPr>
              <p:nvPr/>
            </p:nvSpPr>
            <p:spPr bwMode="auto">
              <a:xfrm>
                <a:off x="5937997" y="1966520"/>
                <a:ext cx="1100456" cy="6473"/>
              </a:xfrm>
              <a:prstGeom prst="line">
                <a:avLst/>
              </a:prstGeom>
              <a:noFill/>
              <a:ln w="57150" cap="flat" cmpd="sng">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z="140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80" name="组合 79">
              <a:extLst>
                <a:ext uri="{FF2B5EF4-FFF2-40B4-BE49-F238E27FC236}">
                  <a16:creationId xmlns:a16="http://schemas.microsoft.com/office/drawing/2014/main" id="{4E8643DD-701C-4D87-A577-CA199C182F18}"/>
                </a:ext>
              </a:extLst>
            </p:cNvPr>
            <p:cNvGrpSpPr/>
            <p:nvPr/>
          </p:nvGrpSpPr>
          <p:grpSpPr>
            <a:xfrm>
              <a:off x="5796986" y="3892248"/>
              <a:ext cx="1260087" cy="459100"/>
              <a:chOff x="5778380" y="1676728"/>
              <a:chExt cx="1260087" cy="459100"/>
            </a:xfrm>
          </p:grpSpPr>
          <p:sp>
            <p:nvSpPr>
              <p:cNvPr id="81" name="Rectangle 13">
                <a:extLst>
                  <a:ext uri="{FF2B5EF4-FFF2-40B4-BE49-F238E27FC236}">
                    <a16:creationId xmlns:a16="http://schemas.microsoft.com/office/drawing/2014/main" id="{DFF489F6-D1DA-413C-9219-6656AAD53F71}"/>
                  </a:ext>
                </a:extLst>
              </p:cNvPr>
              <p:cNvSpPr>
                <a:spLocks noChangeArrowheads="1"/>
              </p:cNvSpPr>
              <p:nvPr/>
            </p:nvSpPr>
            <p:spPr bwMode="auto">
              <a:xfrm>
                <a:off x="5778380" y="1676728"/>
                <a:ext cx="264048" cy="4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endParaRPr>
              </a:p>
            </p:txBody>
          </p:sp>
          <p:sp>
            <p:nvSpPr>
              <p:cNvPr id="82" name="Line 14">
                <a:extLst>
                  <a:ext uri="{FF2B5EF4-FFF2-40B4-BE49-F238E27FC236}">
                    <a16:creationId xmlns:a16="http://schemas.microsoft.com/office/drawing/2014/main" id="{E0218CC4-31A9-4065-A5E6-7DA8770EDE91}"/>
                  </a:ext>
                </a:extLst>
              </p:cNvPr>
              <p:cNvSpPr>
                <a:spLocks noChangeShapeType="1"/>
              </p:cNvSpPr>
              <p:nvPr/>
            </p:nvSpPr>
            <p:spPr bwMode="auto">
              <a:xfrm>
                <a:off x="5938011" y="1919813"/>
                <a:ext cx="1100456" cy="6473"/>
              </a:xfrm>
              <a:prstGeom prst="line">
                <a:avLst/>
              </a:prstGeom>
              <a:noFill/>
              <a:ln w="57150" cap="flat" cmpd="sng">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z="140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83" name="组合 82">
              <a:extLst>
                <a:ext uri="{FF2B5EF4-FFF2-40B4-BE49-F238E27FC236}">
                  <a16:creationId xmlns:a16="http://schemas.microsoft.com/office/drawing/2014/main" id="{E79B28E9-76EA-4C5A-870C-1523ADFE0478}"/>
                </a:ext>
              </a:extLst>
            </p:cNvPr>
            <p:cNvGrpSpPr/>
            <p:nvPr/>
          </p:nvGrpSpPr>
          <p:grpSpPr>
            <a:xfrm>
              <a:off x="5796986" y="4180113"/>
              <a:ext cx="1272878" cy="745228"/>
              <a:chOff x="5765680" y="1660532"/>
              <a:chExt cx="1272878" cy="745228"/>
            </a:xfrm>
          </p:grpSpPr>
          <p:sp>
            <p:nvSpPr>
              <p:cNvPr id="84" name="Rectangle 13">
                <a:extLst>
                  <a:ext uri="{FF2B5EF4-FFF2-40B4-BE49-F238E27FC236}">
                    <a16:creationId xmlns:a16="http://schemas.microsoft.com/office/drawing/2014/main" id="{3363BAF5-4CF0-426D-8FE1-D9CAB48B4C2F}"/>
                  </a:ext>
                </a:extLst>
              </p:cNvPr>
              <p:cNvSpPr>
                <a:spLocks noChangeArrowheads="1"/>
              </p:cNvSpPr>
              <p:nvPr/>
            </p:nvSpPr>
            <p:spPr bwMode="auto">
              <a:xfrm>
                <a:off x="5765680" y="1660532"/>
                <a:ext cx="264048" cy="4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endParaRPr>
              </a:p>
            </p:txBody>
          </p:sp>
          <p:sp>
            <p:nvSpPr>
              <p:cNvPr id="85" name="Line 14">
                <a:extLst>
                  <a:ext uri="{FF2B5EF4-FFF2-40B4-BE49-F238E27FC236}">
                    <a16:creationId xmlns:a16="http://schemas.microsoft.com/office/drawing/2014/main" id="{397D52BD-C76C-48E8-BA06-08CEA7CA807B}"/>
                  </a:ext>
                </a:extLst>
              </p:cNvPr>
              <p:cNvSpPr>
                <a:spLocks noChangeShapeType="1"/>
              </p:cNvSpPr>
              <p:nvPr/>
            </p:nvSpPr>
            <p:spPr bwMode="auto">
              <a:xfrm>
                <a:off x="5938102" y="1890616"/>
                <a:ext cx="1100456" cy="6473"/>
              </a:xfrm>
              <a:prstGeom prst="line">
                <a:avLst/>
              </a:prstGeom>
              <a:noFill/>
              <a:ln w="57150" cap="flat" cmpd="sng">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z="140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87" name="Rectangle 13">
                <a:extLst>
                  <a:ext uri="{FF2B5EF4-FFF2-40B4-BE49-F238E27FC236}">
                    <a16:creationId xmlns:a16="http://schemas.microsoft.com/office/drawing/2014/main" id="{D3436F78-9698-41C1-BEF9-C407763055E3}"/>
                  </a:ext>
                </a:extLst>
              </p:cNvPr>
              <p:cNvSpPr>
                <a:spLocks noChangeArrowheads="1"/>
              </p:cNvSpPr>
              <p:nvPr/>
            </p:nvSpPr>
            <p:spPr bwMode="auto">
              <a:xfrm>
                <a:off x="5765680" y="1946660"/>
                <a:ext cx="264048" cy="45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488" tIns="44450" rIns="90488" bIns="4445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endParaRPr lang="zh-CN" altLang="en-US" sz="1400" dirty="0">
                  <a:latin typeface="微软雅黑" panose="020B0503020204020204" pitchFamily="34" charset="-122"/>
                  <a:ea typeface="微软雅黑" panose="020B0503020204020204" pitchFamily="34" charset="-122"/>
                </a:endParaRPr>
              </a:p>
            </p:txBody>
          </p:sp>
          <p:sp>
            <p:nvSpPr>
              <p:cNvPr id="88" name="Line 14">
                <a:extLst>
                  <a:ext uri="{FF2B5EF4-FFF2-40B4-BE49-F238E27FC236}">
                    <a16:creationId xmlns:a16="http://schemas.microsoft.com/office/drawing/2014/main" id="{7E235FCB-4E7E-4278-9372-9395D84AB043}"/>
                  </a:ext>
                </a:extLst>
              </p:cNvPr>
              <p:cNvSpPr>
                <a:spLocks noChangeShapeType="1"/>
              </p:cNvSpPr>
              <p:nvPr/>
            </p:nvSpPr>
            <p:spPr bwMode="auto">
              <a:xfrm>
                <a:off x="5938102" y="2176744"/>
                <a:ext cx="1100456" cy="6473"/>
              </a:xfrm>
              <a:prstGeom prst="line">
                <a:avLst/>
              </a:prstGeom>
              <a:noFill/>
              <a:ln w="57150" cap="flat" cmpd="sng">
                <a:solidFill>
                  <a:srgbClr val="000000"/>
                </a:solidFill>
                <a:miter lim="800000"/>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zh-CN" sz="1400"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spTree>
    <p:extLst>
      <p:ext uri="{BB962C8B-B14F-4D97-AF65-F5344CB8AC3E}">
        <p14:creationId xmlns:p14="http://schemas.microsoft.com/office/powerpoint/2010/main" val="3276833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left)">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750"/>
                                        <p:tgtEl>
                                          <p:spTgt spid="6"/>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750"/>
                                        <p:tgtEl>
                                          <p:spTgt spid="7"/>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750"/>
                                        <p:tgtEl>
                                          <p:spTgt spid="13"/>
                                        </p:tgtEl>
                                      </p:cBhvr>
                                    </p:animEffect>
                                  </p:childTnLst>
                                </p:cTn>
                              </p:par>
                              <p:par>
                                <p:cTn id="24" presetID="22" presetClass="entr" presetSubtype="1" fill="hold" nodeType="withEffect">
                                  <p:stCondLst>
                                    <p:cond delay="0"/>
                                  </p:stCondLst>
                                  <p:childTnLst>
                                    <p:set>
                                      <p:cBhvr>
                                        <p:cTn id="25" dur="1" fill="hold">
                                          <p:stCondLst>
                                            <p:cond delay="0"/>
                                          </p:stCondLst>
                                        </p:cTn>
                                        <p:tgtEl>
                                          <p:spTgt spid="86"/>
                                        </p:tgtEl>
                                        <p:attrNameLst>
                                          <p:attrName>style.visibility</p:attrName>
                                        </p:attrNameLst>
                                      </p:cBhvr>
                                      <p:to>
                                        <p:strVal val="visible"/>
                                      </p:to>
                                    </p:set>
                                    <p:animEffect transition="in" filter="wipe(up)">
                                      <p:cBhvr>
                                        <p:cTn id="26" dur="750"/>
                                        <p:tgtEl>
                                          <p:spTgt spid="86"/>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up)">
                                      <p:cBhvr>
                                        <p:cTn id="29"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3" grpId="0"/>
      <p:bldP spid="15" grpId="0"/>
      <p:bldP spid="4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27843F-C8C8-4131-BFDC-E49DAECFC098}"/>
              </a:ext>
            </a:extLst>
          </p:cNvPr>
          <p:cNvSpPr/>
          <p:nvPr/>
        </p:nvSpPr>
        <p:spPr>
          <a:xfrm>
            <a:off x="1394514" y="502949"/>
            <a:ext cx="6923690" cy="646331"/>
          </a:xfrm>
          <a:prstGeom prst="rect">
            <a:avLst/>
          </a:prstGeom>
        </p:spPr>
        <p:txBody>
          <a:bodyPr wrap="none">
            <a:spAutoFit/>
          </a:bodyPr>
          <a:lstStyle/>
          <a:p>
            <a:r>
              <a:rPr lang="zh-CN" altLang="zh-CN" sz="3600" b="1" dirty="0">
                <a:latin typeface="微软雅黑" panose="020B0503020204020204" pitchFamily="34" charset="-122"/>
                <a:ea typeface="微软雅黑" panose="020B0503020204020204" pitchFamily="34" charset="-122"/>
                <a:cs typeface="+mj-cs"/>
              </a:rPr>
              <a:t>第</a:t>
            </a:r>
            <a:r>
              <a:rPr lang="zh-CN" altLang="en-US" sz="3600" b="1" dirty="0">
                <a:latin typeface="微软雅黑" panose="020B0503020204020204" pitchFamily="34" charset="-122"/>
                <a:ea typeface="微软雅黑" panose="020B0503020204020204" pitchFamily="34" charset="-122"/>
                <a:cs typeface="+mj-cs"/>
              </a:rPr>
              <a:t>三</a:t>
            </a:r>
            <a:r>
              <a:rPr lang="zh-CN" altLang="zh-CN" sz="3600" b="1" dirty="0">
                <a:latin typeface="微软雅黑" panose="020B0503020204020204" pitchFamily="34" charset="-122"/>
                <a:ea typeface="微软雅黑" panose="020B0503020204020204" pitchFamily="34" charset="-122"/>
                <a:cs typeface="+mj-cs"/>
              </a:rPr>
              <a:t>节</a:t>
            </a:r>
            <a:r>
              <a:rPr lang="en-US" altLang="zh-CN" sz="3600" b="1" dirty="0">
                <a:latin typeface="微软雅黑" panose="020B0503020204020204" pitchFamily="34" charset="-122"/>
                <a:ea typeface="微软雅黑" panose="020B0503020204020204" pitchFamily="34" charset="-122"/>
                <a:cs typeface="+mj-cs"/>
              </a:rPr>
              <a:t>  </a:t>
            </a:r>
            <a:r>
              <a:rPr lang="zh-CN" altLang="en-US" sz="3600" b="1" dirty="0">
                <a:latin typeface="微软雅黑" panose="020B0503020204020204" pitchFamily="34" charset="-122"/>
                <a:ea typeface="微软雅黑" panose="020B0503020204020204" pitchFamily="34" charset="-122"/>
                <a:cs typeface="+mj-cs"/>
              </a:rPr>
              <a:t>完全竞争企业的短期均衡</a:t>
            </a: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482933" y="190646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2414670" y="160484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2482933" y="279070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414670" y="2489080"/>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2482933" y="367494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2414670" y="337331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2482933" y="455918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2414670" y="4259143"/>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2994108" y="1960443"/>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2994108" y="2844680"/>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2994108" y="3728918"/>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4" name="MH_Other_8">
            <a:extLst>
              <a:ext uri="{FF2B5EF4-FFF2-40B4-BE49-F238E27FC236}">
                <a16:creationId xmlns:a16="http://schemas.microsoft.com/office/drawing/2014/main" id="{77A701BE-7972-41BF-905D-AEBB5D217CA4}"/>
              </a:ext>
            </a:extLst>
          </p:cNvPr>
          <p:cNvSpPr>
            <a:spLocks/>
          </p:cNvSpPr>
          <p:nvPr>
            <p:custDataLst>
              <p:tags r:id="rId12"/>
            </p:custDataLst>
          </p:nvPr>
        </p:nvSpPr>
        <p:spPr bwMode="gray">
          <a:xfrm>
            <a:off x="2482933" y="541643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5" name="MH_SubTitle_5">
            <a:extLst>
              <a:ext uri="{FF2B5EF4-FFF2-40B4-BE49-F238E27FC236}">
                <a16:creationId xmlns:a16="http://schemas.microsoft.com/office/drawing/2014/main" id="{75368CAB-27CD-4703-8972-304F98A68B85}"/>
              </a:ext>
            </a:extLst>
          </p:cNvPr>
          <p:cNvSpPr>
            <a:spLocks noChangeArrowheads="1"/>
          </p:cNvSpPr>
          <p:nvPr>
            <p:custDataLst>
              <p:tags r:id="rId13"/>
            </p:custDataLst>
          </p:nvPr>
        </p:nvSpPr>
        <p:spPr bwMode="gray">
          <a:xfrm>
            <a:off x="2414670" y="511480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五</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6" name="MH_Other_9">
            <a:extLst>
              <a:ext uri="{FF2B5EF4-FFF2-40B4-BE49-F238E27FC236}">
                <a16:creationId xmlns:a16="http://schemas.microsoft.com/office/drawing/2014/main" id="{F0DEA2FD-8402-4B14-A5DB-4DADFF8B4F5E}"/>
              </a:ext>
            </a:extLst>
          </p:cNvPr>
          <p:cNvCxnSpPr>
            <a:endCxn id="15" idx="0"/>
          </p:cNvCxnSpPr>
          <p:nvPr>
            <p:custDataLst>
              <p:tags r:id="rId14"/>
            </p:custDataLst>
          </p:nvPr>
        </p:nvCxnSpPr>
        <p:spPr>
          <a:xfrm>
            <a:off x="2994108" y="4586168"/>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3779945" y="1564570"/>
            <a:ext cx="345479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利润最大化产量的决定</a:t>
            </a:r>
          </a:p>
        </p:txBody>
      </p:sp>
      <p:sp>
        <p:nvSpPr>
          <p:cNvPr id="18" name="矩形 17">
            <a:extLst>
              <a:ext uri="{FF2B5EF4-FFF2-40B4-BE49-F238E27FC236}">
                <a16:creationId xmlns:a16="http://schemas.microsoft.com/office/drawing/2014/main" id="{6BA99CA7-A4CC-4245-BA58-DB89FA49F037}"/>
              </a:ext>
            </a:extLst>
          </p:cNvPr>
          <p:cNvSpPr/>
          <p:nvPr/>
        </p:nvSpPr>
        <p:spPr>
          <a:xfrm>
            <a:off x="3776150" y="2461790"/>
            <a:ext cx="2800767"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利润最大化和盈亏</a:t>
            </a:r>
          </a:p>
        </p:txBody>
      </p:sp>
      <p:sp>
        <p:nvSpPr>
          <p:cNvPr id="19" name="矩形 18">
            <a:extLst>
              <a:ext uri="{FF2B5EF4-FFF2-40B4-BE49-F238E27FC236}">
                <a16:creationId xmlns:a16="http://schemas.microsoft.com/office/drawing/2014/main" id="{018105B0-EC74-4F50-9B33-7F18FF6C04E7}"/>
              </a:ext>
            </a:extLst>
          </p:cNvPr>
          <p:cNvSpPr/>
          <p:nvPr/>
        </p:nvSpPr>
        <p:spPr>
          <a:xfrm>
            <a:off x="3776150" y="3359010"/>
            <a:ext cx="214674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亏损时的决策</a:t>
            </a:r>
          </a:p>
        </p:txBody>
      </p:sp>
      <p:sp>
        <p:nvSpPr>
          <p:cNvPr id="20" name="矩形 19">
            <a:extLst>
              <a:ext uri="{FF2B5EF4-FFF2-40B4-BE49-F238E27FC236}">
                <a16:creationId xmlns:a16="http://schemas.microsoft.com/office/drawing/2014/main" id="{E52AEF20-C2D6-4C68-8E54-0EF930AB28A2}"/>
              </a:ext>
            </a:extLst>
          </p:cNvPr>
          <p:cNvSpPr/>
          <p:nvPr/>
        </p:nvSpPr>
        <p:spPr>
          <a:xfrm>
            <a:off x="3776150" y="4205316"/>
            <a:ext cx="4108817"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企业和市场的短期供给曲线</a:t>
            </a:r>
          </a:p>
        </p:txBody>
      </p:sp>
      <p:sp>
        <p:nvSpPr>
          <p:cNvPr id="21" name="矩形 20">
            <a:extLst>
              <a:ext uri="{FF2B5EF4-FFF2-40B4-BE49-F238E27FC236}">
                <a16:creationId xmlns:a16="http://schemas.microsoft.com/office/drawing/2014/main" id="{CA3460CE-2B2D-4AE6-AFC4-443A013EDC9B}"/>
              </a:ext>
            </a:extLst>
          </p:cNvPr>
          <p:cNvSpPr/>
          <p:nvPr/>
        </p:nvSpPr>
        <p:spPr>
          <a:xfrm>
            <a:off x="3776150" y="5114685"/>
            <a:ext cx="3781805"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生产者剩余和市场总剩余</a:t>
            </a:r>
          </a:p>
        </p:txBody>
      </p:sp>
    </p:spTree>
    <p:extLst>
      <p:ext uri="{BB962C8B-B14F-4D97-AF65-F5344CB8AC3E}">
        <p14:creationId xmlns:p14="http://schemas.microsoft.com/office/powerpoint/2010/main" val="107579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up)">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up)">
                                      <p:cBhvr>
                                        <p:cTn id="57" dur="500"/>
                                        <p:tgtEl>
                                          <p:spTgt spid="9"/>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up)">
                                      <p:cBhvr>
                                        <p:cTn id="60" dur="500"/>
                                        <p:tgtEl>
                                          <p:spTgt spid="10"/>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up)">
                                      <p:cBhvr>
                                        <p:cTn id="68" dur="500"/>
                                        <p:tgtEl>
                                          <p:spTgt spid="16"/>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up)">
                                      <p:cBhvr>
                                        <p:cTn id="71" dur="500"/>
                                        <p:tgtEl>
                                          <p:spTgt spid="14"/>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wipe(up)">
                                      <p:cBhvr>
                                        <p:cTn id="74" dur="500"/>
                                        <p:tgtEl>
                                          <p:spTgt spid="15"/>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left)">
                                      <p:cBhvr>
                                        <p:cTn id="7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9" grpId="0" animBg="1"/>
      <p:bldP spid="10" grpId="0" animBg="1"/>
      <p:bldP spid="14" grpId="0" animBg="1"/>
      <p:bldP spid="15" grpId="0" animBg="1"/>
      <p:bldP spid="17" grpId="0"/>
      <p:bldP spid="18" grpId="0"/>
      <p:bldP spid="19" grpId="0"/>
      <p:bldP spid="20" grpId="0"/>
      <p:bldP spid="2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一、利润最大化产量的决定</a:t>
            </a:r>
          </a:p>
        </p:txBody>
      </p:sp>
      <p:sp>
        <p:nvSpPr>
          <p:cNvPr id="15" name="矩形 14">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5" name="组合 4">
            <a:extLst>
              <a:ext uri="{FF2B5EF4-FFF2-40B4-BE49-F238E27FC236}">
                <a16:creationId xmlns:a16="http://schemas.microsoft.com/office/drawing/2014/main" id="{627AE83D-F3D9-4FE1-841C-38AA09ECDF1C}"/>
              </a:ext>
            </a:extLst>
          </p:cNvPr>
          <p:cNvGrpSpPr/>
          <p:nvPr/>
        </p:nvGrpSpPr>
        <p:grpSpPr>
          <a:xfrm>
            <a:off x="467543" y="1315480"/>
            <a:ext cx="3312401" cy="514350"/>
            <a:chOff x="467544" y="2538061"/>
            <a:chExt cx="2808366" cy="514350"/>
          </a:xfrm>
        </p:grpSpPr>
        <p:sp>
          <p:nvSpPr>
            <p:cNvPr id="19"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67544" y="2538061"/>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利润最大化的一般条件：</a:t>
              </a:r>
            </a:p>
          </p:txBody>
        </p:sp>
        <p:sp>
          <p:nvSpPr>
            <p:cNvPr id="20"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3098384" y="2586058"/>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grpSp>
        <p:nvGrpSpPr>
          <p:cNvPr id="12" name="组合 11">
            <a:extLst>
              <a:ext uri="{FF2B5EF4-FFF2-40B4-BE49-F238E27FC236}">
                <a16:creationId xmlns:a16="http://schemas.microsoft.com/office/drawing/2014/main" id="{15BCAD35-C9C8-4AE1-874B-7737C5F09A87}"/>
              </a:ext>
            </a:extLst>
          </p:cNvPr>
          <p:cNvGrpSpPr/>
          <p:nvPr/>
        </p:nvGrpSpPr>
        <p:grpSpPr>
          <a:xfrm>
            <a:off x="467544" y="3119885"/>
            <a:ext cx="3312400" cy="514350"/>
            <a:chOff x="467544" y="3119885"/>
            <a:chExt cx="2547461" cy="514350"/>
          </a:xfrm>
        </p:grpSpPr>
        <p:sp>
          <p:nvSpPr>
            <p:cNvPr id="21" name="MH_Text_1">
              <a:extLst>
                <a:ext uri="{FF2B5EF4-FFF2-40B4-BE49-F238E27FC236}">
                  <a16:creationId xmlns:a16="http://schemas.microsoft.com/office/drawing/2014/main" id="{2B16FD77-75F5-478E-AAA0-B4711F002B71}"/>
                </a:ext>
              </a:extLst>
            </p:cNvPr>
            <p:cNvSpPr/>
            <p:nvPr>
              <p:custDataLst>
                <p:tags r:id="rId1"/>
              </p:custDataLst>
            </p:nvPr>
          </p:nvSpPr>
          <p:spPr bwMode="auto">
            <a:xfrm>
              <a:off x="467544" y="3119885"/>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条件的推导</a:t>
              </a:r>
            </a:p>
          </p:txBody>
        </p:sp>
        <p:sp>
          <p:nvSpPr>
            <p:cNvPr id="22" name="MH_Other_2">
              <a:extLst>
                <a:ext uri="{FF2B5EF4-FFF2-40B4-BE49-F238E27FC236}">
                  <a16:creationId xmlns:a16="http://schemas.microsoft.com/office/drawing/2014/main" id="{2CAC8690-3479-4DBB-9B16-A4FF61D047C3}"/>
                </a:ext>
              </a:extLst>
            </p:cNvPr>
            <p:cNvSpPr/>
            <p:nvPr>
              <p:custDataLst>
                <p:tags r:id="rId2"/>
              </p:custDataLst>
            </p:nvPr>
          </p:nvSpPr>
          <p:spPr bwMode="auto">
            <a:xfrm rot="10800000">
              <a:off x="2822917" y="3177035"/>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C352424-0443-43CC-9DB7-D6B00F0C4B2E}"/>
                  </a:ext>
                </a:extLst>
              </p:cNvPr>
              <p:cNvSpPr/>
              <p:nvPr/>
            </p:nvSpPr>
            <p:spPr>
              <a:xfrm>
                <a:off x="251700" y="1998960"/>
                <a:ext cx="7483151" cy="1200329"/>
              </a:xfrm>
              <a:prstGeom prst="rect">
                <a:avLst/>
              </a:prstGeom>
            </p:spPr>
            <p:txBody>
              <a:bodyPr wrap="square">
                <a:spAutoFit/>
              </a:bodyPr>
              <a:lstStyle/>
              <a:p>
                <a:pPr marL="800100" lvl="1" indent="-342900"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必要条件（一阶条件） </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𝑀𝑅</m:t>
                    </m:r>
                    <m:r>
                      <a:rPr lang="en-US" altLang="zh-CN" i="1" dirty="0" smtClean="0">
                        <a:latin typeface="Cambria Math" panose="02040503050406030204" pitchFamily="18" charset="0"/>
                        <a:ea typeface="微软雅黑" panose="020B0503020204020204" pitchFamily="34" charset="-122"/>
                      </a:rPr>
                      <m:t>(</m:t>
                    </m:r>
                    <m:r>
                      <a:rPr lang="en-US" altLang="zh-CN" i="1" dirty="0" smtClean="0">
                        <a:latin typeface="Cambria Math" panose="02040503050406030204" pitchFamily="18" charset="0"/>
                        <a:ea typeface="微软雅黑" panose="020B0503020204020204" pitchFamily="34" charset="-122"/>
                      </a:rPr>
                      <m:t>𝑄</m:t>
                    </m:r>
                    <m:r>
                      <a:rPr lang="en-US" altLang="zh-CN" i="1" dirty="0" smtClean="0">
                        <a:latin typeface="Cambria Math" panose="02040503050406030204" pitchFamily="18" charset="0"/>
                        <a:ea typeface="微软雅黑" panose="020B0503020204020204" pitchFamily="34" charset="-122"/>
                      </a:rPr>
                      <m:t>)=</m:t>
                    </m:r>
                    <m:r>
                      <a:rPr lang="en-US" altLang="zh-CN" i="1" dirty="0" smtClean="0">
                        <a:latin typeface="Cambria Math" panose="02040503050406030204" pitchFamily="18" charset="0"/>
                        <a:ea typeface="微软雅黑" panose="020B0503020204020204" pitchFamily="34" charset="-122"/>
                      </a:rPr>
                      <m:t>𝑀𝐶</m:t>
                    </m:r>
                    <m:r>
                      <a:rPr lang="en-US" altLang="zh-CN" i="1" dirty="0" smtClean="0">
                        <a:latin typeface="Cambria Math" panose="02040503050406030204" pitchFamily="18" charset="0"/>
                        <a:ea typeface="微软雅黑" panose="020B0503020204020204" pitchFamily="34" charset="-122"/>
                      </a:rPr>
                      <m:t>(</m:t>
                    </m:r>
                    <m:r>
                      <a:rPr lang="en-US" altLang="zh-CN" i="1" dirty="0" smtClean="0">
                        <a:latin typeface="Cambria Math" panose="02040503050406030204" pitchFamily="18" charset="0"/>
                        <a:ea typeface="微软雅黑" panose="020B0503020204020204" pitchFamily="34" charset="-122"/>
                      </a:rPr>
                      <m:t>𝑄</m:t>
                    </m:r>
                    <m:r>
                      <a:rPr lang="en-US" altLang="zh-CN" i="1" dirty="0" smtClean="0">
                        <a:latin typeface="Cambria Math" panose="02040503050406030204" pitchFamily="18" charset="0"/>
                        <a:ea typeface="微软雅黑" panose="020B0503020204020204" pitchFamily="34" charset="-122"/>
                      </a:rPr>
                      <m:t>)</m:t>
                    </m:r>
                  </m:oMath>
                </a14:m>
                <a:endParaRPr lang="en-US" altLang="zh-CN" dirty="0">
                  <a:latin typeface="微软雅黑" panose="020B0503020204020204" pitchFamily="34" charset="-122"/>
                  <a:ea typeface="微软雅黑" panose="020B0503020204020204" pitchFamily="34" charset="-122"/>
                </a:endParaRPr>
              </a:p>
              <a:p>
                <a:pPr marL="800100" lvl="1" indent="-342900"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二阶条件：</a:t>
                </a:r>
                <a:r>
                  <a:rPr lang="en-US" altLang="zh-CN" dirty="0">
                    <a:latin typeface="微软雅黑" panose="020B0503020204020204" pitchFamily="34" charset="-122"/>
                    <a:ea typeface="微软雅黑" panose="020B0503020204020204" pitchFamily="34" charset="-122"/>
                  </a:rPr>
                  <a:t>MC</a:t>
                </a:r>
                <a:r>
                  <a:rPr lang="zh-CN" altLang="en-US" dirty="0">
                    <a:latin typeface="微软雅黑" panose="020B0503020204020204" pitchFamily="34" charset="-122"/>
                    <a:ea typeface="微软雅黑" panose="020B0503020204020204" pitchFamily="34" charset="-122"/>
                  </a:rPr>
                  <a:t>处于递增阶段</a:t>
                </a:r>
                <a:endParaRPr lang="en-US" altLang="zh-CN" dirty="0">
                  <a:latin typeface="微软雅黑" panose="020B0503020204020204" pitchFamily="34" charset="-122"/>
                  <a:ea typeface="微软雅黑" panose="020B0503020204020204" pitchFamily="34" charset="-122"/>
                </a:endParaRPr>
              </a:p>
              <a:p>
                <a:pPr marL="800100" lvl="1" indent="-342900" eaLnBrk="1" hangingPunct="1">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DC352424-0443-43CC-9DB7-D6B00F0C4B2E}"/>
                  </a:ext>
                </a:extLst>
              </p:cNvPr>
              <p:cNvSpPr>
                <a:spLocks noRot="1" noChangeAspect="1" noMove="1" noResize="1" noEditPoints="1" noAdjustHandles="1" noChangeArrowheads="1" noChangeShapeType="1" noTextEdit="1"/>
              </p:cNvSpPr>
              <p:nvPr/>
            </p:nvSpPr>
            <p:spPr>
              <a:xfrm>
                <a:off x="251700" y="1998960"/>
                <a:ext cx="7483151" cy="120032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C7B8B3EA-F6C9-430E-B3E4-902A2736C4D8}"/>
                  </a:ext>
                </a:extLst>
              </p:cNvPr>
              <p:cNvSpPr/>
              <p:nvPr/>
            </p:nvSpPr>
            <p:spPr>
              <a:xfrm>
                <a:off x="737117" y="3789025"/>
                <a:ext cx="8083178" cy="2536400"/>
              </a:xfrm>
              <a:prstGeom prst="rect">
                <a:avLst/>
              </a:prstGeom>
            </p:spPr>
            <p:txBody>
              <a:bodyPr wrap="square">
                <a:spAutoFit/>
              </a:bodyPr>
              <a:lstStyle/>
              <a:p>
                <a:pPr marL="285750" indent="-285750">
                  <a:lnSpc>
                    <a:spcPct val="150000"/>
                  </a:lnSpc>
                  <a:buFont typeface="Wingdings" panose="05000000000000000000" pitchFamily="2" charset="2"/>
                  <a:buChar char="Ø"/>
                </a:pPr>
                <a14:m>
                  <m:oMath xmlns:m="http://schemas.openxmlformats.org/officeDocument/2006/math">
                    <m:r>
                      <m:rPr>
                        <m:sty m:val="p"/>
                      </m:rPr>
                      <a:rPr lang="el-GR" altLang="zh-CN" i="0" spc="150" dirty="0" smtClean="0">
                        <a:solidFill>
                          <a:srgbClr val="000000"/>
                        </a:solidFill>
                        <a:latin typeface="Cambria Math" panose="02040503050406030204" pitchFamily="18" charset="0"/>
                        <a:ea typeface="微软雅黑" panose="020B0503020204020204" pitchFamily="34" charset="-122"/>
                      </a:rPr>
                      <m:t>Π</m:t>
                    </m:r>
                    <m:r>
                      <a:rPr lang="zh-CN" altLang="el-GR" i="1" spc="150" dirty="0">
                        <a:solidFill>
                          <a:srgbClr val="000000"/>
                        </a:solidFill>
                        <a:latin typeface="Cambria Math" panose="02040503050406030204" pitchFamily="18" charset="0"/>
                        <a:ea typeface="微软雅黑" panose="020B0503020204020204" pitchFamily="34" charset="-122"/>
                      </a:rPr>
                      <m:t>（</m:t>
                    </m:r>
                    <m:r>
                      <a:rPr lang="en-US" altLang="zh-CN" i="1" spc="150" dirty="0">
                        <a:solidFill>
                          <a:srgbClr val="000000"/>
                        </a:solidFill>
                        <a:latin typeface="Cambria Math" panose="02040503050406030204" pitchFamily="18" charset="0"/>
                        <a:ea typeface="微软雅黑" panose="020B0503020204020204" pitchFamily="34" charset="-122"/>
                      </a:rPr>
                      <m:t>𝑄</m:t>
                    </m:r>
                    <m:r>
                      <a:rPr lang="zh-CN" altLang="en-US" i="1" spc="150" dirty="0">
                        <a:solidFill>
                          <a:srgbClr val="000000"/>
                        </a:solidFill>
                        <a:latin typeface="Cambria Math" panose="02040503050406030204" pitchFamily="18" charset="0"/>
                        <a:ea typeface="微软雅黑" panose="020B0503020204020204" pitchFamily="34" charset="-122"/>
                      </a:rPr>
                      <m:t>）</m:t>
                    </m:r>
                    <m:r>
                      <a:rPr lang="en-US" altLang="zh-CN" i="1" spc="150" dirty="0">
                        <a:solidFill>
                          <a:srgbClr val="000000"/>
                        </a:solidFill>
                        <a:latin typeface="Cambria Math" panose="02040503050406030204" pitchFamily="18" charset="0"/>
                        <a:ea typeface="微软雅黑" panose="020B0503020204020204" pitchFamily="34" charset="-122"/>
                      </a:rPr>
                      <m:t>=</m:t>
                    </m:r>
                    <m:r>
                      <a:rPr lang="en-US" altLang="zh-CN" b="0" i="1" spc="150" dirty="0" smtClean="0">
                        <a:solidFill>
                          <a:srgbClr val="000000"/>
                        </a:solidFill>
                        <a:latin typeface="Cambria Math" panose="02040503050406030204" pitchFamily="18" charset="0"/>
                        <a:ea typeface="微软雅黑" panose="020B0503020204020204" pitchFamily="34" charset="-122"/>
                      </a:rPr>
                      <m:t>𝑇</m:t>
                    </m:r>
                    <m:r>
                      <a:rPr lang="en-US" altLang="zh-CN" i="1" spc="150" dirty="0">
                        <a:solidFill>
                          <a:srgbClr val="000000"/>
                        </a:solidFill>
                        <a:latin typeface="Cambria Math" panose="02040503050406030204" pitchFamily="18" charset="0"/>
                        <a:ea typeface="微软雅黑" panose="020B0503020204020204" pitchFamily="34" charset="-122"/>
                      </a:rPr>
                      <m:t>𝑅</m:t>
                    </m:r>
                    <m:r>
                      <a:rPr lang="en-US" altLang="zh-CN" i="1" spc="150" dirty="0">
                        <a:solidFill>
                          <a:srgbClr val="000000"/>
                        </a:solidFill>
                        <a:latin typeface="Cambria Math" panose="02040503050406030204" pitchFamily="18" charset="0"/>
                        <a:ea typeface="微软雅黑" panose="020B0503020204020204" pitchFamily="34" charset="-122"/>
                      </a:rPr>
                      <m:t>(</m:t>
                    </m:r>
                    <m:r>
                      <a:rPr lang="en-US" altLang="zh-CN" i="1" spc="150" dirty="0">
                        <a:solidFill>
                          <a:srgbClr val="000000"/>
                        </a:solidFill>
                        <a:latin typeface="Cambria Math" panose="02040503050406030204" pitchFamily="18" charset="0"/>
                        <a:ea typeface="微软雅黑" panose="020B0503020204020204" pitchFamily="34" charset="-122"/>
                      </a:rPr>
                      <m:t>𝑄</m:t>
                    </m:r>
                    <m:r>
                      <a:rPr lang="en-US" altLang="zh-CN" i="1" spc="150" dirty="0">
                        <a:solidFill>
                          <a:srgbClr val="000000"/>
                        </a:solidFill>
                        <a:latin typeface="Cambria Math" panose="02040503050406030204" pitchFamily="18" charset="0"/>
                        <a:ea typeface="微软雅黑" panose="020B0503020204020204" pitchFamily="34" charset="-122"/>
                      </a:rPr>
                      <m:t>) –</m:t>
                    </m:r>
                    <m:r>
                      <a:rPr lang="en-US" altLang="zh-CN" b="0" i="1" spc="150" dirty="0" smtClean="0">
                        <a:solidFill>
                          <a:srgbClr val="000000"/>
                        </a:solidFill>
                        <a:latin typeface="Cambria Math" panose="02040503050406030204" pitchFamily="18" charset="0"/>
                        <a:ea typeface="微软雅黑" panose="020B0503020204020204" pitchFamily="34" charset="-122"/>
                      </a:rPr>
                      <m:t>𝑇</m:t>
                    </m:r>
                    <m:r>
                      <a:rPr lang="en-US" altLang="zh-CN" i="1" spc="150" dirty="0">
                        <a:solidFill>
                          <a:srgbClr val="000000"/>
                        </a:solidFill>
                        <a:latin typeface="Cambria Math" panose="02040503050406030204" pitchFamily="18" charset="0"/>
                        <a:ea typeface="微软雅黑" panose="020B0503020204020204" pitchFamily="34" charset="-122"/>
                      </a:rPr>
                      <m:t>𝐶</m:t>
                    </m:r>
                    <m:r>
                      <a:rPr lang="en-US" altLang="zh-CN" i="1" spc="150" dirty="0">
                        <a:solidFill>
                          <a:srgbClr val="000000"/>
                        </a:solidFill>
                        <a:latin typeface="Cambria Math" panose="02040503050406030204" pitchFamily="18" charset="0"/>
                        <a:ea typeface="微软雅黑" panose="020B0503020204020204" pitchFamily="34" charset="-122"/>
                      </a:rPr>
                      <m:t>(</m:t>
                    </m:r>
                    <m:r>
                      <a:rPr lang="en-US" altLang="zh-CN" i="1" spc="150" dirty="0">
                        <a:solidFill>
                          <a:srgbClr val="000000"/>
                        </a:solidFill>
                        <a:latin typeface="Cambria Math" panose="02040503050406030204" pitchFamily="18" charset="0"/>
                        <a:ea typeface="微软雅黑" panose="020B0503020204020204" pitchFamily="34" charset="-122"/>
                      </a:rPr>
                      <m:t>𝑄</m:t>
                    </m:r>
                    <m:r>
                      <a:rPr lang="en-US" altLang="zh-CN" i="1" spc="150" dirty="0">
                        <a:solidFill>
                          <a:srgbClr val="000000"/>
                        </a:solidFill>
                        <a:latin typeface="Cambria Math" panose="02040503050406030204" pitchFamily="18" charset="0"/>
                        <a:ea typeface="微软雅黑" panose="020B0503020204020204" pitchFamily="34" charset="-122"/>
                      </a:rPr>
                      <m:t>)</m:t>
                    </m:r>
                  </m:oMath>
                </a14:m>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14:m>
                  <m:oMath xmlns:m="http://schemas.openxmlformats.org/officeDocument/2006/math">
                    <m:r>
                      <m:rPr>
                        <m:sty m:val="p"/>
                      </m:rPr>
                      <a:rPr lang="el-GR" altLang="zh-CN" i="0"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Π</m:t>
                    </m:r>
                    <m:r>
                      <a:rPr lang="el-GR" altLang="zh-CN" i="1" spc="150" dirty="0">
                        <a:solidFill>
                          <a:srgbClr val="000000"/>
                        </a:solidFill>
                        <a:latin typeface="Cambria Math" panose="02040503050406030204" pitchFamily="18" charset="0"/>
                        <a:ea typeface="微软雅黑" panose="020B0503020204020204" pitchFamily="34" charset="-122"/>
                        <a:sym typeface="Wingdings" panose="05000000000000000000" pitchFamily="2" charset="2"/>
                      </a:rPr>
                      <m:t> ’(</m:t>
                    </m:r>
                    <m:r>
                      <a:rPr lang="en-US" altLang="zh-CN" i="1" spc="150" dirty="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a:solidFill>
                          <a:srgbClr val="000000"/>
                        </a:solidFill>
                        <a:latin typeface="Cambria Math" panose="02040503050406030204" pitchFamily="18" charset="0"/>
                        <a:ea typeface="微软雅黑" panose="020B0503020204020204" pitchFamily="34" charset="-122"/>
                        <a:sym typeface="Wingdings" panose="05000000000000000000" pitchFamily="2" charset="2"/>
                      </a:rPr>
                      <m:t>)&gt;0 </m:t>
                    </m:r>
                    <m:r>
                      <a:rPr lang="en-US" altLang="zh-CN" i="1" spc="150" dirty="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𝑎𝑛𝑑</m:t>
                    </m:r>
                    <m:r>
                      <a:rPr lang="en-US" altLang="zh-CN" i="1" spc="150" dirty="0">
                        <a:solidFill>
                          <a:srgbClr val="000000"/>
                        </a:solidFill>
                        <a:latin typeface="Cambria Math" panose="02040503050406030204" pitchFamily="18" charset="0"/>
                        <a:ea typeface="微软雅黑" panose="020B0503020204020204" pitchFamily="34" charset="-122"/>
                        <a:sym typeface="Wingdings" panose="05000000000000000000" pitchFamily="2" charset="2"/>
                      </a:rPr>
                      <m:t> </m:t>
                    </m:r>
                    <m:r>
                      <m:rPr>
                        <m:sty m:val="p"/>
                      </m:rPr>
                      <a:rPr lang="el-GR" altLang="zh-CN" i="0" spc="150" dirty="0">
                        <a:solidFill>
                          <a:srgbClr val="000000"/>
                        </a:solidFill>
                        <a:latin typeface="Cambria Math" panose="02040503050406030204" pitchFamily="18" charset="0"/>
                        <a:ea typeface="微软雅黑" panose="020B0503020204020204" pitchFamily="34" charset="-122"/>
                        <a:sym typeface="Wingdings" panose="05000000000000000000" pitchFamily="2" charset="2"/>
                      </a:rPr>
                      <m:t>Π</m:t>
                    </m:r>
                    <m:r>
                      <a:rPr lang="el-GR" altLang="zh-CN" i="1" spc="150" dirty="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a:solidFill>
                          <a:srgbClr val="000000"/>
                        </a:solidFill>
                        <a:latin typeface="Cambria Math" panose="02040503050406030204" pitchFamily="18" charset="0"/>
                        <a:ea typeface="微软雅黑" panose="020B0503020204020204" pitchFamily="34" charset="-122"/>
                        <a:sym typeface="Wingdings" panose="05000000000000000000" pitchFamily="2" charset="2"/>
                      </a:rPr>
                      <m:t>)&lt;0</m:t>
                    </m:r>
                  </m:oMath>
                </a14:m>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是有最大值的必要条件</a:t>
                </a:r>
                <a:endPar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pPr>
                <a:r>
                  <a:rPr lang="zh-CN" altLang="en-US" spc="150" dirty="0">
                    <a:solidFill>
                      <a:srgbClr val="000000"/>
                    </a:solidFill>
                    <a:ea typeface="微软雅黑" panose="020B0503020204020204" pitchFamily="34" charset="-122"/>
                    <a:sym typeface="Wingdings" panose="05000000000000000000" pitchFamily="2" charset="2"/>
                  </a:rPr>
                  <a:t>    </a:t>
                </a:r>
                <a14:m>
                  <m:oMath xmlns:m="http://schemas.openxmlformats.org/officeDocument/2006/math">
                    <m:r>
                      <a:rPr lang="zh-CN" altLang="en-US"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oMath>
                </a14:m>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给定</a:t>
                </a:r>
                <a14:m>
                  <m:oMath xmlns:m="http://schemas.openxmlformats.org/officeDocument/2006/math">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 </m:t>
                    </m:r>
                    <m:r>
                      <a:rPr lang="en-US" altLang="zh-CN" b="0"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𝑇</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𝑅</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)&gt;0</m:t>
                    </m:r>
                  </m:oMath>
                </a14:m>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和 </a:t>
                </a:r>
                <a14:m>
                  <m:oMath xmlns:m="http://schemas.openxmlformats.org/officeDocument/2006/math">
                    <m:r>
                      <a:rPr lang="en-US" altLang="zh-CN" b="0"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𝑇</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𝑅</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)&lt;0</m:t>
                    </m:r>
                  </m:oMath>
                </a14:m>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或</a:t>
                </a:r>
                <a14:m>
                  <m:oMath xmlns:m="http://schemas.openxmlformats.org/officeDocument/2006/math">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=0</m:t>
                    </m:r>
                  </m:oMath>
                </a14:m>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，以及给定</a:t>
                </a:r>
                <a14:m>
                  <m:oMath xmlns:m="http://schemas.openxmlformats.org/officeDocument/2006/math">
                    <m:r>
                      <a:rPr lang="en-US" altLang="zh-CN" b="0"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𝑇</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𝐶</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d>
                      <m:dPr>
                        <m:ctrlP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ctrlPr>
                      </m:dPr>
                      <m:e>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𝑄</m:t>
                        </m:r>
                      </m:e>
                    </m:d>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&gt;0</m:t>
                    </m:r>
                  </m:oMath>
                </a14:m>
                <a:endPar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pPr>
                <a:r>
                  <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rPr>
                  <a:t>必须有</a:t>
                </a:r>
                <a14:m>
                  <m:oMath xmlns:m="http://schemas.openxmlformats.org/officeDocument/2006/math">
                    <m:r>
                      <a:rPr lang="en-US" altLang="zh-CN" b="0"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𝑇</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𝐶</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)&lt;0</m:t>
                    </m:r>
                  </m:oMath>
                </a14:m>
                <a:endPar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ct val="150000"/>
                  </a:lnSpc>
                  <a:buFont typeface="Wingdings" panose="05000000000000000000" pitchFamily="2" charset="2"/>
                  <a:buChar char="Ø"/>
                </a:pPr>
                <a14:m>
                  <m:oMath xmlns:m="http://schemas.openxmlformats.org/officeDocument/2006/math">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𝑀𝑎𝑥</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 </m:t>
                    </m:r>
                    <m:r>
                      <a:rPr lang="en-US" altLang="zh-CN" b="0"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𝑇</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𝑅</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b="0"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𝑇</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𝐶</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  </m:t>
                    </m:r>
                    <m:r>
                      <a:rPr lang="en-US" altLang="zh-CN" b="0"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𝑇</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𝑅</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b="0"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𝑇</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𝐶</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solidFill>
                          <a:srgbClr val="000000"/>
                        </a:solidFill>
                        <a:latin typeface="Cambria Math" panose="02040503050406030204" pitchFamily="18" charset="0"/>
                        <a:ea typeface="微软雅黑" panose="020B0503020204020204" pitchFamily="34" charset="-122"/>
                        <a:sym typeface="Wingdings" panose="05000000000000000000" pitchFamily="2" charset="2"/>
                      </a:rPr>
                      <m:t>) =0  </m:t>
                    </m:r>
                    <m:r>
                      <a:rPr lang="en-US" altLang="zh-CN" i="1" spc="150" dirty="0" smtClean="0">
                        <a:solidFill>
                          <a:srgbClr val="C00000"/>
                        </a:solidFill>
                        <a:latin typeface="Cambria Math" panose="02040503050406030204" pitchFamily="18" charset="0"/>
                        <a:ea typeface="微软雅黑" panose="020B0503020204020204" pitchFamily="34" charset="-122"/>
                        <a:sym typeface="Wingdings" panose="05000000000000000000" pitchFamily="2" charset="2"/>
                      </a:rPr>
                      <m:t>𝑀𝑅</m:t>
                    </m:r>
                    <m:r>
                      <a:rPr lang="en-US" altLang="zh-CN" i="1" spc="150" dirty="0" smtClean="0">
                        <a:solidFill>
                          <a:srgbClr val="C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solidFill>
                          <a:srgbClr val="C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solidFill>
                          <a:srgbClr val="C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solidFill>
                          <a:srgbClr val="C00000"/>
                        </a:solidFill>
                        <a:latin typeface="Cambria Math" panose="02040503050406030204" pitchFamily="18" charset="0"/>
                        <a:ea typeface="微软雅黑" panose="020B0503020204020204" pitchFamily="34" charset="-122"/>
                        <a:sym typeface="Wingdings" panose="05000000000000000000" pitchFamily="2" charset="2"/>
                      </a:rPr>
                      <m:t>𝑀𝐶</m:t>
                    </m:r>
                    <m:r>
                      <a:rPr lang="en-US" altLang="zh-CN" i="1" spc="150" dirty="0" smtClean="0">
                        <a:solidFill>
                          <a:srgbClr val="C00000"/>
                        </a:solidFill>
                        <a:latin typeface="Cambria Math" panose="02040503050406030204" pitchFamily="18" charset="0"/>
                        <a:ea typeface="微软雅黑" panose="020B0503020204020204" pitchFamily="34" charset="-122"/>
                        <a:sym typeface="Wingdings" panose="05000000000000000000" pitchFamily="2" charset="2"/>
                      </a:rPr>
                      <m:t>(</m:t>
                    </m:r>
                    <m:r>
                      <a:rPr lang="en-US" altLang="zh-CN" i="1" spc="150" dirty="0" smtClean="0">
                        <a:solidFill>
                          <a:srgbClr val="C00000"/>
                        </a:solidFill>
                        <a:latin typeface="Cambria Math" panose="02040503050406030204" pitchFamily="18" charset="0"/>
                        <a:ea typeface="微软雅黑" panose="020B0503020204020204" pitchFamily="34" charset="-122"/>
                        <a:sym typeface="Wingdings" panose="05000000000000000000" pitchFamily="2" charset="2"/>
                      </a:rPr>
                      <m:t>𝑄</m:t>
                    </m:r>
                    <m:r>
                      <a:rPr lang="en-US" altLang="zh-CN" i="1" spc="150" dirty="0" smtClean="0">
                        <a:solidFill>
                          <a:srgbClr val="C00000"/>
                        </a:solidFill>
                        <a:latin typeface="Cambria Math" panose="02040503050406030204" pitchFamily="18" charset="0"/>
                        <a:ea typeface="微软雅黑" panose="020B0503020204020204" pitchFamily="34" charset="-122"/>
                        <a:sym typeface="Wingdings" panose="05000000000000000000" pitchFamily="2" charset="2"/>
                      </a:rPr>
                      <m:t>)</m:t>
                    </m:r>
                  </m:oMath>
                </a14:m>
                <a:endParaRPr lang="en-US" altLang="zh-CN" spc="150" dirty="0">
                  <a:solidFill>
                    <a:srgbClr val="C00000"/>
                  </a:solidFill>
                  <a:latin typeface="微软雅黑" panose="020B0503020204020204" pitchFamily="34" charset="-122"/>
                  <a:ea typeface="微软雅黑" panose="020B0503020204020204" pitchFamily="34" charset="-122"/>
                  <a:sym typeface="Wingdings" panose="05000000000000000000" pitchFamily="2" charset="2"/>
                </a:endParaRPr>
              </a:p>
              <a:p>
                <a:pPr marL="285750" indent="-285750">
                  <a:lnSpc>
                    <a:spcPct val="150000"/>
                  </a:lnSpc>
                  <a:buFont typeface="Wingdings" panose="05000000000000000000" pitchFamily="2" charset="2"/>
                  <a:buChar char="Ø"/>
                </a:pPr>
                <a:endPar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endParaRPr>
              </a:p>
            </p:txBody>
          </p:sp>
        </mc:Choice>
        <mc:Fallback xmlns="">
          <p:sp>
            <p:nvSpPr>
              <p:cNvPr id="4" name="矩形 3">
                <a:extLst>
                  <a:ext uri="{FF2B5EF4-FFF2-40B4-BE49-F238E27FC236}">
                    <a16:creationId xmlns:a16="http://schemas.microsoft.com/office/drawing/2014/main" id="{C7B8B3EA-F6C9-430E-B3E4-902A2736C4D8}"/>
                  </a:ext>
                </a:extLst>
              </p:cNvPr>
              <p:cNvSpPr>
                <a:spLocks noRot="1" noChangeAspect="1" noMove="1" noResize="1" noEditPoints="1" noAdjustHandles="1" noChangeArrowheads="1" noChangeShapeType="1" noTextEdit="1"/>
              </p:cNvSpPr>
              <p:nvPr/>
            </p:nvSpPr>
            <p:spPr>
              <a:xfrm>
                <a:off x="737117" y="3789025"/>
                <a:ext cx="8083178" cy="2536400"/>
              </a:xfrm>
              <a:prstGeom prst="rect">
                <a:avLst/>
              </a:prstGeom>
              <a:blipFill>
                <a:blip r:embed="rId7"/>
                <a:stretch>
                  <a:fillRect l="-52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74108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wipe(left)">
                                      <p:cBhvr>
                                        <p:cTn id="32" dur="5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wipe(left)">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wipe(left)">
                                      <p:cBhvr>
                                        <p:cTn id="42" dur="500"/>
                                        <p:tgtEl>
                                          <p:spTgt spid="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animEffect transition="in" filter="wipe(left)">
                                      <p:cBhvr>
                                        <p:cTn id="47" dur="500"/>
                                        <p:tgtEl>
                                          <p:spTgt spid="4">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
                                            <p:txEl>
                                              <p:pRg st="4" end="4"/>
                                            </p:txEl>
                                          </p:spTgt>
                                        </p:tgtEl>
                                        <p:attrNameLst>
                                          <p:attrName>style.visibility</p:attrName>
                                        </p:attrNameLst>
                                      </p:cBhvr>
                                      <p:to>
                                        <p:strVal val="visible"/>
                                      </p:to>
                                    </p:set>
                                    <p:animEffect transition="in" filter="wipe(left)">
                                      <p:cBhvr>
                                        <p:cTn id="52" dur="500"/>
                                        <p:tgtEl>
                                          <p:spTgt spid="4">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left)">
                                      <p:cBhvr>
                                        <p:cTn id="5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Line 2">
            <a:extLst>
              <a:ext uri="{FF2B5EF4-FFF2-40B4-BE49-F238E27FC236}">
                <a16:creationId xmlns:a16="http://schemas.microsoft.com/office/drawing/2014/main" id="{4675C369-01C9-4313-9605-12349407BAA6}"/>
              </a:ext>
            </a:extLst>
          </p:cNvPr>
          <p:cNvSpPr>
            <a:spLocks noChangeShapeType="1"/>
          </p:cNvSpPr>
          <p:nvPr/>
        </p:nvSpPr>
        <p:spPr bwMode="auto">
          <a:xfrm>
            <a:off x="2133600" y="4341813"/>
            <a:ext cx="5562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5" name="Line 3">
            <a:extLst>
              <a:ext uri="{FF2B5EF4-FFF2-40B4-BE49-F238E27FC236}">
                <a16:creationId xmlns:a16="http://schemas.microsoft.com/office/drawing/2014/main" id="{F9DF0E99-DA4A-454D-A90E-80814155D8CF}"/>
              </a:ext>
            </a:extLst>
          </p:cNvPr>
          <p:cNvSpPr>
            <a:spLocks noChangeShapeType="1"/>
          </p:cNvSpPr>
          <p:nvPr/>
        </p:nvSpPr>
        <p:spPr bwMode="auto">
          <a:xfrm flipV="1">
            <a:off x="2133600" y="379413"/>
            <a:ext cx="0" cy="396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6" name="Line 4">
            <a:extLst>
              <a:ext uri="{FF2B5EF4-FFF2-40B4-BE49-F238E27FC236}">
                <a16:creationId xmlns:a16="http://schemas.microsoft.com/office/drawing/2014/main" id="{6BCC3EF0-B26F-4170-877A-3F26BDD7849C}"/>
              </a:ext>
            </a:extLst>
          </p:cNvPr>
          <p:cNvSpPr>
            <a:spLocks noChangeShapeType="1"/>
          </p:cNvSpPr>
          <p:nvPr/>
        </p:nvSpPr>
        <p:spPr bwMode="auto">
          <a:xfrm>
            <a:off x="2133600" y="5789613"/>
            <a:ext cx="5562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7" name="Line 5">
            <a:extLst>
              <a:ext uri="{FF2B5EF4-FFF2-40B4-BE49-F238E27FC236}">
                <a16:creationId xmlns:a16="http://schemas.microsoft.com/office/drawing/2014/main" id="{D084BE4E-5320-40AB-85D2-EA0A617C6B23}"/>
              </a:ext>
            </a:extLst>
          </p:cNvPr>
          <p:cNvSpPr>
            <a:spLocks noChangeShapeType="1"/>
          </p:cNvSpPr>
          <p:nvPr/>
        </p:nvSpPr>
        <p:spPr bwMode="auto">
          <a:xfrm>
            <a:off x="3962400" y="57134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8" name="Line 6">
            <a:extLst>
              <a:ext uri="{FF2B5EF4-FFF2-40B4-BE49-F238E27FC236}">
                <a16:creationId xmlns:a16="http://schemas.microsoft.com/office/drawing/2014/main" id="{70CBCF19-D8CC-487E-8DE5-08E8E1CBD07D}"/>
              </a:ext>
            </a:extLst>
          </p:cNvPr>
          <p:cNvSpPr>
            <a:spLocks noChangeShapeType="1"/>
          </p:cNvSpPr>
          <p:nvPr/>
        </p:nvSpPr>
        <p:spPr bwMode="auto">
          <a:xfrm>
            <a:off x="7010400" y="5713413"/>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9" name="Line 7">
            <a:extLst>
              <a:ext uri="{FF2B5EF4-FFF2-40B4-BE49-F238E27FC236}">
                <a16:creationId xmlns:a16="http://schemas.microsoft.com/office/drawing/2014/main" id="{BA732254-0B33-4ECA-A34D-D4E93106778C}"/>
              </a:ext>
            </a:extLst>
          </p:cNvPr>
          <p:cNvSpPr>
            <a:spLocks noChangeShapeType="1"/>
          </p:cNvSpPr>
          <p:nvPr/>
        </p:nvSpPr>
        <p:spPr bwMode="auto">
          <a:xfrm>
            <a:off x="2133600" y="4494213"/>
            <a:ext cx="0" cy="2057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0" name="Line 8">
            <a:extLst>
              <a:ext uri="{FF2B5EF4-FFF2-40B4-BE49-F238E27FC236}">
                <a16:creationId xmlns:a16="http://schemas.microsoft.com/office/drawing/2014/main" id="{12591F5A-FFAA-472B-9DBD-782F04DF6B94}"/>
              </a:ext>
            </a:extLst>
          </p:cNvPr>
          <p:cNvSpPr>
            <a:spLocks noChangeShapeType="1"/>
          </p:cNvSpPr>
          <p:nvPr/>
        </p:nvSpPr>
        <p:spPr bwMode="auto">
          <a:xfrm flipV="1">
            <a:off x="2133600" y="-1588"/>
            <a:ext cx="5029200" cy="4343401"/>
          </a:xfrm>
          <a:prstGeom prst="line">
            <a:avLst/>
          </a:prstGeom>
          <a:noFill/>
          <a:ln w="19050">
            <a:solidFill>
              <a:srgbClr val="5E863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1" name="Rectangle 9">
            <a:extLst>
              <a:ext uri="{FF2B5EF4-FFF2-40B4-BE49-F238E27FC236}">
                <a16:creationId xmlns:a16="http://schemas.microsoft.com/office/drawing/2014/main" id="{2B356561-68E2-4D77-8B42-970655E4BBD7}"/>
              </a:ext>
            </a:extLst>
          </p:cNvPr>
          <p:cNvSpPr>
            <a:spLocks noChangeArrowheads="1"/>
          </p:cNvSpPr>
          <p:nvPr/>
        </p:nvSpPr>
        <p:spPr bwMode="auto">
          <a:xfrm>
            <a:off x="3810000" y="2649538"/>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en-US" altLang="zh-CN" sz="1000">
                <a:latin typeface="Times New Roman" panose="02020603050405020304" pitchFamily="18" charset="0"/>
              </a:rPr>
              <a:t>●</a:t>
            </a:r>
          </a:p>
        </p:txBody>
      </p:sp>
      <p:sp>
        <p:nvSpPr>
          <p:cNvPr id="18442" name="Rectangle 10">
            <a:extLst>
              <a:ext uri="{FF2B5EF4-FFF2-40B4-BE49-F238E27FC236}">
                <a16:creationId xmlns:a16="http://schemas.microsoft.com/office/drawing/2014/main" id="{27139C25-6C85-499D-8157-75B2CF27CD22}"/>
              </a:ext>
            </a:extLst>
          </p:cNvPr>
          <p:cNvSpPr>
            <a:spLocks noChangeArrowheads="1"/>
          </p:cNvSpPr>
          <p:nvPr/>
        </p:nvSpPr>
        <p:spPr bwMode="auto">
          <a:xfrm>
            <a:off x="5899150" y="1943100"/>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en-US" altLang="zh-CN" sz="1000">
                <a:latin typeface="Times New Roman" panose="02020603050405020304" pitchFamily="18" charset="0"/>
              </a:rPr>
              <a:t>●</a:t>
            </a:r>
          </a:p>
        </p:txBody>
      </p:sp>
      <p:sp>
        <p:nvSpPr>
          <p:cNvPr id="18443" name="Rectangle 11">
            <a:extLst>
              <a:ext uri="{FF2B5EF4-FFF2-40B4-BE49-F238E27FC236}">
                <a16:creationId xmlns:a16="http://schemas.microsoft.com/office/drawing/2014/main" id="{DD31576A-6BBE-4953-B121-11057EFAB5E0}"/>
              </a:ext>
            </a:extLst>
          </p:cNvPr>
          <p:cNvSpPr>
            <a:spLocks noChangeArrowheads="1"/>
          </p:cNvSpPr>
          <p:nvPr/>
        </p:nvSpPr>
        <p:spPr bwMode="auto">
          <a:xfrm>
            <a:off x="6581775" y="246063"/>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en-US" altLang="zh-CN" sz="1000">
                <a:latin typeface="Times New Roman" panose="02020603050405020304" pitchFamily="18" charset="0"/>
              </a:rPr>
              <a:t>●</a:t>
            </a:r>
          </a:p>
        </p:txBody>
      </p:sp>
      <p:sp>
        <p:nvSpPr>
          <p:cNvPr id="18444" name="Arc 12">
            <a:extLst>
              <a:ext uri="{FF2B5EF4-FFF2-40B4-BE49-F238E27FC236}">
                <a16:creationId xmlns:a16="http://schemas.microsoft.com/office/drawing/2014/main" id="{90DB8693-CC5B-4CCC-9618-B4D1ABE5E0CC}"/>
              </a:ext>
            </a:extLst>
          </p:cNvPr>
          <p:cNvSpPr>
            <a:spLocks/>
          </p:cNvSpPr>
          <p:nvPr/>
        </p:nvSpPr>
        <p:spPr bwMode="auto">
          <a:xfrm rot="-6649410">
            <a:off x="2033588" y="3238500"/>
            <a:ext cx="1406525" cy="1209675"/>
          </a:xfrm>
          <a:custGeom>
            <a:avLst/>
            <a:gdLst>
              <a:gd name="T0" fmla="*/ 2147483646 w 21172"/>
              <a:gd name="T1" fmla="*/ 0 h 17604"/>
              <a:gd name="T2" fmla="*/ 2147483646 w 21172"/>
              <a:gd name="T3" fmla="*/ 2147483646 h 17604"/>
              <a:gd name="T4" fmla="*/ 0 w 21172"/>
              <a:gd name="T5" fmla="*/ 2147483646 h 17604"/>
              <a:gd name="T6" fmla="*/ 0 60000 65536"/>
              <a:gd name="T7" fmla="*/ 0 60000 65536"/>
              <a:gd name="T8" fmla="*/ 0 60000 65536"/>
              <a:gd name="T9" fmla="*/ 0 w 21172"/>
              <a:gd name="T10" fmla="*/ 0 h 17604"/>
              <a:gd name="T11" fmla="*/ 21172 w 21172"/>
              <a:gd name="T12" fmla="*/ 17604 h 17604"/>
            </a:gdLst>
            <a:ahLst/>
            <a:cxnLst>
              <a:cxn ang="T6">
                <a:pos x="T0" y="T1"/>
              </a:cxn>
              <a:cxn ang="T7">
                <a:pos x="T2" y="T3"/>
              </a:cxn>
              <a:cxn ang="T8">
                <a:pos x="T4" y="T5"/>
              </a:cxn>
            </a:cxnLst>
            <a:rect l="T9" t="T10" r="T11" b="T12"/>
            <a:pathLst>
              <a:path w="21172" h="17604" fill="none" extrusionOk="0">
                <a:moveTo>
                  <a:pt x="12516" y="-1"/>
                </a:moveTo>
                <a:cubicBezTo>
                  <a:pt x="16989" y="3180"/>
                  <a:pt x="20084" y="7945"/>
                  <a:pt x="21172" y="13325"/>
                </a:cubicBezTo>
              </a:path>
              <a:path w="21172" h="17604" stroke="0" extrusionOk="0">
                <a:moveTo>
                  <a:pt x="12516" y="-1"/>
                </a:moveTo>
                <a:cubicBezTo>
                  <a:pt x="16989" y="3180"/>
                  <a:pt x="20084" y="7945"/>
                  <a:pt x="21172" y="13325"/>
                </a:cubicBezTo>
                <a:lnTo>
                  <a:pt x="0" y="17604"/>
                </a:lnTo>
                <a:lnTo>
                  <a:pt x="12516" y="-1"/>
                </a:lnTo>
                <a:close/>
              </a:path>
            </a:pathLst>
          </a:custGeom>
          <a:noFill/>
          <a:ln w="19050">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45" name="Arc 13">
            <a:extLst>
              <a:ext uri="{FF2B5EF4-FFF2-40B4-BE49-F238E27FC236}">
                <a16:creationId xmlns:a16="http://schemas.microsoft.com/office/drawing/2014/main" id="{BCCDFD3A-1CB5-4B58-B941-8AE7DB7FCCD1}"/>
              </a:ext>
            </a:extLst>
          </p:cNvPr>
          <p:cNvSpPr>
            <a:spLocks/>
          </p:cNvSpPr>
          <p:nvPr/>
        </p:nvSpPr>
        <p:spPr bwMode="auto">
          <a:xfrm rot="10548934" flipV="1">
            <a:off x="2781300" y="2819400"/>
            <a:ext cx="1143000" cy="303213"/>
          </a:xfrm>
          <a:custGeom>
            <a:avLst/>
            <a:gdLst>
              <a:gd name="T0" fmla="*/ 0 w 20411"/>
              <a:gd name="T1" fmla="*/ 0 h 21600"/>
              <a:gd name="T2" fmla="*/ 2147483646 w 20411"/>
              <a:gd name="T3" fmla="*/ 2147483646 h 21600"/>
              <a:gd name="T4" fmla="*/ 0 w 20411"/>
              <a:gd name="T5" fmla="*/ 2147483646 h 21600"/>
              <a:gd name="T6" fmla="*/ 0 60000 65536"/>
              <a:gd name="T7" fmla="*/ 0 60000 65536"/>
              <a:gd name="T8" fmla="*/ 0 60000 65536"/>
              <a:gd name="T9" fmla="*/ 0 w 20411"/>
              <a:gd name="T10" fmla="*/ 0 h 21600"/>
              <a:gd name="T11" fmla="*/ 20411 w 20411"/>
              <a:gd name="T12" fmla="*/ 21600 h 21600"/>
            </a:gdLst>
            <a:ahLst/>
            <a:cxnLst>
              <a:cxn ang="T6">
                <a:pos x="T0" y="T1"/>
              </a:cxn>
              <a:cxn ang="T7">
                <a:pos x="T2" y="T3"/>
              </a:cxn>
              <a:cxn ang="T8">
                <a:pos x="T4" y="T5"/>
              </a:cxn>
            </a:cxnLst>
            <a:rect l="T9" t="T10" r="T11" b="T12"/>
            <a:pathLst>
              <a:path w="20411" h="21600" fill="none" extrusionOk="0">
                <a:moveTo>
                  <a:pt x="-1" y="0"/>
                </a:moveTo>
                <a:cubicBezTo>
                  <a:pt x="9204" y="0"/>
                  <a:pt x="17398" y="5833"/>
                  <a:pt x="20410" y="14531"/>
                </a:cubicBezTo>
              </a:path>
              <a:path w="20411" h="21600" stroke="0" extrusionOk="0">
                <a:moveTo>
                  <a:pt x="-1" y="0"/>
                </a:moveTo>
                <a:cubicBezTo>
                  <a:pt x="9204" y="0"/>
                  <a:pt x="17398" y="5833"/>
                  <a:pt x="20410" y="14531"/>
                </a:cubicBezTo>
                <a:lnTo>
                  <a:pt x="0" y="21600"/>
                </a:lnTo>
                <a:lnTo>
                  <a:pt x="-1" y="0"/>
                </a:lnTo>
                <a:close/>
              </a:path>
            </a:pathLst>
          </a:custGeom>
          <a:noFill/>
          <a:ln w="19050">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46" name="Arc 14">
            <a:extLst>
              <a:ext uri="{FF2B5EF4-FFF2-40B4-BE49-F238E27FC236}">
                <a16:creationId xmlns:a16="http://schemas.microsoft.com/office/drawing/2014/main" id="{B914FEB7-CED2-4365-905B-B7DB5033D632}"/>
              </a:ext>
            </a:extLst>
          </p:cNvPr>
          <p:cNvSpPr>
            <a:spLocks/>
          </p:cNvSpPr>
          <p:nvPr/>
        </p:nvSpPr>
        <p:spPr bwMode="auto">
          <a:xfrm flipV="1">
            <a:off x="3962400" y="1598613"/>
            <a:ext cx="2144713" cy="1171575"/>
          </a:xfrm>
          <a:custGeom>
            <a:avLst/>
            <a:gdLst>
              <a:gd name="T0" fmla="*/ 0 w 20270"/>
              <a:gd name="T1" fmla="*/ 0 h 21600"/>
              <a:gd name="T2" fmla="*/ 2147483646 w 20270"/>
              <a:gd name="T3" fmla="*/ 2147483646 h 21600"/>
              <a:gd name="T4" fmla="*/ 0 w 20270"/>
              <a:gd name="T5" fmla="*/ 2147483646 h 21600"/>
              <a:gd name="T6" fmla="*/ 0 60000 65536"/>
              <a:gd name="T7" fmla="*/ 0 60000 65536"/>
              <a:gd name="T8" fmla="*/ 0 60000 65536"/>
              <a:gd name="T9" fmla="*/ 0 w 20270"/>
              <a:gd name="T10" fmla="*/ 0 h 21600"/>
              <a:gd name="T11" fmla="*/ 20270 w 20270"/>
              <a:gd name="T12" fmla="*/ 21600 h 21600"/>
            </a:gdLst>
            <a:ahLst/>
            <a:cxnLst>
              <a:cxn ang="T6">
                <a:pos x="T0" y="T1"/>
              </a:cxn>
              <a:cxn ang="T7">
                <a:pos x="T2" y="T3"/>
              </a:cxn>
              <a:cxn ang="T8">
                <a:pos x="T4" y="T5"/>
              </a:cxn>
            </a:cxnLst>
            <a:rect l="T9" t="T10" r="T11" b="T12"/>
            <a:pathLst>
              <a:path w="20270" h="21600" fill="none" extrusionOk="0">
                <a:moveTo>
                  <a:pt x="-1" y="0"/>
                </a:moveTo>
                <a:cubicBezTo>
                  <a:pt x="9051" y="0"/>
                  <a:pt x="17143" y="5643"/>
                  <a:pt x="20270" y="14137"/>
                </a:cubicBezTo>
              </a:path>
              <a:path w="20270" h="21600" stroke="0" extrusionOk="0">
                <a:moveTo>
                  <a:pt x="-1" y="0"/>
                </a:moveTo>
                <a:cubicBezTo>
                  <a:pt x="9051" y="0"/>
                  <a:pt x="17143" y="5643"/>
                  <a:pt x="20270" y="14137"/>
                </a:cubicBezTo>
                <a:lnTo>
                  <a:pt x="0" y="21600"/>
                </a:lnTo>
                <a:lnTo>
                  <a:pt x="-1" y="0"/>
                </a:lnTo>
                <a:close/>
              </a:path>
            </a:pathLst>
          </a:custGeom>
          <a:noFill/>
          <a:ln w="19050">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47" name="Arc 15">
            <a:extLst>
              <a:ext uri="{FF2B5EF4-FFF2-40B4-BE49-F238E27FC236}">
                <a16:creationId xmlns:a16="http://schemas.microsoft.com/office/drawing/2014/main" id="{3C30D17E-7CAD-4DFA-BD56-EEBB73E5726B}"/>
              </a:ext>
            </a:extLst>
          </p:cNvPr>
          <p:cNvSpPr>
            <a:spLocks/>
          </p:cNvSpPr>
          <p:nvPr/>
        </p:nvSpPr>
        <p:spPr bwMode="auto">
          <a:xfrm rot="-5654227" flipH="1" flipV="1">
            <a:off x="5141118" y="350044"/>
            <a:ext cx="2165351" cy="1163638"/>
          </a:xfrm>
          <a:custGeom>
            <a:avLst/>
            <a:gdLst>
              <a:gd name="T0" fmla="*/ 2147483646 w 20471"/>
              <a:gd name="T1" fmla="*/ 0 h 21446"/>
              <a:gd name="T2" fmla="*/ 2147483646 w 20471"/>
              <a:gd name="T3" fmla="*/ 2147483646 h 21446"/>
              <a:gd name="T4" fmla="*/ 0 w 20471"/>
              <a:gd name="T5" fmla="*/ 2147483646 h 21446"/>
              <a:gd name="T6" fmla="*/ 0 60000 65536"/>
              <a:gd name="T7" fmla="*/ 0 60000 65536"/>
              <a:gd name="T8" fmla="*/ 0 60000 65536"/>
              <a:gd name="T9" fmla="*/ 0 w 20471"/>
              <a:gd name="T10" fmla="*/ 0 h 21446"/>
              <a:gd name="T11" fmla="*/ 20471 w 20471"/>
              <a:gd name="T12" fmla="*/ 21446 h 21446"/>
            </a:gdLst>
            <a:ahLst/>
            <a:cxnLst>
              <a:cxn ang="T6">
                <a:pos x="T0" y="T1"/>
              </a:cxn>
              <a:cxn ang="T7">
                <a:pos x="T2" y="T3"/>
              </a:cxn>
              <a:cxn ang="T8">
                <a:pos x="T4" y="T5"/>
              </a:cxn>
            </a:cxnLst>
            <a:rect l="T9" t="T10" r="T11" b="T12"/>
            <a:pathLst>
              <a:path w="20471" h="21446" fill="none" extrusionOk="0">
                <a:moveTo>
                  <a:pt x="2574" y="-1"/>
                </a:moveTo>
                <a:cubicBezTo>
                  <a:pt x="10847" y="992"/>
                  <a:pt x="17812" y="6657"/>
                  <a:pt x="20471" y="14554"/>
                </a:cubicBezTo>
              </a:path>
              <a:path w="20471" h="21446" stroke="0" extrusionOk="0">
                <a:moveTo>
                  <a:pt x="2574" y="-1"/>
                </a:moveTo>
                <a:cubicBezTo>
                  <a:pt x="10847" y="992"/>
                  <a:pt x="17812" y="6657"/>
                  <a:pt x="20471" y="14554"/>
                </a:cubicBezTo>
                <a:lnTo>
                  <a:pt x="0" y="21446"/>
                </a:lnTo>
                <a:lnTo>
                  <a:pt x="2574" y="-1"/>
                </a:lnTo>
                <a:close/>
              </a:path>
            </a:pathLst>
          </a:custGeom>
          <a:noFill/>
          <a:ln w="19050">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48" name="Rectangle 16">
            <a:extLst>
              <a:ext uri="{FF2B5EF4-FFF2-40B4-BE49-F238E27FC236}">
                <a16:creationId xmlns:a16="http://schemas.microsoft.com/office/drawing/2014/main" id="{B9B45204-53A7-440B-91AE-04F418AD5F39}"/>
              </a:ext>
            </a:extLst>
          </p:cNvPr>
          <p:cNvSpPr>
            <a:spLocks noChangeArrowheads="1"/>
          </p:cNvSpPr>
          <p:nvPr/>
        </p:nvSpPr>
        <p:spPr bwMode="auto">
          <a:xfrm>
            <a:off x="2609850" y="6537325"/>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en-US" altLang="zh-CN" sz="1000">
                <a:latin typeface="Times New Roman" panose="02020603050405020304" pitchFamily="18" charset="0"/>
              </a:rPr>
              <a:t>●</a:t>
            </a:r>
          </a:p>
        </p:txBody>
      </p:sp>
      <p:sp>
        <p:nvSpPr>
          <p:cNvPr id="18449" name="Rectangle 17">
            <a:extLst>
              <a:ext uri="{FF2B5EF4-FFF2-40B4-BE49-F238E27FC236}">
                <a16:creationId xmlns:a16="http://schemas.microsoft.com/office/drawing/2014/main" id="{535853EB-266F-4922-B5EA-83BE04B16A7C}"/>
              </a:ext>
            </a:extLst>
          </p:cNvPr>
          <p:cNvSpPr>
            <a:spLocks noChangeArrowheads="1"/>
          </p:cNvSpPr>
          <p:nvPr/>
        </p:nvSpPr>
        <p:spPr bwMode="auto">
          <a:xfrm>
            <a:off x="3803650" y="5638800"/>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en-US" altLang="zh-CN" sz="1000">
                <a:latin typeface="Times New Roman" panose="02020603050405020304" pitchFamily="18" charset="0"/>
              </a:rPr>
              <a:t>●</a:t>
            </a:r>
          </a:p>
        </p:txBody>
      </p:sp>
      <p:sp>
        <p:nvSpPr>
          <p:cNvPr id="18450" name="Rectangle 18">
            <a:extLst>
              <a:ext uri="{FF2B5EF4-FFF2-40B4-BE49-F238E27FC236}">
                <a16:creationId xmlns:a16="http://schemas.microsoft.com/office/drawing/2014/main" id="{1DAE61F6-6D54-4447-B397-17EAC21D724F}"/>
              </a:ext>
            </a:extLst>
          </p:cNvPr>
          <p:cNvSpPr>
            <a:spLocks noChangeArrowheads="1"/>
          </p:cNvSpPr>
          <p:nvPr/>
        </p:nvSpPr>
        <p:spPr bwMode="auto">
          <a:xfrm>
            <a:off x="5905500" y="4327525"/>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en-US" altLang="zh-CN" sz="1000">
                <a:latin typeface="Times New Roman" panose="02020603050405020304" pitchFamily="18" charset="0"/>
              </a:rPr>
              <a:t>●</a:t>
            </a:r>
          </a:p>
        </p:txBody>
      </p:sp>
      <p:sp>
        <p:nvSpPr>
          <p:cNvPr id="18451" name="Rectangle 19">
            <a:extLst>
              <a:ext uri="{FF2B5EF4-FFF2-40B4-BE49-F238E27FC236}">
                <a16:creationId xmlns:a16="http://schemas.microsoft.com/office/drawing/2014/main" id="{82F33E4A-7BA7-4970-A6CE-91D48433791B}"/>
              </a:ext>
            </a:extLst>
          </p:cNvPr>
          <p:cNvSpPr>
            <a:spLocks noChangeArrowheads="1"/>
          </p:cNvSpPr>
          <p:nvPr/>
        </p:nvSpPr>
        <p:spPr bwMode="auto">
          <a:xfrm>
            <a:off x="6851650" y="5622925"/>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en-US" altLang="zh-CN" sz="1000">
                <a:latin typeface="Times New Roman" panose="02020603050405020304" pitchFamily="18" charset="0"/>
              </a:rPr>
              <a:t>●</a:t>
            </a:r>
          </a:p>
        </p:txBody>
      </p:sp>
      <p:sp>
        <p:nvSpPr>
          <p:cNvPr id="18452" name="Arc 20">
            <a:extLst>
              <a:ext uri="{FF2B5EF4-FFF2-40B4-BE49-F238E27FC236}">
                <a16:creationId xmlns:a16="http://schemas.microsoft.com/office/drawing/2014/main" id="{94A30879-E899-466E-B8FF-C6F8D061D464}"/>
              </a:ext>
            </a:extLst>
          </p:cNvPr>
          <p:cNvSpPr>
            <a:spLocks/>
          </p:cNvSpPr>
          <p:nvPr/>
        </p:nvSpPr>
        <p:spPr bwMode="auto">
          <a:xfrm flipH="1" flipV="1">
            <a:off x="2133600" y="6362700"/>
            <a:ext cx="609600" cy="3048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3" name="Freeform 21">
            <a:extLst>
              <a:ext uri="{FF2B5EF4-FFF2-40B4-BE49-F238E27FC236}">
                <a16:creationId xmlns:a16="http://schemas.microsoft.com/office/drawing/2014/main" id="{418F7F36-96FD-46CA-8764-06F49609C682}"/>
              </a:ext>
            </a:extLst>
          </p:cNvPr>
          <p:cNvSpPr>
            <a:spLocks/>
          </p:cNvSpPr>
          <p:nvPr/>
        </p:nvSpPr>
        <p:spPr bwMode="auto">
          <a:xfrm>
            <a:off x="2781300" y="6273800"/>
            <a:ext cx="590550" cy="400050"/>
          </a:xfrm>
          <a:custGeom>
            <a:avLst/>
            <a:gdLst>
              <a:gd name="T0" fmla="*/ 0 w 372"/>
              <a:gd name="T1" fmla="*/ 2147483646 h 252"/>
              <a:gd name="T2" fmla="*/ 2147483646 w 372"/>
              <a:gd name="T3" fmla="*/ 0 h 252"/>
              <a:gd name="T4" fmla="*/ 0 60000 65536"/>
              <a:gd name="T5" fmla="*/ 0 60000 65536"/>
              <a:gd name="T6" fmla="*/ 0 w 372"/>
              <a:gd name="T7" fmla="*/ 0 h 252"/>
              <a:gd name="T8" fmla="*/ 372 w 372"/>
              <a:gd name="T9" fmla="*/ 252 h 252"/>
            </a:gdLst>
            <a:ahLst/>
            <a:cxnLst>
              <a:cxn ang="T4">
                <a:pos x="T0" y="T1"/>
              </a:cxn>
              <a:cxn ang="T5">
                <a:pos x="T2" y="T3"/>
              </a:cxn>
            </a:cxnLst>
            <a:rect l="T6" t="T7" r="T8" b="T9"/>
            <a:pathLst>
              <a:path w="372" h="252">
                <a:moveTo>
                  <a:pt x="0" y="252"/>
                </a:moveTo>
                <a:lnTo>
                  <a:pt x="372" y="0"/>
                </a:lnTo>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4" name="Freeform 22">
            <a:extLst>
              <a:ext uri="{FF2B5EF4-FFF2-40B4-BE49-F238E27FC236}">
                <a16:creationId xmlns:a16="http://schemas.microsoft.com/office/drawing/2014/main" id="{9300859F-8AC2-46CD-977F-A19C191FAFF9}"/>
              </a:ext>
            </a:extLst>
          </p:cNvPr>
          <p:cNvSpPr>
            <a:spLocks/>
          </p:cNvSpPr>
          <p:nvPr/>
        </p:nvSpPr>
        <p:spPr bwMode="auto">
          <a:xfrm>
            <a:off x="3365500" y="5772150"/>
            <a:ext cx="596900" cy="508000"/>
          </a:xfrm>
          <a:custGeom>
            <a:avLst/>
            <a:gdLst>
              <a:gd name="T0" fmla="*/ 0 w 376"/>
              <a:gd name="T1" fmla="*/ 2147483646 h 320"/>
              <a:gd name="T2" fmla="*/ 2147483646 w 376"/>
              <a:gd name="T3" fmla="*/ 0 h 320"/>
              <a:gd name="T4" fmla="*/ 0 60000 65536"/>
              <a:gd name="T5" fmla="*/ 0 60000 65536"/>
              <a:gd name="T6" fmla="*/ 0 w 376"/>
              <a:gd name="T7" fmla="*/ 0 h 320"/>
              <a:gd name="T8" fmla="*/ 376 w 376"/>
              <a:gd name="T9" fmla="*/ 320 h 320"/>
            </a:gdLst>
            <a:ahLst/>
            <a:cxnLst>
              <a:cxn ang="T4">
                <a:pos x="T0" y="T1"/>
              </a:cxn>
              <a:cxn ang="T5">
                <a:pos x="T2" y="T3"/>
              </a:cxn>
            </a:cxnLst>
            <a:rect l="T6" t="T7" r="T8" b="T9"/>
            <a:pathLst>
              <a:path w="376" h="320">
                <a:moveTo>
                  <a:pt x="0" y="320"/>
                </a:moveTo>
                <a:lnTo>
                  <a:pt x="376" y="0"/>
                </a:lnTo>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5" name="Line 23">
            <a:extLst>
              <a:ext uri="{FF2B5EF4-FFF2-40B4-BE49-F238E27FC236}">
                <a16:creationId xmlns:a16="http://schemas.microsoft.com/office/drawing/2014/main" id="{94184544-4B4A-474D-B968-68920D4F2A5E}"/>
              </a:ext>
            </a:extLst>
          </p:cNvPr>
          <p:cNvSpPr>
            <a:spLocks noChangeShapeType="1"/>
          </p:cNvSpPr>
          <p:nvPr/>
        </p:nvSpPr>
        <p:spPr bwMode="auto">
          <a:xfrm flipV="1">
            <a:off x="3962400" y="5305425"/>
            <a:ext cx="609600" cy="457200"/>
          </a:xfrm>
          <a:prstGeom prst="line">
            <a:avLst/>
          </a:prstGeom>
          <a:noFill/>
          <a:ln w="1905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6" name="Freeform 24">
            <a:extLst>
              <a:ext uri="{FF2B5EF4-FFF2-40B4-BE49-F238E27FC236}">
                <a16:creationId xmlns:a16="http://schemas.microsoft.com/office/drawing/2014/main" id="{1ABD5858-D2EE-48C6-B156-F51B604E3BEF}"/>
              </a:ext>
            </a:extLst>
          </p:cNvPr>
          <p:cNvSpPr>
            <a:spLocks/>
          </p:cNvSpPr>
          <p:nvPr/>
        </p:nvSpPr>
        <p:spPr bwMode="auto">
          <a:xfrm>
            <a:off x="4552950" y="4883150"/>
            <a:ext cx="641350" cy="438150"/>
          </a:xfrm>
          <a:custGeom>
            <a:avLst/>
            <a:gdLst>
              <a:gd name="T0" fmla="*/ 0 w 404"/>
              <a:gd name="T1" fmla="*/ 2147483646 h 276"/>
              <a:gd name="T2" fmla="*/ 2147483646 w 404"/>
              <a:gd name="T3" fmla="*/ 0 h 276"/>
              <a:gd name="T4" fmla="*/ 0 60000 65536"/>
              <a:gd name="T5" fmla="*/ 0 60000 65536"/>
              <a:gd name="T6" fmla="*/ 0 w 404"/>
              <a:gd name="T7" fmla="*/ 0 h 276"/>
              <a:gd name="T8" fmla="*/ 404 w 404"/>
              <a:gd name="T9" fmla="*/ 276 h 276"/>
            </a:gdLst>
            <a:ahLst/>
            <a:cxnLst>
              <a:cxn ang="T4">
                <a:pos x="T0" y="T1"/>
              </a:cxn>
              <a:cxn ang="T5">
                <a:pos x="T2" y="T3"/>
              </a:cxn>
            </a:cxnLst>
            <a:rect l="T6" t="T7" r="T8" b="T9"/>
            <a:pathLst>
              <a:path w="404" h="276">
                <a:moveTo>
                  <a:pt x="0" y="276"/>
                </a:moveTo>
                <a:lnTo>
                  <a:pt x="404" y="0"/>
                </a:lnTo>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7" name="Freeform 25">
            <a:extLst>
              <a:ext uri="{FF2B5EF4-FFF2-40B4-BE49-F238E27FC236}">
                <a16:creationId xmlns:a16="http://schemas.microsoft.com/office/drawing/2014/main" id="{BAA2432C-3B68-4CE7-8B9E-380243D1DA76}"/>
              </a:ext>
            </a:extLst>
          </p:cNvPr>
          <p:cNvSpPr>
            <a:spLocks/>
          </p:cNvSpPr>
          <p:nvPr/>
        </p:nvSpPr>
        <p:spPr bwMode="auto">
          <a:xfrm>
            <a:off x="5181600" y="4572000"/>
            <a:ext cx="533400" cy="317500"/>
          </a:xfrm>
          <a:custGeom>
            <a:avLst/>
            <a:gdLst>
              <a:gd name="T0" fmla="*/ 0 w 408"/>
              <a:gd name="T1" fmla="*/ 2147483646 h 240"/>
              <a:gd name="T2" fmla="*/ 2147483646 w 408"/>
              <a:gd name="T3" fmla="*/ 0 h 240"/>
              <a:gd name="T4" fmla="*/ 0 60000 65536"/>
              <a:gd name="T5" fmla="*/ 0 60000 65536"/>
              <a:gd name="T6" fmla="*/ 0 w 408"/>
              <a:gd name="T7" fmla="*/ 0 h 240"/>
              <a:gd name="T8" fmla="*/ 408 w 408"/>
              <a:gd name="T9" fmla="*/ 240 h 240"/>
            </a:gdLst>
            <a:ahLst/>
            <a:cxnLst>
              <a:cxn ang="T4">
                <a:pos x="T0" y="T1"/>
              </a:cxn>
              <a:cxn ang="T5">
                <a:pos x="T2" y="T3"/>
              </a:cxn>
            </a:cxnLst>
            <a:rect l="T6" t="T7" r="T8" b="T9"/>
            <a:pathLst>
              <a:path w="408" h="240">
                <a:moveTo>
                  <a:pt x="0" y="240"/>
                </a:moveTo>
                <a:lnTo>
                  <a:pt x="408" y="0"/>
                </a:lnTo>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8" name="Arc 26">
            <a:extLst>
              <a:ext uri="{FF2B5EF4-FFF2-40B4-BE49-F238E27FC236}">
                <a16:creationId xmlns:a16="http://schemas.microsoft.com/office/drawing/2014/main" id="{A01D9B36-7C10-4252-946E-5CFBDF3F378B}"/>
              </a:ext>
            </a:extLst>
          </p:cNvPr>
          <p:cNvSpPr>
            <a:spLocks/>
          </p:cNvSpPr>
          <p:nvPr/>
        </p:nvSpPr>
        <p:spPr bwMode="auto">
          <a:xfrm>
            <a:off x="6261100" y="4559300"/>
            <a:ext cx="762000" cy="1808163"/>
          </a:xfrm>
          <a:custGeom>
            <a:avLst/>
            <a:gdLst>
              <a:gd name="T0" fmla="*/ 2147483646 w 21600"/>
              <a:gd name="T1" fmla="*/ 0 h 21346"/>
              <a:gd name="T2" fmla="*/ 2147483646 w 21600"/>
              <a:gd name="T3" fmla="*/ 2147483646 h 21346"/>
              <a:gd name="T4" fmla="*/ 0 w 21600"/>
              <a:gd name="T5" fmla="*/ 2147483646 h 21346"/>
              <a:gd name="T6" fmla="*/ 0 60000 65536"/>
              <a:gd name="T7" fmla="*/ 0 60000 65536"/>
              <a:gd name="T8" fmla="*/ 0 60000 65536"/>
              <a:gd name="T9" fmla="*/ 0 w 21600"/>
              <a:gd name="T10" fmla="*/ 0 h 21346"/>
              <a:gd name="T11" fmla="*/ 21600 w 21600"/>
              <a:gd name="T12" fmla="*/ 21346 h 21346"/>
            </a:gdLst>
            <a:ahLst/>
            <a:cxnLst>
              <a:cxn ang="T6">
                <a:pos x="T0" y="T1"/>
              </a:cxn>
              <a:cxn ang="T7">
                <a:pos x="T2" y="T3"/>
              </a:cxn>
              <a:cxn ang="T8">
                <a:pos x="T4" y="T5"/>
              </a:cxn>
            </a:cxnLst>
            <a:rect l="T9" t="T10" r="T11" b="T12"/>
            <a:pathLst>
              <a:path w="21600" h="21346" fill="none" extrusionOk="0">
                <a:moveTo>
                  <a:pt x="3304" y="0"/>
                </a:moveTo>
                <a:cubicBezTo>
                  <a:pt x="13832" y="1630"/>
                  <a:pt x="21600" y="10692"/>
                  <a:pt x="21600" y="21346"/>
                </a:cubicBezTo>
              </a:path>
              <a:path w="21600" h="21346" stroke="0" extrusionOk="0">
                <a:moveTo>
                  <a:pt x="3304" y="0"/>
                </a:moveTo>
                <a:cubicBezTo>
                  <a:pt x="13832" y="1630"/>
                  <a:pt x="21600" y="10692"/>
                  <a:pt x="21600" y="21346"/>
                </a:cubicBezTo>
                <a:lnTo>
                  <a:pt x="0" y="21346"/>
                </a:lnTo>
                <a:lnTo>
                  <a:pt x="3304" y="0"/>
                </a:lnTo>
                <a:close/>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9" name="Text Box 27">
            <a:extLst>
              <a:ext uri="{FF2B5EF4-FFF2-40B4-BE49-F238E27FC236}">
                <a16:creationId xmlns:a16="http://schemas.microsoft.com/office/drawing/2014/main" id="{31EB92B9-0683-407D-AB24-7352BF18FC46}"/>
              </a:ext>
            </a:extLst>
          </p:cNvPr>
          <p:cNvSpPr txBox="1">
            <a:spLocks noChangeArrowheads="1"/>
          </p:cNvSpPr>
          <p:nvPr/>
        </p:nvSpPr>
        <p:spPr bwMode="auto">
          <a:xfrm>
            <a:off x="1600200" y="412908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0</a:t>
            </a:r>
          </a:p>
        </p:txBody>
      </p:sp>
      <p:sp>
        <p:nvSpPr>
          <p:cNvPr id="18460" name="Text Box 28">
            <a:extLst>
              <a:ext uri="{FF2B5EF4-FFF2-40B4-BE49-F238E27FC236}">
                <a16:creationId xmlns:a16="http://schemas.microsoft.com/office/drawing/2014/main" id="{4A19C828-AF2B-4DFE-9EF1-EB90B8B2ABC0}"/>
              </a:ext>
            </a:extLst>
          </p:cNvPr>
          <p:cNvSpPr txBox="1">
            <a:spLocks noChangeArrowheads="1"/>
          </p:cNvSpPr>
          <p:nvPr/>
        </p:nvSpPr>
        <p:spPr bwMode="auto">
          <a:xfrm>
            <a:off x="1981200" y="3810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P</a:t>
            </a:r>
          </a:p>
        </p:txBody>
      </p:sp>
      <p:sp>
        <p:nvSpPr>
          <p:cNvPr id="18461" name="Text Box 29">
            <a:extLst>
              <a:ext uri="{FF2B5EF4-FFF2-40B4-BE49-F238E27FC236}">
                <a16:creationId xmlns:a16="http://schemas.microsoft.com/office/drawing/2014/main" id="{8719C795-DFE4-4EA9-ABE3-7E61F19375AD}"/>
              </a:ext>
            </a:extLst>
          </p:cNvPr>
          <p:cNvSpPr txBox="1">
            <a:spLocks noChangeArrowheads="1"/>
          </p:cNvSpPr>
          <p:nvPr/>
        </p:nvSpPr>
        <p:spPr bwMode="auto">
          <a:xfrm>
            <a:off x="7181850" y="40005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p>
        </p:txBody>
      </p:sp>
      <p:sp>
        <p:nvSpPr>
          <p:cNvPr id="18462" name="Text Box 30">
            <a:extLst>
              <a:ext uri="{FF2B5EF4-FFF2-40B4-BE49-F238E27FC236}">
                <a16:creationId xmlns:a16="http://schemas.microsoft.com/office/drawing/2014/main" id="{C1C85772-00FB-4282-A057-20C807104582}"/>
              </a:ext>
            </a:extLst>
          </p:cNvPr>
          <p:cNvSpPr txBox="1">
            <a:spLocks noChangeArrowheads="1"/>
          </p:cNvSpPr>
          <p:nvPr/>
        </p:nvSpPr>
        <p:spPr bwMode="auto">
          <a:xfrm>
            <a:off x="7543800" y="5545116"/>
            <a:ext cx="5810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Q</a:t>
            </a:r>
          </a:p>
        </p:txBody>
      </p:sp>
      <p:sp>
        <p:nvSpPr>
          <p:cNvPr id="18463" name="Text Box 31">
            <a:extLst>
              <a:ext uri="{FF2B5EF4-FFF2-40B4-BE49-F238E27FC236}">
                <a16:creationId xmlns:a16="http://schemas.microsoft.com/office/drawing/2014/main" id="{21580B09-A660-4E16-907F-5E349CFD8D87}"/>
              </a:ext>
            </a:extLst>
          </p:cNvPr>
          <p:cNvSpPr txBox="1">
            <a:spLocks noChangeArrowheads="1"/>
          </p:cNvSpPr>
          <p:nvPr/>
        </p:nvSpPr>
        <p:spPr bwMode="auto">
          <a:xfrm>
            <a:off x="2324100" y="27574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A</a:t>
            </a:r>
          </a:p>
        </p:txBody>
      </p:sp>
      <p:sp>
        <p:nvSpPr>
          <p:cNvPr id="18464" name="Text Box 32">
            <a:extLst>
              <a:ext uri="{FF2B5EF4-FFF2-40B4-BE49-F238E27FC236}">
                <a16:creationId xmlns:a16="http://schemas.microsoft.com/office/drawing/2014/main" id="{41E534FA-A4B0-4015-97BC-B2F34866F66B}"/>
              </a:ext>
            </a:extLst>
          </p:cNvPr>
          <p:cNvSpPr txBox="1">
            <a:spLocks noChangeArrowheads="1"/>
          </p:cNvSpPr>
          <p:nvPr/>
        </p:nvSpPr>
        <p:spPr bwMode="auto">
          <a:xfrm>
            <a:off x="3657600" y="24384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B</a:t>
            </a:r>
          </a:p>
        </p:txBody>
      </p:sp>
      <p:sp>
        <p:nvSpPr>
          <p:cNvPr id="18465" name="Text Box 33">
            <a:extLst>
              <a:ext uri="{FF2B5EF4-FFF2-40B4-BE49-F238E27FC236}">
                <a16:creationId xmlns:a16="http://schemas.microsoft.com/office/drawing/2014/main" id="{CB01AB37-4FF9-4E9C-AB1B-65581291473E}"/>
              </a:ext>
            </a:extLst>
          </p:cNvPr>
          <p:cNvSpPr txBox="1">
            <a:spLocks noChangeArrowheads="1"/>
          </p:cNvSpPr>
          <p:nvPr/>
        </p:nvSpPr>
        <p:spPr bwMode="auto">
          <a:xfrm>
            <a:off x="5981700" y="20574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D</a:t>
            </a:r>
          </a:p>
        </p:txBody>
      </p:sp>
      <p:sp>
        <p:nvSpPr>
          <p:cNvPr id="18466" name="Text Box 34">
            <a:extLst>
              <a:ext uri="{FF2B5EF4-FFF2-40B4-BE49-F238E27FC236}">
                <a16:creationId xmlns:a16="http://schemas.microsoft.com/office/drawing/2014/main" id="{8C948B40-E4F1-48A7-A7D5-6C83BF2FA56E}"/>
              </a:ext>
            </a:extLst>
          </p:cNvPr>
          <p:cNvSpPr txBox="1">
            <a:spLocks noChangeArrowheads="1"/>
          </p:cNvSpPr>
          <p:nvPr/>
        </p:nvSpPr>
        <p:spPr bwMode="auto">
          <a:xfrm>
            <a:off x="6667500" y="3429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E</a:t>
            </a:r>
          </a:p>
        </p:txBody>
      </p:sp>
      <p:sp>
        <p:nvSpPr>
          <p:cNvPr id="18467" name="Text Box 35">
            <a:extLst>
              <a:ext uri="{FF2B5EF4-FFF2-40B4-BE49-F238E27FC236}">
                <a16:creationId xmlns:a16="http://schemas.microsoft.com/office/drawing/2014/main" id="{2DC7D966-ACB5-4491-A42A-B344247B8D20}"/>
              </a:ext>
            </a:extLst>
          </p:cNvPr>
          <p:cNvSpPr txBox="1">
            <a:spLocks noChangeArrowheads="1"/>
          </p:cNvSpPr>
          <p:nvPr/>
        </p:nvSpPr>
        <p:spPr bwMode="auto">
          <a:xfrm>
            <a:off x="6705600" y="11430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solidFill>
                  <a:srgbClr val="7030A0"/>
                </a:solidFill>
                <a:latin typeface="Times New Roman" panose="02020603050405020304" pitchFamily="18" charset="0"/>
              </a:rPr>
              <a:t>TC</a:t>
            </a:r>
          </a:p>
        </p:txBody>
      </p:sp>
      <p:sp>
        <p:nvSpPr>
          <p:cNvPr id="18468" name="Text Box 36">
            <a:extLst>
              <a:ext uri="{FF2B5EF4-FFF2-40B4-BE49-F238E27FC236}">
                <a16:creationId xmlns:a16="http://schemas.microsoft.com/office/drawing/2014/main" id="{06E2BE55-BDA8-4BEC-A070-FD10AE427F03}"/>
              </a:ext>
            </a:extLst>
          </p:cNvPr>
          <p:cNvSpPr txBox="1">
            <a:spLocks noChangeArrowheads="1"/>
          </p:cNvSpPr>
          <p:nvPr/>
        </p:nvSpPr>
        <p:spPr bwMode="auto">
          <a:xfrm>
            <a:off x="4895850" y="11811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solidFill>
                  <a:srgbClr val="5E8631"/>
                </a:solidFill>
                <a:latin typeface="Times New Roman" panose="02020603050405020304" pitchFamily="18" charset="0"/>
              </a:rPr>
              <a:t>TR</a:t>
            </a:r>
          </a:p>
        </p:txBody>
      </p:sp>
      <p:sp>
        <p:nvSpPr>
          <p:cNvPr id="18469" name="Text Box 37">
            <a:extLst>
              <a:ext uri="{FF2B5EF4-FFF2-40B4-BE49-F238E27FC236}">
                <a16:creationId xmlns:a16="http://schemas.microsoft.com/office/drawing/2014/main" id="{50BD57A7-F3C8-4D30-83DE-D4DC8B0433B5}"/>
              </a:ext>
            </a:extLst>
          </p:cNvPr>
          <p:cNvSpPr txBox="1">
            <a:spLocks noChangeArrowheads="1"/>
          </p:cNvSpPr>
          <p:nvPr/>
        </p:nvSpPr>
        <p:spPr bwMode="auto">
          <a:xfrm rot="-2429272">
            <a:off x="4583113" y="1655763"/>
            <a:ext cx="1971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zh-CN" altLang="en-US" sz="2400" b="1">
                <a:latin typeface="Times New Roman" panose="02020603050405020304" pitchFamily="18" charset="0"/>
              </a:rPr>
              <a:t>利 润 区</a:t>
            </a:r>
          </a:p>
        </p:txBody>
      </p:sp>
      <p:sp>
        <p:nvSpPr>
          <p:cNvPr id="18470" name="Line 38">
            <a:extLst>
              <a:ext uri="{FF2B5EF4-FFF2-40B4-BE49-F238E27FC236}">
                <a16:creationId xmlns:a16="http://schemas.microsoft.com/office/drawing/2014/main" id="{493ED133-1194-4E67-B19B-2AA4B4582868}"/>
              </a:ext>
            </a:extLst>
          </p:cNvPr>
          <p:cNvSpPr>
            <a:spLocks noChangeShapeType="1"/>
          </p:cNvSpPr>
          <p:nvPr/>
        </p:nvSpPr>
        <p:spPr bwMode="auto">
          <a:xfrm flipV="1">
            <a:off x="2314575" y="2590800"/>
            <a:ext cx="1038225"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71" name="Line 39">
            <a:extLst>
              <a:ext uri="{FF2B5EF4-FFF2-40B4-BE49-F238E27FC236}">
                <a16:creationId xmlns:a16="http://schemas.microsoft.com/office/drawing/2014/main" id="{6F48ACB3-3431-415B-A770-6F6DF3E8D962}"/>
              </a:ext>
            </a:extLst>
          </p:cNvPr>
          <p:cNvSpPr>
            <a:spLocks noChangeShapeType="1"/>
          </p:cNvSpPr>
          <p:nvPr/>
        </p:nvSpPr>
        <p:spPr bwMode="auto">
          <a:xfrm flipV="1">
            <a:off x="3810000" y="1501775"/>
            <a:ext cx="2898775" cy="2565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72" name="Line 40">
            <a:extLst>
              <a:ext uri="{FF2B5EF4-FFF2-40B4-BE49-F238E27FC236}">
                <a16:creationId xmlns:a16="http://schemas.microsoft.com/office/drawing/2014/main" id="{80963F46-DD97-4CD7-81B9-5FBE71BC7CF9}"/>
              </a:ext>
            </a:extLst>
          </p:cNvPr>
          <p:cNvSpPr>
            <a:spLocks noChangeShapeType="1"/>
          </p:cNvSpPr>
          <p:nvPr/>
        </p:nvSpPr>
        <p:spPr bwMode="auto">
          <a:xfrm>
            <a:off x="6057900" y="2057400"/>
            <a:ext cx="0" cy="3733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73" name="Line 41">
            <a:extLst>
              <a:ext uri="{FF2B5EF4-FFF2-40B4-BE49-F238E27FC236}">
                <a16:creationId xmlns:a16="http://schemas.microsoft.com/office/drawing/2014/main" id="{36F22E6D-3E1A-4D0E-9C4B-242FC7BD3B9D}"/>
              </a:ext>
            </a:extLst>
          </p:cNvPr>
          <p:cNvSpPr>
            <a:spLocks noChangeShapeType="1"/>
          </p:cNvSpPr>
          <p:nvPr/>
        </p:nvSpPr>
        <p:spPr bwMode="auto">
          <a:xfrm>
            <a:off x="3962400" y="2743200"/>
            <a:ext cx="0" cy="3048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74" name="Line 42">
            <a:extLst>
              <a:ext uri="{FF2B5EF4-FFF2-40B4-BE49-F238E27FC236}">
                <a16:creationId xmlns:a16="http://schemas.microsoft.com/office/drawing/2014/main" id="{648D2FBC-F099-4D0A-8C63-18AD8E4AE460}"/>
              </a:ext>
            </a:extLst>
          </p:cNvPr>
          <p:cNvSpPr>
            <a:spLocks noChangeShapeType="1"/>
          </p:cNvSpPr>
          <p:nvPr/>
        </p:nvSpPr>
        <p:spPr bwMode="auto">
          <a:xfrm>
            <a:off x="2743200" y="3124200"/>
            <a:ext cx="0" cy="2667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75" name="Line 43">
            <a:extLst>
              <a:ext uri="{FF2B5EF4-FFF2-40B4-BE49-F238E27FC236}">
                <a16:creationId xmlns:a16="http://schemas.microsoft.com/office/drawing/2014/main" id="{473C38F9-A694-410E-934E-D876D0DAD8A4}"/>
              </a:ext>
            </a:extLst>
          </p:cNvPr>
          <p:cNvSpPr>
            <a:spLocks noChangeShapeType="1"/>
          </p:cNvSpPr>
          <p:nvPr/>
        </p:nvSpPr>
        <p:spPr bwMode="auto">
          <a:xfrm>
            <a:off x="2743200" y="5791200"/>
            <a:ext cx="19050" cy="838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76" name="Text Box 44">
            <a:extLst>
              <a:ext uri="{FF2B5EF4-FFF2-40B4-BE49-F238E27FC236}">
                <a16:creationId xmlns:a16="http://schemas.microsoft.com/office/drawing/2014/main" id="{D0C29B36-B221-46F7-96B4-960453DE0F8F}"/>
              </a:ext>
            </a:extLst>
          </p:cNvPr>
          <p:cNvSpPr txBox="1">
            <a:spLocks noChangeArrowheads="1"/>
          </p:cNvSpPr>
          <p:nvPr/>
        </p:nvSpPr>
        <p:spPr bwMode="auto">
          <a:xfrm>
            <a:off x="2381250" y="631983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A’</a:t>
            </a:r>
          </a:p>
        </p:txBody>
      </p:sp>
      <p:sp>
        <p:nvSpPr>
          <p:cNvPr id="18477" name="Text Box 45">
            <a:extLst>
              <a:ext uri="{FF2B5EF4-FFF2-40B4-BE49-F238E27FC236}">
                <a16:creationId xmlns:a16="http://schemas.microsoft.com/office/drawing/2014/main" id="{6E9EADDC-8688-43CE-911C-CA964230FE77}"/>
              </a:ext>
            </a:extLst>
          </p:cNvPr>
          <p:cNvSpPr txBox="1">
            <a:spLocks noChangeArrowheads="1"/>
          </p:cNvSpPr>
          <p:nvPr/>
        </p:nvSpPr>
        <p:spPr bwMode="auto">
          <a:xfrm>
            <a:off x="3562350" y="54864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B’</a:t>
            </a:r>
          </a:p>
        </p:txBody>
      </p:sp>
      <p:sp>
        <p:nvSpPr>
          <p:cNvPr id="18478" name="Text Box 46">
            <a:extLst>
              <a:ext uri="{FF2B5EF4-FFF2-40B4-BE49-F238E27FC236}">
                <a16:creationId xmlns:a16="http://schemas.microsoft.com/office/drawing/2014/main" id="{5E32D5E2-B247-4AE5-8AFD-E6B4B1403299}"/>
              </a:ext>
            </a:extLst>
          </p:cNvPr>
          <p:cNvSpPr txBox="1">
            <a:spLocks noChangeArrowheads="1"/>
          </p:cNvSpPr>
          <p:nvPr/>
        </p:nvSpPr>
        <p:spPr bwMode="auto">
          <a:xfrm>
            <a:off x="5676900" y="45339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D’</a:t>
            </a:r>
          </a:p>
        </p:txBody>
      </p:sp>
      <p:sp>
        <p:nvSpPr>
          <p:cNvPr id="18479" name="Text Box 47">
            <a:extLst>
              <a:ext uri="{FF2B5EF4-FFF2-40B4-BE49-F238E27FC236}">
                <a16:creationId xmlns:a16="http://schemas.microsoft.com/office/drawing/2014/main" id="{707ADE33-60DC-4E1D-B6BE-B41A8A518B6C}"/>
              </a:ext>
            </a:extLst>
          </p:cNvPr>
          <p:cNvSpPr txBox="1">
            <a:spLocks noChangeArrowheads="1"/>
          </p:cNvSpPr>
          <p:nvPr/>
        </p:nvSpPr>
        <p:spPr bwMode="auto">
          <a:xfrm>
            <a:off x="6953250" y="54625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E’</a:t>
            </a:r>
          </a:p>
        </p:txBody>
      </p:sp>
      <p:sp>
        <p:nvSpPr>
          <p:cNvPr id="18480" name="Text Box 48">
            <a:extLst>
              <a:ext uri="{FF2B5EF4-FFF2-40B4-BE49-F238E27FC236}">
                <a16:creationId xmlns:a16="http://schemas.microsoft.com/office/drawing/2014/main" id="{AB7F30FD-0759-4E7D-9887-977341E2FF02}"/>
              </a:ext>
            </a:extLst>
          </p:cNvPr>
          <p:cNvSpPr txBox="1">
            <a:spLocks noChangeArrowheads="1"/>
          </p:cNvSpPr>
          <p:nvPr/>
        </p:nvSpPr>
        <p:spPr bwMode="auto">
          <a:xfrm>
            <a:off x="1981200" y="443388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P</a:t>
            </a:r>
          </a:p>
        </p:txBody>
      </p:sp>
      <p:sp>
        <p:nvSpPr>
          <p:cNvPr id="18481" name="Text Box 49">
            <a:extLst>
              <a:ext uri="{FF2B5EF4-FFF2-40B4-BE49-F238E27FC236}">
                <a16:creationId xmlns:a16="http://schemas.microsoft.com/office/drawing/2014/main" id="{9152CB9D-DB9B-4946-88A1-66E9F8C8E92E}"/>
              </a:ext>
            </a:extLst>
          </p:cNvPr>
          <p:cNvSpPr txBox="1">
            <a:spLocks noChangeArrowheads="1"/>
          </p:cNvSpPr>
          <p:nvPr/>
        </p:nvSpPr>
        <p:spPr bwMode="auto">
          <a:xfrm>
            <a:off x="6972300" y="60960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zh-CN" altLang="en-US" sz="1800" b="1" dirty="0">
                <a:solidFill>
                  <a:srgbClr val="FF9900"/>
                </a:solidFill>
                <a:latin typeface="Times New Roman" panose="02020603050405020304" pitchFamily="18" charset="0"/>
              </a:rPr>
              <a:t>总利润线</a:t>
            </a:r>
          </a:p>
        </p:txBody>
      </p:sp>
      <p:sp>
        <p:nvSpPr>
          <p:cNvPr id="18482" name="Freeform 50">
            <a:extLst>
              <a:ext uri="{FF2B5EF4-FFF2-40B4-BE49-F238E27FC236}">
                <a16:creationId xmlns:a16="http://schemas.microsoft.com/office/drawing/2014/main" id="{9674E2BB-9210-4EC6-85D1-7A9C13EBA013}"/>
              </a:ext>
            </a:extLst>
          </p:cNvPr>
          <p:cNvSpPr>
            <a:spLocks/>
          </p:cNvSpPr>
          <p:nvPr/>
        </p:nvSpPr>
        <p:spPr bwMode="auto">
          <a:xfrm>
            <a:off x="5708650" y="4452938"/>
            <a:ext cx="387350" cy="119062"/>
          </a:xfrm>
          <a:custGeom>
            <a:avLst/>
            <a:gdLst>
              <a:gd name="T0" fmla="*/ 0 w 244"/>
              <a:gd name="T1" fmla="*/ 2147483646 h 75"/>
              <a:gd name="T2" fmla="*/ 2147483646 w 244"/>
              <a:gd name="T3" fmla="*/ 2147483646 h 75"/>
              <a:gd name="T4" fmla="*/ 2147483646 w 244"/>
              <a:gd name="T5" fmla="*/ 2147483646 h 75"/>
              <a:gd name="T6" fmla="*/ 2147483646 w 244"/>
              <a:gd name="T7" fmla="*/ 2147483646 h 75"/>
              <a:gd name="T8" fmla="*/ 0 60000 65536"/>
              <a:gd name="T9" fmla="*/ 0 60000 65536"/>
              <a:gd name="T10" fmla="*/ 0 60000 65536"/>
              <a:gd name="T11" fmla="*/ 0 60000 65536"/>
              <a:gd name="T12" fmla="*/ 0 w 244"/>
              <a:gd name="T13" fmla="*/ 0 h 75"/>
              <a:gd name="T14" fmla="*/ 244 w 244"/>
              <a:gd name="T15" fmla="*/ 75 h 75"/>
            </a:gdLst>
            <a:ahLst/>
            <a:cxnLst>
              <a:cxn ang="T8">
                <a:pos x="T0" y="T1"/>
              </a:cxn>
              <a:cxn ang="T9">
                <a:pos x="T2" y="T3"/>
              </a:cxn>
              <a:cxn ang="T10">
                <a:pos x="T4" y="T5"/>
              </a:cxn>
              <a:cxn ang="T11">
                <a:pos x="T6" y="T7"/>
              </a:cxn>
            </a:cxnLst>
            <a:rect l="T12" t="T13" r="T14" b="T15"/>
            <a:pathLst>
              <a:path w="244" h="75">
                <a:moveTo>
                  <a:pt x="0" y="75"/>
                </a:moveTo>
                <a:cubicBezTo>
                  <a:pt x="25" y="65"/>
                  <a:pt x="119" y="22"/>
                  <a:pt x="156" y="11"/>
                </a:cubicBezTo>
                <a:cubicBezTo>
                  <a:pt x="193" y="0"/>
                  <a:pt x="205" y="2"/>
                  <a:pt x="220" y="7"/>
                </a:cubicBezTo>
                <a:cubicBezTo>
                  <a:pt x="235" y="12"/>
                  <a:pt x="239" y="32"/>
                  <a:pt x="244" y="39"/>
                </a:cubicBezTo>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83" name="Freeform 51">
            <a:extLst>
              <a:ext uri="{FF2B5EF4-FFF2-40B4-BE49-F238E27FC236}">
                <a16:creationId xmlns:a16="http://schemas.microsoft.com/office/drawing/2014/main" id="{82DA9D29-6194-4496-A377-2AB1E65B2D4A}"/>
              </a:ext>
            </a:extLst>
          </p:cNvPr>
          <p:cNvSpPr>
            <a:spLocks/>
          </p:cNvSpPr>
          <p:nvPr/>
        </p:nvSpPr>
        <p:spPr bwMode="auto">
          <a:xfrm>
            <a:off x="6045200" y="4451350"/>
            <a:ext cx="355600" cy="120650"/>
          </a:xfrm>
          <a:custGeom>
            <a:avLst/>
            <a:gdLst>
              <a:gd name="T0" fmla="*/ 0 w 224"/>
              <a:gd name="T1" fmla="*/ 0 h 76"/>
              <a:gd name="T2" fmla="*/ 2147483646 w 224"/>
              <a:gd name="T3" fmla="*/ 2147483646 h 76"/>
              <a:gd name="T4" fmla="*/ 2147483646 w 224"/>
              <a:gd name="T5" fmla="*/ 2147483646 h 76"/>
              <a:gd name="T6" fmla="*/ 0 60000 65536"/>
              <a:gd name="T7" fmla="*/ 0 60000 65536"/>
              <a:gd name="T8" fmla="*/ 0 60000 65536"/>
              <a:gd name="T9" fmla="*/ 0 w 224"/>
              <a:gd name="T10" fmla="*/ 0 h 76"/>
              <a:gd name="T11" fmla="*/ 224 w 224"/>
              <a:gd name="T12" fmla="*/ 76 h 76"/>
            </a:gdLst>
            <a:ahLst/>
            <a:cxnLst>
              <a:cxn ang="T6">
                <a:pos x="T0" y="T1"/>
              </a:cxn>
              <a:cxn ang="T7">
                <a:pos x="T2" y="T3"/>
              </a:cxn>
              <a:cxn ang="T8">
                <a:pos x="T4" y="T5"/>
              </a:cxn>
            </a:cxnLst>
            <a:rect l="T9" t="T10" r="T11" b="T12"/>
            <a:pathLst>
              <a:path w="224" h="76">
                <a:moveTo>
                  <a:pt x="0" y="0"/>
                </a:moveTo>
                <a:cubicBezTo>
                  <a:pt x="21" y="4"/>
                  <a:pt x="91" y="15"/>
                  <a:pt x="128" y="28"/>
                </a:cubicBezTo>
                <a:cubicBezTo>
                  <a:pt x="165" y="41"/>
                  <a:pt x="192" y="56"/>
                  <a:pt x="224" y="76"/>
                </a:cubicBezTo>
              </a:path>
            </a:pathLst>
          </a:custGeom>
          <a:noFill/>
          <a:ln w="19050">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 name="标注: 线形 1">
            <a:extLst>
              <a:ext uri="{FF2B5EF4-FFF2-40B4-BE49-F238E27FC236}">
                <a16:creationId xmlns:a16="http://schemas.microsoft.com/office/drawing/2014/main" id="{9C2E4A7F-9642-4A47-8132-9417912A5A14}"/>
              </a:ext>
            </a:extLst>
          </p:cNvPr>
          <p:cNvSpPr/>
          <p:nvPr/>
        </p:nvSpPr>
        <p:spPr bwMode="auto">
          <a:xfrm>
            <a:off x="7884230" y="1988900"/>
            <a:ext cx="1403292" cy="435213"/>
          </a:xfrm>
          <a:prstGeom prst="borderCallout1">
            <a:avLst>
              <a:gd name="adj1" fmla="val 18750"/>
              <a:gd name="adj2" fmla="val -8333"/>
              <a:gd name="adj3" fmla="val 78721"/>
              <a:gd name="adj4" fmla="val -3339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总量分析法</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一、利润最大化产量的决定</a:t>
            </a:r>
          </a:p>
        </p:txBody>
      </p:sp>
      <p:sp>
        <p:nvSpPr>
          <p:cNvPr id="15" name="矩形 14">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5" name="组合 4">
            <a:extLst>
              <a:ext uri="{FF2B5EF4-FFF2-40B4-BE49-F238E27FC236}">
                <a16:creationId xmlns:a16="http://schemas.microsoft.com/office/drawing/2014/main" id="{627AE83D-F3D9-4FE1-841C-38AA09ECDF1C}"/>
              </a:ext>
            </a:extLst>
          </p:cNvPr>
          <p:cNvGrpSpPr/>
          <p:nvPr/>
        </p:nvGrpSpPr>
        <p:grpSpPr>
          <a:xfrm>
            <a:off x="467544" y="1273292"/>
            <a:ext cx="3960446" cy="514350"/>
            <a:chOff x="467544" y="2826109"/>
            <a:chExt cx="2808366"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826109"/>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完全竞争企业利润最大化的条件</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22733" y="2862547"/>
              <a:ext cx="127000"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C352424-0443-43CC-9DB7-D6B00F0C4B2E}"/>
                  </a:ext>
                </a:extLst>
              </p:cNvPr>
              <p:cNvSpPr/>
              <p:nvPr/>
            </p:nvSpPr>
            <p:spPr>
              <a:xfrm>
                <a:off x="2843880" y="1916895"/>
                <a:ext cx="5998256" cy="4654608"/>
              </a:xfrm>
              <a:prstGeom prst="rect">
                <a:avLst/>
              </a:prstGeom>
            </p:spPr>
            <p:txBody>
              <a:bodyPr wrap="square">
                <a:spAutoFit/>
              </a:bodyPr>
              <a:lstStyle/>
              <a:p>
                <a:pPr marL="800100" lvl="1" indent="-342900" eaLnBrk="1" hangingPunct="1">
                  <a:lnSpc>
                    <a:spcPct val="150000"/>
                  </a:lnSpc>
                  <a:buFont typeface="Wingdings" panose="05000000000000000000" pitchFamily="2" charset="2"/>
                  <a:buChar char="Ø"/>
                </a:pP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rPr>
                      <m:t>𝑀𝑅</m:t>
                    </m:r>
                    <m:r>
                      <a:rPr lang="en-US" altLang="zh-CN" sz="2000" i="1" dirty="0" smtClean="0">
                        <a:latin typeface="Cambria Math" panose="02040503050406030204" pitchFamily="18" charset="0"/>
                        <a:ea typeface="微软雅黑" panose="020B0503020204020204" pitchFamily="34" charset="-122"/>
                      </a:rPr>
                      <m:t>=</m:t>
                    </m:r>
                    <m:r>
                      <a:rPr lang="en-US" altLang="zh-CN" sz="2000" i="1" dirty="0" smtClean="0">
                        <a:latin typeface="Cambria Math" panose="02040503050406030204" pitchFamily="18" charset="0"/>
                        <a:ea typeface="微软雅黑" panose="020B0503020204020204" pitchFamily="34" charset="-122"/>
                      </a:rPr>
                      <m:t>𝑃</m:t>
                    </m:r>
                    <m:r>
                      <a:rPr lang="en-US" altLang="zh-CN" sz="2000" i="1" dirty="0">
                        <a:latin typeface="Cambria Math" panose="02040503050406030204" pitchFamily="18" charset="0"/>
                        <a:sym typeface="Wingdings" panose="05000000000000000000" pitchFamily="2" charset="2"/>
                      </a:rPr>
                      <m:t>  </m:t>
                    </m:r>
                    <m:r>
                      <a:rPr lang="en-US" altLang="zh-CN" sz="2000" i="1" dirty="0" smtClean="0">
                        <a:latin typeface="Cambria Math" panose="02040503050406030204" pitchFamily="18" charset="0"/>
                        <a:ea typeface="微软雅黑" panose="020B0503020204020204" pitchFamily="34" charset="-122"/>
                      </a:rPr>
                      <m:t>𝑀𝑅</m:t>
                    </m:r>
                    <m:r>
                      <a:rPr lang="en-US" altLang="zh-CN" sz="2000" i="1" dirty="0" smtClean="0">
                        <a:latin typeface="Cambria Math" panose="02040503050406030204" pitchFamily="18" charset="0"/>
                        <a:ea typeface="微软雅黑" panose="020B0503020204020204" pitchFamily="34" charset="-122"/>
                      </a:rPr>
                      <m:t>=</m:t>
                    </m:r>
                    <m:r>
                      <a:rPr lang="en-US" altLang="zh-CN" sz="2000" i="1" dirty="0" smtClean="0">
                        <a:latin typeface="Cambria Math" panose="02040503050406030204" pitchFamily="18" charset="0"/>
                        <a:ea typeface="微软雅黑" panose="020B0503020204020204" pitchFamily="34" charset="-122"/>
                      </a:rPr>
                      <m:t>𝑀𝐶</m:t>
                    </m:r>
                  </m:oMath>
                </a14:m>
                <a:r>
                  <a:rPr lang="zh-CN" altLang="en-US" sz="2000" dirty="0">
                    <a:latin typeface="微软雅黑" panose="020B0503020204020204" pitchFamily="34" charset="-122"/>
                    <a:ea typeface="微软雅黑" panose="020B0503020204020204" pitchFamily="34" charset="-122"/>
                  </a:rPr>
                  <a:t>的必要条件简化成</a:t>
                </a:r>
                <a:endParaRPr lang="en-US" altLang="zh-CN" sz="2000" dirty="0">
                  <a:latin typeface="微软雅黑" panose="020B0503020204020204" pitchFamily="34" charset="-122"/>
                  <a:ea typeface="微软雅黑" panose="020B0503020204020204" pitchFamily="34" charset="-122"/>
                </a:endParaRPr>
              </a:p>
              <a:p>
                <a:pPr lvl="1" eaLnBrk="1" hangingPunct="1">
                  <a:lnSpc>
                    <a:spcPct val="150000"/>
                  </a:lnSpc>
                </a:pPr>
                <a:r>
                  <a:rPr lang="en-US" altLang="zh-CN" sz="20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rPr>
                      <m:t>𝑃</m:t>
                    </m:r>
                    <m:r>
                      <a:rPr lang="en-US" altLang="zh-CN" sz="2000" i="1" dirty="0" smtClean="0">
                        <a:latin typeface="Cambria Math" panose="02040503050406030204" pitchFamily="18" charset="0"/>
                        <a:ea typeface="微软雅黑" panose="020B0503020204020204" pitchFamily="34" charset="-122"/>
                      </a:rPr>
                      <m:t>=</m:t>
                    </m:r>
                    <m:r>
                      <a:rPr lang="en-US" altLang="zh-CN" sz="2000" i="1" dirty="0" smtClean="0">
                        <a:latin typeface="Cambria Math" panose="02040503050406030204" pitchFamily="18" charset="0"/>
                        <a:ea typeface="微软雅黑" panose="020B0503020204020204" pitchFamily="34" charset="-122"/>
                      </a:rPr>
                      <m:t>𝑀𝐶</m:t>
                    </m:r>
                  </m:oMath>
                </a14:m>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800100" lvl="1" indent="-342900" eaLnBrk="1" hangingPunct="1">
                  <a:lnSpc>
                    <a:spcPct val="150000"/>
                  </a:lnSpc>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a:p>
                <a:pPr marL="800100" lvl="1" indent="-342900" eaLnBrk="1" hangingPunct="1">
                  <a:lnSpc>
                    <a:spcPct val="150000"/>
                  </a:lnSpc>
                  <a:buFont typeface="Wingdings" panose="05000000000000000000" pitchFamily="2" charset="2"/>
                  <a:buChar char="Ø"/>
                </a:pP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rPr>
                      <m:t>𝑃</m:t>
                    </m:r>
                    <m:r>
                      <a:rPr lang="en-US" altLang="zh-CN" sz="2000" i="1" dirty="0" smtClean="0">
                        <a:latin typeface="Cambria Math" panose="02040503050406030204" pitchFamily="18" charset="0"/>
                        <a:ea typeface="微软雅黑" panose="020B0503020204020204" pitchFamily="34" charset="-122"/>
                      </a:rPr>
                      <m:t>=</m:t>
                    </m:r>
                    <m:r>
                      <a:rPr lang="en-US" altLang="zh-CN" sz="2000" i="1" dirty="0" smtClean="0">
                        <a:latin typeface="Cambria Math" panose="02040503050406030204" pitchFamily="18" charset="0"/>
                        <a:ea typeface="微软雅黑" panose="020B0503020204020204" pitchFamily="34" charset="-122"/>
                      </a:rPr>
                      <m:t>𝑀𝐶</m:t>
                    </m:r>
                  </m:oMath>
                </a14:m>
                <a:r>
                  <a:rPr lang="zh-CN" altLang="en-US" sz="2000" dirty="0">
                    <a:latin typeface="微软雅黑" panose="020B0503020204020204" pitchFamily="34" charset="-122"/>
                    <a:ea typeface="微软雅黑" panose="020B0503020204020204" pitchFamily="34" charset="-122"/>
                  </a:rPr>
                  <a:t>是一阶条件，因此按</a:t>
                </a:r>
                <a:r>
                  <a:rPr lang="en-US" altLang="zh-CN" sz="2000" dirty="0">
                    <a:latin typeface="微软雅黑" panose="020B0503020204020204" pitchFamily="34" charset="-122"/>
                    <a:ea typeface="微软雅黑" panose="020B0503020204020204" pitchFamily="34" charset="-122"/>
                  </a:rPr>
                  <a:t>(P=MC)</a:t>
                </a:r>
                <a:r>
                  <a:rPr lang="zh-CN" altLang="en-US" sz="2000" dirty="0">
                    <a:latin typeface="微软雅黑" panose="020B0503020204020204" pitchFamily="34" charset="-122"/>
                    <a:ea typeface="微软雅黑" panose="020B0503020204020204" pitchFamily="34" charset="-122"/>
                  </a:rPr>
                  <a:t>求出的产量所对应利润不一定最大。</a:t>
                </a:r>
                <a:endParaRPr lang="en-US" altLang="zh-CN" sz="2000" dirty="0">
                  <a:latin typeface="微软雅黑" panose="020B0503020204020204" pitchFamily="34" charset="-122"/>
                  <a:ea typeface="微软雅黑" panose="020B0503020204020204" pitchFamily="34" charset="-122"/>
                </a:endParaRPr>
              </a:p>
              <a:p>
                <a:pPr marL="800100" lvl="1" indent="-342900" eaLnBrk="1" hangingPunct="1">
                  <a:lnSpc>
                    <a:spcPct val="150000"/>
                  </a:lnSpc>
                  <a:buFont typeface="Wingdings" panose="05000000000000000000" pitchFamily="2" charset="2"/>
                  <a:buChar char="Ø"/>
                </a:pPr>
                <a:endParaRPr lang="en-US" altLang="zh-CN" sz="2000" dirty="0">
                  <a:latin typeface="微软雅黑" panose="020B0503020204020204" pitchFamily="34" charset="-122"/>
                  <a:ea typeface="微软雅黑" panose="020B0503020204020204" pitchFamily="34" charset="-122"/>
                </a:endParaRPr>
              </a:p>
              <a:p>
                <a:pPr marL="800100" lvl="1" indent="-342900" eaLnBrk="1" hangingPunct="1">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除一阶条件外，还必须满足二阶条件：</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rPr>
                      <m:t>𝑀𝐶</m:t>
                    </m:r>
                  </m:oMath>
                </a14:m>
                <a:r>
                  <a:rPr lang="zh-CN" altLang="en-US" sz="2000" dirty="0">
                    <a:latin typeface="微软雅黑" panose="020B0503020204020204" pitchFamily="34" charset="-122"/>
                    <a:ea typeface="微软雅黑" panose="020B0503020204020204" pitchFamily="34" charset="-122"/>
                  </a:rPr>
                  <a:t>处于上升阶段</a:t>
                </a:r>
                <a:endParaRPr lang="en-US" altLang="zh-CN" sz="2000" dirty="0">
                  <a:latin typeface="微软雅黑" panose="020B0503020204020204" pitchFamily="34" charset="-122"/>
                  <a:ea typeface="微软雅黑" panose="020B0503020204020204" pitchFamily="34" charset="-122"/>
                </a:endParaRPr>
              </a:p>
              <a:p>
                <a:pPr marL="800100" lvl="1" indent="-342900" eaLnBrk="1" hangingPunct="1">
                  <a:lnSpc>
                    <a:spcPct val="150000"/>
                  </a:lnSpc>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a:p>
                <a:pPr marL="800100" lvl="1" indent="-342900" eaLnBrk="1" hangingPunct="1">
                  <a:lnSpc>
                    <a:spcPct val="150000"/>
                  </a:lnSpc>
                  <a:buFont typeface="Wingdings" panose="05000000000000000000" pitchFamily="2" charset="2"/>
                  <a:buChar char="Ø"/>
                </a:pP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DC352424-0443-43CC-9DB7-D6B00F0C4B2E}"/>
                  </a:ext>
                </a:extLst>
              </p:cNvPr>
              <p:cNvSpPr>
                <a:spLocks noRot="1" noChangeAspect="1" noMove="1" noResize="1" noEditPoints="1" noAdjustHandles="1" noChangeArrowheads="1" noChangeShapeType="1" noTextEdit="1"/>
              </p:cNvSpPr>
              <p:nvPr/>
            </p:nvSpPr>
            <p:spPr>
              <a:xfrm>
                <a:off x="2843880" y="1916895"/>
                <a:ext cx="5998256" cy="4654608"/>
              </a:xfrm>
              <a:prstGeom prst="rect">
                <a:avLst/>
              </a:prstGeom>
              <a:blipFill>
                <a:blip r:embed="rId4"/>
                <a:stretch>
                  <a:fillRect r="-305"/>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367EB3A0-ECEF-49ED-84A5-3F59E8AF19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1725" y="2164435"/>
            <a:ext cx="3024210" cy="3328756"/>
          </a:xfrm>
          <a:prstGeom prst="rect">
            <a:avLst/>
          </a:prstGeom>
        </p:spPr>
      </p:pic>
    </p:spTree>
    <p:extLst>
      <p:ext uri="{BB962C8B-B14F-4D97-AF65-F5344CB8AC3E}">
        <p14:creationId xmlns:p14="http://schemas.microsoft.com/office/powerpoint/2010/main" val="4045311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一、利润最大化产量的决定</a:t>
            </a:r>
          </a:p>
        </p:txBody>
      </p:sp>
      <p:sp>
        <p:nvSpPr>
          <p:cNvPr id="15" name="矩形 14">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5" name="组合 4">
            <a:extLst>
              <a:ext uri="{FF2B5EF4-FFF2-40B4-BE49-F238E27FC236}">
                <a16:creationId xmlns:a16="http://schemas.microsoft.com/office/drawing/2014/main" id="{627AE83D-F3D9-4FE1-841C-38AA09ECDF1C}"/>
              </a:ext>
            </a:extLst>
          </p:cNvPr>
          <p:cNvGrpSpPr/>
          <p:nvPr/>
        </p:nvGrpSpPr>
        <p:grpSpPr>
          <a:xfrm>
            <a:off x="467544" y="1273292"/>
            <a:ext cx="4104456" cy="514350"/>
            <a:chOff x="467544" y="2970119"/>
            <a:chExt cx="2808366" cy="514350"/>
          </a:xfrm>
        </p:grpSpPr>
        <mc:AlternateContent xmlns:mc="http://schemas.openxmlformats.org/markup-compatibility/2006" xmlns:a14="http://schemas.microsoft.com/office/drawing/2010/main">
          <mc:Choice Requires="a14">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970119"/>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直观理解何以要满足</a:t>
                  </a:r>
                  <a14:m>
                    <m:oMath xmlns:m="http://schemas.openxmlformats.org/officeDocument/2006/math">
                      <m:r>
                        <a:rPr lang="en-US" altLang="zh-CN" i="1" spc="150" dirty="0" smtClean="0">
                          <a:solidFill>
                            <a:srgbClr val="000000"/>
                          </a:solidFill>
                          <a:latin typeface="Cambria Math" panose="02040503050406030204" pitchFamily="18" charset="0"/>
                          <a:ea typeface="微软雅黑" panose="020B0503020204020204" pitchFamily="34" charset="-122"/>
                        </a:rPr>
                        <m:t>𝑀𝑅</m:t>
                      </m:r>
                      <m:r>
                        <a:rPr lang="en-US" altLang="zh-CN" i="1" spc="150" dirty="0" smtClean="0">
                          <a:solidFill>
                            <a:srgbClr val="000000"/>
                          </a:solidFill>
                          <a:latin typeface="Cambria Math" panose="02040503050406030204" pitchFamily="18" charset="0"/>
                          <a:ea typeface="微软雅黑" panose="020B0503020204020204" pitchFamily="34" charset="-122"/>
                        </a:rPr>
                        <m:t>=</m:t>
                      </m:r>
                      <m:r>
                        <a:rPr lang="en-US" altLang="zh-CN" i="1" spc="150" dirty="0" smtClean="0">
                          <a:solidFill>
                            <a:srgbClr val="000000"/>
                          </a:solidFill>
                          <a:latin typeface="Cambria Math" panose="02040503050406030204" pitchFamily="18" charset="0"/>
                          <a:ea typeface="微软雅黑" panose="020B0503020204020204" pitchFamily="34" charset="-122"/>
                        </a:rPr>
                        <m:t>𝑀𝐶</m:t>
                      </m:r>
                    </m:oMath>
                  </a14:m>
                  <a:r>
                    <a:rPr lang="zh-CN" altLang="en-US" spc="150" dirty="0">
                      <a:solidFill>
                        <a:srgbClr val="000000"/>
                      </a:solidFill>
                      <a:latin typeface="微软雅黑" panose="020B0503020204020204" pitchFamily="34" charset="-122"/>
                      <a:ea typeface="微软雅黑" panose="020B0503020204020204" pitchFamily="34" charset="-122"/>
                    </a:rPr>
                    <a:t>条件</a:t>
                  </a:r>
                  <a:r>
                    <a:rPr lang="en-US" altLang="zh-CN" spc="150" dirty="0">
                      <a:solidFill>
                        <a:srgbClr val="000000"/>
                      </a:solidFill>
                      <a:latin typeface="微软雅黑" panose="020B0503020204020204" pitchFamily="34" charset="-122"/>
                      <a:ea typeface="微软雅黑" panose="020B0503020204020204" pitchFamily="34" charset="-122"/>
                    </a:rPr>
                    <a:t>:</a:t>
                  </a:r>
                </a:p>
              </p:txBody>
            </p:sp>
          </mc:Choice>
          <mc:Fallback xmlns="">
            <p:sp>
              <p:nvSpPr>
                <p:cNvPr id="19" name="MH_Text_1">
                  <a:extLst>
                    <a:ext uri="{FF2B5EF4-FFF2-40B4-BE49-F238E27FC236}">
                      <a16:creationId xmlns:a16="http://schemas.microsoft.com/office/drawing/2014/main" id="{7F1EE33B-DD63-42A8-86A7-757932B8049A}"/>
                    </a:ext>
                  </a:extLst>
                </p:cNvPr>
                <p:cNvSpPr>
                  <a:spLocks noRot="1" noChangeAspect="1" noMove="1" noResize="1" noEditPoints="1" noAdjustHandles="1" noChangeArrowheads="1" noChangeShapeType="1" noTextEdit="1"/>
                </p:cNvSpPr>
                <p:nvPr>
                  <p:custDataLst>
                    <p:tags r:id="rId4"/>
                  </p:custDataLst>
                </p:nvPr>
              </p:nvSpPr>
              <p:spPr bwMode="auto">
                <a:xfrm>
                  <a:off x="467544" y="2970119"/>
                  <a:ext cx="2808366" cy="514350"/>
                </a:xfrm>
                <a:prstGeom prst="rect">
                  <a:avLst/>
                </a:prstGeom>
                <a:blipFill>
                  <a:blip r:embed="rId5"/>
                  <a:stretch>
                    <a:fillRect l="-1036" r="-592" b="-2299"/>
                  </a:stretch>
                </a:blipFill>
                <a:ln w="19050">
                  <a:solidFill>
                    <a:srgbClr val="F3C97F"/>
                  </a:solidFill>
                </a:ln>
              </p:spPr>
              <p:txBody>
                <a:bodyPr/>
                <a:lstStyle/>
                <a:p>
                  <a:r>
                    <a:rPr lang="zh-CN" altLang="en-US">
                      <a:noFill/>
                    </a:rPr>
                    <a:t> </a:t>
                  </a:r>
                </a:p>
              </p:txBody>
            </p:sp>
          </mc:Fallback>
        </mc:AlternateContent>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22733" y="3006557"/>
              <a:ext cx="127000"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C352424-0443-43CC-9DB7-D6B00F0C4B2E}"/>
                  </a:ext>
                </a:extLst>
              </p:cNvPr>
              <p:cNvSpPr/>
              <p:nvPr/>
            </p:nvSpPr>
            <p:spPr>
              <a:xfrm>
                <a:off x="2873262" y="2188207"/>
                <a:ext cx="5688395" cy="2862322"/>
              </a:xfrm>
              <a:prstGeom prst="rect">
                <a:avLst/>
              </a:prstGeom>
            </p:spPr>
            <p:txBody>
              <a:bodyPr wrap="square">
                <a:spAutoFit/>
              </a:bodyPr>
              <a:lstStyle/>
              <a:p>
                <a:pPr marL="800100" lvl="1" indent="-342900" eaLnBrk="1" hangingPunct="1">
                  <a:lnSpc>
                    <a:spcPct val="200000"/>
                  </a:lnSpc>
                  <a:buFont typeface="Wingdings" panose="05000000000000000000" pitchFamily="2" charset="2"/>
                  <a:buChar char="Ø"/>
                </a:pPr>
                <a14:m>
                  <m:oMath xmlns:m="http://schemas.openxmlformats.org/officeDocument/2006/math">
                    <m:r>
                      <m:rPr>
                        <m:nor/>
                      </m:rPr>
                      <a:rPr lang="zh-CN" altLang="en-US" i="0" dirty="0" smtClean="0">
                        <a:latin typeface="Cambria Math" panose="02040503050406030204" pitchFamily="18" charset="0"/>
                        <a:ea typeface="微软雅黑" panose="020B0503020204020204" pitchFamily="34" charset="-122"/>
                      </a:rPr>
                      <m:t> </m:t>
                    </m:r>
                  </m:oMath>
                </a14:m>
                <a:r>
                  <a:rPr lang="zh-CN" altLang="en-US" dirty="0">
                    <a:latin typeface="微软雅黑" panose="020B0503020204020204" pitchFamily="34" charset="-122"/>
                    <a:ea typeface="微软雅黑" panose="020B0503020204020204" pitchFamily="34" charset="-122"/>
                  </a:rPr>
                  <a:t>MR =MC----改变产出不会获得额外的利润</a:t>
                </a:r>
                <a14:m>
                  <m:oMath xmlns:m="http://schemas.openxmlformats.org/officeDocument/2006/math">
                    <m:r>
                      <m:rPr>
                        <m:nor/>
                      </m:rPr>
                      <a:rPr lang="zh-CN" altLang="en-US" dirty="0">
                        <a:latin typeface="微软雅黑" panose="020B0503020204020204" pitchFamily="34" charset="-122"/>
                        <a:ea typeface="微软雅黑" panose="020B0503020204020204" pitchFamily="34" charset="-122"/>
                      </a:rPr>
                      <m:t>。</m:t>
                    </m:r>
                  </m:oMath>
                </a14:m>
                <a:endParaRPr lang="zh-CN" altLang="en-US" dirty="0">
                  <a:latin typeface="微软雅黑" panose="020B0503020204020204" pitchFamily="34" charset="-122"/>
                  <a:ea typeface="微软雅黑" panose="020B0503020204020204" pitchFamily="34" charset="-122"/>
                </a:endParaRPr>
              </a:p>
              <a:p>
                <a:pPr marL="800100" lvl="1" indent="-342900" eaLnBrk="1" hangingPunct="1">
                  <a:lnSpc>
                    <a:spcPct val="20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 </a:t>
                </a:r>
                <a14:m>
                  <m:oMath xmlns:m="http://schemas.openxmlformats.org/officeDocument/2006/math">
                    <m:r>
                      <a:rPr lang="zh-CN" altLang="en-US" i="1" dirty="0" smtClean="0">
                        <a:latin typeface="Cambria Math" panose="02040503050406030204" pitchFamily="18" charset="0"/>
                        <a:ea typeface="微软雅黑" panose="020B0503020204020204" pitchFamily="34" charset="-122"/>
                      </a:rPr>
                      <m:t>𝑀</m:t>
                    </m:r>
                    <m:r>
                      <a:rPr lang="zh-CN" altLang="en-US" i="1" dirty="0" smtClean="0">
                        <a:latin typeface="Cambria Math" panose="02040503050406030204" pitchFamily="18" charset="0"/>
                        <a:ea typeface="微软雅黑" panose="020B0503020204020204" pitchFamily="34" charset="-122"/>
                      </a:rPr>
                      <m:t> </m:t>
                    </m:r>
                    <m:r>
                      <a:rPr lang="zh-CN" altLang="en-US" i="1" dirty="0" smtClean="0">
                        <a:latin typeface="Cambria Math" panose="02040503050406030204" pitchFamily="18" charset="0"/>
                        <a:ea typeface="微软雅黑" panose="020B0503020204020204" pitchFamily="34" charset="-122"/>
                      </a:rPr>
                      <m:t>𝑅</m:t>
                    </m:r>
                    <m:r>
                      <a:rPr lang="zh-CN" altLang="en-US" i="1" dirty="0" smtClean="0">
                        <a:latin typeface="Cambria Math" panose="02040503050406030204" pitchFamily="18" charset="0"/>
                        <a:ea typeface="微软雅黑" panose="020B0503020204020204" pitchFamily="34" charset="-122"/>
                      </a:rPr>
                      <m:t>≠ </m:t>
                    </m:r>
                    <m:r>
                      <a:rPr lang="zh-CN" altLang="en-US" i="1" dirty="0" smtClean="0">
                        <a:latin typeface="Cambria Math" panose="02040503050406030204" pitchFamily="18" charset="0"/>
                        <a:ea typeface="微软雅黑" panose="020B0503020204020204" pitchFamily="34" charset="-122"/>
                      </a:rPr>
                      <m:t>𝑀𝐶</m:t>
                    </m:r>
                    <m:r>
                      <a:rPr lang="zh-CN" altLang="en-US" i="1" dirty="0" smtClean="0">
                        <a:latin typeface="Cambria Math" panose="02040503050406030204" pitchFamily="18" charset="0"/>
                        <a:ea typeface="微软雅黑" panose="020B0503020204020204" pitchFamily="34" charset="-122"/>
                      </a:rPr>
                      <m:t>−</m:t>
                    </m:r>
                  </m:oMath>
                </a14:m>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增加或减少产出可以获得更多的利润。</a:t>
                </a:r>
                <a:r>
                  <a:rPr lang="zh-CN" altLang="en-US" spc="150" dirty="0">
                    <a:solidFill>
                      <a:srgbClr val="000000"/>
                    </a:solidFill>
                    <a:latin typeface="微软雅黑" panose="020B0503020204020204" pitchFamily="34" charset="-122"/>
                    <a:ea typeface="微软雅黑" panose="020B0503020204020204" pitchFamily="34" charset="-122"/>
                  </a:rPr>
                  <a:t>如</a:t>
                </a:r>
                <a:r>
                  <a:rPr lang="en-US" altLang="zh-CN" spc="150" dirty="0">
                    <a:solidFill>
                      <a:srgbClr val="000000"/>
                    </a:solidFill>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marL="1257300" lvl="2" indent="-342900" eaLnBrk="1" hangingPunct="1">
                  <a:lnSpc>
                    <a:spcPct val="200000"/>
                  </a:lnSpc>
                  <a:buFont typeface="Arial" panose="020B0604020202020204" pitchFamily="34" charset="0"/>
                  <a:buChar char="•"/>
                </a:pPr>
                <a14:m>
                  <m:oMath xmlns:m="http://schemas.openxmlformats.org/officeDocument/2006/math">
                    <m:r>
                      <a:rPr lang="zh-CN" altLang="en-US" i="1" dirty="0">
                        <a:latin typeface="Cambria Math" panose="02040503050406030204" pitchFamily="18" charset="0"/>
                        <a:ea typeface="微软雅黑" panose="020B0503020204020204" pitchFamily="34" charset="-122"/>
                      </a:rPr>
                      <m:t>𝑀𝑅</m:t>
                    </m:r>
                    <m:r>
                      <a:rPr lang="en-US" altLang="zh-CN" b="0" i="1" dirty="0" smtClean="0">
                        <a:latin typeface="Cambria Math" panose="02040503050406030204" pitchFamily="18" charset="0"/>
                        <a:ea typeface="微软雅黑" panose="020B0503020204020204" pitchFamily="34" charset="-122"/>
                      </a:rPr>
                      <m:t>&gt;</m:t>
                    </m:r>
                    <m:r>
                      <a:rPr lang="zh-CN" altLang="en-US" i="1" dirty="0">
                        <a:latin typeface="Cambria Math" panose="02040503050406030204" pitchFamily="18" charset="0"/>
                        <a:ea typeface="微软雅黑" panose="020B0503020204020204" pitchFamily="34" charset="-122"/>
                      </a:rPr>
                      <m:t>𝑀𝐶</m:t>
                    </m:r>
                    <m:r>
                      <a:rPr lang="zh-CN" altLang="en-US" i="1" dirty="0">
                        <a:latin typeface="Cambria Math" panose="02040503050406030204" pitchFamily="18" charset="0"/>
                        <a:ea typeface="微软雅黑" panose="020B0503020204020204" pitchFamily="34" charset="-122"/>
                      </a:rPr>
                      <m:t> </m:t>
                    </m:r>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增加产出可增加利润</a:t>
                </a:r>
                <a:endParaRPr lang="en-US" altLang="zh-CN" dirty="0">
                  <a:latin typeface="微软雅黑" panose="020B0503020204020204" pitchFamily="34" charset="-122"/>
                  <a:ea typeface="微软雅黑" panose="020B0503020204020204" pitchFamily="34" charset="-122"/>
                </a:endParaRPr>
              </a:p>
              <a:p>
                <a:pPr marL="1257300" lvl="2" indent="-342900" eaLnBrk="1" hangingPunct="1">
                  <a:lnSpc>
                    <a:spcPct val="200000"/>
                  </a:lnSpc>
                  <a:buFont typeface="Arial" panose="020B0604020202020204" pitchFamily="34" charset="0"/>
                  <a:buChar char="•"/>
                </a:pPr>
                <a14:m>
                  <m:oMath xmlns:m="http://schemas.openxmlformats.org/officeDocument/2006/math">
                    <m:r>
                      <a:rPr lang="zh-CN" altLang="en-US" i="1" dirty="0">
                        <a:latin typeface="Cambria Math" panose="02040503050406030204" pitchFamily="18" charset="0"/>
                        <a:ea typeface="微软雅黑" panose="020B0503020204020204" pitchFamily="34" charset="-122"/>
                      </a:rPr>
                      <m:t>𝑀𝑅</m:t>
                    </m:r>
                    <m:r>
                      <a:rPr lang="en-US" altLang="zh-CN" b="0" i="1" dirty="0" smtClean="0">
                        <a:latin typeface="Cambria Math" panose="02040503050406030204" pitchFamily="18" charset="0"/>
                        <a:ea typeface="微软雅黑" panose="020B0503020204020204" pitchFamily="34" charset="-122"/>
                      </a:rPr>
                      <m:t>&lt;</m:t>
                    </m:r>
                    <m:r>
                      <a:rPr lang="zh-CN" altLang="en-US" i="1" dirty="0">
                        <a:latin typeface="Cambria Math" panose="02040503050406030204" pitchFamily="18" charset="0"/>
                        <a:ea typeface="微软雅黑" panose="020B0503020204020204" pitchFamily="34" charset="-122"/>
                      </a:rPr>
                      <m:t>𝑀𝐶</m:t>
                    </m:r>
                    <m:r>
                      <a:rPr lang="zh-CN" altLang="en-US" i="1" dirty="0">
                        <a:latin typeface="Cambria Math" panose="02040503050406030204" pitchFamily="18" charset="0"/>
                        <a:ea typeface="微软雅黑" panose="020B0503020204020204" pitchFamily="34" charset="-122"/>
                      </a:rPr>
                      <m:t> </m:t>
                    </m:r>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减少产出可增加利润</a:t>
                </a:r>
                <a:endParaRPr lang="en-US" altLang="zh-CN" dirty="0">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DC352424-0443-43CC-9DB7-D6B00F0C4B2E}"/>
                  </a:ext>
                </a:extLst>
              </p:cNvPr>
              <p:cNvSpPr>
                <a:spLocks noRot="1" noChangeAspect="1" noMove="1" noResize="1" noEditPoints="1" noAdjustHandles="1" noChangeArrowheads="1" noChangeShapeType="1" noTextEdit="1"/>
              </p:cNvSpPr>
              <p:nvPr/>
            </p:nvSpPr>
            <p:spPr>
              <a:xfrm>
                <a:off x="2873262" y="2188207"/>
                <a:ext cx="5688395" cy="2862322"/>
              </a:xfrm>
              <a:prstGeom prst="rect">
                <a:avLst/>
              </a:prstGeom>
              <a:blipFill>
                <a:blip r:embed="rId6"/>
                <a:stretch>
                  <a:fillRect r="-322"/>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CAAB80BB-F2BF-4E21-8564-4E9DAD6321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725" y="2164435"/>
            <a:ext cx="3024210" cy="3328756"/>
          </a:xfrm>
          <a:prstGeom prst="rect">
            <a:avLst/>
          </a:prstGeom>
        </p:spPr>
      </p:pic>
    </p:spTree>
    <p:extLst>
      <p:ext uri="{BB962C8B-B14F-4D97-AF65-F5344CB8AC3E}">
        <p14:creationId xmlns:p14="http://schemas.microsoft.com/office/powerpoint/2010/main" val="337799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left)">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wipe(left)">
                                      <p:cBhvr>
                                        <p:cTn id="3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一、利润最大化产量的决定</a:t>
            </a:r>
          </a:p>
        </p:txBody>
      </p:sp>
      <p:sp>
        <p:nvSpPr>
          <p:cNvPr id="15" name="矩形 14">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C352424-0443-43CC-9DB7-D6B00F0C4B2E}"/>
                  </a:ext>
                </a:extLst>
              </p:cNvPr>
              <p:cNvSpPr/>
              <p:nvPr/>
            </p:nvSpPr>
            <p:spPr>
              <a:xfrm>
                <a:off x="340337" y="3452517"/>
                <a:ext cx="8263942" cy="2536400"/>
              </a:xfrm>
              <a:prstGeom prst="rect">
                <a:avLst/>
              </a:prstGeom>
            </p:spPr>
            <p:txBody>
              <a:bodyPr wrap="square">
                <a:spAutoFit/>
              </a:bodyPr>
              <a:lstStyle/>
              <a:p>
                <a:pPr marL="800100" lvl="1" indent="-342900"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如果在</a:t>
                </a:r>
                <a:r>
                  <a:rPr lang="en-US" altLang="zh-CN" dirty="0">
                    <a:latin typeface="微软雅黑" panose="020B0503020204020204" pitchFamily="34" charset="-122"/>
                    <a:ea typeface="微软雅黑" panose="020B0503020204020204" pitchFamily="34" charset="-122"/>
                  </a:rPr>
                  <a:t>P=MC</a:t>
                </a:r>
                <a:r>
                  <a:rPr lang="zh-CN" altLang="en-US" dirty="0">
                    <a:latin typeface="微软雅黑" panose="020B0503020204020204" pitchFamily="34" charset="-122"/>
                    <a:ea typeface="微软雅黑" panose="020B0503020204020204" pitchFamily="34" charset="-122"/>
                  </a:rPr>
                  <a:t>基础上生产更多，那么会导致</a:t>
                </a:r>
                <a:r>
                  <a:rPr lang="en-US" altLang="zh-CN" dirty="0">
                    <a:latin typeface="微软雅黑" panose="020B0503020204020204" pitchFamily="34" charset="-122"/>
                    <a:ea typeface="微软雅黑" panose="020B0503020204020204" pitchFamily="34" charset="-122"/>
                  </a:rPr>
                  <a:t>P&lt;MC</a:t>
                </a:r>
                <a:r>
                  <a:rPr lang="zh-CN" altLang="en-US" dirty="0">
                    <a:latin typeface="微软雅黑" panose="020B0503020204020204" pitchFamily="34" charset="-122"/>
                    <a:ea typeface="微软雅黑" panose="020B0503020204020204" pitchFamily="34" charset="-122"/>
                  </a:rPr>
                  <a:t>。此时减少生产 会有利可图，如上表中的情形</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p>
              <a:p>
                <a:pPr marL="800100" lvl="1" indent="-342900"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如果在</a:t>
                </a:r>
                <a:r>
                  <a:rPr lang="en-US" altLang="zh-CN" dirty="0">
                    <a:latin typeface="微软雅黑" panose="020B0503020204020204" pitchFamily="34" charset="-122"/>
                    <a:ea typeface="微软雅黑" panose="020B0503020204020204" pitchFamily="34" charset="-122"/>
                  </a:rPr>
                  <a:t>P=MC</a:t>
                </a:r>
                <a:r>
                  <a:rPr lang="zh-CN" altLang="en-US" dirty="0">
                    <a:latin typeface="微软雅黑" panose="020B0503020204020204" pitchFamily="34" charset="-122"/>
                    <a:ea typeface="微软雅黑" panose="020B0503020204020204" pitchFamily="34" charset="-122"/>
                  </a:rPr>
                  <a:t>基础上减少生产，那就会导致</a:t>
                </a:r>
                <a:r>
                  <a:rPr lang="en-US" altLang="zh-CN" dirty="0">
                    <a:latin typeface="微软雅黑" panose="020B0503020204020204" pitchFamily="34" charset="-122"/>
                    <a:ea typeface="微软雅黑" panose="020B0503020204020204" pitchFamily="34" charset="-122"/>
                  </a:rPr>
                  <a:t>P&gt;MC</a:t>
                </a:r>
                <a:r>
                  <a:rPr lang="zh-CN" altLang="en-US" dirty="0">
                    <a:latin typeface="微软雅黑" panose="020B0503020204020204" pitchFamily="34" charset="-122"/>
                    <a:ea typeface="微软雅黑" panose="020B0503020204020204" pitchFamily="34" charset="-122"/>
                  </a:rPr>
                  <a:t>。此时可以通过扩大产出来获得更多的利润，如上表中的情形</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endParaRPr dirty="0">
                  <a:latin typeface="微软雅黑" panose="020B0503020204020204" pitchFamily="34" charset="-122"/>
                  <a:ea typeface="微软雅黑" panose="020B0503020204020204" pitchFamily="34" charset="-122"/>
                </a:endParaRPr>
              </a:p>
              <a:p>
                <a:pPr marL="800100" lvl="1" indent="-342900"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如果如情形</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那样生产，</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𝑃</m:t>
                    </m:r>
                    <m:r>
                      <a:rPr lang="en-US" altLang="zh-CN" i="1" dirty="0" smtClean="0">
                        <a:latin typeface="Cambria Math" panose="02040503050406030204" pitchFamily="18" charset="0"/>
                        <a:ea typeface="微软雅黑" panose="020B0503020204020204" pitchFamily="34" charset="-122"/>
                      </a:rPr>
                      <m:t>=</m:t>
                    </m:r>
                    <m:r>
                      <a:rPr lang="en-US" altLang="zh-CN" i="1" dirty="0" smtClean="0">
                        <a:latin typeface="Cambria Math" panose="02040503050406030204" pitchFamily="18" charset="0"/>
                        <a:ea typeface="微软雅黑" panose="020B0503020204020204" pitchFamily="34" charset="-122"/>
                      </a:rPr>
                      <m:t>𝑀𝐶</m:t>
                    </m:r>
                  </m:oMath>
                </a14:m>
                <a:r>
                  <a:rPr lang="zh-CN" altLang="en-US" dirty="0">
                    <a:latin typeface="微软雅黑" panose="020B0503020204020204" pitchFamily="34" charset="-122"/>
                    <a:ea typeface="微软雅黑" panose="020B0503020204020204" pitchFamily="34" charset="-122"/>
                  </a:rPr>
                  <a:t>，那么无论怎么改变，利润不可能再增加（反而有可能减少）。</a:t>
                </a:r>
              </a:p>
            </p:txBody>
          </p:sp>
        </mc:Choice>
        <mc:Fallback xmlns="">
          <p:sp>
            <p:nvSpPr>
              <p:cNvPr id="3" name="矩形 2">
                <a:extLst>
                  <a:ext uri="{FF2B5EF4-FFF2-40B4-BE49-F238E27FC236}">
                    <a16:creationId xmlns:a16="http://schemas.microsoft.com/office/drawing/2014/main" id="{DC352424-0443-43CC-9DB7-D6B00F0C4B2E}"/>
                  </a:ext>
                </a:extLst>
              </p:cNvPr>
              <p:cNvSpPr>
                <a:spLocks noRot="1" noChangeAspect="1" noMove="1" noResize="1" noEditPoints="1" noAdjustHandles="1" noChangeArrowheads="1" noChangeShapeType="1" noTextEdit="1"/>
              </p:cNvSpPr>
              <p:nvPr/>
            </p:nvSpPr>
            <p:spPr>
              <a:xfrm>
                <a:off x="340337" y="3452517"/>
                <a:ext cx="8263942" cy="2536400"/>
              </a:xfrm>
              <a:prstGeom prst="rect">
                <a:avLst/>
              </a:prstGeom>
              <a:blipFill>
                <a:blip r:embed="rId3"/>
                <a:stretch>
                  <a:fillRect b="-2885"/>
                </a:stretch>
              </a:blipFill>
            </p:spPr>
            <p:txBody>
              <a:bodyPr/>
              <a:lstStyle/>
              <a:p>
                <a:r>
                  <a:rPr lang="zh-CN" altLang="en-US">
                    <a:noFill/>
                  </a:rPr>
                  <a:t> </a:t>
                </a:r>
              </a:p>
            </p:txBody>
          </p:sp>
        </mc:Fallback>
      </mc:AlternateContent>
      <p:graphicFrame>
        <p:nvGraphicFramePr>
          <p:cNvPr id="12" name="Group 3"/>
          <p:cNvGraphicFramePr>
            <a:graphicFrameLocks noGrp="1"/>
          </p:cNvGraphicFramePr>
          <p:nvPr>
            <p:extLst>
              <p:ext uri="{D42A27DB-BD31-4B8C-83A1-F6EECF244321}">
                <p14:modId xmlns:p14="http://schemas.microsoft.com/office/powerpoint/2010/main" val="2583260678"/>
              </p:ext>
            </p:extLst>
          </p:nvPr>
        </p:nvGraphicFramePr>
        <p:xfrm>
          <a:off x="789002" y="1184440"/>
          <a:ext cx="7815277" cy="1402752"/>
        </p:xfrm>
        <a:graphic>
          <a:graphicData uri="http://schemas.openxmlformats.org/drawingml/2006/table">
            <a:tbl>
              <a:tblPr/>
              <a:tblGrid>
                <a:gridCol w="1953820">
                  <a:extLst>
                    <a:ext uri="{9D8B030D-6E8A-4147-A177-3AD203B41FA5}">
                      <a16:colId xmlns:a16="http://schemas.microsoft.com/office/drawing/2014/main" val="20000"/>
                    </a:ext>
                  </a:extLst>
                </a:gridCol>
                <a:gridCol w="1470290">
                  <a:extLst>
                    <a:ext uri="{9D8B030D-6E8A-4147-A177-3AD203B41FA5}">
                      <a16:colId xmlns:a16="http://schemas.microsoft.com/office/drawing/2014/main" val="20001"/>
                    </a:ext>
                  </a:extLst>
                </a:gridCol>
                <a:gridCol w="1544206">
                  <a:extLst>
                    <a:ext uri="{9D8B030D-6E8A-4147-A177-3AD203B41FA5}">
                      <a16:colId xmlns:a16="http://schemas.microsoft.com/office/drawing/2014/main" val="20002"/>
                    </a:ext>
                  </a:extLst>
                </a:gridCol>
                <a:gridCol w="2846961">
                  <a:extLst>
                    <a:ext uri="{9D8B030D-6E8A-4147-A177-3AD203B41FA5}">
                      <a16:colId xmlns:a16="http://schemas.microsoft.com/office/drawing/2014/main" val="20003"/>
                    </a:ext>
                  </a:extLst>
                </a:gridCol>
              </a:tblGrid>
              <a:tr h="34370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Situation</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P</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MC</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需要的生产调整</a:t>
                      </a:r>
                      <a:endPar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370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100</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120</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减产</a:t>
                      </a:r>
                      <a:endParaRPr kumimoji="1"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370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2</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100</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80</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增产</a:t>
                      </a:r>
                      <a:endParaRPr kumimoji="1"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370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3</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100</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100</a:t>
                      </a: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不变</a:t>
                      </a:r>
                      <a:endParaRPr kumimoji="1"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77733" marR="77733" marT="38184" marB="381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2" name="组合 1"/>
          <p:cNvGrpSpPr/>
          <p:nvPr/>
        </p:nvGrpSpPr>
        <p:grpSpPr>
          <a:xfrm>
            <a:off x="789002" y="2652648"/>
            <a:ext cx="5583123" cy="864060"/>
            <a:chOff x="789002" y="1011823"/>
            <a:chExt cx="5583123" cy="864060"/>
          </a:xfrm>
        </p:grpSpPr>
        <p:sp>
          <p:nvSpPr>
            <p:cNvPr id="8" name="矩形: 圆角 12">
              <a:extLst>
                <a:ext uri="{FF2B5EF4-FFF2-40B4-BE49-F238E27FC236}">
                  <a16:creationId xmlns:a16="http://schemas.microsoft.com/office/drawing/2014/main" id="{30A327DC-079A-421A-A3B1-FD9E90B715D3}"/>
                </a:ext>
              </a:extLst>
            </p:cNvPr>
            <p:cNvSpPr/>
            <p:nvPr/>
          </p:nvSpPr>
          <p:spPr>
            <a:xfrm>
              <a:off x="789002" y="1150782"/>
              <a:ext cx="5319321" cy="518322"/>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00E39E52-C93E-4B19-B814-302E19B24526}"/>
                </a:ext>
              </a:extLst>
            </p:cNvPr>
            <p:cNvSpPr/>
            <p:nvPr/>
          </p:nvSpPr>
          <p:spPr>
            <a:xfrm>
              <a:off x="789002" y="1150782"/>
              <a:ext cx="4068743"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直观理解何以要满足</a:t>
              </a:r>
              <a:r>
                <a:rPr lang="en-US" altLang="zh-CN" spc="150" dirty="0">
                  <a:solidFill>
                    <a:srgbClr val="000000"/>
                  </a:solidFill>
                  <a:latin typeface="微软雅黑" panose="020B0503020204020204" pitchFamily="34" charset="-122"/>
                  <a:ea typeface="微软雅黑" panose="020B0503020204020204" pitchFamily="34" charset="-122"/>
                </a:rPr>
                <a:t>P=MC</a:t>
              </a:r>
              <a:r>
                <a:rPr lang="zh-CN" altLang="en-US" spc="150" dirty="0">
                  <a:solidFill>
                    <a:srgbClr val="000000"/>
                  </a:solidFill>
                  <a:latin typeface="微软雅黑" panose="020B0503020204020204" pitchFamily="34" charset="-122"/>
                  <a:ea typeface="微软雅黑" panose="020B0503020204020204" pitchFamily="34" charset="-122"/>
                </a:rPr>
                <a:t>条件</a:t>
              </a:r>
              <a:r>
                <a:rPr lang="en-US" altLang="zh-CN" spc="150" dirty="0">
                  <a:solidFill>
                    <a:srgbClr val="000000"/>
                  </a:solidFill>
                  <a:latin typeface="微软雅黑" panose="020B0503020204020204" pitchFamily="34" charset="-122"/>
                  <a:ea typeface="微软雅黑" panose="020B0503020204020204" pitchFamily="34" charset="-122"/>
                </a:rPr>
                <a:t>:</a:t>
              </a:r>
            </a:p>
          </p:txBody>
        </p:sp>
        <p:pic>
          <p:nvPicPr>
            <p:cNvPr id="13" name="图片 12">
              <a:extLst>
                <a:ext uri="{FF2B5EF4-FFF2-40B4-BE49-F238E27FC236}">
                  <a16:creationId xmlns:a16="http://schemas.microsoft.com/office/drawing/2014/main" id="{12125B1B-7460-47D4-8409-95D4EC8D6F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8065" y="1011823"/>
              <a:ext cx="864060" cy="864060"/>
            </a:xfrm>
            <a:prstGeom prst="rect">
              <a:avLst/>
            </a:prstGeom>
          </p:spPr>
        </p:pic>
      </p:grpSp>
    </p:spTree>
    <p:extLst>
      <p:ext uri="{BB962C8B-B14F-4D97-AF65-F5344CB8AC3E}">
        <p14:creationId xmlns:p14="http://schemas.microsoft.com/office/powerpoint/2010/main" val="4223368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left)">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left)">
                                      <p:cBhvr>
                                        <p:cTn id="2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一、利润最大化产量的决定</a:t>
            </a:r>
          </a:p>
        </p:txBody>
      </p:sp>
      <p:sp>
        <p:nvSpPr>
          <p:cNvPr id="15" name="矩形 14">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5" name="组合 4">
            <a:extLst>
              <a:ext uri="{FF2B5EF4-FFF2-40B4-BE49-F238E27FC236}">
                <a16:creationId xmlns:a16="http://schemas.microsoft.com/office/drawing/2014/main" id="{627AE83D-F3D9-4FE1-841C-38AA09ECDF1C}"/>
              </a:ext>
            </a:extLst>
          </p:cNvPr>
          <p:cNvGrpSpPr/>
          <p:nvPr/>
        </p:nvGrpSpPr>
        <p:grpSpPr>
          <a:xfrm>
            <a:off x="467544" y="1404262"/>
            <a:ext cx="3024381" cy="514350"/>
            <a:chOff x="467544" y="2826109"/>
            <a:chExt cx="2808366"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826109"/>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边际成本</a:t>
              </a:r>
              <a:r>
                <a:rPr lang="en-US" altLang="zh-CN" spc="150" dirty="0">
                  <a:solidFill>
                    <a:srgbClr val="000000"/>
                  </a:solidFill>
                  <a:latin typeface="微软雅黑" panose="020B0503020204020204" pitchFamily="34" charset="-122"/>
                  <a:ea typeface="微软雅黑" panose="020B0503020204020204" pitchFamily="34" charset="-122"/>
                </a:rPr>
                <a:t>—</a:t>
              </a:r>
              <a:r>
                <a:rPr lang="zh-CN" altLang="en-US" spc="150" dirty="0">
                  <a:solidFill>
                    <a:srgbClr val="000000"/>
                  </a:solidFill>
                  <a:latin typeface="微软雅黑" panose="020B0503020204020204" pitchFamily="34" charset="-122"/>
                  <a:ea typeface="微软雅黑" panose="020B0503020204020204" pitchFamily="34" charset="-122"/>
                </a:rPr>
                <a:t>收益分析法</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22733" y="2862547"/>
              <a:ext cx="127000"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sp>
        <p:nvSpPr>
          <p:cNvPr id="48" name="Rectangle 2"/>
          <p:cNvSpPr>
            <a:spLocks noChangeArrowheads="1"/>
          </p:cNvSpPr>
          <p:nvPr/>
        </p:nvSpPr>
        <p:spPr bwMode="auto">
          <a:xfrm>
            <a:off x="1249222" y="5319498"/>
            <a:ext cx="6959032" cy="254111"/>
          </a:xfrm>
          <a:prstGeom prst="rect">
            <a:avLst/>
          </a:prstGeom>
          <a:solidFill>
            <a:srgbClr val="BB1528"/>
          </a:solidFill>
          <a:ln>
            <a:noFill/>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a:latin typeface="微软雅黑" panose="020B0503020204020204" pitchFamily="34" charset="-122"/>
              <a:ea typeface="微软雅黑" panose="020B0503020204020204" pitchFamily="34" charset="-122"/>
            </a:endParaRPr>
          </a:p>
        </p:txBody>
      </p:sp>
      <p:sp>
        <p:nvSpPr>
          <p:cNvPr id="50" name="Line 4"/>
          <p:cNvSpPr>
            <a:spLocks noChangeShapeType="1"/>
          </p:cNvSpPr>
          <p:nvPr/>
        </p:nvSpPr>
        <p:spPr bwMode="auto">
          <a:xfrm>
            <a:off x="1173758" y="3127571"/>
            <a:ext cx="7224712" cy="0"/>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100">
              <a:latin typeface="微软雅黑" panose="020B0503020204020204" pitchFamily="34" charset="-122"/>
              <a:ea typeface="微软雅黑" panose="020B0503020204020204" pitchFamily="34" charset="-122"/>
            </a:endParaRPr>
          </a:p>
        </p:txBody>
      </p:sp>
      <p:grpSp>
        <p:nvGrpSpPr>
          <p:cNvPr id="2" name="组合 1"/>
          <p:cNvGrpSpPr/>
          <p:nvPr/>
        </p:nvGrpSpPr>
        <p:grpSpPr>
          <a:xfrm>
            <a:off x="1043755" y="2299139"/>
            <a:ext cx="7496330" cy="844416"/>
            <a:chOff x="1414328" y="2283589"/>
            <a:chExt cx="7496330" cy="844416"/>
          </a:xfrm>
        </p:grpSpPr>
        <p:sp>
          <p:nvSpPr>
            <p:cNvPr id="49" name="Rectangle 3"/>
            <p:cNvSpPr>
              <a:spLocks noChangeArrowheads="1"/>
            </p:cNvSpPr>
            <p:nvPr/>
          </p:nvSpPr>
          <p:spPr bwMode="auto">
            <a:xfrm>
              <a:off x="4737535" y="2299573"/>
              <a:ext cx="986361"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600" dirty="0">
                  <a:solidFill>
                    <a:srgbClr val="000000"/>
                  </a:solidFill>
                  <a:latin typeface="微软雅黑" panose="020B0503020204020204" pitchFamily="34" charset="-122"/>
                  <a:ea typeface="微软雅黑" panose="020B0503020204020204" pitchFamily="34" charset="-122"/>
                </a:rPr>
                <a:t>Average</a:t>
              </a:r>
            </a:p>
            <a:p>
              <a:pPr algn="ctr"/>
              <a:r>
                <a:rPr kumimoji="0" lang="en-US" altLang="zh-CN" sz="1600" dirty="0">
                  <a:solidFill>
                    <a:srgbClr val="000000"/>
                  </a:solidFill>
                  <a:latin typeface="微软雅黑" panose="020B0503020204020204" pitchFamily="34" charset="-122"/>
                  <a:ea typeface="微软雅黑" panose="020B0503020204020204" pitchFamily="34" charset="-122"/>
                </a:rPr>
                <a:t>Total</a:t>
              </a:r>
            </a:p>
            <a:p>
              <a:pPr algn="ctr"/>
              <a:r>
                <a:rPr kumimoji="0" lang="en-US" altLang="zh-CN" sz="1600" dirty="0">
                  <a:solidFill>
                    <a:srgbClr val="000000"/>
                  </a:solidFill>
                  <a:latin typeface="微软雅黑" panose="020B0503020204020204" pitchFamily="34" charset="-122"/>
                  <a:ea typeface="微软雅黑" panose="020B0503020204020204" pitchFamily="34" charset="-122"/>
                </a:rPr>
                <a:t>Cost</a:t>
              </a:r>
            </a:p>
          </p:txBody>
        </p:sp>
        <p:sp>
          <p:nvSpPr>
            <p:cNvPr id="52" name="Rectangle 6"/>
            <p:cNvSpPr>
              <a:spLocks noChangeArrowheads="1"/>
            </p:cNvSpPr>
            <p:nvPr/>
          </p:nvSpPr>
          <p:spPr bwMode="auto">
            <a:xfrm>
              <a:off x="1414328" y="2529810"/>
              <a:ext cx="950903"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600" dirty="0">
                  <a:solidFill>
                    <a:srgbClr val="000000"/>
                  </a:solidFill>
                  <a:latin typeface="微软雅黑" panose="020B0503020204020204" pitchFamily="34" charset="-122"/>
                  <a:ea typeface="微软雅黑" panose="020B0503020204020204" pitchFamily="34" charset="-122"/>
                </a:rPr>
                <a:t>Total</a:t>
              </a:r>
            </a:p>
            <a:p>
              <a:pPr algn="ctr"/>
              <a:r>
                <a:rPr kumimoji="0" lang="en-US" altLang="zh-CN" sz="1600" dirty="0">
                  <a:solidFill>
                    <a:srgbClr val="000000"/>
                  </a:solidFill>
                  <a:latin typeface="微软雅黑" panose="020B0503020204020204" pitchFamily="34" charset="-122"/>
                  <a:ea typeface="微软雅黑" panose="020B0503020204020204" pitchFamily="34" charset="-122"/>
                </a:rPr>
                <a:t>Product</a:t>
              </a:r>
            </a:p>
          </p:txBody>
        </p:sp>
        <p:sp>
          <p:nvSpPr>
            <p:cNvPr id="53" name="Rectangle 7"/>
            <p:cNvSpPr>
              <a:spLocks noChangeArrowheads="1"/>
            </p:cNvSpPr>
            <p:nvPr/>
          </p:nvSpPr>
          <p:spPr bwMode="auto">
            <a:xfrm>
              <a:off x="2544797" y="2283589"/>
              <a:ext cx="986361"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600" dirty="0">
                  <a:solidFill>
                    <a:srgbClr val="000000"/>
                  </a:solidFill>
                  <a:latin typeface="微软雅黑" panose="020B0503020204020204" pitchFamily="34" charset="-122"/>
                  <a:ea typeface="微软雅黑" panose="020B0503020204020204" pitchFamily="34" charset="-122"/>
                </a:rPr>
                <a:t>Average</a:t>
              </a:r>
            </a:p>
            <a:p>
              <a:pPr algn="ctr"/>
              <a:r>
                <a:rPr kumimoji="0" lang="en-US" altLang="zh-CN" sz="1600" dirty="0">
                  <a:solidFill>
                    <a:srgbClr val="000000"/>
                  </a:solidFill>
                  <a:latin typeface="微软雅黑" panose="020B0503020204020204" pitchFamily="34" charset="-122"/>
                  <a:ea typeface="微软雅黑" panose="020B0503020204020204" pitchFamily="34" charset="-122"/>
                </a:rPr>
                <a:t>Fixed</a:t>
              </a:r>
            </a:p>
            <a:p>
              <a:pPr algn="ctr"/>
              <a:r>
                <a:rPr kumimoji="0" lang="en-US" altLang="zh-CN" sz="1600" dirty="0">
                  <a:solidFill>
                    <a:srgbClr val="000000"/>
                  </a:solidFill>
                  <a:latin typeface="微软雅黑" panose="020B0503020204020204" pitchFamily="34" charset="-122"/>
                  <a:ea typeface="微软雅黑" panose="020B0503020204020204" pitchFamily="34" charset="-122"/>
                </a:rPr>
                <a:t>Cost</a:t>
              </a:r>
            </a:p>
          </p:txBody>
        </p:sp>
        <p:sp>
          <p:nvSpPr>
            <p:cNvPr id="54" name="Rectangle 8"/>
            <p:cNvSpPr>
              <a:spLocks noChangeArrowheads="1"/>
            </p:cNvSpPr>
            <p:nvPr/>
          </p:nvSpPr>
          <p:spPr bwMode="auto">
            <a:xfrm>
              <a:off x="3567062" y="2283589"/>
              <a:ext cx="986361"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600" dirty="0">
                  <a:solidFill>
                    <a:srgbClr val="000000"/>
                  </a:solidFill>
                  <a:latin typeface="微软雅黑" panose="020B0503020204020204" pitchFamily="34" charset="-122"/>
                  <a:ea typeface="微软雅黑" panose="020B0503020204020204" pitchFamily="34" charset="-122"/>
                </a:rPr>
                <a:t>Average</a:t>
              </a:r>
            </a:p>
            <a:p>
              <a:pPr algn="ctr"/>
              <a:r>
                <a:rPr kumimoji="0" lang="en-US" altLang="zh-CN" sz="1600" dirty="0">
                  <a:solidFill>
                    <a:srgbClr val="000000"/>
                  </a:solidFill>
                  <a:latin typeface="微软雅黑" panose="020B0503020204020204" pitchFamily="34" charset="-122"/>
                  <a:ea typeface="微软雅黑" panose="020B0503020204020204" pitchFamily="34" charset="-122"/>
                </a:rPr>
                <a:t>Variable</a:t>
              </a:r>
            </a:p>
            <a:p>
              <a:pPr algn="ctr"/>
              <a:r>
                <a:rPr kumimoji="0" lang="en-US" altLang="zh-CN" sz="1600" dirty="0">
                  <a:solidFill>
                    <a:srgbClr val="000000"/>
                  </a:solidFill>
                  <a:latin typeface="微软雅黑" panose="020B0503020204020204" pitchFamily="34" charset="-122"/>
                  <a:ea typeface="微软雅黑" panose="020B0503020204020204" pitchFamily="34" charset="-122"/>
                </a:rPr>
                <a:t>Cost</a:t>
              </a:r>
            </a:p>
          </p:txBody>
        </p:sp>
        <p:sp>
          <p:nvSpPr>
            <p:cNvPr id="55" name="Rectangle 9"/>
            <p:cNvSpPr>
              <a:spLocks noChangeArrowheads="1"/>
            </p:cNvSpPr>
            <p:nvPr/>
          </p:nvSpPr>
          <p:spPr bwMode="auto">
            <a:xfrm>
              <a:off x="6686274" y="2283589"/>
              <a:ext cx="1053496"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600" dirty="0">
                  <a:solidFill>
                    <a:srgbClr val="C00000"/>
                  </a:solidFill>
                  <a:latin typeface="微软雅黑" panose="020B0503020204020204" pitchFamily="34" charset="-122"/>
                  <a:ea typeface="微软雅黑" panose="020B0503020204020204" pitchFamily="34" charset="-122"/>
                </a:rPr>
                <a:t>Price =</a:t>
              </a:r>
            </a:p>
            <a:p>
              <a:pPr algn="ctr"/>
              <a:r>
                <a:rPr kumimoji="0" lang="en-US" altLang="zh-CN" sz="1600" dirty="0">
                  <a:solidFill>
                    <a:srgbClr val="C00000"/>
                  </a:solidFill>
                  <a:latin typeface="微软雅黑" panose="020B0503020204020204" pitchFamily="34" charset="-122"/>
                  <a:ea typeface="微软雅黑" panose="020B0503020204020204" pitchFamily="34" charset="-122"/>
                </a:rPr>
                <a:t>Marginal</a:t>
              </a:r>
            </a:p>
            <a:p>
              <a:pPr algn="ctr"/>
              <a:r>
                <a:rPr kumimoji="0" lang="en-US" altLang="zh-CN" sz="1600" dirty="0">
                  <a:solidFill>
                    <a:srgbClr val="C00000"/>
                  </a:solidFill>
                  <a:latin typeface="微软雅黑" panose="020B0503020204020204" pitchFamily="34" charset="-122"/>
                  <a:ea typeface="微软雅黑" panose="020B0503020204020204" pitchFamily="34" charset="-122"/>
                </a:rPr>
                <a:t>Revenue</a:t>
              </a:r>
            </a:p>
          </p:txBody>
        </p:sp>
        <p:sp>
          <p:nvSpPr>
            <p:cNvPr id="56" name="Rectangle 10"/>
            <p:cNvSpPr>
              <a:spLocks noChangeArrowheads="1"/>
            </p:cNvSpPr>
            <p:nvPr/>
          </p:nvSpPr>
          <p:spPr bwMode="auto">
            <a:xfrm>
              <a:off x="7686475" y="2283589"/>
              <a:ext cx="1224183"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600" dirty="0">
                  <a:solidFill>
                    <a:srgbClr val="000000"/>
                  </a:solidFill>
                  <a:latin typeface="微软雅黑" panose="020B0503020204020204" pitchFamily="34" charset="-122"/>
                  <a:ea typeface="微软雅黑" panose="020B0503020204020204" pitchFamily="34" charset="-122"/>
                </a:rPr>
                <a:t>Total</a:t>
              </a:r>
            </a:p>
            <a:p>
              <a:pPr algn="ctr"/>
              <a:r>
                <a:rPr kumimoji="0" lang="en-US" altLang="zh-CN" sz="1600" dirty="0">
                  <a:solidFill>
                    <a:srgbClr val="000000"/>
                  </a:solidFill>
                  <a:latin typeface="微软雅黑" panose="020B0503020204020204" pitchFamily="34" charset="-122"/>
                  <a:ea typeface="微软雅黑" panose="020B0503020204020204" pitchFamily="34" charset="-122"/>
                </a:rPr>
                <a:t>Economic</a:t>
              </a:r>
            </a:p>
            <a:p>
              <a:pPr algn="ctr"/>
              <a:r>
                <a:rPr kumimoji="0" lang="en-US" altLang="zh-CN" sz="1600" dirty="0">
                  <a:solidFill>
                    <a:srgbClr val="000000"/>
                  </a:solidFill>
                  <a:latin typeface="微软雅黑" panose="020B0503020204020204" pitchFamily="34" charset="-122"/>
                  <a:ea typeface="微软雅黑" panose="020B0503020204020204" pitchFamily="34" charset="-122"/>
                </a:rPr>
                <a:t>Profit/Loss</a:t>
              </a:r>
            </a:p>
          </p:txBody>
        </p:sp>
        <p:sp>
          <p:nvSpPr>
            <p:cNvPr id="63" name="Rectangle 17"/>
            <p:cNvSpPr>
              <a:spLocks noChangeArrowheads="1"/>
            </p:cNvSpPr>
            <p:nvPr/>
          </p:nvSpPr>
          <p:spPr bwMode="auto">
            <a:xfrm>
              <a:off x="5670601" y="2532002"/>
              <a:ext cx="1053496"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600" dirty="0">
                  <a:solidFill>
                    <a:srgbClr val="BB1528"/>
                  </a:solidFill>
                  <a:latin typeface="微软雅黑" panose="020B0503020204020204" pitchFamily="34" charset="-122"/>
                  <a:ea typeface="微软雅黑" panose="020B0503020204020204" pitchFamily="34" charset="-122"/>
                </a:rPr>
                <a:t>Marginal</a:t>
              </a:r>
            </a:p>
            <a:p>
              <a:pPr algn="ctr"/>
              <a:r>
                <a:rPr kumimoji="0" lang="en-US" altLang="zh-CN" sz="1600" dirty="0">
                  <a:solidFill>
                    <a:srgbClr val="BB1528"/>
                  </a:solidFill>
                  <a:latin typeface="微软雅黑" panose="020B0503020204020204" pitchFamily="34" charset="-122"/>
                  <a:ea typeface="微软雅黑" panose="020B0503020204020204" pitchFamily="34" charset="-122"/>
                </a:rPr>
                <a:t>Cost</a:t>
              </a:r>
            </a:p>
          </p:txBody>
        </p:sp>
      </p:grpSp>
      <p:grpSp>
        <p:nvGrpSpPr>
          <p:cNvPr id="4" name="组合 3"/>
          <p:cNvGrpSpPr/>
          <p:nvPr/>
        </p:nvGrpSpPr>
        <p:grpSpPr>
          <a:xfrm>
            <a:off x="1179349" y="3085843"/>
            <a:ext cx="7028905" cy="2798202"/>
            <a:chOff x="1549922" y="3070293"/>
            <a:chExt cx="7028905" cy="2798202"/>
          </a:xfrm>
        </p:grpSpPr>
        <p:sp>
          <p:nvSpPr>
            <p:cNvPr id="51" name="Rectangle 5"/>
            <p:cNvSpPr>
              <a:spLocks noChangeArrowheads="1"/>
            </p:cNvSpPr>
            <p:nvPr/>
          </p:nvSpPr>
          <p:spPr bwMode="auto">
            <a:xfrm>
              <a:off x="1549922" y="3070293"/>
              <a:ext cx="436018" cy="2798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kumimoji="0" lang="en-US" altLang="zh-CN" sz="1600" b="1" dirty="0">
                  <a:latin typeface="微软雅黑" panose="020B0503020204020204" pitchFamily="34" charset="-122"/>
                  <a:ea typeface="微软雅黑" panose="020B0503020204020204" pitchFamily="34" charset="-122"/>
                </a:rPr>
                <a:t>  0</a:t>
              </a:r>
            </a:p>
            <a:p>
              <a:pPr algn="r"/>
              <a:r>
                <a:rPr kumimoji="0" lang="en-US" altLang="zh-CN" sz="1600" b="1" dirty="0">
                  <a:latin typeface="微软雅黑" panose="020B0503020204020204" pitchFamily="34" charset="-122"/>
                  <a:ea typeface="微软雅黑" panose="020B0503020204020204" pitchFamily="34" charset="-122"/>
                </a:rPr>
                <a:t>  1</a:t>
              </a:r>
            </a:p>
            <a:p>
              <a:pPr algn="r"/>
              <a:r>
                <a:rPr kumimoji="0" lang="en-US" altLang="zh-CN" sz="1600" b="1" dirty="0">
                  <a:latin typeface="微软雅黑" panose="020B0503020204020204" pitchFamily="34" charset="-122"/>
                  <a:ea typeface="微软雅黑" panose="020B0503020204020204" pitchFamily="34" charset="-122"/>
                </a:rPr>
                <a:t>  2</a:t>
              </a:r>
            </a:p>
            <a:p>
              <a:pPr algn="r"/>
              <a:r>
                <a:rPr kumimoji="0" lang="en-US" altLang="zh-CN" sz="1600" b="1" dirty="0">
                  <a:latin typeface="微软雅黑" panose="020B0503020204020204" pitchFamily="34" charset="-122"/>
                  <a:ea typeface="微软雅黑" panose="020B0503020204020204" pitchFamily="34" charset="-122"/>
                </a:rPr>
                <a:t>3</a:t>
              </a:r>
              <a:endParaRPr kumimoji="0" lang="en-US" altLang="zh-CN" sz="1600" b="1" dirty="0">
                <a:solidFill>
                  <a:srgbClr val="FC0128"/>
                </a:solidFill>
                <a:latin typeface="微软雅黑" panose="020B0503020204020204" pitchFamily="34" charset="-122"/>
                <a:ea typeface="微软雅黑" panose="020B0503020204020204" pitchFamily="34" charset="-122"/>
              </a:endParaRPr>
            </a:p>
            <a:p>
              <a:pPr algn="r"/>
              <a:r>
                <a:rPr kumimoji="0" lang="en-US" altLang="zh-CN" sz="1600" b="1" dirty="0">
                  <a:latin typeface="微软雅黑" panose="020B0503020204020204" pitchFamily="34" charset="-122"/>
                  <a:ea typeface="微软雅黑" panose="020B0503020204020204" pitchFamily="34" charset="-122"/>
                </a:rPr>
                <a:t>4</a:t>
              </a:r>
            </a:p>
            <a:p>
              <a:pPr algn="r"/>
              <a:r>
                <a:rPr kumimoji="0" lang="en-US" altLang="zh-CN" sz="1600" b="1" dirty="0">
                  <a:latin typeface="微软雅黑" panose="020B0503020204020204" pitchFamily="34" charset="-122"/>
                  <a:ea typeface="微软雅黑" panose="020B0503020204020204" pitchFamily="34" charset="-122"/>
                </a:rPr>
                <a:t>5</a:t>
              </a:r>
            </a:p>
            <a:p>
              <a:pPr algn="r"/>
              <a:r>
                <a:rPr kumimoji="0" lang="en-US" altLang="zh-CN" sz="1600" b="1" dirty="0">
                  <a:latin typeface="微软雅黑" panose="020B0503020204020204" pitchFamily="34" charset="-122"/>
                  <a:ea typeface="微软雅黑" panose="020B0503020204020204" pitchFamily="34" charset="-122"/>
                </a:rPr>
                <a:t>6</a:t>
              </a:r>
            </a:p>
            <a:p>
              <a:pPr algn="r"/>
              <a:r>
                <a:rPr kumimoji="0" lang="en-US" altLang="zh-CN" sz="1600" b="1" dirty="0">
                  <a:latin typeface="微软雅黑" panose="020B0503020204020204" pitchFamily="34" charset="-122"/>
                  <a:ea typeface="微软雅黑" panose="020B0503020204020204" pitchFamily="34" charset="-122"/>
                </a:rPr>
                <a:t>7</a:t>
              </a:r>
            </a:p>
            <a:p>
              <a:pPr algn="r"/>
              <a:r>
                <a:rPr kumimoji="0" lang="en-US" altLang="zh-CN" sz="1600" b="1" dirty="0">
                  <a:latin typeface="微软雅黑" panose="020B0503020204020204" pitchFamily="34" charset="-122"/>
                  <a:ea typeface="微软雅黑" panose="020B0503020204020204" pitchFamily="34" charset="-122"/>
                </a:rPr>
                <a:t>8</a:t>
              </a:r>
            </a:p>
            <a:p>
              <a:pPr algn="r"/>
              <a:r>
                <a:rPr kumimoji="0" lang="en-US" altLang="zh-CN" sz="1600" b="1" dirty="0">
                  <a:latin typeface="微软雅黑" panose="020B0503020204020204" pitchFamily="34" charset="-122"/>
                  <a:ea typeface="微软雅黑" panose="020B0503020204020204" pitchFamily="34" charset="-122"/>
                </a:rPr>
                <a:t>9</a:t>
              </a:r>
            </a:p>
            <a:p>
              <a:pPr algn="r"/>
              <a:r>
                <a:rPr kumimoji="0" lang="en-US" altLang="zh-CN" sz="1600" b="1" dirty="0">
                  <a:latin typeface="微软雅黑" panose="020B0503020204020204" pitchFamily="34" charset="-122"/>
                  <a:ea typeface="微软雅黑" panose="020B0503020204020204" pitchFamily="34" charset="-122"/>
                </a:rPr>
                <a:t>10</a:t>
              </a:r>
            </a:p>
          </p:txBody>
        </p:sp>
        <p:sp>
          <p:nvSpPr>
            <p:cNvPr id="57" name="Rectangle 11"/>
            <p:cNvSpPr>
              <a:spLocks noChangeArrowheads="1"/>
            </p:cNvSpPr>
            <p:nvPr/>
          </p:nvSpPr>
          <p:spPr bwMode="auto">
            <a:xfrm>
              <a:off x="2312799" y="3070293"/>
              <a:ext cx="1001878" cy="2798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kumimoji="0" lang="en-US" altLang="zh-CN" sz="1600" b="1" dirty="0">
                  <a:latin typeface="微软雅黑" panose="020B0503020204020204" pitchFamily="34" charset="-122"/>
                  <a:ea typeface="微软雅黑" panose="020B0503020204020204" pitchFamily="34" charset="-122"/>
                </a:rPr>
                <a:t> </a:t>
              </a:r>
            </a:p>
            <a:p>
              <a:pPr algn="r"/>
              <a:r>
                <a:rPr kumimoji="0" lang="en-US" altLang="zh-CN" sz="1600" b="1" dirty="0">
                  <a:latin typeface="微软雅黑" panose="020B0503020204020204" pitchFamily="34" charset="-122"/>
                  <a:ea typeface="微软雅黑" panose="020B0503020204020204" pitchFamily="34" charset="-122"/>
                </a:rPr>
                <a:t>$100.00</a:t>
              </a:r>
            </a:p>
            <a:p>
              <a:pPr algn="r"/>
              <a:r>
                <a:rPr kumimoji="0" lang="en-US" altLang="zh-CN" sz="1600" b="1" dirty="0">
                  <a:latin typeface="微软雅黑" panose="020B0503020204020204" pitchFamily="34" charset="-122"/>
                  <a:ea typeface="微软雅黑" panose="020B0503020204020204" pitchFamily="34" charset="-122"/>
                </a:rPr>
                <a:t>  50.00</a:t>
              </a:r>
            </a:p>
            <a:p>
              <a:pPr algn="r"/>
              <a:r>
                <a:rPr kumimoji="0" lang="en-US" altLang="zh-CN" sz="1600" b="1" dirty="0">
                  <a:latin typeface="微软雅黑" panose="020B0503020204020204" pitchFamily="34" charset="-122"/>
                  <a:ea typeface="微软雅黑" panose="020B0503020204020204" pitchFamily="34" charset="-122"/>
                </a:rPr>
                <a:t>  33.33</a:t>
              </a:r>
            </a:p>
            <a:p>
              <a:pPr algn="r"/>
              <a:r>
                <a:rPr kumimoji="0" lang="en-US" altLang="zh-CN" sz="1600" b="1" dirty="0">
                  <a:latin typeface="微软雅黑" panose="020B0503020204020204" pitchFamily="34" charset="-122"/>
                  <a:ea typeface="微软雅黑" panose="020B0503020204020204" pitchFamily="34" charset="-122"/>
                </a:rPr>
                <a:t>25.00</a:t>
              </a:r>
            </a:p>
            <a:p>
              <a:pPr algn="r"/>
              <a:r>
                <a:rPr kumimoji="0" lang="en-US" altLang="zh-CN" sz="1600" b="1" dirty="0">
                  <a:latin typeface="微软雅黑" panose="020B0503020204020204" pitchFamily="34" charset="-122"/>
                  <a:ea typeface="微软雅黑" panose="020B0503020204020204" pitchFamily="34" charset="-122"/>
                </a:rPr>
                <a:t>20.00</a:t>
              </a:r>
            </a:p>
            <a:p>
              <a:pPr algn="r"/>
              <a:r>
                <a:rPr kumimoji="0" lang="en-US" altLang="zh-CN" sz="1600" b="1" dirty="0">
                  <a:latin typeface="微软雅黑" panose="020B0503020204020204" pitchFamily="34" charset="-122"/>
                  <a:ea typeface="微软雅黑" panose="020B0503020204020204" pitchFamily="34" charset="-122"/>
                </a:rPr>
                <a:t>16.67</a:t>
              </a:r>
            </a:p>
            <a:p>
              <a:pPr algn="r"/>
              <a:r>
                <a:rPr kumimoji="0" lang="en-US" altLang="zh-CN" sz="1600" b="1" dirty="0">
                  <a:latin typeface="微软雅黑" panose="020B0503020204020204" pitchFamily="34" charset="-122"/>
                  <a:ea typeface="微软雅黑" panose="020B0503020204020204" pitchFamily="34" charset="-122"/>
                </a:rPr>
                <a:t>14.29</a:t>
              </a:r>
            </a:p>
            <a:p>
              <a:pPr algn="r"/>
              <a:r>
                <a:rPr kumimoji="0" lang="en-US" altLang="zh-CN" sz="1600" b="1" dirty="0">
                  <a:latin typeface="微软雅黑" panose="020B0503020204020204" pitchFamily="34" charset="-122"/>
                  <a:ea typeface="微软雅黑" panose="020B0503020204020204" pitchFamily="34" charset="-122"/>
                </a:rPr>
                <a:t>12.50</a:t>
              </a:r>
            </a:p>
            <a:p>
              <a:pPr algn="r"/>
              <a:r>
                <a:rPr kumimoji="0" lang="en-US" altLang="zh-CN" sz="1600" b="1" dirty="0">
                  <a:latin typeface="微软雅黑" panose="020B0503020204020204" pitchFamily="34" charset="-122"/>
                  <a:ea typeface="微软雅黑" panose="020B0503020204020204" pitchFamily="34" charset="-122"/>
                </a:rPr>
                <a:t>11.11</a:t>
              </a:r>
            </a:p>
            <a:p>
              <a:pPr algn="r"/>
              <a:r>
                <a:rPr kumimoji="0" lang="en-US" altLang="zh-CN" sz="1600" b="1" dirty="0">
                  <a:latin typeface="微软雅黑" panose="020B0503020204020204" pitchFamily="34" charset="-122"/>
                  <a:ea typeface="微软雅黑" panose="020B0503020204020204" pitchFamily="34" charset="-122"/>
                </a:rPr>
                <a:t>10.00</a:t>
              </a:r>
            </a:p>
          </p:txBody>
        </p:sp>
        <p:sp>
          <p:nvSpPr>
            <p:cNvPr id="58" name="Rectangle 12"/>
            <p:cNvSpPr>
              <a:spLocks noChangeArrowheads="1"/>
            </p:cNvSpPr>
            <p:nvPr/>
          </p:nvSpPr>
          <p:spPr bwMode="auto">
            <a:xfrm>
              <a:off x="3544272" y="3070293"/>
              <a:ext cx="875305" cy="2798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endParaRPr kumimoji="0" lang="en-US" altLang="zh-CN" sz="1600" b="1" dirty="0">
                <a:latin typeface="微软雅黑" panose="020B0503020204020204" pitchFamily="34" charset="-122"/>
                <a:ea typeface="微软雅黑" panose="020B0503020204020204" pitchFamily="34" charset="-122"/>
              </a:endParaRPr>
            </a:p>
            <a:p>
              <a:pPr algn="r"/>
              <a:r>
                <a:rPr kumimoji="0" lang="en-US" altLang="zh-CN" sz="1600" b="1" dirty="0">
                  <a:latin typeface="微软雅黑" panose="020B0503020204020204" pitchFamily="34" charset="-122"/>
                  <a:ea typeface="微软雅黑" panose="020B0503020204020204" pitchFamily="34" charset="-122"/>
                </a:rPr>
                <a:t>$90.00</a:t>
              </a:r>
            </a:p>
            <a:p>
              <a:pPr algn="r"/>
              <a:r>
                <a:rPr kumimoji="0" lang="en-US" altLang="zh-CN" sz="1600" b="1" dirty="0">
                  <a:latin typeface="微软雅黑" panose="020B0503020204020204" pitchFamily="34" charset="-122"/>
                  <a:ea typeface="微软雅黑" panose="020B0503020204020204" pitchFamily="34" charset="-122"/>
                </a:rPr>
                <a:t>85.00</a:t>
              </a:r>
              <a:endParaRPr kumimoji="0" lang="en-US" altLang="zh-CN" sz="1600" b="1" dirty="0">
                <a:solidFill>
                  <a:srgbClr val="FC0128"/>
                </a:solidFill>
                <a:latin typeface="微软雅黑" panose="020B0503020204020204" pitchFamily="34" charset="-122"/>
                <a:ea typeface="微软雅黑" panose="020B0503020204020204" pitchFamily="34" charset="-122"/>
              </a:endParaRPr>
            </a:p>
            <a:p>
              <a:pPr algn="r"/>
              <a:r>
                <a:rPr kumimoji="0" lang="en-US" altLang="zh-CN" sz="1600" b="1" dirty="0">
                  <a:latin typeface="微软雅黑" panose="020B0503020204020204" pitchFamily="34" charset="-122"/>
                  <a:ea typeface="微软雅黑" panose="020B0503020204020204" pitchFamily="34" charset="-122"/>
                </a:rPr>
                <a:t>80.00</a:t>
              </a:r>
            </a:p>
            <a:p>
              <a:pPr algn="r"/>
              <a:r>
                <a:rPr kumimoji="0" lang="en-US" altLang="zh-CN" sz="1600" b="1" dirty="0">
                  <a:latin typeface="微软雅黑" panose="020B0503020204020204" pitchFamily="34" charset="-122"/>
                  <a:ea typeface="微软雅黑" panose="020B0503020204020204" pitchFamily="34" charset="-122"/>
                </a:rPr>
                <a:t>75.00</a:t>
              </a:r>
            </a:p>
            <a:p>
              <a:pPr algn="r"/>
              <a:r>
                <a:rPr kumimoji="0" lang="en-US" altLang="zh-CN" sz="1600" b="1" dirty="0">
                  <a:latin typeface="微软雅黑" panose="020B0503020204020204" pitchFamily="34" charset="-122"/>
                  <a:ea typeface="微软雅黑" panose="020B0503020204020204" pitchFamily="34" charset="-122"/>
                </a:rPr>
                <a:t>74.00</a:t>
              </a:r>
            </a:p>
            <a:p>
              <a:pPr algn="r"/>
              <a:r>
                <a:rPr kumimoji="0" lang="en-US" altLang="zh-CN" sz="1600" b="1" dirty="0">
                  <a:latin typeface="微软雅黑" panose="020B0503020204020204" pitchFamily="34" charset="-122"/>
                  <a:ea typeface="微软雅黑" panose="020B0503020204020204" pitchFamily="34" charset="-122"/>
                </a:rPr>
                <a:t>75.00</a:t>
              </a:r>
            </a:p>
            <a:p>
              <a:pPr algn="r"/>
              <a:r>
                <a:rPr kumimoji="0" lang="en-US" altLang="zh-CN" sz="1600" b="1" dirty="0">
                  <a:latin typeface="微软雅黑" panose="020B0503020204020204" pitchFamily="34" charset="-122"/>
                  <a:ea typeface="微软雅黑" panose="020B0503020204020204" pitchFamily="34" charset="-122"/>
                </a:rPr>
                <a:t>77.14</a:t>
              </a:r>
            </a:p>
            <a:p>
              <a:pPr algn="r"/>
              <a:r>
                <a:rPr kumimoji="0" lang="en-US" altLang="zh-CN" sz="1600" b="1" dirty="0">
                  <a:latin typeface="微软雅黑" panose="020B0503020204020204" pitchFamily="34" charset="-122"/>
                  <a:ea typeface="微软雅黑" panose="020B0503020204020204" pitchFamily="34" charset="-122"/>
                </a:rPr>
                <a:t>81.25</a:t>
              </a:r>
            </a:p>
            <a:p>
              <a:pPr algn="r"/>
              <a:r>
                <a:rPr kumimoji="0" lang="en-US" altLang="zh-CN" sz="1600" b="1" dirty="0">
                  <a:latin typeface="微软雅黑" panose="020B0503020204020204" pitchFamily="34" charset="-122"/>
                  <a:ea typeface="微软雅黑" panose="020B0503020204020204" pitchFamily="34" charset="-122"/>
                </a:rPr>
                <a:t>86.67</a:t>
              </a:r>
            </a:p>
            <a:p>
              <a:pPr algn="r"/>
              <a:r>
                <a:rPr kumimoji="0" lang="en-US" altLang="zh-CN" sz="1600" b="1" dirty="0">
                  <a:latin typeface="微软雅黑" panose="020B0503020204020204" pitchFamily="34" charset="-122"/>
                  <a:ea typeface="微软雅黑" panose="020B0503020204020204" pitchFamily="34" charset="-122"/>
                </a:rPr>
                <a:t>93.00</a:t>
              </a:r>
            </a:p>
          </p:txBody>
        </p:sp>
        <p:sp>
          <p:nvSpPr>
            <p:cNvPr id="59" name="Rectangle 13"/>
            <p:cNvSpPr>
              <a:spLocks noChangeArrowheads="1"/>
            </p:cNvSpPr>
            <p:nvPr/>
          </p:nvSpPr>
          <p:spPr bwMode="auto">
            <a:xfrm>
              <a:off x="4640010" y="3070293"/>
              <a:ext cx="1001942" cy="2798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endParaRPr kumimoji="0" lang="en-US" altLang="zh-CN" sz="1600" b="1" dirty="0">
                <a:latin typeface="微软雅黑" panose="020B0503020204020204" pitchFamily="34" charset="-122"/>
                <a:ea typeface="微软雅黑" panose="020B0503020204020204" pitchFamily="34" charset="-122"/>
              </a:endParaRPr>
            </a:p>
            <a:p>
              <a:pPr algn="r"/>
              <a:r>
                <a:rPr kumimoji="0" lang="en-US" altLang="zh-CN" sz="1600" b="1" dirty="0">
                  <a:latin typeface="微软雅黑" panose="020B0503020204020204" pitchFamily="34" charset="-122"/>
                  <a:ea typeface="微软雅黑" panose="020B0503020204020204" pitchFamily="34" charset="-122"/>
                </a:rPr>
                <a:t>$190.00</a:t>
              </a:r>
            </a:p>
            <a:p>
              <a:pPr algn="r"/>
              <a:r>
                <a:rPr kumimoji="0" lang="en-US" altLang="zh-CN" sz="1600" b="1" dirty="0">
                  <a:latin typeface="微软雅黑" panose="020B0503020204020204" pitchFamily="34" charset="-122"/>
                  <a:ea typeface="微软雅黑" panose="020B0503020204020204" pitchFamily="34" charset="-122"/>
                </a:rPr>
                <a:t>135.00</a:t>
              </a:r>
              <a:endParaRPr kumimoji="0" lang="en-US" altLang="zh-CN" sz="1600" b="1" dirty="0">
                <a:solidFill>
                  <a:srgbClr val="FC0128"/>
                </a:solidFill>
                <a:latin typeface="微软雅黑" panose="020B0503020204020204" pitchFamily="34" charset="-122"/>
                <a:ea typeface="微软雅黑" panose="020B0503020204020204" pitchFamily="34" charset="-122"/>
              </a:endParaRPr>
            </a:p>
            <a:p>
              <a:pPr algn="r"/>
              <a:r>
                <a:rPr kumimoji="0" lang="en-US" altLang="zh-CN" sz="1600" b="1" dirty="0">
                  <a:latin typeface="微软雅黑" panose="020B0503020204020204" pitchFamily="34" charset="-122"/>
                  <a:ea typeface="微软雅黑" panose="020B0503020204020204" pitchFamily="34" charset="-122"/>
                </a:rPr>
                <a:t>113.33</a:t>
              </a:r>
            </a:p>
            <a:p>
              <a:pPr algn="r"/>
              <a:r>
                <a:rPr kumimoji="0" lang="en-US" altLang="zh-CN" sz="1600" b="1" dirty="0">
                  <a:latin typeface="微软雅黑" panose="020B0503020204020204" pitchFamily="34" charset="-122"/>
                  <a:ea typeface="微软雅黑" panose="020B0503020204020204" pitchFamily="34" charset="-122"/>
                </a:rPr>
                <a:t>100.00</a:t>
              </a:r>
            </a:p>
            <a:p>
              <a:pPr algn="r"/>
              <a:r>
                <a:rPr kumimoji="0" lang="en-US" altLang="zh-CN" sz="1600" b="1" dirty="0">
                  <a:latin typeface="微软雅黑" panose="020B0503020204020204" pitchFamily="34" charset="-122"/>
                  <a:ea typeface="微软雅黑" panose="020B0503020204020204" pitchFamily="34" charset="-122"/>
                </a:rPr>
                <a:t>94.00</a:t>
              </a:r>
            </a:p>
            <a:p>
              <a:pPr algn="r"/>
              <a:r>
                <a:rPr kumimoji="0" lang="en-US" altLang="zh-CN" sz="1600" b="1" dirty="0">
                  <a:latin typeface="微软雅黑" panose="020B0503020204020204" pitchFamily="34" charset="-122"/>
                  <a:ea typeface="微软雅黑" panose="020B0503020204020204" pitchFamily="34" charset="-122"/>
                </a:rPr>
                <a:t>91.67</a:t>
              </a:r>
            </a:p>
            <a:p>
              <a:pPr algn="r"/>
              <a:r>
                <a:rPr kumimoji="0" lang="en-US" altLang="zh-CN" sz="1600" b="1" dirty="0">
                  <a:latin typeface="微软雅黑" panose="020B0503020204020204" pitchFamily="34" charset="-122"/>
                  <a:ea typeface="微软雅黑" panose="020B0503020204020204" pitchFamily="34" charset="-122"/>
                </a:rPr>
                <a:t>91.43</a:t>
              </a:r>
            </a:p>
            <a:p>
              <a:pPr algn="r"/>
              <a:r>
                <a:rPr kumimoji="0" lang="en-US" altLang="zh-CN" sz="1600" b="1" dirty="0">
                  <a:latin typeface="微软雅黑" panose="020B0503020204020204" pitchFamily="34" charset="-122"/>
                  <a:ea typeface="微软雅黑" panose="020B0503020204020204" pitchFamily="34" charset="-122"/>
                </a:rPr>
                <a:t>93.75</a:t>
              </a:r>
            </a:p>
            <a:p>
              <a:pPr algn="r"/>
              <a:r>
                <a:rPr kumimoji="0" lang="en-US" altLang="zh-CN" sz="1600" b="1" dirty="0">
                  <a:latin typeface="微软雅黑" panose="020B0503020204020204" pitchFamily="34" charset="-122"/>
                  <a:ea typeface="微软雅黑" panose="020B0503020204020204" pitchFamily="34" charset="-122"/>
                </a:rPr>
                <a:t>97.78</a:t>
              </a:r>
            </a:p>
            <a:p>
              <a:pPr algn="r"/>
              <a:r>
                <a:rPr kumimoji="0" lang="en-US" altLang="zh-CN" sz="1600" b="1" dirty="0">
                  <a:latin typeface="微软雅黑" panose="020B0503020204020204" pitchFamily="34" charset="-122"/>
                  <a:ea typeface="微软雅黑" panose="020B0503020204020204" pitchFamily="34" charset="-122"/>
                </a:rPr>
                <a:t>103.00</a:t>
              </a:r>
            </a:p>
          </p:txBody>
        </p:sp>
        <p:sp>
          <p:nvSpPr>
            <p:cNvPr id="60" name="Rectangle 14"/>
            <p:cNvSpPr>
              <a:spLocks noChangeArrowheads="1"/>
            </p:cNvSpPr>
            <p:nvPr/>
          </p:nvSpPr>
          <p:spPr bwMode="auto">
            <a:xfrm>
              <a:off x="7677937" y="3070293"/>
              <a:ext cx="900890" cy="2798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r>
                <a:rPr kumimoji="0" lang="en-US" altLang="zh-CN" sz="1600" b="1" dirty="0">
                  <a:latin typeface="微软雅黑" panose="020B0503020204020204" pitchFamily="34" charset="-122"/>
                  <a:ea typeface="微软雅黑" panose="020B0503020204020204" pitchFamily="34" charset="-122"/>
                </a:rPr>
                <a:t> - $100</a:t>
              </a:r>
            </a:p>
            <a:p>
              <a:pPr algn="r"/>
              <a:r>
                <a:rPr kumimoji="0" lang="en-US" altLang="zh-CN" sz="1600" b="1" dirty="0">
                  <a:latin typeface="微软雅黑" panose="020B0503020204020204" pitchFamily="34" charset="-122"/>
                  <a:ea typeface="微软雅黑" panose="020B0503020204020204" pitchFamily="34" charset="-122"/>
                </a:rPr>
                <a:t>- 59</a:t>
              </a:r>
            </a:p>
            <a:p>
              <a:pPr algn="r"/>
              <a:r>
                <a:rPr kumimoji="0" lang="en-US" altLang="zh-CN" sz="1600" b="1" dirty="0">
                  <a:latin typeface="微软雅黑" panose="020B0503020204020204" pitchFamily="34" charset="-122"/>
                  <a:ea typeface="微软雅黑" panose="020B0503020204020204" pitchFamily="34" charset="-122"/>
                </a:rPr>
                <a:t>- 8</a:t>
              </a:r>
              <a:endParaRPr kumimoji="0" lang="en-US" altLang="zh-CN" sz="1600" b="1" dirty="0">
                <a:solidFill>
                  <a:srgbClr val="FC0128"/>
                </a:solidFill>
                <a:latin typeface="微软雅黑" panose="020B0503020204020204" pitchFamily="34" charset="-122"/>
                <a:ea typeface="微软雅黑" panose="020B0503020204020204" pitchFamily="34" charset="-122"/>
              </a:endParaRPr>
            </a:p>
            <a:p>
              <a:pPr algn="r"/>
              <a:r>
                <a:rPr kumimoji="0" lang="en-US" altLang="zh-CN" sz="1600" b="1" dirty="0">
                  <a:latin typeface="微软雅黑" panose="020B0503020204020204" pitchFamily="34" charset="-122"/>
                  <a:ea typeface="微软雅黑" panose="020B0503020204020204" pitchFamily="34" charset="-122"/>
                </a:rPr>
                <a:t>+ 53</a:t>
              </a:r>
            </a:p>
            <a:p>
              <a:pPr algn="r"/>
              <a:r>
                <a:rPr kumimoji="0" lang="en-US" altLang="zh-CN" sz="1600" b="1" dirty="0">
                  <a:latin typeface="微软雅黑" panose="020B0503020204020204" pitchFamily="34" charset="-122"/>
                  <a:ea typeface="微软雅黑" panose="020B0503020204020204" pitchFamily="34" charset="-122"/>
                </a:rPr>
                <a:t>+ 124</a:t>
              </a:r>
            </a:p>
            <a:p>
              <a:pPr algn="r"/>
              <a:r>
                <a:rPr kumimoji="0" lang="en-US" altLang="zh-CN" sz="1600" b="1" dirty="0">
                  <a:latin typeface="微软雅黑" panose="020B0503020204020204" pitchFamily="34" charset="-122"/>
                  <a:ea typeface="微软雅黑" panose="020B0503020204020204" pitchFamily="34" charset="-122"/>
                </a:rPr>
                <a:t>+ 185</a:t>
              </a:r>
            </a:p>
            <a:p>
              <a:pPr algn="r"/>
              <a:r>
                <a:rPr kumimoji="0" lang="en-US" altLang="zh-CN" sz="1600" b="1" dirty="0">
                  <a:latin typeface="微软雅黑" panose="020B0503020204020204" pitchFamily="34" charset="-122"/>
                  <a:ea typeface="微软雅黑" panose="020B0503020204020204" pitchFamily="34" charset="-122"/>
                </a:rPr>
                <a:t>+ 236</a:t>
              </a:r>
            </a:p>
            <a:p>
              <a:pPr algn="r"/>
              <a:r>
                <a:rPr kumimoji="0" lang="en-US" altLang="zh-CN" sz="1600" b="1" dirty="0">
                  <a:latin typeface="微软雅黑" panose="020B0503020204020204" pitchFamily="34" charset="-122"/>
                  <a:ea typeface="微软雅黑" panose="020B0503020204020204" pitchFamily="34" charset="-122"/>
                </a:rPr>
                <a:t>+ 277</a:t>
              </a:r>
            </a:p>
            <a:p>
              <a:pPr algn="r"/>
              <a:r>
                <a:rPr kumimoji="0" lang="en-US" altLang="zh-CN" sz="1600" b="1" dirty="0">
                  <a:latin typeface="微软雅黑" panose="020B0503020204020204" pitchFamily="34" charset="-122"/>
                  <a:ea typeface="微软雅黑" panose="020B0503020204020204" pitchFamily="34" charset="-122"/>
                </a:rPr>
                <a:t>+ 298</a:t>
              </a:r>
            </a:p>
            <a:p>
              <a:pPr algn="r"/>
              <a:r>
                <a:rPr kumimoji="0" lang="en-US" altLang="zh-CN" sz="1600" b="1" dirty="0">
                  <a:latin typeface="微软雅黑" panose="020B0503020204020204" pitchFamily="34" charset="-122"/>
                  <a:ea typeface="微软雅黑" panose="020B0503020204020204" pitchFamily="34" charset="-122"/>
                </a:rPr>
                <a:t>+ 299</a:t>
              </a:r>
            </a:p>
            <a:p>
              <a:pPr algn="r"/>
              <a:r>
                <a:rPr kumimoji="0" lang="en-US" altLang="zh-CN" sz="1600" b="1" dirty="0">
                  <a:latin typeface="微软雅黑" panose="020B0503020204020204" pitchFamily="34" charset="-122"/>
                  <a:ea typeface="微软雅黑" panose="020B0503020204020204" pitchFamily="34" charset="-122"/>
                </a:rPr>
                <a:t>+ 280</a:t>
              </a:r>
            </a:p>
          </p:txBody>
        </p:sp>
        <p:sp>
          <p:nvSpPr>
            <p:cNvPr id="62" name="Rectangle 16"/>
            <p:cNvSpPr>
              <a:spLocks noChangeArrowheads="1"/>
            </p:cNvSpPr>
            <p:nvPr/>
          </p:nvSpPr>
          <p:spPr bwMode="auto">
            <a:xfrm>
              <a:off x="6699844" y="3070293"/>
              <a:ext cx="750271" cy="2798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endParaRPr kumimoji="0" lang="en-US" altLang="zh-CN" sz="1600" b="1" dirty="0">
                <a:latin typeface="微软雅黑" panose="020B0503020204020204" pitchFamily="34" charset="-122"/>
                <a:ea typeface="微软雅黑" panose="020B0503020204020204" pitchFamily="34" charset="-122"/>
              </a:endParaRPr>
            </a:p>
            <a:p>
              <a:pPr algn="r"/>
              <a:r>
                <a:rPr kumimoji="0" lang="en-US" altLang="zh-CN" sz="1600" b="1" dirty="0">
                  <a:latin typeface="微软雅黑" panose="020B0503020204020204" pitchFamily="34" charset="-122"/>
                  <a:ea typeface="微软雅黑" panose="020B0503020204020204" pitchFamily="34" charset="-122"/>
                </a:rPr>
                <a:t>$ 131</a:t>
              </a:r>
            </a:p>
            <a:p>
              <a:pPr algn="r"/>
              <a:r>
                <a:rPr kumimoji="0" lang="en-US" altLang="zh-CN" sz="1600" b="1" dirty="0">
                  <a:latin typeface="微软雅黑" panose="020B0503020204020204" pitchFamily="34" charset="-122"/>
                  <a:ea typeface="微软雅黑" panose="020B0503020204020204" pitchFamily="34" charset="-122"/>
                </a:rPr>
                <a:t>131</a:t>
              </a:r>
              <a:endParaRPr kumimoji="0" lang="en-US" altLang="zh-CN" sz="1600" b="1" dirty="0">
                <a:solidFill>
                  <a:srgbClr val="FC0128"/>
                </a:solidFill>
                <a:latin typeface="微软雅黑" panose="020B0503020204020204" pitchFamily="34" charset="-122"/>
                <a:ea typeface="微软雅黑" panose="020B0503020204020204" pitchFamily="34" charset="-122"/>
              </a:endParaRPr>
            </a:p>
            <a:p>
              <a:pPr algn="r"/>
              <a:r>
                <a:rPr kumimoji="0" lang="en-US" altLang="zh-CN" sz="1600" b="1" dirty="0">
                  <a:latin typeface="微软雅黑" panose="020B0503020204020204" pitchFamily="34" charset="-122"/>
                  <a:ea typeface="微软雅黑" panose="020B0503020204020204" pitchFamily="34" charset="-122"/>
                </a:rPr>
                <a:t>131</a:t>
              </a:r>
            </a:p>
            <a:p>
              <a:pPr algn="r"/>
              <a:r>
                <a:rPr kumimoji="0" lang="en-US" altLang="zh-CN" sz="1600" b="1" dirty="0">
                  <a:latin typeface="微软雅黑" panose="020B0503020204020204" pitchFamily="34" charset="-122"/>
                  <a:ea typeface="微软雅黑" panose="020B0503020204020204" pitchFamily="34" charset="-122"/>
                </a:rPr>
                <a:t>131</a:t>
              </a:r>
            </a:p>
            <a:p>
              <a:pPr algn="r"/>
              <a:r>
                <a:rPr kumimoji="0" lang="en-US" altLang="zh-CN" sz="1600" b="1" dirty="0">
                  <a:latin typeface="微软雅黑" panose="020B0503020204020204" pitchFamily="34" charset="-122"/>
                  <a:ea typeface="微软雅黑" panose="020B0503020204020204" pitchFamily="34" charset="-122"/>
                </a:rPr>
                <a:t>131</a:t>
              </a:r>
            </a:p>
            <a:p>
              <a:pPr algn="r"/>
              <a:r>
                <a:rPr kumimoji="0" lang="en-US" altLang="zh-CN" sz="1600" b="1" dirty="0">
                  <a:latin typeface="微软雅黑" panose="020B0503020204020204" pitchFamily="34" charset="-122"/>
                  <a:ea typeface="微软雅黑" panose="020B0503020204020204" pitchFamily="34" charset="-122"/>
                </a:rPr>
                <a:t>131</a:t>
              </a:r>
            </a:p>
            <a:p>
              <a:pPr algn="r"/>
              <a:r>
                <a:rPr kumimoji="0" lang="en-US" altLang="zh-CN" sz="1600" b="1" dirty="0">
                  <a:latin typeface="微软雅黑" panose="020B0503020204020204" pitchFamily="34" charset="-122"/>
                  <a:ea typeface="微软雅黑" panose="020B0503020204020204" pitchFamily="34" charset="-122"/>
                </a:rPr>
                <a:t>131</a:t>
              </a:r>
            </a:p>
            <a:p>
              <a:pPr algn="r"/>
              <a:r>
                <a:rPr kumimoji="0" lang="en-US" altLang="zh-CN" sz="1600" b="1" dirty="0">
                  <a:latin typeface="微软雅黑" panose="020B0503020204020204" pitchFamily="34" charset="-122"/>
                  <a:ea typeface="微软雅黑" panose="020B0503020204020204" pitchFamily="34" charset="-122"/>
                </a:rPr>
                <a:t>131</a:t>
              </a:r>
            </a:p>
            <a:p>
              <a:pPr algn="r"/>
              <a:r>
                <a:rPr kumimoji="0" lang="en-US" altLang="zh-CN" sz="1600" b="1" dirty="0">
                  <a:latin typeface="微软雅黑" panose="020B0503020204020204" pitchFamily="34" charset="-122"/>
                  <a:ea typeface="微软雅黑" panose="020B0503020204020204" pitchFamily="34" charset="-122"/>
                </a:rPr>
                <a:t>131</a:t>
              </a:r>
            </a:p>
            <a:p>
              <a:pPr algn="r"/>
              <a:r>
                <a:rPr kumimoji="0" lang="en-US" altLang="zh-CN" sz="1600" b="1" dirty="0">
                  <a:latin typeface="微软雅黑" panose="020B0503020204020204" pitchFamily="34" charset="-122"/>
                  <a:ea typeface="微软雅黑" panose="020B0503020204020204" pitchFamily="34" charset="-122"/>
                </a:rPr>
                <a:t>131</a:t>
              </a:r>
            </a:p>
          </p:txBody>
        </p:sp>
        <p:sp>
          <p:nvSpPr>
            <p:cNvPr id="64" name="Rectangle 18"/>
            <p:cNvSpPr>
              <a:spLocks noChangeArrowheads="1"/>
            </p:cNvSpPr>
            <p:nvPr/>
          </p:nvSpPr>
          <p:spPr bwMode="auto">
            <a:xfrm>
              <a:off x="5796782" y="3070293"/>
              <a:ext cx="562720" cy="2798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endParaRPr kumimoji="0" lang="en-US" altLang="zh-CN" sz="1600" b="1">
                <a:latin typeface="微软雅黑" panose="020B0503020204020204" pitchFamily="34" charset="-122"/>
                <a:ea typeface="微软雅黑" panose="020B0503020204020204" pitchFamily="34" charset="-122"/>
              </a:endParaRPr>
            </a:p>
            <a:p>
              <a:pPr algn="r"/>
              <a:r>
                <a:rPr kumimoji="0" lang="en-US" altLang="zh-CN" sz="1600" b="1">
                  <a:latin typeface="微软雅黑" panose="020B0503020204020204" pitchFamily="34" charset="-122"/>
                  <a:ea typeface="微软雅黑" panose="020B0503020204020204" pitchFamily="34" charset="-122"/>
                </a:rPr>
                <a:t>90</a:t>
              </a:r>
            </a:p>
            <a:p>
              <a:pPr algn="r"/>
              <a:r>
                <a:rPr kumimoji="0" lang="en-US" altLang="zh-CN" sz="1600" b="1">
                  <a:latin typeface="微软雅黑" panose="020B0503020204020204" pitchFamily="34" charset="-122"/>
                  <a:ea typeface="微软雅黑" panose="020B0503020204020204" pitchFamily="34" charset="-122"/>
                </a:rPr>
                <a:t>80</a:t>
              </a:r>
              <a:endParaRPr kumimoji="0" lang="en-US" altLang="zh-CN" sz="1600" b="1">
                <a:solidFill>
                  <a:srgbClr val="FC0128"/>
                </a:solidFill>
                <a:latin typeface="微软雅黑" panose="020B0503020204020204" pitchFamily="34" charset="-122"/>
                <a:ea typeface="微软雅黑" panose="020B0503020204020204" pitchFamily="34" charset="-122"/>
              </a:endParaRPr>
            </a:p>
            <a:p>
              <a:pPr algn="r"/>
              <a:r>
                <a:rPr kumimoji="0" lang="en-US" altLang="zh-CN" sz="1600" b="1">
                  <a:latin typeface="微软雅黑" panose="020B0503020204020204" pitchFamily="34" charset="-122"/>
                  <a:ea typeface="微软雅黑" panose="020B0503020204020204" pitchFamily="34" charset="-122"/>
                </a:rPr>
                <a:t>70</a:t>
              </a:r>
            </a:p>
            <a:p>
              <a:pPr algn="r"/>
              <a:r>
                <a:rPr kumimoji="0" lang="en-US" altLang="zh-CN" sz="1600" b="1">
                  <a:latin typeface="微软雅黑" panose="020B0503020204020204" pitchFamily="34" charset="-122"/>
                  <a:ea typeface="微软雅黑" panose="020B0503020204020204" pitchFamily="34" charset="-122"/>
                </a:rPr>
                <a:t>60</a:t>
              </a:r>
            </a:p>
            <a:p>
              <a:pPr algn="r"/>
              <a:r>
                <a:rPr kumimoji="0" lang="en-US" altLang="zh-CN" sz="1600" b="1">
                  <a:latin typeface="微软雅黑" panose="020B0503020204020204" pitchFamily="34" charset="-122"/>
                  <a:ea typeface="微软雅黑" panose="020B0503020204020204" pitchFamily="34" charset="-122"/>
                </a:rPr>
                <a:t>70</a:t>
              </a:r>
            </a:p>
            <a:p>
              <a:pPr algn="r"/>
              <a:r>
                <a:rPr kumimoji="0" lang="en-US" altLang="zh-CN" sz="1600" b="1">
                  <a:latin typeface="微软雅黑" panose="020B0503020204020204" pitchFamily="34" charset="-122"/>
                  <a:ea typeface="微软雅黑" panose="020B0503020204020204" pitchFamily="34" charset="-122"/>
                </a:rPr>
                <a:t>80</a:t>
              </a:r>
            </a:p>
            <a:p>
              <a:pPr algn="r"/>
              <a:r>
                <a:rPr kumimoji="0" lang="en-US" altLang="zh-CN" sz="1600" b="1">
                  <a:latin typeface="微软雅黑" panose="020B0503020204020204" pitchFamily="34" charset="-122"/>
                  <a:ea typeface="微软雅黑" panose="020B0503020204020204" pitchFamily="34" charset="-122"/>
                </a:rPr>
                <a:t>90</a:t>
              </a:r>
            </a:p>
            <a:p>
              <a:pPr algn="r"/>
              <a:r>
                <a:rPr kumimoji="0" lang="en-US" altLang="zh-CN" sz="1600" b="1">
                  <a:latin typeface="微软雅黑" panose="020B0503020204020204" pitchFamily="34" charset="-122"/>
                  <a:ea typeface="微软雅黑" panose="020B0503020204020204" pitchFamily="34" charset="-122"/>
                </a:rPr>
                <a:t>110</a:t>
              </a:r>
            </a:p>
            <a:p>
              <a:pPr algn="r"/>
              <a:r>
                <a:rPr kumimoji="0" lang="en-US" altLang="zh-CN" sz="1600" b="1">
                  <a:latin typeface="微软雅黑" panose="020B0503020204020204" pitchFamily="34" charset="-122"/>
                  <a:ea typeface="微软雅黑" panose="020B0503020204020204" pitchFamily="34" charset="-122"/>
                </a:rPr>
                <a:t>130</a:t>
              </a:r>
            </a:p>
            <a:p>
              <a:pPr algn="r"/>
              <a:r>
                <a:rPr kumimoji="0" lang="en-US" altLang="zh-CN" sz="1600" b="1">
                  <a:latin typeface="微软雅黑" panose="020B0503020204020204" pitchFamily="34" charset="-122"/>
                  <a:ea typeface="微软雅黑" panose="020B0503020204020204" pitchFamily="34" charset="-122"/>
                </a:rPr>
                <a:t>150</a:t>
              </a:r>
            </a:p>
          </p:txBody>
        </p:sp>
      </p:grpSp>
      <p:sp>
        <p:nvSpPr>
          <p:cNvPr id="65" name="Rectangle 9"/>
          <p:cNvSpPr>
            <a:spLocks noChangeArrowheads="1"/>
          </p:cNvSpPr>
          <p:nvPr/>
        </p:nvSpPr>
        <p:spPr bwMode="auto">
          <a:xfrm>
            <a:off x="4635990" y="1513863"/>
            <a:ext cx="191480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rPr>
              <a:t>Price =131</a:t>
            </a:r>
          </a:p>
        </p:txBody>
      </p:sp>
      <p:sp>
        <p:nvSpPr>
          <p:cNvPr id="66" name="圆角矩形 65"/>
          <p:cNvSpPr/>
          <p:nvPr/>
        </p:nvSpPr>
        <p:spPr bwMode="auto">
          <a:xfrm>
            <a:off x="1249221" y="5303513"/>
            <a:ext cx="6959033" cy="284987"/>
          </a:xfrm>
          <a:prstGeom prst="roundRect">
            <a:avLst/>
          </a:prstGeom>
          <a:solidFill>
            <a:srgbClr val="BB1528">
              <a:alpha val="52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1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123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250"/>
                                        <p:tgtEl>
                                          <p:spTgt spid="2"/>
                                        </p:tgtEl>
                                      </p:cBhvr>
                                    </p:animEffect>
                                  </p:childTnLst>
                                </p:cTn>
                              </p:par>
                            </p:childTnLst>
                          </p:cTn>
                        </p:par>
                        <p:par>
                          <p:cTn id="13" fill="hold">
                            <p:stCondLst>
                              <p:cond delay="250"/>
                            </p:stCondLst>
                            <p:childTnLst>
                              <p:par>
                                <p:cTn id="14" presetID="6" presetClass="entr" presetSubtype="16" fill="hold" grpId="0" nodeType="after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circle(in)">
                                      <p:cBhvr>
                                        <p:cTn id="16" dur="500"/>
                                        <p:tgtEl>
                                          <p:spTgt spid="5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48"/>
                                        </p:tgtEl>
                                        <p:attrNameLst>
                                          <p:attrName>style.visibility</p:attrName>
                                        </p:attrNameLst>
                                      </p:cBhvr>
                                      <p:to>
                                        <p:strVal val="visible"/>
                                      </p:to>
                                    </p:set>
                                    <p:animEffect transition="in" filter="randombar(horizontal)">
                                      <p:cBhvr>
                                        <p:cTn id="26" dur="500"/>
                                        <p:tgtEl>
                                          <p:spTgt spid="4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wipe(left)">
                                      <p:cBhvr>
                                        <p:cTn id="31" dur="500"/>
                                        <p:tgtEl>
                                          <p:spTgt spid="66"/>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65"/>
                                        </p:tgtEl>
                                        <p:attrNameLst>
                                          <p:attrName>style.visibility</p:attrName>
                                        </p:attrNameLst>
                                      </p:cBhvr>
                                      <p:to>
                                        <p:strVal val="visible"/>
                                      </p:to>
                                    </p:set>
                                    <p:animEffect transition="in" filter="randombar(horizontal)">
                                      <p:cBhvr>
                                        <p:cTn id="34"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0" grpId="0" animBg="1"/>
      <p:bldP spid="65" grpId="0"/>
      <p:bldP spid="6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一、利润最大化产量的决定</a:t>
            </a:r>
          </a:p>
        </p:txBody>
      </p:sp>
      <p:sp>
        <p:nvSpPr>
          <p:cNvPr id="15" name="矩形 14">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5" name="组合 4">
            <a:extLst>
              <a:ext uri="{FF2B5EF4-FFF2-40B4-BE49-F238E27FC236}">
                <a16:creationId xmlns:a16="http://schemas.microsoft.com/office/drawing/2014/main" id="{627AE83D-F3D9-4FE1-841C-38AA09ECDF1C}"/>
              </a:ext>
            </a:extLst>
          </p:cNvPr>
          <p:cNvGrpSpPr/>
          <p:nvPr/>
        </p:nvGrpSpPr>
        <p:grpSpPr>
          <a:xfrm>
            <a:off x="467544" y="1404262"/>
            <a:ext cx="4104456" cy="514350"/>
            <a:chOff x="467544" y="2826109"/>
            <a:chExt cx="2808366"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826109"/>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利润“最大化”和“最小化”产量</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22733" y="2862547"/>
              <a:ext cx="127000"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sp>
        <p:nvSpPr>
          <p:cNvPr id="28" name="TextBox 22"/>
          <p:cNvSpPr>
            <a:spLocks noChangeArrowheads="1"/>
          </p:cNvSpPr>
          <p:nvPr/>
        </p:nvSpPr>
        <p:spPr bwMode="auto">
          <a:xfrm>
            <a:off x="2384347" y="3670494"/>
            <a:ext cx="586168" cy="462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900" dirty="0">
                <a:solidFill>
                  <a:srgbClr val="000000"/>
                </a:solidFill>
                <a:latin typeface="Cambria Math" panose="02040503050406030204" pitchFamily="18" charset="0"/>
                <a:sym typeface="Cambria Math" panose="02040503050406030204" pitchFamily="18" charset="0"/>
              </a:rPr>
              <a:t>0</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29" name="TextBox 23"/>
          <p:cNvSpPr>
            <a:spLocks noChangeArrowheads="1"/>
          </p:cNvSpPr>
          <p:nvPr/>
        </p:nvSpPr>
        <p:spPr bwMode="auto">
          <a:xfrm>
            <a:off x="3054345" y="5813972"/>
            <a:ext cx="586168" cy="463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900" dirty="0">
                <a:solidFill>
                  <a:srgbClr val="000000"/>
                </a:solidFill>
                <a:latin typeface="Cambria Math" panose="02040503050406030204" pitchFamily="18" charset="0"/>
                <a:sym typeface="Cambria Math" panose="02040503050406030204" pitchFamily="18" charset="0"/>
              </a:rPr>
              <a:t>B</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0" name="TextBox 26"/>
          <p:cNvSpPr>
            <a:spLocks noChangeArrowheads="1"/>
          </p:cNvSpPr>
          <p:nvPr/>
        </p:nvSpPr>
        <p:spPr bwMode="auto">
          <a:xfrm>
            <a:off x="5815624" y="5813972"/>
            <a:ext cx="585533" cy="463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900" dirty="0">
                <a:solidFill>
                  <a:srgbClr val="000000"/>
                </a:solidFill>
                <a:latin typeface="Cambria Math" panose="02040503050406030204" pitchFamily="18" charset="0"/>
                <a:sym typeface="Cambria Math" panose="02040503050406030204" pitchFamily="18" charset="0"/>
              </a:rPr>
              <a:t>A</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42" name="直接箭头连接符 31"/>
          <p:cNvSpPr>
            <a:spLocks noChangeShapeType="1"/>
          </p:cNvSpPr>
          <p:nvPr/>
        </p:nvSpPr>
        <p:spPr bwMode="auto">
          <a:xfrm rot="5400000" flipH="1">
            <a:off x="1159366" y="4238116"/>
            <a:ext cx="3285079" cy="3176"/>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3" name="直接箭头连接符 32"/>
          <p:cNvSpPr>
            <a:spLocks noChangeShapeType="1"/>
          </p:cNvSpPr>
          <p:nvPr/>
        </p:nvSpPr>
        <p:spPr bwMode="auto">
          <a:xfrm>
            <a:off x="2803492" y="5880658"/>
            <a:ext cx="4434369" cy="7939"/>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4" name="TextBox 11"/>
          <p:cNvSpPr>
            <a:spLocks noChangeArrowheads="1"/>
          </p:cNvSpPr>
          <p:nvPr/>
        </p:nvSpPr>
        <p:spPr bwMode="auto">
          <a:xfrm>
            <a:off x="2384347" y="2492375"/>
            <a:ext cx="418428" cy="46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45" name="TextBox 12"/>
          <p:cNvSpPr>
            <a:spLocks noChangeArrowheads="1"/>
          </p:cNvSpPr>
          <p:nvPr/>
        </p:nvSpPr>
        <p:spPr bwMode="auto">
          <a:xfrm>
            <a:off x="2468033" y="5888576"/>
            <a:ext cx="585800" cy="46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O</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46" name="TextBox 13"/>
          <p:cNvSpPr>
            <a:spLocks noChangeArrowheads="1"/>
          </p:cNvSpPr>
          <p:nvPr/>
        </p:nvSpPr>
        <p:spPr bwMode="auto">
          <a:xfrm>
            <a:off x="6987059" y="5888576"/>
            <a:ext cx="585800" cy="46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2" name="直接连接符 36"/>
          <p:cNvSpPr>
            <a:spLocks noChangeShapeType="1"/>
          </p:cNvSpPr>
          <p:nvPr/>
        </p:nvSpPr>
        <p:spPr bwMode="auto">
          <a:xfrm>
            <a:off x="2803492" y="3937238"/>
            <a:ext cx="3597665" cy="3176"/>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TextBox 37"/>
          <p:cNvSpPr>
            <a:spLocks noChangeArrowheads="1"/>
          </p:cNvSpPr>
          <p:nvPr/>
        </p:nvSpPr>
        <p:spPr bwMode="auto">
          <a:xfrm>
            <a:off x="6222068" y="3580309"/>
            <a:ext cx="1673406" cy="463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MR</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34" name="直接连接符 38"/>
          <p:cNvSpPr>
            <a:spLocks noChangeShapeType="1"/>
          </p:cNvSpPr>
          <p:nvPr/>
        </p:nvSpPr>
        <p:spPr bwMode="auto">
          <a:xfrm rot="5400000">
            <a:off x="2366512" y="4889260"/>
            <a:ext cx="1876734" cy="1905"/>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直接连接符 40"/>
          <p:cNvSpPr>
            <a:spLocks noChangeShapeType="1"/>
          </p:cNvSpPr>
          <p:nvPr/>
        </p:nvSpPr>
        <p:spPr bwMode="auto">
          <a:xfrm rot="5400000">
            <a:off x="5125886" y="4889260"/>
            <a:ext cx="1876734" cy="1905"/>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任意多边形 41"/>
          <p:cNvSpPr>
            <a:spLocks noChangeArrowheads="1"/>
          </p:cNvSpPr>
          <p:nvPr/>
        </p:nvSpPr>
        <p:spPr bwMode="auto">
          <a:xfrm>
            <a:off x="3162306" y="2832156"/>
            <a:ext cx="3492878" cy="1956122"/>
          </a:xfrm>
          <a:custGeom>
            <a:avLst/>
            <a:gdLst>
              <a:gd name="T0" fmla="*/ 0 w 2980267"/>
              <a:gd name="T1" fmla="*/ 714963 h 1563511"/>
              <a:gd name="T2" fmla="*/ 451555 w 2980267"/>
              <a:gd name="T3" fmla="*/ 1177807 h 1563511"/>
              <a:gd name="T4" fmla="*/ 891822 w 2980267"/>
              <a:gd name="T5" fmla="*/ 1471318 h 1563511"/>
              <a:gd name="T6" fmla="*/ 1298222 w 2980267"/>
              <a:gd name="T7" fmla="*/ 1550341 h 1563511"/>
              <a:gd name="T8" fmla="*/ 1806222 w 2980267"/>
              <a:gd name="T9" fmla="*/ 1392296 h 1563511"/>
              <a:gd name="T10" fmla="*/ 2122311 w 2980267"/>
              <a:gd name="T11" fmla="*/ 1177807 h 1563511"/>
              <a:gd name="T12" fmla="*/ 2427111 w 2980267"/>
              <a:gd name="T13" fmla="*/ 895585 h 1563511"/>
              <a:gd name="T14" fmla="*/ 2664178 w 2980267"/>
              <a:gd name="T15" fmla="*/ 556918 h 1563511"/>
              <a:gd name="T16" fmla="*/ 2935111 w 2980267"/>
              <a:gd name="T17" fmla="*/ 82785 h 1563511"/>
              <a:gd name="T18" fmla="*/ 2935111 w 2980267"/>
              <a:gd name="T19" fmla="*/ 60207 h 15635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80267"/>
              <a:gd name="T31" fmla="*/ 0 h 1563511"/>
              <a:gd name="T32" fmla="*/ 2980267 w 2980267"/>
              <a:gd name="T33" fmla="*/ 1563511 h 15635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80267" h="1563511">
                <a:moveTo>
                  <a:pt x="0" y="714963"/>
                </a:moveTo>
                <a:cubicBezTo>
                  <a:pt x="151459" y="883355"/>
                  <a:pt x="302918" y="1051748"/>
                  <a:pt x="451555" y="1177807"/>
                </a:cubicBezTo>
                <a:cubicBezTo>
                  <a:pt x="600192" y="1303866"/>
                  <a:pt x="750711" y="1409229"/>
                  <a:pt x="891822" y="1471318"/>
                </a:cubicBezTo>
                <a:cubicBezTo>
                  <a:pt x="1032933" y="1533407"/>
                  <a:pt x="1145822" y="1563511"/>
                  <a:pt x="1298222" y="1550341"/>
                </a:cubicBezTo>
                <a:cubicBezTo>
                  <a:pt x="1450622" y="1537171"/>
                  <a:pt x="1668874" y="1454385"/>
                  <a:pt x="1806222" y="1392296"/>
                </a:cubicBezTo>
                <a:cubicBezTo>
                  <a:pt x="1943570" y="1330207"/>
                  <a:pt x="2018830" y="1260592"/>
                  <a:pt x="2122311" y="1177807"/>
                </a:cubicBezTo>
                <a:cubicBezTo>
                  <a:pt x="2225792" y="1095022"/>
                  <a:pt x="2336800" y="999066"/>
                  <a:pt x="2427111" y="895585"/>
                </a:cubicBezTo>
                <a:cubicBezTo>
                  <a:pt x="2517422" y="792104"/>
                  <a:pt x="2579511" y="692385"/>
                  <a:pt x="2664178" y="556918"/>
                </a:cubicBezTo>
                <a:cubicBezTo>
                  <a:pt x="2748845" y="421451"/>
                  <a:pt x="2889956" y="165570"/>
                  <a:pt x="2935111" y="82785"/>
                </a:cubicBezTo>
                <a:cubicBezTo>
                  <a:pt x="2980267" y="0"/>
                  <a:pt x="2957689" y="30103"/>
                  <a:pt x="2935111" y="60207"/>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37" name="TextBox 42"/>
          <p:cNvSpPr>
            <a:spLocks noChangeArrowheads="1"/>
          </p:cNvSpPr>
          <p:nvPr/>
        </p:nvSpPr>
        <p:spPr bwMode="auto">
          <a:xfrm>
            <a:off x="3305197" y="3491394"/>
            <a:ext cx="1757870" cy="369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B</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8" name="TextBox 43"/>
          <p:cNvSpPr>
            <a:spLocks noChangeArrowheads="1"/>
          </p:cNvSpPr>
          <p:nvPr/>
        </p:nvSpPr>
        <p:spPr bwMode="auto">
          <a:xfrm>
            <a:off x="6066476" y="4028058"/>
            <a:ext cx="1757235" cy="369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A</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9" name="TextBox 44"/>
          <p:cNvSpPr>
            <a:spLocks noChangeArrowheads="1"/>
          </p:cNvSpPr>
          <p:nvPr/>
        </p:nvSpPr>
        <p:spPr bwMode="auto">
          <a:xfrm>
            <a:off x="6077323" y="2892677"/>
            <a:ext cx="5551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000000"/>
                </a:solidFill>
                <a:latin typeface="Cambria Math" panose="02040503050406030204" pitchFamily="18" charset="0"/>
                <a:sym typeface="Cambria Math" panose="02040503050406030204" pitchFamily="18" charset="0"/>
              </a:rPr>
              <a:t>MC</a:t>
            </a:r>
            <a:endParaRPr lang="zh-CN" altLang="en-US" sz="1100" dirty="0">
              <a:solidFill>
                <a:srgbClr val="000000"/>
              </a:solidFill>
              <a:latin typeface="Cambria Math" panose="02040503050406030204" pitchFamily="18" charset="0"/>
              <a:sym typeface="Cambria Math" panose="02040503050406030204" pitchFamily="18" charset="0"/>
            </a:endParaRPr>
          </a:p>
        </p:txBody>
      </p:sp>
      <mc:AlternateContent xmlns:mc="http://schemas.openxmlformats.org/markup-compatibility/2006" xmlns:a14="http://schemas.microsoft.com/office/drawing/2010/main">
        <mc:Choice Requires="a14">
          <p:sp>
            <p:nvSpPr>
              <p:cNvPr id="69" name="矩形 68"/>
              <p:cNvSpPr/>
              <p:nvPr/>
            </p:nvSpPr>
            <p:spPr>
              <a:xfrm>
                <a:off x="3248328" y="2655946"/>
                <a:ext cx="1821819" cy="584775"/>
              </a:xfrm>
              <a:prstGeom prst="rect">
                <a:avLst/>
              </a:prstGeom>
            </p:spPr>
            <p:txBody>
              <a:bodyPr wrap="square">
                <a:spAutoFit/>
              </a:bodyPr>
              <a:lstStyle/>
              <a:p>
                <a:pPr marL="342900" indent="-342900" eaLnBrk="1" hangingPunct="1">
                  <a:buFont typeface="Arial" panose="020B0604020202020204" pitchFamily="34" charset="0"/>
                  <a:buChar char="•"/>
                </a:pPr>
                <a14:m>
                  <m:oMath xmlns:m="http://schemas.openxmlformats.org/officeDocument/2006/math">
                    <m:r>
                      <a:rPr lang="en-US" altLang="zh-CN" sz="1600" b="0" i="1" dirty="0" smtClean="0">
                        <a:latin typeface="Cambria Math" panose="02040503050406030204" pitchFamily="18" charset="0"/>
                        <a:ea typeface="微软雅黑" panose="020B0503020204020204" pitchFamily="34" charset="-122"/>
                      </a:rPr>
                      <m:t>𝑀𝐶</m:t>
                    </m:r>
                  </m:oMath>
                </a14:m>
                <a:r>
                  <a:rPr lang="zh-CN" altLang="en-US" sz="1600" b="0" dirty="0">
                    <a:latin typeface="微软雅黑" panose="020B0503020204020204" pitchFamily="34" charset="-122"/>
                    <a:ea typeface="微软雅黑" panose="020B0503020204020204" pitchFamily="34" charset="-122"/>
                  </a:rPr>
                  <a:t>处于下降阶段</a:t>
                </a:r>
                <a:endParaRPr lang="en-US" altLang="zh-CN" sz="1600" b="0" dirty="0">
                  <a:latin typeface="微软雅黑" panose="020B0503020204020204" pitchFamily="34" charset="-122"/>
                  <a:ea typeface="微软雅黑" panose="020B0503020204020204" pitchFamily="34" charset="-122"/>
                </a:endParaRPr>
              </a:p>
            </p:txBody>
          </p:sp>
        </mc:Choice>
        <mc:Fallback xmlns="">
          <p:sp>
            <p:nvSpPr>
              <p:cNvPr id="69" name="矩形 68"/>
              <p:cNvSpPr>
                <a:spLocks noRot="1" noChangeAspect="1" noMove="1" noResize="1" noEditPoints="1" noAdjustHandles="1" noChangeArrowheads="1" noChangeShapeType="1" noTextEdit="1"/>
              </p:cNvSpPr>
              <p:nvPr/>
            </p:nvSpPr>
            <p:spPr>
              <a:xfrm>
                <a:off x="3248328" y="2655946"/>
                <a:ext cx="1821819" cy="584775"/>
              </a:xfrm>
              <a:prstGeom prst="rect">
                <a:avLst/>
              </a:prstGeom>
              <a:blipFill>
                <a:blip r:embed="rId5"/>
                <a:stretch>
                  <a:fillRect l="-1338" t="-3125" b="-12500"/>
                </a:stretch>
              </a:blipFill>
            </p:spPr>
            <p:txBody>
              <a:bodyPr/>
              <a:lstStyle/>
              <a:p>
                <a:r>
                  <a:rPr lang="zh-CN" altLang="en-US">
                    <a:noFill/>
                  </a:rPr>
                  <a:t> </a:t>
                </a:r>
              </a:p>
            </p:txBody>
          </p:sp>
        </mc:Fallback>
      </mc:AlternateContent>
      <p:cxnSp>
        <p:nvCxnSpPr>
          <p:cNvPr id="70" name="直接箭头连接符 69"/>
          <p:cNvCxnSpPr>
            <a:cxnSpLocks/>
            <a:stCxn id="69" idx="2"/>
          </p:cNvCxnSpPr>
          <p:nvPr/>
        </p:nvCxnSpPr>
        <p:spPr bwMode="auto">
          <a:xfrm flipH="1">
            <a:off x="3827366" y="3286451"/>
            <a:ext cx="331872" cy="73056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71" name="矩形 70"/>
              <p:cNvSpPr/>
              <p:nvPr/>
            </p:nvSpPr>
            <p:spPr>
              <a:xfrm>
                <a:off x="4833365" y="2140599"/>
                <a:ext cx="1821819" cy="584775"/>
              </a:xfrm>
              <a:prstGeom prst="rect">
                <a:avLst/>
              </a:prstGeom>
            </p:spPr>
            <p:txBody>
              <a:bodyPr wrap="square">
                <a:spAutoFit/>
              </a:bodyPr>
              <a:lstStyle/>
              <a:p>
                <a:pPr marL="342900" indent="-342900" eaLnBrk="1" hangingPunct="1">
                  <a:buFont typeface="Arial" panose="020B0604020202020204" pitchFamily="34" charset="0"/>
                  <a:buChar char="•"/>
                </a:pPr>
                <a14:m>
                  <m:oMath xmlns:m="http://schemas.openxmlformats.org/officeDocument/2006/math">
                    <m:r>
                      <a:rPr lang="en-US" altLang="zh-CN" sz="1600" b="0" i="1" dirty="0" smtClean="0">
                        <a:latin typeface="Cambria Math" panose="02040503050406030204" pitchFamily="18" charset="0"/>
                        <a:ea typeface="微软雅黑" panose="020B0503020204020204" pitchFamily="34" charset="-122"/>
                      </a:rPr>
                      <m:t>𝑀𝐶</m:t>
                    </m:r>
                  </m:oMath>
                </a14:m>
                <a:r>
                  <a:rPr lang="zh-CN" altLang="en-US" sz="1600" b="0" dirty="0">
                    <a:latin typeface="微软雅黑" panose="020B0503020204020204" pitchFamily="34" charset="-122"/>
                    <a:ea typeface="微软雅黑" panose="020B0503020204020204" pitchFamily="34" charset="-122"/>
                  </a:rPr>
                  <a:t>处于</a:t>
                </a:r>
                <a:r>
                  <a:rPr lang="zh-CN" altLang="en-US" sz="1600" dirty="0">
                    <a:latin typeface="微软雅黑" panose="020B0503020204020204" pitchFamily="34" charset="-122"/>
                    <a:ea typeface="微软雅黑" panose="020B0503020204020204" pitchFamily="34" charset="-122"/>
                  </a:rPr>
                  <a:t>上升</a:t>
                </a:r>
                <a:r>
                  <a:rPr lang="zh-CN" altLang="en-US" sz="1600" b="0" dirty="0">
                    <a:latin typeface="微软雅黑" panose="020B0503020204020204" pitchFamily="34" charset="-122"/>
                    <a:ea typeface="微软雅黑" panose="020B0503020204020204" pitchFamily="34" charset="-122"/>
                  </a:rPr>
                  <a:t>阶段</a:t>
                </a:r>
                <a:endParaRPr lang="en-US" altLang="zh-CN" sz="1600" b="0" dirty="0">
                  <a:latin typeface="微软雅黑" panose="020B0503020204020204" pitchFamily="34" charset="-122"/>
                  <a:ea typeface="微软雅黑" panose="020B0503020204020204" pitchFamily="34" charset="-122"/>
                </a:endParaRPr>
              </a:p>
            </p:txBody>
          </p:sp>
        </mc:Choice>
        <mc:Fallback xmlns="">
          <p:sp>
            <p:nvSpPr>
              <p:cNvPr id="71" name="矩形 70"/>
              <p:cNvSpPr>
                <a:spLocks noRot="1" noChangeAspect="1" noMove="1" noResize="1" noEditPoints="1" noAdjustHandles="1" noChangeArrowheads="1" noChangeShapeType="1" noTextEdit="1"/>
              </p:cNvSpPr>
              <p:nvPr/>
            </p:nvSpPr>
            <p:spPr>
              <a:xfrm>
                <a:off x="4833365" y="2140599"/>
                <a:ext cx="1821819" cy="584775"/>
              </a:xfrm>
              <a:prstGeom prst="rect">
                <a:avLst/>
              </a:prstGeom>
              <a:blipFill>
                <a:blip r:embed="rId6"/>
                <a:stretch>
                  <a:fillRect l="-1338" t="-3125" b="-12500"/>
                </a:stretch>
              </a:blipFill>
            </p:spPr>
            <p:txBody>
              <a:bodyPr/>
              <a:lstStyle/>
              <a:p>
                <a:r>
                  <a:rPr lang="zh-CN" altLang="en-US">
                    <a:noFill/>
                  </a:rPr>
                  <a:t> </a:t>
                </a:r>
              </a:p>
            </p:txBody>
          </p:sp>
        </mc:Fallback>
      </mc:AlternateContent>
      <p:cxnSp>
        <p:nvCxnSpPr>
          <p:cNvPr id="72" name="直接箭头连接符 71"/>
          <p:cNvCxnSpPr/>
          <p:nvPr/>
        </p:nvCxnSpPr>
        <p:spPr bwMode="auto">
          <a:xfrm>
            <a:off x="5421879" y="2664957"/>
            <a:ext cx="463455" cy="984497"/>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圆角矩形标注 25"/>
          <p:cNvSpPr>
            <a:spLocks noChangeArrowheads="1"/>
          </p:cNvSpPr>
          <p:nvPr/>
        </p:nvSpPr>
        <p:spPr bwMode="auto">
          <a:xfrm>
            <a:off x="227020" y="2192147"/>
            <a:ext cx="2214485" cy="3696429"/>
          </a:xfrm>
          <a:prstGeom prst="wedgeRoundRectCallout">
            <a:avLst>
              <a:gd name="adj1" fmla="val 88161"/>
              <a:gd name="adj2" fmla="val 48154"/>
              <a:gd name="adj3" fmla="val 16667"/>
            </a:avLst>
          </a:prstGeom>
          <a:noFill/>
          <a:ln w="28575" cap="flat" cmpd="sng">
            <a:solidFill>
              <a:schemeClr val="accent3">
                <a:lumMod val="50000"/>
              </a:schemeClr>
            </a:solidFill>
            <a:miter lim="800000"/>
            <a:headEnd/>
            <a:tailEnd/>
          </a:ln>
        </p:spPr>
        <p:txBody>
          <a:bodyPr anchor="ctr"/>
          <a:lstStyle/>
          <a:p>
            <a:pPr algn="ctr">
              <a:lnSpc>
                <a:spcPct val="150000"/>
              </a:lnSpc>
            </a:pPr>
            <a:r>
              <a:rPr lang="zh-CN" altLang="en-US" sz="1600" dirty="0">
                <a:latin typeface="微软雅黑" panose="020B0503020204020204" pitchFamily="34" charset="-122"/>
                <a:ea typeface="微软雅黑" panose="020B0503020204020204" pitchFamily="34" charset="-122"/>
              </a:rPr>
              <a:t>产量比</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600" baseline="-250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B</a:t>
            </a:r>
            <a:r>
              <a:rPr lang="zh-CN" altLang="en-US" sz="1600" dirty="0">
                <a:latin typeface="微软雅黑" panose="020B0503020204020204" pitchFamily="34" charset="-122"/>
                <a:ea typeface="微软雅黑" panose="020B0503020204020204" pitchFamily="34" charset="-122"/>
              </a:rPr>
              <a:t>略小时</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MC</a:t>
            </a:r>
            <a:r>
              <a:rPr lang="zh-CN" altLang="en-US" sz="1600" dirty="0">
                <a:latin typeface="微软雅黑" panose="020B0503020204020204" pitchFamily="34" charset="-122"/>
                <a:ea typeface="微软雅黑" panose="020B0503020204020204" pitchFamily="34" charset="-122"/>
              </a:rPr>
              <a:t>大于</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MR, </a:t>
            </a:r>
            <a:r>
              <a:rPr lang="zh-CN" altLang="en-US" sz="1600" dirty="0">
                <a:latin typeface="微软雅黑" panose="020B0503020204020204" pitchFamily="34" charset="-122"/>
                <a:ea typeface="微软雅黑" panose="020B0503020204020204" pitchFamily="34" charset="-122"/>
              </a:rPr>
              <a:t>与略小的产量相比</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Q</a:t>
            </a:r>
            <a:r>
              <a:rPr lang="en-US" altLang="zh-CN" sz="1600" baseline="-250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B</a:t>
            </a:r>
            <a:r>
              <a:rPr lang="zh-CN" altLang="en-US" sz="1600" dirty="0">
                <a:latin typeface="微软雅黑" panose="020B0503020204020204" pitchFamily="34" charset="-122"/>
                <a:ea typeface="微软雅黑" panose="020B0503020204020204" pitchFamily="34" charset="-122"/>
              </a:rPr>
              <a:t>处的利润要更小一些。 产量比</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600" baseline="-250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B</a:t>
            </a:r>
            <a:r>
              <a:rPr lang="zh-CN" altLang="en-US" sz="1600" dirty="0">
                <a:latin typeface="微软雅黑" panose="020B0503020204020204" pitchFamily="34" charset="-122"/>
                <a:ea typeface="微软雅黑" panose="020B0503020204020204" pitchFamily="34" charset="-122"/>
              </a:rPr>
              <a:t>略大时</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MR</a:t>
            </a:r>
            <a:r>
              <a:rPr lang="zh-CN" altLang="en-US" sz="1600" dirty="0">
                <a:latin typeface="微软雅黑" panose="020B0503020204020204" pitchFamily="34" charset="-122"/>
                <a:ea typeface="微软雅黑" panose="020B0503020204020204" pitchFamily="34" charset="-122"/>
              </a:rPr>
              <a:t>大于</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MC, </a:t>
            </a:r>
            <a:r>
              <a:rPr lang="zh-CN" altLang="en-US" sz="1600" dirty="0">
                <a:latin typeface="微软雅黑" panose="020B0503020204020204" pitchFamily="34" charset="-122"/>
                <a:ea typeface="微软雅黑" panose="020B0503020204020204" pitchFamily="34" charset="-122"/>
              </a:rPr>
              <a:t>与略大的产量相比</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Q</a:t>
            </a:r>
            <a:r>
              <a:rPr lang="en-US" altLang="zh-CN" sz="1600" baseline="-250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B</a:t>
            </a:r>
            <a:r>
              <a:rPr lang="zh-CN" altLang="en-US" sz="1600" dirty="0">
                <a:latin typeface="微软雅黑" panose="020B0503020204020204" pitchFamily="34" charset="-122"/>
                <a:ea typeface="微软雅黑" panose="020B0503020204020204" pitchFamily="34" charset="-122"/>
              </a:rPr>
              <a:t>处的利润也更小一些。</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600" baseline="-250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B</a:t>
            </a:r>
            <a:r>
              <a:rPr lang="zh-CN" altLang="en-US" sz="1600" dirty="0">
                <a:latin typeface="微软雅黑" panose="020B0503020204020204" pitchFamily="34" charset="-122"/>
                <a:ea typeface="微软雅黑" panose="020B0503020204020204" pitchFamily="34" charset="-122"/>
              </a:rPr>
              <a:t>是利润最小化的产量</a:t>
            </a:r>
            <a:endParaRPr lang="zh-CN" altLang="en-US" dirty="0">
              <a:latin typeface="微软雅黑" panose="020B0503020204020204" pitchFamily="34" charset="-122"/>
              <a:ea typeface="微软雅黑" panose="020B0503020204020204" pitchFamily="34" charset="-122"/>
            </a:endParaRPr>
          </a:p>
        </p:txBody>
      </p:sp>
      <p:sp>
        <p:nvSpPr>
          <p:cNvPr id="74" name="圆角矩形标注 26"/>
          <p:cNvSpPr>
            <a:spLocks noChangeArrowheads="1"/>
          </p:cNvSpPr>
          <p:nvPr/>
        </p:nvSpPr>
        <p:spPr bwMode="auto">
          <a:xfrm>
            <a:off x="6806470" y="2192147"/>
            <a:ext cx="2214485" cy="3649742"/>
          </a:xfrm>
          <a:prstGeom prst="wedgeRoundRectCallout">
            <a:avLst>
              <a:gd name="adj1" fmla="val -83247"/>
              <a:gd name="adj2" fmla="val 49854"/>
              <a:gd name="adj3" fmla="val 16667"/>
            </a:avLst>
          </a:prstGeom>
          <a:noFill/>
          <a:ln w="28575" cap="flat" cmpd="sng">
            <a:solidFill>
              <a:schemeClr val="accent3">
                <a:lumMod val="50000"/>
              </a:schemeClr>
            </a:solidFill>
            <a:miter lim="800000"/>
            <a:headEnd/>
            <a:tailEnd/>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lvl="1" algn="ctr">
              <a:lnSpc>
                <a:spcPct val="150000"/>
              </a:lnSpc>
            </a:pPr>
            <a:r>
              <a:rPr lang="zh-CN" altLang="en-US" sz="1600" dirty="0">
                <a:latin typeface="微软雅黑" panose="020B0503020204020204" pitchFamily="34" charset="-122"/>
                <a:ea typeface="微软雅黑" panose="020B0503020204020204" pitchFamily="34" charset="-122"/>
              </a:rPr>
              <a:t>产量比</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600" baseline="-250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a:t>
            </a:r>
            <a:r>
              <a:rPr lang="zh-CN" altLang="en-US" sz="1600" dirty="0">
                <a:latin typeface="微软雅黑" panose="020B0503020204020204" pitchFamily="34" charset="-122"/>
                <a:ea typeface="微软雅黑" panose="020B0503020204020204" pitchFamily="34" charset="-122"/>
              </a:rPr>
              <a:t>略小时</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MR</a:t>
            </a:r>
            <a:r>
              <a:rPr lang="zh-CN" altLang="en-US" sz="1600" dirty="0">
                <a:latin typeface="微软雅黑" panose="020B0503020204020204" pitchFamily="34" charset="-122"/>
                <a:ea typeface="微软雅黑" panose="020B0503020204020204" pitchFamily="34" charset="-122"/>
              </a:rPr>
              <a:t>大于</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MC, </a:t>
            </a:r>
            <a:r>
              <a:rPr lang="zh-CN" altLang="en-US" sz="1600" dirty="0">
                <a:latin typeface="微软雅黑" panose="020B0503020204020204" pitchFamily="34" charset="-122"/>
                <a:ea typeface="微软雅黑" panose="020B0503020204020204" pitchFamily="34" charset="-122"/>
              </a:rPr>
              <a:t>与略小的产量相比</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Q</a:t>
            </a:r>
            <a:r>
              <a:rPr lang="en-US" altLang="zh-CN" sz="1600" baseline="-250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a:t>
            </a:r>
            <a:r>
              <a:rPr lang="zh-CN" altLang="en-US" sz="1600" dirty="0">
                <a:latin typeface="微软雅黑" panose="020B0503020204020204" pitchFamily="34" charset="-122"/>
                <a:ea typeface="微软雅黑" panose="020B0503020204020204" pitchFamily="34" charset="-122"/>
              </a:rPr>
              <a:t>处的利润要更大一些。产量比</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600" baseline="-250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a:t>
            </a:r>
            <a:r>
              <a:rPr lang="zh-CN" altLang="en-US" sz="1600" dirty="0">
                <a:latin typeface="微软雅黑" panose="020B0503020204020204" pitchFamily="34" charset="-122"/>
                <a:ea typeface="微软雅黑" panose="020B0503020204020204" pitchFamily="34" charset="-122"/>
              </a:rPr>
              <a:t>略大时</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MC</a:t>
            </a:r>
            <a:r>
              <a:rPr lang="zh-CN" altLang="en-US" sz="1600" dirty="0">
                <a:latin typeface="微软雅黑" panose="020B0503020204020204" pitchFamily="34" charset="-122"/>
                <a:ea typeface="微软雅黑" panose="020B0503020204020204" pitchFamily="34" charset="-122"/>
              </a:rPr>
              <a:t>大于</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MR, </a:t>
            </a:r>
            <a:r>
              <a:rPr lang="zh-CN" altLang="en-US" sz="1600" dirty="0">
                <a:latin typeface="微软雅黑" panose="020B0503020204020204" pitchFamily="34" charset="-122"/>
                <a:ea typeface="微软雅黑" panose="020B0503020204020204" pitchFamily="34" charset="-122"/>
              </a:rPr>
              <a:t>与略大的产量相比</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Q</a:t>
            </a:r>
            <a:r>
              <a:rPr lang="en-US" altLang="zh-CN" sz="1600" baseline="-250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a:t>
            </a:r>
            <a:r>
              <a:rPr lang="zh-CN" altLang="en-US" sz="1600" dirty="0">
                <a:latin typeface="微软雅黑" panose="020B0503020204020204" pitchFamily="34" charset="-122"/>
                <a:ea typeface="微软雅黑" panose="020B0503020204020204" pitchFamily="34" charset="-122"/>
              </a:rPr>
              <a:t>处的利润也更大一些。</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600" baseline="-250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a:t>
            </a:r>
            <a:r>
              <a:rPr lang="zh-CN" altLang="en-US" sz="1600" dirty="0">
                <a:latin typeface="微软雅黑" panose="020B0503020204020204" pitchFamily="34" charset="-122"/>
                <a:ea typeface="微软雅黑" panose="020B0503020204020204" pitchFamily="34" charset="-122"/>
              </a:rPr>
              <a:t>是利润最大化的产量。</a:t>
            </a:r>
            <a:endPar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2" name="标注: 线形 1">
            <a:extLst>
              <a:ext uri="{FF2B5EF4-FFF2-40B4-BE49-F238E27FC236}">
                <a16:creationId xmlns:a16="http://schemas.microsoft.com/office/drawing/2014/main" id="{69450A4A-4608-464A-A55E-1F64DF267154}"/>
              </a:ext>
            </a:extLst>
          </p:cNvPr>
          <p:cNvSpPr/>
          <p:nvPr/>
        </p:nvSpPr>
        <p:spPr bwMode="auto">
          <a:xfrm>
            <a:off x="6806469" y="980830"/>
            <a:ext cx="1437785" cy="612648"/>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边际分析法</a:t>
            </a:r>
          </a:p>
        </p:txBody>
      </p:sp>
    </p:spTree>
    <p:extLst>
      <p:ext uri="{BB962C8B-B14F-4D97-AF65-F5344CB8AC3E}">
        <p14:creationId xmlns:p14="http://schemas.microsoft.com/office/powerpoint/2010/main" val="250074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randombar(horizontal)">
                                      <p:cBhvr>
                                        <p:cTn id="12" dur="500"/>
                                        <p:tgtEl>
                                          <p:spTgt spid="45"/>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wipe(down)">
                                      <p:cBhvr>
                                        <p:cTn id="15" dur="500"/>
                                        <p:tgtEl>
                                          <p:spTgt spid="4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wipe(left)">
                                      <p:cBhvr>
                                        <p:cTn id="18" dur="500"/>
                                        <p:tgtEl>
                                          <p:spTgt spid="43"/>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randombar(horizontal)">
                                      <p:cBhvr>
                                        <p:cTn id="21" dur="500"/>
                                        <p:tgtEl>
                                          <p:spTgt spid="44"/>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randombar(horizontal)">
                                      <p:cBhvr>
                                        <p:cTn id="24" dur="500"/>
                                        <p:tgtEl>
                                          <p:spTgt spid="46"/>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randombar(horizontal)">
                                      <p:cBhvr>
                                        <p:cTn id="29" dur="500"/>
                                        <p:tgtEl>
                                          <p:spTgt spid="28"/>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randombar(horizontal)">
                                      <p:cBhvr>
                                        <p:cTn id="32" dur="500"/>
                                        <p:tgtEl>
                                          <p:spTgt spid="29"/>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randombar(horizontal)">
                                      <p:cBhvr>
                                        <p:cTn id="35" dur="500"/>
                                        <p:tgtEl>
                                          <p:spTgt spid="30"/>
                                        </p:tgtEl>
                                      </p:cBhvr>
                                    </p:animEffect>
                                  </p:childTnLst>
                                </p:cTn>
                              </p:par>
                            </p:childTnLst>
                          </p:cTn>
                        </p:par>
                        <p:par>
                          <p:cTn id="36" fill="hold">
                            <p:stCondLst>
                              <p:cond delay="500"/>
                            </p:stCondLst>
                            <p:childTnLst>
                              <p:par>
                                <p:cTn id="37" presetID="22" presetClass="entr" presetSubtype="4" fill="hold" grpId="0" nodeType="after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wipe(down)">
                                      <p:cBhvr>
                                        <p:cTn id="39" dur="500"/>
                                        <p:tgtEl>
                                          <p:spTgt spid="34"/>
                                        </p:tgtEl>
                                      </p:cBhvr>
                                    </p:animEffect>
                                  </p:childTnLst>
                                </p:cTn>
                              </p:par>
                            </p:childTnLst>
                          </p:cTn>
                        </p:par>
                        <p:par>
                          <p:cTn id="40" fill="hold">
                            <p:stCondLst>
                              <p:cond delay="1000"/>
                            </p:stCondLst>
                            <p:childTnLst>
                              <p:par>
                                <p:cTn id="41" presetID="22" presetClass="entr" presetSubtype="4" fill="hold" grpId="0"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down)">
                                      <p:cBhvr>
                                        <p:cTn id="43" dur="500"/>
                                        <p:tgtEl>
                                          <p:spTgt spid="35"/>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5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randombar(horizontal)">
                                      <p:cBhvr>
                                        <p:cTn id="52" dur="500"/>
                                        <p:tgtEl>
                                          <p:spTgt spid="37"/>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randombar(horizontal)">
                                      <p:cBhvr>
                                        <p:cTn id="55" dur="500"/>
                                        <p:tgtEl>
                                          <p:spTgt spid="3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ipe(left)">
                                      <p:cBhvr>
                                        <p:cTn id="60" dur="500"/>
                                        <p:tgtEl>
                                          <p:spTgt spid="36"/>
                                        </p:tgtEl>
                                      </p:cBhvr>
                                    </p:animEffect>
                                  </p:childTnLst>
                                </p:cTn>
                              </p:par>
                            </p:childTnLst>
                          </p:cTn>
                        </p:par>
                        <p:par>
                          <p:cTn id="61" fill="hold">
                            <p:stCondLst>
                              <p:cond delay="500"/>
                            </p:stCondLst>
                            <p:childTnLst>
                              <p:par>
                                <p:cTn id="62" presetID="14" presetClass="entr" presetSubtype="10" fill="hold" grpId="0" nodeType="after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randombar(horizontal)">
                                      <p:cBhvr>
                                        <p:cTn id="64" dur="500"/>
                                        <p:tgtEl>
                                          <p:spTgt spid="39"/>
                                        </p:tgtEl>
                                      </p:cBhvr>
                                    </p:animEffect>
                                  </p:childTnLst>
                                </p:cTn>
                              </p:par>
                            </p:childTnLst>
                          </p:cTn>
                        </p:par>
                        <p:par>
                          <p:cTn id="65" fill="hold">
                            <p:stCondLst>
                              <p:cond delay="1000"/>
                            </p:stCondLst>
                            <p:childTnLst>
                              <p:par>
                                <p:cTn id="66" presetID="14" presetClass="entr" presetSubtype="10" fill="hold" grpId="0" nodeType="after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randombar(horizontal)">
                                      <p:cBhvr>
                                        <p:cTn id="68" dur="500"/>
                                        <p:tgtEl>
                                          <p:spTgt spid="33"/>
                                        </p:tgtEl>
                                      </p:cBhvr>
                                    </p:animEffec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grpId="0" nodeType="clickEffect">
                                  <p:stCondLst>
                                    <p:cond delay="0"/>
                                  </p:stCondLst>
                                  <p:childTnLst>
                                    <p:set>
                                      <p:cBhvr>
                                        <p:cTn id="72" dur="1" fill="hold">
                                          <p:stCondLst>
                                            <p:cond delay="0"/>
                                          </p:stCondLst>
                                        </p:cTn>
                                        <p:tgtEl>
                                          <p:spTgt spid="69"/>
                                        </p:tgtEl>
                                        <p:attrNameLst>
                                          <p:attrName>style.visibility</p:attrName>
                                        </p:attrNameLst>
                                      </p:cBhvr>
                                      <p:to>
                                        <p:strVal val="visible"/>
                                      </p:to>
                                    </p:set>
                                    <p:animEffect transition="in" filter="randombar(horizontal)">
                                      <p:cBhvr>
                                        <p:cTn id="73" dur="500"/>
                                        <p:tgtEl>
                                          <p:spTgt spid="69"/>
                                        </p:tgtEl>
                                      </p:cBhvr>
                                    </p:animEffect>
                                  </p:childTnLst>
                                </p:cTn>
                              </p:par>
                              <p:par>
                                <p:cTn id="74" presetID="22" presetClass="entr" presetSubtype="1" fill="hold" nodeType="withEffect">
                                  <p:stCondLst>
                                    <p:cond delay="0"/>
                                  </p:stCondLst>
                                  <p:childTnLst>
                                    <p:set>
                                      <p:cBhvr>
                                        <p:cTn id="75" dur="1" fill="hold">
                                          <p:stCondLst>
                                            <p:cond delay="0"/>
                                          </p:stCondLst>
                                        </p:cTn>
                                        <p:tgtEl>
                                          <p:spTgt spid="70"/>
                                        </p:tgtEl>
                                        <p:attrNameLst>
                                          <p:attrName>style.visibility</p:attrName>
                                        </p:attrNameLst>
                                      </p:cBhvr>
                                      <p:to>
                                        <p:strVal val="visible"/>
                                      </p:to>
                                    </p:set>
                                    <p:animEffect transition="in" filter="wipe(up)">
                                      <p:cBhvr>
                                        <p:cTn id="76" dur="500"/>
                                        <p:tgtEl>
                                          <p:spTgt spid="70"/>
                                        </p:tgtEl>
                                      </p:cBhvr>
                                    </p:animEffect>
                                  </p:childTnLst>
                                </p:cTn>
                              </p:par>
                            </p:childTnLst>
                          </p:cTn>
                        </p:par>
                      </p:childTnLst>
                    </p:cTn>
                  </p:par>
                  <p:par>
                    <p:cTn id="77" fill="hold">
                      <p:stCondLst>
                        <p:cond delay="indefinite"/>
                      </p:stCondLst>
                      <p:childTnLst>
                        <p:par>
                          <p:cTn id="78" fill="hold">
                            <p:stCondLst>
                              <p:cond delay="0"/>
                            </p:stCondLst>
                            <p:childTnLst>
                              <p:par>
                                <p:cTn id="79" presetID="14" presetClass="entr" presetSubtype="10" fill="hold" grpId="0" nodeType="clickEffect">
                                  <p:stCondLst>
                                    <p:cond delay="0"/>
                                  </p:stCondLst>
                                  <p:childTnLst>
                                    <p:set>
                                      <p:cBhvr>
                                        <p:cTn id="80" dur="1" fill="hold">
                                          <p:stCondLst>
                                            <p:cond delay="0"/>
                                          </p:stCondLst>
                                        </p:cTn>
                                        <p:tgtEl>
                                          <p:spTgt spid="71"/>
                                        </p:tgtEl>
                                        <p:attrNameLst>
                                          <p:attrName>style.visibility</p:attrName>
                                        </p:attrNameLst>
                                      </p:cBhvr>
                                      <p:to>
                                        <p:strVal val="visible"/>
                                      </p:to>
                                    </p:set>
                                    <p:animEffect transition="in" filter="randombar(horizontal)">
                                      <p:cBhvr>
                                        <p:cTn id="81" dur="500"/>
                                        <p:tgtEl>
                                          <p:spTgt spid="71"/>
                                        </p:tgtEl>
                                      </p:cBhvr>
                                    </p:animEffect>
                                  </p:childTnLst>
                                </p:cTn>
                              </p:par>
                              <p:par>
                                <p:cTn id="82" presetID="22" presetClass="entr" presetSubtype="1" fill="hold" nodeType="withEffect">
                                  <p:stCondLst>
                                    <p:cond delay="0"/>
                                  </p:stCondLst>
                                  <p:childTnLst>
                                    <p:set>
                                      <p:cBhvr>
                                        <p:cTn id="83" dur="1" fill="hold">
                                          <p:stCondLst>
                                            <p:cond delay="0"/>
                                          </p:stCondLst>
                                        </p:cTn>
                                        <p:tgtEl>
                                          <p:spTgt spid="72"/>
                                        </p:tgtEl>
                                        <p:attrNameLst>
                                          <p:attrName>style.visibility</p:attrName>
                                        </p:attrNameLst>
                                      </p:cBhvr>
                                      <p:to>
                                        <p:strVal val="visible"/>
                                      </p:to>
                                    </p:set>
                                    <p:animEffect transition="in" filter="wipe(up)">
                                      <p:cBhvr>
                                        <p:cTn id="84" dur="500"/>
                                        <p:tgtEl>
                                          <p:spTgt spid="72"/>
                                        </p:tgtEl>
                                      </p:cBhvr>
                                    </p:animEffect>
                                  </p:childTnLst>
                                </p:cTn>
                              </p:par>
                            </p:childTnLst>
                          </p:cTn>
                        </p:par>
                      </p:childTnLst>
                    </p:cTn>
                  </p:par>
                  <p:par>
                    <p:cTn id="85" fill="hold">
                      <p:stCondLst>
                        <p:cond delay="indefinite"/>
                      </p:stCondLst>
                      <p:childTnLst>
                        <p:par>
                          <p:cTn id="86" fill="hold">
                            <p:stCondLst>
                              <p:cond delay="0"/>
                            </p:stCondLst>
                            <p:childTnLst>
                              <p:par>
                                <p:cTn id="87" presetID="14" presetClass="entr" presetSubtype="10" fill="hold" grpId="0" nodeType="clickEffect">
                                  <p:stCondLst>
                                    <p:cond delay="0"/>
                                  </p:stCondLst>
                                  <p:childTnLst>
                                    <p:set>
                                      <p:cBhvr>
                                        <p:cTn id="88" dur="1" fill="hold">
                                          <p:stCondLst>
                                            <p:cond delay="0"/>
                                          </p:stCondLst>
                                        </p:cTn>
                                        <p:tgtEl>
                                          <p:spTgt spid="73"/>
                                        </p:tgtEl>
                                        <p:attrNameLst>
                                          <p:attrName>style.visibility</p:attrName>
                                        </p:attrNameLst>
                                      </p:cBhvr>
                                      <p:to>
                                        <p:strVal val="visible"/>
                                      </p:to>
                                    </p:set>
                                    <p:animEffect transition="in" filter="randombar(horizontal)">
                                      <p:cBhvr>
                                        <p:cTn id="89" dur="500"/>
                                        <p:tgtEl>
                                          <p:spTgt spid="73"/>
                                        </p:tgtEl>
                                      </p:cBhvr>
                                    </p:animEffect>
                                  </p:childTnLst>
                                </p:cTn>
                              </p:par>
                            </p:childTnLst>
                          </p:cTn>
                        </p:par>
                      </p:childTnLst>
                    </p:cTn>
                  </p:par>
                  <p:par>
                    <p:cTn id="90" fill="hold">
                      <p:stCondLst>
                        <p:cond delay="indefinite"/>
                      </p:stCondLst>
                      <p:childTnLst>
                        <p:par>
                          <p:cTn id="91" fill="hold">
                            <p:stCondLst>
                              <p:cond delay="0"/>
                            </p:stCondLst>
                            <p:childTnLst>
                              <p:par>
                                <p:cTn id="92" presetID="14" presetClass="entr" presetSubtype="10" fill="hold" grpId="0" nodeType="clickEffect">
                                  <p:stCondLst>
                                    <p:cond delay="0"/>
                                  </p:stCondLst>
                                  <p:childTnLst>
                                    <p:set>
                                      <p:cBhvr>
                                        <p:cTn id="93" dur="1" fill="hold">
                                          <p:stCondLst>
                                            <p:cond delay="0"/>
                                          </p:stCondLst>
                                        </p:cTn>
                                        <p:tgtEl>
                                          <p:spTgt spid="74"/>
                                        </p:tgtEl>
                                        <p:attrNameLst>
                                          <p:attrName>style.visibility</p:attrName>
                                        </p:attrNameLst>
                                      </p:cBhvr>
                                      <p:to>
                                        <p:strVal val="visible"/>
                                      </p:to>
                                    </p:set>
                                    <p:animEffect transition="in" filter="randombar(horizontal)">
                                      <p:cBhvr>
                                        <p:cTn id="94"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42" grpId="0" animBg="1"/>
      <p:bldP spid="43" grpId="0" animBg="1"/>
      <p:bldP spid="44" grpId="0"/>
      <p:bldP spid="45" grpId="0"/>
      <p:bldP spid="46" grpId="0"/>
      <p:bldP spid="32" grpId="0" animBg="1"/>
      <p:bldP spid="33" grpId="0"/>
      <p:bldP spid="34" grpId="0" animBg="1"/>
      <p:bldP spid="35" grpId="0" animBg="1"/>
      <p:bldP spid="36" grpId="0" animBg="1"/>
      <p:bldP spid="37" grpId="0"/>
      <p:bldP spid="38" grpId="0"/>
      <p:bldP spid="39" grpId="0"/>
      <p:bldP spid="69" grpId="0"/>
      <p:bldP spid="71" grpId="0"/>
      <p:bldP spid="73" grpId="0" animBg="1"/>
      <p:bldP spid="7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410445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一、利润最大化产量的决定</a:t>
            </a:r>
          </a:p>
        </p:txBody>
      </p:sp>
      <p:sp>
        <p:nvSpPr>
          <p:cNvPr id="15" name="矩形 14">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5" name="组合 4">
            <a:extLst>
              <a:ext uri="{FF2B5EF4-FFF2-40B4-BE49-F238E27FC236}">
                <a16:creationId xmlns:a16="http://schemas.microsoft.com/office/drawing/2014/main" id="{627AE83D-F3D9-4FE1-841C-38AA09ECDF1C}"/>
              </a:ext>
            </a:extLst>
          </p:cNvPr>
          <p:cNvGrpSpPr/>
          <p:nvPr/>
        </p:nvGrpSpPr>
        <p:grpSpPr>
          <a:xfrm>
            <a:off x="467544" y="1404262"/>
            <a:ext cx="4104456" cy="514350"/>
            <a:chOff x="467544" y="2826109"/>
            <a:chExt cx="2808366"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826109"/>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利润既非最大亦非最小的情况</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22733" y="2862547"/>
              <a:ext cx="127000"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sp>
        <p:nvSpPr>
          <p:cNvPr id="41" name="矩形标注 31"/>
          <p:cNvSpPr>
            <a:spLocks noChangeArrowheads="1"/>
          </p:cNvSpPr>
          <p:nvPr/>
        </p:nvSpPr>
        <p:spPr bwMode="auto">
          <a:xfrm>
            <a:off x="6606091" y="3356995"/>
            <a:ext cx="2069673" cy="2139322"/>
          </a:xfrm>
          <a:prstGeom prst="wedgeRoundRectCallout">
            <a:avLst>
              <a:gd name="adj1" fmla="val -159584"/>
              <a:gd name="adj2" fmla="val 52268"/>
              <a:gd name="adj3" fmla="val 16667"/>
            </a:avLst>
          </a:prstGeom>
          <a:noFill/>
          <a:ln w="28575">
            <a:solidFill>
              <a:schemeClr val="accent3">
                <a:lumMod val="50000"/>
              </a:schemeClr>
            </a:solidFill>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dirty="0">
                <a:latin typeface="微软雅黑" panose="020B0503020204020204" pitchFamily="34" charset="-122"/>
                <a:ea typeface="微软雅黑" panose="020B0503020204020204" pitchFamily="34" charset="-122"/>
                <a:sym typeface="Arial" panose="020B0604020202020204" pitchFamily="34" charset="0"/>
              </a:rPr>
              <a:t>当价格下降到边际成本的最低点时，按一般条件确定的</a:t>
            </a:r>
            <a:r>
              <a:rPr lang="en-US" altLang="zh-CN" dirty="0">
                <a:latin typeface="微软雅黑" panose="020B0503020204020204" pitchFamily="34" charset="-122"/>
                <a:ea typeface="微软雅黑" panose="020B0503020204020204" pitchFamily="34" charset="-122"/>
                <a:sym typeface="Arial" panose="020B0604020202020204" pitchFamily="34" charset="0"/>
              </a:rPr>
              <a:t>Qc</a:t>
            </a:r>
            <a:r>
              <a:rPr lang="zh-CN" altLang="en-US" dirty="0">
                <a:latin typeface="微软雅黑" panose="020B0503020204020204" pitchFamily="34" charset="-122"/>
                <a:ea typeface="微软雅黑" panose="020B0503020204020204" pitchFamily="34" charset="-122"/>
                <a:sym typeface="Arial" panose="020B0604020202020204" pitchFamily="34" charset="0"/>
              </a:rPr>
              <a:t>既不是利润最大化产量，也不是利润最小化产量</a:t>
            </a:r>
          </a:p>
        </p:txBody>
      </p:sp>
      <p:grpSp>
        <p:nvGrpSpPr>
          <p:cNvPr id="40" name="Group 4"/>
          <p:cNvGrpSpPr>
            <a:grpSpLocks/>
          </p:cNvGrpSpPr>
          <p:nvPr/>
        </p:nvGrpSpPr>
        <p:grpSpPr bwMode="auto">
          <a:xfrm>
            <a:off x="2411850" y="2819780"/>
            <a:ext cx="5000625" cy="3084999"/>
            <a:chOff x="2475" y="0"/>
            <a:chExt cx="7875" cy="4857"/>
          </a:xfrm>
        </p:grpSpPr>
        <p:sp>
          <p:nvSpPr>
            <p:cNvPr id="47" name="TextBox 23"/>
            <p:cNvSpPr>
              <a:spLocks noChangeArrowheads="1"/>
            </p:cNvSpPr>
            <p:nvPr/>
          </p:nvSpPr>
          <p:spPr bwMode="auto">
            <a:xfrm>
              <a:off x="2475" y="1575"/>
              <a:ext cx="788"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900">
                  <a:solidFill>
                    <a:srgbClr val="000000"/>
                  </a:solidFill>
                  <a:latin typeface="Cambria Math" panose="02040503050406030204" pitchFamily="18" charset="0"/>
                  <a:sym typeface="Cambria Math" panose="02040503050406030204" pitchFamily="18" charset="0"/>
                </a:rPr>
                <a:t>0</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48" name="TextBox 24"/>
            <p:cNvSpPr>
              <a:spLocks noChangeArrowheads="1"/>
            </p:cNvSpPr>
            <p:nvPr/>
          </p:nvSpPr>
          <p:spPr bwMode="auto">
            <a:xfrm>
              <a:off x="3375" y="4275"/>
              <a:ext cx="788"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r>
                <a:rPr lang="en-US" altLang="zh-CN" sz="900">
                  <a:solidFill>
                    <a:srgbClr val="000000"/>
                  </a:solidFill>
                  <a:latin typeface="Cambria Math" panose="02040503050406030204" pitchFamily="18" charset="0"/>
                  <a:sym typeface="Cambria Math" panose="02040503050406030204" pitchFamily="18" charset="0"/>
                </a:rPr>
                <a:t>B</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49" name="TextBox 25"/>
            <p:cNvSpPr>
              <a:spLocks noChangeArrowheads="1"/>
            </p:cNvSpPr>
            <p:nvPr/>
          </p:nvSpPr>
          <p:spPr bwMode="auto">
            <a:xfrm>
              <a:off x="5175" y="4275"/>
              <a:ext cx="788"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r>
                <a:rPr lang="en-US" altLang="zh-CN" sz="900">
                  <a:solidFill>
                    <a:srgbClr val="000000"/>
                  </a:solidFill>
                  <a:latin typeface="Cambria Math" panose="02040503050406030204" pitchFamily="18" charset="0"/>
                  <a:sym typeface="Cambria Math" panose="02040503050406030204" pitchFamily="18" charset="0"/>
                </a:rPr>
                <a:t>C</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50" name="TextBox 26"/>
            <p:cNvSpPr>
              <a:spLocks noChangeArrowheads="1"/>
            </p:cNvSpPr>
            <p:nvPr/>
          </p:nvSpPr>
          <p:spPr bwMode="auto">
            <a:xfrm>
              <a:off x="7088" y="4275"/>
              <a:ext cx="787"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r>
                <a:rPr lang="en-US" altLang="zh-CN" sz="900">
                  <a:solidFill>
                    <a:srgbClr val="000000"/>
                  </a:solidFill>
                  <a:latin typeface="Cambria Math" panose="02040503050406030204" pitchFamily="18" charset="0"/>
                  <a:sym typeface="Cambria Math" panose="02040503050406030204" pitchFamily="18" charset="0"/>
                </a:rPr>
                <a:t>A</a:t>
              </a:r>
              <a:endParaRPr lang="zh-CN" altLang="en-US">
                <a:solidFill>
                  <a:srgbClr val="000000"/>
                </a:solidFill>
                <a:latin typeface="Cambria Math" panose="02040503050406030204" pitchFamily="18" charset="0"/>
                <a:sym typeface="Cambria Math" panose="02040503050406030204" pitchFamily="18" charset="0"/>
              </a:endParaRPr>
            </a:p>
          </p:txBody>
        </p:sp>
        <p:grpSp>
          <p:nvGrpSpPr>
            <p:cNvPr id="51" name="组合 27"/>
            <p:cNvGrpSpPr>
              <a:grpSpLocks/>
            </p:cNvGrpSpPr>
            <p:nvPr/>
          </p:nvGrpSpPr>
          <p:grpSpPr bwMode="auto">
            <a:xfrm>
              <a:off x="2475" y="0"/>
              <a:ext cx="7313" cy="4857"/>
              <a:chOff x="0" y="0"/>
              <a:chExt cx="4643486" cy="3083976"/>
            </a:xfrm>
          </p:grpSpPr>
          <p:sp>
            <p:nvSpPr>
              <p:cNvPr id="67" name="直接箭头连接符 28"/>
              <p:cNvSpPr>
                <a:spLocks noChangeShapeType="1"/>
              </p:cNvSpPr>
              <p:nvPr/>
            </p:nvSpPr>
            <p:spPr bwMode="auto">
              <a:xfrm rot="5400000" flipH="1">
                <a:off x="-956238" y="1395962"/>
                <a:ext cx="2625269" cy="1588"/>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8" name="直接箭头连接符 29"/>
              <p:cNvSpPr>
                <a:spLocks noChangeShapeType="1"/>
              </p:cNvSpPr>
              <p:nvPr/>
            </p:nvSpPr>
            <p:spPr bwMode="auto">
              <a:xfrm>
                <a:off x="357192" y="2707804"/>
                <a:ext cx="4000541" cy="6349"/>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76" name="TextBox 30"/>
              <p:cNvSpPr>
                <a:spLocks noChangeArrowheads="1"/>
              </p:cNvSpPr>
              <p:nvPr/>
            </p:nvSpPr>
            <p:spPr bwMode="auto">
              <a:xfrm>
                <a:off x="0" y="0"/>
                <a:ext cx="3571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77" name="TextBox 31"/>
              <p:cNvSpPr>
                <a:spLocks noChangeArrowheads="1"/>
              </p:cNvSpPr>
              <p:nvPr/>
            </p:nvSpPr>
            <p:spPr bwMode="auto">
              <a:xfrm>
                <a:off x="71438" y="2714644"/>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O</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78" name="TextBox 32"/>
              <p:cNvSpPr>
                <a:spLocks noChangeArrowheads="1"/>
              </p:cNvSpPr>
              <p:nvPr/>
            </p:nvSpPr>
            <p:spPr bwMode="auto">
              <a:xfrm>
                <a:off x="4143419" y="2714644"/>
                <a:ext cx="5000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endParaRPr lang="zh-CN" altLang="en-US">
                  <a:solidFill>
                    <a:srgbClr val="000000"/>
                  </a:solidFill>
                  <a:latin typeface="Cambria Math" panose="02040503050406030204" pitchFamily="18" charset="0"/>
                  <a:sym typeface="Cambria Math" panose="02040503050406030204" pitchFamily="18" charset="0"/>
                </a:endParaRPr>
              </a:p>
            </p:txBody>
          </p:sp>
        </p:grpSp>
        <p:sp>
          <p:nvSpPr>
            <p:cNvPr id="52" name="TextBox 33"/>
            <p:cNvSpPr>
              <a:spLocks noChangeArrowheads="1"/>
            </p:cNvSpPr>
            <p:nvPr/>
          </p:nvSpPr>
          <p:spPr bwMode="auto">
            <a:xfrm>
              <a:off x="8100" y="1462"/>
              <a:ext cx="2250"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MR</a:t>
              </a:r>
              <a:r>
                <a:rPr lang="en-US" altLang="zh-CN" sz="1100">
                  <a:solidFill>
                    <a:srgbClr val="000000"/>
                  </a:solidFill>
                  <a:latin typeface="Cambria Math" panose="02040503050406030204" pitchFamily="18" charset="0"/>
                  <a:sym typeface="Cambria Math" panose="02040503050406030204" pitchFamily="18" charset="0"/>
                </a:rPr>
                <a:t>0</a:t>
              </a:r>
              <a:endParaRPr lang="zh-CN" altLang="en-US" sz="1100">
                <a:solidFill>
                  <a:srgbClr val="000000"/>
                </a:solidFill>
                <a:latin typeface="Cambria Math" panose="02040503050406030204" pitchFamily="18" charset="0"/>
                <a:sym typeface="Cambria Math" panose="02040503050406030204" pitchFamily="18" charset="0"/>
              </a:endParaRPr>
            </a:p>
          </p:txBody>
        </p:sp>
        <p:sp>
          <p:nvSpPr>
            <p:cNvPr id="53" name="直接连接符 34"/>
            <p:cNvSpPr>
              <a:spLocks noChangeShapeType="1"/>
            </p:cNvSpPr>
            <p:nvPr/>
          </p:nvSpPr>
          <p:spPr bwMode="auto">
            <a:xfrm rot="5400000">
              <a:off x="2641" y="3111"/>
              <a:ext cx="2363" cy="2"/>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直接连接符 35"/>
            <p:cNvSpPr>
              <a:spLocks noChangeShapeType="1"/>
            </p:cNvSpPr>
            <p:nvPr/>
          </p:nvSpPr>
          <p:spPr bwMode="auto">
            <a:xfrm rot="5400000">
              <a:off x="4830" y="3610"/>
              <a:ext cx="1368" cy="2"/>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直接连接符 36"/>
            <p:cNvSpPr>
              <a:spLocks noChangeShapeType="1"/>
            </p:cNvSpPr>
            <p:nvPr/>
          </p:nvSpPr>
          <p:spPr bwMode="auto">
            <a:xfrm rot="5400000">
              <a:off x="6131" y="3111"/>
              <a:ext cx="2363" cy="2"/>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任意多边形 37"/>
            <p:cNvSpPr>
              <a:spLocks noChangeArrowheads="1"/>
            </p:cNvSpPr>
            <p:nvPr/>
          </p:nvSpPr>
          <p:spPr bwMode="auto">
            <a:xfrm>
              <a:off x="3520" y="450"/>
              <a:ext cx="4695" cy="2462"/>
            </a:xfrm>
            <a:custGeom>
              <a:avLst/>
              <a:gdLst>
                <a:gd name="T0" fmla="*/ 0 w 2980267"/>
                <a:gd name="T1" fmla="*/ 714963 h 1563511"/>
                <a:gd name="T2" fmla="*/ 451555 w 2980267"/>
                <a:gd name="T3" fmla="*/ 1177807 h 1563511"/>
                <a:gd name="T4" fmla="*/ 891822 w 2980267"/>
                <a:gd name="T5" fmla="*/ 1471318 h 1563511"/>
                <a:gd name="T6" fmla="*/ 1298222 w 2980267"/>
                <a:gd name="T7" fmla="*/ 1550341 h 1563511"/>
                <a:gd name="T8" fmla="*/ 1806222 w 2980267"/>
                <a:gd name="T9" fmla="*/ 1392296 h 1563511"/>
                <a:gd name="T10" fmla="*/ 2122311 w 2980267"/>
                <a:gd name="T11" fmla="*/ 1177807 h 1563511"/>
                <a:gd name="T12" fmla="*/ 2427111 w 2980267"/>
                <a:gd name="T13" fmla="*/ 895585 h 1563511"/>
                <a:gd name="T14" fmla="*/ 2664178 w 2980267"/>
                <a:gd name="T15" fmla="*/ 556918 h 1563511"/>
                <a:gd name="T16" fmla="*/ 2935111 w 2980267"/>
                <a:gd name="T17" fmla="*/ 82785 h 1563511"/>
                <a:gd name="T18" fmla="*/ 2935111 w 2980267"/>
                <a:gd name="T19" fmla="*/ 60207 h 15635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80267"/>
                <a:gd name="T31" fmla="*/ 0 h 1563511"/>
                <a:gd name="T32" fmla="*/ 2980267 w 2980267"/>
                <a:gd name="T33" fmla="*/ 1563511 h 15635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80267" h="1563511">
                  <a:moveTo>
                    <a:pt x="0" y="714963"/>
                  </a:moveTo>
                  <a:cubicBezTo>
                    <a:pt x="151459" y="883355"/>
                    <a:pt x="302918" y="1051748"/>
                    <a:pt x="451555" y="1177807"/>
                  </a:cubicBezTo>
                  <a:cubicBezTo>
                    <a:pt x="600192" y="1303866"/>
                    <a:pt x="750711" y="1409229"/>
                    <a:pt x="891822" y="1471318"/>
                  </a:cubicBezTo>
                  <a:cubicBezTo>
                    <a:pt x="1032933" y="1533407"/>
                    <a:pt x="1145822" y="1563511"/>
                    <a:pt x="1298222" y="1550341"/>
                  </a:cubicBezTo>
                  <a:cubicBezTo>
                    <a:pt x="1450622" y="1537171"/>
                    <a:pt x="1668874" y="1454385"/>
                    <a:pt x="1806222" y="1392296"/>
                  </a:cubicBezTo>
                  <a:cubicBezTo>
                    <a:pt x="1943570" y="1330207"/>
                    <a:pt x="2018830" y="1260592"/>
                    <a:pt x="2122311" y="1177807"/>
                  </a:cubicBezTo>
                  <a:cubicBezTo>
                    <a:pt x="2225792" y="1095022"/>
                    <a:pt x="2336800" y="999066"/>
                    <a:pt x="2427111" y="895585"/>
                  </a:cubicBezTo>
                  <a:cubicBezTo>
                    <a:pt x="2517422" y="792104"/>
                    <a:pt x="2579511" y="692385"/>
                    <a:pt x="2664178" y="556918"/>
                  </a:cubicBezTo>
                  <a:cubicBezTo>
                    <a:pt x="2748845" y="421451"/>
                    <a:pt x="2889956" y="165570"/>
                    <a:pt x="2935111" y="82785"/>
                  </a:cubicBezTo>
                  <a:cubicBezTo>
                    <a:pt x="2980267" y="0"/>
                    <a:pt x="2957689" y="30103"/>
                    <a:pt x="2935111" y="60207"/>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57" name="TextBox 38"/>
            <p:cNvSpPr>
              <a:spLocks noChangeArrowheads="1"/>
            </p:cNvSpPr>
            <p:nvPr/>
          </p:nvSpPr>
          <p:spPr bwMode="auto">
            <a:xfrm>
              <a:off x="3713" y="1350"/>
              <a:ext cx="787"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B</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58" name="TextBox 39"/>
            <p:cNvSpPr>
              <a:spLocks noChangeArrowheads="1"/>
            </p:cNvSpPr>
            <p:nvPr/>
          </p:nvSpPr>
          <p:spPr bwMode="auto">
            <a:xfrm>
              <a:off x="6863" y="1350"/>
              <a:ext cx="787"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A</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59" name="TextBox 40"/>
            <p:cNvSpPr>
              <a:spLocks noChangeArrowheads="1"/>
            </p:cNvSpPr>
            <p:nvPr/>
          </p:nvSpPr>
          <p:spPr bwMode="auto">
            <a:xfrm>
              <a:off x="7313" y="337"/>
              <a:ext cx="2250"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MC</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60" name="直接连接符 41"/>
            <p:cNvSpPr>
              <a:spLocks noChangeShapeType="1"/>
            </p:cNvSpPr>
            <p:nvPr/>
          </p:nvSpPr>
          <p:spPr bwMode="auto">
            <a:xfrm>
              <a:off x="3038" y="1932"/>
              <a:ext cx="4837" cy="3"/>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直接连接符 44"/>
            <p:cNvSpPr>
              <a:spLocks noChangeShapeType="1"/>
            </p:cNvSpPr>
            <p:nvPr/>
          </p:nvSpPr>
          <p:spPr bwMode="auto">
            <a:xfrm>
              <a:off x="3038" y="2927"/>
              <a:ext cx="4837" cy="3"/>
            </a:xfrm>
            <a:prstGeom prst="line">
              <a:avLst/>
            </a:prstGeom>
            <a:noFill/>
            <a:ln w="19050" cap="flat" cmpd="sng">
              <a:solidFill>
                <a:srgbClr val="FF00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TextBox 45"/>
            <p:cNvSpPr>
              <a:spLocks noChangeArrowheads="1"/>
            </p:cNvSpPr>
            <p:nvPr/>
          </p:nvSpPr>
          <p:spPr bwMode="auto">
            <a:xfrm>
              <a:off x="2475" y="2587"/>
              <a:ext cx="788"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900">
                  <a:solidFill>
                    <a:srgbClr val="000000"/>
                  </a:solidFill>
                  <a:latin typeface="Cambria Math" panose="02040503050406030204" pitchFamily="18" charset="0"/>
                  <a:sym typeface="Cambria Math" panose="02040503050406030204" pitchFamily="18" charset="0"/>
                </a:rPr>
                <a:t>1</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63" name="TextBox 46"/>
            <p:cNvSpPr>
              <a:spLocks noChangeArrowheads="1"/>
            </p:cNvSpPr>
            <p:nvPr/>
          </p:nvSpPr>
          <p:spPr bwMode="auto">
            <a:xfrm>
              <a:off x="5172" y="2362"/>
              <a:ext cx="791"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a:solidFill>
                    <a:srgbClr val="FF0000"/>
                  </a:solidFill>
                  <a:latin typeface="Cambria Math" panose="02040503050406030204" pitchFamily="18" charset="0"/>
                  <a:sym typeface="Cambria Math" panose="02040503050406030204" pitchFamily="18" charset="0"/>
                </a:rPr>
                <a:t>C</a:t>
              </a:r>
              <a:endParaRPr lang="zh-CN" altLang="en-US">
                <a:solidFill>
                  <a:srgbClr val="FF0000"/>
                </a:solidFill>
                <a:latin typeface="Cambria Math" panose="02040503050406030204" pitchFamily="18" charset="0"/>
                <a:sym typeface="Cambria Math" panose="02040503050406030204" pitchFamily="18" charset="0"/>
              </a:endParaRPr>
            </a:p>
          </p:txBody>
        </p:sp>
        <p:sp>
          <p:nvSpPr>
            <p:cNvPr id="64" name="TextBox 47"/>
            <p:cNvSpPr>
              <a:spLocks noChangeArrowheads="1"/>
            </p:cNvSpPr>
            <p:nvPr/>
          </p:nvSpPr>
          <p:spPr bwMode="auto">
            <a:xfrm>
              <a:off x="7988" y="2587"/>
              <a:ext cx="2250" cy="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MR</a:t>
              </a:r>
              <a:r>
                <a:rPr lang="en-US" altLang="zh-CN" sz="1100">
                  <a:solidFill>
                    <a:srgbClr val="000000"/>
                  </a:solidFill>
                  <a:latin typeface="Cambria Math" panose="02040503050406030204" pitchFamily="18" charset="0"/>
                  <a:sym typeface="Cambria Math" panose="02040503050406030204" pitchFamily="18" charset="0"/>
                </a:rPr>
                <a:t>1</a:t>
              </a:r>
              <a:endParaRPr lang="zh-CN" altLang="en-US" sz="1100">
                <a:solidFill>
                  <a:srgbClr val="000000"/>
                </a:solidFill>
                <a:latin typeface="Cambria Math" panose="02040503050406030204" pitchFamily="18" charset="0"/>
                <a:sym typeface="Cambria Math" panose="02040503050406030204" pitchFamily="18" charset="0"/>
              </a:endParaRPr>
            </a:p>
          </p:txBody>
        </p:sp>
        <p:sp>
          <p:nvSpPr>
            <p:cNvPr id="65" name="直接箭头连接符 27"/>
            <p:cNvSpPr>
              <a:spLocks noChangeShapeType="1"/>
            </p:cNvSpPr>
            <p:nvPr/>
          </p:nvSpPr>
          <p:spPr bwMode="auto">
            <a:xfrm rot="5400000">
              <a:off x="2595" y="2371"/>
              <a:ext cx="430" cy="3"/>
            </a:xfrm>
            <a:prstGeom prst="straightConnector1">
              <a:avLst/>
            </a:prstGeom>
            <a:noFill/>
            <a:ln w="9525" cap="flat" cmpd="sng">
              <a:solidFill>
                <a:srgbClr val="212167"/>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grpSp>
      <mc:AlternateContent xmlns:mc="http://schemas.openxmlformats.org/markup-compatibility/2006" xmlns:a14="http://schemas.microsoft.com/office/drawing/2010/main">
        <mc:Choice Requires="a14">
          <p:sp>
            <p:nvSpPr>
              <p:cNvPr id="79" name="矩形 78"/>
              <p:cNvSpPr/>
              <p:nvPr/>
            </p:nvSpPr>
            <p:spPr>
              <a:xfrm>
                <a:off x="3695360" y="2786284"/>
                <a:ext cx="2059943" cy="392993"/>
              </a:xfrm>
              <a:prstGeom prst="rect">
                <a:avLst/>
              </a:prstGeom>
            </p:spPr>
            <p:txBody>
              <a:bodyPr wrap="square">
                <a:spAutoFit/>
              </a:bodyPr>
              <a:lstStyle/>
              <a:p>
                <a:pPr marL="342900" indent="-342900" eaLnBrk="1" hangingPunct="1">
                  <a:buFont typeface="Arial" panose="020B0604020202020204" pitchFamily="34" charset="0"/>
                  <a:buChar char="•"/>
                </a:pPr>
                <a14:m>
                  <m:oMath xmlns:m="http://schemas.openxmlformats.org/officeDocument/2006/math">
                    <m:r>
                      <a:rPr lang="en-US" altLang="zh-CN" sz="2000" b="0" i="1" dirty="0" smtClean="0">
                        <a:latin typeface="Cambria Math" panose="02040503050406030204" pitchFamily="18" charset="0"/>
                      </a:rPr>
                      <m:t>𝑀𝐶</m:t>
                    </m:r>
                  </m:oMath>
                </a14:m>
                <a:r>
                  <a:rPr lang="zh-CN" altLang="en-US" b="0" dirty="0">
                    <a:latin typeface="微软雅黑" panose="020B0503020204020204" pitchFamily="34" charset="-122"/>
                    <a:ea typeface="微软雅黑" panose="020B0503020204020204" pitchFamily="34" charset="-122"/>
                  </a:rPr>
                  <a:t>处于</a:t>
                </a:r>
                <a:r>
                  <a:rPr lang="zh-CN" altLang="en-US" dirty="0">
                    <a:latin typeface="微软雅黑" panose="020B0503020204020204" pitchFamily="34" charset="-122"/>
                    <a:ea typeface="微软雅黑" panose="020B0503020204020204" pitchFamily="34" charset="-122"/>
                  </a:rPr>
                  <a:t>最低点</a:t>
                </a:r>
                <a:endParaRPr lang="en-US" altLang="zh-CN" b="0" dirty="0">
                  <a:latin typeface="微软雅黑" panose="020B0503020204020204" pitchFamily="34" charset="-122"/>
                  <a:ea typeface="微软雅黑" panose="020B0503020204020204" pitchFamily="34" charset="-122"/>
                </a:endParaRPr>
              </a:p>
            </p:txBody>
          </p:sp>
        </mc:Choice>
        <mc:Fallback xmlns="">
          <p:sp>
            <p:nvSpPr>
              <p:cNvPr id="79" name="矩形 78"/>
              <p:cNvSpPr>
                <a:spLocks noRot="1" noChangeAspect="1" noMove="1" noResize="1" noEditPoints="1" noAdjustHandles="1" noChangeArrowheads="1" noChangeShapeType="1" noTextEdit="1"/>
              </p:cNvSpPr>
              <p:nvPr/>
            </p:nvSpPr>
            <p:spPr>
              <a:xfrm>
                <a:off x="3695360" y="2786284"/>
                <a:ext cx="2059943" cy="392993"/>
              </a:xfrm>
              <a:prstGeom prst="rect">
                <a:avLst/>
              </a:prstGeom>
              <a:blipFill>
                <a:blip r:embed="rId5"/>
                <a:stretch>
                  <a:fillRect l="-2663" t="-4615" r="-2663" b="-24615"/>
                </a:stretch>
              </a:blipFill>
            </p:spPr>
            <p:txBody>
              <a:bodyPr/>
              <a:lstStyle/>
              <a:p>
                <a:r>
                  <a:rPr lang="zh-CN" altLang="en-US">
                    <a:noFill/>
                  </a:rPr>
                  <a:t> </a:t>
                </a:r>
              </a:p>
            </p:txBody>
          </p:sp>
        </mc:Fallback>
      </mc:AlternateContent>
      <p:cxnSp>
        <p:nvCxnSpPr>
          <p:cNvPr id="80" name="直接箭头连接符 79"/>
          <p:cNvCxnSpPr/>
          <p:nvPr/>
        </p:nvCxnSpPr>
        <p:spPr bwMode="auto">
          <a:xfrm flipH="1">
            <a:off x="4400204" y="3130686"/>
            <a:ext cx="325128" cy="1371825"/>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椭圆形标注 30"/>
          <p:cNvSpPr>
            <a:spLocks noChangeArrowheads="1"/>
          </p:cNvSpPr>
          <p:nvPr/>
        </p:nvSpPr>
        <p:spPr bwMode="auto">
          <a:xfrm>
            <a:off x="614898" y="2929502"/>
            <a:ext cx="1458482" cy="1573009"/>
          </a:xfrm>
          <a:prstGeom prst="wedgeRoundRectCallout">
            <a:avLst>
              <a:gd name="adj1" fmla="val 69922"/>
              <a:gd name="adj2" fmla="val 32186"/>
              <a:gd name="adj3" fmla="val 16667"/>
            </a:avLst>
          </a:prstGeom>
          <a:noFill/>
          <a:ln w="28575">
            <a:solidFill>
              <a:schemeClr val="accent3">
                <a:lumMod val="50000"/>
              </a:schemeClr>
            </a:solidFill>
          </a:ln>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dirty="0">
                <a:latin typeface="微软雅黑" panose="020B0503020204020204" pitchFamily="34" charset="-122"/>
                <a:ea typeface="微软雅黑" panose="020B0503020204020204" pitchFamily="34" charset="-122"/>
                <a:sym typeface="Arial" panose="020B0604020202020204" pitchFamily="34" charset="0"/>
              </a:rPr>
              <a:t>市场价格下降</a:t>
            </a:r>
          </a:p>
        </p:txBody>
      </p:sp>
      <p:sp>
        <p:nvSpPr>
          <p:cNvPr id="2" name="标注: 线形 1">
            <a:extLst>
              <a:ext uri="{FF2B5EF4-FFF2-40B4-BE49-F238E27FC236}">
                <a16:creationId xmlns:a16="http://schemas.microsoft.com/office/drawing/2014/main" id="{4519778B-6DDC-40F6-9B11-529EB03EB26D}"/>
              </a:ext>
            </a:extLst>
          </p:cNvPr>
          <p:cNvSpPr/>
          <p:nvPr/>
        </p:nvSpPr>
        <p:spPr bwMode="auto">
          <a:xfrm>
            <a:off x="224184" y="5229125"/>
            <a:ext cx="1458482" cy="1355391"/>
          </a:xfrm>
          <a:prstGeom prst="borderCallout1">
            <a:avLst>
              <a:gd name="adj1" fmla="val 50172"/>
              <a:gd name="adj2" fmla="val 105351"/>
              <a:gd name="adj3" fmla="val -34895"/>
              <a:gd name="adj4" fmla="val 26676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注意，这是</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MC</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曲线最低点，不是</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AC</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曲线最低点。</a:t>
            </a:r>
          </a:p>
        </p:txBody>
      </p:sp>
    </p:spTree>
    <p:extLst>
      <p:ext uri="{BB962C8B-B14F-4D97-AF65-F5344CB8AC3E}">
        <p14:creationId xmlns:p14="http://schemas.microsoft.com/office/powerpoint/2010/main" val="4075001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barn(inVertical)">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9"/>
                                        </p:tgtEl>
                                        <p:attrNameLst>
                                          <p:attrName>style.visibility</p:attrName>
                                        </p:attrNameLst>
                                      </p:cBhvr>
                                      <p:to>
                                        <p:strVal val="visible"/>
                                      </p:to>
                                    </p:set>
                                    <p:animEffect transition="in" filter="randombar(horizontal)">
                                      <p:cBhvr>
                                        <p:cTn id="17" dur="500"/>
                                        <p:tgtEl>
                                          <p:spTgt spid="79"/>
                                        </p:tgtEl>
                                      </p:cBhvr>
                                    </p:animEffect>
                                  </p:childTnLst>
                                </p:cTn>
                              </p:par>
                              <p:par>
                                <p:cTn id="18" presetID="22" presetClass="entr" presetSubtype="1" fill="hold" nodeType="withEffect">
                                  <p:stCondLst>
                                    <p:cond delay="0"/>
                                  </p:stCondLst>
                                  <p:childTnLst>
                                    <p:set>
                                      <p:cBhvr>
                                        <p:cTn id="19" dur="1" fill="hold">
                                          <p:stCondLst>
                                            <p:cond delay="0"/>
                                          </p:stCondLst>
                                        </p:cTn>
                                        <p:tgtEl>
                                          <p:spTgt spid="80"/>
                                        </p:tgtEl>
                                        <p:attrNameLst>
                                          <p:attrName>style.visibility</p:attrName>
                                        </p:attrNameLst>
                                      </p:cBhvr>
                                      <p:to>
                                        <p:strVal val="visible"/>
                                      </p:to>
                                    </p:set>
                                    <p:animEffect transition="in" filter="wipe(up)">
                                      <p:cBhvr>
                                        <p:cTn id="20" dur="500"/>
                                        <p:tgtEl>
                                          <p:spTgt spid="80"/>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81"/>
                                        </p:tgtEl>
                                        <p:attrNameLst>
                                          <p:attrName>style.visibility</p:attrName>
                                        </p:attrNameLst>
                                      </p:cBhvr>
                                      <p:to>
                                        <p:strVal val="visible"/>
                                      </p:to>
                                    </p:set>
                                    <p:animEffect transition="in" filter="randombar(horizontal)">
                                      <p:cBhvr>
                                        <p:cTn id="25" dur="500"/>
                                        <p:tgtEl>
                                          <p:spTgt spid="81"/>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randombar(horizontal)">
                                      <p:cBhvr>
                                        <p:cTn id="3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79" grpId="0"/>
      <p:bldP spid="8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65E3428-41E9-429A-B921-F2F5377A9AEF}"/>
              </a:ext>
            </a:extLst>
          </p:cNvPr>
          <p:cNvSpPr>
            <a:spLocks noGrp="1"/>
          </p:cNvSpPr>
          <p:nvPr>
            <p:ph idx="1"/>
          </p:nvPr>
        </p:nvSpPr>
        <p:spPr>
          <a:xfrm>
            <a:off x="683730" y="1341438"/>
            <a:ext cx="8014183" cy="4895757"/>
          </a:xfrm>
        </p:spPr>
        <p:txBody>
          <a:bodyPr>
            <a:normAutofit fontScale="85000" lnSpcReduction="10000"/>
          </a:bodyPr>
          <a:lstStyle/>
          <a:p>
            <a:pPr>
              <a:lnSpc>
                <a:spcPct val="150000"/>
              </a:lnSpc>
            </a:pPr>
            <a:r>
              <a:rPr lang="zh-CN" altLang="en-US" dirty="0">
                <a:solidFill>
                  <a:schemeClr val="tx1"/>
                </a:solidFill>
              </a:rPr>
              <a:t>利润最大化表示这是企业产量的最优决策，但是并不能保证此时企业一定是盈利的。</a:t>
            </a:r>
            <a:endParaRPr lang="en-US" altLang="zh-CN" dirty="0">
              <a:solidFill>
                <a:schemeClr val="tx1"/>
              </a:solidFill>
            </a:endParaRPr>
          </a:p>
          <a:p>
            <a:pPr>
              <a:lnSpc>
                <a:spcPct val="150000"/>
              </a:lnSpc>
            </a:pPr>
            <a:r>
              <a:rPr lang="zh-CN" altLang="en-US" dirty="0">
                <a:solidFill>
                  <a:schemeClr val="tx1"/>
                </a:solidFill>
              </a:rPr>
              <a:t>企业盈利与否取决于</a:t>
            </a:r>
            <a:r>
              <a:rPr lang="en-US" altLang="zh-CN" dirty="0">
                <a:solidFill>
                  <a:schemeClr val="tx1"/>
                </a:solidFill>
              </a:rPr>
              <a:t>TR</a:t>
            </a:r>
            <a:r>
              <a:rPr lang="zh-CN" altLang="en-US" dirty="0">
                <a:solidFill>
                  <a:schemeClr val="tx1"/>
                </a:solidFill>
              </a:rPr>
              <a:t>与</a:t>
            </a:r>
            <a:r>
              <a:rPr lang="en-US" altLang="zh-CN" dirty="0">
                <a:solidFill>
                  <a:schemeClr val="tx1"/>
                </a:solidFill>
              </a:rPr>
              <a:t>TC</a:t>
            </a:r>
            <a:r>
              <a:rPr lang="zh-CN" altLang="en-US" dirty="0">
                <a:solidFill>
                  <a:schemeClr val="tx1"/>
                </a:solidFill>
              </a:rPr>
              <a:t>的比较，或者也可以说取决于平均收益</a:t>
            </a:r>
            <a:r>
              <a:rPr lang="en-US" altLang="zh-CN" dirty="0">
                <a:solidFill>
                  <a:schemeClr val="tx1"/>
                </a:solidFill>
              </a:rPr>
              <a:t>AR</a:t>
            </a:r>
            <a:r>
              <a:rPr lang="zh-CN" altLang="en-US" dirty="0">
                <a:solidFill>
                  <a:schemeClr val="tx1"/>
                </a:solidFill>
              </a:rPr>
              <a:t>与平均成本</a:t>
            </a:r>
            <a:r>
              <a:rPr lang="en-US" altLang="zh-CN" dirty="0">
                <a:solidFill>
                  <a:schemeClr val="tx1"/>
                </a:solidFill>
              </a:rPr>
              <a:t>AC</a:t>
            </a:r>
            <a:r>
              <a:rPr lang="zh-CN" altLang="en-US" dirty="0">
                <a:solidFill>
                  <a:schemeClr val="tx1"/>
                </a:solidFill>
              </a:rPr>
              <a:t>的比较。</a:t>
            </a:r>
            <a:endParaRPr lang="en-US" altLang="zh-CN" dirty="0">
              <a:solidFill>
                <a:schemeClr val="tx1"/>
              </a:solidFill>
            </a:endParaRPr>
          </a:p>
          <a:p>
            <a:pPr>
              <a:lnSpc>
                <a:spcPct val="150000"/>
              </a:lnSpc>
            </a:pPr>
            <a:r>
              <a:rPr lang="zh-CN" altLang="en-US" dirty="0">
                <a:solidFill>
                  <a:schemeClr val="tx1"/>
                </a:solidFill>
              </a:rPr>
              <a:t>一般来说在利润最大化的产量水平上，企业有三种可能的情况：盈利、亏损、盈亏平衡。</a:t>
            </a:r>
            <a:endParaRPr lang="en-US" altLang="zh-CN" dirty="0">
              <a:solidFill>
                <a:schemeClr val="tx1"/>
              </a:solidFill>
            </a:endParaRPr>
          </a:p>
          <a:p>
            <a:pPr>
              <a:lnSpc>
                <a:spcPct val="150000"/>
              </a:lnSpc>
            </a:pPr>
            <a:r>
              <a:rPr lang="zh-CN" altLang="en-US" dirty="0">
                <a:solidFill>
                  <a:schemeClr val="tx1"/>
                </a:solidFill>
              </a:rPr>
              <a:t>因此利润最大化有时也是亏损最小化。</a:t>
            </a:r>
            <a:endParaRPr lang="en-US" altLang="zh-CN" dirty="0">
              <a:solidFill>
                <a:schemeClr val="tx1"/>
              </a:solidFill>
            </a:endParaRPr>
          </a:p>
        </p:txBody>
      </p:sp>
      <p:sp>
        <p:nvSpPr>
          <p:cNvPr id="4" name="矩形 3">
            <a:extLst>
              <a:ext uri="{FF2B5EF4-FFF2-40B4-BE49-F238E27FC236}">
                <a16:creationId xmlns:a16="http://schemas.microsoft.com/office/drawing/2014/main" id="{3D6BDB7A-8D30-46DA-85E5-F70B5BDAD6B7}"/>
              </a:ext>
            </a:extLst>
          </p:cNvPr>
          <p:cNvSpPr/>
          <p:nvPr/>
        </p:nvSpPr>
        <p:spPr>
          <a:xfrm>
            <a:off x="467544" y="548680"/>
            <a:ext cx="345479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二、利润最大化和盈亏</a:t>
            </a:r>
          </a:p>
        </p:txBody>
      </p:sp>
    </p:spTree>
    <p:extLst>
      <p:ext uri="{BB962C8B-B14F-4D97-AF65-F5344CB8AC3E}">
        <p14:creationId xmlns:p14="http://schemas.microsoft.com/office/powerpoint/2010/main" val="115337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EE8821EC-0EEB-46E1-AB8F-4B5C59673361}"/>
              </a:ext>
            </a:extLst>
          </p:cNvPr>
          <p:cNvGrpSpPr/>
          <p:nvPr/>
        </p:nvGrpSpPr>
        <p:grpSpPr>
          <a:xfrm>
            <a:off x="222176" y="731495"/>
            <a:ext cx="8617024" cy="5402605"/>
            <a:chOff x="222176" y="731495"/>
            <a:chExt cx="8617024" cy="5402605"/>
          </a:xfrm>
        </p:grpSpPr>
        <p:sp>
          <p:nvSpPr>
            <p:cNvPr id="5" name="Text Box 2">
              <a:extLst>
                <a:ext uri="{FF2B5EF4-FFF2-40B4-BE49-F238E27FC236}">
                  <a16:creationId xmlns:a16="http://schemas.microsoft.com/office/drawing/2014/main" id="{FEFDD2A0-08D7-4FE9-94E3-2AF9AB281B5C}"/>
                </a:ext>
              </a:extLst>
            </p:cNvPr>
            <p:cNvSpPr txBox="1">
              <a:spLocks noChangeArrowheads="1"/>
            </p:cNvSpPr>
            <p:nvPr/>
          </p:nvSpPr>
          <p:spPr bwMode="auto">
            <a:xfrm>
              <a:off x="1212782" y="731495"/>
              <a:ext cx="73194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kumimoji="1" lang="zh-CN" altLang="en-US" sz="2400" b="1" dirty="0">
                  <a:latin typeface="宋体" panose="02010600030101010101" pitchFamily="2" charset="-122"/>
                </a:rPr>
                <a:t>厂商在短期均衡（或利润最大化）时有三种可能状态</a:t>
              </a:r>
              <a:r>
                <a:rPr kumimoji="1" lang="zh-CN" altLang="en-US" sz="2400" b="1" dirty="0">
                  <a:solidFill>
                    <a:srgbClr val="0000CC"/>
                  </a:solidFill>
                  <a:latin typeface="宋体" panose="02010600030101010101" pitchFamily="2" charset="-122"/>
                </a:rPr>
                <a:t> </a:t>
              </a:r>
            </a:p>
          </p:txBody>
        </p:sp>
        <p:sp>
          <p:nvSpPr>
            <p:cNvPr id="6" name="Line 3">
              <a:extLst>
                <a:ext uri="{FF2B5EF4-FFF2-40B4-BE49-F238E27FC236}">
                  <a16:creationId xmlns:a16="http://schemas.microsoft.com/office/drawing/2014/main" id="{25C9FC44-E9E7-4D81-AA3F-731F01BA26C0}"/>
                </a:ext>
              </a:extLst>
            </p:cNvPr>
            <p:cNvSpPr>
              <a:spLocks noChangeShapeType="1"/>
            </p:cNvSpPr>
            <p:nvPr/>
          </p:nvSpPr>
          <p:spPr bwMode="auto">
            <a:xfrm>
              <a:off x="609600" y="5767388"/>
              <a:ext cx="2438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4">
              <a:extLst>
                <a:ext uri="{FF2B5EF4-FFF2-40B4-BE49-F238E27FC236}">
                  <a16:creationId xmlns:a16="http://schemas.microsoft.com/office/drawing/2014/main" id="{6DC1F4FB-B361-4AFE-979F-9DFEB29D6AEF}"/>
                </a:ext>
              </a:extLst>
            </p:cNvPr>
            <p:cNvSpPr>
              <a:spLocks noChangeShapeType="1"/>
            </p:cNvSpPr>
            <p:nvPr/>
          </p:nvSpPr>
          <p:spPr bwMode="auto">
            <a:xfrm flipV="1">
              <a:off x="609600" y="2947988"/>
              <a:ext cx="0" cy="2819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Arc 5">
              <a:extLst>
                <a:ext uri="{FF2B5EF4-FFF2-40B4-BE49-F238E27FC236}">
                  <a16:creationId xmlns:a16="http://schemas.microsoft.com/office/drawing/2014/main" id="{21C2122C-E742-44DA-9BD2-1766717D01CE}"/>
                </a:ext>
              </a:extLst>
            </p:cNvPr>
            <p:cNvSpPr>
              <a:spLocks/>
            </p:cNvSpPr>
            <p:nvPr/>
          </p:nvSpPr>
          <p:spPr bwMode="auto">
            <a:xfrm rot="5517927">
              <a:off x="1995488" y="3044825"/>
              <a:ext cx="577850" cy="1828800"/>
            </a:xfrm>
            <a:custGeom>
              <a:avLst/>
              <a:gdLst>
                <a:gd name="T0" fmla="*/ 0 w 21600"/>
                <a:gd name="T1" fmla="*/ 0 h 42906"/>
                <a:gd name="T2" fmla="*/ 2147483646 w 21600"/>
                <a:gd name="T3" fmla="*/ 2147483646 h 42906"/>
                <a:gd name="T4" fmla="*/ 0 w 21600"/>
                <a:gd name="T5" fmla="*/ 2147483646 h 42906"/>
                <a:gd name="T6" fmla="*/ 0 60000 65536"/>
                <a:gd name="T7" fmla="*/ 0 60000 65536"/>
                <a:gd name="T8" fmla="*/ 0 60000 65536"/>
                <a:gd name="T9" fmla="*/ 0 w 21600"/>
                <a:gd name="T10" fmla="*/ 0 h 42906"/>
                <a:gd name="T11" fmla="*/ 21600 w 21600"/>
                <a:gd name="T12" fmla="*/ 42906 h 42906"/>
              </a:gdLst>
              <a:ahLst/>
              <a:cxnLst>
                <a:cxn ang="T6">
                  <a:pos x="T0" y="T1"/>
                </a:cxn>
                <a:cxn ang="T7">
                  <a:pos x="T2" y="T3"/>
                </a:cxn>
                <a:cxn ang="T8">
                  <a:pos x="T4" y="T5"/>
                </a:cxn>
              </a:cxnLst>
              <a:rect l="T9" t="T10" r="T11" b="T12"/>
              <a:pathLst>
                <a:path w="21600" h="42906" fill="none" extrusionOk="0">
                  <a:moveTo>
                    <a:pt x="-1" y="0"/>
                  </a:moveTo>
                  <a:cubicBezTo>
                    <a:pt x="11929" y="0"/>
                    <a:pt x="21600" y="9670"/>
                    <a:pt x="21600" y="21600"/>
                  </a:cubicBezTo>
                  <a:cubicBezTo>
                    <a:pt x="21600" y="32159"/>
                    <a:pt x="13965" y="41171"/>
                    <a:pt x="3549" y="42906"/>
                  </a:cubicBezTo>
                </a:path>
                <a:path w="21600" h="42906" stroke="0" extrusionOk="0">
                  <a:moveTo>
                    <a:pt x="-1" y="0"/>
                  </a:moveTo>
                  <a:cubicBezTo>
                    <a:pt x="11929" y="0"/>
                    <a:pt x="21600" y="9670"/>
                    <a:pt x="21600" y="21600"/>
                  </a:cubicBezTo>
                  <a:cubicBezTo>
                    <a:pt x="21600" y="32159"/>
                    <a:pt x="13965" y="41171"/>
                    <a:pt x="3549" y="42906"/>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Arc 6">
              <a:extLst>
                <a:ext uri="{FF2B5EF4-FFF2-40B4-BE49-F238E27FC236}">
                  <a16:creationId xmlns:a16="http://schemas.microsoft.com/office/drawing/2014/main" id="{78804351-2685-426F-9B4A-C62856072119}"/>
                </a:ext>
              </a:extLst>
            </p:cNvPr>
            <p:cNvSpPr>
              <a:spLocks/>
            </p:cNvSpPr>
            <p:nvPr/>
          </p:nvSpPr>
          <p:spPr bwMode="auto">
            <a:xfrm rot="5517927">
              <a:off x="1641476" y="3611562"/>
              <a:ext cx="804862" cy="1668463"/>
            </a:xfrm>
            <a:custGeom>
              <a:avLst/>
              <a:gdLst>
                <a:gd name="T0" fmla="*/ 2147483646 w 21600"/>
                <a:gd name="T1" fmla="*/ 0 h 36361"/>
                <a:gd name="T2" fmla="*/ 2147483646 w 21600"/>
                <a:gd name="T3" fmla="*/ 2147483646 h 36361"/>
                <a:gd name="T4" fmla="*/ 0 w 21600"/>
                <a:gd name="T5" fmla="*/ 2147483646 h 36361"/>
                <a:gd name="T6" fmla="*/ 0 60000 65536"/>
                <a:gd name="T7" fmla="*/ 0 60000 65536"/>
                <a:gd name="T8" fmla="*/ 0 60000 65536"/>
                <a:gd name="T9" fmla="*/ 0 w 21600"/>
                <a:gd name="T10" fmla="*/ 0 h 36361"/>
                <a:gd name="T11" fmla="*/ 21600 w 21600"/>
                <a:gd name="T12" fmla="*/ 36361 h 36361"/>
              </a:gdLst>
              <a:ahLst/>
              <a:cxnLst>
                <a:cxn ang="T6">
                  <a:pos x="T0" y="T1"/>
                </a:cxn>
                <a:cxn ang="T7">
                  <a:pos x="T2" y="T3"/>
                </a:cxn>
                <a:cxn ang="T8">
                  <a:pos x="T4" y="T5"/>
                </a:cxn>
              </a:cxnLst>
              <a:rect l="T9" t="T10" r="T11" b="T12"/>
              <a:pathLst>
                <a:path w="21600" h="36361" fill="none" extrusionOk="0">
                  <a:moveTo>
                    <a:pt x="6268" y="-1"/>
                  </a:moveTo>
                  <a:cubicBezTo>
                    <a:pt x="15373" y="2760"/>
                    <a:pt x="21600" y="11154"/>
                    <a:pt x="21600" y="20670"/>
                  </a:cubicBezTo>
                  <a:cubicBezTo>
                    <a:pt x="21600" y="26606"/>
                    <a:pt x="19156" y="32281"/>
                    <a:pt x="14844" y="36361"/>
                  </a:cubicBezTo>
                </a:path>
                <a:path w="21600" h="36361" stroke="0" extrusionOk="0">
                  <a:moveTo>
                    <a:pt x="6268" y="-1"/>
                  </a:moveTo>
                  <a:cubicBezTo>
                    <a:pt x="15373" y="2760"/>
                    <a:pt x="21600" y="11154"/>
                    <a:pt x="21600" y="20670"/>
                  </a:cubicBezTo>
                  <a:cubicBezTo>
                    <a:pt x="21600" y="26606"/>
                    <a:pt x="19156" y="32281"/>
                    <a:pt x="14844" y="36361"/>
                  </a:cubicBezTo>
                  <a:lnTo>
                    <a:pt x="0" y="20670"/>
                  </a:lnTo>
                  <a:lnTo>
                    <a:pt x="6268" y="-1"/>
                  </a:lnTo>
                  <a:close/>
                </a:path>
              </a:pathLst>
            </a:custGeom>
            <a:noFill/>
            <a:ln w="28575">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 name="Arc 7">
              <a:extLst>
                <a:ext uri="{FF2B5EF4-FFF2-40B4-BE49-F238E27FC236}">
                  <a16:creationId xmlns:a16="http://schemas.microsoft.com/office/drawing/2014/main" id="{6D4A7C7E-B17F-41A2-A34E-1DA06A15B192}"/>
                </a:ext>
              </a:extLst>
            </p:cNvPr>
            <p:cNvSpPr>
              <a:spLocks/>
            </p:cNvSpPr>
            <p:nvPr/>
          </p:nvSpPr>
          <p:spPr bwMode="auto">
            <a:xfrm rot="11213296" flipH="1">
              <a:off x="1352550" y="3176588"/>
              <a:ext cx="1143000" cy="2286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 name="Line 8">
              <a:extLst>
                <a:ext uri="{FF2B5EF4-FFF2-40B4-BE49-F238E27FC236}">
                  <a16:creationId xmlns:a16="http://schemas.microsoft.com/office/drawing/2014/main" id="{DBC41AA9-BF7F-40A4-B5F7-2B43402DF6DB}"/>
                </a:ext>
              </a:extLst>
            </p:cNvPr>
            <p:cNvSpPr>
              <a:spLocks noChangeShapeType="1"/>
            </p:cNvSpPr>
            <p:nvPr/>
          </p:nvSpPr>
          <p:spPr bwMode="auto">
            <a:xfrm>
              <a:off x="609600" y="4414838"/>
              <a:ext cx="2667000" cy="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Rectangle 9">
              <a:extLst>
                <a:ext uri="{FF2B5EF4-FFF2-40B4-BE49-F238E27FC236}">
                  <a16:creationId xmlns:a16="http://schemas.microsoft.com/office/drawing/2014/main" id="{03E7B7F5-9F0E-435B-9422-6C0162733DC6}"/>
                </a:ext>
              </a:extLst>
            </p:cNvPr>
            <p:cNvSpPr>
              <a:spLocks noChangeArrowheads="1"/>
            </p:cNvSpPr>
            <p:nvPr/>
          </p:nvSpPr>
          <p:spPr bwMode="auto">
            <a:xfrm>
              <a:off x="2171700" y="4319588"/>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en-US" altLang="zh-CN" sz="1000">
                  <a:latin typeface="Times New Roman" panose="02020603050405020304" pitchFamily="18" charset="0"/>
                </a:rPr>
                <a:t>●</a:t>
              </a:r>
            </a:p>
          </p:txBody>
        </p:sp>
        <p:sp>
          <p:nvSpPr>
            <p:cNvPr id="13" name="Line 10">
              <a:extLst>
                <a:ext uri="{FF2B5EF4-FFF2-40B4-BE49-F238E27FC236}">
                  <a16:creationId xmlns:a16="http://schemas.microsoft.com/office/drawing/2014/main" id="{61A7D636-A746-48C0-8A25-AC789DD29151}"/>
                </a:ext>
              </a:extLst>
            </p:cNvPr>
            <p:cNvSpPr>
              <a:spLocks noChangeShapeType="1"/>
            </p:cNvSpPr>
            <p:nvPr/>
          </p:nvSpPr>
          <p:spPr bwMode="auto">
            <a:xfrm>
              <a:off x="2324100" y="4243388"/>
              <a:ext cx="0" cy="1524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1">
              <a:extLst>
                <a:ext uri="{FF2B5EF4-FFF2-40B4-BE49-F238E27FC236}">
                  <a16:creationId xmlns:a16="http://schemas.microsoft.com/office/drawing/2014/main" id="{23CF7431-82CE-4F93-8C18-4DA24873150E}"/>
                </a:ext>
              </a:extLst>
            </p:cNvPr>
            <p:cNvSpPr>
              <a:spLocks noChangeShapeType="1"/>
            </p:cNvSpPr>
            <p:nvPr/>
          </p:nvSpPr>
          <p:spPr bwMode="auto">
            <a:xfrm>
              <a:off x="3352800" y="5767388"/>
              <a:ext cx="2438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2">
              <a:extLst>
                <a:ext uri="{FF2B5EF4-FFF2-40B4-BE49-F238E27FC236}">
                  <a16:creationId xmlns:a16="http://schemas.microsoft.com/office/drawing/2014/main" id="{BD975828-0479-4C1E-96B9-0C8AD4CF75BD}"/>
                </a:ext>
              </a:extLst>
            </p:cNvPr>
            <p:cNvSpPr>
              <a:spLocks noChangeShapeType="1"/>
            </p:cNvSpPr>
            <p:nvPr/>
          </p:nvSpPr>
          <p:spPr bwMode="auto">
            <a:xfrm flipV="1">
              <a:off x="3352800" y="2947988"/>
              <a:ext cx="0" cy="2819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Arc 13">
              <a:extLst>
                <a:ext uri="{FF2B5EF4-FFF2-40B4-BE49-F238E27FC236}">
                  <a16:creationId xmlns:a16="http://schemas.microsoft.com/office/drawing/2014/main" id="{F76E9D3C-2300-4D50-BC1C-FA68725CA5D9}"/>
                </a:ext>
              </a:extLst>
            </p:cNvPr>
            <p:cNvSpPr>
              <a:spLocks/>
            </p:cNvSpPr>
            <p:nvPr/>
          </p:nvSpPr>
          <p:spPr bwMode="auto">
            <a:xfrm rot="5517927">
              <a:off x="4738688" y="3063875"/>
              <a:ext cx="577850" cy="1828800"/>
            </a:xfrm>
            <a:custGeom>
              <a:avLst/>
              <a:gdLst>
                <a:gd name="T0" fmla="*/ 0 w 21600"/>
                <a:gd name="T1" fmla="*/ 0 h 42906"/>
                <a:gd name="T2" fmla="*/ 2147483646 w 21600"/>
                <a:gd name="T3" fmla="*/ 2147483646 h 42906"/>
                <a:gd name="T4" fmla="*/ 0 w 21600"/>
                <a:gd name="T5" fmla="*/ 2147483646 h 42906"/>
                <a:gd name="T6" fmla="*/ 0 60000 65536"/>
                <a:gd name="T7" fmla="*/ 0 60000 65536"/>
                <a:gd name="T8" fmla="*/ 0 60000 65536"/>
                <a:gd name="T9" fmla="*/ 0 w 21600"/>
                <a:gd name="T10" fmla="*/ 0 h 42906"/>
                <a:gd name="T11" fmla="*/ 21600 w 21600"/>
                <a:gd name="T12" fmla="*/ 42906 h 42906"/>
              </a:gdLst>
              <a:ahLst/>
              <a:cxnLst>
                <a:cxn ang="T6">
                  <a:pos x="T0" y="T1"/>
                </a:cxn>
                <a:cxn ang="T7">
                  <a:pos x="T2" y="T3"/>
                </a:cxn>
                <a:cxn ang="T8">
                  <a:pos x="T4" y="T5"/>
                </a:cxn>
              </a:cxnLst>
              <a:rect l="T9" t="T10" r="T11" b="T12"/>
              <a:pathLst>
                <a:path w="21600" h="42906" fill="none" extrusionOk="0">
                  <a:moveTo>
                    <a:pt x="-1" y="0"/>
                  </a:moveTo>
                  <a:cubicBezTo>
                    <a:pt x="11929" y="0"/>
                    <a:pt x="21600" y="9670"/>
                    <a:pt x="21600" y="21600"/>
                  </a:cubicBezTo>
                  <a:cubicBezTo>
                    <a:pt x="21600" y="32159"/>
                    <a:pt x="13965" y="41171"/>
                    <a:pt x="3549" y="42906"/>
                  </a:cubicBezTo>
                </a:path>
                <a:path w="21600" h="42906" stroke="0" extrusionOk="0">
                  <a:moveTo>
                    <a:pt x="-1" y="0"/>
                  </a:moveTo>
                  <a:cubicBezTo>
                    <a:pt x="11929" y="0"/>
                    <a:pt x="21600" y="9670"/>
                    <a:pt x="21600" y="21600"/>
                  </a:cubicBezTo>
                  <a:cubicBezTo>
                    <a:pt x="21600" y="32159"/>
                    <a:pt x="13965" y="41171"/>
                    <a:pt x="3549" y="42906"/>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7" name="Arc 14">
              <a:extLst>
                <a:ext uri="{FF2B5EF4-FFF2-40B4-BE49-F238E27FC236}">
                  <a16:creationId xmlns:a16="http://schemas.microsoft.com/office/drawing/2014/main" id="{A87398F6-0008-42A2-BDA3-D651976F38A1}"/>
                </a:ext>
              </a:extLst>
            </p:cNvPr>
            <p:cNvSpPr>
              <a:spLocks/>
            </p:cNvSpPr>
            <p:nvPr/>
          </p:nvSpPr>
          <p:spPr bwMode="auto">
            <a:xfrm rot="11213296" flipH="1">
              <a:off x="4095750" y="3176588"/>
              <a:ext cx="1143000" cy="2286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 name="Line 15">
              <a:extLst>
                <a:ext uri="{FF2B5EF4-FFF2-40B4-BE49-F238E27FC236}">
                  <a16:creationId xmlns:a16="http://schemas.microsoft.com/office/drawing/2014/main" id="{4DF7C4C2-1201-4BA2-9263-1C2793138C5B}"/>
                </a:ext>
              </a:extLst>
            </p:cNvPr>
            <p:cNvSpPr>
              <a:spLocks noChangeShapeType="1"/>
            </p:cNvSpPr>
            <p:nvPr/>
          </p:nvSpPr>
          <p:spPr bwMode="auto">
            <a:xfrm>
              <a:off x="3352800" y="4262438"/>
              <a:ext cx="2667000" cy="0"/>
            </a:xfrm>
            <a:prstGeom prst="line">
              <a:avLst/>
            </a:prstGeom>
            <a:noFill/>
            <a:ln w="19050">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Rectangle 16">
              <a:extLst>
                <a:ext uri="{FF2B5EF4-FFF2-40B4-BE49-F238E27FC236}">
                  <a16:creationId xmlns:a16="http://schemas.microsoft.com/office/drawing/2014/main" id="{E9582881-BDF1-4A84-9CD6-27E6D242F2CA}"/>
                </a:ext>
              </a:extLst>
            </p:cNvPr>
            <p:cNvSpPr>
              <a:spLocks noChangeArrowheads="1"/>
            </p:cNvSpPr>
            <p:nvPr/>
          </p:nvSpPr>
          <p:spPr bwMode="auto">
            <a:xfrm>
              <a:off x="4953000" y="4129088"/>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en-US" altLang="zh-CN" sz="1000">
                  <a:latin typeface="Times New Roman" panose="02020603050405020304" pitchFamily="18" charset="0"/>
                </a:rPr>
                <a:t>●</a:t>
              </a:r>
            </a:p>
          </p:txBody>
        </p:sp>
        <p:sp>
          <p:nvSpPr>
            <p:cNvPr id="20" name="Line 17">
              <a:extLst>
                <a:ext uri="{FF2B5EF4-FFF2-40B4-BE49-F238E27FC236}">
                  <a16:creationId xmlns:a16="http://schemas.microsoft.com/office/drawing/2014/main" id="{AE0268BC-4D5A-4FCC-8C1C-5DE691825A03}"/>
                </a:ext>
              </a:extLst>
            </p:cNvPr>
            <p:cNvSpPr>
              <a:spLocks noChangeShapeType="1"/>
            </p:cNvSpPr>
            <p:nvPr/>
          </p:nvSpPr>
          <p:spPr bwMode="auto">
            <a:xfrm>
              <a:off x="5105400" y="4243388"/>
              <a:ext cx="0" cy="1524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8">
              <a:extLst>
                <a:ext uri="{FF2B5EF4-FFF2-40B4-BE49-F238E27FC236}">
                  <a16:creationId xmlns:a16="http://schemas.microsoft.com/office/drawing/2014/main" id="{6A60053F-EF74-4EBC-9DF4-388D673375D9}"/>
                </a:ext>
              </a:extLst>
            </p:cNvPr>
            <p:cNvSpPr>
              <a:spLocks noChangeShapeType="1"/>
            </p:cNvSpPr>
            <p:nvPr/>
          </p:nvSpPr>
          <p:spPr bwMode="auto">
            <a:xfrm>
              <a:off x="6172200" y="5767388"/>
              <a:ext cx="2438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9">
              <a:extLst>
                <a:ext uri="{FF2B5EF4-FFF2-40B4-BE49-F238E27FC236}">
                  <a16:creationId xmlns:a16="http://schemas.microsoft.com/office/drawing/2014/main" id="{C4A040AF-6BF3-47E9-9EDB-BA8E9F1E3AEA}"/>
                </a:ext>
              </a:extLst>
            </p:cNvPr>
            <p:cNvSpPr>
              <a:spLocks noChangeShapeType="1"/>
            </p:cNvSpPr>
            <p:nvPr/>
          </p:nvSpPr>
          <p:spPr bwMode="auto">
            <a:xfrm flipV="1">
              <a:off x="6172200" y="2947988"/>
              <a:ext cx="0" cy="2819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Arc 20">
              <a:extLst>
                <a:ext uri="{FF2B5EF4-FFF2-40B4-BE49-F238E27FC236}">
                  <a16:creationId xmlns:a16="http://schemas.microsoft.com/office/drawing/2014/main" id="{1E95BB72-C430-444B-89E8-192CC48BBB3D}"/>
                </a:ext>
              </a:extLst>
            </p:cNvPr>
            <p:cNvSpPr>
              <a:spLocks/>
            </p:cNvSpPr>
            <p:nvPr/>
          </p:nvSpPr>
          <p:spPr bwMode="auto">
            <a:xfrm rot="5517927">
              <a:off x="7369175" y="2970213"/>
              <a:ext cx="577850" cy="2057400"/>
            </a:xfrm>
            <a:custGeom>
              <a:avLst/>
              <a:gdLst>
                <a:gd name="T0" fmla="*/ 0 w 21600"/>
                <a:gd name="T1" fmla="*/ 0 h 42906"/>
                <a:gd name="T2" fmla="*/ 2147483646 w 21600"/>
                <a:gd name="T3" fmla="*/ 2147483646 h 42906"/>
                <a:gd name="T4" fmla="*/ 0 w 21600"/>
                <a:gd name="T5" fmla="*/ 2147483646 h 42906"/>
                <a:gd name="T6" fmla="*/ 0 60000 65536"/>
                <a:gd name="T7" fmla="*/ 0 60000 65536"/>
                <a:gd name="T8" fmla="*/ 0 60000 65536"/>
                <a:gd name="T9" fmla="*/ 0 w 21600"/>
                <a:gd name="T10" fmla="*/ 0 h 42906"/>
                <a:gd name="T11" fmla="*/ 21600 w 21600"/>
                <a:gd name="T12" fmla="*/ 42906 h 42906"/>
              </a:gdLst>
              <a:ahLst/>
              <a:cxnLst>
                <a:cxn ang="T6">
                  <a:pos x="T0" y="T1"/>
                </a:cxn>
                <a:cxn ang="T7">
                  <a:pos x="T2" y="T3"/>
                </a:cxn>
                <a:cxn ang="T8">
                  <a:pos x="T4" y="T5"/>
                </a:cxn>
              </a:cxnLst>
              <a:rect l="T9" t="T10" r="T11" b="T12"/>
              <a:pathLst>
                <a:path w="21600" h="42906" fill="none" extrusionOk="0">
                  <a:moveTo>
                    <a:pt x="-1" y="0"/>
                  </a:moveTo>
                  <a:cubicBezTo>
                    <a:pt x="11929" y="0"/>
                    <a:pt x="21600" y="9670"/>
                    <a:pt x="21600" y="21600"/>
                  </a:cubicBezTo>
                  <a:cubicBezTo>
                    <a:pt x="21600" y="32159"/>
                    <a:pt x="13965" y="41171"/>
                    <a:pt x="3549" y="42906"/>
                  </a:cubicBezTo>
                </a:path>
                <a:path w="21600" h="42906" stroke="0" extrusionOk="0">
                  <a:moveTo>
                    <a:pt x="-1" y="0"/>
                  </a:moveTo>
                  <a:cubicBezTo>
                    <a:pt x="11929" y="0"/>
                    <a:pt x="21600" y="9670"/>
                    <a:pt x="21600" y="21600"/>
                  </a:cubicBezTo>
                  <a:cubicBezTo>
                    <a:pt x="21600" y="32159"/>
                    <a:pt x="13965" y="41171"/>
                    <a:pt x="3549" y="42906"/>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 name="Arc 21">
              <a:extLst>
                <a:ext uri="{FF2B5EF4-FFF2-40B4-BE49-F238E27FC236}">
                  <a16:creationId xmlns:a16="http://schemas.microsoft.com/office/drawing/2014/main" id="{A0FC210D-33D2-4911-856A-136C7503CD5E}"/>
                </a:ext>
              </a:extLst>
            </p:cNvPr>
            <p:cNvSpPr>
              <a:spLocks/>
            </p:cNvSpPr>
            <p:nvPr/>
          </p:nvSpPr>
          <p:spPr bwMode="auto">
            <a:xfrm rot="11213296" flipH="1">
              <a:off x="6858000" y="2795588"/>
              <a:ext cx="1143000" cy="2286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 name="Line 22">
              <a:extLst>
                <a:ext uri="{FF2B5EF4-FFF2-40B4-BE49-F238E27FC236}">
                  <a16:creationId xmlns:a16="http://schemas.microsoft.com/office/drawing/2014/main" id="{F557DD41-DA22-4811-B7E7-4ADF0B903BD1}"/>
                </a:ext>
              </a:extLst>
            </p:cNvPr>
            <p:cNvSpPr>
              <a:spLocks noChangeShapeType="1"/>
            </p:cNvSpPr>
            <p:nvPr/>
          </p:nvSpPr>
          <p:spPr bwMode="auto">
            <a:xfrm>
              <a:off x="6172200" y="4014788"/>
              <a:ext cx="2667000" cy="0"/>
            </a:xfrm>
            <a:prstGeom prst="line">
              <a:avLst/>
            </a:prstGeom>
            <a:noFill/>
            <a:ln w="19050">
              <a:solidFill>
                <a:srgbClr val="5E863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Rectangle 23">
              <a:extLst>
                <a:ext uri="{FF2B5EF4-FFF2-40B4-BE49-F238E27FC236}">
                  <a16:creationId xmlns:a16="http://schemas.microsoft.com/office/drawing/2014/main" id="{AD238F9E-624B-44C0-B710-EA638E850E84}"/>
                </a:ext>
              </a:extLst>
            </p:cNvPr>
            <p:cNvSpPr>
              <a:spLocks noChangeArrowheads="1"/>
            </p:cNvSpPr>
            <p:nvPr/>
          </p:nvSpPr>
          <p:spPr bwMode="auto">
            <a:xfrm>
              <a:off x="7677150" y="3900488"/>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kumimoji="1" lang="en-US" altLang="zh-CN" sz="1000">
                  <a:latin typeface="Times New Roman" panose="02020603050405020304" pitchFamily="18" charset="0"/>
                </a:rPr>
                <a:t>●</a:t>
              </a:r>
            </a:p>
          </p:txBody>
        </p:sp>
        <p:sp>
          <p:nvSpPr>
            <p:cNvPr id="27" name="Line 24">
              <a:extLst>
                <a:ext uri="{FF2B5EF4-FFF2-40B4-BE49-F238E27FC236}">
                  <a16:creationId xmlns:a16="http://schemas.microsoft.com/office/drawing/2014/main" id="{9526111B-AF6C-4FF0-A5C7-64F152299838}"/>
                </a:ext>
              </a:extLst>
            </p:cNvPr>
            <p:cNvSpPr>
              <a:spLocks noChangeShapeType="1"/>
            </p:cNvSpPr>
            <p:nvPr/>
          </p:nvSpPr>
          <p:spPr bwMode="auto">
            <a:xfrm>
              <a:off x="7829550" y="4014788"/>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Text Box 25">
              <a:extLst>
                <a:ext uri="{FF2B5EF4-FFF2-40B4-BE49-F238E27FC236}">
                  <a16:creationId xmlns:a16="http://schemas.microsoft.com/office/drawing/2014/main" id="{3F194173-0FAA-4F9C-82C2-A9C582001078}"/>
                </a:ext>
              </a:extLst>
            </p:cNvPr>
            <p:cNvSpPr txBox="1">
              <a:spLocks noChangeArrowheads="1"/>
            </p:cNvSpPr>
            <p:nvPr/>
          </p:nvSpPr>
          <p:spPr bwMode="auto">
            <a:xfrm>
              <a:off x="222176" y="4286424"/>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P</a:t>
              </a:r>
              <a:r>
                <a:rPr kumimoji="1" lang="en-US" altLang="zh-CN" sz="1800" baseline="-25000" dirty="0">
                  <a:latin typeface="Times New Roman" panose="02020603050405020304" pitchFamily="18" charset="0"/>
                </a:rPr>
                <a:t>1</a:t>
              </a:r>
            </a:p>
          </p:txBody>
        </p:sp>
        <p:sp>
          <p:nvSpPr>
            <p:cNvPr id="29" name="Text Box 26">
              <a:extLst>
                <a:ext uri="{FF2B5EF4-FFF2-40B4-BE49-F238E27FC236}">
                  <a16:creationId xmlns:a16="http://schemas.microsoft.com/office/drawing/2014/main" id="{170EEA30-102E-4A1C-B2B4-9953E4B86A02}"/>
                </a:ext>
              </a:extLst>
            </p:cNvPr>
            <p:cNvSpPr txBox="1">
              <a:spLocks noChangeArrowheads="1"/>
            </p:cNvSpPr>
            <p:nvPr/>
          </p:nvSpPr>
          <p:spPr bwMode="auto">
            <a:xfrm>
              <a:off x="2987824" y="3998392"/>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P</a:t>
              </a:r>
              <a:r>
                <a:rPr kumimoji="1" lang="en-US" altLang="zh-CN" sz="1800" baseline="-25000" dirty="0">
                  <a:latin typeface="Times New Roman" panose="02020603050405020304" pitchFamily="18" charset="0"/>
                </a:rPr>
                <a:t>2</a:t>
              </a:r>
            </a:p>
          </p:txBody>
        </p:sp>
        <p:sp>
          <p:nvSpPr>
            <p:cNvPr id="30" name="Text Box 27">
              <a:extLst>
                <a:ext uri="{FF2B5EF4-FFF2-40B4-BE49-F238E27FC236}">
                  <a16:creationId xmlns:a16="http://schemas.microsoft.com/office/drawing/2014/main" id="{4E694156-3558-42E5-8382-587C5297E38E}"/>
                </a:ext>
              </a:extLst>
            </p:cNvPr>
            <p:cNvSpPr txBox="1">
              <a:spLocks noChangeArrowheads="1"/>
            </p:cNvSpPr>
            <p:nvPr/>
          </p:nvSpPr>
          <p:spPr bwMode="auto">
            <a:xfrm>
              <a:off x="5796136" y="378236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P</a:t>
              </a:r>
              <a:r>
                <a:rPr kumimoji="1" lang="en-US" altLang="zh-CN" sz="1800" baseline="-25000" dirty="0">
                  <a:latin typeface="Times New Roman" panose="02020603050405020304" pitchFamily="18" charset="0"/>
                </a:rPr>
                <a:t>3</a:t>
              </a:r>
            </a:p>
          </p:txBody>
        </p:sp>
        <p:sp>
          <p:nvSpPr>
            <p:cNvPr id="31" name="Text Box 28">
              <a:extLst>
                <a:ext uri="{FF2B5EF4-FFF2-40B4-BE49-F238E27FC236}">
                  <a16:creationId xmlns:a16="http://schemas.microsoft.com/office/drawing/2014/main" id="{B350CDB0-AFB3-4F46-A7F8-67604263DA56}"/>
                </a:ext>
              </a:extLst>
            </p:cNvPr>
            <p:cNvSpPr txBox="1">
              <a:spLocks noChangeArrowheads="1"/>
            </p:cNvSpPr>
            <p:nvPr/>
          </p:nvSpPr>
          <p:spPr bwMode="auto">
            <a:xfrm>
              <a:off x="2247900" y="43576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E</a:t>
              </a:r>
              <a:r>
                <a:rPr kumimoji="1" lang="en-US" altLang="zh-CN" sz="1800" baseline="-25000">
                  <a:latin typeface="Times New Roman" panose="02020603050405020304" pitchFamily="18" charset="0"/>
                </a:rPr>
                <a:t>1</a:t>
              </a:r>
            </a:p>
          </p:txBody>
        </p:sp>
        <p:sp>
          <p:nvSpPr>
            <p:cNvPr id="32" name="Text Box 29">
              <a:extLst>
                <a:ext uri="{FF2B5EF4-FFF2-40B4-BE49-F238E27FC236}">
                  <a16:creationId xmlns:a16="http://schemas.microsoft.com/office/drawing/2014/main" id="{020DF6AB-D7D4-48C4-A5FE-9A111DDD827B}"/>
                </a:ext>
              </a:extLst>
            </p:cNvPr>
            <p:cNvSpPr txBox="1">
              <a:spLocks noChangeArrowheads="1"/>
            </p:cNvSpPr>
            <p:nvPr/>
          </p:nvSpPr>
          <p:spPr bwMode="auto">
            <a:xfrm>
              <a:off x="5048250" y="42433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E</a:t>
              </a:r>
              <a:r>
                <a:rPr kumimoji="1" lang="en-US" altLang="zh-CN" sz="1800" baseline="-25000">
                  <a:latin typeface="Times New Roman" panose="02020603050405020304" pitchFamily="18" charset="0"/>
                </a:rPr>
                <a:t>2</a:t>
              </a:r>
            </a:p>
          </p:txBody>
        </p:sp>
        <p:sp>
          <p:nvSpPr>
            <p:cNvPr id="33" name="Text Box 30">
              <a:extLst>
                <a:ext uri="{FF2B5EF4-FFF2-40B4-BE49-F238E27FC236}">
                  <a16:creationId xmlns:a16="http://schemas.microsoft.com/office/drawing/2014/main" id="{4BA96619-9871-467A-A095-1885ED57D44A}"/>
                </a:ext>
              </a:extLst>
            </p:cNvPr>
            <p:cNvSpPr txBox="1">
              <a:spLocks noChangeArrowheads="1"/>
            </p:cNvSpPr>
            <p:nvPr/>
          </p:nvSpPr>
          <p:spPr bwMode="auto">
            <a:xfrm>
              <a:off x="7410450" y="365283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E</a:t>
              </a:r>
              <a:r>
                <a:rPr kumimoji="1" lang="en-US" altLang="zh-CN" sz="1800" baseline="-25000">
                  <a:latin typeface="Times New Roman" panose="02020603050405020304" pitchFamily="18" charset="0"/>
                </a:rPr>
                <a:t>3</a:t>
              </a:r>
            </a:p>
          </p:txBody>
        </p:sp>
        <p:sp>
          <p:nvSpPr>
            <p:cNvPr id="34" name="Text Box 31">
              <a:extLst>
                <a:ext uri="{FF2B5EF4-FFF2-40B4-BE49-F238E27FC236}">
                  <a16:creationId xmlns:a16="http://schemas.microsoft.com/office/drawing/2014/main" id="{9F95F18F-88B4-4FAA-A289-6E765B34BB6A}"/>
                </a:ext>
              </a:extLst>
            </p:cNvPr>
            <p:cNvSpPr txBox="1">
              <a:spLocks noChangeArrowheads="1"/>
            </p:cNvSpPr>
            <p:nvPr/>
          </p:nvSpPr>
          <p:spPr bwMode="auto">
            <a:xfrm>
              <a:off x="381000" y="267950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P</a:t>
              </a:r>
              <a:endParaRPr kumimoji="1" lang="en-US" altLang="zh-CN" sz="1800" baseline="-25000" dirty="0">
                <a:latin typeface="Times New Roman" panose="02020603050405020304" pitchFamily="18" charset="0"/>
              </a:endParaRPr>
            </a:p>
          </p:txBody>
        </p:sp>
        <p:sp>
          <p:nvSpPr>
            <p:cNvPr id="35" name="Text Box 32">
              <a:extLst>
                <a:ext uri="{FF2B5EF4-FFF2-40B4-BE49-F238E27FC236}">
                  <a16:creationId xmlns:a16="http://schemas.microsoft.com/office/drawing/2014/main" id="{00B54048-2757-4B50-BED6-42D64F2E2C10}"/>
                </a:ext>
              </a:extLst>
            </p:cNvPr>
            <p:cNvSpPr txBox="1">
              <a:spLocks noChangeArrowheads="1"/>
            </p:cNvSpPr>
            <p:nvPr/>
          </p:nvSpPr>
          <p:spPr bwMode="auto">
            <a:xfrm>
              <a:off x="3352800" y="2628900"/>
              <a:ext cx="3047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P</a:t>
              </a:r>
              <a:endParaRPr kumimoji="1" lang="en-US" altLang="zh-CN" sz="1800" baseline="-25000" dirty="0">
                <a:latin typeface="Times New Roman" panose="02020603050405020304" pitchFamily="18" charset="0"/>
              </a:endParaRPr>
            </a:p>
          </p:txBody>
        </p:sp>
        <p:sp>
          <p:nvSpPr>
            <p:cNvPr id="36" name="Text Box 33">
              <a:extLst>
                <a:ext uri="{FF2B5EF4-FFF2-40B4-BE49-F238E27FC236}">
                  <a16:creationId xmlns:a16="http://schemas.microsoft.com/office/drawing/2014/main" id="{870BB83B-8E98-4551-9D8F-C14DF08EE68A}"/>
                </a:ext>
              </a:extLst>
            </p:cNvPr>
            <p:cNvSpPr txBox="1">
              <a:spLocks noChangeArrowheads="1"/>
            </p:cNvSpPr>
            <p:nvPr/>
          </p:nvSpPr>
          <p:spPr bwMode="auto">
            <a:xfrm>
              <a:off x="6172200" y="2719388"/>
              <a:ext cx="38099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P</a:t>
              </a:r>
              <a:endParaRPr kumimoji="1" lang="en-US" altLang="zh-CN" sz="1800" baseline="-25000" dirty="0">
                <a:latin typeface="Times New Roman" panose="02020603050405020304" pitchFamily="18" charset="0"/>
              </a:endParaRPr>
            </a:p>
          </p:txBody>
        </p:sp>
        <p:sp>
          <p:nvSpPr>
            <p:cNvPr id="37" name="Text Box 34">
              <a:extLst>
                <a:ext uri="{FF2B5EF4-FFF2-40B4-BE49-F238E27FC236}">
                  <a16:creationId xmlns:a16="http://schemas.microsoft.com/office/drawing/2014/main" id="{D4806844-8CF2-4ACE-827A-D1AB4DBEB9E6}"/>
                </a:ext>
              </a:extLst>
            </p:cNvPr>
            <p:cNvSpPr txBox="1">
              <a:spLocks noChangeArrowheads="1"/>
            </p:cNvSpPr>
            <p:nvPr/>
          </p:nvSpPr>
          <p:spPr bwMode="auto">
            <a:xfrm>
              <a:off x="2000250" y="321468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MC</a:t>
              </a:r>
            </a:p>
          </p:txBody>
        </p:sp>
        <p:sp>
          <p:nvSpPr>
            <p:cNvPr id="38" name="Text Box 35">
              <a:extLst>
                <a:ext uri="{FF2B5EF4-FFF2-40B4-BE49-F238E27FC236}">
                  <a16:creationId xmlns:a16="http://schemas.microsoft.com/office/drawing/2014/main" id="{66048E93-A00C-4148-A6F0-4A8E5815C714}"/>
                </a:ext>
              </a:extLst>
            </p:cNvPr>
            <p:cNvSpPr txBox="1">
              <a:spLocks noChangeArrowheads="1"/>
            </p:cNvSpPr>
            <p:nvPr/>
          </p:nvSpPr>
          <p:spPr bwMode="auto">
            <a:xfrm>
              <a:off x="4724400" y="319563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MC</a:t>
              </a:r>
            </a:p>
          </p:txBody>
        </p:sp>
        <p:sp>
          <p:nvSpPr>
            <p:cNvPr id="39" name="Text Box 36">
              <a:extLst>
                <a:ext uri="{FF2B5EF4-FFF2-40B4-BE49-F238E27FC236}">
                  <a16:creationId xmlns:a16="http://schemas.microsoft.com/office/drawing/2014/main" id="{CEB905DA-3AC1-4887-A9E0-806E739A9F76}"/>
                </a:ext>
              </a:extLst>
            </p:cNvPr>
            <p:cNvSpPr txBox="1">
              <a:spLocks noChangeArrowheads="1"/>
            </p:cNvSpPr>
            <p:nvPr/>
          </p:nvSpPr>
          <p:spPr bwMode="auto">
            <a:xfrm>
              <a:off x="7467600" y="2667000"/>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MC</a:t>
              </a:r>
            </a:p>
          </p:txBody>
        </p:sp>
        <p:sp>
          <p:nvSpPr>
            <p:cNvPr id="40" name="Text Box 37">
              <a:extLst>
                <a:ext uri="{FF2B5EF4-FFF2-40B4-BE49-F238E27FC236}">
                  <a16:creationId xmlns:a16="http://schemas.microsoft.com/office/drawing/2014/main" id="{A3275DA9-E669-4035-8588-C53E0BA2A8E0}"/>
                </a:ext>
              </a:extLst>
            </p:cNvPr>
            <p:cNvSpPr txBox="1">
              <a:spLocks noChangeArrowheads="1"/>
            </p:cNvSpPr>
            <p:nvPr/>
          </p:nvSpPr>
          <p:spPr bwMode="auto">
            <a:xfrm>
              <a:off x="1371600" y="3571875"/>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AC</a:t>
              </a:r>
            </a:p>
          </p:txBody>
        </p:sp>
        <p:sp>
          <p:nvSpPr>
            <p:cNvPr id="41" name="Text Box 38">
              <a:extLst>
                <a:ext uri="{FF2B5EF4-FFF2-40B4-BE49-F238E27FC236}">
                  <a16:creationId xmlns:a16="http://schemas.microsoft.com/office/drawing/2014/main" id="{AEF0AE7D-141D-41A5-8F10-0497FABB29B0}"/>
                </a:ext>
              </a:extLst>
            </p:cNvPr>
            <p:cNvSpPr txBox="1">
              <a:spLocks noChangeArrowheads="1"/>
            </p:cNvSpPr>
            <p:nvPr/>
          </p:nvSpPr>
          <p:spPr bwMode="auto">
            <a:xfrm>
              <a:off x="1143000" y="435768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AVC</a:t>
              </a:r>
            </a:p>
          </p:txBody>
        </p:sp>
        <p:sp>
          <p:nvSpPr>
            <p:cNvPr id="42" name="Text Box 39">
              <a:extLst>
                <a:ext uri="{FF2B5EF4-FFF2-40B4-BE49-F238E27FC236}">
                  <a16:creationId xmlns:a16="http://schemas.microsoft.com/office/drawing/2014/main" id="{3B5C3C14-A002-4F87-9F35-1FA4DFD20840}"/>
                </a:ext>
              </a:extLst>
            </p:cNvPr>
            <p:cNvSpPr txBox="1">
              <a:spLocks noChangeArrowheads="1"/>
            </p:cNvSpPr>
            <p:nvPr/>
          </p:nvSpPr>
          <p:spPr bwMode="auto">
            <a:xfrm>
              <a:off x="4038600" y="3571875"/>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AC</a:t>
              </a:r>
            </a:p>
          </p:txBody>
        </p:sp>
        <p:sp>
          <p:nvSpPr>
            <p:cNvPr id="43" name="Text Box 40">
              <a:extLst>
                <a:ext uri="{FF2B5EF4-FFF2-40B4-BE49-F238E27FC236}">
                  <a16:creationId xmlns:a16="http://schemas.microsoft.com/office/drawing/2014/main" id="{D62ACEF9-0D06-403C-9700-749A0B534877}"/>
                </a:ext>
              </a:extLst>
            </p:cNvPr>
            <p:cNvSpPr txBox="1">
              <a:spLocks noChangeArrowheads="1"/>
            </p:cNvSpPr>
            <p:nvPr/>
          </p:nvSpPr>
          <p:spPr bwMode="auto">
            <a:xfrm>
              <a:off x="6553200" y="3557588"/>
              <a:ext cx="76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AC</a:t>
              </a:r>
            </a:p>
          </p:txBody>
        </p:sp>
        <p:sp>
          <p:nvSpPr>
            <p:cNvPr id="44" name="Text Box 41">
              <a:extLst>
                <a:ext uri="{FF2B5EF4-FFF2-40B4-BE49-F238E27FC236}">
                  <a16:creationId xmlns:a16="http://schemas.microsoft.com/office/drawing/2014/main" id="{50D18DE6-913D-4D5C-9AA0-98013053B58B}"/>
                </a:ext>
              </a:extLst>
            </p:cNvPr>
            <p:cNvSpPr txBox="1">
              <a:spLocks noChangeArrowheads="1"/>
            </p:cNvSpPr>
            <p:nvPr/>
          </p:nvSpPr>
          <p:spPr bwMode="auto">
            <a:xfrm>
              <a:off x="2133600" y="57673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r>
                <a:rPr kumimoji="1" lang="en-US" altLang="zh-CN" sz="1800" baseline="-25000">
                  <a:latin typeface="Times New Roman" panose="02020603050405020304" pitchFamily="18" charset="0"/>
                </a:rPr>
                <a:t>1</a:t>
              </a:r>
            </a:p>
          </p:txBody>
        </p:sp>
        <p:sp>
          <p:nvSpPr>
            <p:cNvPr id="45" name="Text Box 43">
              <a:extLst>
                <a:ext uri="{FF2B5EF4-FFF2-40B4-BE49-F238E27FC236}">
                  <a16:creationId xmlns:a16="http://schemas.microsoft.com/office/drawing/2014/main" id="{A20881CB-6035-48B7-B87D-3BE8C4A0FB8C}"/>
                </a:ext>
              </a:extLst>
            </p:cNvPr>
            <p:cNvSpPr txBox="1">
              <a:spLocks noChangeArrowheads="1"/>
            </p:cNvSpPr>
            <p:nvPr/>
          </p:nvSpPr>
          <p:spPr bwMode="auto">
            <a:xfrm>
              <a:off x="4876800" y="57673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r>
                <a:rPr kumimoji="1" lang="en-US" altLang="zh-CN" sz="1800" baseline="-25000">
                  <a:latin typeface="Times New Roman" panose="02020603050405020304" pitchFamily="18" charset="0"/>
                </a:rPr>
                <a:t>2</a:t>
              </a:r>
            </a:p>
          </p:txBody>
        </p:sp>
        <p:sp>
          <p:nvSpPr>
            <p:cNvPr id="46" name="Text Box 44">
              <a:extLst>
                <a:ext uri="{FF2B5EF4-FFF2-40B4-BE49-F238E27FC236}">
                  <a16:creationId xmlns:a16="http://schemas.microsoft.com/office/drawing/2014/main" id="{DC16EF7A-2E02-4437-ACDD-AC39FCD9569B}"/>
                </a:ext>
              </a:extLst>
            </p:cNvPr>
            <p:cNvSpPr txBox="1">
              <a:spLocks noChangeArrowheads="1"/>
            </p:cNvSpPr>
            <p:nvPr/>
          </p:nvSpPr>
          <p:spPr bwMode="auto">
            <a:xfrm>
              <a:off x="7658100" y="5762625"/>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r>
                <a:rPr kumimoji="1" lang="en-US" altLang="zh-CN" sz="1800" baseline="-25000">
                  <a:latin typeface="Times New Roman" panose="02020603050405020304" pitchFamily="18" charset="0"/>
                </a:rPr>
                <a:t>3</a:t>
              </a:r>
            </a:p>
          </p:txBody>
        </p:sp>
        <p:sp>
          <p:nvSpPr>
            <p:cNvPr id="47" name="Text Box 45">
              <a:extLst>
                <a:ext uri="{FF2B5EF4-FFF2-40B4-BE49-F238E27FC236}">
                  <a16:creationId xmlns:a16="http://schemas.microsoft.com/office/drawing/2014/main" id="{6ACAE9AF-FE93-4569-991E-E9EC76D9E990}"/>
                </a:ext>
              </a:extLst>
            </p:cNvPr>
            <p:cNvSpPr txBox="1">
              <a:spLocks noChangeArrowheads="1"/>
            </p:cNvSpPr>
            <p:nvPr/>
          </p:nvSpPr>
          <p:spPr bwMode="auto">
            <a:xfrm>
              <a:off x="3059832" y="5726584"/>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0</a:t>
              </a:r>
              <a:endParaRPr kumimoji="1" lang="en-US" altLang="zh-CN" sz="1800" baseline="-25000" dirty="0">
                <a:latin typeface="Times New Roman" panose="02020603050405020304" pitchFamily="18" charset="0"/>
              </a:endParaRPr>
            </a:p>
          </p:txBody>
        </p:sp>
        <p:sp>
          <p:nvSpPr>
            <p:cNvPr id="48" name="Text Box 46">
              <a:extLst>
                <a:ext uri="{FF2B5EF4-FFF2-40B4-BE49-F238E27FC236}">
                  <a16:creationId xmlns:a16="http://schemas.microsoft.com/office/drawing/2014/main" id="{7E04753E-1DDC-48F0-9041-6C0DAF12A456}"/>
                </a:ext>
              </a:extLst>
            </p:cNvPr>
            <p:cNvSpPr txBox="1">
              <a:spLocks noChangeArrowheads="1"/>
            </p:cNvSpPr>
            <p:nvPr/>
          </p:nvSpPr>
          <p:spPr bwMode="auto">
            <a:xfrm>
              <a:off x="5796136" y="566124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dirty="0">
                  <a:latin typeface="Times New Roman" panose="02020603050405020304" pitchFamily="18" charset="0"/>
                </a:rPr>
                <a:t>0</a:t>
              </a:r>
              <a:endParaRPr kumimoji="1" lang="en-US" altLang="zh-CN" sz="1800" baseline="-25000" dirty="0">
                <a:latin typeface="Times New Roman" panose="02020603050405020304" pitchFamily="18" charset="0"/>
              </a:endParaRPr>
            </a:p>
          </p:txBody>
        </p:sp>
        <p:sp>
          <p:nvSpPr>
            <p:cNvPr id="49" name="Text Box 47">
              <a:extLst>
                <a:ext uri="{FF2B5EF4-FFF2-40B4-BE49-F238E27FC236}">
                  <a16:creationId xmlns:a16="http://schemas.microsoft.com/office/drawing/2014/main" id="{6C53A3FD-4223-4FA8-91B8-DD05198F90E3}"/>
                </a:ext>
              </a:extLst>
            </p:cNvPr>
            <p:cNvSpPr txBox="1">
              <a:spLocks noChangeArrowheads="1"/>
            </p:cNvSpPr>
            <p:nvPr/>
          </p:nvSpPr>
          <p:spPr bwMode="auto">
            <a:xfrm>
              <a:off x="2743200" y="57673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endParaRPr kumimoji="1" lang="en-US" altLang="zh-CN" sz="1800" baseline="-25000">
                <a:latin typeface="Times New Roman" panose="02020603050405020304" pitchFamily="18" charset="0"/>
              </a:endParaRPr>
            </a:p>
          </p:txBody>
        </p:sp>
        <p:sp>
          <p:nvSpPr>
            <p:cNvPr id="50" name="Text Box 48">
              <a:extLst>
                <a:ext uri="{FF2B5EF4-FFF2-40B4-BE49-F238E27FC236}">
                  <a16:creationId xmlns:a16="http://schemas.microsoft.com/office/drawing/2014/main" id="{F07560B6-6EF2-4C4C-B61D-2DB47C881201}"/>
                </a:ext>
              </a:extLst>
            </p:cNvPr>
            <p:cNvSpPr txBox="1">
              <a:spLocks noChangeArrowheads="1"/>
            </p:cNvSpPr>
            <p:nvPr/>
          </p:nvSpPr>
          <p:spPr bwMode="auto">
            <a:xfrm>
              <a:off x="5410200" y="57673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endParaRPr kumimoji="1" lang="en-US" altLang="zh-CN" sz="1800" baseline="-25000">
                <a:latin typeface="Times New Roman" panose="02020603050405020304" pitchFamily="18" charset="0"/>
              </a:endParaRPr>
            </a:p>
          </p:txBody>
        </p:sp>
        <p:sp>
          <p:nvSpPr>
            <p:cNvPr id="51" name="Text Box 49">
              <a:extLst>
                <a:ext uri="{FF2B5EF4-FFF2-40B4-BE49-F238E27FC236}">
                  <a16:creationId xmlns:a16="http://schemas.microsoft.com/office/drawing/2014/main" id="{C398944C-C64E-4040-A00E-AF995EAC35C8}"/>
                </a:ext>
              </a:extLst>
            </p:cNvPr>
            <p:cNvSpPr txBox="1">
              <a:spLocks noChangeArrowheads="1"/>
            </p:cNvSpPr>
            <p:nvPr/>
          </p:nvSpPr>
          <p:spPr bwMode="auto">
            <a:xfrm>
              <a:off x="8153400" y="576738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endParaRPr kumimoji="1" lang="en-US" altLang="zh-CN" sz="1800" baseline="-25000">
                <a:latin typeface="Times New Roman" panose="02020603050405020304" pitchFamily="18" charset="0"/>
              </a:endParaRPr>
            </a:p>
          </p:txBody>
        </p:sp>
        <p:sp>
          <p:nvSpPr>
            <p:cNvPr id="52" name="Text Box 50">
              <a:extLst>
                <a:ext uri="{FF2B5EF4-FFF2-40B4-BE49-F238E27FC236}">
                  <a16:creationId xmlns:a16="http://schemas.microsoft.com/office/drawing/2014/main" id="{7989427A-487B-4D9C-8713-6EDAC8B431A2}"/>
                </a:ext>
              </a:extLst>
            </p:cNvPr>
            <p:cNvSpPr txBox="1">
              <a:spLocks noChangeArrowheads="1"/>
            </p:cNvSpPr>
            <p:nvPr/>
          </p:nvSpPr>
          <p:spPr bwMode="auto">
            <a:xfrm>
              <a:off x="813104" y="1612265"/>
              <a:ext cx="25146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zh-CN" altLang="en-US" sz="2000" b="1" dirty="0">
                  <a:solidFill>
                    <a:srgbClr val="C00000"/>
                  </a:solidFill>
                  <a:latin typeface="Times New Roman" panose="02020603050405020304" pitchFamily="18" charset="0"/>
                </a:rPr>
                <a:t>厂商处于亏损状态</a:t>
              </a:r>
              <a:endParaRPr kumimoji="1" lang="en-US" altLang="zh-CN" sz="2000" b="1" dirty="0">
                <a:solidFill>
                  <a:srgbClr val="C00000"/>
                </a:solidFill>
                <a:latin typeface="Times New Roman" panose="02020603050405020304" pitchFamily="18" charset="0"/>
              </a:endParaRPr>
            </a:p>
            <a:p>
              <a:pPr algn="ctr" eaLnBrk="1" hangingPunct="1">
                <a:spcBef>
                  <a:spcPct val="50000"/>
                </a:spcBef>
                <a:buFontTx/>
                <a:buNone/>
              </a:pPr>
              <a:r>
                <a:rPr kumimoji="1" lang="zh-CN" altLang="en-US" sz="2000" b="1" dirty="0">
                  <a:solidFill>
                    <a:srgbClr val="C00000"/>
                  </a:solidFill>
                  <a:latin typeface="Times New Roman" panose="02020603050405020304" pitchFamily="18" charset="0"/>
                </a:rPr>
                <a:t> </a:t>
              </a:r>
              <a:r>
                <a:rPr kumimoji="1" lang="en-US" altLang="zh-CN" sz="2000" b="1" dirty="0">
                  <a:solidFill>
                    <a:srgbClr val="C00000"/>
                  </a:solidFill>
                  <a:latin typeface="Times New Roman" panose="02020603050405020304" pitchFamily="18" charset="0"/>
                </a:rPr>
                <a:t>AR=P&lt;AC</a:t>
              </a:r>
              <a:endParaRPr kumimoji="1" lang="zh-CN" altLang="en-US" sz="2000" b="1" dirty="0">
                <a:solidFill>
                  <a:srgbClr val="C00000"/>
                </a:solidFill>
                <a:latin typeface="Times New Roman" panose="02020603050405020304" pitchFamily="18" charset="0"/>
              </a:endParaRPr>
            </a:p>
          </p:txBody>
        </p:sp>
        <p:sp>
          <p:nvSpPr>
            <p:cNvPr id="53" name="Text Box 51">
              <a:extLst>
                <a:ext uri="{FF2B5EF4-FFF2-40B4-BE49-F238E27FC236}">
                  <a16:creationId xmlns:a16="http://schemas.microsoft.com/office/drawing/2014/main" id="{92587B81-FCFC-4338-93FF-7BBEB3297CA5}"/>
                </a:ext>
              </a:extLst>
            </p:cNvPr>
            <p:cNvSpPr txBox="1">
              <a:spLocks noChangeArrowheads="1"/>
            </p:cNvSpPr>
            <p:nvPr/>
          </p:nvSpPr>
          <p:spPr bwMode="auto">
            <a:xfrm>
              <a:off x="3604268" y="1687668"/>
              <a:ext cx="22098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zh-CN" altLang="en-US" sz="2000" b="1" dirty="0">
                  <a:solidFill>
                    <a:srgbClr val="0070C0"/>
                  </a:solidFill>
                  <a:latin typeface="Times New Roman" panose="02020603050405020304" pitchFamily="18" charset="0"/>
                </a:rPr>
                <a:t>厂商收支平衡</a:t>
              </a:r>
              <a:endParaRPr kumimoji="1" lang="en-US" altLang="zh-CN" sz="2000" b="1" dirty="0">
                <a:solidFill>
                  <a:srgbClr val="0070C0"/>
                </a:solidFill>
                <a:latin typeface="Times New Roman" panose="02020603050405020304" pitchFamily="18" charset="0"/>
              </a:endParaRPr>
            </a:p>
            <a:p>
              <a:pPr algn="ctr" eaLnBrk="1" hangingPunct="1">
                <a:spcBef>
                  <a:spcPct val="50000"/>
                </a:spcBef>
                <a:buFontTx/>
                <a:buNone/>
              </a:pPr>
              <a:r>
                <a:rPr kumimoji="1" lang="en-US" altLang="zh-CN" sz="2000" b="1" dirty="0">
                  <a:solidFill>
                    <a:srgbClr val="0070C0"/>
                  </a:solidFill>
                  <a:latin typeface="Times New Roman" panose="02020603050405020304" pitchFamily="18" charset="0"/>
                </a:rPr>
                <a:t>AR=P=AC</a:t>
              </a:r>
              <a:r>
                <a:rPr kumimoji="1" lang="zh-CN" altLang="en-US" sz="2000" b="1" dirty="0">
                  <a:solidFill>
                    <a:srgbClr val="0070C0"/>
                  </a:solidFill>
                  <a:latin typeface="Times New Roman" panose="02020603050405020304" pitchFamily="18" charset="0"/>
                </a:rPr>
                <a:t> </a:t>
              </a:r>
            </a:p>
          </p:txBody>
        </p:sp>
        <p:sp>
          <p:nvSpPr>
            <p:cNvPr id="54" name="Text Box 52">
              <a:extLst>
                <a:ext uri="{FF2B5EF4-FFF2-40B4-BE49-F238E27FC236}">
                  <a16:creationId xmlns:a16="http://schemas.microsoft.com/office/drawing/2014/main" id="{73677811-16D8-4CD2-BEFF-523488D956DE}"/>
                </a:ext>
              </a:extLst>
            </p:cNvPr>
            <p:cNvSpPr txBox="1">
              <a:spLocks noChangeArrowheads="1"/>
            </p:cNvSpPr>
            <p:nvPr/>
          </p:nvSpPr>
          <p:spPr bwMode="auto">
            <a:xfrm>
              <a:off x="6286500" y="1732201"/>
              <a:ext cx="24384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zh-CN" altLang="en-US" sz="2000" b="1" dirty="0">
                  <a:solidFill>
                    <a:srgbClr val="5E8631"/>
                  </a:solidFill>
                  <a:latin typeface="Times New Roman" panose="02020603050405020304" pitchFamily="18" charset="0"/>
                </a:rPr>
                <a:t>厂商处于盈利状态</a:t>
              </a:r>
              <a:endParaRPr kumimoji="1" lang="en-US" altLang="zh-CN" sz="2000" b="1" dirty="0">
                <a:solidFill>
                  <a:srgbClr val="5E8631"/>
                </a:solidFill>
                <a:latin typeface="Times New Roman" panose="02020603050405020304" pitchFamily="18" charset="0"/>
              </a:endParaRPr>
            </a:p>
            <a:p>
              <a:pPr algn="ctr" eaLnBrk="1" hangingPunct="1">
                <a:spcBef>
                  <a:spcPct val="50000"/>
                </a:spcBef>
                <a:buFontTx/>
                <a:buNone/>
              </a:pPr>
              <a:r>
                <a:rPr kumimoji="1" lang="en-US" altLang="zh-CN" sz="2000" b="1" dirty="0">
                  <a:solidFill>
                    <a:srgbClr val="5E8631"/>
                  </a:solidFill>
                  <a:latin typeface="Times New Roman" panose="02020603050405020304" pitchFamily="18" charset="0"/>
                </a:rPr>
                <a:t>AC&lt;P=AR</a:t>
              </a:r>
              <a:r>
                <a:rPr kumimoji="1" lang="zh-CN" altLang="en-US" sz="2000" b="1" dirty="0">
                  <a:solidFill>
                    <a:srgbClr val="5E8631"/>
                  </a:solidFill>
                  <a:latin typeface="Times New Roman" panose="02020603050405020304" pitchFamily="18" charset="0"/>
                </a:rPr>
                <a:t> </a:t>
              </a:r>
            </a:p>
          </p:txBody>
        </p:sp>
      </p:grpSp>
      <p:sp>
        <p:nvSpPr>
          <p:cNvPr id="55" name="Text Box 45">
            <a:extLst>
              <a:ext uri="{FF2B5EF4-FFF2-40B4-BE49-F238E27FC236}">
                <a16:creationId xmlns:a16="http://schemas.microsoft.com/office/drawing/2014/main" id="{E29C4E59-A2AA-47D5-A952-08DBB221ABBA}"/>
              </a:ext>
            </a:extLst>
          </p:cNvPr>
          <p:cNvSpPr txBox="1">
            <a:spLocks noChangeArrowheads="1"/>
          </p:cNvSpPr>
          <p:nvPr/>
        </p:nvSpPr>
        <p:spPr bwMode="auto">
          <a:xfrm>
            <a:off x="222176" y="5661248"/>
            <a:ext cx="53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0</a:t>
            </a:r>
            <a:endParaRPr kumimoji="1" lang="en-US" altLang="zh-CN" sz="1800" baseline="-25000">
              <a:latin typeface="Times New Roman" panose="02020603050405020304" pitchFamily="18" charset="0"/>
            </a:endParaRPr>
          </a:p>
        </p:txBody>
      </p:sp>
      <p:cxnSp>
        <p:nvCxnSpPr>
          <p:cNvPr id="57" name="直接连接符 56">
            <a:extLst>
              <a:ext uri="{FF2B5EF4-FFF2-40B4-BE49-F238E27FC236}">
                <a16:creationId xmlns:a16="http://schemas.microsoft.com/office/drawing/2014/main" id="{667DBD5D-C897-4902-8BCD-E50C1C3BE5C4}"/>
              </a:ext>
            </a:extLst>
          </p:cNvPr>
          <p:cNvCxnSpPr>
            <a:cxnSpLocks/>
          </p:cNvCxnSpPr>
          <p:nvPr/>
        </p:nvCxnSpPr>
        <p:spPr>
          <a:xfrm flipH="1">
            <a:off x="626228" y="4243388"/>
            <a:ext cx="1543135" cy="0"/>
          </a:xfrm>
          <a:prstGeom prst="line">
            <a:avLst/>
          </a:prstGeom>
          <a:ln w="19050">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9B52E2E2-01D2-440D-89A6-6B6E9277A94C}"/>
              </a:ext>
            </a:extLst>
          </p:cNvPr>
          <p:cNvCxnSpPr/>
          <p:nvPr/>
        </p:nvCxnSpPr>
        <p:spPr>
          <a:xfrm flipH="1">
            <a:off x="6172200" y="4298392"/>
            <a:ext cx="1657350" cy="0"/>
          </a:xfrm>
          <a:prstGeom prst="line">
            <a:avLst/>
          </a:prstGeom>
          <a:ln w="1905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4195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7E4588D-1E71-43AD-9A7A-08D7155C681A}"/>
              </a:ext>
            </a:extLst>
          </p:cNvPr>
          <p:cNvGrpSpPr>
            <a:grpSpLocks/>
          </p:cNvGrpSpPr>
          <p:nvPr/>
        </p:nvGrpSpPr>
        <p:grpSpPr bwMode="auto">
          <a:xfrm>
            <a:off x="1228725" y="1817688"/>
            <a:ext cx="5405438" cy="4362450"/>
            <a:chOff x="1523" y="1213"/>
            <a:chExt cx="3405" cy="2748"/>
          </a:xfrm>
        </p:grpSpPr>
        <p:sp>
          <p:nvSpPr>
            <p:cNvPr id="36915" name="AutoShape 3">
              <a:extLst>
                <a:ext uri="{FF2B5EF4-FFF2-40B4-BE49-F238E27FC236}">
                  <a16:creationId xmlns:a16="http://schemas.microsoft.com/office/drawing/2014/main" id="{4529BBAD-A807-4736-852D-948D336D6302}"/>
                </a:ext>
              </a:extLst>
            </p:cNvPr>
            <p:cNvSpPr>
              <a:spLocks noChangeArrowheads="1"/>
            </p:cNvSpPr>
            <p:nvPr/>
          </p:nvSpPr>
          <p:spPr bwMode="auto">
            <a:xfrm rot="-5400000">
              <a:off x="3408" y="1412"/>
              <a:ext cx="672" cy="288"/>
            </a:xfrm>
            <a:prstGeom prst="rtTriangle">
              <a:avLst/>
            </a:prstGeom>
            <a:solidFill>
              <a:srgbClr val="FF99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6916" name="AutoShape 4">
              <a:extLst>
                <a:ext uri="{FF2B5EF4-FFF2-40B4-BE49-F238E27FC236}">
                  <a16:creationId xmlns:a16="http://schemas.microsoft.com/office/drawing/2014/main" id="{6D1857A5-7350-42E4-8D08-33EB21AD8776}"/>
                </a:ext>
              </a:extLst>
            </p:cNvPr>
            <p:cNvSpPr>
              <a:spLocks noChangeArrowheads="1"/>
            </p:cNvSpPr>
            <p:nvPr/>
          </p:nvSpPr>
          <p:spPr bwMode="auto">
            <a:xfrm rot="5400000">
              <a:off x="3120" y="2084"/>
              <a:ext cx="672" cy="288"/>
            </a:xfrm>
            <a:prstGeom prst="rtTriangle">
              <a:avLst/>
            </a:prstGeom>
            <a:solidFill>
              <a:srgbClr val="FF99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6917" name="Line 5">
              <a:extLst>
                <a:ext uri="{FF2B5EF4-FFF2-40B4-BE49-F238E27FC236}">
                  <a16:creationId xmlns:a16="http://schemas.microsoft.com/office/drawing/2014/main" id="{8137DA9E-F091-46D6-8F95-3B48DFC7B0E6}"/>
                </a:ext>
              </a:extLst>
            </p:cNvPr>
            <p:cNvSpPr>
              <a:spLocks noChangeShapeType="1"/>
            </p:cNvSpPr>
            <p:nvPr/>
          </p:nvSpPr>
          <p:spPr bwMode="auto">
            <a:xfrm flipV="1">
              <a:off x="1632" y="1885"/>
              <a:ext cx="0" cy="169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18" name="Line 6">
              <a:extLst>
                <a:ext uri="{FF2B5EF4-FFF2-40B4-BE49-F238E27FC236}">
                  <a16:creationId xmlns:a16="http://schemas.microsoft.com/office/drawing/2014/main" id="{EB029893-12D6-4C79-89C8-EDA06D4B9A4D}"/>
                </a:ext>
              </a:extLst>
            </p:cNvPr>
            <p:cNvSpPr>
              <a:spLocks noChangeShapeType="1"/>
            </p:cNvSpPr>
            <p:nvPr/>
          </p:nvSpPr>
          <p:spPr bwMode="auto">
            <a:xfrm flipV="1">
              <a:off x="3312" y="1885"/>
              <a:ext cx="0" cy="169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19" name="Line 7">
              <a:extLst>
                <a:ext uri="{FF2B5EF4-FFF2-40B4-BE49-F238E27FC236}">
                  <a16:creationId xmlns:a16="http://schemas.microsoft.com/office/drawing/2014/main" id="{E256A001-3E2F-4A01-B53A-CA3D63EED2B9}"/>
                </a:ext>
              </a:extLst>
            </p:cNvPr>
            <p:cNvSpPr>
              <a:spLocks noChangeShapeType="1"/>
            </p:cNvSpPr>
            <p:nvPr/>
          </p:nvSpPr>
          <p:spPr bwMode="auto">
            <a:xfrm flipV="1">
              <a:off x="3888" y="1213"/>
              <a:ext cx="0" cy="236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20" name="Rectangle 8">
              <a:extLst>
                <a:ext uri="{FF2B5EF4-FFF2-40B4-BE49-F238E27FC236}">
                  <a16:creationId xmlns:a16="http://schemas.microsoft.com/office/drawing/2014/main" id="{B95D5716-011B-4C9C-B716-AD6F69064C91}"/>
                </a:ext>
              </a:extLst>
            </p:cNvPr>
            <p:cNvSpPr>
              <a:spLocks noChangeArrowheads="1"/>
            </p:cNvSpPr>
            <p:nvPr/>
          </p:nvSpPr>
          <p:spPr bwMode="auto">
            <a:xfrm>
              <a:off x="1523" y="3713"/>
              <a:ext cx="27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25000">
                  <a:latin typeface="Times New Roman" panose="02020603050405020304" pitchFamily="18" charset="0"/>
                  <a:ea typeface="宋体" panose="02010600030101010101" pitchFamily="2" charset="-122"/>
                </a:rPr>
                <a:t>0</a:t>
              </a:r>
            </a:p>
          </p:txBody>
        </p:sp>
        <p:sp>
          <p:nvSpPr>
            <p:cNvPr id="36921" name="Rectangle 9">
              <a:extLst>
                <a:ext uri="{FF2B5EF4-FFF2-40B4-BE49-F238E27FC236}">
                  <a16:creationId xmlns:a16="http://schemas.microsoft.com/office/drawing/2014/main" id="{46DC54A4-9428-4DF1-9792-03E697BC2DCD}"/>
                </a:ext>
              </a:extLst>
            </p:cNvPr>
            <p:cNvSpPr>
              <a:spLocks noChangeArrowheads="1"/>
            </p:cNvSpPr>
            <p:nvPr/>
          </p:nvSpPr>
          <p:spPr bwMode="auto">
            <a:xfrm>
              <a:off x="2759" y="1350"/>
              <a:ext cx="758"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600" i="1">
                  <a:latin typeface="Times New Roman" panose="02020603050405020304" pitchFamily="18" charset="0"/>
                  <a:ea typeface="宋体" panose="02010600030101010101" pitchFamily="2" charset="-122"/>
                </a:rPr>
                <a:t>q</a:t>
              </a:r>
              <a:r>
                <a:rPr lang="en-US" altLang="zh-CN" sz="1600" i="1" baseline="-25000">
                  <a:latin typeface="Times New Roman" panose="02020603050405020304" pitchFamily="18" charset="0"/>
                  <a:ea typeface="宋体" panose="02010600030101010101" pitchFamily="2" charset="-122"/>
                </a:rPr>
                <a:t>1</a:t>
              </a:r>
              <a:r>
                <a:rPr lang="en-US" altLang="zh-CN" sz="1600" i="1">
                  <a:latin typeface="Times New Roman" panose="02020603050405020304" pitchFamily="18" charset="0"/>
                  <a:ea typeface="宋体" panose="02010600030101010101" pitchFamily="2" charset="-122"/>
                </a:rPr>
                <a:t> &lt; q</a:t>
              </a:r>
              <a:r>
                <a:rPr lang="en-US" altLang="zh-CN" sz="1600" i="1" baseline="30000">
                  <a:latin typeface="Times New Roman" panose="02020603050405020304" pitchFamily="18" charset="0"/>
                  <a:ea typeface="宋体" panose="02010600030101010101" pitchFamily="2" charset="-122"/>
                </a:rPr>
                <a:t>*</a:t>
              </a:r>
              <a:r>
                <a:rPr lang="zh-CN" altLang="en-US" sz="1600">
                  <a:latin typeface="Times New Roman" panose="02020603050405020304" pitchFamily="18" charset="0"/>
                  <a:ea typeface="宋体" panose="02010600030101010101" pitchFamily="2" charset="-122"/>
                </a:rPr>
                <a:t>时的</a:t>
              </a:r>
            </a:p>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利润损失</a:t>
              </a:r>
            </a:p>
          </p:txBody>
        </p:sp>
        <p:sp>
          <p:nvSpPr>
            <p:cNvPr id="36922" name="Line 10">
              <a:extLst>
                <a:ext uri="{FF2B5EF4-FFF2-40B4-BE49-F238E27FC236}">
                  <a16:creationId xmlns:a16="http://schemas.microsoft.com/office/drawing/2014/main" id="{38B10177-D150-4B83-B37D-CF45F694F498}"/>
                </a:ext>
              </a:extLst>
            </p:cNvPr>
            <p:cNvSpPr>
              <a:spLocks noChangeShapeType="1"/>
            </p:cNvSpPr>
            <p:nvPr/>
          </p:nvSpPr>
          <p:spPr bwMode="auto">
            <a:xfrm>
              <a:off x="3321" y="1746"/>
              <a:ext cx="79" cy="319"/>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23" name="Rectangle 11">
              <a:extLst>
                <a:ext uri="{FF2B5EF4-FFF2-40B4-BE49-F238E27FC236}">
                  <a16:creationId xmlns:a16="http://schemas.microsoft.com/office/drawing/2014/main" id="{C616B90A-A492-4502-A06C-CA26A842AF68}"/>
                </a:ext>
              </a:extLst>
            </p:cNvPr>
            <p:cNvSpPr>
              <a:spLocks noChangeArrowheads="1"/>
            </p:cNvSpPr>
            <p:nvPr/>
          </p:nvSpPr>
          <p:spPr bwMode="auto">
            <a:xfrm>
              <a:off x="4134" y="1350"/>
              <a:ext cx="794"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600" i="1">
                  <a:latin typeface="Times New Roman" panose="02020603050405020304" pitchFamily="18" charset="0"/>
                  <a:ea typeface="宋体" panose="02010600030101010101" pitchFamily="2" charset="-122"/>
                </a:rPr>
                <a:t>q</a:t>
              </a:r>
              <a:r>
                <a:rPr lang="en-US" altLang="zh-CN" sz="1600" i="1" baseline="-25000">
                  <a:latin typeface="Times New Roman" panose="02020603050405020304" pitchFamily="18" charset="0"/>
                  <a:ea typeface="宋体" panose="02010600030101010101" pitchFamily="2" charset="-122"/>
                </a:rPr>
                <a:t>2</a:t>
              </a:r>
              <a:r>
                <a:rPr lang="en-US" altLang="zh-CN" sz="1600" i="1">
                  <a:latin typeface="Times New Roman" panose="02020603050405020304" pitchFamily="18" charset="0"/>
                  <a:ea typeface="宋体" panose="02010600030101010101" pitchFamily="2" charset="-122"/>
                </a:rPr>
                <a:t> &gt; q</a:t>
              </a:r>
              <a:r>
                <a:rPr lang="en-US" altLang="zh-CN" sz="1600" i="1" baseline="30000">
                  <a:latin typeface="Times New Roman" panose="02020603050405020304" pitchFamily="18" charset="0"/>
                  <a:ea typeface="宋体" panose="02010600030101010101" pitchFamily="2" charset="-122"/>
                </a:rPr>
                <a:t>*</a:t>
              </a:r>
              <a:r>
                <a:rPr lang="en-US" altLang="zh-CN" sz="1600">
                  <a:latin typeface="Times New Roman" panose="02020603050405020304" pitchFamily="18" charset="0"/>
                  <a:ea typeface="宋体" panose="02010600030101010101" pitchFamily="2" charset="-122"/>
                </a:rPr>
                <a:t> </a:t>
              </a:r>
              <a:r>
                <a:rPr lang="zh-CN" altLang="en-US" sz="1600">
                  <a:latin typeface="Times New Roman" panose="02020603050405020304" pitchFamily="18" charset="0"/>
                  <a:ea typeface="宋体" panose="02010600030101010101" pitchFamily="2" charset="-122"/>
                </a:rPr>
                <a:t>时的</a:t>
              </a:r>
            </a:p>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利润损失</a:t>
              </a:r>
              <a:endParaRPr lang="zh-CN" altLang="en-US" sz="1600" i="1" baseline="30000">
                <a:latin typeface="Times New Roman" panose="02020603050405020304" pitchFamily="18" charset="0"/>
                <a:ea typeface="宋体" panose="02010600030101010101" pitchFamily="2" charset="-122"/>
              </a:endParaRPr>
            </a:p>
          </p:txBody>
        </p:sp>
        <p:sp>
          <p:nvSpPr>
            <p:cNvPr id="36924" name="Line 12">
              <a:extLst>
                <a:ext uri="{FF2B5EF4-FFF2-40B4-BE49-F238E27FC236}">
                  <a16:creationId xmlns:a16="http://schemas.microsoft.com/office/drawing/2014/main" id="{EC7C2E45-4354-4850-8C38-BFD8318621CB}"/>
                </a:ext>
              </a:extLst>
            </p:cNvPr>
            <p:cNvSpPr>
              <a:spLocks noChangeShapeType="1"/>
            </p:cNvSpPr>
            <p:nvPr/>
          </p:nvSpPr>
          <p:spPr bwMode="auto">
            <a:xfrm flipH="1">
              <a:off x="3785" y="1602"/>
              <a:ext cx="399" cy="17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25" name="Rectangle 13">
              <a:extLst>
                <a:ext uri="{FF2B5EF4-FFF2-40B4-BE49-F238E27FC236}">
                  <a16:creationId xmlns:a16="http://schemas.microsoft.com/office/drawing/2014/main" id="{2E950048-D6D4-480B-81ED-FA895DA461C5}"/>
                </a:ext>
              </a:extLst>
            </p:cNvPr>
            <p:cNvSpPr>
              <a:spLocks noChangeArrowheads="1"/>
            </p:cNvSpPr>
            <p:nvPr/>
          </p:nvSpPr>
          <p:spPr bwMode="auto">
            <a:xfrm>
              <a:off x="3223" y="3713"/>
              <a:ext cx="27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25000">
                  <a:latin typeface="Times New Roman" panose="02020603050405020304" pitchFamily="18" charset="0"/>
                  <a:ea typeface="宋体" panose="02010600030101010101" pitchFamily="2" charset="-122"/>
                </a:rPr>
                <a:t>1</a:t>
              </a:r>
            </a:p>
          </p:txBody>
        </p:sp>
        <p:sp>
          <p:nvSpPr>
            <p:cNvPr id="36926" name="Rectangle 14">
              <a:extLst>
                <a:ext uri="{FF2B5EF4-FFF2-40B4-BE49-F238E27FC236}">
                  <a16:creationId xmlns:a16="http://schemas.microsoft.com/office/drawing/2014/main" id="{BF3028AA-6435-47A3-ADED-D8C97DAC6EFD}"/>
                </a:ext>
              </a:extLst>
            </p:cNvPr>
            <p:cNvSpPr>
              <a:spLocks noChangeArrowheads="1"/>
            </p:cNvSpPr>
            <p:nvPr/>
          </p:nvSpPr>
          <p:spPr bwMode="auto">
            <a:xfrm>
              <a:off x="3756" y="3713"/>
              <a:ext cx="27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25000">
                  <a:latin typeface="Times New Roman" panose="02020603050405020304" pitchFamily="18" charset="0"/>
                  <a:ea typeface="宋体" panose="02010600030101010101" pitchFamily="2" charset="-122"/>
                </a:rPr>
                <a:t>2</a:t>
              </a:r>
            </a:p>
          </p:txBody>
        </p:sp>
      </p:grpSp>
      <p:sp>
        <p:nvSpPr>
          <p:cNvPr id="36867" name="Rectangle 15">
            <a:extLst>
              <a:ext uri="{FF2B5EF4-FFF2-40B4-BE49-F238E27FC236}">
                <a16:creationId xmlns:a16="http://schemas.microsoft.com/office/drawing/2014/main" id="{B81E876E-BBFB-46C5-B6CF-67A21117262D}"/>
              </a:ext>
            </a:extLst>
          </p:cNvPr>
          <p:cNvSpPr>
            <a:spLocks noChangeArrowheads="1"/>
          </p:cNvSpPr>
          <p:nvPr/>
        </p:nvSpPr>
        <p:spPr bwMode="auto">
          <a:xfrm>
            <a:off x="2087563" y="57912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6868" name="Rectangle 16">
            <a:extLst>
              <a:ext uri="{FF2B5EF4-FFF2-40B4-BE49-F238E27FC236}">
                <a16:creationId xmlns:a16="http://schemas.microsoft.com/office/drawing/2014/main" id="{D36FBE40-DC0D-4172-A1D7-79E1E96EF954}"/>
              </a:ext>
            </a:extLst>
          </p:cNvPr>
          <p:cNvSpPr>
            <a:spLocks noChangeArrowheads="1"/>
          </p:cNvSpPr>
          <p:nvPr/>
        </p:nvSpPr>
        <p:spPr bwMode="auto">
          <a:xfrm>
            <a:off x="2195513" y="404813"/>
            <a:ext cx="6245225"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3200">
                <a:solidFill>
                  <a:schemeClr val="bg1"/>
                </a:solidFill>
              </a:rPr>
              <a:t>竞争性厂商利润为正的情况</a:t>
            </a:r>
            <a:endParaRPr lang="en-US" altLang="zh-CN" sz="3200">
              <a:solidFill>
                <a:schemeClr val="bg1"/>
              </a:solidFill>
            </a:endParaRPr>
          </a:p>
        </p:txBody>
      </p:sp>
      <p:sp>
        <p:nvSpPr>
          <p:cNvPr id="36869" name="Rectangle 17">
            <a:extLst>
              <a:ext uri="{FF2B5EF4-FFF2-40B4-BE49-F238E27FC236}">
                <a16:creationId xmlns:a16="http://schemas.microsoft.com/office/drawing/2014/main" id="{1B104FBD-127C-4533-BE4C-CDA7CB215012}"/>
              </a:ext>
            </a:extLst>
          </p:cNvPr>
          <p:cNvSpPr>
            <a:spLocks noChangeArrowheads="1"/>
          </p:cNvSpPr>
          <p:nvPr/>
        </p:nvSpPr>
        <p:spPr bwMode="auto">
          <a:xfrm>
            <a:off x="1935163" y="57785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6870" name="Line 18">
            <a:extLst>
              <a:ext uri="{FF2B5EF4-FFF2-40B4-BE49-F238E27FC236}">
                <a16:creationId xmlns:a16="http://schemas.microsoft.com/office/drawing/2014/main" id="{CF4A5AFB-C070-4510-93B0-5E1884BE9431}"/>
              </a:ext>
            </a:extLst>
          </p:cNvPr>
          <p:cNvSpPr>
            <a:spLocks noChangeShapeType="1"/>
          </p:cNvSpPr>
          <p:nvPr/>
        </p:nvSpPr>
        <p:spPr bwMode="auto">
          <a:xfrm>
            <a:off x="1038225" y="1311275"/>
            <a:ext cx="0" cy="4265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1" name="Line 19">
            <a:extLst>
              <a:ext uri="{FF2B5EF4-FFF2-40B4-BE49-F238E27FC236}">
                <a16:creationId xmlns:a16="http://schemas.microsoft.com/office/drawing/2014/main" id="{85EC7325-FFF3-43CE-A434-291079C01DBA}"/>
              </a:ext>
            </a:extLst>
          </p:cNvPr>
          <p:cNvSpPr>
            <a:spLocks noChangeShapeType="1"/>
          </p:cNvSpPr>
          <p:nvPr/>
        </p:nvSpPr>
        <p:spPr bwMode="auto">
          <a:xfrm>
            <a:off x="1049338" y="5549900"/>
            <a:ext cx="5140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2" name="Rectangle 20">
            <a:extLst>
              <a:ext uri="{FF2B5EF4-FFF2-40B4-BE49-F238E27FC236}">
                <a16:creationId xmlns:a16="http://schemas.microsoft.com/office/drawing/2014/main" id="{CFFF7495-C507-4D51-B54D-5E9055063AEC}"/>
              </a:ext>
            </a:extLst>
          </p:cNvPr>
          <p:cNvSpPr>
            <a:spLocks noChangeArrowheads="1"/>
          </p:cNvSpPr>
          <p:nvPr/>
        </p:nvSpPr>
        <p:spPr bwMode="auto">
          <a:xfrm>
            <a:off x="701675" y="485616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1</a:t>
            </a:r>
          </a:p>
        </p:txBody>
      </p:sp>
      <p:sp>
        <p:nvSpPr>
          <p:cNvPr id="36873" name="Rectangle 21">
            <a:extLst>
              <a:ext uri="{FF2B5EF4-FFF2-40B4-BE49-F238E27FC236}">
                <a16:creationId xmlns:a16="http://schemas.microsoft.com/office/drawing/2014/main" id="{27A9912F-4AE1-42EC-ADE3-BA4430B8C2D0}"/>
              </a:ext>
            </a:extLst>
          </p:cNvPr>
          <p:cNvSpPr>
            <a:spLocks noChangeArrowheads="1"/>
          </p:cNvSpPr>
          <p:nvPr/>
        </p:nvSpPr>
        <p:spPr bwMode="auto">
          <a:xfrm>
            <a:off x="701675" y="414337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2</a:t>
            </a:r>
          </a:p>
        </p:txBody>
      </p:sp>
      <p:sp>
        <p:nvSpPr>
          <p:cNvPr id="36874" name="Rectangle 22">
            <a:extLst>
              <a:ext uri="{FF2B5EF4-FFF2-40B4-BE49-F238E27FC236}">
                <a16:creationId xmlns:a16="http://schemas.microsoft.com/office/drawing/2014/main" id="{5E305825-CFDD-4CA9-A57F-5237615F14B2}"/>
              </a:ext>
            </a:extLst>
          </p:cNvPr>
          <p:cNvSpPr>
            <a:spLocks noChangeArrowheads="1"/>
          </p:cNvSpPr>
          <p:nvPr/>
        </p:nvSpPr>
        <p:spPr bwMode="auto">
          <a:xfrm>
            <a:off x="701675" y="34290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3</a:t>
            </a:r>
          </a:p>
        </p:txBody>
      </p:sp>
      <p:sp>
        <p:nvSpPr>
          <p:cNvPr id="36875" name="Rectangle 23">
            <a:extLst>
              <a:ext uri="{FF2B5EF4-FFF2-40B4-BE49-F238E27FC236}">
                <a16:creationId xmlns:a16="http://schemas.microsoft.com/office/drawing/2014/main" id="{26F0C17C-01F5-46A8-9A8A-9049B87442EE}"/>
              </a:ext>
            </a:extLst>
          </p:cNvPr>
          <p:cNvSpPr>
            <a:spLocks noChangeArrowheads="1"/>
          </p:cNvSpPr>
          <p:nvPr/>
        </p:nvSpPr>
        <p:spPr bwMode="auto">
          <a:xfrm>
            <a:off x="701675" y="27162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4</a:t>
            </a:r>
          </a:p>
        </p:txBody>
      </p:sp>
      <p:sp>
        <p:nvSpPr>
          <p:cNvPr id="36876" name="Rectangle 24">
            <a:extLst>
              <a:ext uri="{FF2B5EF4-FFF2-40B4-BE49-F238E27FC236}">
                <a16:creationId xmlns:a16="http://schemas.microsoft.com/office/drawing/2014/main" id="{84EFF2E6-65F6-4E5B-87F1-3005FDEA9D9F}"/>
              </a:ext>
            </a:extLst>
          </p:cNvPr>
          <p:cNvSpPr>
            <a:spLocks noChangeArrowheads="1"/>
          </p:cNvSpPr>
          <p:nvPr/>
        </p:nvSpPr>
        <p:spPr bwMode="auto">
          <a:xfrm>
            <a:off x="15875" y="1282700"/>
            <a:ext cx="6921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价格</a:t>
            </a:r>
          </a:p>
        </p:txBody>
      </p:sp>
      <p:sp>
        <p:nvSpPr>
          <p:cNvPr id="36877" name="Rectangle 25">
            <a:extLst>
              <a:ext uri="{FF2B5EF4-FFF2-40B4-BE49-F238E27FC236}">
                <a16:creationId xmlns:a16="http://schemas.microsoft.com/office/drawing/2014/main" id="{8CE69533-2786-47DB-8F1A-E4B8FF9BF549}"/>
              </a:ext>
            </a:extLst>
          </p:cNvPr>
          <p:cNvSpPr>
            <a:spLocks noChangeArrowheads="1"/>
          </p:cNvSpPr>
          <p:nvPr/>
        </p:nvSpPr>
        <p:spPr bwMode="auto">
          <a:xfrm>
            <a:off x="771525" y="55721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0</a:t>
            </a:r>
          </a:p>
        </p:txBody>
      </p:sp>
      <p:sp>
        <p:nvSpPr>
          <p:cNvPr id="36878" name="Rectangle 26">
            <a:extLst>
              <a:ext uri="{FF2B5EF4-FFF2-40B4-BE49-F238E27FC236}">
                <a16:creationId xmlns:a16="http://schemas.microsoft.com/office/drawing/2014/main" id="{4B3829D2-44FD-4BE0-BAE2-C1708773B64B}"/>
              </a:ext>
            </a:extLst>
          </p:cNvPr>
          <p:cNvSpPr>
            <a:spLocks noChangeArrowheads="1"/>
          </p:cNvSpPr>
          <p:nvPr/>
        </p:nvSpPr>
        <p:spPr bwMode="auto">
          <a:xfrm>
            <a:off x="1225550" y="55721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1</a:t>
            </a:r>
          </a:p>
        </p:txBody>
      </p:sp>
      <p:sp>
        <p:nvSpPr>
          <p:cNvPr id="36879" name="Rectangle 27">
            <a:extLst>
              <a:ext uri="{FF2B5EF4-FFF2-40B4-BE49-F238E27FC236}">
                <a16:creationId xmlns:a16="http://schemas.microsoft.com/office/drawing/2014/main" id="{1EDE9947-5E6D-45B9-BA03-E5C9379F466B}"/>
              </a:ext>
            </a:extLst>
          </p:cNvPr>
          <p:cNvSpPr>
            <a:spLocks noChangeArrowheads="1"/>
          </p:cNvSpPr>
          <p:nvPr/>
        </p:nvSpPr>
        <p:spPr bwMode="auto">
          <a:xfrm>
            <a:off x="1679575" y="55721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2</a:t>
            </a:r>
          </a:p>
        </p:txBody>
      </p:sp>
      <p:sp>
        <p:nvSpPr>
          <p:cNvPr id="36880" name="Rectangle 28">
            <a:extLst>
              <a:ext uri="{FF2B5EF4-FFF2-40B4-BE49-F238E27FC236}">
                <a16:creationId xmlns:a16="http://schemas.microsoft.com/office/drawing/2014/main" id="{D0789EEE-4AA0-4BD7-A17B-356600C8CA43}"/>
              </a:ext>
            </a:extLst>
          </p:cNvPr>
          <p:cNvSpPr>
            <a:spLocks noChangeArrowheads="1"/>
          </p:cNvSpPr>
          <p:nvPr/>
        </p:nvSpPr>
        <p:spPr bwMode="auto">
          <a:xfrm>
            <a:off x="2133600" y="55721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3</a:t>
            </a:r>
          </a:p>
        </p:txBody>
      </p:sp>
      <p:sp>
        <p:nvSpPr>
          <p:cNvPr id="36881" name="Rectangle 29">
            <a:extLst>
              <a:ext uri="{FF2B5EF4-FFF2-40B4-BE49-F238E27FC236}">
                <a16:creationId xmlns:a16="http://schemas.microsoft.com/office/drawing/2014/main" id="{8A0EDC56-E748-4018-8181-66A0D00C4F86}"/>
              </a:ext>
            </a:extLst>
          </p:cNvPr>
          <p:cNvSpPr>
            <a:spLocks noChangeArrowheads="1"/>
          </p:cNvSpPr>
          <p:nvPr/>
        </p:nvSpPr>
        <p:spPr bwMode="auto">
          <a:xfrm>
            <a:off x="2587625" y="55721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4</a:t>
            </a:r>
          </a:p>
        </p:txBody>
      </p:sp>
      <p:sp>
        <p:nvSpPr>
          <p:cNvPr id="36882" name="Rectangle 30">
            <a:extLst>
              <a:ext uri="{FF2B5EF4-FFF2-40B4-BE49-F238E27FC236}">
                <a16:creationId xmlns:a16="http://schemas.microsoft.com/office/drawing/2014/main" id="{748F9DC0-D459-4ACA-AA3A-181D51DDE7AD}"/>
              </a:ext>
            </a:extLst>
          </p:cNvPr>
          <p:cNvSpPr>
            <a:spLocks noChangeArrowheads="1"/>
          </p:cNvSpPr>
          <p:nvPr/>
        </p:nvSpPr>
        <p:spPr bwMode="auto">
          <a:xfrm>
            <a:off x="3041650" y="55721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5</a:t>
            </a:r>
          </a:p>
        </p:txBody>
      </p:sp>
      <p:sp>
        <p:nvSpPr>
          <p:cNvPr id="36883" name="Rectangle 31">
            <a:extLst>
              <a:ext uri="{FF2B5EF4-FFF2-40B4-BE49-F238E27FC236}">
                <a16:creationId xmlns:a16="http://schemas.microsoft.com/office/drawing/2014/main" id="{AB53C702-2E26-4F9B-B062-218431148D87}"/>
              </a:ext>
            </a:extLst>
          </p:cNvPr>
          <p:cNvSpPr>
            <a:spLocks noChangeArrowheads="1"/>
          </p:cNvSpPr>
          <p:nvPr/>
        </p:nvSpPr>
        <p:spPr bwMode="auto">
          <a:xfrm>
            <a:off x="3495675" y="55721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6</a:t>
            </a:r>
          </a:p>
        </p:txBody>
      </p:sp>
      <p:sp>
        <p:nvSpPr>
          <p:cNvPr id="36884" name="Rectangle 32">
            <a:extLst>
              <a:ext uri="{FF2B5EF4-FFF2-40B4-BE49-F238E27FC236}">
                <a16:creationId xmlns:a16="http://schemas.microsoft.com/office/drawing/2014/main" id="{F23B8096-F1F1-439D-8098-F9C657BF085C}"/>
              </a:ext>
            </a:extLst>
          </p:cNvPr>
          <p:cNvSpPr>
            <a:spLocks noChangeArrowheads="1"/>
          </p:cNvSpPr>
          <p:nvPr/>
        </p:nvSpPr>
        <p:spPr bwMode="auto">
          <a:xfrm>
            <a:off x="3949700" y="55721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7</a:t>
            </a:r>
          </a:p>
        </p:txBody>
      </p:sp>
      <p:sp>
        <p:nvSpPr>
          <p:cNvPr id="36885" name="Rectangle 33">
            <a:extLst>
              <a:ext uri="{FF2B5EF4-FFF2-40B4-BE49-F238E27FC236}">
                <a16:creationId xmlns:a16="http://schemas.microsoft.com/office/drawing/2014/main" id="{6D43B88C-2460-43C1-B13A-885A354BD838}"/>
              </a:ext>
            </a:extLst>
          </p:cNvPr>
          <p:cNvSpPr>
            <a:spLocks noChangeArrowheads="1"/>
          </p:cNvSpPr>
          <p:nvPr/>
        </p:nvSpPr>
        <p:spPr bwMode="auto">
          <a:xfrm>
            <a:off x="4403725" y="55721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8</a:t>
            </a:r>
          </a:p>
        </p:txBody>
      </p:sp>
      <p:sp>
        <p:nvSpPr>
          <p:cNvPr id="36886" name="Rectangle 34">
            <a:extLst>
              <a:ext uri="{FF2B5EF4-FFF2-40B4-BE49-F238E27FC236}">
                <a16:creationId xmlns:a16="http://schemas.microsoft.com/office/drawing/2014/main" id="{D4E49EF0-7E11-4A97-923F-1A2FAC2D3A5A}"/>
              </a:ext>
            </a:extLst>
          </p:cNvPr>
          <p:cNvSpPr>
            <a:spLocks noChangeArrowheads="1"/>
          </p:cNvSpPr>
          <p:nvPr/>
        </p:nvSpPr>
        <p:spPr bwMode="auto">
          <a:xfrm>
            <a:off x="4857750" y="5572125"/>
            <a:ext cx="307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9</a:t>
            </a:r>
          </a:p>
        </p:txBody>
      </p:sp>
      <p:sp>
        <p:nvSpPr>
          <p:cNvPr id="36887" name="Rectangle 35">
            <a:extLst>
              <a:ext uri="{FF2B5EF4-FFF2-40B4-BE49-F238E27FC236}">
                <a16:creationId xmlns:a16="http://schemas.microsoft.com/office/drawing/2014/main" id="{142BC2B8-31CB-492F-B279-2D9FAF9EE65F}"/>
              </a:ext>
            </a:extLst>
          </p:cNvPr>
          <p:cNvSpPr>
            <a:spLocks noChangeArrowheads="1"/>
          </p:cNvSpPr>
          <p:nvPr/>
        </p:nvSpPr>
        <p:spPr bwMode="auto">
          <a:xfrm>
            <a:off x="5311775" y="5572125"/>
            <a:ext cx="434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10</a:t>
            </a:r>
          </a:p>
        </p:txBody>
      </p:sp>
      <p:sp>
        <p:nvSpPr>
          <p:cNvPr id="36888" name="Rectangle 36">
            <a:extLst>
              <a:ext uri="{FF2B5EF4-FFF2-40B4-BE49-F238E27FC236}">
                <a16:creationId xmlns:a16="http://schemas.microsoft.com/office/drawing/2014/main" id="{D062649D-FBA9-4E6E-8F05-9D85C8AA3D27}"/>
              </a:ext>
            </a:extLst>
          </p:cNvPr>
          <p:cNvSpPr>
            <a:spLocks noChangeArrowheads="1"/>
          </p:cNvSpPr>
          <p:nvPr/>
        </p:nvSpPr>
        <p:spPr bwMode="auto">
          <a:xfrm>
            <a:off x="5892800" y="5572125"/>
            <a:ext cx="4349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11</a:t>
            </a:r>
          </a:p>
        </p:txBody>
      </p:sp>
      <p:sp>
        <p:nvSpPr>
          <p:cNvPr id="36889" name="Rectangle 37">
            <a:extLst>
              <a:ext uri="{FF2B5EF4-FFF2-40B4-BE49-F238E27FC236}">
                <a16:creationId xmlns:a16="http://schemas.microsoft.com/office/drawing/2014/main" id="{0DA36557-15D1-4BCF-9B14-B6D83F49128E}"/>
              </a:ext>
            </a:extLst>
          </p:cNvPr>
          <p:cNvSpPr>
            <a:spLocks noChangeArrowheads="1"/>
          </p:cNvSpPr>
          <p:nvPr/>
        </p:nvSpPr>
        <p:spPr bwMode="auto">
          <a:xfrm>
            <a:off x="701675" y="20018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5</a:t>
            </a:r>
          </a:p>
        </p:txBody>
      </p:sp>
      <p:sp>
        <p:nvSpPr>
          <p:cNvPr id="36890" name="Rectangle 38">
            <a:extLst>
              <a:ext uri="{FF2B5EF4-FFF2-40B4-BE49-F238E27FC236}">
                <a16:creationId xmlns:a16="http://schemas.microsoft.com/office/drawing/2014/main" id="{34926E7C-C95A-4F5C-9EEC-3C74AD477ABB}"/>
              </a:ext>
            </a:extLst>
          </p:cNvPr>
          <p:cNvSpPr>
            <a:spLocks noChangeArrowheads="1"/>
          </p:cNvSpPr>
          <p:nvPr/>
        </p:nvSpPr>
        <p:spPr bwMode="auto">
          <a:xfrm>
            <a:off x="701675" y="12890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6</a:t>
            </a:r>
          </a:p>
        </p:txBody>
      </p:sp>
      <p:grpSp>
        <p:nvGrpSpPr>
          <p:cNvPr id="3" name="Group 39">
            <a:extLst>
              <a:ext uri="{FF2B5EF4-FFF2-40B4-BE49-F238E27FC236}">
                <a16:creationId xmlns:a16="http://schemas.microsoft.com/office/drawing/2014/main" id="{4DEA7C63-0B93-43CB-AE7D-3C3057A8C4C4}"/>
              </a:ext>
            </a:extLst>
          </p:cNvPr>
          <p:cNvGrpSpPr>
            <a:grpSpLocks/>
          </p:cNvGrpSpPr>
          <p:nvPr/>
        </p:nvGrpSpPr>
        <p:grpSpPr bwMode="auto">
          <a:xfrm>
            <a:off x="1279525" y="1027113"/>
            <a:ext cx="4259263" cy="4003675"/>
            <a:chOff x="1555" y="715"/>
            <a:chExt cx="2683" cy="2522"/>
          </a:xfrm>
        </p:grpSpPr>
        <p:sp>
          <p:nvSpPr>
            <p:cNvPr id="36913" name="Freeform 40">
              <a:extLst>
                <a:ext uri="{FF2B5EF4-FFF2-40B4-BE49-F238E27FC236}">
                  <a16:creationId xmlns:a16="http://schemas.microsoft.com/office/drawing/2014/main" id="{1C792DBD-2A7D-4BD4-92B9-F61D3B761EE1}"/>
                </a:ext>
              </a:extLst>
            </p:cNvPr>
            <p:cNvSpPr>
              <a:spLocks/>
            </p:cNvSpPr>
            <p:nvPr/>
          </p:nvSpPr>
          <p:spPr bwMode="auto">
            <a:xfrm>
              <a:off x="1555" y="930"/>
              <a:ext cx="2479" cy="2307"/>
            </a:xfrm>
            <a:custGeom>
              <a:avLst/>
              <a:gdLst>
                <a:gd name="T0" fmla="*/ 0 w 2479"/>
                <a:gd name="T1" fmla="*/ 503 h 2307"/>
                <a:gd name="T2" fmla="*/ 7 w 2479"/>
                <a:gd name="T3" fmla="*/ 537 h 2307"/>
                <a:gd name="T4" fmla="*/ 13 w 2479"/>
                <a:gd name="T5" fmla="*/ 575 h 2307"/>
                <a:gd name="T6" fmla="*/ 19 w 2479"/>
                <a:gd name="T7" fmla="*/ 625 h 2307"/>
                <a:gd name="T8" fmla="*/ 26 w 2479"/>
                <a:gd name="T9" fmla="*/ 680 h 2307"/>
                <a:gd name="T10" fmla="*/ 39 w 2479"/>
                <a:gd name="T11" fmla="*/ 741 h 2307"/>
                <a:gd name="T12" fmla="*/ 45 w 2479"/>
                <a:gd name="T13" fmla="*/ 813 h 2307"/>
                <a:gd name="T14" fmla="*/ 58 w 2479"/>
                <a:gd name="T15" fmla="*/ 885 h 2307"/>
                <a:gd name="T16" fmla="*/ 78 w 2479"/>
                <a:gd name="T17" fmla="*/ 962 h 2307"/>
                <a:gd name="T18" fmla="*/ 97 w 2479"/>
                <a:gd name="T19" fmla="*/ 1051 h 2307"/>
                <a:gd name="T20" fmla="*/ 123 w 2479"/>
                <a:gd name="T21" fmla="*/ 1156 h 2307"/>
                <a:gd name="T22" fmla="*/ 149 w 2479"/>
                <a:gd name="T23" fmla="*/ 1272 h 2307"/>
                <a:gd name="T24" fmla="*/ 181 w 2479"/>
                <a:gd name="T25" fmla="*/ 1388 h 2307"/>
                <a:gd name="T26" fmla="*/ 207 w 2479"/>
                <a:gd name="T27" fmla="*/ 1504 h 2307"/>
                <a:gd name="T28" fmla="*/ 239 w 2479"/>
                <a:gd name="T29" fmla="*/ 1620 h 2307"/>
                <a:gd name="T30" fmla="*/ 265 w 2479"/>
                <a:gd name="T31" fmla="*/ 1720 h 2307"/>
                <a:gd name="T32" fmla="*/ 297 w 2479"/>
                <a:gd name="T33" fmla="*/ 1803 h 2307"/>
                <a:gd name="T34" fmla="*/ 323 w 2479"/>
                <a:gd name="T35" fmla="*/ 1869 h 2307"/>
                <a:gd name="T36" fmla="*/ 349 w 2479"/>
                <a:gd name="T37" fmla="*/ 1924 h 2307"/>
                <a:gd name="T38" fmla="*/ 374 w 2479"/>
                <a:gd name="T39" fmla="*/ 1974 h 2307"/>
                <a:gd name="T40" fmla="*/ 407 w 2479"/>
                <a:gd name="T41" fmla="*/ 2013 h 2307"/>
                <a:gd name="T42" fmla="*/ 465 w 2479"/>
                <a:gd name="T43" fmla="*/ 2085 h 2307"/>
                <a:gd name="T44" fmla="*/ 536 w 2479"/>
                <a:gd name="T45" fmla="*/ 2146 h 2307"/>
                <a:gd name="T46" fmla="*/ 620 w 2479"/>
                <a:gd name="T47" fmla="*/ 2206 h 2307"/>
                <a:gd name="T48" fmla="*/ 710 w 2479"/>
                <a:gd name="T49" fmla="*/ 2256 h 2307"/>
                <a:gd name="T50" fmla="*/ 755 w 2479"/>
                <a:gd name="T51" fmla="*/ 2278 h 2307"/>
                <a:gd name="T52" fmla="*/ 807 w 2479"/>
                <a:gd name="T53" fmla="*/ 2295 h 2307"/>
                <a:gd name="T54" fmla="*/ 858 w 2479"/>
                <a:gd name="T55" fmla="*/ 2300 h 2307"/>
                <a:gd name="T56" fmla="*/ 910 w 2479"/>
                <a:gd name="T57" fmla="*/ 2306 h 2307"/>
                <a:gd name="T58" fmla="*/ 968 w 2479"/>
                <a:gd name="T59" fmla="*/ 2306 h 2307"/>
                <a:gd name="T60" fmla="*/ 1026 w 2479"/>
                <a:gd name="T61" fmla="*/ 2295 h 2307"/>
                <a:gd name="T62" fmla="*/ 1155 w 2479"/>
                <a:gd name="T63" fmla="*/ 2267 h 2307"/>
                <a:gd name="T64" fmla="*/ 1284 w 2479"/>
                <a:gd name="T65" fmla="*/ 2218 h 2307"/>
                <a:gd name="T66" fmla="*/ 1342 w 2479"/>
                <a:gd name="T67" fmla="*/ 2184 h 2307"/>
                <a:gd name="T68" fmla="*/ 1394 w 2479"/>
                <a:gd name="T69" fmla="*/ 2146 h 2307"/>
                <a:gd name="T70" fmla="*/ 1446 w 2479"/>
                <a:gd name="T71" fmla="*/ 2101 h 2307"/>
                <a:gd name="T72" fmla="*/ 1491 w 2479"/>
                <a:gd name="T73" fmla="*/ 2046 h 2307"/>
                <a:gd name="T74" fmla="*/ 1536 w 2479"/>
                <a:gd name="T75" fmla="*/ 1985 h 2307"/>
                <a:gd name="T76" fmla="*/ 1575 w 2479"/>
                <a:gd name="T77" fmla="*/ 1924 h 2307"/>
                <a:gd name="T78" fmla="*/ 1652 w 2479"/>
                <a:gd name="T79" fmla="*/ 1792 h 2307"/>
                <a:gd name="T80" fmla="*/ 1691 w 2479"/>
                <a:gd name="T81" fmla="*/ 1725 h 2307"/>
                <a:gd name="T82" fmla="*/ 1723 w 2479"/>
                <a:gd name="T83" fmla="*/ 1670 h 2307"/>
                <a:gd name="T84" fmla="*/ 1781 w 2479"/>
                <a:gd name="T85" fmla="*/ 1565 h 2307"/>
                <a:gd name="T86" fmla="*/ 1833 w 2479"/>
                <a:gd name="T87" fmla="*/ 1466 h 2307"/>
                <a:gd name="T88" fmla="*/ 1917 w 2479"/>
                <a:gd name="T89" fmla="*/ 1283 h 2307"/>
                <a:gd name="T90" fmla="*/ 1936 w 2479"/>
                <a:gd name="T91" fmla="*/ 1244 h 2307"/>
                <a:gd name="T92" fmla="*/ 1942 w 2479"/>
                <a:gd name="T93" fmla="*/ 1217 h 2307"/>
                <a:gd name="T94" fmla="*/ 1962 w 2479"/>
                <a:gd name="T95" fmla="*/ 1161 h 2307"/>
                <a:gd name="T96" fmla="*/ 1975 w 2479"/>
                <a:gd name="T97" fmla="*/ 1128 h 2307"/>
                <a:gd name="T98" fmla="*/ 1994 w 2479"/>
                <a:gd name="T99" fmla="*/ 1089 h 2307"/>
                <a:gd name="T100" fmla="*/ 2013 w 2479"/>
                <a:gd name="T101" fmla="*/ 1034 h 2307"/>
                <a:gd name="T102" fmla="*/ 2046 w 2479"/>
                <a:gd name="T103" fmla="*/ 962 h 2307"/>
                <a:gd name="T104" fmla="*/ 2084 w 2479"/>
                <a:gd name="T105" fmla="*/ 874 h 2307"/>
                <a:gd name="T106" fmla="*/ 2136 w 2479"/>
                <a:gd name="T107" fmla="*/ 763 h 2307"/>
                <a:gd name="T108" fmla="*/ 2194 w 2479"/>
                <a:gd name="T109" fmla="*/ 642 h 2307"/>
                <a:gd name="T110" fmla="*/ 2252 w 2479"/>
                <a:gd name="T111" fmla="*/ 514 h 2307"/>
                <a:gd name="T112" fmla="*/ 2375 w 2479"/>
                <a:gd name="T113" fmla="*/ 249 h 2307"/>
                <a:gd name="T114" fmla="*/ 2433 w 2479"/>
                <a:gd name="T115" fmla="*/ 122 h 2307"/>
                <a:gd name="T116" fmla="*/ 2478 w 2479"/>
                <a:gd name="T117" fmla="*/ 0 h 230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479"/>
                <a:gd name="T178" fmla="*/ 0 h 2307"/>
                <a:gd name="T179" fmla="*/ 2479 w 2479"/>
                <a:gd name="T180" fmla="*/ 2307 h 230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479" h="2307">
                  <a:moveTo>
                    <a:pt x="0" y="503"/>
                  </a:moveTo>
                  <a:lnTo>
                    <a:pt x="7" y="537"/>
                  </a:lnTo>
                  <a:lnTo>
                    <a:pt x="13" y="575"/>
                  </a:lnTo>
                  <a:lnTo>
                    <a:pt x="19" y="625"/>
                  </a:lnTo>
                  <a:lnTo>
                    <a:pt x="26" y="680"/>
                  </a:lnTo>
                  <a:lnTo>
                    <a:pt x="39" y="741"/>
                  </a:lnTo>
                  <a:lnTo>
                    <a:pt x="45" y="813"/>
                  </a:lnTo>
                  <a:lnTo>
                    <a:pt x="58" y="885"/>
                  </a:lnTo>
                  <a:lnTo>
                    <a:pt x="78" y="962"/>
                  </a:lnTo>
                  <a:lnTo>
                    <a:pt x="97" y="1051"/>
                  </a:lnTo>
                  <a:lnTo>
                    <a:pt x="123" y="1156"/>
                  </a:lnTo>
                  <a:lnTo>
                    <a:pt x="149" y="1272"/>
                  </a:lnTo>
                  <a:lnTo>
                    <a:pt x="181" y="1388"/>
                  </a:lnTo>
                  <a:lnTo>
                    <a:pt x="207" y="1504"/>
                  </a:lnTo>
                  <a:lnTo>
                    <a:pt x="239" y="1620"/>
                  </a:lnTo>
                  <a:lnTo>
                    <a:pt x="265" y="1720"/>
                  </a:lnTo>
                  <a:lnTo>
                    <a:pt x="297" y="1803"/>
                  </a:lnTo>
                  <a:lnTo>
                    <a:pt x="323" y="1869"/>
                  </a:lnTo>
                  <a:lnTo>
                    <a:pt x="349" y="1924"/>
                  </a:lnTo>
                  <a:lnTo>
                    <a:pt x="374" y="1974"/>
                  </a:lnTo>
                  <a:lnTo>
                    <a:pt x="407" y="2013"/>
                  </a:lnTo>
                  <a:lnTo>
                    <a:pt x="465" y="2085"/>
                  </a:lnTo>
                  <a:lnTo>
                    <a:pt x="536" y="2146"/>
                  </a:lnTo>
                  <a:lnTo>
                    <a:pt x="620" y="2206"/>
                  </a:lnTo>
                  <a:lnTo>
                    <a:pt x="710" y="2256"/>
                  </a:lnTo>
                  <a:lnTo>
                    <a:pt x="755" y="2278"/>
                  </a:lnTo>
                  <a:lnTo>
                    <a:pt x="807" y="2295"/>
                  </a:lnTo>
                  <a:lnTo>
                    <a:pt x="858" y="2300"/>
                  </a:lnTo>
                  <a:lnTo>
                    <a:pt x="910" y="2306"/>
                  </a:lnTo>
                  <a:lnTo>
                    <a:pt x="968" y="2306"/>
                  </a:lnTo>
                  <a:lnTo>
                    <a:pt x="1026" y="2295"/>
                  </a:lnTo>
                  <a:lnTo>
                    <a:pt x="1155" y="2267"/>
                  </a:lnTo>
                  <a:lnTo>
                    <a:pt x="1284" y="2218"/>
                  </a:lnTo>
                  <a:lnTo>
                    <a:pt x="1342" y="2184"/>
                  </a:lnTo>
                  <a:lnTo>
                    <a:pt x="1394" y="2146"/>
                  </a:lnTo>
                  <a:lnTo>
                    <a:pt x="1446" y="2101"/>
                  </a:lnTo>
                  <a:lnTo>
                    <a:pt x="1491" y="2046"/>
                  </a:lnTo>
                  <a:lnTo>
                    <a:pt x="1536" y="1985"/>
                  </a:lnTo>
                  <a:lnTo>
                    <a:pt x="1575" y="1924"/>
                  </a:lnTo>
                  <a:lnTo>
                    <a:pt x="1652" y="1792"/>
                  </a:lnTo>
                  <a:lnTo>
                    <a:pt x="1691" y="1725"/>
                  </a:lnTo>
                  <a:lnTo>
                    <a:pt x="1723" y="1670"/>
                  </a:lnTo>
                  <a:lnTo>
                    <a:pt x="1781" y="1565"/>
                  </a:lnTo>
                  <a:lnTo>
                    <a:pt x="1833" y="1466"/>
                  </a:lnTo>
                  <a:lnTo>
                    <a:pt x="1917" y="1283"/>
                  </a:lnTo>
                  <a:lnTo>
                    <a:pt x="1936" y="1244"/>
                  </a:lnTo>
                  <a:lnTo>
                    <a:pt x="1942" y="1217"/>
                  </a:lnTo>
                  <a:lnTo>
                    <a:pt x="1962" y="1161"/>
                  </a:lnTo>
                  <a:lnTo>
                    <a:pt x="1975" y="1128"/>
                  </a:lnTo>
                  <a:lnTo>
                    <a:pt x="1994" y="1089"/>
                  </a:lnTo>
                  <a:lnTo>
                    <a:pt x="2013" y="1034"/>
                  </a:lnTo>
                  <a:lnTo>
                    <a:pt x="2046" y="962"/>
                  </a:lnTo>
                  <a:lnTo>
                    <a:pt x="2084" y="874"/>
                  </a:lnTo>
                  <a:lnTo>
                    <a:pt x="2136" y="763"/>
                  </a:lnTo>
                  <a:lnTo>
                    <a:pt x="2194" y="642"/>
                  </a:lnTo>
                  <a:lnTo>
                    <a:pt x="2252" y="514"/>
                  </a:lnTo>
                  <a:lnTo>
                    <a:pt x="2375" y="249"/>
                  </a:lnTo>
                  <a:lnTo>
                    <a:pt x="2433" y="122"/>
                  </a:lnTo>
                  <a:lnTo>
                    <a:pt x="2478"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14" name="Rectangle 41">
              <a:extLst>
                <a:ext uri="{FF2B5EF4-FFF2-40B4-BE49-F238E27FC236}">
                  <a16:creationId xmlns:a16="http://schemas.microsoft.com/office/drawing/2014/main" id="{4BA5C76B-C9DB-4004-A771-9856B722EC8C}"/>
                </a:ext>
              </a:extLst>
            </p:cNvPr>
            <p:cNvSpPr>
              <a:spLocks noChangeArrowheads="1"/>
            </p:cNvSpPr>
            <p:nvPr/>
          </p:nvSpPr>
          <p:spPr bwMode="auto">
            <a:xfrm>
              <a:off x="3875" y="715"/>
              <a:ext cx="363"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MC</a:t>
              </a:r>
            </a:p>
          </p:txBody>
        </p:sp>
      </p:grpSp>
      <p:grpSp>
        <p:nvGrpSpPr>
          <p:cNvPr id="4" name="Group 42">
            <a:extLst>
              <a:ext uri="{FF2B5EF4-FFF2-40B4-BE49-F238E27FC236}">
                <a16:creationId xmlns:a16="http://schemas.microsoft.com/office/drawing/2014/main" id="{DCE1BF75-C06A-4DB1-9163-D60B41D07229}"/>
              </a:ext>
            </a:extLst>
          </p:cNvPr>
          <p:cNvGrpSpPr>
            <a:grpSpLocks/>
          </p:cNvGrpSpPr>
          <p:nvPr/>
        </p:nvGrpSpPr>
        <p:grpSpPr bwMode="auto">
          <a:xfrm>
            <a:off x="2409825" y="1900238"/>
            <a:ext cx="3571875" cy="2138362"/>
            <a:chOff x="2267" y="1265"/>
            <a:chExt cx="2250" cy="1347"/>
          </a:xfrm>
        </p:grpSpPr>
        <p:sp>
          <p:nvSpPr>
            <p:cNvPr id="25645" name="Freeform 43">
              <a:extLst>
                <a:ext uri="{FF2B5EF4-FFF2-40B4-BE49-F238E27FC236}">
                  <a16:creationId xmlns:a16="http://schemas.microsoft.com/office/drawing/2014/main" id="{B0C01F1B-B082-4459-A323-189A163139F6}"/>
                </a:ext>
              </a:extLst>
            </p:cNvPr>
            <p:cNvSpPr>
              <a:spLocks/>
            </p:cNvSpPr>
            <p:nvPr/>
          </p:nvSpPr>
          <p:spPr bwMode="auto">
            <a:xfrm>
              <a:off x="2267" y="2138"/>
              <a:ext cx="1812" cy="474"/>
            </a:xfrm>
            <a:custGeom>
              <a:avLst/>
              <a:gdLst>
                <a:gd name="T0" fmla="*/ 0 w 1806"/>
                <a:gd name="T1" fmla="*/ 0 h 382"/>
                <a:gd name="T2" fmla="*/ 46 w 1806"/>
                <a:gd name="T3" fmla="*/ 23 h 382"/>
                <a:gd name="T4" fmla="*/ 105 w 1806"/>
                <a:gd name="T5" fmla="*/ 59 h 382"/>
                <a:gd name="T6" fmla="*/ 176 w 1806"/>
                <a:gd name="T7" fmla="*/ 96 h 382"/>
                <a:gd name="T8" fmla="*/ 261 w 1806"/>
                <a:gd name="T9" fmla="*/ 141 h 382"/>
                <a:gd name="T10" fmla="*/ 339 w 1806"/>
                <a:gd name="T11" fmla="*/ 186 h 382"/>
                <a:gd name="T12" fmla="*/ 424 w 1806"/>
                <a:gd name="T13" fmla="*/ 227 h 382"/>
                <a:gd name="T14" fmla="*/ 502 w 1806"/>
                <a:gd name="T15" fmla="*/ 263 h 382"/>
                <a:gd name="T16" fmla="*/ 574 w 1806"/>
                <a:gd name="T17" fmla="*/ 291 h 382"/>
                <a:gd name="T18" fmla="*/ 697 w 1806"/>
                <a:gd name="T19" fmla="*/ 332 h 382"/>
                <a:gd name="T20" fmla="*/ 815 w 1806"/>
                <a:gd name="T21" fmla="*/ 359 h 382"/>
                <a:gd name="T22" fmla="*/ 925 w 1806"/>
                <a:gd name="T23" fmla="*/ 372 h 382"/>
                <a:gd name="T24" fmla="*/ 1043 w 1806"/>
                <a:gd name="T25" fmla="*/ 381 h 382"/>
                <a:gd name="T26" fmla="*/ 1167 w 1806"/>
                <a:gd name="T27" fmla="*/ 377 h 382"/>
                <a:gd name="T28" fmla="*/ 1290 w 1806"/>
                <a:gd name="T29" fmla="*/ 363 h 382"/>
                <a:gd name="T30" fmla="*/ 1408 w 1806"/>
                <a:gd name="T31" fmla="*/ 341 h 382"/>
                <a:gd name="T32" fmla="*/ 1512 w 1806"/>
                <a:gd name="T33" fmla="*/ 309 h 382"/>
                <a:gd name="T34" fmla="*/ 1557 w 1806"/>
                <a:gd name="T35" fmla="*/ 291 h 382"/>
                <a:gd name="T36" fmla="*/ 1603 w 1806"/>
                <a:gd name="T37" fmla="*/ 263 h 382"/>
                <a:gd name="T38" fmla="*/ 1681 w 1806"/>
                <a:gd name="T39" fmla="*/ 209 h 382"/>
                <a:gd name="T40" fmla="*/ 1753 w 1806"/>
                <a:gd name="T41" fmla="*/ 155 h 382"/>
                <a:gd name="T42" fmla="*/ 1779 w 1806"/>
                <a:gd name="T43" fmla="*/ 132 h 382"/>
                <a:gd name="T44" fmla="*/ 1805 w 1806"/>
                <a:gd name="T45" fmla="*/ 114 h 38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06"/>
                <a:gd name="T70" fmla="*/ 0 h 382"/>
                <a:gd name="T71" fmla="*/ 1806 w 1806"/>
                <a:gd name="T72" fmla="*/ 382 h 38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06" h="382">
                  <a:moveTo>
                    <a:pt x="0" y="0"/>
                  </a:moveTo>
                  <a:lnTo>
                    <a:pt x="46" y="23"/>
                  </a:lnTo>
                  <a:lnTo>
                    <a:pt x="105" y="59"/>
                  </a:lnTo>
                  <a:lnTo>
                    <a:pt x="176" y="96"/>
                  </a:lnTo>
                  <a:lnTo>
                    <a:pt x="261" y="141"/>
                  </a:lnTo>
                  <a:lnTo>
                    <a:pt x="339" y="186"/>
                  </a:lnTo>
                  <a:lnTo>
                    <a:pt x="424" y="227"/>
                  </a:lnTo>
                  <a:lnTo>
                    <a:pt x="502" y="263"/>
                  </a:lnTo>
                  <a:lnTo>
                    <a:pt x="574" y="291"/>
                  </a:lnTo>
                  <a:lnTo>
                    <a:pt x="697" y="332"/>
                  </a:lnTo>
                  <a:lnTo>
                    <a:pt x="815" y="359"/>
                  </a:lnTo>
                  <a:lnTo>
                    <a:pt x="925" y="372"/>
                  </a:lnTo>
                  <a:lnTo>
                    <a:pt x="1043" y="381"/>
                  </a:lnTo>
                  <a:lnTo>
                    <a:pt x="1167" y="377"/>
                  </a:lnTo>
                  <a:lnTo>
                    <a:pt x="1290" y="363"/>
                  </a:lnTo>
                  <a:lnTo>
                    <a:pt x="1408" y="341"/>
                  </a:lnTo>
                  <a:lnTo>
                    <a:pt x="1512" y="309"/>
                  </a:lnTo>
                  <a:lnTo>
                    <a:pt x="1557" y="291"/>
                  </a:lnTo>
                  <a:lnTo>
                    <a:pt x="1603" y="263"/>
                  </a:lnTo>
                  <a:lnTo>
                    <a:pt x="1681" y="209"/>
                  </a:lnTo>
                  <a:lnTo>
                    <a:pt x="1753" y="155"/>
                  </a:lnTo>
                  <a:lnTo>
                    <a:pt x="1779" y="132"/>
                  </a:lnTo>
                  <a:lnTo>
                    <a:pt x="1805" y="114"/>
                  </a:lnTo>
                </a:path>
              </a:pathLst>
            </a:custGeom>
            <a:noFill/>
            <a:ln w="50800" cap="rnd">
              <a:solidFill>
                <a:schemeClr val="accent6"/>
              </a:solidFill>
              <a:round/>
              <a:headEnd/>
              <a:tailEnd/>
            </a:ln>
          </p:spPr>
          <p:txBody>
            <a:bodyPr/>
            <a:lstStyle/>
            <a:p>
              <a:pPr algn="ctr" eaLnBrk="1" hangingPunct="1">
                <a:defRPr/>
              </a:pPr>
              <a:endParaRPr lang="zh-CN" altLang="en-US"/>
            </a:p>
          </p:txBody>
        </p:sp>
        <p:sp>
          <p:nvSpPr>
            <p:cNvPr id="36910" name="Rectangle 44">
              <a:extLst>
                <a:ext uri="{FF2B5EF4-FFF2-40B4-BE49-F238E27FC236}">
                  <a16:creationId xmlns:a16="http://schemas.microsoft.com/office/drawing/2014/main" id="{498B5E07-4C66-40EC-9990-EADB02418CF0}"/>
                </a:ext>
              </a:extLst>
            </p:cNvPr>
            <p:cNvSpPr>
              <a:spLocks noChangeArrowheads="1"/>
            </p:cNvSpPr>
            <p:nvPr/>
          </p:nvSpPr>
          <p:spPr bwMode="auto">
            <a:xfrm>
              <a:off x="4077" y="2225"/>
              <a:ext cx="4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AVC</a:t>
              </a:r>
            </a:p>
          </p:txBody>
        </p:sp>
        <p:sp>
          <p:nvSpPr>
            <p:cNvPr id="36911" name="Rectangle 45">
              <a:extLst>
                <a:ext uri="{FF2B5EF4-FFF2-40B4-BE49-F238E27FC236}">
                  <a16:creationId xmlns:a16="http://schemas.microsoft.com/office/drawing/2014/main" id="{12516C1F-5ED7-4BE5-8CA5-AB67F22B9664}"/>
                </a:ext>
              </a:extLst>
            </p:cNvPr>
            <p:cNvSpPr>
              <a:spLocks noChangeArrowheads="1"/>
            </p:cNvSpPr>
            <p:nvPr/>
          </p:nvSpPr>
          <p:spPr bwMode="auto">
            <a:xfrm>
              <a:off x="4107" y="1889"/>
              <a:ext cx="4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dirty="0">
                  <a:latin typeface="Times New Roman" panose="02020603050405020304" pitchFamily="18" charset="0"/>
                  <a:ea typeface="宋体" panose="02010600030101010101" pitchFamily="2" charset="-122"/>
                </a:rPr>
                <a:t>ATC</a:t>
              </a:r>
            </a:p>
          </p:txBody>
        </p:sp>
        <p:sp>
          <p:nvSpPr>
            <p:cNvPr id="36912" name="Freeform 46">
              <a:extLst>
                <a:ext uri="{FF2B5EF4-FFF2-40B4-BE49-F238E27FC236}">
                  <a16:creationId xmlns:a16="http://schemas.microsoft.com/office/drawing/2014/main" id="{AFE7467A-E974-43C9-91A9-2E66EC7C6BCF}"/>
                </a:ext>
              </a:extLst>
            </p:cNvPr>
            <p:cNvSpPr>
              <a:spLocks/>
            </p:cNvSpPr>
            <p:nvPr/>
          </p:nvSpPr>
          <p:spPr bwMode="auto">
            <a:xfrm>
              <a:off x="2287" y="1265"/>
              <a:ext cx="1747" cy="1041"/>
            </a:xfrm>
            <a:custGeom>
              <a:avLst/>
              <a:gdLst>
                <a:gd name="T0" fmla="*/ 0 w 1786"/>
                <a:gd name="T1" fmla="*/ 0 h 872"/>
                <a:gd name="T2" fmla="*/ 19 w 1786"/>
                <a:gd name="T3" fmla="*/ 301 h 872"/>
                <a:gd name="T4" fmla="*/ 31 w 1786"/>
                <a:gd name="T5" fmla="*/ 630 h 872"/>
                <a:gd name="T6" fmla="*/ 59 w 1786"/>
                <a:gd name="T7" fmla="*/ 1029 h 872"/>
                <a:gd name="T8" fmla="*/ 83 w 1786"/>
                <a:gd name="T9" fmla="*/ 1517 h 872"/>
                <a:gd name="T10" fmla="*/ 134 w 1786"/>
                <a:gd name="T11" fmla="*/ 2538 h 872"/>
                <a:gd name="T12" fmla="*/ 196 w 1786"/>
                <a:gd name="T13" fmla="*/ 3712 h 872"/>
                <a:gd name="T14" fmla="*/ 258 w 1786"/>
                <a:gd name="T15" fmla="*/ 4883 h 872"/>
                <a:gd name="T16" fmla="*/ 320 w 1786"/>
                <a:gd name="T17" fmla="*/ 6005 h 872"/>
                <a:gd name="T18" fmla="*/ 349 w 1786"/>
                <a:gd name="T19" fmla="*/ 6491 h 872"/>
                <a:gd name="T20" fmla="*/ 378 w 1786"/>
                <a:gd name="T21" fmla="*/ 6979 h 872"/>
                <a:gd name="T22" fmla="*/ 407 w 1786"/>
                <a:gd name="T23" fmla="*/ 7380 h 872"/>
                <a:gd name="T24" fmla="*/ 430 w 1786"/>
                <a:gd name="T25" fmla="*/ 7706 h 872"/>
                <a:gd name="T26" fmla="*/ 478 w 1786"/>
                <a:gd name="T27" fmla="*/ 8304 h 872"/>
                <a:gd name="T28" fmla="*/ 521 w 1786"/>
                <a:gd name="T29" fmla="*/ 8736 h 872"/>
                <a:gd name="T30" fmla="*/ 565 w 1786"/>
                <a:gd name="T31" fmla="*/ 9075 h 872"/>
                <a:gd name="T32" fmla="*/ 607 w 1786"/>
                <a:gd name="T33" fmla="*/ 9379 h 872"/>
                <a:gd name="T34" fmla="*/ 646 w 1786"/>
                <a:gd name="T35" fmla="*/ 9607 h 872"/>
                <a:gd name="T36" fmla="*/ 685 w 1786"/>
                <a:gd name="T37" fmla="*/ 9771 h 872"/>
                <a:gd name="T38" fmla="*/ 760 w 1786"/>
                <a:gd name="T39" fmla="*/ 10061 h 872"/>
                <a:gd name="T40" fmla="*/ 826 w 1786"/>
                <a:gd name="T41" fmla="*/ 10309 h 872"/>
                <a:gd name="T42" fmla="*/ 890 w 1786"/>
                <a:gd name="T43" fmla="*/ 10410 h 872"/>
                <a:gd name="T44" fmla="*/ 946 w 1786"/>
                <a:gd name="T45" fmla="*/ 10309 h 872"/>
                <a:gd name="T46" fmla="*/ 980 w 1786"/>
                <a:gd name="T47" fmla="*/ 10205 h 872"/>
                <a:gd name="T48" fmla="*/ 1013 w 1786"/>
                <a:gd name="T49" fmla="*/ 10061 h 872"/>
                <a:gd name="T50" fmla="*/ 1052 w 1786"/>
                <a:gd name="T51" fmla="*/ 9810 h 872"/>
                <a:gd name="T52" fmla="*/ 1091 w 1786"/>
                <a:gd name="T53" fmla="*/ 9473 h 872"/>
                <a:gd name="T54" fmla="*/ 1133 w 1786"/>
                <a:gd name="T55" fmla="*/ 9075 h 872"/>
                <a:gd name="T56" fmla="*/ 1171 w 1786"/>
                <a:gd name="T57" fmla="*/ 8646 h 872"/>
                <a:gd name="T58" fmla="*/ 1215 w 1786"/>
                <a:gd name="T59" fmla="*/ 8209 h 872"/>
                <a:gd name="T60" fmla="*/ 1253 w 1786"/>
                <a:gd name="T61" fmla="*/ 7816 h 872"/>
                <a:gd name="T62" fmla="*/ 1282 w 1786"/>
                <a:gd name="T63" fmla="*/ 7470 h 872"/>
                <a:gd name="T64" fmla="*/ 1311 w 1786"/>
                <a:gd name="T65" fmla="*/ 7170 h 87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86"/>
                <a:gd name="T100" fmla="*/ 0 h 872"/>
                <a:gd name="T101" fmla="*/ 1786 w 1786"/>
                <a:gd name="T102" fmla="*/ 872 h 87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86" h="872">
                  <a:moveTo>
                    <a:pt x="0" y="0"/>
                  </a:moveTo>
                  <a:lnTo>
                    <a:pt x="19" y="25"/>
                  </a:lnTo>
                  <a:lnTo>
                    <a:pt x="45" y="53"/>
                  </a:lnTo>
                  <a:lnTo>
                    <a:pt x="78" y="86"/>
                  </a:lnTo>
                  <a:lnTo>
                    <a:pt x="111" y="127"/>
                  </a:lnTo>
                  <a:lnTo>
                    <a:pt x="182" y="213"/>
                  </a:lnTo>
                  <a:lnTo>
                    <a:pt x="267" y="311"/>
                  </a:lnTo>
                  <a:lnTo>
                    <a:pt x="352" y="409"/>
                  </a:lnTo>
                  <a:lnTo>
                    <a:pt x="436" y="503"/>
                  </a:lnTo>
                  <a:lnTo>
                    <a:pt x="475" y="544"/>
                  </a:lnTo>
                  <a:lnTo>
                    <a:pt x="515" y="585"/>
                  </a:lnTo>
                  <a:lnTo>
                    <a:pt x="554" y="617"/>
                  </a:lnTo>
                  <a:lnTo>
                    <a:pt x="586" y="646"/>
                  </a:lnTo>
                  <a:lnTo>
                    <a:pt x="651" y="695"/>
                  </a:lnTo>
                  <a:lnTo>
                    <a:pt x="710" y="732"/>
                  </a:lnTo>
                  <a:lnTo>
                    <a:pt x="769" y="760"/>
                  </a:lnTo>
                  <a:lnTo>
                    <a:pt x="827" y="785"/>
                  </a:lnTo>
                  <a:lnTo>
                    <a:pt x="879" y="805"/>
                  </a:lnTo>
                  <a:lnTo>
                    <a:pt x="932" y="818"/>
                  </a:lnTo>
                  <a:lnTo>
                    <a:pt x="1036" y="842"/>
                  </a:lnTo>
                  <a:lnTo>
                    <a:pt x="1127" y="863"/>
                  </a:lnTo>
                  <a:lnTo>
                    <a:pt x="1212" y="871"/>
                  </a:lnTo>
                  <a:lnTo>
                    <a:pt x="1290" y="863"/>
                  </a:lnTo>
                  <a:lnTo>
                    <a:pt x="1335" y="854"/>
                  </a:lnTo>
                  <a:lnTo>
                    <a:pt x="1381" y="842"/>
                  </a:lnTo>
                  <a:lnTo>
                    <a:pt x="1433" y="822"/>
                  </a:lnTo>
                  <a:lnTo>
                    <a:pt x="1485" y="793"/>
                  </a:lnTo>
                  <a:lnTo>
                    <a:pt x="1544" y="760"/>
                  </a:lnTo>
                  <a:lnTo>
                    <a:pt x="1596" y="724"/>
                  </a:lnTo>
                  <a:lnTo>
                    <a:pt x="1655" y="687"/>
                  </a:lnTo>
                  <a:lnTo>
                    <a:pt x="1707" y="654"/>
                  </a:lnTo>
                  <a:lnTo>
                    <a:pt x="1746" y="625"/>
                  </a:lnTo>
                  <a:lnTo>
                    <a:pt x="1785" y="601"/>
                  </a:lnTo>
                </a:path>
              </a:pathLst>
            </a:custGeom>
            <a:noFill/>
            <a:ln w="50800" cap="rnd">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 name="Group 47">
            <a:extLst>
              <a:ext uri="{FF2B5EF4-FFF2-40B4-BE49-F238E27FC236}">
                <a16:creationId xmlns:a16="http://schemas.microsoft.com/office/drawing/2014/main" id="{FF679D25-222F-45A1-B0B5-E90322FC99E7}"/>
              </a:ext>
            </a:extLst>
          </p:cNvPr>
          <p:cNvGrpSpPr>
            <a:grpSpLocks/>
          </p:cNvGrpSpPr>
          <p:nvPr/>
        </p:nvGrpSpPr>
        <p:grpSpPr bwMode="auto">
          <a:xfrm>
            <a:off x="1047750" y="2662238"/>
            <a:ext cx="6254750" cy="393700"/>
            <a:chOff x="1409" y="1745"/>
            <a:chExt cx="3940" cy="248"/>
          </a:xfrm>
        </p:grpSpPr>
        <p:sp>
          <p:nvSpPr>
            <p:cNvPr id="36907" name="Line 48">
              <a:extLst>
                <a:ext uri="{FF2B5EF4-FFF2-40B4-BE49-F238E27FC236}">
                  <a16:creationId xmlns:a16="http://schemas.microsoft.com/office/drawing/2014/main" id="{26262246-BC00-4A10-9CAA-7C9A61B6A3BC}"/>
                </a:ext>
              </a:extLst>
            </p:cNvPr>
            <p:cNvSpPr>
              <a:spLocks noChangeShapeType="1"/>
            </p:cNvSpPr>
            <p:nvPr/>
          </p:nvSpPr>
          <p:spPr bwMode="auto">
            <a:xfrm>
              <a:off x="1409" y="1892"/>
              <a:ext cx="3039" cy="0"/>
            </a:xfrm>
            <a:prstGeom prst="line">
              <a:avLst/>
            </a:prstGeom>
            <a:noFill/>
            <a:ln w="50800">
              <a:solidFill>
                <a:srgbClr val="659A2A"/>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08" name="Rectangle 49">
              <a:extLst>
                <a:ext uri="{FF2B5EF4-FFF2-40B4-BE49-F238E27FC236}">
                  <a16:creationId xmlns:a16="http://schemas.microsoft.com/office/drawing/2014/main" id="{A6D41D2E-1129-4757-9012-490CF4E956D6}"/>
                </a:ext>
              </a:extLst>
            </p:cNvPr>
            <p:cNvSpPr>
              <a:spLocks noChangeArrowheads="1"/>
            </p:cNvSpPr>
            <p:nvPr/>
          </p:nvSpPr>
          <p:spPr bwMode="auto">
            <a:xfrm>
              <a:off x="4461" y="1745"/>
              <a:ext cx="888"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AR=MR=P</a:t>
              </a:r>
            </a:p>
          </p:txBody>
        </p:sp>
      </p:grpSp>
      <p:sp>
        <p:nvSpPr>
          <p:cNvPr id="36894" name="Rectangle 50">
            <a:extLst>
              <a:ext uri="{FF2B5EF4-FFF2-40B4-BE49-F238E27FC236}">
                <a16:creationId xmlns:a16="http://schemas.microsoft.com/office/drawing/2014/main" id="{007CCA2C-B061-4F96-B0BA-0AA019EBF4A1}"/>
              </a:ext>
            </a:extLst>
          </p:cNvPr>
          <p:cNvSpPr>
            <a:spLocks noChangeArrowheads="1"/>
          </p:cNvSpPr>
          <p:nvPr/>
        </p:nvSpPr>
        <p:spPr bwMode="auto">
          <a:xfrm>
            <a:off x="6348413" y="5562600"/>
            <a:ext cx="6921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产量</a:t>
            </a:r>
          </a:p>
        </p:txBody>
      </p:sp>
      <p:grpSp>
        <p:nvGrpSpPr>
          <p:cNvPr id="6" name="Group 51">
            <a:extLst>
              <a:ext uri="{FF2B5EF4-FFF2-40B4-BE49-F238E27FC236}">
                <a16:creationId xmlns:a16="http://schemas.microsoft.com/office/drawing/2014/main" id="{F7FB42FD-8B30-40C5-9109-66C55E17CBFF}"/>
              </a:ext>
            </a:extLst>
          </p:cNvPr>
          <p:cNvGrpSpPr>
            <a:grpSpLocks/>
          </p:cNvGrpSpPr>
          <p:nvPr/>
        </p:nvGrpSpPr>
        <p:grpSpPr bwMode="auto">
          <a:xfrm>
            <a:off x="4368800" y="2884488"/>
            <a:ext cx="400050" cy="3295650"/>
            <a:chOff x="3501" y="1885"/>
            <a:chExt cx="252" cy="2076"/>
          </a:xfrm>
        </p:grpSpPr>
        <p:sp>
          <p:nvSpPr>
            <p:cNvPr id="36905" name="Line 52">
              <a:extLst>
                <a:ext uri="{FF2B5EF4-FFF2-40B4-BE49-F238E27FC236}">
                  <a16:creationId xmlns:a16="http://schemas.microsoft.com/office/drawing/2014/main" id="{CE2B6C1C-3D81-45D5-912C-595EDA349EDB}"/>
                </a:ext>
              </a:extLst>
            </p:cNvPr>
            <p:cNvSpPr>
              <a:spLocks noChangeShapeType="1"/>
            </p:cNvSpPr>
            <p:nvPr/>
          </p:nvSpPr>
          <p:spPr bwMode="auto">
            <a:xfrm flipV="1">
              <a:off x="3600" y="1885"/>
              <a:ext cx="0" cy="169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06" name="Rectangle 53">
              <a:extLst>
                <a:ext uri="{FF2B5EF4-FFF2-40B4-BE49-F238E27FC236}">
                  <a16:creationId xmlns:a16="http://schemas.microsoft.com/office/drawing/2014/main" id="{8D37B542-B6A1-47B9-AE2C-F8E43C8742D5}"/>
                </a:ext>
              </a:extLst>
            </p:cNvPr>
            <p:cNvSpPr>
              <a:spLocks noChangeArrowheads="1"/>
            </p:cNvSpPr>
            <p:nvPr/>
          </p:nvSpPr>
          <p:spPr bwMode="auto">
            <a:xfrm>
              <a:off x="3501" y="3713"/>
              <a:ext cx="2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30000">
                  <a:latin typeface="Times New Roman" panose="02020603050405020304" pitchFamily="18" charset="0"/>
                  <a:ea typeface="宋体" panose="02010600030101010101" pitchFamily="2" charset="-122"/>
                </a:rPr>
                <a:t>*</a:t>
              </a:r>
            </a:p>
          </p:txBody>
        </p:sp>
      </p:grpSp>
      <p:sp>
        <p:nvSpPr>
          <p:cNvPr id="36896" name="Rectangle 54">
            <a:extLst>
              <a:ext uri="{FF2B5EF4-FFF2-40B4-BE49-F238E27FC236}">
                <a16:creationId xmlns:a16="http://schemas.microsoft.com/office/drawing/2014/main" id="{479E56C8-1143-4573-BE2D-F00664B482FC}"/>
              </a:ext>
            </a:extLst>
          </p:cNvPr>
          <p:cNvSpPr>
            <a:spLocks noChangeArrowheads="1"/>
          </p:cNvSpPr>
          <p:nvPr/>
        </p:nvSpPr>
        <p:spPr bwMode="auto">
          <a:xfrm>
            <a:off x="-427038" y="5791200"/>
            <a:ext cx="19050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24610" name="Rectangle 56">
            <a:extLst>
              <a:ext uri="{FF2B5EF4-FFF2-40B4-BE49-F238E27FC236}">
                <a16:creationId xmlns:a16="http://schemas.microsoft.com/office/drawing/2014/main" id="{FB3D4519-DC0C-481F-9095-99DAAB93FACF}"/>
              </a:ext>
            </a:extLst>
          </p:cNvPr>
          <p:cNvSpPr>
            <a:spLocks noChangeArrowheads="1"/>
          </p:cNvSpPr>
          <p:nvPr/>
        </p:nvSpPr>
        <p:spPr bwMode="auto">
          <a:xfrm>
            <a:off x="6477000" y="3962400"/>
            <a:ext cx="2401888" cy="120015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lIns="90488" tIns="44450" rIns="90488" bIns="44450">
            <a:spAutoFit/>
          </a:bodyPr>
          <a:lstStyle/>
          <a:p>
            <a:pPr algn="ctr" eaLnBrk="1" hangingPunct="1">
              <a:defRPr/>
            </a:pPr>
            <a:r>
              <a:rPr lang="zh-CN" altLang="en-US"/>
              <a:t>在</a:t>
            </a:r>
            <a:r>
              <a:rPr lang="en-US" altLang="zh-CN"/>
              <a:t>q</a:t>
            </a:r>
            <a:r>
              <a:rPr lang="en-US" altLang="zh-CN" baseline="30000"/>
              <a:t>*</a:t>
            </a:r>
            <a:r>
              <a:rPr lang="zh-CN" altLang="en-US"/>
              <a:t>处</a:t>
            </a:r>
            <a:r>
              <a:rPr lang="en-US" altLang="zh-CN"/>
              <a:t>MR = MC，</a:t>
            </a:r>
            <a:r>
              <a:rPr lang="zh-CN" altLang="en-US"/>
              <a:t>厂商实现利润最大化。</a:t>
            </a:r>
          </a:p>
          <a:p>
            <a:pPr algn="ctr" eaLnBrk="1" hangingPunct="1">
              <a:defRPr/>
            </a:pPr>
            <a:r>
              <a:rPr lang="zh-CN" altLang="en-US"/>
              <a:t>利润=(</a:t>
            </a:r>
            <a:r>
              <a:rPr lang="en-US" altLang="zh-CN"/>
              <a:t>P-ATC)</a:t>
            </a:r>
            <a:r>
              <a:rPr lang="en-US" altLang="zh-CN">
                <a:cs typeface="Arial" charset="0"/>
              </a:rPr>
              <a:t>·P,</a:t>
            </a:r>
            <a:r>
              <a:rPr lang="zh-CN" altLang="en-US"/>
              <a:t>即</a:t>
            </a:r>
          </a:p>
          <a:p>
            <a:pPr algn="ctr" eaLnBrk="1" hangingPunct="1">
              <a:defRPr/>
            </a:pPr>
            <a:r>
              <a:rPr lang="zh-CN" altLang="en-US"/>
              <a:t>矩形</a:t>
            </a:r>
            <a:r>
              <a:rPr lang="en-US" altLang="zh-CN"/>
              <a:t>ABCD</a:t>
            </a:r>
          </a:p>
        </p:txBody>
      </p:sp>
      <p:sp>
        <p:nvSpPr>
          <p:cNvPr id="36898" name="Line 57">
            <a:extLst>
              <a:ext uri="{FF2B5EF4-FFF2-40B4-BE49-F238E27FC236}">
                <a16:creationId xmlns:a16="http://schemas.microsoft.com/office/drawing/2014/main" id="{FF7408C0-E7BD-4F8C-8419-37345FC76783}"/>
              </a:ext>
            </a:extLst>
          </p:cNvPr>
          <p:cNvSpPr>
            <a:spLocks noChangeShapeType="1"/>
          </p:cNvSpPr>
          <p:nvPr/>
        </p:nvSpPr>
        <p:spPr bwMode="auto">
          <a:xfrm flipH="1">
            <a:off x="1028700" y="3540125"/>
            <a:ext cx="352901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9" name="Line 58">
            <a:extLst>
              <a:ext uri="{FF2B5EF4-FFF2-40B4-BE49-F238E27FC236}">
                <a16:creationId xmlns:a16="http://schemas.microsoft.com/office/drawing/2014/main" id="{B3FAB1CE-7061-4CEB-B5C2-0127A0D2CC5D}"/>
              </a:ext>
            </a:extLst>
          </p:cNvPr>
          <p:cNvSpPr>
            <a:spLocks noChangeShapeType="1"/>
          </p:cNvSpPr>
          <p:nvPr/>
        </p:nvSpPr>
        <p:spPr bwMode="auto">
          <a:xfrm>
            <a:off x="4527550" y="2936875"/>
            <a:ext cx="0" cy="582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00" name="Rectangle 60">
            <a:extLst>
              <a:ext uri="{FF2B5EF4-FFF2-40B4-BE49-F238E27FC236}">
                <a16:creationId xmlns:a16="http://schemas.microsoft.com/office/drawing/2014/main" id="{A65D2367-AFC8-4BD6-856A-6462CA2D697C}"/>
              </a:ext>
            </a:extLst>
          </p:cNvPr>
          <p:cNvSpPr>
            <a:spLocks noChangeArrowheads="1"/>
          </p:cNvSpPr>
          <p:nvPr/>
        </p:nvSpPr>
        <p:spPr bwMode="auto">
          <a:xfrm>
            <a:off x="1016000" y="2474913"/>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D</a:t>
            </a:r>
          </a:p>
        </p:txBody>
      </p:sp>
      <p:sp>
        <p:nvSpPr>
          <p:cNvPr id="36901" name="Rectangle 61">
            <a:extLst>
              <a:ext uri="{FF2B5EF4-FFF2-40B4-BE49-F238E27FC236}">
                <a16:creationId xmlns:a16="http://schemas.microsoft.com/office/drawing/2014/main" id="{689B652A-B0D9-489E-9C9F-D4D213526EFD}"/>
              </a:ext>
            </a:extLst>
          </p:cNvPr>
          <p:cNvSpPr>
            <a:spLocks noChangeArrowheads="1"/>
          </p:cNvSpPr>
          <p:nvPr/>
        </p:nvSpPr>
        <p:spPr bwMode="auto">
          <a:xfrm>
            <a:off x="4276725" y="2447925"/>
            <a:ext cx="3460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A</a:t>
            </a:r>
          </a:p>
        </p:txBody>
      </p:sp>
      <p:sp>
        <p:nvSpPr>
          <p:cNvPr id="36902" name="Rectangle 62">
            <a:extLst>
              <a:ext uri="{FF2B5EF4-FFF2-40B4-BE49-F238E27FC236}">
                <a16:creationId xmlns:a16="http://schemas.microsoft.com/office/drawing/2014/main" id="{23EE101F-67CD-4BE8-9EB0-C7A2D90B719C}"/>
              </a:ext>
            </a:extLst>
          </p:cNvPr>
          <p:cNvSpPr>
            <a:spLocks noChangeArrowheads="1"/>
          </p:cNvSpPr>
          <p:nvPr/>
        </p:nvSpPr>
        <p:spPr bwMode="auto">
          <a:xfrm>
            <a:off x="4445000" y="3195638"/>
            <a:ext cx="3460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B</a:t>
            </a:r>
          </a:p>
        </p:txBody>
      </p:sp>
      <p:sp>
        <p:nvSpPr>
          <p:cNvPr id="36903" name="Rectangle 63">
            <a:extLst>
              <a:ext uri="{FF2B5EF4-FFF2-40B4-BE49-F238E27FC236}">
                <a16:creationId xmlns:a16="http://schemas.microsoft.com/office/drawing/2014/main" id="{D64F946E-BAEE-4B03-B684-62E53777707D}"/>
              </a:ext>
            </a:extLst>
          </p:cNvPr>
          <p:cNvSpPr>
            <a:spLocks noChangeArrowheads="1"/>
          </p:cNvSpPr>
          <p:nvPr/>
        </p:nvSpPr>
        <p:spPr bwMode="auto">
          <a:xfrm>
            <a:off x="1016000" y="3119438"/>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C</a:t>
            </a:r>
          </a:p>
        </p:txBody>
      </p:sp>
      <p:sp>
        <p:nvSpPr>
          <p:cNvPr id="24617" name="Rectangle 64">
            <a:extLst>
              <a:ext uri="{FF2B5EF4-FFF2-40B4-BE49-F238E27FC236}">
                <a16:creationId xmlns:a16="http://schemas.microsoft.com/office/drawing/2014/main" id="{8A06C122-EE0D-4510-A171-1C61664A8CE6}"/>
              </a:ext>
            </a:extLst>
          </p:cNvPr>
          <p:cNvSpPr>
            <a:spLocks noChangeArrowheads="1"/>
          </p:cNvSpPr>
          <p:nvPr/>
        </p:nvSpPr>
        <p:spPr bwMode="auto">
          <a:xfrm>
            <a:off x="7239000" y="1600200"/>
            <a:ext cx="1630363" cy="925513"/>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488" tIns="44450" rIns="90488" bIns="44450">
            <a:spAutoFit/>
          </a:bodyPr>
          <a:lstStyle/>
          <a:p>
            <a:pPr algn="ctr" eaLnBrk="1" hangingPunct="1">
              <a:defRPr/>
            </a:pPr>
            <a:r>
              <a:rPr lang="en-US" altLang="zh-CN" dirty="0"/>
              <a:t>q</a:t>
            </a:r>
            <a:r>
              <a:rPr lang="en-US" altLang="zh-CN" baseline="-25000" dirty="0"/>
              <a:t>1 </a:t>
            </a:r>
            <a:r>
              <a:rPr lang="en-US" altLang="zh-CN" dirty="0"/>
              <a:t>: MR &gt; MC </a:t>
            </a:r>
          </a:p>
          <a:p>
            <a:pPr algn="ctr" eaLnBrk="1" hangingPunct="1">
              <a:defRPr/>
            </a:pPr>
            <a:r>
              <a:rPr lang="en-US" altLang="zh-CN" dirty="0"/>
              <a:t>q</a:t>
            </a:r>
            <a:r>
              <a:rPr lang="en-US" altLang="zh-CN" baseline="-25000" dirty="0"/>
              <a:t>0</a:t>
            </a:r>
            <a:r>
              <a:rPr lang="en-US" altLang="zh-CN" dirty="0"/>
              <a:t>: MC = MR </a:t>
            </a:r>
          </a:p>
          <a:p>
            <a:pPr algn="ctr" eaLnBrk="1" hangingPunct="1">
              <a:defRPr/>
            </a:pPr>
            <a:r>
              <a:rPr lang="en-US" altLang="zh-CN" dirty="0"/>
              <a:t>q</a:t>
            </a:r>
            <a:r>
              <a:rPr lang="en-US" altLang="zh-CN" baseline="-25000" dirty="0"/>
              <a:t>2</a:t>
            </a:r>
            <a:r>
              <a:rPr lang="en-US" altLang="zh-CN" dirty="0"/>
              <a:t>: MC &gt; MR  </a:t>
            </a:r>
          </a:p>
        </p:txBody>
      </p:sp>
      <p:sp>
        <p:nvSpPr>
          <p:cNvPr id="7" name="标注: 线形 6">
            <a:extLst>
              <a:ext uri="{FF2B5EF4-FFF2-40B4-BE49-F238E27FC236}">
                <a16:creationId xmlns:a16="http://schemas.microsoft.com/office/drawing/2014/main" id="{70BAA8B3-1C1D-4856-BE20-704DD718EFDE}"/>
              </a:ext>
            </a:extLst>
          </p:cNvPr>
          <p:cNvSpPr/>
          <p:nvPr/>
        </p:nvSpPr>
        <p:spPr bwMode="auto">
          <a:xfrm>
            <a:off x="5872163" y="260781"/>
            <a:ext cx="3164147" cy="528638"/>
          </a:xfrm>
          <a:prstGeom prst="borderCallout1">
            <a:avLst>
              <a:gd name="adj1" fmla="val 45209"/>
              <a:gd name="adj2" fmla="val -742"/>
              <a:gd name="adj3" fmla="val 82079"/>
              <a:gd name="adj4" fmla="val -22659"/>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利润最大化时的盈亏：有盈利</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Line 3">
            <a:extLst>
              <a:ext uri="{FF2B5EF4-FFF2-40B4-BE49-F238E27FC236}">
                <a16:creationId xmlns:a16="http://schemas.microsoft.com/office/drawing/2014/main" id="{86900C7B-DE20-4D24-9E29-994C8E71F339}"/>
              </a:ext>
            </a:extLst>
          </p:cNvPr>
          <p:cNvSpPr>
            <a:spLocks noChangeShapeType="1"/>
          </p:cNvSpPr>
          <p:nvPr/>
        </p:nvSpPr>
        <p:spPr bwMode="auto">
          <a:xfrm>
            <a:off x="1136650" y="5665788"/>
            <a:ext cx="5140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868" name="Rectangle 4">
            <a:extLst>
              <a:ext uri="{FF2B5EF4-FFF2-40B4-BE49-F238E27FC236}">
                <a16:creationId xmlns:a16="http://schemas.microsoft.com/office/drawing/2014/main" id="{4FA23F6F-8F8B-4D66-831F-1E33BAB39E75}"/>
              </a:ext>
            </a:extLst>
          </p:cNvPr>
          <p:cNvSpPr>
            <a:spLocks noChangeArrowheads="1"/>
          </p:cNvSpPr>
          <p:nvPr/>
        </p:nvSpPr>
        <p:spPr bwMode="auto">
          <a:xfrm>
            <a:off x="6276975" y="4743450"/>
            <a:ext cx="2714625" cy="828432"/>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lIns="90488" tIns="44450" rIns="90488" bIns="44450">
            <a:spAutoFit/>
          </a:bodyPr>
          <a:lstStyle/>
          <a:p>
            <a:pPr algn="ctr" eaLnBrk="1" hangingPunct="1">
              <a:defRPr/>
            </a:pPr>
            <a:r>
              <a:rPr lang="zh-CN" altLang="en-US" sz="2400" b="1" dirty="0">
                <a:solidFill>
                  <a:srgbClr val="FF3300"/>
                </a:solidFill>
              </a:rPr>
              <a:t>厂商是否会在亏损的状态下继续生产?</a:t>
            </a:r>
          </a:p>
        </p:txBody>
      </p:sp>
      <p:sp>
        <p:nvSpPr>
          <p:cNvPr id="37892" name="Rectangle 6">
            <a:extLst>
              <a:ext uri="{FF2B5EF4-FFF2-40B4-BE49-F238E27FC236}">
                <a16:creationId xmlns:a16="http://schemas.microsoft.com/office/drawing/2014/main" id="{EF3CC111-0776-48B1-AA5D-A3868D06CC13}"/>
              </a:ext>
            </a:extLst>
          </p:cNvPr>
          <p:cNvSpPr>
            <a:spLocks noChangeArrowheads="1"/>
          </p:cNvSpPr>
          <p:nvPr/>
        </p:nvSpPr>
        <p:spPr bwMode="auto">
          <a:xfrm>
            <a:off x="2209800" y="5907088"/>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7893" name="Rectangle 7">
            <a:extLst>
              <a:ext uri="{FF2B5EF4-FFF2-40B4-BE49-F238E27FC236}">
                <a16:creationId xmlns:a16="http://schemas.microsoft.com/office/drawing/2014/main" id="{6A17E484-EBA1-47CE-8166-1E33110DCFCA}"/>
              </a:ext>
            </a:extLst>
          </p:cNvPr>
          <p:cNvSpPr>
            <a:spLocks noChangeArrowheads="1"/>
          </p:cNvSpPr>
          <p:nvPr/>
        </p:nvSpPr>
        <p:spPr bwMode="auto">
          <a:xfrm>
            <a:off x="2195513" y="312738"/>
            <a:ext cx="6338887"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3200" dirty="0">
                <a:solidFill>
                  <a:schemeClr val="bg1"/>
                </a:solidFill>
              </a:rPr>
              <a:t>竞争性厂商招致的亏损</a:t>
            </a:r>
          </a:p>
        </p:txBody>
      </p:sp>
      <p:sp>
        <p:nvSpPr>
          <p:cNvPr id="37894" name="Rectangle 8">
            <a:extLst>
              <a:ext uri="{FF2B5EF4-FFF2-40B4-BE49-F238E27FC236}">
                <a16:creationId xmlns:a16="http://schemas.microsoft.com/office/drawing/2014/main" id="{CA31E88C-65EA-42C8-AEC8-A1E32FF8E90B}"/>
              </a:ext>
            </a:extLst>
          </p:cNvPr>
          <p:cNvSpPr>
            <a:spLocks noChangeArrowheads="1"/>
          </p:cNvSpPr>
          <p:nvPr/>
        </p:nvSpPr>
        <p:spPr bwMode="auto">
          <a:xfrm>
            <a:off x="2057400" y="5894388"/>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7895" name="Line 9">
            <a:extLst>
              <a:ext uri="{FF2B5EF4-FFF2-40B4-BE49-F238E27FC236}">
                <a16:creationId xmlns:a16="http://schemas.microsoft.com/office/drawing/2014/main" id="{BA31EEB8-3D7E-4C1B-B45B-D986E2EC60E9}"/>
              </a:ext>
            </a:extLst>
          </p:cNvPr>
          <p:cNvSpPr>
            <a:spLocks noChangeShapeType="1"/>
          </p:cNvSpPr>
          <p:nvPr/>
        </p:nvSpPr>
        <p:spPr bwMode="auto">
          <a:xfrm>
            <a:off x="1143000" y="1409700"/>
            <a:ext cx="0" cy="4265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896" name="Rectangle 10">
            <a:extLst>
              <a:ext uri="{FF2B5EF4-FFF2-40B4-BE49-F238E27FC236}">
                <a16:creationId xmlns:a16="http://schemas.microsoft.com/office/drawing/2014/main" id="{B7095124-0671-453C-AC87-F4FF14394E91}"/>
              </a:ext>
            </a:extLst>
          </p:cNvPr>
          <p:cNvSpPr>
            <a:spLocks noChangeArrowheads="1"/>
          </p:cNvSpPr>
          <p:nvPr/>
        </p:nvSpPr>
        <p:spPr bwMode="auto">
          <a:xfrm>
            <a:off x="138113" y="1252538"/>
            <a:ext cx="6921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价格</a:t>
            </a:r>
          </a:p>
        </p:txBody>
      </p:sp>
      <p:sp>
        <p:nvSpPr>
          <p:cNvPr id="37897" name="Rectangle 11">
            <a:extLst>
              <a:ext uri="{FF2B5EF4-FFF2-40B4-BE49-F238E27FC236}">
                <a16:creationId xmlns:a16="http://schemas.microsoft.com/office/drawing/2014/main" id="{D0A52136-6DBF-4496-9D1D-7DE4297BB01F}"/>
              </a:ext>
            </a:extLst>
          </p:cNvPr>
          <p:cNvSpPr>
            <a:spLocks noChangeArrowheads="1"/>
          </p:cNvSpPr>
          <p:nvPr/>
        </p:nvSpPr>
        <p:spPr bwMode="auto">
          <a:xfrm>
            <a:off x="6084888" y="5665788"/>
            <a:ext cx="6921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产量</a:t>
            </a:r>
          </a:p>
        </p:txBody>
      </p:sp>
      <p:grpSp>
        <p:nvGrpSpPr>
          <p:cNvPr id="2" name="Group 12">
            <a:extLst>
              <a:ext uri="{FF2B5EF4-FFF2-40B4-BE49-F238E27FC236}">
                <a16:creationId xmlns:a16="http://schemas.microsoft.com/office/drawing/2014/main" id="{FC6F6CBA-474F-4E74-AE41-3AE703DA08F6}"/>
              </a:ext>
            </a:extLst>
          </p:cNvPr>
          <p:cNvGrpSpPr>
            <a:grpSpLocks/>
          </p:cNvGrpSpPr>
          <p:nvPr/>
        </p:nvGrpSpPr>
        <p:grpSpPr bwMode="auto">
          <a:xfrm>
            <a:off x="1160463" y="1143000"/>
            <a:ext cx="6092825" cy="5000625"/>
            <a:chOff x="1403" y="803"/>
            <a:chExt cx="3838" cy="3150"/>
          </a:xfrm>
        </p:grpSpPr>
        <p:sp>
          <p:nvSpPr>
            <p:cNvPr id="37911" name="Rectangle 13">
              <a:extLst>
                <a:ext uri="{FF2B5EF4-FFF2-40B4-BE49-F238E27FC236}">
                  <a16:creationId xmlns:a16="http://schemas.microsoft.com/office/drawing/2014/main" id="{3DB9648F-B98C-43EA-8BE4-F424638A6F56}"/>
                </a:ext>
              </a:extLst>
            </p:cNvPr>
            <p:cNvSpPr>
              <a:spLocks noChangeArrowheads="1"/>
            </p:cNvSpPr>
            <p:nvPr/>
          </p:nvSpPr>
          <p:spPr bwMode="auto">
            <a:xfrm>
              <a:off x="4355" y="2339"/>
              <a:ext cx="453"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AVC</a:t>
              </a:r>
            </a:p>
          </p:txBody>
        </p:sp>
        <p:grpSp>
          <p:nvGrpSpPr>
            <p:cNvPr id="37912" name="Group 14">
              <a:extLst>
                <a:ext uri="{FF2B5EF4-FFF2-40B4-BE49-F238E27FC236}">
                  <a16:creationId xmlns:a16="http://schemas.microsoft.com/office/drawing/2014/main" id="{D3A14A25-C217-4CB7-9698-8B19657E9FDD}"/>
                </a:ext>
              </a:extLst>
            </p:cNvPr>
            <p:cNvGrpSpPr>
              <a:grpSpLocks/>
            </p:cNvGrpSpPr>
            <p:nvPr/>
          </p:nvGrpSpPr>
          <p:grpSpPr bwMode="auto">
            <a:xfrm>
              <a:off x="1403" y="803"/>
              <a:ext cx="3838" cy="3150"/>
              <a:chOff x="1403" y="803"/>
              <a:chExt cx="3838" cy="3150"/>
            </a:xfrm>
          </p:grpSpPr>
          <p:sp>
            <p:nvSpPr>
              <p:cNvPr id="37913" name="Rectangle 15">
                <a:extLst>
                  <a:ext uri="{FF2B5EF4-FFF2-40B4-BE49-F238E27FC236}">
                    <a16:creationId xmlns:a16="http://schemas.microsoft.com/office/drawing/2014/main" id="{93BFE657-80CA-43D0-BCD1-BD38D5103297}"/>
                  </a:ext>
                </a:extLst>
              </p:cNvPr>
              <p:cNvSpPr>
                <a:spLocks noChangeArrowheads="1"/>
              </p:cNvSpPr>
              <p:nvPr/>
            </p:nvSpPr>
            <p:spPr bwMode="auto">
              <a:xfrm>
                <a:off x="4797" y="825"/>
                <a:ext cx="44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ATC</a:t>
                </a:r>
              </a:p>
            </p:txBody>
          </p:sp>
          <p:grpSp>
            <p:nvGrpSpPr>
              <p:cNvPr id="37914" name="Group 16">
                <a:extLst>
                  <a:ext uri="{FF2B5EF4-FFF2-40B4-BE49-F238E27FC236}">
                    <a16:creationId xmlns:a16="http://schemas.microsoft.com/office/drawing/2014/main" id="{D2A094D7-8A69-46F0-8D4B-95FB0DF100CB}"/>
                  </a:ext>
                </a:extLst>
              </p:cNvPr>
              <p:cNvGrpSpPr>
                <a:grpSpLocks/>
              </p:cNvGrpSpPr>
              <p:nvPr/>
            </p:nvGrpSpPr>
            <p:grpSpPr bwMode="auto">
              <a:xfrm>
                <a:off x="1403" y="803"/>
                <a:ext cx="3709" cy="3150"/>
                <a:chOff x="1403" y="803"/>
                <a:chExt cx="3709" cy="3150"/>
              </a:xfrm>
            </p:grpSpPr>
            <p:sp>
              <p:nvSpPr>
                <p:cNvPr id="37915" name="Freeform 17">
                  <a:extLst>
                    <a:ext uri="{FF2B5EF4-FFF2-40B4-BE49-F238E27FC236}">
                      <a16:creationId xmlns:a16="http://schemas.microsoft.com/office/drawing/2014/main" id="{44AAC170-CD32-447E-9C8F-6DA42B284178}"/>
                    </a:ext>
                  </a:extLst>
                </p:cNvPr>
                <p:cNvSpPr>
                  <a:spLocks/>
                </p:cNvSpPr>
                <p:nvPr/>
              </p:nvSpPr>
              <p:spPr bwMode="auto">
                <a:xfrm>
                  <a:off x="1547" y="1018"/>
                  <a:ext cx="2479" cy="2307"/>
                </a:xfrm>
                <a:custGeom>
                  <a:avLst/>
                  <a:gdLst>
                    <a:gd name="T0" fmla="*/ 0 w 2479"/>
                    <a:gd name="T1" fmla="*/ 503 h 2307"/>
                    <a:gd name="T2" fmla="*/ 7 w 2479"/>
                    <a:gd name="T3" fmla="*/ 537 h 2307"/>
                    <a:gd name="T4" fmla="*/ 13 w 2479"/>
                    <a:gd name="T5" fmla="*/ 575 h 2307"/>
                    <a:gd name="T6" fmla="*/ 19 w 2479"/>
                    <a:gd name="T7" fmla="*/ 625 h 2307"/>
                    <a:gd name="T8" fmla="*/ 26 w 2479"/>
                    <a:gd name="T9" fmla="*/ 680 h 2307"/>
                    <a:gd name="T10" fmla="*/ 39 w 2479"/>
                    <a:gd name="T11" fmla="*/ 741 h 2307"/>
                    <a:gd name="T12" fmla="*/ 45 w 2479"/>
                    <a:gd name="T13" fmla="*/ 813 h 2307"/>
                    <a:gd name="T14" fmla="*/ 58 w 2479"/>
                    <a:gd name="T15" fmla="*/ 885 h 2307"/>
                    <a:gd name="T16" fmla="*/ 78 w 2479"/>
                    <a:gd name="T17" fmla="*/ 962 h 2307"/>
                    <a:gd name="T18" fmla="*/ 97 w 2479"/>
                    <a:gd name="T19" fmla="*/ 1051 h 2307"/>
                    <a:gd name="T20" fmla="*/ 123 w 2479"/>
                    <a:gd name="T21" fmla="*/ 1156 h 2307"/>
                    <a:gd name="T22" fmla="*/ 149 w 2479"/>
                    <a:gd name="T23" fmla="*/ 1272 h 2307"/>
                    <a:gd name="T24" fmla="*/ 181 w 2479"/>
                    <a:gd name="T25" fmla="*/ 1388 h 2307"/>
                    <a:gd name="T26" fmla="*/ 207 w 2479"/>
                    <a:gd name="T27" fmla="*/ 1504 h 2307"/>
                    <a:gd name="T28" fmla="*/ 239 w 2479"/>
                    <a:gd name="T29" fmla="*/ 1620 h 2307"/>
                    <a:gd name="T30" fmla="*/ 265 w 2479"/>
                    <a:gd name="T31" fmla="*/ 1720 h 2307"/>
                    <a:gd name="T32" fmla="*/ 297 w 2479"/>
                    <a:gd name="T33" fmla="*/ 1803 h 2307"/>
                    <a:gd name="T34" fmla="*/ 323 w 2479"/>
                    <a:gd name="T35" fmla="*/ 1869 h 2307"/>
                    <a:gd name="T36" fmla="*/ 349 w 2479"/>
                    <a:gd name="T37" fmla="*/ 1924 h 2307"/>
                    <a:gd name="T38" fmla="*/ 374 w 2479"/>
                    <a:gd name="T39" fmla="*/ 1974 h 2307"/>
                    <a:gd name="T40" fmla="*/ 407 w 2479"/>
                    <a:gd name="T41" fmla="*/ 2013 h 2307"/>
                    <a:gd name="T42" fmla="*/ 465 w 2479"/>
                    <a:gd name="T43" fmla="*/ 2085 h 2307"/>
                    <a:gd name="T44" fmla="*/ 536 w 2479"/>
                    <a:gd name="T45" fmla="*/ 2146 h 2307"/>
                    <a:gd name="T46" fmla="*/ 620 w 2479"/>
                    <a:gd name="T47" fmla="*/ 2206 h 2307"/>
                    <a:gd name="T48" fmla="*/ 710 w 2479"/>
                    <a:gd name="T49" fmla="*/ 2256 h 2307"/>
                    <a:gd name="T50" fmla="*/ 755 w 2479"/>
                    <a:gd name="T51" fmla="*/ 2278 h 2307"/>
                    <a:gd name="T52" fmla="*/ 807 w 2479"/>
                    <a:gd name="T53" fmla="*/ 2295 h 2307"/>
                    <a:gd name="T54" fmla="*/ 858 w 2479"/>
                    <a:gd name="T55" fmla="*/ 2300 h 2307"/>
                    <a:gd name="T56" fmla="*/ 910 w 2479"/>
                    <a:gd name="T57" fmla="*/ 2306 h 2307"/>
                    <a:gd name="T58" fmla="*/ 968 w 2479"/>
                    <a:gd name="T59" fmla="*/ 2306 h 2307"/>
                    <a:gd name="T60" fmla="*/ 1026 w 2479"/>
                    <a:gd name="T61" fmla="*/ 2295 h 2307"/>
                    <a:gd name="T62" fmla="*/ 1155 w 2479"/>
                    <a:gd name="T63" fmla="*/ 2267 h 2307"/>
                    <a:gd name="T64" fmla="*/ 1284 w 2479"/>
                    <a:gd name="T65" fmla="*/ 2218 h 2307"/>
                    <a:gd name="T66" fmla="*/ 1342 w 2479"/>
                    <a:gd name="T67" fmla="*/ 2184 h 2307"/>
                    <a:gd name="T68" fmla="*/ 1394 w 2479"/>
                    <a:gd name="T69" fmla="*/ 2146 h 2307"/>
                    <a:gd name="T70" fmla="*/ 1446 w 2479"/>
                    <a:gd name="T71" fmla="*/ 2101 h 2307"/>
                    <a:gd name="T72" fmla="*/ 1491 w 2479"/>
                    <a:gd name="T73" fmla="*/ 2046 h 2307"/>
                    <a:gd name="T74" fmla="*/ 1536 w 2479"/>
                    <a:gd name="T75" fmla="*/ 1985 h 2307"/>
                    <a:gd name="T76" fmla="*/ 1575 w 2479"/>
                    <a:gd name="T77" fmla="*/ 1924 h 2307"/>
                    <a:gd name="T78" fmla="*/ 1652 w 2479"/>
                    <a:gd name="T79" fmla="*/ 1792 h 2307"/>
                    <a:gd name="T80" fmla="*/ 1691 w 2479"/>
                    <a:gd name="T81" fmla="*/ 1725 h 2307"/>
                    <a:gd name="T82" fmla="*/ 1723 w 2479"/>
                    <a:gd name="T83" fmla="*/ 1670 h 2307"/>
                    <a:gd name="T84" fmla="*/ 1781 w 2479"/>
                    <a:gd name="T85" fmla="*/ 1565 h 2307"/>
                    <a:gd name="T86" fmla="*/ 1833 w 2479"/>
                    <a:gd name="T87" fmla="*/ 1466 h 2307"/>
                    <a:gd name="T88" fmla="*/ 1917 w 2479"/>
                    <a:gd name="T89" fmla="*/ 1283 h 2307"/>
                    <a:gd name="T90" fmla="*/ 1936 w 2479"/>
                    <a:gd name="T91" fmla="*/ 1244 h 2307"/>
                    <a:gd name="T92" fmla="*/ 1942 w 2479"/>
                    <a:gd name="T93" fmla="*/ 1217 h 2307"/>
                    <a:gd name="T94" fmla="*/ 1962 w 2479"/>
                    <a:gd name="T95" fmla="*/ 1161 h 2307"/>
                    <a:gd name="T96" fmla="*/ 1975 w 2479"/>
                    <a:gd name="T97" fmla="*/ 1128 h 2307"/>
                    <a:gd name="T98" fmla="*/ 1994 w 2479"/>
                    <a:gd name="T99" fmla="*/ 1089 h 2307"/>
                    <a:gd name="T100" fmla="*/ 2013 w 2479"/>
                    <a:gd name="T101" fmla="*/ 1034 h 2307"/>
                    <a:gd name="T102" fmla="*/ 2046 w 2479"/>
                    <a:gd name="T103" fmla="*/ 962 h 2307"/>
                    <a:gd name="T104" fmla="*/ 2084 w 2479"/>
                    <a:gd name="T105" fmla="*/ 874 h 2307"/>
                    <a:gd name="T106" fmla="*/ 2136 w 2479"/>
                    <a:gd name="T107" fmla="*/ 763 h 2307"/>
                    <a:gd name="T108" fmla="*/ 2194 w 2479"/>
                    <a:gd name="T109" fmla="*/ 642 h 2307"/>
                    <a:gd name="T110" fmla="*/ 2252 w 2479"/>
                    <a:gd name="T111" fmla="*/ 514 h 2307"/>
                    <a:gd name="T112" fmla="*/ 2375 w 2479"/>
                    <a:gd name="T113" fmla="*/ 249 h 2307"/>
                    <a:gd name="T114" fmla="*/ 2433 w 2479"/>
                    <a:gd name="T115" fmla="*/ 122 h 2307"/>
                    <a:gd name="T116" fmla="*/ 2478 w 2479"/>
                    <a:gd name="T117" fmla="*/ 0 h 230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479"/>
                    <a:gd name="T178" fmla="*/ 0 h 2307"/>
                    <a:gd name="T179" fmla="*/ 2479 w 2479"/>
                    <a:gd name="T180" fmla="*/ 2307 h 230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479" h="2307">
                      <a:moveTo>
                        <a:pt x="0" y="503"/>
                      </a:moveTo>
                      <a:lnTo>
                        <a:pt x="7" y="537"/>
                      </a:lnTo>
                      <a:lnTo>
                        <a:pt x="13" y="575"/>
                      </a:lnTo>
                      <a:lnTo>
                        <a:pt x="19" y="625"/>
                      </a:lnTo>
                      <a:lnTo>
                        <a:pt x="26" y="680"/>
                      </a:lnTo>
                      <a:lnTo>
                        <a:pt x="39" y="741"/>
                      </a:lnTo>
                      <a:lnTo>
                        <a:pt x="45" y="813"/>
                      </a:lnTo>
                      <a:lnTo>
                        <a:pt x="58" y="885"/>
                      </a:lnTo>
                      <a:lnTo>
                        <a:pt x="78" y="962"/>
                      </a:lnTo>
                      <a:lnTo>
                        <a:pt x="97" y="1051"/>
                      </a:lnTo>
                      <a:lnTo>
                        <a:pt x="123" y="1156"/>
                      </a:lnTo>
                      <a:lnTo>
                        <a:pt x="149" y="1272"/>
                      </a:lnTo>
                      <a:lnTo>
                        <a:pt x="181" y="1388"/>
                      </a:lnTo>
                      <a:lnTo>
                        <a:pt x="207" y="1504"/>
                      </a:lnTo>
                      <a:lnTo>
                        <a:pt x="239" y="1620"/>
                      </a:lnTo>
                      <a:lnTo>
                        <a:pt x="265" y="1720"/>
                      </a:lnTo>
                      <a:lnTo>
                        <a:pt x="297" y="1803"/>
                      </a:lnTo>
                      <a:lnTo>
                        <a:pt x="323" y="1869"/>
                      </a:lnTo>
                      <a:lnTo>
                        <a:pt x="349" y="1924"/>
                      </a:lnTo>
                      <a:lnTo>
                        <a:pt x="374" y="1974"/>
                      </a:lnTo>
                      <a:lnTo>
                        <a:pt x="407" y="2013"/>
                      </a:lnTo>
                      <a:lnTo>
                        <a:pt x="465" y="2085"/>
                      </a:lnTo>
                      <a:lnTo>
                        <a:pt x="536" y="2146"/>
                      </a:lnTo>
                      <a:lnTo>
                        <a:pt x="620" y="2206"/>
                      </a:lnTo>
                      <a:lnTo>
                        <a:pt x="710" y="2256"/>
                      </a:lnTo>
                      <a:lnTo>
                        <a:pt x="755" y="2278"/>
                      </a:lnTo>
                      <a:lnTo>
                        <a:pt x="807" y="2295"/>
                      </a:lnTo>
                      <a:lnTo>
                        <a:pt x="858" y="2300"/>
                      </a:lnTo>
                      <a:lnTo>
                        <a:pt x="910" y="2306"/>
                      </a:lnTo>
                      <a:lnTo>
                        <a:pt x="968" y="2306"/>
                      </a:lnTo>
                      <a:lnTo>
                        <a:pt x="1026" y="2295"/>
                      </a:lnTo>
                      <a:lnTo>
                        <a:pt x="1155" y="2267"/>
                      </a:lnTo>
                      <a:lnTo>
                        <a:pt x="1284" y="2218"/>
                      </a:lnTo>
                      <a:lnTo>
                        <a:pt x="1342" y="2184"/>
                      </a:lnTo>
                      <a:lnTo>
                        <a:pt x="1394" y="2146"/>
                      </a:lnTo>
                      <a:lnTo>
                        <a:pt x="1446" y="2101"/>
                      </a:lnTo>
                      <a:lnTo>
                        <a:pt x="1491" y="2046"/>
                      </a:lnTo>
                      <a:lnTo>
                        <a:pt x="1536" y="1985"/>
                      </a:lnTo>
                      <a:lnTo>
                        <a:pt x="1575" y="1924"/>
                      </a:lnTo>
                      <a:lnTo>
                        <a:pt x="1652" y="1792"/>
                      </a:lnTo>
                      <a:lnTo>
                        <a:pt x="1691" y="1725"/>
                      </a:lnTo>
                      <a:lnTo>
                        <a:pt x="1723" y="1670"/>
                      </a:lnTo>
                      <a:lnTo>
                        <a:pt x="1781" y="1565"/>
                      </a:lnTo>
                      <a:lnTo>
                        <a:pt x="1833" y="1466"/>
                      </a:lnTo>
                      <a:lnTo>
                        <a:pt x="1917" y="1283"/>
                      </a:lnTo>
                      <a:lnTo>
                        <a:pt x="1936" y="1244"/>
                      </a:lnTo>
                      <a:lnTo>
                        <a:pt x="1942" y="1217"/>
                      </a:lnTo>
                      <a:lnTo>
                        <a:pt x="1962" y="1161"/>
                      </a:lnTo>
                      <a:lnTo>
                        <a:pt x="1975" y="1128"/>
                      </a:lnTo>
                      <a:lnTo>
                        <a:pt x="1994" y="1089"/>
                      </a:lnTo>
                      <a:lnTo>
                        <a:pt x="2013" y="1034"/>
                      </a:lnTo>
                      <a:lnTo>
                        <a:pt x="2046" y="962"/>
                      </a:lnTo>
                      <a:lnTo>
                        <a:pt x="2084" y="874"/>
                      </a:lnTo>
                      <a:lnTo>
                        <a:pt x="2136" y="763"/>
                      </a:lnTo>
                      <a:lnTo>
                        <a:pt x="2194" y="642"/>
                      </a:lnTo>
                      <a:lnTo>
                        <a:pt x="2252" y="514"/>
                      </a:lnTo>
                      <a:lnTo>
                        <a:pt x="2375" y="249"/>
                      </a:lnTo>
                      <a:lnTo>
                        <a:pt x="2433" y="122"/>
                      </a:lnTo>
                      <a:lnTo>
                        <a:pt x="2478"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16" name="Rectangle 18">
                  <a:extLst>
                    <a:ext uri="{FF2B5EF4-FFF2-40B4-BE49-F238E27FC236}">
                      <a16:creationId xmlns:a16="http://schemas.microsoft.com/office/drawing/2014/main" id="{5D35FB1C-F7DD-4086-A49F-7512D03793EA}"/>
                    </a:ext>
                  </a:extLst>
                </p:cNvPr>
                <p:cNvSpPr>
                  <a:spLocks noChangeArrowheads="1"/>
                </p:cNvSpPr>
                <p:nvPr/>
              </p:nvSpPr>
              <p:spPr bwMode="auto">
                <a:xfrm>
                  <a:off x="3867" y="803"/>
                  <a:ext cx="363"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MC</a:t>
                  </a:r>
                </a:p>
              </p:txBody>
            </p:sp>
            <p:sp>
              <p:nvSpPr>
                <p:cNvPr id="37917" name="Line 19">
                  <a:extLst>
                    <a:ext uri="{FF2B5EF4-FFF2-40B4-BE49-F238E27FC236}">
                      <a16:creationId xmlns:a16="http://schemas.microsoft.com/office/drawing/2014/main" id="{E0AEB8AB-FB6D-4BD3-98BC-9B25AA339C9A}"/>
                    </a:ext>
                  </a:extLst>
                </p:cNvPr>
                <p:cNvSpPr>
                  <a:spLocks noChangeShapeType="1"/>
                </p:cNvSpPr>
                <p:nvPr/>
              </p:nvSpPr>
              <p:spPr bwMode="auto">
                <a:xfrm flipV="1">
                  <a:off x="3600" y="2885"/>
                  <a:ext cx="0" cy="78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18" name="Rectangle 20">
                  <a:extLst>
                    <a:ext uri="{FF2B5EF4-FFF2-40B4-BE49-F238E27FC236}">
                      <a16:creationId xmlns:a16="http://schemas.microsoft.com/office/drawing/2014/main" id="{24A3220A-1751-41FB-B1E5-D84F0C90AA88}"/>
                    </a:ext>
                  </a:extLst>
                </p:cNvPr>
                <p:cNvSpPr>
                  <a:spLocks noChangeArrowheads="1"/>
                </p:cNvSpPr>
                <p:nvPr/>
              </p:nvSpPr>
              <p:spPr bwMode="auto">
                <a:xfrm>
                  <a:off x="3501" y="3705"/>
                  <a:ext cx="2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30000">
                      <a:latin typeface="Times New Roman" panose="02020603050405020304" pitchFamily="18" charset="0"/>
                      <a:ea typeface="宋体" panose="02010600030101010101" pitchFamily="2" charset="-122"/>
                    </a:rPr>
                    <a:t>*</a:t>
                  </a:r>
                </a:p>
              </p:txBody>
            </p:sp>
            <p:sp>
              <p:nvSpPr>
                <p:cNvPr id="26655" name="Freeform 21">
                  <a:extLst>
                    <a:ext uri="{FF2B5EF4-FFF2-40B4-BE49-F238E27FC236}">
                      <a16:creationId xmlns:a16="http://schemas.microsoft.com/office/drawing/2014/main" id="{F1258B0B-1C8E-4CEA-8BB1-D636BD476011}"/>
                    </a:ext>
                  </a:extLst>
                </p:cNvPr>
                <p:cNvSpPr>
                  <a:spLocks/>
                </p:cNvSpPr>
                <p:nvPr/>
              </p:nvSpPr>
              <p:spPr bwMode="auto">
                <a:xfrm>
                  <a:off x="2111" y="2462"/>
                  <a:ext cx="2259" cy="489"/>
                </a:xfrm>
                <a:custGeom>
                  <a:avLst/>
                  <a:gdLst>
                    <a:gd name="T0" fmla="*/ 0 w 2259"/>
                    <a:gd name="T1" fmla="*/ 95 h 489"/>
                    <a:gd name="T2" fmla="*/ 266 w 2259"/>
                    <a:gd name="T3" fmla="*/ 219 h 489"/>
                    <a:gd name="T4" fmla="*/ 399 w 2259"/>
                    <a:gd name="T5" fmla="*/ 279 h 489"/>
                    <a:gd name="T6" fmla="*/ 524 w 2259"/>
                    <a:gd name="T7" fmla="*/ 334 h 489"/>
                    <a:gd name="T8" fmla="*/ 650 w 2259"/>
                    <a:gd name="T9" fmla="*/ 384 h 489"/>
                    <a:gd name="T10" fmla="*/ 776 w 2259"/>
                    <a:gd name="T11" fmla="*/ 423 h 489"/>
                    <a:gd name="T12" fmla="*/ 895 w 2259"/>
                    <a:gd name="T13" fmla="*/ 458 h 489"/>
                    <a:gd name="T14" fmla="*/ 1007 w 2259"/>
                    <a:gd name="T15" fmla="*/ 478 h 489"/>
                    <a:gd name="T16" fmla="*/ 1119 w 2259"/>
                    <a:gd name="T17" fmla="*/ 488 h 489"/>
                    <a:gd name="T18" fmla="*/ 1230 w 2259"/>
                    <a:gd name="T19" fmla="*/ 483 h 489"/>
                    <a:gd name="T20" fmla="*/ 1342 w 2259"/>
                    <a:gd name="T21" fmla="*/ 468 h 489"/>
                    <a:gd name="T22" fmla="*/ 1447 w 2259"/>
                    <a:gd name="T23" fmla="*/ 448 h 489"/>
                    <a:gd name="T24" fmla="*/ 1552 w 2259"/>
                    <a:gd name="T25" fmla="*/ 418 h 489"/>
                    <a:gd name="T26" fmla="*/ 1643 w 2259"/>
                    <a:gd name="T27" fmla="*/ 389 h 489"/>
                    <a:gd name="T28" fmla="*/ 1734 w 2259"/>
                    <a:gd name="T29" fmla="*/ 359 h 489"/>
                    <a:gd name="T30" fmla="*/ 1811 w 2259"/>
                    <a:gd name="T31" fmla="*/ 324 h 489"/>
                    <a:gd name="T32" fmla="*/ 1888 w 2259"/>
                    <a:gd name="T33" fmla="*/ 289 h 489"/>
                    <a:gd name="T34" fmla="*/ 1957 w 2259"/>
                    <a:gd name="T35" fmla="*/ 249 h 489"/>
                    <a:gd name="T36" fmla="*/ 2076 w 2259"/>
                    <a:gd name="T37" fmla="*/ 155 h 489"/>
                    <a:gd name="T38" fmla="*/ 2132 w 2259"/>
                    <a:gd name="T39" fmla="*/ 110 h 489"/>
                    <a:gd name="T40" fmla="*/ 2181 w 2259"/>
                    <a:gd name="T41" fmla="*/ 65 h 489"/>
                    <a:gd name="T42" fmla="*/ 2223 w 2259"/>
                    <a:gd name="T43" fmla="*/ 30 h 489"/>
                    <a:gd name="T44" fmla="*/ 2258 w 2259"/>
                    <a:gd name="T45" fmla="*/ 0 h 4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59"/>
                    <a:gd name="T70" fmla="*/ 0 h 489"/>
                    <a:gd name="T71" fmla="*/ 2259 w 2259"/>
                    <a:gd name="T72" fmla="*/ 489 h 4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59" h="489">
                      <a:moveTo>
                        <a:pt x="0" y="95"/>
                      </a:moveTo>
                      <a:lnTo>
                        <a:pt x="266" y="219"/>
                      </a:lnTo>
                      <a:lnTo>
                        <a:pt x="399" y="279"/>
                      </a:lnTo>
                      <a:lnTo>
                        <a:pt x="524" y="334"/>
                      </a:lnTo>
                      <a:lnTo>
                        <a:pt x="650" y="384"/>
                      </a:lnTo>
                      <a:lnTo>
                        <a:pt x="776" y="423"/>
                      </a:lnTo>
                      <a:lnTo>
                        <a:pt x="895" y="458"/>
                      </a:lnTo>
                      <a:lnTo>
                        <a:pt x="1007" y="478"/>
                      </a:lnTo>
                      <a:lnTo>
                        <a:pt x="1119" y="488"/>
                      </a:lnTo>
                      <a:lnTo>
                        <a:pt x="1230" y="483"/>
                      </a:lnTo>
                      <a:lnTo>
                        <a:pt x="1342" y="468"/>
                      </a:lnTo>
                      <a:lnTo>
                        <a:pt x="1447" y="448"/>
                      </a:lnTo>
                      <a:lnTo>
                        <a:pt x="1552" y="418"/>
                      </a:lnTo>
                      <a:lnTo>
                        <a:pt x="1643" y="389"/>
                      </a:lnTo>
                      <a:lnTo>
                        <a:pt x="1734" y="359"/>
                      </a:lnTo>
                      <a:lnTo>
                        <a:pt x="1811" y="324"/>
                      </a:lnTo>
                      <a:lnTo>
                        <a:pt x="1888" y="289"/>
                      </a:lnTo>
                      <a:lnTo>
                        <a:pt x="1957" y="249"/>
                      </a:lnTo>
                      <a:lnTo>
                        <a:pt x="2076" y="155"/>
                      </a:lnTo>
                      <a:lnTo>
                        <a:pt x="2132" y="110"/>
                      </a:lnTo>
                      <a:lnTo>
                        <a:pt x="2181" y="65"/>
                      </a:lnTo>
                      <a:lnTo>
                        <a:pt x="2223" y="30"/>
                      </a:lnTo>
                      <a:lnTo>
                        <a:pt x="2258" y="0"/>
                      </a:lnTo>
                    </a:path>
                  </a:pathLst>
                </a:custGeom>
                <a:noFill/>
                <a:ln w="50800" cap="rnd">
                  <a:solidFill>
                    <a:schemeClr val="accent2">
                      <a:lumMod val="75000"/>
                    </a:schemeClr>
                  </a:solidFill>
                  <a:round/>
                  <a:headEnd/>
                  <a:tailEnd/>
                </a:ln>
              </p:spPr>
              <p:txBody>
                <a:bodyPr/>
                <a:lstStyle/>
                <a:p>
                  <a:pPr algn="ctr" eaLnBrk="1" hangingPunct="1">
                    <a:defRPr/>
                  </a:pPr>
                  <a:endParaRPr lang="zh-CN" altLang="en-US"/>
                </a:p>
              </p:txBody>
            </p:sp>
            <p:sp>
              <p:nvSpPr>
                <p:cNvPr id="37920" name="Freeform 22">
                  <a:extLst>
                    <a:ext uri="{FF2B5EF4-FFF2-40B4-BE49-F238E27FC236}">
                      <a16:creationId xmlns:a16="http://schemas.microsoft.com/office/drawing/2014/main" id="{9A0C5A58-0050-4C28-9B21-CA3FBBAA181B}"/>
                    </a:ext>
                  </a:extLst>
                </p:cNvPr>
                <p:cNvSpPr>
                  <a:spLocks/>
                </p:cNvSpPr>
                <p:nvPr/>
              </p:nvSpPr>
              <p:spPr bwMode="auto">
                <a:xfrm>
                  <a:off x="2929" y="1069"/>
                  <a:ext cx="1915" cy="538"/>
                </a:xfrm>
                <a:custGeom>
                  <a:avLst/>
                  <a:gdLst>
                    <a:gd name="T0" fmla="*/ 0 w 1915"/>
                    <a:gd name="T1" fmla="*/ 2 h 538"/>
                    <a:gd name="T2" fmla="*/ 16 w 1915"/>
                    <a:gd name="T3" fmla="*/ 16 h 538"/>
                    <a:gd name="T4" fmla="*/ 31 w 1915"/>
                    <a:gd name="T5" fmla="*/ 36 h 538"/>
                    <a:gd name="T6" fmla="*/ 47 w 1915"/>
                    <a:gd name="T7" fmla="*/ 55 h 538"/>
                    <a:gd name="T8" fmla="*/ 62 w 1915"/>
                    <a:gd name="T9" fmla="*/ 80 h 538"/>
                    <a:gd name="T10" fmla="*/ 101 w 1915"/>
                    <a:gd name="T11" fmla="*/ 131 h 538"/>
                    <a:gd name="T12" fmla="*/ 147 w 1915"/>
                    <a:gd name="T13" fmla="*/ 189 h 538"/>
                    <a:gd name="T14" fmla="*/ 202 w 1915"/>
                    <a:gd name="T15" fmla="*/ 248 h 538"/>
                    <a:gd name="T16" fmla="*/ 248 w 1915"/>
                    <a:gd name="T17" fmla="*/ 303 h 538"/>
                    <a:gd name="T18" fmla="*/ 302 w 1915"/>
                    <a:gd name="T19" fmla="*/ 353 h 538"/>
                    <a:gd name="T20" fmla="*/ 333 w 1915"/>
                    <a:gd name="T21" fmla="*/ 373 h 538"/>
                    <a:gd name="T22" fmla="*/ 356 w 1915"/>
                    <a:gd name="T23" fmla="*/ 392 h 538"/>
                    <a:gd name="T24" fmla="*/ 411 w 1915"/>
                    <a:gd name="T25" fmla="*/ 423 h 538"/>
                    <a:gd name="T26" fmla="*/ 465 w 1915"/>
                    <a:gd name="T27" fmla="*/ 454 h 538"/>
                    <a:gd name="T28" fmla="*/ 519 w 1915"/>
                    <a:gd name="T29" fmla="*/ 479 h 538"/>
                    <a:gd name="T30" fmla="*/ 573 w 1915"/>
                    <a:gd name="T31" fmla="*/ 498 h 538"/>
                    <a:gd name="T32" fmla="*/ 635 w 1915"/>
                    <a:gd name="T33" fmla="*/ 515 h 538"/>
                    <a:gd name="T34" fmla="*/ 697 w 1915"/>
                    <a:gd name="T35" fmla="*/ 529 h 538"/>
                    <a:gd name="T36" fmla="*/ 759 w 1915"/>
                    <a:gd name="T37" fmla="*/ 534 h 538"/>
                    <a:gd name="T38" fmla="*/ 829 w 1915"/>
                    <a:gd name="T39" fmla="*/ 537 h 538"/>
                    <a:gd name="T40" fmla="*/ 899 w 1915"/>
                    <a:gd name="T41" fmla="*/ 534 h 538"/>
                    <a:gd name="T42" fmla="*/ 976 w 1915"/>
                    <a:gd name="T43" fmla="*/ 526 h 538"/>
                    <a:gd name="T44" fmla="*/ 1062 w 1915"/>
                    <a:gd name="T45" fmla="*/ 512 h 538"/>
                    <a:gd name="T46" fmla="*/ 1147 w 1915"/>
                    <a:gd name="T47" fmla="*/ 495 h 538"/>
                    <a:gd name="T48" fmla="*/ 1232 w 1915"/>
                    <a:gd name="T49" fmla="*/ 470 h 538"/>
                    <a:gd name="T50" fmla="*/ 1317 w 1915"/>
                    <a:gd name="T51" fmla="*/ 445 h 538"/>
                    <a:gd name="T52" fmla="*/ 1395 w 1915"/>
                    <a:gd name="T53" fmla="*/ 417 h 538"/>
                    <a:gd name="T54" fmla="*/ 1465 w 1915"/>
                    <a:gd name="T55" fmla="*/ 384 h 538"/>
                    <a:gd name="T56" fmla="*/ 1527 w 1915"/>
                    <a:gd name="T57" fmla="*/ 348 h 538"/>
                    <a:gd name="T58" fmla="*/ 1589 w 1915"/>
                    <a:gd name="T59" fmla="*/ 306 h 538"/>
                    <a:gd name="T60" fmla="*/ 1651 w 1915"/>
                    <a:gd name="T61" fmla="*/ 261 h 538"/>
                    <a:gd name="T62" fmla="*/ 1705 w 1915"/>
                    <a:gd name="T63" fmla="*/ 214 h 538"/>
                    <a:gd name="T64" fmla="*/ 1813 w 1915"/>
                    <a:gd name="T65" fmla="*/ 111 h 538"/>
                    <a:gd name="T66" fmla="*/ 1914 w 1915"/>
                    <a:gd name="T67" fmla="*/ 0 h 5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915"/>
                    <a:gd name="T103" fmla="*/ 0 h 538"/>
                    <a:gd name="T104" fmla="*/ 1915 w 1915"/>
                    <a:gd name="T105" fmla="*/ 538 h 53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915" h="538">
                      <a:moveTo>
                        <a:pt x="0" y="2"/>
                      </a:moveTo>
                      <a:lnTo>
                        <a:pt x="16" y="16"/>
                      </a:lnTo>
                      <a:lnTo>
                        <a:pt x="31" y="36"/>
                      </a:lnTo>
                      <a:lnTo>
                        <a:pt x="47" y="55"/>
                      </a:lnTo>
                      <a:lnTo>
                        <a:pt x="62" y="80"/>
                      </a:lnTo>
                      <a:lnTo>
                        <a:pt x="101" y="131"/>
                      </a:lnTo>
                      <a:lnTo>
                        <a:pt x="147" y="189"/>
                      </a:lnTo>
                      <a:lnTo>
                        <a:pt x="202" y="248"/>
                      </a:lnTo>
                      <a:lnTo>
                        <a:pt x="248" y="303"/>
                      </a:lnTo>
                      <a:lnTo>
                        <a:pt x="302" y="353"/>
                      </a:lnTo>
                      <a:lnTo>
                        <a:pt x="333" y="373"/>
                      </a:lnTo>
                      <a:lnTo>
                        <a:pt x="356" y="392"/>
                      </a:lnTo>
                      <a:lnTo>
                        <a:pt x="411" y="423"/>
                      </a:lnTo>
                      <a:lnTo>
                        <a:pt x="465" y="454"/>
                      </a:lnTo>
                      <a:lnTo>
                        <a:pt x="519" y="479"/>
                      </a:lnTo>
                      <a:lnTo>
                        <a:pt x="573" y="498"/>
                      </a:lnTo>
                      <a:lnTo>
                        <a:pt x="635" y="515"/>
                      </a:lnTo>
                      <a:lnTo>
                        <a:pt x="697" y="529"/>
                      </a:lnTo>
                      <a:lnTo>
                        <a:pt x="759" y="534"/>
                      </a:lnTo>
                      <a:lnTo>
                        <a:pt x="829" y="537"/>
                      </a:lnTo>
                      <a:lnTo>
                        <a:pt x="899" y="534"/>
                      </a:lnTo>
                      <a:lnTo>
                        <a:pt x="976" y="526"/>
                      </a:lnTo>
                      <a:lnTo>
                        <a:pt x="1062" y="512"/>
                      </a:lnTo>
                      <a:lnTo>
                        <a:pt x="1147" y="495"/>
                      </a:lnTo>
                      <a:lnTo>
                        <a:pt x="1232" y="470"/>
                      </a:lnTo>
                      <a:lnTo>
                        <a:pt x="1317" y="445"/>
                      </a:lnTo>
                      <a:lnTo>
                        <a:pt x="1395" y="417"/>
                      </a:lnTo>
                      <a:lnTo>
                        <a:pt x="1465" y="384"/>
                      </a:lnTo>
                      <a:lnTo>
                        <a:pt x="1527" y="348"/>
                      </a:lnTo>
                      <a:lnTo>
                        <a:pt x="1589" y="306"/>
                      </a:lnTo>
                      <a:lnTo>
                        <a:pt x="1651" y="261"/>
                      </a:lnTo>
                      <a:lnTo>
                        <a:pt x="1705" y="214"/>
                      </a:lnTo>
                      <a:lnTo>
                        <a:pt x="1813" y="111"/>
                      </a:lnTo>
                      <a:lnTo>
                        <a:pt x="1914" y="0"/>
                      </a:lnTo>
                    </a:path>
                  </a:pathLst>
                </a:custGeom>
                <a:noFill/>
                <a:ln w="50800" cap="rnd">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21" name="Line 23">
                  <a:extLst>
                    <a:ext uri="{FF2B5EF4-FFF2-40B4-BE49-F238E27FC236}">
                      <a16:creationId xmlns:a16="http://schemas.microsoft.com/office/drawing/2014/main" id="{175934D5-3F79-4609-93D0-FB46383ECB9A}"/>
                    </a:ext>
                  </a:extLst>
                </p:cNvPr>
                <p:cNvSpPr>
                  <a:spLocks noChangeShapeType="1"/>
                </p:cNvSpPr>
                <p:nvPr/>
              </p:nvSpPr>
              <p:spPr bwMode="auto">
                <a:xfrm>
                  <a:off x="1403" y="1980"/>
                  <a:ext cx="3039" cy="0"/>
                </a:xfrm>
                <a:prstGeom prst="line">
                  <a:avLst/>
                </a:prstGeom>
                <a:noFill/>
                <a:ln w="50800">
                  <a:solidFill>
                    <a:srgbClr val="92D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22" name="Rectangle 24">
                  <a:extLst>
                    <a:ext uri="{FF2B5EF4-FFF2-40B4-BE49-F238E27FC236}">
                      <a16:creationId xmlns:a16="http://schemas.microsoft.com/office/drawing/2014/main" id="{47A386EE-3706-4979-A149-EE932914804A}"/>
                    </a:ext>
                  </a:extLst>
                </p:cNvPr>
                <p:cNvSpPr>
                  <a:spLocks noChangeArrowheads="1"/>
                </p:cNvSpPr>
                <p:nvPr/>
              </p:nvSpPr>
              <p:spPr bwMode="auto">
                <a:xfrm>
                  <a:off x="4461" y="1833"/>
                  <a:ext cx="651"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P = MR</a:t>
                  </a:r>
                </a:p>
              </p:txBody>
            </p:sp>
          </p:grpSp>
        </p:grpSp>
      </p:grpSp>
      <p:grpSp>
        <p:nvGrpSpPr>
          <p:cNvPr id="5" name="Group 25">
            <a:extLst>
              <a:ext uri="{FF2B5EF4-FFF2-40B4-BE49-F238E27FC236}">
                <a16:creationId xmlns:a16="http://schemas.microsoft.com/office/drawing/2014/main" id="{2412E6B1-8DF9-49E0-92B2-45FF3A00A272}"/>
              </a:ext>
            </a:extLst>
          </p:cNvPr>
          <p:cNvGrpSpPr>
            <a:grpSpLocks/>
          </p:cNvGrpSpPr>
          <p:nvPr/>
        </p:nvGrpSpPr>
        <p:grpSpPr bwMode="auto">
          <a:xfrm>
            <a:off x="757238" y="1939925"/>
            <a:ext cx="8310562" cy="2908300"/>
            <a:chOff x="1149" y="1305"/>
            <a:chExt cx="5235" cy="1832"/>
          </a:xfrm>
        </p:grpSpPr>
        <p:sp>
          <p:nvSpPr>
            <p:cNvPr id="37900" name="Rectangle 26">
              <a:extLst>
                <a:ext uri="{FF2B5EF4-FFF2-40B4-BE49-F238E27FC236}">
                  <a16:creationId xmlns:a16="http://schemas.microsoft.com/office/drawing/2014/main" id="{8A8D1410-2591-4A4D-AFC4-DD9D72D391C0}"/>
                </a:ext>
              </a:extLst>
            </p:cNvPr>
            <p:cNvSpPr>
              <a:spLocks noChangeArrowheads="1"/>
            </p:cNvSpPr>
            <p:nvPr/>
          </p:nvSpPr>
          <p:spPr bwMode="auto">
            <a:xfrm>
              <a:off x="3501" y="1305"/>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B</a:t>
              </a:r>
            </a:p>
          </p:txBody>
        </p:sp>
        <p:grpSp>
          <p:nvGrpSpPr>
            <p:cNvPr id="37901" name="Group 27">
              <a:extLst>
                <a:ext uri="{FF2B5EF4-FFF2-40B4-BE49-F238E27FC236}">
                  <a16:creationId xmlns:a16="http://schemas.microsoft.com/office/drawing/2014/main" id="{FC226F50-3B0A-4793-B352-CA45D6084210}"/>
                </a:ext>
              </a:extLst>
            </p:cNvPr>
            <p:cNvGrpSpPr>
              <a:grpSpLocks/>
            </p:cNvGrpSpPr>
            <p:nvPr/>
          </p:nvGrpSpPr>
          <p:grpSpPr bwMode="auto">
            <a:xfrm>
              <a:off x="1149" y="1449"/>
              <a:ext cx="2678" cy="1688"/>
              <a:chOff x="1149" y="1449"/>
              <a:chExt cx="2678" cy="1688"/>
            </a:xfrm>
          </p:grpSpPr>
          <p:sp>
            <p:nvSpPr>
              <p:cNvPr id="37903" name="Freeform 28">
                <a:extLst>
                  <a:ext uri="{FF2B5EF4-FFF2-40B4-BE49-F238E27FC236}">
                    <a16:creationId xmlns:a16="http://schemas.microsoft.com/office/drawing/2014/main" id="{55CEBC30-11EA-4CB6-B39E-B671980EA040}"/>
                  </a:ext>
                </a:extLst>
              </p:cNvPr>
              <p:cNvSpPr>
                <a:spLocks/>
              </p:cNvSpPr>
              <p:nvPr/>
            </p:nvSpPr>
            <p:spPr bwMode="auto">
              <a:xfrm>
                <a:off x="1392" y="1596"/>
                <a:ext cx="2209" cy="1297"/>
              </a:xfrm>
              <a:custGeom>
                <a:avLst/>
                <a:gdLst>
                  <a:gd name="T0" fmla="*/ 0 w 2209"/>
                  <a:gd name="T1" fmla="*/ 1296 h 1297"/>
                  <a:gd name="T2" fmla="*/ 2208 w 2209"/>
                  <a:gd name="T3" fmla="*/ 1296 h 1297"/>
                  <a:gd name="T4" fmla="*/ 2208 w 2209"/>
                  <a:gd name="T5" fmla="*/ 0 h 1297"/>
                  <a:gd name="T6" fmla="*/ 0 w 2209"/>
                  <a:gd name="T7" fmla="*/ 0 h 1297"/>
                  <a:gd name="T8" fmla="*/ 0 60000 65536"/>
                  <a:gd name="T9" fmla="*/ 0 60000 65536"/>
                  <a:gd name="T10" fmla="*/ 0 60000 65536"/>
                  <a:gd name="T11" fmla="*/ 0 60000 65536"/>
                  <a:gd name="T12" fmla="*/ 0 w 2209"/>
                  <a:gd name="T13" fmla="*/ 0 h 1297"/>
                  <a:gd name="T14" fmla="*/ 2209 w 2209"/>
                  <a:gd name="T15" fmla="*/ 1297 h 1297"/>
                </a:gdLst>
                <a:ahLst/>
                <a:cxnLst>
                  <a:cxn ang="T8">
                    <a:pos x="T0" y="T1"/>
                  </a:cxn>
                  <a:cxn ang="T9">
                    <a:pos x="T2" y="T3"/>
                  </a:cxn>
                  <a:cxn ang="T10">
                    <a:pos x="T4" y="T5"/>
                  </a:cxn>
                  <a:cxn ang="T11">
                    <a:pos x="T6" y="T7"/>
                  </a:cxn>
                </a:cxnLst>
                <a:rect l="T12" t="T13" r="T14" b="T15"/>
                <a:pathLst>
                  <a:path w="2209" h="1297">
                    <a:moveTo>
                      <a:pt x="0" y="1296"/>
                    </a:moveTo>
                    <a:lnTo>
                      <a:pt x="2208" y="1296"/>
                    </a:lnTo>
                    <a:lnTo>
                      <a:pt x="2208" y="0"/>
                    </a:lnTo>
                    <a:lnTo>
                      <a:pt x="0"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04" name="Rectangle 29">
                <a:extLst>
                  <a:ext uri="{FF2B5EF4-FFF2-40B4-BE49-F238E27FC236}">
                    <a16:creationId xmlns:a16="http://schemas.microsoft.com/office/drawing/2014/main" id="{86ABA0F5-5BF5-4E2F-B163-5E244DED02A7}"/>
                  </a:ext>
                </a:extLst>
              </p:cNvPr>
              <p:cNvSpPr>
                <a:spLocks noChangeArrowheads="1"/>
              </p:cNvSpPr>
              <p:nvPr/>
            </p:nvSpPr>
            <p:spPr bwMode="auto">
              <a:xfrm>
                <a:off x="1149" y="2745"/>
                <a:ext cx="21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F</a:t>
                </a:r>
              </a:p>
            </p:txBody>
          </p:sp>
          <p:sp>
            <p:nvSpPr>
              <p:cNvPr id="37905" name="Rectangle 30">
                <a:extLst>
                  <a:ext uri="{FF2B5EF4-FFF2-40B4-BE49-F238E27FC236}">
                    <a16:creationId xmlns:a16="http://schemas.microsoft.com/office/drawing/2014/main" id="{A0FB41BF-2C71-4847-AC40-5AE642A12137}"/>
                  </a:ext>
                </a:extLst>
              </p:cNvPr>
              <p:cNvSpPr>
                <a:spLocks noChangeArrowheads="1"/>
              </p:cNvSpPr>
              <p:nvPr/>
            </p:nvSpPr>
            <p:spPr bwMode="auto">
              <a:xfrm>
                <a:off x="1149" y="1449"/>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C</a:t>
                </a:r>
              </a:p>
            </p:txBody>
          </p:sp>
          <p:sp>
            <p:nvSpPr>
              <p:cNvPr id="37906" name="Rectangle 31">
                <a:extLst>
                  <a:ext uri="{FF2B5EF4-FFF2-40B4-BE49-F238E27FC236}">
                    <a16:creationId xmlns:a16="http://schemas.microsoft.com/office/drawing/2014/main" id="{59D4D0AA-AB45-4554-8CCD-DEDE6CDECF48}"/>
                  </a:ext>
                </a:extLst>
              </p:cNvPr>
              <p:cNvSpPr>
                <a:spLocks noChangeArrowheads="1"/>
              </p:cNvSpPr>
              <p:nvPr/>
            </p:nvSpPr>
            <p:spPr bwMode="auto">
              <a:xfrm>
                <a:off x="3597" y="1977"/>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A</a:t>
                </a:r>
              </a:p>
            </p:txBody>
          </p:sp>
          <p:sp>
            <p:nvSpPr>
              <p:cNvPr id="37907" name="Rectangle 32">
                <a:extLst>
                  <a:ext uri="{FF2B5EF4-FFF2-40B4-BE49-F238E27FC236}">
                    <a16:creationId xmlns:a16="http://schemas.microsoft.com/office/drawing/2014/main" id="{B3D1B9A8-B1A8-4548-B68E-8EC9E23C835A}"/>
                  </a:ext>
                </a:extLst>
              </p:cNvPr>
              <p:cNvSpPr>
                <a:spLocks noChangeArrowheads="1"/>
              </p:cNvSpPr>
              <p:nvPr/>
            </p:nvSpPr>
            <p:spPr bwMode="auto">
              <a:xfrm>
                <a:off x="3597" y="2889"/>
                <a:ext cx="221"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E</a:t>
                </a:r>
              </a:p>
            </p:txBody>
          </p:sp>
          <p:sp>
            <p:nvSpPr>
              <p:cNvPr id="37908" name="Oval 33">
                <a:extLst>
                  <a:ext uri="{FF2B5EF4-FFF2-40B4-BE49-F238E27FC236}">
                    <a16:creationId xmlns:a16="http://schemas.microsoft.com/office/drawing/2014/main" id="{2EE41D9D-E4B4-4CE6-AF89-5554404BB649}"/>
                  </a:ext>
                </a:extLst>
              </p:cNvPr>
              <p:cNvSpPr>
                <a:spLocks noChangeArrowheads="1"/>
              </p:cNvSpPr>
              <p:nvPr/>
            </p:nvSpPr>
            <p:spPr bwMode="auto">
              <a:xfrm>
                <a:off x="3552" y="2844"/>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7909" name="Oval 34">
                <a:extLst>
                  <a:ext uri="{FF2B5EF4-FFF2-40B4-BE49-F238E27FC236}">
                    <a16:creationId xmlns:a16="http://schemas.microsoft.com/office/drawing/2014/main" id="{BC688535-DA16-444E-88B9-ABE8C5787653}"/>
                  </a:ext>
                </a:extLst>
              </p:cNvPr>
              <p:cNvSpPr>
                <a:spLocks noChangeArrowheads="1"/>
              </p:cNvSpPr>
              <p:nvPr/>
            </p:nvSpPr>
            <p:spPr bwMode="auto">
              <a:xfrm>
                <a:off x="3552" y="1548"/>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7910" name="Rectangle 35">
                <a:extLst>
                  <a:ext uri="{FF2B5EF4-FFF2-40B4-BE49-F238E27FC236}">
                    <a16:creationId xmlns:a16="http://schemas.microsoft.com/office/drawing/2014/main" id="{BFCF96AD-DFAC-47C3-990C-C3C55F48EBA0}"/>
                  </a:ext>
                </a:extLst>
              </p:cNvPr>
              <p:cNvSpPr>
                <a:spLocks noChangeArrowheads="1"/>
              </p:cNvSpPr>
              <p:nvPr/>
            </p:nvSpPr>
            <p:spPr bwMode="auto">
              <a:xfrm>
                <a:off x="1149" y="1833"/>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D</a:t>
                </a:r>
              </a:p>
            </p:txBody>
          </p:sp>
        </p:grpSp>
        <p:sp>
          <p:nvSpPr>
            <p:cNvPr id="25615" name="Rectangle 36">
              <a:extLst>
                <a:ext uri="{FF2B5EF4-FFF2-40B4-BE49-F238E27FC236}">
                  <a16:creationId xmlns:a16="http://schemas.microsoft.com/office/drawing/2014/main" id="{61E8E015-4572-4BBF-88F6-42D27D73B902}"/>
                </a:ext>
              </a:extLst>
            </p:cNvPr>
            <p:cNvSpPr>
              <a:spLocks noChangeArrowheads="1"/>
            </p:cNvSpPr>
            <p:nvPr/>
          </p:nvSpPr>
          <p:spPr bwMode="auto">
            <a:xfrm>
              <a:off x="4800" y="2147"/>
              <a:ext cx="1584" cy="754"/>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lIns="90488" tIns="44450" rIns="90488" bIns="44450">
              <a:spAutoFit/>
            </a:bodyPr>
            <a:lstStyle/>
            <a:p>
              <a:pPr algn="ctr" eaLnBrk="1" hangingPunct="1">
                <a:defRPr/>
              </a:pPr>
              <a:r>
                <a:rPr lang="zh-CN" altLang="en-US" dirty="0"/>
                <a:t>在</a:t>
              </a:r>
              <a:r>
                <a:rPr lang="en-US" altLang="zh-CN" dirty="0"/>
                <a:t>q</a:t>
              </a:r>
              <a:r>
                <a:rPr lang="en-US" altLang="zh-CN" baseline="30000" dirty="0"/>
                <a:t>*</a:t>
              </a:r>
              <a:r>
                <a:rPr lang="zh-CN" altLang="en-US" dirty="0"/>
                <a:t>处: </a:t>
              </a:r>
              <a:r>
                <a:rPr lang="en-US" altLang="zh-CN" dirty="0"/>
                <a:t>MR = MC，</a:t>
              </a:r>
            </a:p>
            <a:p>
              <a:pPr algn="ctr" eaLnBrk="1" hangingPunct="1">
                <a:defRPr/>
              </a:pPr>
              <a:r>
                <a:rPr lang="zh-CN" altLang="en-US" dirty="0"/>
                <a:t>且</a:t>
              </a:r>
              <a:r>
                <a:rPr lang="en-US" altLang="zh-CN" dirty="0"/>
                <a:t>P &lt; ATC，</a:t>
              </a:r>
            </a:p>
            <a:p>
              <a:pPr algn="ctr" eaLnBrk="1" hangingPunct="1">
                <a:defRPr/>
              </a:pPr>
              <a:r>
                <a:rPr lang="zh-CN" altLang="en-US" dirty="0"/>
                <a:t>亏损额= (</a:t>
              </a:r>
              <a:r>
                <a:rPr lang="en-US" altLang="zh-CN" dirty="0"/>
                <a:t>P- ATC) </a:t>
              </a:r>
              <a:r>
                <a:rPr lang="en-US" altLang="zh-CN" dirty="0">
                  <a:cs typeface="Arial" charset="0"/>
                </a:rPr>
                <a:t>·</a:t>
              </a:r>
              <a:r>
                <a:rPr lang="en-US" altLang="zh-CN" dirty="0"/>
                <a:t>q</a:t>
              </a:r>
              <a:r>
                <a:rPr lang="en-US" altLang="zh-CN" baseline="30000" dirty="0"/>
                <a:t>*</a:t>
              </a:r>
              <a:r>
                <a:rPr lang="en-US" altLang="zh-CN" dirty="0"/>
                <a:t> </a:t>
              </a:r>
              <a:r>
                <a:rPr lang="zh-CN" altLang="en-US" dirty="0"/>
                <a:t>或者说矩形</a:t>
              </a:r>
              <a:r>
                <a:rPr lang="en-US" altLang="zh-CN" dirty="0"/>
                <a:t>ABCD</a:t>
              </a:r>
            </a:p>
          </p:txBody>
        </p:sp>
      </p:grpSp>
      <p:sp>
        <p:nvSpPr>
          <p:cNvPr id="3" name="标注: 线形 2">
            <a:extLst>
              <a:ext uri="{FF2B5EF4-FFF2-40B4-BE49-F238E27FC236}">
                <a16:creationId xmlns:a16="http://schemas.microsoft.com/office/drawing/2014/main" id="{3095559E-05B6-4E3D-8755-7CAEDB2B3255}"/>
              </a:ext>
            </a:extLst>
          </p:cNvPr>
          <p:cNvSpPr/>
          <p:nvPr/>
        </p:nvSpPr>
        <p:spPr bwMode="auto">
          <a:xfrm>
            <a:off x="5846762" y="476795"/>
            <a:ext cx="2687637" cy="612648"/>
          </a:xfrm>
          <a:prstGeom prst="borderCallout1">
            <a:avLst>
              <a:gd name="adj1" fmla="val 51743"/>
              <a:gd name="adj2" fmla="val -2245"/>
              <a:gd name="adj3" fmla="val 91290"/>
              <a:gd name="adj4" fmla="val -2490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利润最大化时的盈亏情况：有亏损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20868"/>
                                        </p:tgtEl>
                                        <p:attrNameLst>
                                          <p:attrName>style.visibility</p:attrName>
                                        </p:attrNameLst>
                                      </p:cBhvr>
                                      <p:to>
                                        <p:strVal val="visible"/>
                                      </p:to>
                                    </p:set>
                                    <p:animEffect transition="in" filter="wipe(left)">
                                      <p:cBhvr>
                                        <p:cTn id="16" dur="500"/>
                                        <p:tgtEl>
                                          <p:spTgt spid="420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68"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a:extLst>
              <a:ext uri="{FF2B5EF4-FFF2-40B4-BE49-F238E27FC236}">
                <a16:creationId xmlns:a16="http://schemas.microsoft.com/office/drawing/2014/main" id="{52F4CF45-6D2E-41D5-B268-544232D0E907}"/>
              </a:ext>
            </a:extLst>
          </p:cNvPr>
          <p:cNvSpPr>
            <a:spLocks noGrp="1" noChangeArrowheads="1"/>
          </p:cNvSpPr>
          <p:nvPr>
            <p:ph type="title"/>
          </p:nvPr>
        </p:nvSpPr>
        <p:spPr>
          <a:xfrm>
            <a:off x="2195513" y="312738"/>
            <a:ext cx="6338887" cy="781050"/>
          </a:xfrm>
          <a:noFill/>
        </p:spPr>
        <p:txBody>
          <a:bodyPr/>
          <a:lstStyle/>
          <a:p>
            <a:pPr eaLnBrk="1" hangingPunct="1"/>
            <a:r>
              <a:rPr lang="zh-CN" altLang="en-US">
                <a:latin typeface="黑体" panose="02010609060101010101" pitchFamily="49" charset="-122"/>
                <a:ea typeface="宋体" panose="02010600030101010101" pitchFamily="2" charset="-122"/>
              </a:rPr>
              <a:t>竞争性厂商招致的亏损</a:t>
            </a:r>
          </a:p>
        </p:txBody>
      </p:sp>
      <p:sp>
        <p:nvSpPr>
          <p:cNvPr id="38915" name="Line 7">
            <a:extLst>
              <a:ext uri="{FF2B5EF4-FFF2-40B4-BE49-F238E27FC236}">
                <a16:creationId xmlns:a16="http://schemas.microsoft.com/office/drawing/2014/main" id="{F27E5C0B-8C29-4838-9B05-A418ED4E484D}"/>
              </a:ext>
            </a:extLst>
          </p:cNvPr>
          <p:cNvSpPr>
            <a:spLocks noChangeShapeType="1"/>
          </p:cNvSpPr>
          <p:nvPr/>
        </p:nvSpPr>
        <p:spPr bwMode="auto">
          <a:xfrm>
            <a:off x="1289050" y="5797550"/>
            <a:ext cx="5140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16" name="Rectangle 2">
            <a:extLst>
              <a:ext uri="{FF2B5EF4-FFF2-40B4-BE49-F238E27FC236}">
                <a16:creationId xmlns:a16="http://schemas.microsoft.com/office/drawing/2014/main" id="{EFCA866C-5B56-40C1-B65E-A414334E751E}"/>
              </a:ext>
            </a:extLst>
          </p:cNvPr>
          <p:cNvSpPr>
            <a:spLocks noChangeArrowheads="1"/>
          </p:cNvSpPr>
          <p:nvPr/>
        </p:nvSpPr>
        <p:spPr bwMode="auto">
          <a:xfrm>
            <a:off x="-152400" y="60388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8917" name="Rectangle 3">
            <a:extLst>
              <a:ext uri="{FF2B5EF4-FFF2-40B4-BE49-F238E27FC236}">
                <a16:creationId xmlns:a16="http://schemas.microsoft.com/office/drawing/2014/main" id="{F73D4ACC-DF53-4961-ACA5-6BA06DA7988E}"/>
              </a:ext>
            </a:extLst>
          </p:cNvPr>
          <p:cNvSpPr>
            <a:spLocks noChangeArrowheads="1"/>
          </p:cNvSpPr>
          <p:nvPr/>
        </p:nvSpPr>
        <p:spPr bwMode="auto">
          <a:xfrm>
            <a:off x="2362200" y="60388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8918" name="Rectangle 5">
            <a:extLst>
              <a:ext uri="{FF2B5EF4-FFF2-40B4-BE49-F238E27FC236}">
                <a16:creationId xmlns:a16="http://schemas.microsoft.com/office/drawing/2014/main" id="{D3B5B957-09AB-45C1-9653-9DC08B35EE07}"/>
              </a:ext>
            </a:extLst>
          </p:cNvPr>
          <p:cNvSpPr>
            <a:spLocks noChangeArrowheads="1"/>
          </p:cNvSpPr>
          <p:nvPr/>
        </p:nvSpPr>
        <p:spPr bwMode="auto">
          <a:xfrm>
            <a:off x="2209800" y="602615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8919" name="Line 6">
            <a:extLst>
              <a:ext uri="{FF2B5EF4-FFF2-40B4-BE49-F238E27FC236}">
                <a16:creationId xmlns:a16="http://schemas.microsoft.com/office/drawing/2014/main" id="{5E805A56-261C-41F0-B77B-5D4947D81947}"/>
              </a:ext>
            </a:extLst>
          </p:cNvPr>
          <p:cNvSpPr>
            <a:spLocks noChangeShapeType="1"/>
          </p:cNvSpPr>
          <p:nvPr/>
        </p:nvSpPr>
        <p:spPr bwMode="auto">
          <a:xfrm>
            <a:off x="1295400" y="1541463"/>
            <a:ext cx="0" cy="4265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0" name="Rectangle 8">
            <a:extLst>
              <a:ext uri="{FF2B5EF4-FFF2-40B4-BE49-F238E27FC236}">
                <a16:creationId xmlns:a16="http://schemas.microsoft.com/office/drawing/2014/main" id="{A5A48F6E-E4E3-4346-832A-68E91D4C4788}"/>
              </a:ext>
            </a:extLst>
          </p:cNvPr>
          <p:cNvSpPr>
            <a:spLocks noChangeArrowheads="1"/>
          </p:cNvSpPr>
          <p:nvPr/>
        </p:nvSpPr>
        <p:spPr bwMode="auto">
          <a:xfrm>
            <a:off x="290513" y="1384300"/>
            <a:ext cx="6921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价格</a:t>
            </a:r>
          </a:p>
        </p:txBody>
      </p:sp>
      <p:sp>
        <p:nvSpPr>
          <p:cNvPr id="38921" name="Rectangle 16">
            <a:extLst>
              <a:ext uri="{FF2B5EF4-FFF2-40B4-BE49-F238E27FC236}">
                <a16:creationId xmlns:a16="http://schemas.microsoft.com/office/drawing/2014/main" id="{13A63F1F-F489-4C55-8698-B84A739B9C6E}"/>
              </a:ext>
            </a:extLst>
          </p:cNvPr>
          <p:cNvSpPr>
            <a:spLocks noChangeArrowheads="1"/>
          </p:cNvSpPr>
          <p:nvPr/>
        </p:nvSpPr>
        <p:spPr bwMode="auto">
          <a:xfrm>
            <a:off x="6237288" y="5797550"/>
            <a:ext cx="6921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产量</a:t>
            </a:r>
          </a:p>
        </p:txBody>
      </p:sp>
      <p:grpSp>
        <p:nvGrpSpPr>
          <p:cNvPr id="2" name="Group 42">
            <a:extLst>
              <a:ext uri="{FF2B5EF4-FFF2-40B4-BE49-F238E27FC236}">
                <a16:creationId xmlns:a16="http://schemas.microsoft.com/office/drawing/2014/main" id="{B8B7BC0F-6270-4081-AE19-54504C9D41D8}"/>
              </a:ext>
            </a:extLst>
          </p:cNvPr>
          <p:cNvGrpSpPr>
            <a:grpSpLocks/>
          </p:cNvGrpSpPr>
          <p:nvPr/>
        </p:nvGrpSpPr>
        <p:grpSpPr bwMode="auto">
          <a:xfrm>
            <a:off x="1303338" y="1274763"/>
            <a:ext cx="6102350" cy="5000625"/>
            <a:chOff x="1397" y="803"/>
            <a:chExt cx="3844" cy="3150"/>
          </a:xfrm>
        </p:grpSpPr>
        <p:sp>
          <p:nvSpPr>
            <p:cNvPr id="38934" name="Rectangle 18">
              <a:extLst>
                <a:ext uri="{FF2B5EF4-FFF2-40B4-BE49-F238E27FC236}">
                  <a16:creationId xmlns:a16="http://schemas.microsoft.com/office/drawing/2014/main" id="{F17F3987-56A7-4CD3-95F4-A71EC26ACA7E}"/>
                </a:ext>
              </a:extLst>
            </p:cNvPr>
            <p:cNvSpPr>
              <a:spLocks noChangeArrowheads="1"/>
            </p:cNvSpPr>
            <p:nvPr/>
          </p:nvSpPr>
          <p:spPr bwMode="auto">
            <a:xfrm>
              <a:off x="4230" y="2333"/>
              <a:ext cx="4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dirty="0">
                  <a:latin typeface="Times New Roman" panose="02020603050405020304" pitchFamily="18" charset="0"/>
                  <a:ea typeface="宋体" panose="02010600030101010101" pitchFamily="2" charset="-122"/>
                </a:rPr>
                <a:t>AVC</a:t>
              </a:r>
            </a:p>
          </p:txBody>
        </p:sp>
        <p:grpSp>
          <p:nvGrpSpPr>
            <p:cNvPr id="38935" name="Group 41">
              <a:extLst>
                <a:ext uri="{FF2B5EF4-FFF2-40B4-BE49-F238E27FC236}">
                  <a16:creationId xmlns:a16="http://schemas.microsoft.com/office/drawing/2014/main" id="{BAD5C387-0504-473F-8509-8F817C6C0C63}"/>
                </a:ext>
              </a:extLst>
            </p:cNvPr>
            <p:cNvGrpSpPr>
              <a:grpSpLocks/>
            </p:cNvGrpSpPr>
            <p:nvPr/>
          </p:nvGrpSpPr>
          <p:grpSpPr bwMode="auto">
            <a:xfrm>
              <a:off x="1397" y="803"/>
              <a:ext cx="3844" cy="3150"/>
              <a:chOff x="1397" y="803"/>
              <a:chExt cx="3844" cy="3150"/>
            </a:xfrm>
          </p:grpSpPr>
          <p:sp>
            <p:nvSpPr>
              <p:cNvPr id="38936" name="Rectangle 20">
                <a:extLst>
                  <a:ext uri="{FF2B5EF4-FFF2-40B4-BE49-F238E27FC236}">
                    <a16:creationId xmlns:a16="http://schemas.microsoft.com/office/drawing/2014/main" id="{C14F251E-F205-4020-8FA5-5159214F8254}"/>
                  </a:ext>
                </a:extLst>
              </p:cNvPr>
              <p:cNvSpPr>
                <a:spLocks noChangeArrowheads="1"/>
              </p:cNvSpPr>
              <p:nvPr/>
            </p:nvSpPr>
            <p:spPr bwMode="auto">
              <a:xfrm>
                <a:off x="4797" y="825"/>
                <a:ext cx="444"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ATC</a:t>
                </a:r>
              </a:p>
            </p:txBody>
          </p:sp>
          <p:grpSp>
            <p:nvGrpSpPr>
              <p:cNvPr id="38937" name="Group 40">
                <a:extLst>
                  <a:ext uri="{FF2B5EF4-FFF2-40B4-BE49-F238E27FC236}">
                    <a16:creationId xmlns:a16="http://schemas.microsoft.com/office/drawing/2014/main" id="{CD2D240B-1AB0-4BE9-AEAD-99FC101FE82C}"/>
                  </a:ext>
                </a:extLst>
              </p:cNvPr>
              <p:cNvGrpSpPr>
                <a:grpSpLocks/>
              </p:cNvGrpSpPr>
              <p:nvPr/>
            </p:nvGrpSpPr>
            <p:grpSpPr bwMode="auto">
              <a:xfrm>
                <a:off x="1397" y="803"/>
                <a:ext cx="3715" cy="3150"/>
                <a:chOff x="1397" y="803"/>
                <a:chExt cx="3715" cy="3150"/>
              </a:xfrm>
            </p:grpSpPr>
            <p:sp>
              <p:nvSpPr>
                <p:cNvPr id="38938" name="Freeform 13">
                  <a:extLst>
                    <a:ext uri="{FF2B5EF4-FFF2-40B4-BE49-F238E27FC236}">
                      <a16:creationId xmlns:a16="http://schemas.microsoft.com/office/drawing/2014/main" id="{19164676-DAB0-4514-BCB0-1FC25B118885}"/>
                    </a:ext>
                  </a:extLst>
                </p:cNvPr>
                <p:cNvSpPr>
                  <a:spLocks/>
                </p:cNvSpPr>
                <p:nvPr/>
              </p:nvSpPr>
              <p:spPr bwMode="auto">
                <a:xfrm>
                  <a:off x="1431" y="1125"/>
                  <a:ext cx="2610" cy="2172"/>
                </a:xfrm>
                <a:custGeom>
                  <a:avLst/>
                  <a:gdLst>
                    <a:gd name="T0" fmla="*/ 0 w 2479"/>
                    <a:gd name="T1" fmla="*/ 217 h 2307"/>
                    <a:gd name="T2" fmla="*/ 7 w 2479"/>
                    <a:gd name="T3" fmla="*/ 232 h 2307"/>
                    <a:gd name="T4" fmla="*/ 27 w 2479"/>
                    <a:gd name="T5" fmla="*/ 248 h 2307"/>
                    <a:gd name="T6" fmla="*/ 37 w 2479"/>
                    <a:gd name="T7" fmla="*/ 268 h 2307"/>
                    <a:gd name="T8" fmla="*/ 52 w 2479"/>
                    <a:gd name="T9" fmla="*/ 293 h 2307"/>
                    <a:gd name="T10" fmla="*/ 79 w 2479"/>
                    <a:gd name="T11" fmla="*/ 320 h 2307"/>
                    <a:gd name="T12" fmla="*/ 92 w 2479"/>
                    <a:gd name="T13" fmla="*/ 349 h 2307"/>
                    <a:gd name="T14" fmla="*/ 119 w 2479"/>
                    <a:gd name="T15" fmla="*/ 380 h 2307"/>
                    <a:gd name="T16" fmla="*/ 161 w 2479"/>
                    <a:gd name="T17" fmla="*/ 413 h 2307"/>
                    <a:gd name="T18" fmla="*/ 200 w 2479"/>
                    <a:gd name="T19" fmla="*/ 451 h 2307"/>
                    <a:gd name="T20" fmla="*/ 252 w 2479"/>
                    <a:gd name="T21" fmla="*/ 497 h 2307"/>
                    <a:gd name="T22" fmla="*/ 307 w 2479"/>
                    <a:gd name="T23" fmla="*/ 547 h 2307"/>
                    <a:gd name="T24" fmla="*/ 373 w 2479"/>
                    <a:gd name="T25" fmla="*/ 598 h 2307"/>
                    <a:gd name="T26" fmla="*/ 425 w 2479"/>
                    <a:gd name="T27" fmla="*/ 648 h 2307"/>
                    <a:gd name="T28" fmla="*/ 491 w 2479"/>
                    <a:gd name="T29" fmla="*/ 697 h 2307"/>
                    <a:gd name="T30" fmla="*/ 544 w 2479"/>
                    <a:gd name="T31" fmla="*/ 739 h 2307"/>
                    <a:gd name="T32" fmla="*/ 610 w 2479"/>
                    <a:gd name="T33" fmla="*/ 776 h 2307"/>
                    <a:gd name="T34" fmla="*/ 664 w 2479"/>
                    <a:gd name="T35" fmla="*/ 803 h 2307"/>
                    <a:gd name="T36" fmla="*/ 715 w 2479"/>
                    <a:gd name="T37" fmla="*/ 827 h 2307"/>
                    <a:gd name="T38" fmla="*/ 770 w 2479"/>
                    <a:gd name="T39" fmla="*/ 849 h 2307"/>
                    <a:gd name="T40" fmla="*/ 837 w 2479"/>
                    <a:gd name="T41" fmla="*/ 866 h 2307"/>
                    <a:gd name="T42" fmla="*/ 957 w 2479"/>
                    <a:gd name="T43" fmla="*/ 896 h 2307"/>
                    <a:gd name="T44" fmla="*/ 1103 w 2479"/>
                    <a:gd name="T45" fmla="*/ 922 h 2307"/>
                    <a:gd name="T46" fmla="*/ 1275 w 2479"/>
                    <a:gd name="T47" fmla="*/ 947 h 2307"/>
                    <a:gd name="T48" fmla="*/ 1463 w 2479"/>
                    <a:gd name="T49" fmla="*/ 970 h 2307"/>
                    <a:gd name="T50" fmla="*/ 1552 w 2479"/>
                    <a:gd name="T51" fmla="*/ 979 h 2307"/>
                    <a:gd name="T52" fmla="*/ 1658 w 2479"/>
                    <a:gd name="T53" fmla="*/ 988 h 2307"/>
                    <a:gd name="T54" fmla="*/ 1765 w 2479"/>
                    <a:gd name="T55" fmla="*/ 989 h 2307"/>
                    <a:gd name="T56" fmla="*/ 1870 w 2479"/>
                    <a:gd name="T57" fmla="*/ 991 h 2307"/>
                    <a:gd name="T58" fmla="*/ 1991 w 2479"/>
                    <a:gd name="T59" fmla="*/ 991 h 2307"/>
                    <a:gd name="T60" fmla="*/ 2111 w 2479"/>
                    <a:gd name="T61" fmla="*/ 988 h 2307"/>
                    <a:gd name="T62" fmla="*/ 2375 w 2479"/>
                    <a:gd name="T63" fmla="*/ 974 h 2307"/>
                    <a:gd name="T64" fmla="*/ 2637 w 2479"/>
                    <a:gd name="T65" fmla="*/ 955 h 2307"/>
                    <a:gd name="T66" fmla="*/ 2763 w 2479"/>
                    <a:gd name="T67" fmla="*/ 939 h 2307"/>
                    <a:gd name="T68" fmla="*/ 2868 w 2479"/>
                    <a:gd name="T69" fmla="*/ 922 h 2307"/>
                    <a:gd name="T70" fmla="*/ 2973 w 2479"/>
                    <a:gd name="T71" fmla="*/ 902 h 2307"/>
                    <a:gd name="T72" fmla="*/ 3066 w 2479"/>
                    <a:gd name="T73" fmla="*/ 879 h 2307"/>
                    <a:gd name="T74" fmla="*/ 3160 w 2479"/>
                    <a:gd name="T75" fmla="*/ 853 h 2307"/>
                    <a:gd name="T76" fmla="*/ 3237 w 2479"/>
                    <a:gd name="T77" fmla="*/ 827 h 2307"/>
                    <a:gd name="T78" fmla="*/ 3398 w 2479"/>
                    <a:gd name="T79" fmla="*/ 770 h 2307"/>
                    <a:gd name="T80" fmla="*/ 3478 w 2479"/>
                    <a:gd name="T81" fmla="*/ 743 h 2307"/>
                    <a:gd name="T82" fmla="*/ 3543 w 2479"/>
                    <a:gd name="T83" fmla="*/ 718 h 2307"/>
                    <a:gd name="T84" fmla="*/ 3664 w 2479"/>
                    <a:gd name="T85" fmla="*/ 673 h 2307"/>
                    <a:gd name="T86" fmla="*/ 3769 w 2479"/>
                    <a:gd name="T87" fmla="*/ 630 h 2307"/>
                    <a:gd name="T88" fmla="*/ 3940 w 2479"/>
                    <a:gd name="T89" fmla="*/ 552 h 2307"/>
                    <a:gd name="T90" fmla="*/ 3980 w 2479"/>
                    <a:gd name="T91" fmla="*/ 535 h 2307"/>
                    <a:gd name="T92" fmla="*/ 3994 w 2479"/>
                    <a:gd name="T93" fmla="*/ 523 h 2307"/>
                    <a:gd name="T94" fmla="*/ 4036 w 2479"/>
                    <a:gd name="T95" fmla="*/ 500 h 2307"/>
                    <a:gd name="T96" fmla="*/ 4063 w 2479"/>
                    <a:gd name="T97" fmla="*/ 485 h 2307"/>
                    <a:gd name="T98" fmla="*/ 4098 w 2479"/>
                    <a:gd name="T99" fmla="*/ 469 h 2307"/>
                    <a:gd name="T100" fmla="*/ 4140 w 2479"/>
                    <a:gd name="T101" fmla="*/ 444 h 2307"/>
                    <a:gd name="T102" fmla="*/ 4208 w 2479"/>
                    <a:gd name="T103" fmla="*/ 413 h 2307"/>
                    <a:gd name="T104" fmla="*/ 4284 w 2479"/>
                    <a:gd name="T105" fmla="*/ 375 h 2307"/>
                    <a:gd name="T106" fmla="*/ 4392 w 2479"/>
                    <a:gd name="T107" fmla="*/ 328 h 2307"/>
                    <a:gd name="T108" fmla="*/ 4510 w 2479"/>
                    <a:gd name="T109" fmla="*/ 276 h 2307"/>
                    <a:gd name="T110" fmla="*/ 4631 w 2479"/>
                    <a:gd name="T111" fmla="*/ 220 h 2307"/>
                    <a:gd name="T112" fmla="*/ 4882 w 2479"/>
                    <a:gd name="T113" fmla="*/ 107 h 2307"/>
                    <a:gd name="T114" fmla="*/ 5001 w 2479"/>
                    <a:gd name="T115" fmla="*/ 53 h 2307"/>
                    <a:gd name="T116" fmla="*/ 5096 w 2479"/>
                    <a:gd name="T117" fmla="*/ 0 h 230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479"/>
                    <a:gd name="T178" fmla="*/ 0 h 2307"/>
                    <a:gd name="T179" fmla="*/ 2479 w 2479"/>
                    <a:gd name="T180" fmla="*/ 2307 h 230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479" h="2307">
                      <a:moveTo>
                        <a:pt x="0" y="503"/>
                      </a:moveTo>
                      <a:lnTo>
                        <a:pt x="7" y="537"/>
                      </a:lnTo>
                      <a:lnTo>
                        <a:pt x="13" y="575"/>
                      </a:lnTo>
                      <a:lnTo>
                        <a:pt x="19" y="625"/>
                      </a:lnTo>
                      <a:lnTo>
                        <a:pt x="26" y="680"/>
                      </a:lnTo>
                      <a:lnTo>
                        <a:pt x="39" y="741"/>
                      </a:lnTo>
                      <a:lnTo>
                        <a:pt x="45" y="813"/>
                      </a:lnTo>
                      <a:lnTo>
                        <a:pt x="58" y="885"/>
                      </a:lnTo>
                      <a:lnTo>
                        <a:pt x="78" y="962"/>
                      </a:lnTo>
                      <a:lnTo>
                        <a:pt x="97" y="1051"/>
                      </a:lnTo>
                      <a:lnTo>
                        <a:pt x="123" y="1156"/>
                      </a:lnTo>
                      <a:lnTo>
                        <a:pt x="149" y="1272"/>
                      </a:lnTo>
                      <a:lnTo>
                        <a:pt x="181" y="1388"/>
                      </a:lnTo>
                      <a:lnTo>
                        <a:pt x="207" y="1504"/>
                      </a:lnTo>
                      <a:lnTo>
                        <a:pt x="239" y="1620"/>
                      </a:lnTo>
                      <a:lnTo>
                        <a:pt x="265" y="1720"/>
                      </a:lnTo>
                      <a:lnTo>
                        <a:pt x="297" y="1803"/>
                      </a:lnTo>
                      <a:lnTo>
                        <a:pt x="323" y="1869"/>
                      </a:lnTo>
                      <a:lnTo>
                        <a:pt x="349" y="1924"/>
                      </a:lnTo>
                      <a:lnTo>
                        <a:pt x="374" y="1974"/>
                      </a:lnTo>
                      <a:lnTo>
                        <a:pt x="407" y="2013"/>
                      </a:lnTo>
                      <a:lnTo>
                        <a:pt x="465" y="2085"/>
                      </a:lnTo>
                      <a:lnTo>
                        <a:pt x="536" y="2146"/>
                      </a:lnTo>
                      <a:lnTo>
                        <a:pt x="620" y="2206"/>
                      </a:lnTo>
                      <a:lnTo>
                        <a:pt x="710" y="2256"/>
                      </a:lnTo>
                      <a:lnTo>
                        <a:pt x="755" y="2278"/>
                      </a:lnTo>
                      <a:lnTo>
                        <a:pt x="807" y="2295"/>
                      </a:lnTo>
                      <a:lnTo>
                        <a:pt x="858" y="2300"/>
                      </a:lnTo>
                      <a:lnTo>
                        <a:pt x="910" y="2306"/>
                      </a:lnTo>
                      <a:lnTo>
                        <a:pt x="968" y="2306"/>
                      </a:lnTo>
                      <a:lnTo>
                        <a:pt x="1026" y="2295"/>
                      </a:lnTo>
                      <a:lnTo>
                        <a:pt x="1155" y="2267"/>
                      </a:lnTo>
                      <a:lnTo>
                        <a:pt x="1284" y="2218"/>
                      </a:lnTo>
                      <a:lnTo>
                        <a:pt x="1342" y="2184"/>
                      </a:lnTo>
                      <a:lnTo>
                        <a:pt x="1394" y="2146"/>
                      </a:lnTo>
                      <a:lnTo>
                        <a:pt x="1446" y="2101"/>
                      </a:lnTo>
                      <a:lnTo>
                        <a:pt x="1491" y="2046"/>
                      </a:lnTo>
                      <a:lnTo>
                        <a:pt x="1536" y="1985"/>
                      </a:lnTo>
                      <a:lnTo>
                        <a:pt x="1575" y="1924"/>
                      </a:lnTo>
                      <a:lnTo>
                        <a:pt x="1652" y="1792"/>
                      </a:lnTo>
                      <a:lnTo>
                        <a:pt x="1691" y="1725"/>
                      </a:lnTo>
                      <a:lnTo>
                        <a:pt x="1723" y="1670"/>
                      </a:lnTo>
                      <a:lnTo>
                        <a:pt x="1781" y="1565"/>
                      </a:lnTo>
                      <a:lnTo>
                        <a:pt x="1833" y="1466"/>
                      </a:lnTo>
                      <a:lnTo>
                        <a:pt x="1917" y="1283"/>
                      </a:lnTo>
                      <a:lnTo>
                        <a:pt x="1936" y="1244"/>
                      </a:lnTo>
                      <a:lnTo>
                        <a:pt x="1942" y="1217"/>
                      </a:lnTo>
                      <a:lnTo>
                        <a:pt x="1962" y="1161"/>
                      </a:lnTo>
                      <a:lnTo>
                        <a:pt x="1975" y="1128"/>
                      </a:lnTo>
                      <a:lnTo>
                        <a:pt x="1994" y="1089"/>
                      </a:lnTo>
                      <a:lnTo>
                        <a:pt x="2013" y="1034"/>
                      </a:lnTo>
                      <a:lnTo>
                        <a:pt x="2046" y="962"/>
                      </a:lnTo>
                      <a:lnTo>
                        <a:pt x="2084" y="874"/>
                      </a:lnTo>
                      <a:lnTo>
                        <a:pt x="2136" y="763"/>
                      </a:lnTo>
                      <a:lnTo>
                        <a:pt x="2194" y="642"/>
                      </a:lnTo>
                      <a:lnTo>
                        <a:pt x="2252" y="514"/>
                      </a:lnTo>
                      <a:lnTo>
                        <a:pt x="2375" y="249"/>
                      </a:lnTo>
                      <a:lnTo>
                        <a:pt x="2433" y="122"/>
                      </a:lnTo>
                      <a:lnTo>
                        <a:pt x="2478"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39" name="Rectangle 14">
                  <a:extLst>
                    <a:ext uri="{FF2B5EF4-FFF2-40B4-BE49-F238E27FC236}">
                      <a16:creationId xmlns:a16="http://schemas.microsoft.com/office/drawing/2014/main" id="{579BEA5B-D6E8-4A1F-8F9B-BDA7DF1633FA}"/>
                    </a:ext>
                  </a:extLst>
                </p:cNvPr>
                <p:cNvSpPr>
                  <a:spLocks noChangeArrowheads="1"/>
                </p:cNvSpPr>
                <p:nvPr/>
              </p:nvSpPr>
              <p:spPr bwMode="auto">
                <a:xfrm>
                  <a:off x="3867" y="803"/>
                  <a:ext cx="363"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MC</a:t>
                  </a:r>
                </a:p>
              </p:txBody>
            </p:sp>
            <p:sp>
              <p:nvSpPr>
                <p:cNvPr id="38940" name="Line 12">
                  <a:extLst>
                    <a:ext uri="{FF2B5EF4-FFF2-40B4-BE49-F238E27FC236}">
                      <a16:creationId xmlns:a16="http://schemas.microsoft.com/office/drawing/2014/main" id="{EBF9274D-6ECB-4406-A6D6-4E2859050D7B}"/>
                    </a:ext>
                  </a:extLst>
                </p:cNvPr>
                <p:cNvSpPr>
                  <a:spLocks noChangeShapeType="1"/>
                </p:cNvSpPr>
                <p:nvPr/>
              </p:nvSpPr>
              <p:spPr bwMode="auto">
                <a:xfrm flipV="1">
                  <a:off x="3600" y="2885"/>
                  <a:ext cx="0" cy="78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1" name="Rectangle 15">
                  <a:extLst>
                    <a:ext uri="{FF2B5EF4-FFF2-40B4-BE49-F238E27FC236}">
                      <a16:creationId xmlns:a16="http://schemas.microsoft.com/office/drawing/2014/main" id="{322D8DD7-8400-486C-9605-A3A882A6E092}"/>
                    </a:ext>
                  </a:extLst>
                </p:cNvPr>
                <p:cNvSpPr>
                  <a:spLocks noChangeArrowheads="1"/>
                </p:cNvSpPr>
                <p:nvPr/>
              </p:nvSpPr>
              <p:spPr bwMode="auto">
                <a:xfrm>
                  <a:off x="3501" y="3705"/>
                  <a:ext cx="25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q</a:t>
                  </a:r>
                  <a:r>
                    <a:rPr lang="en-US" altLang="zh-CN" sz="2000" i="1" baseline="30000">
                      <a:latin typeface="Times New Roman" panose="02020603050405020304" pitchFamily="18" charset="0"/>
                      <a:ea typeface="宋体" panose="02010600030101010101" pitchFamily="2" charset="-122"/>
                    </a:rPr>
                    <a:t>*</a:t>
                  </a:r>
                </a:p>
              </p:txBody>
            </p:sp>
            <p:sp>
              <p:nvSpPr>
                <p:cNvPr id="38942" name="Freeform 17">
                  <a:extLst>
                    <a:ext uri="{FF2B5EF4-FFF2-40B4-BE49-F238E27FC236}">
                      <a16:creationId xmlns:a16="http://schemas.microsoft.com/office/drawing/2014/main" id="{DA0A7B63-F8A3-4E35-A05E-B8B402C98003}"/>
                    </a:ext>
                  </a:extLst>
                </p:cNvPr>
                <p:cNvSpPr>
                  <a:spLocks/>
                </p:cNvSpPr>
                <p:nvPr/>
              </p:nvSpPr>
              <p:spPr bwMode="auto">
                <a:xfrm>
                  <a:off x="1971" y="2385"/>
                  <a:ext cx="2174" cy="656"/>
                </a:xfrm>
                <a:custGeom>
                  <a:avLst/>
                  <a:gdLst>
                    <a:gd name="T0" fmla="*/ 0 w 2259"/>
                    <a:gd name="T1" fmla="*/ 5775 h 489"/>
                    <a:gd name="T2" fmla="*/ 155 w 2259"/>
                    <a:gd name="T3" fmla="*/ 13396 h 489"/>
                    <a:gd name="T4" fmla="*/ 234 w 2259"/>
                    <a:gd name="T5" fmla="*/ 17044 h 489"/>
                    <a:gd name="T6" fmla="*/ 307 w 2259"/>
                    <a:gd name="T7" fmla="*/ 20398 h 489"/>
                    <a:gd name="T8" fmla="*/ 380 w 2259"/>
                    <a:gd name="T9" fmla="*/ 23489 h 489"/>
                    <a:gd name="T10" fmla="*/ 454 w 2259"/>
                    <a:gd name="T11" fmla="*/ 25868 h 489"/>
                    <a:gd name="T12" fmla="*/ 523 w 2259"/>
                    <a:gd name="T13" fmla="*/ 27976 h 489"/>
                    <a:gd name="T14" fmla="*/ 588 w 2259"/>
                    <a:gd name="T15" fmla="*/ 29220 h 489"/>
                    <a:gd name="T16" fmla="*/ 652 w 2259"/>
                    <a:gd name="T17" fmla="*/ 29862 h 489"/>
                    <a:gd name="T18" fmla="*/ 719 w 2259"/>
                    <a:gd name="T19" fmla="*/ 29515 h 489"/>
                    <a:gd name="T20" fmla="*/ 784 w 2259"/>
                    <a:gd name="T21" fmla="*/ 28624 h 489"/>
                    <a:gd name="T22" fmla="*/ 846 w 2259"/>
                    <a:gd name="T23" fmla="*/ 27364 h 489"/>
                    <a:gd name="T24" fmla="*/ 908 w 2259"/>
                    <a:gd name="T25" fmla="*/ 25584 h 489"/>
                    <a:gd name="T26" fmla="*/ 960 w 2259"/>
                    <a:gd name="T27" fmla="*/ 23778 h 489"/>
                    <a:gd name="T28" fmla="*/ 1014 w 2259"/>
                    <a:gd name="T29" fmla="*/ 21974 h 489"/>
                    <a:gd name="T30" fmla="*/ 1060 w 2259"/>
                    <a:gd name="T31" fmla="*/ 19821 h 489"/>
                    <a:gd name="T32" fmla="*/ 1105 w 2259"/>
                    <a:gd name="T33" fmla="*/ 17700 h 489"/>
                    <a:gd name="T34" fmla="*/ 1144 w 2259"/>
                    <a:gd name="T35" fmla="*/ 15205 h 489"/>
                    <a:gd name="T36" fmla="*/ 1215 w 2259"/>
                    <a:gd name="T37" fmla="*/ 9471 h 489"/>
                    <a:gd name="T38" fmla="*/ 1245 w 2259"/>
                    <a:gd name="T39" fmla="*/ 6756 h 489"/>
                    <a:gd name="T40" fmla="*/ 1275 w 2259"/>
                    <a:gd name="T41" fmla="*/ 3991 h 489"/>
                    <a:gd name="T42" fmla="*/ 1299 w 2259"/>
                    <a:gd name="T43" fmla="*/ 1823 h 489"/>
                    <a:gd name="T44" fmla="*/ 1319 w 2259"/>
                    <a:gd name="T45" fmla="*/ 0 h 4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59"/>
                    <a:gd name="T70" fmla="*/ 0 h 489"/>
                    <a:gd name="T71" fmla="*/ 2259 w 2259"/>
                    <a:gd name="T72" fmla="*/ 489 h 4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59" h="489">
                      <a:moveTo>
                        <a:pt x="0" y="95"/>
                      </a:moveTo>
                      <a:lnTo>
                        <a:pt x="266" y="219"/>
                      </a:lnTo>
                      <a:lnTo>
                        <a:pt x="399" y="279"/>
                      </a:lnTo>
                      <a:lnTo>
                        <a:pt x="524" y="334"/>
                      </a:lnTo>
                      <a:lnTo>
                        <a:pt x="650" y="384"/>
                      </a:lnTo>
                      <a:lnTo>
                        <a:pt x="776" y="423"/>
                      </a:lnTo>
                      <a:lnTo>
                        <a:pt x="895" y="458"/>
                      </a:lnTo>
                      <a:lnTo>
                        <a:pt x="1007" y="478"/>
                      </a:lnTo>
                      <a:lnTo>
                        <a:pt x="1119" y="488"/>
                      </a:lnTo>
                      <a:lnTo>
                        <a:pt x="1230" y="483"/>
                      </a:lnTo>
                      <a:lnTo>
                        <a:pt x="1342" y="468"/>
                      </a:lnTo>
                      <a:lnTo>
                        <a:pt x="1447" y="448"/>
                      </a:lnTo>
                      <a:lnTo>
                        <a:pt x="1552" y="418"/>
                      </a:lnTo>
                      <a:lnTo>
                        <a:pt x="1643" y="389"/>
                      </a:lnTo>
                      <a:lnTo>
                        <a:pt x="1734" y="359"/>
                      </a:lnTo>
                      <a:lnTo>
                        <a:pt x="1811" y="324"/>
                      </a:lnTo>
                      <a:lnTo>
                        <a:pt x="1888" y="289"/>
                      </a:lnTo>
                      <a:lnTo>
                        <a:pt x="1957" y="249"/>
                      </a:lnTo>
                      <a:lnTo>
                        <a:pt x="2076" y="155"/>
                      </a:lnTo>
                      <a:lnTo>
                        <a:pt x="2132" y="110"/>
                      </a:lnTo>
                      <a:lnTo>
                        <a:pt x="2181" y="65"/>
                      </a:lnTo>
                      <a:lnTo>
                        <a:pt x="2223" y="30"/>
                      </a:lnTo>
                      <a:lnTo>
                        <a:pt x="2258" y="0"/>
                      </a:lnTo>
                    </a:path>
                  </a:pathLst>
                </a:custGeom>
                <a:noFill/>
                <a:ln w="50800" cap="rnd">
                  <a:solidFill>
                    <a:srgbClr val="FFC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43" name="Freeform 19">
                  <a:extLst>
                    <a:ext uri="{FF2B5EF4-FFF2-40B4-BE49-F238E27FC236}">
                      <a16:creationId xmlns:a16="http://schemas.microsoft.com/office/drawing/2014/main" id="{AF75D37B-51B0-4564-98FF-AA833AA51DB3}"/>
                    </a:ext>
                  </a:extLst>
                </p:cNvPr>
                <p:cNvSpPr>
                  <a:spLocks/>
                </p:cNvSpPr>
                <p:nvPr/>
              </p:nvSpPr>
              <p:spPr bwMode="auto">
                <a:xfrm>
                  <a:off x="2891" y="1053"/>
                  <a:ext cx="1915" cy="538"/>
                </a:xfrm>
                <a:custGeom>
                  <a:avLst/>
                  <a:gdLst>
                    <a:gd name="T0" fmla="*/ 0 w 1915"/>
                    <a:gd name="T1" fmla="*/ 2 h 538"/>
                    <a:gd name="T2" fmla="*/ 16 w 1915"/>
                    <a:gd name="T3" fmla="*/ 16 h 538"/>
                    <a:gd name="T4" fmla="*/ 31 w 1915"/>
                    <a:gd name="T5" fmla="*/ 36 h 538"/>
                    <a:gd name="T6" fmla="*/ 47 w 1915"/>
                    <a:gd name="T7" fmla="*/ 55 h 538"/>
                    <a:gd name="T8" fmla="*/ 62 w 1915"/>
                    <a:gd name="T9" fmla="*/ 80 h 538"/>
                    <a:gd name="T10" fmla="*/ 101 w 1915"/>
                    <a:gd name="T11" fmla="*/ 131 h 538"/>
                    <a:gd name="T12" fmla="*/ 147 w 1915"/>
                    <a:gd name="T13" fmla="*/ 189 h 538"/>
                    <a:gd name="T14" fmla="*/ 202 w 1915"/>
                    <a:gd name="T15" fmla="*/ 248 h 538"/>
                    <a:gd name="T16" fmla="*/ 248 w 1915"/>
                    <a:gd name="T17" fmla="*/ 303 h 538"/>
                    <a:gd name="T18" fmla="*/ 302 w 1915"/>
                    <a:gd name="T19" fmla="*/ 353 h 538"/>
                    <a:gd name="T20" fmla="*/ 333 w 1915"/>
                    <a:gd name="T21" fmla="*/ 373 h 538"/>
                    <a:gd name="T22" fmla="*/ 356 w 1915"/>
                    <a:gd name="T23" fmla="*/ 392 h 538"/>
                    <a:gd name="T24" fmla="*/ 411 w 1915"/>
                    <a:gd name="T25" fmla="*/ 423 h 538"/>
                    <a:gd name="T26" fmla="*/ 465 w 1915"/>
                    <a:gd name="T27" fmla="*/ 454 h 538"/>
                    <a:gd name="T28" fmla="*/ 519 w 1915"/>
                    <a:gd name="T29" fmla="*/ 479 h 538"/>
                    <a:gd name="T30" fmla="*/ 573 w 1915"/>
                    <a:gd name="T31" fmla="*/ 498 h 538"/>
                    <a:gd name="T32" fmla="*/ 635 w 1915"/>
                    <a:gd name="T33" fmla="*/ 515 h 538"/>
                    <a:gd name="T34" fmla="*/ 697 w 1915"/>
                    <a:gd name="T35" fmla="*/ 529 h 538"/>
                    <a:gd name="T36" fmla="*/ 759 w 1915"/>
                    <a:gd name="T37" fmla="*/ 534 h 538"/>
                    <a:gd name="T38" fmla="*/ 829 w 1915"/>
                    <a:gd name="T39" fmla="*/ 537 h 538"/>
                    <a:gd name="T40" fmla="*/ 899 w 1915"/>
                    <a:gd name="T41" fmla="*/ 534 h 538"/>
                    <a:gd name="T42" fmla="*/ 976 w 1915"/>
                    <a:gd name="T43" fmla="*/ 526 h 538"/>
                    <a:gd name="T44" fmla="*/ 1062 w 1915"/>
                    <a:gd name="T45" fmla="*/ 512 h 538"/>
                    <a:gd name="T46" fmla="*/ 1147 w 1915"/>
                    <a:gd name="T47" fmla="*/ 495 h 538"/>
                    <a:gd name="T48" fmla="*/ 1232 w 1915"/>
                    <a:gd name="T49" fmla="*/ 470 h 538"/>
                    <a:gd name="T50" fmla="*/ 1317 w 1915"/>
                    <a:gd name="T51" fmla="*/ 445 h 538"/>
                    <a:gd name="T52" fmla="*/ 1395 w 1915"/>
                    <a:gd name="T53" fmla="*/ 417 h 538"/>
                    <a:gd name="T54" fmla="*/ 1465 w 1915"/>
                    <a:gd name="T55" fmla="*/ 384 h 538"/>
                    <a:gd name="T56" fmla="*/ 1527 w 1915"/>
                    <a:gd name="T57" fmla="*/ 348 h 538"/>
                    <a:gd name="T58" fmla="*/ 1589 w 1915"/>
                    <a:gd name="T59" fmla="*/ 306 h 538"/>
                    <a:gd name="T60" fmla="*/ 1651 w 1915"/>
                    <a:gd name="T61" fmla="*/ 261 h 538"/>
                    <a:gd name="T62" fmla="*/ 1705 w 1915"/>
                    <a:gd name="T63" fmla="*/ 214 h 538"/>
                    <a:gd name="T64" fmla="*/ 1813 w 1915"/>
                    <a:gd name="T65" fmla="*/ 111 h 538"/>
                    <a:gd name="T66" fmla="*/ 1914 w 1915"/>
                    <a:gd name="T67" fmla="*/ 0 h 5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915"/>
                    <a:gd name="T103" fmla="*/ 0 h 538"/>
                    <a:gd name="T104" fmla="*/ 1915 w 1915"/>
                    <a:gd name="T105" fmla="*/ 538 h 53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915" h="538">
                      <a:moveTo>
                        <a:pt x="0" y="2"/>
                      </a:moveTo>
                      <a:lnTo>
                        <a:pt x="16" y="16"/>
                      </a:lnTo>
                      <a:lnTo>
                        <a:pt x="31" y="36"/>
                      </a:lnTo>
                      <a:lnTo>
                        <a:pt x="47" y="55"/>
                      </a:lnTo>
                      <a:lnTo>
                        <a:pt x="62" y="80"/>
                      </a:lnTo>
                      <a:lnTo>
                        <a:pt x="101" y="131"/>
                      </a:lnTo>
                      <a:lnTo>
                        <a:pt x="147" y="189"/>
                      </a:lnTo>
                      <a:lnTo>
                        <a:pt x="202" y="248"/>
                      </a:lnTo>
                      <a:lnTo>
                        <a:pt x="248" y="303"/>
                      </a:lnTo>
                      <a:lnTo>
                        <a:pt x="302" y="353"/>
                      </a:lnTo>
                      <a:lnTo>
                        <a:pt x="333" y="373"/>
                      </a:lnTo>
                      <a:lnTo>
                        <a:pt x="356" y="392"/>
                      </a:lnTo>
                      <a:lnTo>
                        <a:pt x="411" y="423"/>
                      </a:lnTo>
                      <a:lnTo>
                        <a:pt x="465" y="454"/>
                      </a:lnTo>
                      <a:lnTo>
                        <a:pt x="519" y="479"/>
                      </a:lnTo>
                      <a:lnTo>
                        <a:pt x="573" y="498"/>
                      </a:lnTo>
                      <a:lnTo>
                        <a:pt x="635" y="515"/>
                      </a:lnTo>
                      <a:lnTo>
                        <a:pt x="697" y="529"/>
                      </a:lnTo>
                      <a:lnTo>
                        <a:pt x="759" y="534"/>
                      </a:lnTo>
                      <a:lnTo>
                        <a:pt x="829" y="537"/>
                      </a:lnTo>
                      <a:lnTo>
                        <a:pt x="899" y="534"/>
                      </a:lnTo>
                      <a:lnTo>
                        <a:pt x="976" y="526"/>
                      </a:lnTo>
                      <a:lnTo>
                        <a:pt x="1062" y="512"/>
                      </a:lnTo>
                      <a:lnTo>
                        <a:pt x="1147" y="495"/>
                      </a:lnTo>
                      <a:lnTo>
                        <a:pt x="1232" y="470"/>
                      </a:lnTo>
                      <a:lnTo>
                        <a:pt x="1317" y="445"/>
                      </a:lnTo>
                      <a:lnTo>
                        <a:pt x="1395" y="417"/>
                      </a:lnTo>
                      <a:lnTo>
                        <a:pt x="1465" y="384"/>
                      </a:lnTo>
                      <a:lnTo>
                        <a:pt x="1527" y="348"/>
                      </a:lnTo>
                      <a:lnTo>
                        <a:pt x="1589" y="306"/>
                      </a:lnTo>
                      <a:lnTo>
                        <a:pt x="1651" y="261"/>
                      </a:lnTo>
                      <a:lnTo>
                        <a:pt x="1705" y="214"/>
                      </a:lnTo>
                      <a:lnTo>
                        <a:pt x="1813" y="111"/>
                      </a:lnTo>
                      <a:lnTo>
                        <a:pt x="1914" y="0"/>
                      </a:lnTo>
                    </a:path>
                  </a:pathLst>
                </a:custGeom>
                <a:noFill/>
                <a:ln w="50800" cap="rnd">
                  <a:solidFill>
                    <a:srgbClr val="0033C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44" name="Line 9">
                  <a:extLst>
                    <a:ext uri="{FF2B5EF4-FFF2-40B4-BE49-F238E27FC236}">
                      <a16:creationId xmlns:a16="http://schemas.microsoft.com/office/drawing/2014/main" id="{68594BA9-927C-4A1F-9292-2242814614A7}"/>
                    </a:ext>
                  </a:extLst>
                </p:cNvPr>
                <p:cNvSpPr>
                  <a:spLocks noChangeShapeType="1"/>
                </p:cNvSpPr>
                <p:nvPr/>
              </p:nvSpPr>
              <p:spPr bwMode="auto">
                <a:xfrm>
                  <a:off x="1397" y="1980"/>
                  <a:ext cx="3039" cy="0"/>
                </a:xfrm>
                <a:prstGeom prst="line">
                  <a:avLst/>
                </a:prstGeom>
                <a:noFill/>
                <a:ln w="50800">
                  <a:solidFill>
                    <a:srgbClr val="659A2A"/>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5" name="Rectangle 11">
                  <a:extLst>
                    <a:ext uri="{FF2B5EF4-FFF2-40B4-BE49-F238E27FC236}">
                      <a16:creationId xmlns:a16="http://schemas.microsoft.com/office/drawing/2014/main" id="{407B15B8-DAB9-4E51-A575-7CD2E78E8012}"/>
                    </a:ext>
                  </a:extLst>
                </p:cNvPr>
                <p:cNvSpPr>
                  <a:spLocks noChangeArrowheads="1"/>
                </p:cNvSpPr>
                <p:nvPr/>
              </p:nvSpPr>
              <p:spPr bwMode="auto">
                <a:xfrm>
                  <a:off x="4461" y="1833"/>
                  <a:ext cx="651"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P = MR</a:t>
                  </a:r>
                </a:p>
              </p:txBody>
            </p:sp>
          </p:grpSp>
        </p:grpSp>
      </p:grpSp>
      <p:sp>
        <p:nvSpPr>
          <p:cNvPr id="38923" name="Rectangle 24">
            <a:extLst>
              <a:ext uri="{FF2B5EF4-FFF2-40B4-BE49-F238E27FC236}">
                <a16:creationId xmlns:a16="http://schemas.microsoft.com/office/drawing/2014/main" id="{CF9C10E2-E8E6-455B-B0DE-2D3D72B17DE8}"/>
              </a:ext>
            </a:extLst>
          </p:cNvPr>
          <p:cNvSpPr>
            <a:spLocks noChangeArrowheads="1"/>
          </p:cNvSpPr>
          <p:nvPr/>
        </p:nvSpPr>
        <p:spPr bwMode="auto">
          <a:xfrm>
            <a:off x="4643438" y="2098675"/>
            <a:ext cx="3651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B</a:t>
            </a:r>
          </a:p>
        </p:txBody>
      </p:sp>
      <p:grpSp>
        <p:nvGrpSpPr>
          <p:cNvPr id="5" name="Group 43">
            <a:extLst>
              <a:ext uri="{FF2B5EF4-FFF2-40B4-BE49-F238E27FC236}">
                <a16:creationId xmlns:a16="http://schemas.microsoft.com/office/drawing/2014/main" id="{D6E8782D-1A97-48C1-BE8A-11CA43A12268}"/>
              </a:ext>
            </a:extLst>
          </p:cNvPr>
          <p:cNvGrpSpPr>
            <a:grpSpLocks/>
          </p:cNvGrpSpPr>
          <p:nvPr/>
        </p:nvGrpSpPr>
        <p:grpSpPr bwMode="auto">
          <a:xfrm>
            <a:off x="909638" y="2327275"/>
            <a:ext cx="4251325" cy="2679700"/>
            <a:chOff x="1149" y="1449"/>
            <a:chExt cx="2678" cy="1688"/>
          </a:xfrm>
        </p:grpSpPr>
        <p:sp>
          <p:nvSpPr>
            <p:cNvPr id="38926" name="Freeform 21">
              <a:extLst>
                <a:ext uri="{FF2B5EF4-FFF2-40B4-BE49-F238E27FC236}">
                  <a16:creationId xmlns:a16="http://schemas.microsoft.com/office/drawing/2014/main" id="{3986BAE0-55F9-4A36-B82A-CCF4F8F22990}"/>
                </a:ext>
              </a:extLst>
            </p:cNvPr>
            <p:cNvSpPr>
              <a:spLocks/>
            </p:cNvSpPr>
            <p:nvPr/>
          </p:nvSpPr>
          <p:spPr bwMode="auto">
            <a:xfrm>
              <a:off x="1392" y="1596"/>
              <a:ext cx="2209" cy="1297"/>
            </a:xfrm>
            <a:custGeom>
              <a:avLst/>
              <a:gdLst>
                <a:gd name="T0" fmla="*/ 0 w 2209"/>
                <a:gd name="T1" fmla="*/ 1296 h 1297"/>
                <a:gd name="T2" fmla="*/ 2208 w 2209"/>
                <a:gd name="T3" fmla="*/ 1296 h 1297"/>
                <a:gd name="T4" fmla="*/ 2208 w 2209"/>
                <a:gd name="T5" fmla="*/ 0 h 1297"/>
                <a:gd name="T6" fmla="*/ 0 w 2209"/>
                <a:gd name="T7" fmla="*/ 0 h 1297"/>
                <a:gd name="T8" fmla="*/ 0 60000 65536"/>
                <a:gd name="T9" fmla="*/ 0 60000 65536"/>
                <a:gd name="T10" fmla="*/ 0 60000 65536"/>
                <a:gd name="T11" fmla="*/ 0 60000 65536"/>
                <a:gd name="T12" fmla="*/ 0 w 2209"/>
                <a:gd name="T13" fmla="*/ 0 h 1297"/>
                <a:gd name="T14" fmla="*/ 2209 w 2209"/>
                <a:gd name="T15" fmla="*/ 1297 h 1297"/>
              </a:gdLst>
              <a:ahLst/>
              <a:cxnLst>
                <a:cxn ang="T8">
                  <a:pos x="T0" y="T1"/>
                </a:cxn>
                <a:cxn ang="T9">
                  <a:pos x="T2" y="T3"/>
                </a:cxn>
                <a:cxn ang="T10">
                  <a:pos x="T4" y="T5"/>
                </a:cxn>
                <a:cxn ang="T11">
                  <a:pos x="T6" y="T7"/>
                </a:cxn>
              </a:cxnLst>
              <a:rect l="T12" t="T13" r="T14" b="T15"/>
              <a:pathLst>
                <a:path w="2209" h="1297">
                  <a:moveTo>
                    <a:pt x="0" y="1296"/>
                  </a:moveTo>
                  <a:lnTo>
                    <a:pt x="2208" y="1296"/>
                  </a:lnTo>
                  <a:lnTo>
                    <a:pt x="2208" y="0"/>
                  </a:lnTo>
                  <a:lnTo>
                    <a:pt x="0"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27" name="Rectangle 22">
              <a:extLst>
                <a:ext uri="{FF2B5EF4-FFF2-40B4-BE49-F238E27FC236}">
                  <a16:creationId xmlns:a16="http://schemas.microsoft.com/office/drawing/2014/main" id="{52F384A1-83C7-48F2-A37A-D28DCC345F5D}"/>
                </a:ext>
              </a:extLst>
            </p:cNvPr>
            <p:cNvSpPr>
              <a:spLocks noChangeArrowheads="1"/>
            </p:cNvSpPr>
            <p:nvPr/>
          </p:nvSpPr>
          <p:spPr bwMode="auto">
            <a:xfrm>
              <a:off x="1149" y="2745"/>
              <a:ext cx="21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F</a:t>
              </a:r>
            </a:p>
          </p:txBody>
        </p:sp>
        <p:sp>
          <p:nvSpPr>
            <p:cNvPr id="38928" name="Rectangle 23">
              <a:extLst>
                <a:ext uri="{FF2B5EF4-FFF2-40B4-BE49-F238E27FC236}">
                  <a16:creationId xmlns:a16="http://schemas.microsoft.com/office/drawing/2014/main" id="{6753DD4F-B1D4-41D1-A9DE-7708C8F4BD12}"/>
                </a:ext>
              </a:extLst>
            </p:cNvPr>
            <p:cNvSpPr>
              <a:spLocks noChangeArrowheads="1"/>
            </p:cNvSpPr>
            <p:nvPr/>
          </p:nvSpPr>
          <p:spPr bwMode="auto">
            <a:xfrm>
              <a:off x="1149" y="1449"/>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C</a:t>
              </a:r>
            </a:p>
          </p:txBody>
        </p:sp>
        <p:sp>
          <p:nvSpPr>
            <p:cNvPr id="38929" name="Rectangle 25">
              <a:extLst>
                <a:ext uri="{FF2B5EF4-FFF2-40B4-BE49-F238E27FC236}">
                  <a16:creationId xmlns:a16="http://schemas.microsoft.com/office/drawing/2014/main" id="{980F6D7A-0FCA-4B8C-B470-BEA202367451}"/>
                </a:ext>
              </a:extLst>
            </p:cNvPr>
            <p:cNvSpPr>
              <a:spLocks noChangeArrowheads="1"/>
            </p:cNvSpPr>
            <p:nvPr/>
          </p:nvSpPr>
          <p:spPr bwMode="auto">
            <a:xfrm>
              <a:off x="3597" y="1977"/>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A</a:t>
              </a:r>
            </a:p>
          </p:txBody>
        </p:sp>
        <p:sp>
          <p:nvSpPr>
            <p:cNvPr id="38930" name="Rectangle 26">
              <a:extLst>
                <a:ext uri="{FF2B5EF4-FFF2-40B4-BE49-F238E27FC236}">
                  <a16:creationId xmlns:a16="http://schemas.microsoft.com/office/drawing/2014/main" id="{EA58D36B-263B-411B-A9A6-A38BCD74B0CE}"/>
                </a:ext>
              </a:extLst>
            </p:cNvPr>
            <p:cNvSpPr>
              <a:spLocks noChangeArrowheads="1"/>
            </p:cNvSpPr>
            <p:nvPr/>
          </p:nvSpPr>
          <p:spPr bwMode="auto">
            <a:xfrm>
              <a:off x="3597" y="2889"/>
              <a:ext cx="221"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E</a:t>
              </a:r>
            </a:p>
          </p:txBody>
        </p:sp>
        <p:sp>
          <p:nvSpPr>
            <p:cNvPr id="38931" name="Oval 27">
              <a:extLst>
                <a:ext uri="{FF2B5EF4-FFF2-40B4-BE49-F238E27FC236}">
                  <a16:creationId xmlns:a16="http://schemas.microsoft.com/office/drawing/2014/main" id="{87DE44EB-95A0-479D-83A7-6E6F425D0DEC}"/>
                </a:ext>
              </a:extLst>
            </p:cNvPr>
            <p:cNvSpPr>
              <a:spLocks noChangeArrowheads="1"/>
            </p:cNvSpPr>
            <p:nvPr/>
          </p:nvSpPr>
          <p:spPr bwMode="auto">
            <a:xfrm>
              <a:off x="3552" y="2844"/>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8932" name="Oval 28">
              <a:extLst>
                <a:ext uri="{FF2B5EF4-FFF2-40B4-BE49-F238E27FC236}">
                  <a16:creationId xmlns:a16="http://schemas.microsoft.com/office/drawing/2014/main" id="{0EE8EAAC-E569-4AF3-9437-A9C1F527821E}"/>
                </a:ext>
              </a:extLst>
            </p:cNvPr>
            <p:cNvSpPr>
              <a:spLocks noChangeArrowheads="1"/>
            </p:cNvSpPr>
            <p:nvPr/>
          </p:nvSpPr>
          <p:spPr bwMode="auto">
            <a:xfrm>
              <a:off x="3552" y="1548"/>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38933" name="Rectangle 10">
              <a:extLst>
                <a:ext uri="{FF2B5EF4-FFF2-40B4-BE49-F238E27FC236}">
                  <a16:creationId xmlns:a16="http://schemas.microsoft.com/office/drawing/2014/main" id="{96523FD4-C898-4BE2-A01E-F522C0080820}"/>
                </a:ext>
              </a:extLst>
            </p:cNvPr>
            <p:cNvSpPr>
              <a:spLocks noChangeArrowheads="1"/>
            </p:cNvSpPr>
            <p:nvPr/>
          </p:nvSpPr>
          <p:spPr bwMode="auto">
            <a:xfrm>
              <a:off x="1149" y="1833"/>
              <a:ext cx="2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2000" i="1">
                  <a:latin typeface="Times New Roman" panose="02020603050405020304" pitchFamily="18" charset="0"/>
                  <a:ea typeface="宋体" panose="02010600030101010101" pitchFamily="2" charset="-122"/>
                </a:rPr>
                <a:t>D</a:t>
              </a:r>
            </a:p>
          </p:txBody>
        </p:sp>
      </p:grpSp>
      <p:sp>
        <p:nvSpPr>
          <p:cNvPr id="26638" name="Rectangle 31">
            <a:extLst>
              <a:ext uri="{FF2B5EF4-FFF2-40B4-BE49-F238E27FC236}">
                <a16:creationId xmlns:a16="http://schemas.microsoft.com/office/drawing/2014/main" id="{DCC11DEE-581D-4897-ACEA-E756A8029F9F}"/>
              </a:ext>
            </a:extLst>
          </p:cNvPr>
          <p:cNvSpPr>
            <a:spLocks noChangeArrowheads="1"/>
          </p:cNvSpPr>
          <p:nvPr/>
        </p:nvSpPr>
        <p:spPr bwMode="auto">
          <a:xfrm>
            <a:off x="6261100" y="4495800"/>
            <a:ext cx="2730500" cy="1079500"/>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lIns="90488" tIns="44450" rIns="90488" bIns="44450">
            <a:spAutoFit/>
          </a:bodyPr>
          <a:lstStyle/>
          <a:p>
            <a:pPr algn="ctr" eaLnBrk="1" hangingPunct="1">
              <a:defRPr/>
            </a:pPr>
            <a:r>
              <a:rPr lang="zh-CN" altLang="en-US" sz="1600" dirty="0"/>
              <a:t>如果厂商停止生产，其损失就是总的固定成本，即(</a:t>
            </a:r>
            <a:r>
              <a:rPr lang="en-US" altLang="zh-CN" sz="1600" dirty="0"/>
              <a:t>ATC-AVC)</a:t>
            </a:r>
            <a:r>
              <a:rPr lang="en-US" altLang="zh-CN" sz="1600" dirty="0">
                <a:cs typeface="Arial" charset="0"/>
              </a:rPr>
              <a:t>·P=CBEF。</a:t>
            </a:r>
            <a:r>
              <a:rPr lang="zh-CN" altLang="en-US" sz="1600" dirty="0"/>
              <a:t>因此，不生产的亏损将更大。</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903776E5-9605-4F58-B372-14A3027F6867}"/>
              </a:ext>
            </a:extLst>
          </p:cNvPr>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一个例子</a:t>
            </a:r>
          </a:p>
        </p:txBody>
      </p:sp>
      <p:sp>
        <p:nvSpPr>
          <p:cNvPr id="3" name="内容占位符 2">
            <a:extLst>
              <a:ext uri="{FF2B5EF4-FFF2-40B4-BE49-F238E27FC236}">
                <a16:creationId xmlns:a16="http://schemas.microsoft.com/office/drawing/2014/main" id="{308E5BF7-ECE0-47FF-BA89-8724F73D8CB4}"/>
              </a:ext>
            </a:extLst>
          </p:cNvPr>
          <p:cNvSpPr>
            <a:spLocks noGrp="1"/>
          </p:cNvSpPr>
          <p:nvPr>
            <p:ph idx="1"/>
          </p:nvPr>
        </p:nvSpPr>
        <p:spPr/>
        <p:txBody>
          <a:bodyPr>
            <a:normAutofit fontScale="62500" lnSpcReduction="20000"/>
          </a:bodyPr>
          <a:lstStyle/>
          <a:p>
            <a:pPr>
              <a:lnSpc>
                <a:spcPct val="170000"/>
              </a:lnSpc>
              <a:defRPr/>
            </a:pPr>
            <a:r>
              <a:rPr lang="zh-CN" altLang="en-US" dirty="0">
                <a:solidFill>
                  <a:srgbClr val="0070C0"/>
                </a:solidFill>
              </a:rPr>
              <a:t>小李早晨卖煎饼，如果卖</a:t>
            </a:r>
            <a:r>
              <a:rPr lang="en-US" altLang="zh-CN" dirty="0">
                <a:solidFill>
                  <a:srgbClr val="0070C0"/>
                </a:solidFill>
              </a:rPr>
              <a:t>500</a:t>
            </a:r>
            <a:r>
              <a:rPr lang="zh-CN" altLang="en-US" dirty="0">
                <a:solidFill>
                  <a:srgbClr val="0070C0"/>
                </a:solidFill>
              </a:rPr>
              <a:t>个煎饼时，这些煎饼的原料（面皮、鸡蛋、葱、辣椒、甜面酱、油条、人工费）每套</a:t>
            </a:r>
            <a:r>
              <a:rPr lang="en-US" altLang="zh-CN" dirty="0">
                <a:solidFill>
                  <a:srgbClr val="0070C0"/>
                </a:solidFill>
              </a:rPr>
              <a:t>3</a:t>
            </a:r>
            <a:r>
              <a:rPr lang="zh-CN" altLang="en-US" dirty="0">
                <a:solidFill>
                  <a:srgbClr val="0070C0"/>
                </a:solidFill>
              </a:rPr>
              <a:t>元，而煎饼每个可以卖</a:t>
            </a:r>
            <a:r>
              <a:rPr lang="en-US" altLang="zh-CN" dirty="0">
                <a:solidFill>
                  <a:srgbClr val="0070C0"/>
                </a:solidFill>
              </a:rPr>
              <a:t>3.5</a:t>
            </a:r>
            <a:r>
              <a:rPr lang="zh-CN" altLang="en-US" dirty="0">
                <a:solidFill>
                  <a:srgbClr val="0070C0"/>
                </a:solidFill>
              </a:rPr>
              <a:t>元，如果煎饼摊执照</a:t>
            </a:r>
            <a:r>
              <a:rPr lang="en-US" altLang="zh-CN" dirty="0">
                <a:solidFill>
                  <a:srgbClr val="0070C0"/>
                </a:solidFill>
              </a:rPr>
              <a:t>500</a:t>
            </a:r>
            <a:r>
              <a:rPr lang="zh-CN" altLang="en-US" dirty="0">
                <a:solidFill>
                  <a:srgbClr val="0070C0"/>
                </a:solidFill>
              </a:rPr>
              <a:t>元。那么小李煎饼生意是赚是亏呢？小李会继续经营吗？如果煎饼价格跌至</a:t>
            </a:r>
            <a:r>
              <a:rPr lang="en-US" altLang="zh-CN" dirty="0">
                <a:solidFill>
                  <a:srgbClr val="0070C0"/>
                </a:solidFill>
              </a:rPr>
              <a:t>2.5</a:t>
            </a:r>
            <a:r>
              <a:rPr lang="zh-CN" altLang="en-US" dirty="0">
                <a:solidFill>
                  <a:srgbClr val="0070C0"/>
                </a:solidFill>
              </a:rPr>
              <a:t>元，小李又会何去何从？</a:t>
            </a:r>
            <a:endParaRPr lang="en-US" altLang="zh-CN" dirty="0">
              <a:solidFill>
                <a:srgbClr val="0070C0"/>
              </a:solidFill>
            </a:endParaRPr>
          </a:p>
          <a:p>
            <a:pPr>
              <a:lnSpc>
                <a:spcPct val="170000"/>
              </a:lnSpc>
              <a:defRPr/>
            </a:pPr>
            <a:r>
              <a:rPr lang="en-US" altLang="zh-CN" dirty="0">
                <a:solidFill>
                  <a:srgbClr val="0070C0"/>
                </a:solidFill>
              </a:rPr>
              <a:t>ATC=3+500/500=4</a:t>
            </a:r>
            <a:r>
              <a:rPr lang="zh-CN" altLang="en-US" dirty="0">
                <a:solidFill>
                  <a:srgbClr val="0070C0"/>
                </a:solidFill>
              </a:rPr>
              <a:t>，</a:t>
            </a:r>
            <a:r>
              <a:rPr lang="en-US" altLang="zh-CN" dirty="0">
                <a:solidFill>
                  <a:srgbClr val="0070C0"/>
                </a:solidFill>
              </a:rPr>
              <a:t>P=3.5</a:t>
            </a:r>
            <a:r>
              <a:rPr lang="zh-CN" altLang="en-US" dirty="0">
                <a:solidFill>
                  <a:srgbClr val="0070C0"/>
                </a:solidFill>
              </a:rPr>
              <a:t>，</a:t>
            </a:r>
            <a:r>
              <a:rPr lang="en-US" altLang="zh-CN" dirty="0">
                <a:solidFill>
                  <a:srgbClr val="0070C0"/>
                </a:solidFill>
              </a:rPr>
              <a:t>P&lt;ATC</a:t>
            </a:r>
            <a:r>
              <a:rPr lang="zh-CN" altLang="en-US" dirty="0">
                <a:solidFill>
                  <a:srgbClr val="0070C0"/>
                </a:solidFill>
              </a:rPr>
              <a:t>，亏了（</a:t>
            </a:r>
            <a:r>
              <a:rPr lang="en-US" altLang="zh-CN" dirty="0">
                <a:solidFill>
                  <a:srgbClr val="0070C0"/>
                </a:solidFill>
              </a:rPr>
              <a:t>3.5-4</a:t>
            </a:r>
            <a:r>
              <a:rPr lang="zh-CN" altLang="en-US" dirty="0">
                <a:solidFill>
                  <a:srgbClr val="0070C0"/>
                </a:solidFill>
              </a:rPr>
              <a:t>）*</a:t>
            </a:r>
            <a:r>
              <a:rPr lang="en-US" altLang="zh-CN" dirty="0">
                <a:solidFill>
                  <a:srgbClr val="0070C0"/>
                </a:solidFill>
              </a:rPr>
              <a:t>500=250</a:t>
            </a:r>
            <a:r>
              <a:rPr lang="zh-CN" altLang="en-US" dirty="0">
                <a:solidFill>
                  <a:srgbClr val="0070C0"/>
                </a:solidFill>
              </a:rPr>
              <a:t>元。但是由于</a:t>
            </a:r>
            <a:r>
              <a:rPr lang="en-US" altLang="zh-CN" dirty="0">
                <a:solidFill>
                  <a:srgbClr val="0070C0"/>
                </a:solidFill>
              </a:rPr>
              <a:t>AVC=3&lt;P</a:t>
            </a:r>
            <a:r>
              <a:rPr lang="zh-CN" altLang="en-US" dirty="0">
                <a:solidFill>
                  <a:srgbClr val="0070C0"/>
                </a:solidFill>
              </a:rPr>
              <a:t>，因此如果小李撒手不干，则亏损</a:t>
            </a:r>
            <a:r>
              <a:rPr lang="en-US" altLang="zh-CN" dirty="0">
                <a:solidFill>
                  <a:srgbClr val="0070C0"/>
                </a:solidFill>
              </a:rPr>
              <a:t>500</a:t>
            </a:r>
            <a:r>
              <a:rPr lang="zh-CN" altLang="en-US" dirty="0">
                <a:solidFill>
                  <a:srgbClr val="0070C0"/>
                </a:solidFill>
              </a:rPr>
              <a:t>元固定成本（执照费）；如果小李硬着头皮继续干，则只亏损</a:t>
            </a:r>
            <a:r>
              <a:rPr lang="en-US" altLang="zh-CN" dirty="0">
                <a:solidFill>
                  <a:srgbClr val="0070C0"/>
                </a:solidFill>
              </a:rPr>
              <a:t>250</a:t>
            </a:r>
            <a:r>
              <a:rPr lang="zh-CN" altLang="en-US" dirty="0">
                <a:solidFill>
                  <a:srgbClr val="0070C0"/>
                </a:solidFill>
              </a:rPr>
              <a:t>元，即付出的执照费可以收回一半。但是如果煎饼价格跌到</a:t>
            </a:r>
            <a:r>
              <a:rPr lang="en-US" altLang="zh-CN" dirty="0">
                <a:solidFill>
                  <a:srgbClr val="0070C0"/>
                </a:solidFill>
              </a:rPr>
              <a:t>2.5</a:t>
            </a:r>
            <a:r>
              <a:rPr lang="zh-CN" altLang="en-US" dirty="0">
                <a:solidFill>
                  <a:srgbClr val="0070C0"/>
                </a:solidFill>
              </a:rPr>
              <a:t>元，比</a:t>
            </a:r>
            <a:r>
              <a:rPr lang="en-US" altLang="zh-CN" dirty="0">
                <a:solidFill>
                  <a:srgbClr val="0070C0"/>
                </a:solidFill>
              </a:rPr>
              <a:t>AVC</a:t>
            </a:r>
            <a:r>
              <a:rPr lang="zh-CN" altLang="en-US" dirty="0">
                <a:solidFill>
                  <a:srgbClr val="0070C0"/>
                </a:solidFill>
              </a:rPr>
              <a:t>还低，那小李不如啥也不干，这样只亏损</a:t>
            </a:r>
            <a:r>
              <a:rPr lang="en-US" altLang="zh-CN" dirty="0">
                <a:solidFill>
                  <a:srgbClr val="0070C0"/>
                </a:solidFill>
              </a:rPr>
              <a:t>500</a:t>
            </a:r>
            <a:r>
              <a:rPr lang="zh-CN" altLang="en-US" dirty="0">
                <a:solidFill>
                  <a:srgbClr val="0070C0"/>
                </a:solidFill>
              </a:rPr>
              <a:t>元执照费，如果执迷不悟继续干，则会亏损</a:t>
            </a:r>
            <a:r>
              <a:rPr lang="en-US" altLang="zh-CN" dirty="0">
                <a:solidFill>
                  <a:srgbClr val="0070C0"/>
                </a:solidFill>
              </a:rPr>
              <a:t>750</a:t>
            </a:r>
            <a:r>
              <a:rPr lang="zh-CN" altLang="en-US" dirty="0">
                <a:solidFill>
                  <a:srgbClr val="0070C0"/>
                </a:solidFill>
              </a:rPr>
              <a:t>元。</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7FC63D8-9FA4-4D30-9214-6ED45B2399D0}"/>
              </a:ext>
            </a:extLst>
          </p:cNvPr>
          <p:cNvSpPr>
            <a:spLocks noGrp="1" noChangeArrowheads="1"/>
          </p:cNvSpPr>
          <p:nvPr>
            <p:ph type="title"/>
          </p:nvPr>
        </p:nvSpPr>
        <p:spPr/>
        <p:txBody>
          <a:bodyPr/>
          <a:lstStyle/>
          <a:p>
            <a:pPr eaLnBrk="1" hangingPunct="1"/>
            <a:r>
              <a:rPr lang="zh-CN" altLang="en-US" sz="3600" dirty="0">
                <a:latin typeface="黑体" panose="02010609060101010101" pitchFamily="49" charset="-122"/>
                <a:ea typeface="黑体" panose="02010609060101010101" pitchFamily="49" charset="-122"/>
              </a:rPr>
              <a:t>选择短期产量</a:t>
            </a:r>
          </a:p>
        </p:txBody>
      </p:sp>
      <p:sp>
        <p:nvSpPr>
          <p:cNvPr id="41987" name="Rectangle 3">
            <a:extLst>
              <a:ext uri="{FF2B5EF4-FFF2-40B4-BE49-F238E27FC236}">
                <a16:creationId xmlns:a16="http://schemas.microsoft.com/office/drawing/2014/main" id="{2C96538E-0C4C-444B-8D5F-15CCE28C4352}"/>
              </a:ext>
            </a:extLst>
          </p:cNvPr>
          <p:cNvSpPr>
            <a:spLocks noGrp="1" noChangeArrowheads="1"/>
          </p:cNvSpPr>
          <p:nvPr>
            <p:ph idx="1"/>
          </p:nvPr>
        </p:nvSpPr>
        <p:spPr/>
        <p:txBody>
          <a:bodyPr/>
          <a:lstStyle/>
          <a:p>
            <a:pPr eaLnBrk="1" hangingPunct="1">
              <a:lnSpc>
                <a:spcPct val="150000"/>
              </a:lnSpc>
            </a:pPr>
            <a:r>
              <a:rPr lang="zh-CN" altLang="en-US" sz="2400" b="0" dirty="0">
                <a:solidFill>
                  <a:srgbClr val="0070C0"/>
                </a:solidFill>
                <a:latin typeface="黑体" panose="02010609060101010101" pitchFamily="49" charset="-122"/>
                <a:ea typeface="黑体" panose="02010609060101010101" pitchFamily="49" charset="-122"/>
              </a:rPr>
              <a:t>在上个例子时，与停产的状态相比，厂商在</a:t>
            </a:r>
            <a:r>
              <a:rPr lang="en-US" altLang="zh-CN" sz="2400" b="0" dirty="0">
                <a:solidFill>
                  <a:srgbClr val="0070C0"/>
                </a:solidFill>
                <a:latin typeface="黑体" panose="02010609060101010101" pitchFamily="49" charset="-122"/>
                <a:ea typeface="黑体" panose="02010609060101010101" pitchFamily="49" charset="-122"/>
              </a:rPr>
              <a:t>q</a:t>
            </a:r>
            <a:r>
              <a:rPr lang="en-US" altLang="zh-CN" sz="2400" b="0" baseline="30000" dirty="0">
                <a:solidFill>
                  <a:srgbClr val="0070C0"/>
                </a:solidFill>
                <a:latin typeface="黑体" panose="02010609060101010101" pitchFamily="49" charset="-122"/>
                <a:ea typeface="黑体" panose="02010609060101010101" pitchFamily="49" charset="-122"/>
              </a:rPr>
              <a:t>*</a:t>
            </a:r>
            <a:r>
              <a:rPr lang="zh-CN" altLang="en-US" sz="2400" b="0" dirty="0">
                <a:solidFill>
                  <a:srgbClr val="0070C0"/>
                </a:solidFill>
                <a:latin typeface="黑体" panose="02010609060101010101" pitchFamily="49" charset="-122"/>
                <a:ea typeface="黑体" panose="02010609060101010101" pitchFamily="49" charset="-122"/>
              </a:rPr>
              <a:t>处继续经营，至少可以少损失面积为</a:t>
            </a:r>
            <a:r>
              <a:rPr lang="en-US" altLang="zh-CN" sz="2400" b="0" dirty="0">
                <a:solidFill>
                  <a:srgbClr val="0070C0"/>
                </a:solidFill>
                <a:latin typeface="黑体" panose="02010609060101010101" pitchFamily="49" charset="-122"/>
                <a:ea typeface="黑体" panose="02010609060101010101" pitchFamily="49" charset="-122"/>
              </a:rPr>
              <a:t>AEFD</a:t>
            </a:r>
            <a:r>
              <a:rPr lang="zh-CN" altLang="en-US" sz="2400" b="0" dirty="0">
                <a:solidFill>
                  <a:srgbClr val="0070C0"/>
                </a:solidFill>
                <a:latin typeface="黑体" panose="02010609060101010101" pitchFamily="49" charset="-122"/>
                <a:ea typeface="黑体" panose="02010609060101010101" pitchFamily="49" charset="-122"/>
              </a:rPr>
              <a:t>的利润。</a:t>
            </a:r>
          </a:p>
          <a:p>
            <a:pPr eaLnBrk="1" hangingPunct="1">
              <a:lnSpc>
                <a:spcPct val="150000"/>
              </a:lnSpc>
            </a:pPr>
            <a:r>
              <a:rPr lang="zh-CN" altLang="en-US" sz="2400" b="0" dirty="0">
                <a:solidFill>
                  <a:srgbClr val="0070C0"/>
                </a:solidFill>
                <a:latin typeface="黑体" panose="02010609060101010101" pitchFamily="49" charset="-122"/>
                <a:ea typeface="黑体" panose="02010609060101010101" pitchFamily="49" charset="-122"/>
              </a:rPr>
              <a:t>因此，在短期，厂商在亏损状态下可能会继续经营，因为一方面可以收回部分固定成本，另一方面厂商还预期将来当产品价格上涨或生产成本下降时可获得利润。</a:t>
            </a:r>
          </a:p>
          <a:p>
            <a:pPr eaLnBrk="1" hangingPunct="1">
              <a:lnSpc>
                <a:spcPct val="150000"/>
              </a:lnSpc>
            </a:pPr>
            <a:r>
              <a:rPr lang="zh-CN" altLang="en-US" sz="2400" b="0" dirty="0">
                <a:solidFill>
                  <a:srgbClr val="0070C0"/>
                </a:solidFill>
                <a:latin typeface="黑体" panose="02010609060101010101" pitchFamily="49" charset="-122"/>
                <a:ea typeface="黑体" panose="02010609060101010101" pitchFamily="49" charset="-122"/>
              </a:rPr>
              <a:t>但是，如果厂商发现，商品的价格低于最低的平均可变成本时，关门（不生产）变得更为有利。在这种情况下，收入将不足以弥补可变成本，亏损增加。</a:t>
            </a:r>
          </a:p>
          <a:p>
            <a:pPr eaLnBrk="1" hangingPunct="1"/>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a:extLst>
              <a:ext uri="{FF2B5EF4-FFF2-40B4-BE49-F238E27FC236}">
                <a16:creationId xmlns:a16="http://schemas.microsoft.com/office/drawing/2014/main" id="{5B4BF99F-EA4F-4752-94E2-F3962F0EB526}"/>
              </a:ext>
            </a:extLst>
          </p:cNvPr>
          <p:cNvSpPr>
            <a:spLocks noGrp="1" noChangeArrowheads="1"/>
          </p:cNvSpPr>
          <p:nvPr>
            <p:ph type="title"/>
          </p:nvPr>
        </p:nvSpPr>
        <p:spPr>
          <a:noFill/>
        </p:spPr>
        <p:txBody>
          <a:bodyPr/>
          <a:lstStyle/>
          <a:p>
            <a:pPr eaLnBrk="1" hangingPunct="1"/>
            <a:r>
              <a:rPr lang="zh-CN" altLang="en-US" sz="3600" dirty="0">
                <a:latin typeface="黑体" panose="02010609060101010101" pitchFamily="49" charset="-122"/>
                <a:ea typeface="黑体" panose="02010609060101010101" pitchFamily="49" charset="-122"/>
              </a:rPr>
              <a:t>厂商如何选择短期产量</a:t>
            </a:r>
            <a:endParaRPr lang="en-US" altLang="zh-CN" sz="3600" dirty="0">
              <a:latin typeface="黑体" panose="02010609060101010101" pitchFamily="49" charset="-122"/>
              <a:ea typeface="黑体" panose="02010609060101010101" pitchFamily="49" charset="-122"/>
            </a:endParaRPr>
          </a:p>
        </p:txBody>
      </p:sp>
      <p:sp>
        <p:nvSpPr>
          <p:cNvPr id="43011" name="Rectangle 5">
            <a:extLst>
              <a:ext uri="{FF2B5EF4-FFF2-40B4-BE49-F238E27FC236}">
                <a16:creationId xmlns:a16="http://schemas.microsoft.com/office/drawing/2014/main" id="{E0C0681D-D002-46E8-81A9-6ECC8FCEDB24}"/>
              </a:ext>
            </a:extLst>
          </p:cNvPr>
          <p:cNvSpPr>
            <a:spLocks noGrp="1" noChangeArrowheads="1"/>
          </p:cNvSpPr>
          <p:nvPr>
            <p:ph idx="1"/>
          </p:nvPr>
        </p:nvSpPr>
        <p:spPr>
          <a:xfrm>
            <a:off x="107690" y="1341438"/>
            <a:ext cx="9036310" cy="4784725"/>
          </a:xfrm>
        </p:spPr>
        <p:txBody>
          <a:bodyPr>
            <a:normAutofit fontScale="92500" lnSpcReduction="20000"/>
          </a:bodyPr>
          <a:lstStyle/>
          <a:p>
            <a:pPr eaLnBrk="1" hangingPunct="1">
              <a:spcBef>
                <a:spcPct val="70000"/>
              </a:spcBef>
            </a:pPr>
            <a:r>
              <a:rPr lang="zh-CN" altLang="en-US" dirty="0">
                <a:latin typeface="黑体" panose="02010609060101010101" pitchFamily="49" charset="-122"/>
                <a:ea typeface="黑体" panose="02010609060101010101" pitchFamily="49" charset="-122"/>
              </a:rPr>
              <a:t>短期产量的选择：</a:t>
            </a:r>
          </a:p>
          <a:p>
            <a:pPr lvl="1" eaLnBrk="1" hangingPunct="1">
              <a:spcBef>
                <a:spcPct val="70000"/>
              </a:spcBef>
            </a:pPr>
            <a:r>
              <a:rPr lang="zh-CN" altLang="en-US" dirty="0">
                <a:latin typeface="黑体" panose="02010609060101010101" pitchFamily="49" charset="-122"/>
                <a:ea typeface="黑体" panose="02010609060101010101" pitchFamily="49" charset="-122"/>
              </a:rPr>
              <a:t>厂商选择使</a:t>
            </a:r>
            <a:r>
              <a:rPr lang="en-US" altLang="zh-CN" dirty="0">
                <a:latin typeface="黑体" panose="02010609060101010101" pitchFamily="49" charset="-122"/>
                <a:ea typeface="黑体" panose="02010609060101010101" pitchFamily="49" charset="-122"/>
              </a:rPr>
              <a:t>MC=MR</a:t>
            </a:r>
            <a:r>
              <a:rPr lang="zh-CN" altLang="en-US" dirty="0">
                <a:latin typeface="黑体" panose="02010609060101010101" pitchFamily="49" charset="-122"/>
                <a:ea typeface="黑体" panose="02010609060101010101" pitchFamily="49" charset="-122"/>
              </a:rPr>
              <a:t>的产量进行生产，实现利润最大化。</a:t>
            </a:r>
          </a:p>
          <a:p>
            <a:pPr lvl="1" eaLnBrk="1" hangingPunct="1">
              <a:spcBef>
                <a:spcPct val="70000"/>
              </a:spcBef>
            </a:pPr>
            <a:r>
              <a:rPr lang="zh-CN" altLang="en-US" dirty="0">
                <a:latin typeface="黑体" panose="02010609060101010101" pitchFamily="49" charset="-122"/>
                <a:ea typeface="黑体" panose="02010609060101010101" pitchFamily="49" charset="-122"/>
              </a:rPr>
              <a:t>如果市场需求多</a:t>
            </a:r>
            <a:r>
              <a:rPr lang="en-US" altLang="zh-CN" dirty="0">
                <a:latin typeface="黑体" panose="02010609060101010101" pitchFamily="49" charset="-122"/>
                <a:ea typeface="黑体" panose="02010609060101010101" pitchFamily="49" charset="-122"/>
              </a:rPr>
              <a:t>,P&gt;ATC，</a:t>
            </a:r>
            <a:r>
              <a:rPr lang="zh-CN" altLang="en-US" dirty="0">
                <a:latin typeface="黑体" panose="02010609060101010101" pitchFamily="49" charset="-122"/>
                <a:ea typeface="黑体" panose="02010609060101010101" pitchFamily="49" charset="-122"/>
              </a:rPr>
              <a:t>厂商可以获得超额利润。</a:t>
            </a:r>
            <a:endParaRPr lang="en-US" altLang="zh-CN" dirty="0">
              <a:latin typeface="黑体" panose="02010609060101010101" pitchFamily="49" charset="-122"/>
              <a:ea typeface="黑体" panose="02010609060101010101" pitchFamily="49" charset="-122"/>
            </a:endParaRPr>
          </a:p>
          <a:p>
            <a:pPr lvl="1" eaLnBrk="1" hangingPunct="1">
              <a:spcBef>
                <a:spcPct val="70000"/>
              </a:spcBef>
            </a:pPr>
            <a:r>
              <a:rPr lang="zh-CN" altLang="en-US" dirty="0">
                <a:latin typeface="黑体" panose="02010609060101010101" pitchFamily="49" charset="-122"/>
                <a:ea typeface="黑体" panose="02010609060101010101" pitchFamily="49" charset="-122"/>
              </a:rPr>
              <a:t>如果价格等于平均总成本（</a:t>
            </a:r>
            <a:r>
              <a:rPr lang="en-US" altLang="zh-CN" dirty="0">
                <a:latin typeface="黑体" panose="02010609060101010101" pitchFamily="49" charset="-122"/>
                <a:ea typeface="黑体" panose="02010609060101010101" pitchFamily="49" charset="-122"/>
              </a:rPr>
              <a:t>P=ATC</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厂商超额利润为</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，只能获得正常利润，即盈亏平衡或收支相抵。</a:t>
            </a:r>
            <a:endParaRPr lang="en-US" altLang="zh-CN" dirty="0">
              <a:latin typeface="黑体" panose="02010609060101010101" pitchFamily="49" charset="-122"/>
              <a:ea typeface="黑体" panose="02010609060101010101" pitchFamily="49" charset="-122"/>
            </a:endParaRPr>
          </a:p>
          <a:p>
            <a:pPr lvl="1" eaLnBrk="1" hangingPunct="1">
              <a:spcBef>
                <a:spcPct val="70000"/>
              </a:spcBef>
            </a:pPr>
            <a:r>
              <a:rPr lang="zh-CN" altLang="en-US" dirty="0">
                <a:latin typeface="黑体" panose="02010609060101010101" pitchFamily="49" charset="-122"/>
                <a:ea typeface="黑体" panose="02010609060101010101" pitchFamily="49" charset="-122"/>
              </a:rPr>
              <a:t>如果如果市场不景气，价格低于平均总成本，但是市场不是太糟，价格仍然高于平均可变成本（</a:t>
            </a:r>
            <a:r>
              <a:rPr lang="en-US" altLang="zh-CN" dirty="0">
                <a:latin typeface="黑体" panose="02010609060101010101" pitchFamily="49" charset="-122"/>
                <a:ea typeface="黑体" panose="02010609060101010101" pitchFamily="49" charset="-122"/>
              </a:rPr>
              <a:t>AVC&lt;P&lt;ATC</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厂商将在亏损的状态下继续经营。 </a:t>
            </a:r>
            <a:r>
              <a:rPr lang="en-US" altLang="zh-CN" dirty="0">
                <a:latin typeface="黑体" panose="02010609060101010101" pitchFamily="49" charset="-122"/>
                <a:ea typeface="黑体" panose="02010609060101010101" pitchFamily="49" charset="-122"/>
              </a:rPr>
              <a:t> </a:t>
            </a:r>
          </a:p>
          <a:p>
            <a:pPr lvl="1" eaLnBrk="1" hangingPunct="1">
              <a:spcBef>
                <a:spcPct val="70000"/>
              </a:spcBef>
            </a:pPr>
            <a:r>
              <a:rPr lang="zh-CN" altLang="en-US" dirty="0">
                <a:latin typeface="黑体" panose="02010609060101010101" pitchFamily="49" charset="-122"/>
                <a:ea typeface="黑体" panose="02010609060101010101" pitchFamily="49" charset="-122"/>
              </a:rPr>
              <a:t>如果</a:t>
            </a:r>
            <a:r>
              <a:rPr lang="en-US" altLang="zh-CN" dirty="0">
                <a:latin typeface="黑体" panose="02010609060101010101" pitchFamily="49" charset="-122"/>
                <a:ea typeface="黑体" panose="02010609060101010101" pitchFamily="49" charset="-122"/>
              </a:rPr>
              <a:t>P&lt;AVC&lt;ATC，</a:t>
            </a:r>
            <a:r>
              <a:rPr lang="zh-CN" altLang="en-US" dirty="0">
                <a:latin typeface="黑体" panose="02010609060101010101" pitchFamily="49" charset="-122"/>
                <a:ea typeface="黑体" panose="02010609060101010101" pitchFamily="49" charset="-122"/>
              </a:rPr>
              <a:t>厂商将关门不生产，与最低平均可变成本相等的价格为“停产价格”。</a:t>
            </a:r>
            <a:r>
              <a:rPr lang="zh-CN" altLang="en-US" i="1"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 </a:t>
            </a:r>
          </a:p>
        </p:txBody>
      </p:sp>
      <p:sp>
        <p:nvSpPr>
          <p:cNvPr id="43012" name="Rectangle 2">
            <a:extLst>
              <a:ext uri="{FF2B5EF4-FFF2-40B4-BE49-F238E27FC236}">
                <a16:creationId xmlns:a16="http://schemas.microsoft.com/office/drawing/2014/main" id="{EE35B676-897F-4EB2-9F9B-350C481A863B}"/>
              </a:ext>
            </a:extLst>
          </p:cNvPr>
          <p:cNvSpPr>
            <a:spLocks noChangeArrowheads="1"/>
          </p:cNvSpPr>
          <p:nvPr/>
        </p:nvSpPr>
        <p:spPr bwMode="auto">
          <a:xfrm>
            <a:off x="7620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43013" name="Rectangle 3">
            <a:extLst>
              <a:ext uri="{FF2B5EF4-FFF2-40B4-BE49-F238E27FC236}">
                <a16:creationId xmlns:a16="http://schemas.microsoft.com/office/drawing/2014/main" id="{83B39FC1-6A77-421C-A789-64BD6AC9BC81}"/>
              </a:ext>
            </a:extLst>
          </p:cNvPr>
          <p:cNvSpPr>
            <a:spLocks noChangeArrowheads="1"/>
          </p:cNvSpPr>
          <p:nvPr/>
        </p:nvSpPr>
        <p:spPr bwMode="auto">
          <a:xfrm>
            <a:off x="32766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Tree>
  </p:cSld>
  <p:clrMapOvr>
    <a:masterClrMapping/>
  </p:clrMapOvr>
  <p:transition>
    <p:zoom dir="in"/>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49414" y="1043161"/>
            <a:ext cx="5540017" cy="1065715"/>
            <a:chOff x="970384" y="948258"/>
            <a:chExt cx="5540017" cy="1065715"/>
          </a:xfrm>
        </p:grpSpPr>
        <p:sp>
          <p:nvSpPr>
            <p:cNvPr id="5" name="矩形: 圆角 4">
              <a:extLst>
                <a:ext uri="{FF2B5EF4-FFF2-40B4-BE49-F238E27FC236}">
                  <a16:creationId xmlns:a16="http://schemas.microsoft.com/office/drawing/2014/main" id="{F5501FC4-6109-488A-9E7B-E591DF9E4D96}"/>
                </a:ext>
              </a:extLst>
            </p:cNvPr>
            <p:cNvSpPr/>
            <p:nvPr/>
          </p:nvSpPr>
          <p:spPr>
            <a:xfrm>
              <a:off x="970384" y="1143706"/>
              <a:ext cx="5319321" cy="687228"/>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26C14FD7-288B-4EBC-97AB-25CDCA7265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44686" y="948258"/>
              <a:ext cx="1065715" cy="1065715"/>
            </a:xfrm>
            <a:prstGeom prst="rect">
              <a:avLst/>
            </a:prstGeom>
          </p:spPr>
        </p:pic>
        <p:sp>
          <p:nvSpPr>
            <p:cNvPr id="12" name="矩形 11">
              <a:extLst>
                <a:ext uri="{FF2B5EF4-FFF2-40B4-BE49-F238E27FC236}">
                  <a16:creationId xmlns:a16="http://schemas.microsoft.com/office/drawing/2014/main" id="{F2E1D167-2D51-47EE-8CA8-1E1607A3745D}"/>
                </a:ext>
              </a:extLst>
            </p:cNvPr>
            <p:cNvSpPr/>
            <p:nvPr/>
          </p:nvSpPr>
          <p:spPr>
            <a:xfrm>
              <a:off x="984023" y="1208452"/>
              <a:ext cx="2981907" cy="458908"/>
            </a:xfrm>
            <a:prstGeom prst="rect">
              <a:avLst/>
            </a:prstGeom>
          </p:spPr>
          <p:txBody>
            <a:bodyPr wrap="none">
              <a:spAutoFit/>
            </a:bodyPr>
            <a:lstStyle/>
            <a:p>
              <a:pPr marL="285750" indent="-285750">
                <a:lnSpc>
                  <a:spcPct val="150000"/>
                </a:lnSpc>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继续生产</a:t>
              </a:r>
              <a:r>
                <a:rPr lang="en-US" altLang="zh-CN" spc="150" dirty="0">
                  <a:solidFill>
                    <a:srgbClr val="000000"/>
                  </a:solidFill>
                  <a:latin typeface="微软雅黑" panose="020B0503020204020204" pitchFamily="34" charset="-122"/>
                  <a:ea typeface="微软雅黑" panose="020B0503020204020204" pitchFamily="34" charset="-122"/>
                </a:rPr>
                <a:t>OR</a:t>
              </a:r>
              <a:r>
                <a:rPr lang="zh-CN" altLang="en-US" spc="150" dirty="0">
                  <a:solidFill>
                    <a:srgbClr val="000000"/>
                  </a:solidFill>
                  <a:latin typeface="微软雅黑" panose="020B0503020204020204" pitchFamily="34" charset="-122"/>
                  <a:ea typeface="微软雅黑" panose="020B0503020204020204" pitchFamily="34" charset="-122"/>
                </a:rPr>
                <a:t>决定停产</a:t>
              </a:r>
              <a:r>
                <a:rPr lang="en-US" altLang="zh-CN" spc="150" dirty="0">
                  <a:solidFill>
                    <a:srgbClr val="000000"/>
                  </a:solidFill>
                  <a:latin typeface="微软雅黑" panose="020B0503020204020204" pitchFamily="34" charset="-122"/>
                  <a:ea typeface="微软雅黑" panose="020B0503020204020204" pitchFamily="34" charset="-122"/>
                </a:rPr>
                <a:t>?</a:t>
              </a:r>
            </a:p>
          </p:txBody>
        </p:sp>
      </p:gr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2F1D2E82-C64A-4D3B-869E-F531575B6DA6}"/>
                  </a:ext>
                </a:extLst>
              </p:cNvPr>
              <p:cNvGraphicFramePr>
                <a:graphicFrameLocks noGrp="1"/>
              </p:cNvGraphicFramePr>
              <p:nvPr>
                <p:extLst>
                  <p:ext uri="{D42A27DB-BD31-4B8C-83A1-F6EECF244321}">
                    <p14:modId xmlns:p14="http://schemas.microsoft.com/office/powerpoint/2010/main" val="2337950506"/>
                  </p:ext>
                </p:extLst>
              </p:nvPr>
            </p:nvGraphicFramePr>
            <p:xfrm>
              <a:off x="1333747" y="3796277"/>
              <a:ext cx="6487403" cy="2104880"/>
            </p:xfrm>
            <a:graphic>
              <a:graphicData uri="http://schemas.openxmlformats.org/drawingml/2006/table">
                <a:tbl>
                  <a:tblPr firstRow="1" bandRow="1">
                    <a:tableStyleId>{5940675A-B579-460E-94D1-54222C63F5DA}</a:tableStyleId>
                  </a:tblPr>
                  <a:tblGrid>
                    <a:gridCol w="2162468">
                      <a:extLst>
                        <a:ext uri="{9D8B030D-6E8A-4147-A177-3AD203B41FA5}">
                          <a16:colId xmlns:a16="http://schemas.microsoft.com/office/drawing/2014/main" val="3760116452"/>
                        </a:ext>
                      </a:extLst>
                    </a:gridCol>
                    <a:gridCol w="4324935">
                      <a:extLst>
                        <a:ext uri="{9D8B030D-6E8A-4147-A177-3AD203B41FA5}">
                          <a16:colId xmlns:a16="http://schemas.microsoft.com/office/drawing/2014/main" val="3423923078"/>
                        </a:ext>
                      </a:extLst>
                    </a:gridCol>
                  </a:tblGrid>
                  <a:tr h="682680">
                    <a:tc>
                      <a:txBody>
                        <a:bodyPr/>
                        <a:lstStyle/>
                        <a:p>
                          <a:pPr marL="285750" indent="-285750" algn="l">
                            <a:buFont typeface="Wingdings" panose="05000000000000000000" pitchFamily="2" charset="2"/>
                            <a:buChar char="Ø"/>
                          </a:pP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何时继续生产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CN" sz="1800" b="0" i="0" kern="1200" smtClean="0">
                                    <a:solidFill>
                                      <a:schemeClr val="tx1"/>
                                    </a:solidFill>
                                    <a:latin typeface="Cambria Math" panose="02040503050406030204" pitchFamily="18" charset="0"/>
                                    <a:ea typeface="微软雅黑" panose="020B0503020204020204" pitchFamily="34" charset="-122"/>
                                    <a:cs typeface="+mn-cs"/>
                                  </a:rPr>
                                  <m:t>𝐴</m:t>
                                </m:r>
                                <m:r>
                                  <a:rPr lang="en-US" altLang="zh-CN" sz="1800" b="0" i="0" kern="1200" smtClean="0">
                                    <a:solidFill>
                                      <a:schemeClr val="tx1"/>
                                    </a:solidFill>
                                    <a:latin typeface="Cambria Math" panose="02040503050406030204" pitchFamily="18" charset="0"/>
                                    <a:ea typeface="微软雅黑" panose="020B0503020204020204" pitchFamily="34" charset="-122"/>
                                    <a:cs typeface="+mn-cs"/>
                                  </a:rPr>
                                  <m:t>&gt;</m:t>
                                </m:r>
                                <m:r>
                                  <a:rPr lang="en-US" altLang="zh-CN" sz="1800" b="0" i="0" kern="1200" smtClean="0">
                                    <a:solidFill>
                                      <a:schemeClr val="tx1"/>
                                    </a:solidFill>
                                    <a:latin typeface="Cambria Math" panose="02040503050406030204" pitchFamily="18" charset="0"/>
                                    <a:ea typeface="微软雅黑" panose="020B0503020204020204" pitchFamily="34" charset="-122"/>
                                    <a:cs typeface="+mn-cs"/>
                                  </a:rPr>
                                  <m:t>𝐵</m:t>
                                </m:r>
                                <m:r>
                                  <a:rPr lang="zh-CN" altLang="en-US" sz="1800" b="0" i="0" kern="1200" smtClean="0">
                                    <a:solidFill>
                                      <a:schemeClr val="tx1"/>
                                    </a:solidFill>
                                    <a:latin typeface="Cambria Math" panose="02040503050406030204" pitchFamily="18" charset="0"/>
                                    <a:ea typeface="微软雅黑" panose="020B0503020204020204" pitchFamily="34" charset="-122"/>
                                    <a:cs typeface="+mn-cs"/>
                                  </a:rPr>
                                  <m:t>时，则继</m:t>
                                </m:r>
                                <m:r>
                                  <a:rPr lang="zh-CN" altLang="en-US" sz="1800" b="0" i="0" kern="1200" dirty="0" smtClean="0">
                                    <a:solidFill>
                                      <a:schemeClr val="tx1"/>
                                    </a:solidFill>
                                    <a:latin typeface="Cambria Math" panose="02040503050406030204" pitchFamily="18" charset="0"/>
                                    <a:ea typeface="微软雅黑" panose="020B0503020204020204" pitchFamily="34" charset="-122"/>
                                    <a:cs typeface="+mn-cs"/>
                                  </a:rPr>
                                  <m:t>续</m:t>
                                </m:r>
                                <m:r>
                                  <a:rPr lang="zh-CN" altLang="en-US" sz="1800" b="0" i="0" kern="1200" smtClean="0">
                                    <a:solidFill>
                                      <a:schemeClr val="tx1"/>
                                    </a:solidFill>
                                    <a:latin typeface="Cambria Math" panose="02040503050406030204" pitchFamily="18" charset="0"/>
                                    <a:ea typeface="微软雅黑" panose="020B0503020204020204" pitchFamily="34" charset="-122"/>
                                    <a:cs typeface="+mn-cs"/>
                                  </a:rPr>
                                  <m:t>生产</m:t>
                                </m:r>
                              </m:oMath>
                            </m:oMathPara>
                          </a14:m>
                          <a:endParaRPr lang="zh-CN" altLang="en-US" sz="1800" b="0" i="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559779"/>
                      </a:ext>
                    </a:extLst>
                  </a:tr>
                  <a:tr h="739520">
                    <a:tc>
                      <a:txBody>
                        <a:bodyPr/>
                        <a:lstStyle/>
                        <a:p>
                          <a:pPr marL="285750" indent="-285750" algn="l">
                            <a:buFont typeface="Wingdings" panose="05000000000000000000" pitchFamily="2" charset="2"/>
                            <a:buChar char="Ø"/>
                          </a:pP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何时停产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CN" sz="1800" b="0" i="0" kern="1200" smtClean="0">
                                    <a:solidFill>
                                      <a:schemeClr val="tx1"/>
                                    </a:solidFill>
                                    <a:latin typeface="Cambria Math" panose="02040503050406030204" pitchFamily="18" charset="0"/>
                                    <a:ea typeface="微软雅黑" panose="020B0503020204020204" pitchFamily="34" charset="-122"/>
                                    <a:cs typeface="+mn-cs"/>
                                  </a:rPr>
                                  <m:t>𝐴</m:t>
                                </m:r>
                                <m:r>
                                  <a:rPr lang="en-US" altLang="zh-CN" sz="1800" b="0" i="0" kern="1200" smtClean="0">
                                    <a:solidFill>
                                      <a:schemeClr val="tx1"/>
                                    </a:solidFill>
                                    <a:latin typeface="Cambria Math" panose="02040503050406030204" pitchFamily="18" charset="0"/>
                                    <a:ea typeface="微软雅黑" panose="020B0503020204020204" pitchFamily="34" charset="-122"/>
                                    <a:cs typeface="+mn-cs"/>
                                  </a:rPr>
                                  <m:t>&lt;</m:t>
                                </m:r>
                                <m:r>
                                  <a:rPr lang="en-US" altLang="zh-CN" sz="1800" b="0" i="0" kern="1200" smtClean="0">
                                    <a:solidFill>
                                      <a:schemeClr val="tx1"/>
                                    </a:solidFill>
                                    <a:latin typeface="Cambria Math" panose="02040503050406030204" pitchFamily="18" charset="0"/>
                                    <a:ea typeface="微软雅黑" panose="020B0503020204020204" pitchFamily="34" charset="-122"/>
                                    <a:cs typeface="+mn-cs"/>
                                  </a:rPr>
                                  <m:t>𝐵</m:t>
                                </m:r>
                                <m:r>
                                  <a:rPr lang="zh-CN" altLang="en-US" sz="1800" b="0" i="0" kern="1200" smtClean="0">
                                    <a:solidFill>
                                      <a:schemeClr val="tx1"/>
                                    </a:solidFill>
                                    <a:latin typeface="Cambria Math" panose="02040503050406030204" pitchFamily="18" charset="0"/>
                                    <a:ea typeface="微软雅黑" panose="020B0503020204020204" pitchFamily="34" charset="-122"/>
                                    <a:cs typeface="+mn-cs"/>
                                  </a:rPr>
                                  <m:t>时，停止生产</m:t>
                                </m:r>
                              </m:oMath>
                            </m:oMathPara>
                          </a14:m>
                          <a:endParaRPr sz="1800" b="0" i="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0459254"/>
                      </a:ext>
                    </a:extLst>
                  </a:tr>
                  <a:tr h="682680">
                    <a:tc>
                      <a:txBody>
                        <a:bodyPr/>
                        <a:lstStyle/>
                        <a:p>
                          <a:pPr marL="342900" marR="0" lvl="2"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1800" b="0" dirty="0">
                              <a:latin typeface="微软雅黑" panose="020B0503020204020204" pitchFamily="34" charset="-122"/>
                              <a:ea typeface="微软雅黑" panose="020B0503020204020204" pitchFamily="34" charset="-122"/>
                            </a:rPr>
                            <a:t>停业点</a:t>
                          </a:r>
                          <a:endParaRPr lang="en-US" altLang="zh-CN" sz="1800" b="0" dirty="0">
                            <a:latin typeface="微软雅黑" panose="020B0503020204020204" pitchFamily="34" charset="-122"/>
                            <a:ea typeface="微软雅黑" panose="020B0503020204020204" pitchFamily="34" charset="-122"/>
                          </a:endParaRPr>
                        </a:p>
                        <a:p>
                          <a:pPr marL="285750" indent="-285750" algn="l">
                            <a:buFont typeface="Wingdings" panose="05000000000000000000" pitchFamily="2" charset="2"/>
                            <a:buChar char="Ø"/>
                          </a:pPr>
                          <a:endParaRPr lang="zh-CN" altLang="en-US" sz="1600" kern="1200" spc="15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r>
                                <a:rPr lang="en-US" altLang="zh-CN" sz="1800" b="0" i="1" kern="1200" dirty="0" smtClean="0">
                                  <a:solidFill>
                                    <a:schemeClr val="tx1"/>
                                  </a:solidFill>
                                  <a:latin typeface="Cambria Math" panose="02040503050406030204" pitchFamily="18" charset="0"/>
                                  <a:ea typeface="微软雅黑" panose="020B0503020204020204" pitchFamily="34" charset="-122"/>
                                  <a:cs typeface="+mn-cs"/>
                                </a:rPr>
                                <m:t>𝐴</m:t>
                              </m:r>
                              <m:r>
                                <a:rPr lang="en-US" altLang="zh-CN" sz="1800" b="0" i="1" kern="1200" dirty="0" smtClean="0">
                                  <a:solidFill>
                                    <a:schemeClr val="tx1"/>
                                  </a:solidFill>
                                  <a:latin typeface="Cambria Math" panose="02040503050406030204" pitchFamily="18" charset="0"/>
                                  <a:ea typeface="微软雅黑" panose="020B0503020204020204" pitchFamily="34" charset="-122"/>
                                  <a:cs typeface="+mn-cs"/>
                                </a:rPr>
                                <m:t>=</m:t>
                              </m:r>
                              <m:r>
                                <a:rPr lang="en-US" altLang="zh-CN" sz="1800" b="0" i="1" kern="1200" dirty="0" smtClean="0">
                                  <a:solidFill>
                                    <a:schemeClr val="tx1"/>
                                  </a:solidFill>
                                  <a:latin typeface="Cambria Math" panose="02040503050406030204" pitchFamily="18" charset="0"/>
                                  <a:ea typeface="微软雅黑" panose="020B0503020204020204" pitchFamily="34" charset="-122"/>
                                  <a:cs typeface="+mn-cs"/>
                                </a:rPr>
                                <m:t>𝐵</m:t>
                              </m:r>
                            </m:oMath>
                          </a14:m>
                          <a:r>
                            <a:rPr lang="zh-CN" altLang="en-US" sz="1800" b="0" i="0" kern="1200" dirty="0">
                              <a:solidFill>
                                <a:schemeClr val="tx1"/>
                              </a:solidFill>
                              <a:latin typeface="微软雅黑" panose="020B0503020204020204" pitchFamily="34" charset="-122"/>
                              <a:ea typeface="微软雅黑" panose="020B0503020204020204" pitchFamily="34" charset="-122"/>
                              <a:cs typeface="+mn-cs"/>
                            </a:rPr>
                            <a:t>为停止营业点</a:t>
                          </a:r>
                        </a:p>
                        <a:p>
                          <a:pPr algn="ctr"/>
                          <a:endParaRPr lang="zh-CN" altLang="en-US" sz="1800" b="0" i="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2479129"/>
                      </a:ext>
                    </a:extLst>
                  </a:tr>
                </a:tbl>
              </a:graphicData>
            </a:graphic>
          </p:graphicFrame>
        </mc:Choice>
        <mc:Fallback xmlns="">
          <p:graphicFrame>
            <p:nvGraphicFramePr>
              <p:cNvPr id="3" name="表格 2">
                <a:extLst>
                  <a:ext uri="{FF2B5EF4-FFF2-40B4-BE49-F238E27FC236}">
                    <a16:creationId xmlns:a16="http://schemas.microsoft.com/office/drawing/2014/main" id="{2F1D2E82-C64A-4D3B-869E-F531575B6DA6}"/>
                  </a:ext>
                </a:extLst>
              </p:cNvPr>
              <p:cNvGraphicFramePr>
                <a:graphicFrameLocks noGrp="1"/>
              </p:cNvGraphicFramePr>
              <p:nvPr>
                <p:extLst>
                  <p:ext uri="{D42A27DB-BD31-4B8C-83A1-F6EECF244321}">
                    <p14:modId xmlns:p14="http://schemas.microsoft.com/office/powerpoint/2010/main" val="2337950506"/>
                  </p:ext>
                </p:extLst>
              </p:nvPr>
            </p:nvGraphicFramePr>
            <p:xfrm>
              <a:off x="1333747" y="3796277"/>
              <a:ext cx="6487403" cy="2104880"/>
            </p:xfrm>
            <a:graphic>
              <a:graphicData uri="http://schemas.openxmlformats.org/drawingml/2006/table">
                <a:tbl>
                  <a:tblPr firstRow="1" bandRow="1">
                    <a:tableStyleId>{5940675A-B579-460E-94D1-54222C63F5DA}</a:tableStyleId>
                  </a:tblPr>
                  <a:tblGrid>
                    <a:gridCol w="2162468">
                      <a:extLst>
                        <a:ext uri="{9D8B030D-6E8A-4147-A177-3AD203B41FA5}">
                          <a16:colId xmlns:a16="http://schemas.microsoft.com/office/drawing/2014/main" val="3760116452"/>
                        </a:ext>
                      </a:extLst>
                    </a:gridCol>
                    <a:gridCol w="4324935">
                      <a:extLst>
                        <a:ext uri="{9D8B030D-6E8A-4147-A177-3AD203B41FA5}">
                          <a16:colId xmlns:a16="http://schemas.microsoft.com/office/drawing/2014/main" val="3423923078"/>
                        </a:ext>
                      </a:extLst>
                    </a:gridCol>
                  </a:tblGrid>
                  <a:tr h="682680">
                    <a:tc>
                      <a:txBody>
                        <a:bodyPr/>
                        <a:lstStyle/>
                        <a:p>
                          <a:pPr marL="285750" indent="-285750" algn="l">
                            <a:buFont typeface="Wingdings" panose="05000000000000000000" pitchFamily="2" charset="2"/>
                            <a:buChar char="Ø"/>
                          </a:pP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何时继续生产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41" t="-885" r="-423" b="-208850"/>
                          </a:stretch>
                        </a:blipFill>
                      </a:tcPr>
                    </a:tc>
                    <a:extLst>
                      <a:ext uri="{0D108BD9-81ED-4DB2-BD59-A6C34878D82A}">
                        <a16:rowId xmlns:a16="http://schemas.microsoft.com/office/drawing/2014/main" val="265559779"/>
                      </a:ext>
                    </a:extLst>
                  </a:tr>
                  <a:tr h="739520">
                    <a:tc>
                      <a:txBody>
                        <a:bodyPr/>
                        <a:lstStyle/>
                        <a:p>
                          <a:pPr marL="285750" indent="-285750" algn="l">
                            <a:buFont typeface="Wingdings" panose="05000000000000000000" pitchFamily="2" charset="2"/>
                            <a:buChar char="Ø"/>
                          </a:pPr>
                          <a:r>
                            <a:rPr lang="zh-CN" altLang="en-US" sz="1800" kern="1200" spc="150" dirty="0">
                              <a:solidFill>
                                <a:schemeClr val="tx1"/>
                              </a:solidFill>
                              <a:latin typeface="微软雅黑" panose="020B0503020204020204" pitchFamily="34" charset="-122"/>
                              <a:ea typeface="微软雅黑" panose="020B0503020204020204" pitchFamily="34" charset="-122"/>
                              <a:cs typeface="+mn-cs"/>
                            </a:rPr>
                            <a:t>何时停产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41" t="-94215" r="-423" b="-95041"/>
                          </a:stretch>
                        </a:blipFill>
                      </a:tcPr>
                    </a:tc>
                    <a:extLst>
                      <a:ext uri="{0D108BD9-81ED-4DB2-BD59-A6C34878D82A}">
                        <a16:rowId xmlns:a16="http://schemas.microsoft.com/office/drawing/2014/main" val="4200459254"/>
                      </a:ext>
                    </a:extLst>
                  </a:tr>
                  <a:tr h="682680">
                    <a:tc>
                      <a:txBody>
                        <a:bodyPr/>
                        <a:lstStyle/>
                        <a:p>
                          <a:pPr marL="342900" marR="0" lvl="2"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1800" b="0" dirty="0">
                              <a:latin typeface="微软雅黑" panose="020B0503020204020204" pitchFamily="34" charset="-122"/>
                              <a:ea typeface="微软雅黑" panose="020B0503020204020204" pitchFamily="34" charset="-122"/>
                            </a:rPr>
                            <a:t>停业点</a:t>
                          </a:r>
                          <a:endParaRPr lang="en-US" altLang="zh-CN" sz="1800" b="0" dirty="0">
                            <a:latin typeface="微软雅黑" panose="020B0503020204020204" pitchFamily="34" charset="-122"/>
                            <a:ea typeface="微软雅黑" panose="020B0503020204020204" pitchFamily="34" charset="-122"/>
                          </a:endParaRPr>
                        </a:p>
                        <a:p>
                          <a:pPr marL="285750" indent="-285750" algn="l">
                            <a:buFont typeface="Wingdings" panose="05000000000000000000" pitchFamily="2" charset="2"/>
                            <a:buChar char="Ø"/>
                          </a:pPr>
                          <a:endParaRPr lang="zh-CN" altLang="en-US" sz="1600" kern="1200" spc="15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0141" t="-207965" r="-423" b="-1770"/>
                          </a:stretch>
                        </a:blipFill>
                      </a:tcPr>
                    </a:tc>
                    <a:extLst>
                      <a:ext uri="{0D108BD9-81ED-4DB2-BD59-A6C34878D82A}">
                        <a16:rowId xmlns:a16="http://schemas.microsoft.com/office/drawing/2014/main" val="2102479129"/>
                      </a:ext>
                    </a:extLst>
                  </a:tr>
                </a:tbl>
              </a:graphicData>
            </a:graphic>
          </p:graphicFrame>
        </mc:Fallback>
      </mc:AlternateContent>
      <p:sp>
        <p:nvSpPr>
          <p:cNvPr id="10" name="矩形 9">
            <a:extLst>
              <a:ext uri="{FF2B5EF4-FFF2-40B4-BE49-F238E27FC236}">
                <a16:creationId xmlns:a16="http://schemas.microsoft.com/office/drawing/2014/main" id="{62C2827F-01FB-438D-944D-3AD41012E92D}"/>
              </a:ext>
            </a:extLst>
          </p:cNvPr>
          <p:cNvSpPr/>
          <p:nvPr/>
        </p:nvSpPr>
        <p:spPr>
          <a:xfrm>
            <a:off x="984023" y="2091575"/>
            <a:ext cx="6253635" cy="1289905"/>
          </a:xfrm>
          <a:prstGeom prst="rect">
            <a:avLst/>
          </a:prstGeom>
        </p:spPr>
        <p:txBody>
          <a:bodyPr wrap="none">
            <a:spAutoFit/>
          </a:bodyPr>
          <a:lstStyle/>
          <a:p>
            <a:pPr marL="342900" lvl="2" indent="-34290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停产和继续生产的亏损</a:t>
            </a:r>
            <a:endParaRPr lang="en-US" altLang="zh-CN" dirty="0">
              <a:latin typeface="微软雅黑" panose="020B0503020204020204" pitchFamily="34" charset="-122"/>
              <a:ea typeface="微软雅黑" panose="020B0503020204020204" pitchFamily="34" charset="-122"/>
            </a:endParaRPr>
          </a:p>
          <a:p>
            <a:pPr marL="800100" lvl="1" indent="-342900" eaLnBrk="1" hangingPunct="1">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停产的损失：损失不变成本</a:t>
            </a:r>
            <a:r>
              <a:rPr lang="en-US" altLang="zh-CN" dirty="0">
                <a:latin typeface="微软雅黑" panose="020B0503020204020204" pitchFamily="34" charset="-122"/>
                <a:ea typeface="微软雅黑" panose="020B0503020204020204" pitchFamily="34" charset="-122"/>
              </a:rPr>
              <a:t>A</a:t>
            </a:r>
          </a:p>
          <a:p>
            <a:pPr marL="800100" lvl="1" indent="-342900" eaLnBrk="1" hangingPunct="1">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继续生产：损失</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（总收益</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固定成本</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可变成本）</a:t>
            </a:r>
            <a:endParaRPr lang="en-US" altLang="zh-CN" dirty="0">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F68E5273-CD77-47B9-B841-9D29349C133D}"/>
              </a:ext>
            </a:extLst>
          </p:cNvPr>
          <p:cNvSpPr/>
          <p:nvPr/>
        </p:nvSpPr>
        <p:spPr>
          <a:xfrm>
            <a:off x="467544" y="548680"/>
            <a:ext cx="280076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三、亏损时的决策</a:t>
            </a:r>
          </a:p>
        </p:txBody>
      </p:sp>
      <p:sp>
        <p:nvSpPr>
          <p:cNvPr id="14" name="矩形 13">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222284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wipe(left)">
                                      <p:cBhvr>
                                        <p:cTn id="17" dur="500"/>
                                        <p:tgtEl>
                                          <p:spTgt spid="10">
                                            <p:txEl>
                                              <p:pRg st="0" end="0"/>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Effect transition="in" filter="wipe(left)">
                                      <p:cBhvr>
                                        <p:cTn id="21" dur="500"/>
                                        <p:tgtEl>
                                          <p:spTgt spid="10">
                                            <p:txEl>
                                              <p:pRg st="1" end="1"/>
                                            </p:txEl>
                                          </p:spTgt>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Effect transition="in" filter="wipe(left)">
                                      <p:cBhvr>
                                        <p:cTn id="25" dur="500"/>
                                        <p:tgtEl>
                                          <p:spTgt spid="10">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up)">
                                      <p:cBhvr>
                                        <p:cTn id="3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云形标注 62"/>
          <p:cNvSpPr>
            <a:spLocks noChangeArrowheads="1"/>
          </p:cNvSpPr>
          <p:nvPr/>
        </p:nvSpPr>
        <p:spPr bwMode="auto">
          <a:xfrm>
            <a:off x="55562" y="2132910"/>
            <a:ext cx="2157412" cy="3335241"/>
          </a:xfrm>
          <a:prstGeom prst="cloudCallout">
            <a:avLst>
              <a:gd name="adj1" fmla="val 97563"/>
              <a:gd name="adj2" fmla="val 30600"/>
            </a:avLst>
          </a:prstGeom>
          <a:noFill/>
          <a:ln w="28575" cap="flat" cmpd="sng">
            <a:solidFill>
              <a:schemeClr val="accent3">
                <a:lumMod val="50000"/>
              </a:schemeClr>
            </a:solidFill>
            <a:miter lim="800000"/>
            <a:headEnd/>
            <a:tailEnd/>
          </a:ln>
        </p:spPr>
        <p:txBody>
          <a:bodyPr anchor="ctr"/>
          <a:lstStyle/>
          <a:p>
            <a:r>
              <a:rPr lang="zh-CN" altLang="en-US" dirty="0">
                <a:latin typeface="微软雅黑" panose="020B0503020204020204" pitchFamily="34" charset="-122"/>
                <a:ea typeface="微软雅黑" panose="020B0503020204020204" pitchFamily="34" charset="-122"/>
              </a:rPr>
              <a:t>产品价格低于</a:t>
            </a:r>
            <a:r>
              <a:rPr lang="en-US" altLang="zh-CN"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AVC</a:t>
            </a:r>
            <a:r>
              <a:rPr lang="zh-CN" altLang="en-US" dirty="0">
                <a:latin typeface="微软雅黑" panose="020B0503020204020204" pitchFamily="34" charset="-122"/>
                <a:ea typeface="微软雅黑" panose="020B0503020204020204" pitchFamily="34" charset="-122"/>
              </a:rPr>
              <a:t>最低点，停产损失小于继续生产的损失，故最好停产。</a:t>
            </a:r>
          </a:p>
        </p:txBody>
      </p:sp>
      <p:sp>
        <p:nvSpPr>
          <p:cNvPr id="13" name="矩形 12">
            <a:extLst>
              <a:ext uri="{FF2B5EF4-FFF2-40B4-BE49-F238E27FC236}">
                <a16:creationId xmlns:a16="http://schemas.microsoft.com/office/drawing/2014/main" id="{F68E5273-CD77-47B9-B841-9D29349C133D}"/>
              </a:ext>
            </a:extLst>
          </p:cNvPr>
          <p:cNvSpPr/>
          <p:nvPr/>
        </p:nvSpPr>
        <p:spPr>
          <a:xfrm>
            <a:off x="467544" y="548680"/>
            <a:ext cx="2800767"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三、亏损时的决策</a:t>
            </a:r>
          </a:p>
        </p:txBody>
      </p:sp>
      <p:sp>
        <p:nvSpPr>
          <p:cNvPr id="14" name="矩形 13">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1" name="TextBox 27"/>
          <p:cNvSpPr>
            <a:spLocks noChangeArrowheads="1"/>
          </p:cNvSpPr>
          <p:nvPr/>
        </p:nvSpPr>
        <p:spPr bwMode="auto">
          <a:xfrm>
            <a:off x="2000250" y="2500313"/>
            <a:ext cx="6429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P₃′′</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15" name="TextBox 28"/>
          <p:cNvSpPr>
            <a:spLocks noChangeArrowheads="1"/>
          </p:cNvSpPr>
          <p:nvPr/>
        </p:nvSpPr>
        <p:spPr bwMode="auto">
          <a:xfrm>
            <a:off x="3071813" y="5702300"/>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900" dirty="0">
                <a:solidFill>
                  <a:srgbClr val="000000"/>
                </a:solidFill>
                <a:latin typeface="Cambria Math" panose="02040503050406030204" pitchFamily="18" charset="0"/>
                <a:sym typeface="Cambria Math" panose="02040503050406030204" pitchFamily="18" charset="0"/>
              </a:rPr>
              <a:t>3</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16" name="TextBox 29"/>
          <p:cNvSpPr>
            <a:spLocks noChangeArrowheads="1"/>
          </p:cNvSpPr>
          <p:nvPr/>
        </p:nvSpPr>
        <p:spPr bwMode="auto">
          <a:xfrm>
            <a:off x="3857625" y="5691188"/>
            <a:ext cx="5000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900" dirty="0">
                <a:solidFill>
                  <a:srgbClr val="000000"/>
                </a:solidFill>
                <a:latin typeface="Cambria Math" panose="02040503050406030204" pitchFamily="18" charset="0"/>
                <a:sym typeface="Cambria Math" panose="02040503050406030204" pitchFamily="18" charset="0"/>
              </a:rPr>
              <a:t>4</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17" name="TextBox 30"/>
          <p:cNvSpPr>
            <a:spLocks noChangeArrowheads="1"/>
          </p:cNvSpPr>
          <p:nvPr/>
        </p:nvSpPr>
        <p:spPr bwMode="auto">
          <a:xfrm>
            <a:off x="4500563" y="5691188"/>
            <a:ext cx="5000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900" dirty="0">
                <a:solidFill>
                  <a:srgbClr val="000000"/>
                </a:solidFill>
                <a:latin typeface="Cambria Math" panose="02040503050406030204" pitchFamily="18" charset="0"/>
                <a:sym typeface="Cambria Math" panose="02040503050406030204" pitchFamily="18" charset="0"/>
              </a:rPr>
              <a:t>2</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18" name="直接箭头连接符 31"/>
          <p:cNvSpPr>
            <a:spLocks noChangeShapeType="1"/>
          </p:cNvSpPr>
          <p:nvPr/>
        </p:nvSpPr>
        <p:spPr bwMode="auto">
          <a:xfrm rot="16200000" flipV="1">
            <a:off x="793750" y="3990975"/>
            <a:ext cx="3411538" cy="1588"/>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9" name="直接箭头连接符 32"/>
          <p:cNvSpPr>
            <a:spLocks noChangeShapeType="1"/>
          </p:cNvSpPr>
          <p:nvPr/>
        </p:nvSpPr>
        <p:spPr bwMode="auto">
          <a:xfrm>
            <a:off x="2500313" y="5695950"/>
            <a:ext cx="4286250" cy="19050"/>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0" name="TextBox 33"/>
          <p:cNvSpPr>
            <a:spLocks noChangeArrowheads="1"/>
          </p:cNvSpPr>
          <p:nvPr/>
        </p:nvSpPr>
        <p:spPr bwMode="auto">
          <a:xfrm>
            <a:off x="2143125" y="2214563"/>
            <a:ext cx="3571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21" name="TextBox 34"/>
          <p:cNvSpPr>
            <a:spLocks noChangeArrowheads="1"/>
          </p:cNvSpPr>
          <p:nvPr/>
        </p:nvSpPr>
        <p:spPr bwMode="auto">
          <a:xfrm>
            <a:off x="2214563" y="5702300"/>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O</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22" name="TextBox 35"/>
          <p:cNvSpPr>
            <a:spLocks noChangeArrowheads="1"/>
          </p:cNvSpPr>
          <p:nvPr/>
        </p:nvSpPr>
        <p:spPr bwMode="auto">
          <a:xfrm>
            <a:off x="6500813" y="5702300"/>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23" name="TextBox 36"/>
          <p:cNvSpPr>
            <a:spLocks noChangeArrowheads="1"/>
          </p:cNvSpPr>
          <p:nvPr/>
        </p:nvSpPr>
        <p:spPr bwMode="auto">
          <a:xfrm>
            <a:off x="5857875" y="3571875"/>
            <a:ext cx="1428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MR</a:t>
            </a:r>
            <a:r>
              <a:rPr lang="en-US" altLang="zh-CN" sz="1100" dirty="0">
                <a:solidFill>
                  <a:srgbClr val="000000"/>
                </a:solidFill>
                <a:latin typeface="Cambria Math" panose="02040503050406030204" pitchFamily="18" charset="0"/>
                <a:sym typeface="Cambria Math" panose="02040503050406030204" pitchFamily="18" charset="0"/>
              </a:rPr>
              <a:t>2</a:t>
            </a:r>
            <a:r>
              <a:rPr lang="en-US" altLang="zh-CN" dirty="0">
                <a:solidFill>
                  <a:srgbClr val="000000"/>
                </a:solidFill>
                <a:latin typeface="Cambria Math" panose="02040503050406030204" pitchFamily="18" charset="0"/>
                <a:sym typeface="Cambria Math" panose="02040503050406030204" pitchFamily="18" charset="0"/>
              </a:rPr>
              <a:t>=AR</a:t>
            </a:r>
            <a:r>
              <a:rPr lang="en-US" altLang="zh-CN" sz="1100" dirty="0">
                <a:solidFill>
                  <a:srgbClr val="000000"/>
                </a:solidFill>
                <a:latin typeface="Cambria Math" panose="02040503050406030204" pitchFamily="18" charset="0"/>
                <a:sym typeface="Cambria Math" panose="02040503050406030204" pitchFamily="18" charset="0"/>
              </a:rPr>
              <a:t>2</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24" name="直接连接符 37"/>
          <p:cNvSpPr>
            <a:spLocks noChangeShapeType="1"/>
          </p:cNvSpPr>
          <p:nvPr/>
        </p:nvSpPr>
        <p:spPr bwMode="auto">
          <a:xfrm rot="5400000">
            <a:off x="1790700" y="4208463"/>
            <a:ext cx="2989263" cy="1587"/>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直接连接符 38"/>
          <p:cNvSpPr>
            <a:spLocks noChangeShapeType="1"/>
          </p:cNvSpPr>
          <p:nvPr/>
        </p:nvSpPr>
        <p:spPr bwMode="auto">
          <a:xfrm rot="5400000">
            <a:off x="2713831" y="4426744"/>
            <a:ext cx="2574925" cy="1588"/>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直接连接符 39"/>
          <p:cNvSpPr>
            <a:spLocks noChangeShapeType="1"/>
          </p:cNvSpPr>
          <p:nvPr/>
        </p:nvSpPr>
        <p:spPr bwMode="auto">
          <a:xfrm rot="5400000">
            <a:off x="3508375" y="4562475"/>
            <a:ext cx="2268538" cy="1588"/>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TextBox 41"/>
          <p:cNvSpPr>
            <a:spLocks noChangeArrowheads="1"/>
          </p:cNvSpPr>
          <p:nvPr/>
        </p:nvSpPr>
        <p:spPr bwMode="auto">
          <a:xfrm>
            <a:off x="5929313" y="242887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AC</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28" name="TextBox 42"/>
          <p:cNvSpPr>
            <a:spLocks noChangeArrowheads="1"/>
          </p:cNvSpPr>
          <p:nvPr/>
        </p:nvSpPr>
        <p:spPr bwMode="auto">
          <a:xfrm>
            <a:off x="4500563" y="3071813"/>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A</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29" name="TextBox 43"/>
          <p:cNvSpPr>
            <a:spLocks noChangeArrowheads="1"/>
          </p:cNvSpPr>
          <p:nvPr/>
        </p:nvSpPr>
        <p:spPr bwMode="auto">
          <a:xfrm>
            <a:off x="5000625" y="2500313"/>
            <a:ext cx="785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MC</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30" name="直接连接符 44"/>
          <p:cNvSpPr>
            <a:spLocks noChangeShapeType="1"/>
          </p:cNvSpPr>
          <p:nvPr/>
        </p:nvSpPr>
        <p:spPr bwMode="auto">
          <a:xfrm>
            <a:off x="2500313" y="3786188"/>
            <a:ext cx="3357562" cy="1587"/>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直接连接符 45"/>
          <p:cNvSpPr>
            <a:spLocks noChangeShapeType="1"/>
          </p:cNvSpPr>
          <p:nvPr/>
        </p:nvSpPr>
        <p:spPr bwMode="auto">
          <a:xfrm>
            <a:off x="2500313" y="4357688"/>
            <a:ext cx="3286125" cy="1587"/>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TextBox 46"/>
          <p:cNvSpPr>
            <a:spLocks noChangeArrowheads="1"/>
          </p:cNvSpPr>
          <p:nvPr/>
        </p:nvSpPr>
        <p:spPr bwMode="auto">
          <a:xfrm>
            <a:off x="2000250" y="420211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900">
                <a:solidFill>
                  <a:srgbClr val="000000"/>
                </a:solidFill>
                <a:latin typeface="Cambria Math" panose="02040503050406030204" pitchFamily="18" charset="0"/>
                <a:sym typeface="Cambria Math" panose="02040503050406030204" pitchFamily="18" charset="0"/>
              </a:rPr>
              <a:t>4</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33" name="TextBox 47"/>
          <p:cNvSpPr>
            <a:spLocks noChangeArrowheads="1"/>
          </p:cNvSpPr>
          <p:nvPr/>
        </p:nvSpPr>
        <p:spPr bwMode="auto">
          <a:xfrm>
            <a:off x="4000500" y="434498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H</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34" name="直接连接符 49"/>
          <p:cNvSpPr>
            <a:spLocks noChangeShapeType="1"/>
          </p:cNvSpPr>
          <p:nvPr/>
        </p:nvSpPr>
        <p:spPr bwMode="auto">
          <a:xfrm>
            <a:off x="2500313" y="4845050"/>
            <a:ext cx="3286125" cy="12700"/>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TextBox 50"/>
          <p:cNvSpPr>
            <a:spLocks noChangeArrowheads="1"/>
          </p:cNvSpPr>
          <p:nvPr/>
        </p:nvSpPr>
        <p:spPr bwMode="auto">
          <a:xfrm>
            <a:off x="3286125" y="371475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F</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6" name="TextBox 51"/>
          <p:cNvSpPr>
            <a:spLocks noChangeArrowheads="1"/>
          </p:cNvSpPr>
          <p:nvPr/>
        </p:nvSpPr>
        <p:spPr bwMode="auto">
          <a:xfrm>
            <a:off x="3214688" y="4845050"/>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I</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7" name="直接连接符 52"/>
          <p:cNvSpPr>
            <a:spLocks noChangeShapeType="1"/>
          </p:cNvSpPr>
          <p:nvPr/>
        </p:nvSpPr>
        <p:spPr bwMode="auto">
          <a:xfrm>
            <a:off x="2500313" y="3916363"/>
            <a:ext cx="741362" cy="1587"/>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直接连接符 53"/>
          <p:cNvSpPr>
            <a:spLocks noChangeShapeType="1"/>
          </p:cNvSpPr>
          <p:nvPr/>
        </p:nvSpPr>
        <p:spPr bwMode="auto">
          <a:xfrm>
            <a:off x="2500313" y="3427413"/>
            <a:ext cx="2135187" cy="1587"/>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TextBox 54"/>
          <p:cNvSpPr>
            <a:spLocks noChangeArrowheads="1"/>
          </p:cNvSpPr>
          <p:nvPr/>
        </p:nvSpPr>
        <p:spPr bwMode="auto">
          <a:xfrm>
            <a:off x="4572000" y="405923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C</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40" name="TextBox 55"/>
          <p:cNvSpPr>
            <a:spLocks noChangeArrowheads="1"/>
          </p:cNvSpPr>
          <p:nvPr/>
        </p:nvSpPr>
        <p:spPr bwMode="auto">
          <a:xfrm>
            <a:off x="2000250" y="492918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zh-CN">
              <a:solidFill>
                <a:srgbClr val="000000"/>
              </a:solidFill>
              <a:latin typeface="Cambria Math" panose="02040503050406030204" pitchFamily="18" charset="0"/>
              <a:sym typeface="Cambria Math" panose="02040503050406030204" pitchFamily="18" charset="0"/>
            </a:endParaRPr>
          </a:p>
        </p:txBody>
      </p:sp>
      <p:sp>
        <p:nvSpPr>
          <p:cNvPr id="41" name="TextBox 56"/>
          <p:cNvSpPr>
            <a:spLocks noChangeArrowheads="1"/>
          </p:cNvSpPr>
          <p:nvPr/>
        </p:nvSpPr>
        <p:spPr bwMode="auto">
          <a:xfrm>
            <a:off x="2000250" y="350043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1000" dirty="0">
                <a:solidFill>
                  <a:srgbClr val="000000"/>
                </a:solidFill>
                <a:latin typeface="Cambria Math" panose="02040503050406030204" pitchFamily="18" charset="0"/>
                <a:sym typeface="Cambria Math" panose="02040503050406030204" pitchFamily="18" charset="0"/>
              </a:rPr>
              <a:t>2</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42" name="TextBox 57"/>
          <p:cNvSpPr>
            <a:spLocks noChangeArrowheads="1"/>
          </p:cNvSpPr>
          <p:nvPr/>
        </p:nvSpPr>
        <p:spPr bwMode="auto">
          <a:xfrm>
            <a:off x="2000250" y="371475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1100">
                <a:solidFill>
                  <a:srgbClr val="000000"/>
                </a:solidFill>
                <a:latin typeface="Cambria Math" panose="02040503050406030204" pitchFamily="18" charset="0"/>
                <a:sym typeface="Cambria Math" panose="02040503050406030204" pitchFamily="18" charset="0"/>
              </a:rPr>
              <a:t>3</a:t>
            </a:r>
            <a:r>
              <a:rPr lang="en-US" altLang="zh-CN">
                <a:solidFill>
                  <a:srgbClr val="000000"/>
                </a:solidFill>
                <a:latin typeface="Cambria Math" panose="02040503050406030204" pitchFamily="18" charset="0"/>
                <a:sym typeface="Cambria Math" panose="02040503050406030204" pitchFamily="18" charset="0"/>
              </a:rPr>
              <a:t>′</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43" name="TextBox 58"/>
          <p:cNvSpPr>
            <a:spLocks noChangeArrowheads="1"/>
          </p:cNvSpPr>
          <p:nvPr/>
        </p:nvSpPr>
        <p:spPr bwMode="auto">
          <a:xfrm>
            <a:off x="5857875" y="4202113"/>
            <a:ext cx="14287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MR</a:t>
            </a:r>
            <a:r>
              <a:rPr lang="en-US" altLang="zh-CN" sz="1100" dirty="0">
                <a:solidFill>
                  <a:srgbClr val="000000"/>
                </a:solidFill>
                <a:latin typeface="Cambria Math" panose="02040503050406030204" pitchFamily="18" charset="0"/>
                <a:sym typeface="Cambria Math" panose="02040503050406030204" pitchFamily="18" charset="0"/>
              </a:rPr>
              <a:t>4</a:t>
            </a:r>
            <a:r>
              <a:rPr lang="en-US" altLang="zh-CN" dirty="0">
                <a:solidFill>
                  <a:srgbClr val="000000"/>
                </a:solidFill>
                <a:latin typeface="Cambria Math" panose="02040503050406030204" pitchFamily="18" charset="0"/>
                <a:sym typeface="Cambria Math" panose="02040503050406030204" pitchFamily="18" charset="0"/>
              </a:rPr>
              <a:t>=AR</a:t>
            </a:r>
            <a:r>
              <a:rPr lang="en-US" altLang="zh-CN" sz="1100" dirty="0">
                <a:solidFill>
                  <a:srgbClr val="000000"/>
                </a:solidFill>
                <a:latin typeface="Cambria Math" panose="02040503050406030204" pitchFamily="18" charset="0"/>
                <a:sym typeface="Cambria Math" panose="02040503050406030204" pitchFamily="18" charset="0"/>
              </a:rPr>
              <a:t>4</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44" name="TextBox 59"/>
          <p:cNvSpPr>
            <a:spLocks noChangeArrowheads="1"/>
          </p:cNvSpPr>
          <p:nvPr/>
        </p:nvSpPr>
        <p:spPr bwMode="auto">
          <a:xfrm>
            <a:off x="5857875" y="4702175"/>
            <a:ext cx="1428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MR</a:t>
            </a:r>
            <a:r>
              <a:rPr lang="en-US" altLang="zh-CN" sz="1100" dirty="0">
                <a:solidFill>
                  <a:srgbClr val="000000"/>
                </a:solidFill>
                <a:latin typeface="Cambria Math" panose="02040503050406030204" pitchFamily="18" charset="0"/>
                <a:sym typeface="Cambria Math" panose="02040503050406030204" pitchFamily="18" charset="0"/>
              </a:rPr>
              <a:t>3</a:t>
            </a:r>
            <a:r>
              <a:rPr lang="en-US" altLang="zh-CN" dirty="0">
                <a:solidFill>
                  <a:srgbClr val="000000"/>
                </a:solidFill>
                <a:latin typeface="Cambria Math" panose="02040503050406030204" pitchFamily="18" charset="0"/>
                <a:sym typeface="Cambria Math" panose="02040503050406030204" pitchFamily="18" charset="0"/>
              </a:rPr>
              <a:t>=AR</a:t>
            </a:r>
            <a:r>
              <a:rPr lang="en-US" altLang="zh-CN" sz="1100" dirty="0">
                <a:solidFill>
                  <a:srgbClr val="000000"/>
                </a:solidFill>
                <a:latin typeface="Cambria Math" panose="02040503050406030204" pitchFamily="18" charset="0"/>
                <a:sym typeface="Cambria Math" panose="02040503050406030204" pitchFamily="18" charset="0"/>
              </a:rPr>
              <a:t>3</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45" name="TextBox 60"/>
          <p:cNvSpPr>
            <a:spLocks noChangeArrowheads="1"/>
          </p:cNvSpPr>
          <p:nvPr/>
        </p:nvSpPr>
        <p:spPr bwMode="auto">
          <a:xfrm>
            <a:off x="2000250" y="464343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900" dirty="0">
                <a:solidFill>
                  <a:srgbClr val="000000"/>
                </a:solidFill>
                <a:latin typeface="Cambria Math" panose="02040503050406030204" pitchFamily="18" charset="0"/>
                <a:sym typeface="Cambria Math" panose="02040503050406030204" pitchFamily="18" charset="0"/>
              </a:rPr>
              <a:t>3</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46" name="TextBox 75"/>
          <p:cNvSpPr>
            <a:spLocks noChangeArrowheads="1"/>
          </p:cNvSpPr>
          <p:nvPr/>
        </p:nvSpPr>
        <p:spPr bwMode="auto">
          <a:xfrm>
            <a:off x="4857750" y="342900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E</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47" name="TextBox 79"/>
          <p:cNvSpPr>
            <a:spLocks noChangeArrowheads="1"/>
          </p:cNvSpPr>
          <p:nvPr/>
        </p:nvSpPr>
        <p:spPr bwMode="auto">
          <a:xfrm>
            <a:off x="3000375" y="264318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D</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48" name="直接连接符 80"/>
          <p:cNvSpPr>
            <a:spLocks noChangeShapeType="1"/>
          </p:cNvSpPr>
          <p:nvPr/>
        </p:nvSpPr>
        <p:spPr bwMode="auto">
          <a:xfrm>
            <a:off x="2500313" y="2714625"/>
            <a:ext cx="741362" cy="1588"/>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TextBox 82"/>
          <p:cNvSpPr>
            <a:spLocks noChangeArrowheads="1"/>
          </p:cNvSpPr>
          <p:nvPr/>
        </p:nvSpPr>
        <p:spPr bwMode="auto">
          <a:xfrm>
            <a:off x="4572000" y="371475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B</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50" name="TextBox 83"/>
          <p:cNvSpPr>
            <a:spLocks noChangeArrowheads="1"/>
          </p:cNvSpPr>
          <p:nvPr/>
        </p:nvSpPr>
        <p:spPr bwMode="auto">
          <a:xfrm>
            <a:off x="5643563" y="3214688"/>
            <a:ext cx="642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AVC</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51" name="直接连接符 89"/>
          <p:cNvSpPr>
            <a:spLocks noChangeShapeType="1"/>
          </p:cNvSpPr>
          <p:nvPr/>
        </p:nvSpPr>
        <p:spPr bwMode="auto">
          <a:xfrm>
            <a:off x="2500313" y="3143250"/>
            <a:ext cx="1571625" cy="1588"/>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直接连接符 91"/>
          <p:cNvSpPr>
            <a:spLocks noChangeShapeType="1"/>
          </p:cNvSpPr>
          <p:nvPr/>
        </p:nvSpPr>
        <p:spPr bwMode="auto">
          <a:xfrm>
            <a:off x="2500313" y="4143375"/>
            <a:ext cx="2135187" cy="1588"/>
          </a:xfrm>
          <a:prstGeom prst="line">
            <a:avLst/>
          </a:prstGeom>
          <a:noFill/>
          <a:ln w="1905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任意多边形 92"/>
          <p:cNvSpPr>
            <a:spLocks noChangeArrowheads="1"/>
          </p:cNvSpPr>
          <p:nvPr/>
        </p:nvSpPr>
        <p:spPr bwMode="auto">
          <a:xfrm>
            <a:off x="3095625" y="2579688"/>
            <a:ext cx="3035300" cy="933450"/>
          </a:xfrm>
          <a:custGeom>
            <a:avLst/>
            <a:gdLst>
              <a:gd name="T0" fmla="*/ 0 w 3036277"/>
              <a:gd name="T1" fmla="*/ 0 h 933939"/>
              <a:gd name="T2" fmla="*/ 175846 w 3036277"/>
              <a:gd name="T3" fmla="*/ 128954 h 933939"/>
              <a:gd name="T4" fmla="*/ 961293 w 3036277"/>
              <a:gd name="T5" fmla="*/ 550985 h 933939"/>
              <a:gd name="T6" fmla="*/ 1547446 w 3036277"/>
              <a:gd name="T7" fmla="*/ 855785 h 933939"/>
              <a:gd name="T8" fmla="*/ 1899139 w 3036277"/>
              <a:gd name="T9" fmla="*/ 902677 h 933939"/>
              <a:gd name="T10" fmla="*/ 2543908 w 3036277"/>
              <a:gd name="T11" fmla="*/ 668215 h 933939"/>
              <a:gd name="T12" fmla="*/ 3036277 w 3036277"/>
              <a:gd name="T13" fmla="*/ 281354 h 933939"/>
              <a:gd name="T14" fmla="*/ 0 60000 65536"/>
              <a:gd name="T15" fmla="*/ 0 60000 65536"/>
              <a:gd name="T16" fmla="*/ 0 60000 65536"/>
              <a:gd name="T17" fmla="*/ 0 60000 65536"/>
              <a:gd name="T18" fmla="*/ 0 60000 65536"/>
              <a:gd name="T19" fmla="*/ 0 60000 65536"/>
              <a:gd name="T20" fmla="*/ 0 60000 65536"/>
              <a:gd name="T21" fmla="*/ 0 w 3036277"/>
              <a:gd name="T22" fmla="*/ 0 h 933939"/>
              <a:gd name="T23" fmla="*/ 3036277 w 3036277"/>
              <a:gd name="T24" fmla="*/ 933939 h 9339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36277" h="933939">
                <a:moveTo>
                  <a:pt x="0" y="0"/>
                </a:moveTo>
                <a:cubicBezTo>
                  <a:pt x="7815" y="18561"/>
                  <a:pt x="15631" y="37123"/>
                  <a:pt x="175846" y="128954"/>
                </a:cubicBezTo>
                <a:cubicBezTo>
                  <a:pt x="336062" y="220785"/>
                  <a:pt x="961293" y="550985"/>
                  <a:pt x="961293" y="550985"/>
                </a:cubicBezTo>
                <a:cubicBezTo>
                  <a:pt x="1189893" y="672123"/>
                  <a:pt x="1391138" y="797170"/>
                  <a:pt x="1547446" y="855785"/>
                </a:cubicBezTo>
                <a:cubicBezTo>
                  <a:pt x="1703754" y="914400"/>
                  <a:pt x="1733062" y="933939"/>
                  <a:pt x="1899139" y="902677"/>
                </a:cubicBezTo>
                <a:cubicBezTo>
                  <a:pt x="2065216" y="871415"/>
                  <a:pt x="2354385" y="771769"/>
                  <a:pt x="2543908" y="668215"/>
                </a:cubicBezTo>
                <a:cubicBezTo>
                  <a:pt x="2733431" y="564661"/>
                  <a:pt x="2884854" y="423007"/>
                  <a:pt x="3036277" y="281354"/>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54" name="任意多边形 96"/>
          <p:cNvSpPr>
            <a:spLocks noChangeArrowheads="1"/>
          </p:cNvSpPr>
          <p:nvPr/>
        </p:nvSpPr>
        <p:spPr bwMode="auto">
          <a:xfrm>
            <a:off x="3141663" y="3540125"/>
            <a:ext cx="2473325" cy="827088"/>
          </a:xfrm>
          <a:custGeom>
            <a:avLst/>
            <a:gdLst>
              <a:gd name="T0" fmla="*/ 0 w 2473569"/>
              <a:gd name="T1" fmla="*/ 199293 h 826477"/>
              <a:gd name="T2" fmla="*/ 128953 w 2473569"/>
              <a:gd name="T3" fmla="*/ 386862 h 826477"/>
              <a:gd name="T4" fmla="*/ 422030 w 2473569"/>
              <a:gd name="T5" fmla="*/ 679939 h 826477"/>
              <a:gd name="T6" fmla="*/ 926123 w 2473569"/>
              <a:gd name="T7" fmla="*/ 785446 h 826477"/>
              <a:gd name="T8" fmla="*/ 1828800 w 2473569"/>
              <a:gd name="T9" fmla="*/ 433754 h 826477"/>
              <a:gd name="T10" fmla="*/ 2473569 w 2473569"/>
              <a:gd name="T11" fmla="*/ 0 h 826477"/>
              <a:gd name="T12" fmla="*/ 0 60000 65536"/>
              <a:gd name="T13" fmla="*/ 0 60000 65536"/>
              <a:gd name="T14" fmla="*/ 0 60000 65536"/>
              <a:gd name="T15" fmla="*/ 0 60000 65536"/>
              <a:gd name="T16" fmla="*/ 0 60000 65536"/>
              <a:gd name="T17" fmla="*/ 0 60000 65536"/>
              <a:gd name="T18" fmla="*/ 0 w 2473569"/>
              <a:gd name="T19" fmla="*/ 0 h 826477"/>
              <a:gd name="T20" fmla="*/ 2473569 w 2473569"/>
              <a:gd name="T21" fmla="*/ 826477 h 826477"/>
            </a:gdLst>
            <a:ahLst/>
            <a:cxnLst>
              <a:cxn ang="T12">
                <a:pos x="T0" y="T1"/>
              </a:cxn>
              <a:cxn ang="T13">
                <a:pos x="T2" y="T3"/>
              </a:cxn>
              <a:cxn ang="T14">
                <a:pos x="T4" y="T5"/>
              </a:cxn>
              <a:cxn ang="T15">
                <a:pos x="T6" y="T7"/>
              </a:cxn>
              <a:cxn ang="T16">
                <a:pos x="T8" y="T9"/>
              </a:cxn>
              <a:cxn ang="T17">
                <a:pos x="T10" y="T11"/>
              </a:cxn>
            </a:cxnLst>
            <a:rect l="T18" t="T19" r="T20" b="T21"/>
            <a:pathLst>
              <a:path w="2473569" h="826477">
                <a:moveTo>
                  <a:pt x="0" y="199293"/>
                </a:moveTo>
                <a:cubicBezTo>
                  <a:pt x="29307" y="253023"/>
                  <a:pt x="58615" y="306754"/>
                  <a:pt x="128953" y="386862"/>
                </a:cubicBezTo>
                <a:cubicBezTo>
                  <a:pt x="199291" y="466970"/>
                  <a:pt x="289168" y="613508"/>
                  <a:pt x="422030" y="679939"/>
                </a:cubicBezTo>
                <a:cubicBezTo>
                  <a:pt x="554892" y="746370"/>
                  <a:pt x="691661" y="826477"/>
                  <a:pt x="926123" y="785446"/>
                </a:cubicBezTo>
                <a:cubicBezTo>
                  <a:pt x="1160585" y="744415"/>
                  <a:pt x="1570892" y="564662"/>
                  <a:pt x="1828800" y="433754"/>
                </a:cubicBezTo>
                <a:cubicBezTo>
                  <a:pt x="2086708" y="302846"/>
                  <a:pt x="2280138" y="151423"/>
                  <a:pt x="2473569" y="0"/>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55" name="任意多边形 97"/>
          <p:cNvSpPr>
            <a:spLocks noChangeArrowheads="1"/>
          </p:cNvSpPr>
          <p:nvPr/>
        </p:nvSpPr>
        <p:spPr bwMode="auto">
          <a:xfrm>
            <a:off x="2633663" y="2871788"/>
            <a:ext cx="2724150" cy="2341562"/>
          </a:xfrm>
          <a:custGeom>
            <a:avLst/>
            <a:gdLst>
              <a:gd name="T0" fmla="*/ 39077 w 2723661"/>
              <a:gd name="T1" fmla="*/ 2321169 h 2341684"/>
              <a:gd name="T2" fmla="*/ 97692 w 2723661"/>
              <a:gd name="T3" fmla="*/ 2286000 h 2341684"/>
              <a:gd name="T4" fmla="*/ 859692 w 2723661"/>
              <a:gd name="T5" fmla="*/ 1863969 h 2341684"/>
              <a:gd name="T6" fmla="*/ 1668584 w 2723661"/>
              <a:gd name="T7" fmla="*/ 1266092 h 2341684"/>
              <a:gd name="T8" fmla="*/ 2547815 w 2723661"/>
              <a:gd name="T9" fmla="*/ 316523 h 2341684"/>
              <a:gd name="T10" fmla="*/ 2723661 w 2723661"/>
              <a:gd name="T11" fmla="*/ 0 h 2341684"/>
              <a:gd name="T12" fmla="*/ 0 60000 65536"/>
              <a:gd name="T13" fmla="*/ 0 60000 65536"/>
              <a:gd name="T14" fmla="*/ 0 60000 65536"/>
              <a:gd name="T15" fmla="*/ 0 60000 65536"/>
              <a:gd name="T16" fmla="*/ 0 60000 65536"/>
              <a:gd name="T17" fmla="*/ 0 60000 65536"/>
              <a:gd name="T18" fmla="*/ 0 w 2723661"/>
              <a:gd name="T19" fmla="*/ 0 h 2341684"/>
              <a:gd name="T20" fmla="*/ 2723661 w 2723661"/>
              <a:gd name="T21" fmla="*/ 2341684 h 2341684"/>
            </a:gdLst>
            <a:ahLst/>
            <a:cxnLst>
              <a:cxn ang="T12">
                <a:pos x="T0" y="T1"/>
              </a:cxn>
              <a:cxn ang="T13">
                <a:pos x="T2" y="T3"/>
              </a:cxn>
              <a:cxn ang="T14">
                <a:pos x="T4" y="T5"/>
              </a:cxn>
              <a:cxn ang="T15">
                <a:pos x="T6" y="T7"/>
              </a:cxn>
              <a:cxn ang="T16">
                <a:pos x="T8" y="T9"/>
              </a:cxn>
              <a:cxn ang="T17">
                <a:pos x="T10" y="T11"/>
              </a:cxn>
            </a:cxnLst>
            <a:rect l="T18" t="T19" r="T20" b="T21"/>
            <a:pathLst>
              <a:path w="2723661" h="2341684">
                <a:moveTo>
                  <a:pt x="39077" y="2321169"/>
                </a:moveTo>
                <a:cubicBezTo>
                  <a:pt x="0" y="2341684"/>
                  <a:pt x="97692" y="2286000"/>
                  <a:pt x="97692" y="2286000"/>
                </a:cubicBezTo>
                <a:cubicBezTo>
                  <a:pt x="234461" y="2209800"/>
                  <a:pt x="597877" y="2033954"/>
                  <a:pt x="859692" y="1863969"/>
                </a:cubicBezTo>
                <a:cubicBezTo>
                  <a:pt x="1121507" y="1693984"/>
                  <a:pt x="1387230" y="1524000"/>
                  <a:pt x="1668584" y="1266092"/>
                </a:cubicBezTo>
                <a:cubicBezTo>
                  <a:pt x="1949938" y="1008184"/>
                  <a:pt x="2371969" y="527538"/>
                  <a:pt x="2547815" y="316523"/>
                </a:cubicBezTo>
                <a:cubicBezTo>
                  <a:pt x="2723661" y="105508"/>
                  <a:pt x="2723661" y="52754"/>
                  <a:pt x="2723661" y="0"/>
                </a:cubicBezTo>
              </a:path>
            </a:pathLst>
          </a:custGeom>
          <a:noFill/>
          <a:ln w="19050"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56" name="TextBox 99"/>
          <p:cNvSpPr>
            <a:spLocks noChangeArrowheads="1"/>
          </p:cNvSpPr>
          <p:nvPr/>
        </p:nvSpPr>
        <p:spPr bwMode="auto">
          <a:xfrm>
            <a:off x="3929063" y="2773363"/>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G</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57" name="TextBox 103"/>
          <p:cNvSpPr>
            <a:spLocks noChangeArrowheads="1"/>
          </p:cNvSpPr>
          <p:nvPr/>
        </p:nvSpPr>
        <p:spPr bwMode="auto">
          <a:xfrm>
            <a:off x="2000250" y="2857500"/>
            <a:ext cx="642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1100">
                <a:solidFill>
                  <a:srgbClr val="000000"/>
                </a:solidFill>
                <a:latin typeface="Cambria Math" panose="02040503050406030204" pitchFamily="18" charset="0"/>
                <a:sym typeface="Cambria Math" panose="02040503050406030204" pitchFamily="18" charset="0"/>
              </a:rPr>
              <a:t>4</a:t>
            </a:r>
            <a:r>
              <a:rPr lang="en-US" altLang="zh-CN">
                <a:solidFill>
                  <a:srgbClr val="000000"/>
                </a:solidFill>
                <a:latin typeface="Cambria Math" panose="02040503050406030204" pitchFamily="18" charset="0"/>
                <a:sym typeface="Cambria Math" panose="02040503050406030204" pitchFamily="18" charset="0"/>
              </a:rPr>
              <a:t>′′</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58" name="TextBox 104"/>
          <p:cNvSpPr>
            <a:spLocks noChangeArrowheads="1"/>
          </p:cNvSpPr>
          <p:nvPr/>
        </p:nvSpPr>
        <p:spPr bwMode="auto">
          <a:xfrm>
            <a:off x="2000250" y="3214688"/>
            <a:ext cx="714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1100">
                <a:solidFill>
                  <a:srgbClr val="000000"/>
                </a:solidFill>
                <a:latin typeface="Cambria Math" panose="02040503050406030204" pitchFamily="18" charset="0"/>
                <a:sym typeface="Cambria Math" panose="02040503050406030204" pitchFamily="18" charset="0"/>
              </a:rPr>
              <a:t>2</a:t>
            </a:r>
            <a:r>
              <a:rPr lang="en-US" altLang="zh-CN">
                <a:solidFill>
                  <a:srgbClr val="000000"/>
                </a:solidFill>
                <a:latin typeface="Cambria Math" panose="02040503050406030204" pitchFamily="18" charset="0"/>
                <a:sym typeface="Cambria Math" panose="02040503050406030204" pitchFamily="18" charset="0"/>
              </a:rPr>
              <a:t>′′</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59" name="TextBox 105"/>
          <p:cNvSpPr>
            <a:spLocks noChangeArrowheads="1"/>
          </p:cNvSpPr>
          <p:nvPr/>
        </p:nvSpPr>
        <p:spPr bwMode="auto">
          <a:xfrm>
            <a:off x="2000250" y="392906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1000">
                <a:solidFill>
                  <a:srgbClr val="000000"/>
                </a:solidFill>
                <a:latin typeface="Cambria Math" panose="02040503050406030204" pitchFamily="18" charset="0"/>
                <a:sym typeface="Cambria Math" panose="02040503050406030204" pitchFamily="18" charset="0"/>
              </a:rPr>
              <a:t>2</a:t>
            </a:r>
            <a:r>
              <a:rPr lang="en-US" altLang="zh-CN">
                <a:solidFill>
                  <a:srgbClr val="000000"/>
                </a:solidFill>
                <a:latin typeface="Cambria Math" panose="02040503050406030204" pitchFamily="18" charset="0"/>
                <a:sym typeface="Cambria Math" panose="02040503050406030204" pitchFamily="18" charset="0"/>
              </a:rPr>
              <a:t>′</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60" name="云形标注 56"/>
          <p:cNvSpPr>
            <a:spLocks noChangeArrowheads="1"/>
          </p:cNvSpPr>
          <p:nvPr/>
        </p:nvSpPr>
        <p:spPr bwMode="auto">
          <a:xfrm>
            <a:off x="6840878" y="1739216"/>
            <a:ext cx="2109787" cy="3522444"/>
          </a:xfrm>
          <a:prstGeom prst="cloudCallout">
            <a:avLst>
              <a:gd name="adj1" fmla="val -151890"/>
              <a:gd name="adj2" fmla="val 8066"/>
            </a:avLst>
          </a:prstGeom>
          <a:noFill/>
          <a:ln w="28575" cap="flat" cmpd="sng">
            <a:solidFill>
              <a:schemeClr val="accent3">
                <a:lumMod val="50000"/>
              </a:schemeClr>
            </a:solidFill>
            <a:miter lim="800000"/>
            <a:headEnd/>
            <a:tailEnd/>
          </a:ln>
        </p:spPr>
        <p:txBody>
          <a:bodyPr anchor="ctr"/>
          <a:lstStyle/>
          <a:p>
            <a:r>
              <a:rPr lang="zh-CN" altLang="en-US" dirty="0">
                <a:latin typeface="微软雅黑" panose="020B0503020204020204" pitchFamily="34" charset="-122"/>
                <a:ea typeface="微软雅黑" panose="020B0503020204020204" pitchFamily="34" charset="-122"/>
              </a:rPr>
              <a:t>产品价格高于</a:t>
            </a:r>
            <a:r>
              <a:rPr lang="en-US" altLang="zh-CN"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AVC</a:t>
            </a:r>
            <a:r>
              <a:rPr lang="zh-CN" altLang="en-US" dirty="0">
                <a:latin typeface="微软雅黑" panose="020B0503020204020204" pitchFamily="34" charset="-122"/>
                <a:ea typeface="微软雅黑" panose="020B0503020204020204" pitchFamily="34" charset="-122"/>
              </a:rPr>
              <a:t>最低点，停产损失大于继续生产的损失，故最好继续生产。</a:t>
            </a:r>
          </a:p>
        </p:txBody>
      </p:sp>
      <p:sp>
        <p:nvSpPr>
          <p:cNvPr id="62" name="云形标注 63"/>
          <p:cNvSpPr>
            <a:spLocks noChangeArrowheads="1"/>
          </p:cNvSpPr>
          <p:nvPr/>
        </p:nvSpPr>
        <p:spPr bwMode="auto">
          <a:xfrm>
            <a:off x="2757941" y="1047860"/>
            <a:ext cx="3786188" cy="1669941"/>
          </a:xfrm>
          <a:prstGeom prst="cloudCallout">
            <a:avLst>
              <a:gd name="adj1" fmla="val -14920"/>
              <a:gd name="adj2" fmla="val 134983"/>
            </a:avLst>
          </a:prstGeom>
          <a:noFill/>
          <a:ln w="28575" cap="flat" cmpd="sng">
            <a:solidFill>
              <a:schemeClr val="accent3">
                <a:lumMod val="50000"/>
              </a:schemeClr>
            </a:solidFill>
            <a:miter lim="800000"/>
            <a:headEnd/>
            <a:tailEnd/>
          </a:ln>
        </p:spPr>
        <p:txBody>
          <a:bodyPr anchor="ctr"/>
          <a:lstStyle/>
          <a:p>
            <a:r>
              <a:rPr lang="zh-CN" altLang="en-US" dirty="0">
                <a:latin typeface="微软雅黑" panose="020B0503020204020204" pitchFamily="34" charset="-122"/>
                <a:ea typeface="微软雅黑" panose="020B0503020204020204" pitchFamily="34" charset="-122"/>
              </a:rPr>
              <a:t>产品价格等于</a:t>
            </a:r>
            <a:r>
              <a:rPr lang="en-US" altLang="zh-CN"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AVC</a:t>
            </a:r>
            <a:r>
              <a:rPr lang="zh-CN" altLang="en-US" dirty="0">
                <a:latin typeface="微软雅黑" panose="020B0503020204020204" pitchFamily="34" charset="-122"/>
                <a:ea typeface="微软雅黑" panose="020B0503020204020204" pitchFamily="34" charset="-122"/>
              </a:rPr>
              <a:t>最低点，可以继续生产，也可以停产，事实上确定了一个</a:t>
            </a:r>
            <a:r>
              <a:rPr lang="zh-CN" altLang="en-US" dirty="0">
                <a:solidFill>
                  <a:srgbClr val="FF0000"/>
                </a:solidFill>
                <a:latin typeface="微软雅黑" panose="020B0503020204020204" pitchFamily="34" charset="-122"/>
                <a:ea typeface="微软雅黑" panose="020B0503020204020204" pitchFamily="34" charset="-122"/>
              </a:rPr>
              <a:t>停业点</a:t>
            </a:r>
            <a:r>
              <a:rPr lang="zh-CN" altLang="en-US" dirty="0">
                <a:latin typeface="微软雅黑" panose="020B0503020204020204" pitchFamily="34" charset="-122"/>
                <a:ea typeface="微软雅黑" panose="020B0503020204020204" pitchFamily="34" charset="-122"/>
              </a:rPr>
              <a:t>。</a:t>
            </a:r>
          </a:p>
        </p:txBody>
      </p:sp>
      <p:sp>
        <p:nvSpPr>
          <p:cNvPr id="63" name="Oval 21"/>
          <p:cNvSpPr>
            <a:spLocks noChangeArrowheads="1"/>
          </p:cNvSpPr>
          <p:nvPr/>
        </p:nvSpPr>
        <p:spPr bwMode="auto">
          <a:xfrm>
            <a:off x="4572000" y="3705225"/>
            <a:ext cx="152400" cy="152400"/>
          </a:xfrm>
          <a:prstGeom prst="ellipse">
            <a:avLst/>
          </a:prstGeom>
          <a:solidFill>
            <a:schemeClr val="accent1"/>
          </a:solidFill>
          <a:ln w="9525" cmpd="sng">
            <a:solidFill>
              <a:schemeClr val="tx1"/>
            </a:solidFill>
            <a:miter lim="800000"/>
            <a:headEnd/>
            <a:tailEnd/>
          </a:ln>
        </p:spPr>
        <p:txBody>
          <a:bodyPr wrap="none" anchor="ctr"/>
          <a:lstStyle/>
          <a:p>
            <a:endParaRPr lang="zh-CN" altLang="zh-CN">
              <a:solidFill>
                <a:srgbClr val="000000"/>
              </a:solidFill>
              <a:sym typeface="Arial" panose="020B0604020202020204" pitchFamily="34" charset="0"/>
            </a:endParaRPr>
          </a:p>
        </p:txBody>
      </p:sp>
      <p:sp>
        <p:nvSpPr>
          <p:cNvPr id="64" name="Oval 21"/>
          <p:cNvSpPr>
            <a:spLocks noChangeArrowheads="1"/>
          </p:cNvSpPr>
          <p:nvPr/>
        </p:nvSpPr>
        <p:spPr bwMode="auto">
          <a:xfrm>
            <a:off x="3929063" y="4276725"/>
            <a:ext cx="152400" cy="152400"/>
          </a:xfrm>
          <a:prstGeom prst="ellipse">
            <a:avLst/>
          </a:prstGeom>
          <a:solidFill>
            <a:srgbClr val="0070C0"/>
          </a:solidFill>
          <a:ln w="9525" cmpd="sng">
            <a:solidFill>
              <a:schemeClr val="tx1"/>
            </a:solidFill>
            <a:miter lim="800000"/>
            <a:headEnd/>
            <a:tailEnd/>
          </a:ln>
        </p:spPr>
        <p:txBody>
          <a:bodyPr wrap="none" anchor="ctr"/>
          <a:lstStyle/>
          <a:p>
            <a:endParaRPr lang="zh-CN" altLang="zh-CN">
              <a:solidFill>
                <a:srgbClr val="000000"/>
              </a:solidFill>
              <a:sym typeface="Arial" panose="020B0604020202020204" pitchFamily="34" charset="0"/>
            </a:endParaRPr>
          </a:p>
        </p:txBody>
      </p:sp>
      <p:sp>
        <p:nvSpPr>
          <p:cNvPr id="65" name="Oval 21"/>
          <p:cNvSpPr>
            <a:spLocks noChangeArrowheads="1"/>
          </p:cNvSpPr>
          <p:nvPr/>
        </p:nvSpPr>
        <p:spPr bwMode="auto">
          <a:xfrm>
            <a:off x="3214688" y="4776788"/>
            <a:ext cx="152400" cy="152400"/>
          </a:xfrm>
          <a:prstGeom prst="ellipse">
            <a:avLst/>
          </a:prstGeom>
          <a:solidFill>
            <a:srgbClr val="FF5050"/>
          </a:solidFill>
          <a:ln w="9525" cmpd="sng">
            <a:solidFill>
              <a:schemeClr val="tx1"/>
            </a:solidFill>
            <a:miter lim="800000"/>
            <a:headEnd/>
            <a:tailEnd/>
          </a:ln>
        </p:spPr>
        <p:txBody>
          <a:bodyPr wrap="none" anchor="ctr"/>
          <a:lstStyle/>
          <a:p>
            <a:endParaRPr lang="zh-CN" altLang="zh-CN">
              <a:solidFill>
                <a:srgbClr val="000000"/>
              </a:solidFill>
              <a:sym typeface="Arial" panose="020B0604020202020204" pitchFamily="34" charset="0"/>
            </a:endParaRPr>
          </a:p>
        </p:txBody>
      </p:sp>
    </p:spTree>
    <p:extLst>
      <p:ext uri="{BB962C8B-B14F-4D97-AF65-F5344CB8AC3E}">
        <p14:creationId xmlns:p14="http://schemas.microsoft.com/office/powerpoint/2010/main" val="955444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randombar(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randombar(horizont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randombar(horizontal)">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wipe(left)">
                                      <p:cBhvr>
                                        <p:cTn id="32" dur="500"/>
                                        <p:tgtEl>
                                          <p:spTgt spid="54"/>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animEffect>
                                      <p:cBhvr>
                                        <p:cTn id="35" dur="500"/>
                                        <p:tgtEl>
                                          <p:spTgt spid="5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ipe(left)">
                                      <p:cBhvr>
                                        <p:cTn id="40" dur="500"/>
                                        <p:tgtEl>
                                          <p:spTgt spid="5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p:cBhvr>
                                        <p:cTn id="43" dur="5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5"/>
                                        </p:tgtEl>
                                        <p:attrNameLst>
                                          <p:attrName>style.visibility</p:attrName>
                                        </p:attrNameLst>
                                      </p:cBhvr>
                                      <p:to>
                                        <p:strVal val="visible"/>
                                      </p:to>
                                    </p:set>
                                    <p:animEffect transition="in" filter="wipe(left)">
                                      <p:cBhvr>
                                        <p:cTn id="48" dur="500"/>
                                        <p:tgtEl>
                                          <p:spTgt spid="55"/>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p:cBhvr>
                                        <p:cTn id="53" dur="500"/>
                                        <p:tgtEl>
                                          <p:spTgt spid="2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p:cBhvr>
                                        <p:cTn id="58" dur="500"/>
                                        <p:tgtEl>
                                          <p:spTgt spid="41"/>
                                        </p:tgtEl>
                                      </p:cBhvr>
                                    </p:animEffect>
                                  </p:childTnLst>
                                </p:cTn>
                              </p:par>
                            </p:childTnLst>
                          </p:cTn>
                        </p:par>
                        <p:par>
                          <p:cTn id="59" fill="hold">
                            <p:stCondLst>
                              <p:cond delay="500"/>
                            </p:stCondLst>
                            <p:childTnLst>
                              <p:par>
                                <p:cTn id="60" presetID="3" presetClass="entr" presetSubtype="10" fill="hold" grpId="0" nodeType="afterEffect">
                                  <p:stCondLst>
                                    <p:cond delay="0"/>
                                  </p:stCondLst>
                                  <p:childTnLst>
                                    <p:set>
                                      <p:cBhvr>
                                        <p:cTn id="61" dur="1" fill="hold">
                                          <p:stCondLst>
                                            <p:cond delay="0"/>
                                          </p:stCondLst>
                                        </p:cTn>
                                        <p:tgtEl>
                                          <p:spTgt spid="46"/>
                                        </p:tgtEl>
                                        <p:attrNameLst>
                                          <p:attrName>style.visibility</p:attrName>
                                        </p:attrNameLst>
                                      </p:cBhvr>
                                      <p:to>
                                        <p:strVal val="visible"/>
                                      </p:to>
                                    </p:set>
                                    <p:animEffect>
                                      <p:cBhvr>
                                        <p:cTn id="62" dur="500"/>
                                        <p:tgtEl>
                                          <p:spTgt spid="4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left)">
                                      <p:cBhvr>
                                        <p:cTn id="67" dur="50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3"/>
                                        </p:tgtEl>
                                        <p:attrNameLst>
                                          <p:attrName>style.visibility</p:attrName>
                                        </p:attrNameLst>
                                      </p:cBhvr>
                                      <p:to>
                                        <p:strVal val="visible"/>
                                      </p:to>
                                    </p:set>
                                    <p:animEffect>
                                      <p:cBhvr>
                                        <p:cTn id="72" dur="500"/>
                                        <p:tgtEl>
                                          <p:spTgt spid="63"/>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randombar(horizontal)">
                                      <p:cBhvr>
                                        <p:cTn id="77" dur="500"/>
                                        <p:tgtEl>
                                          <p:spTgt spid="23"/>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49"/>
                                        </p:tgtEl>
                                        <p:attrNameLst>
                                          <p:attrName>style.visibility</p:attrName>
                                        </p:attrNameLst>
                                      </p:cBhvr>
                                      <p:to>
                                        <p:strVal val="visible"/>
                                      </p:to>
                                    </p:set>
                                    <p:animEffect>
                                      <p:cBhvr>
                                        <p:cTn id="80" dur="500"/>
                                        <p:tgtEl>
                                          <p:spTgt spid="49"/>
                                        </p:tgtEl>
                                      </p:cBhvr>
                                    </p:animEffect>
                                  </p:childTnLst>
                                </p:cTn>
                              </p:par>
                            </p:childTnLst>
                          </p:cTn>
                        </p:par>
                      </p:childTnLst>
                    </p:cTn>
                  </p:par>
                  <p:par>
                    <p:cTn id="81" fill="hold">
                      <p:stCondLst>
                        <p:cond delay="indefinite"/>
                      </p:stCondLst>
                      <p:childTnLst>
                        <p:par>
                          <p:cTn id="82" fill="hold">
                            <p:stCondLst>
                              <p:cond delay="0"/>
                            </p:stCondLst>
                            <p:childTnLst>
                              <p:par>
                                <p:cTn id="83" presetID="14" presetClass="entr" presetSubtype="10" fill="hold" grpId="0" nodeType="clickEffect">
                                  <p:stCondLst>
                                    <p:cond delay="0"/>
                                  </p:stCondLst>
                                  <p:childTnLst>
                                    <p:set>
                                      <p:cBhvr>
                                        <p:cTn id="84" dur="1" fill="hold">
                                          <p:stCondLst>
                                            <p:cond delay="0"/>
                                          </p:stCondLst>
                                        </p:cTn>
                                        <p:tgtEl>
                                          <p:spTgt spid="60"/>
                                        </p:tgtEl>
                                        <p:attrNameLst>
                                          <p:attrName>style.visibility</p:attrName>
                                        </p:attrNameLst>
                                      </p:cBhvr>
                                      <p:to>
                                        <p:strVal val="visible"/>
                                      </p:to>
                                    </p:set>
                                    <p:animEffect transition="in" filter="randombar(horizontal)">
                                      <p:cBhvr>
                                        <p:cTn id="85" dur="500"/>
                                        <p:tgtEl>
                                          <p:spTgt spid="60"/>
                                        </p:tgtEl>
                                      </p:cBhvr>
                                    </p:animEffect>
                                  </p:childTnLst>
                                </p:cTn>
                              </p:par>
                            </p:childTnLst>
                          </p:cTn>
                        </p:par>
                      </p:childTnLst>
                    </p:cTn>
                  </p:par>
                  <p:par>
                    <p:cTn id="86" fill="hold">
                      <p:stCondLst>
                        <p:cond delay="indefinite"/>
                      </p:stCondLst>
                      <p:childTnLst>
                        <p:par>
                          <p:cTn id="87" fill="hold">
                            <p:stCondLst>
                              <p:cond delay="0"/>
                            </p:stCondLst>
                            <p:childTnLst>
                              <p:par>
                                <p:cTn id="88" presetID="16" presetClass="entr" presetSubtype="26" fill="hold" grpId="0" nodeType="clickEffect">
                                  <p:stCondLst>
                                    <p:cond delay="0"/>
                                  </p:stCondLst>
                                  <p:childTnLst>
                                    <p:set>
                                      <p:cBhvr>
                                        <p:cTn id="89" dur="1" fill="hold">
                                          <p:stCondLst>
                                            <p:cond delay="0"/>
                                          </p:stCondLst>
                                        </p:cTn>
                                        <p:tgtEl>
                                          <p:spTgt spid="58"/>
                                        </p:tgtEl>
                                        <p:attrNameLst>
                                          <p:attrName>style.visibility</p:attrName>
                                        </p:attrNameLst>
                                      </p:cBhvr>
                                      <p:to>
                                        <p:strVal val="visible"/>
                                      </p:to>
                                    </p:set>
                                    <p:animEffect>
                                      <p:cBhvr>
                                        <p:cTn id="90" dur="500"/>
                                        <p:tgtEl>
                                          <p:spTgt spid="58"/>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wipe(left)">
                                      <p:cBhvr>
                                        <p:cTn id="95" dur="500"/>
                                        <p:tgtEl>
                                          <p:spTgt spid="38"/>
                                        </p:tgtEl>
                                      </p:cBhvr>
                                    </p:animEffect>
                                  </p:childTnLst>
                                </p:cTn>
                              </p:par>
                            </p:childTnLst>
                          </p:cTn>
                        </p:par>
                        <p:par>
                          <p:cTn id="96" fill="hold">
                            <p:stCondLst>
                              <p:cond delay="500"/>
                            </p:stCondLst>
                            <p:childTnLst>
                              <p:par>
                                <p:cTn id="97" presetID="16" presetClass="entr" presetSubtype="26" fill="hold" grpId="0" nodeType="afterEffect">
                                  <p:stCondLst>
                                    <p:cond delay="0"/>
                                  </p:stCondLst>
                                  <p:childTnLst>
                                    <p:set>
                                      <p:cBhvr>
                                        <p:cTn id="98" dur="1" fill="hold">
                                          <p:stCondLst>
                                            <p:cond delay="0"/>
                                          </p:stCondLst>
                                        </p:cTn>
                                        <p:tgtEl>
                                          <p:spTgt spid="28"/>
                                        </p:tgtEl>
                                        <p:attrNameLst>
                                          <p:attrName>style.visibility</p:attrName>
                                        </p:attrNameLst>
                                      </p:cBhvr>
                                      <p:to>
                                        <p:strVal val="visible"/>
                                      </p:to>
                                    </p:set>
                                    <p:animEffect>
                                      <p:cBhvr>
                                        <p:cTn id="99" dur="500"/>
                                        <p:tgtEl>
                                          <p:spTgt spid="28"/>
                                        </p:tgtEl>
                                      </p:cBhvr>
                                    </p:animEffect>
                                  </p:childTnLst>
                                </p:cTn>
                              </p:par>
                              <p:par>
                                <p:cTn id="100" presetID="16" presetClass="entr" presetSubtype="26" fill="hold" grpId="0" nodeType="withEffect">
                                  <p:stCondLst>
                                    <p:cond delay="0"/>
                                  </p:stCondLst>
                                  <p:childTnLst>
                                    <p:set>
                                      <p:cBhvr>
                                        <p:cTn id="101" dur="1" fill="hold">
                                          <p:stCondLst>
                                            <p:cond delay="0"/>
                                          </p:stCondLst>
                                        </p:cTn>
                                        <p:tgtEl>
                                          <p:spTgt spid="59"/>
                                        </p:tgtEl>
                                        <p:attrNameLst>
                                          <p:attrName>style.visibility</p:attrName>
                                        </p:attrNameLst>
                                      </p:cBhvr>
                                      <p:to>
                                        <p:strVal val="visible"/>
                                      </p:to>
                                    </p:set>
                                    <p:animEffect>
                                      <p:cBhvr>
                                        <p:cTn id="102" dur="500"/>
                                        <p:tgtEl>
                                          <p:spTgt spid="5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52"/>
                                        </p:tgtEl>
                                        <p:attrNameLst>
                                          <p:attrName>style.visibility</p:attrName>
                                        </p:attrNameLst>
                                      </p:cBhvr>
                                      <p:to>
                                        <p:strVal val="visible"/>
                                      </p:to>
                                    </p:set>
                                    <p:animEffect transition="in" filter="wipe(left)">
                                      <p:cBhvr>
                                        <p:cTn id="107" dur="500"/>
                                        <p:tgtEl>
                                          <p:spTgt spid="52"/>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26"/>
                                        </p:tgtEl>
                                        <p:attrNameLst>
                                          <p:attrName>style.visibility</p:attrName>
                                        </p:attrNameLst>
                                      </p:cBhvr>
                                      <p:to>
                                        <p:strVal val="visible"/>
                                      </p:to>
                                    </p:set>
                                    <p:animEffect transition="in" filter="wipe(up)">
                                      <p:cBhvr>
                                        <p:cTn id="112" dur="500"/>
                                        <p:tgtEl>
                                          <p:spTgt spid="26"/>
                                        </p:tgtEl>
                                      </p:cBhvr>
                                    </p:animEffect>
                                  </p:childTnLst>
                                </p:cTn>
                              </p:par>
                              <p:par>
                                <p:cTn id="113" presetID="16" presetClass="entr" presetSubtype="26"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p:cBhvr>
                                        <p:cTn id="115" dur="500"/>
                                        <p:tgtEl>
                                          <p:spTgt spid="39"/>
                                        </p:tgtEl>
                                      </p:cBhvr>
                                    </p:animEffect>
                                  </p:childTnLst>
                                </p:cTn>
                              </p:par>
                            </p:childTnLst>
                          </p:cTn>
                        </p:par>
                      </p:childTnLst>
                    </p:cTn>
                  </p:par>
                  <p:par>
                    <p:cTn id="116" fill="hold">
                      <p:stCondLst>
                        <p:cond delay="indefinite"/>
                      </p:stCondLst>
                      <p:childTnLst>
                        <p:par>
                          <p:cTn id="117" fill="hold">
                            <p:stCondLst>
                              <p:cond delay="0"/>
                            </p:stCondLst>
                            <p:childTnLst>
                              <p:par>
                                <p:cTn id="118" presetID="14" presetClass="entr" presetSubtype="10" fill="hold" grpId="0" nodeType="clickEffect">
                                  <p:stCondLst>
                                    <p:cond delay="0"/>
                                  </p:stCondLst>
                                  <p:childTnLst>
                                    <p:set>
                                      <p:cBhvr>
                                        <p:cTn id="119" dur="1" fill="hold">
                                          <p:stCondLst>
                                            <p:cond delay="0"/>
                                          </p:stCondLst>
                                        </p:cTn>
                                        <p:tgtEl>
                                          <p:spTgt spid="17"/>
                                        </p:tgtEl>
                                        <p:attrNameLst>
                                          <p:attrName>style.visibility</p:attrName>
                                        </p:attrNameLst>
                                      </p:cBhvr>
                                      <p:to>
                                        <p:strVal val="visible"/>
                                      </p:to>
                                    </p:set>
                                    <p:animEffect transition="in" filter="randombar(horizontal)">
                                      <p:cBhvr>
                                        <p:cTn id="120" dur="500"/>
                                        <p:tgtEl>
                                          <p:spTgt spid="17"/>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45"/>
                                        </p:tgtEl>
                                        <p:attrNameLst>
                                          <p:attrName>style.visibility</p:attrName>
                                        </p:attrNameLst>
                                      </p:cBhvr>
                                      <p:to>
                                        <p:strVal val="visible"/>
                                      </p:to>
                                    </p:set>
                                    <p:animEffect>
                                      <p:cBhvr>
                                        <p:cTn id="125" dur="500"/>
                                        <p:tgtEl>
                                          <p:spTgt spid="45"/>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wipe(left)">
                                      <p:cBhvr>
                                        <p:cTn id="130" dur="500"/>
                                        <p:tgtEl>
                                          <p:spTgt spid="34"/>
                                        </p:tgtEl>
                                      </p:cBhvr>
                                    </p:animEffect>
                                  </p:childTnLst>
                                </p:cTn>
                              </p:par>
                            </p:childTnLst>
                          </p:cTn>
                        </p:par>
                      </p:childTnLst>
                    </p:cTn>
                  </p:par>
                  <p:par>
                    <p:cTn id="131" fill="hold">
                      <p:stCondLst>
                        <p:cond delay="indefinite"/>
                      </p:stCondLst>
                      <p:childTnLst>
                        <p:par>
                          <p:cTn id="132" fill="hold">
                            <p:stCondLst>
                              <p:cond delay="0"/>
                            </p:stCondLst>
                            <p:childTnLst>
                              <p:par>
                                <p:cTn id="133" presetID="8" presetClass="entr" presetSubtype="16" fill="hold" grpId="0" nodeType="clickEffect">
                                  <p:stCondLst>
                                    <p:cond delay="0"/>
                                  </p:stCondLst>
                                  <p:childTnLst>
                                    <p:set>
                                      <p:cBhvr>
                                        <p:cTn id="134" dur="1" fill="hold">
                                          <p:stCondLst>
                                            <p:cond delay="0"/>
                                          </p:stCondLst>
                                        </p:cTn>
                                        <p:tgtEl>
                                          <p:spTgt spid="65"/>
                                        </p:tgtEl>
                                        <p:attrNameLst>
                                          <p:attrName>style.visibility</p:attrName>
                                        </p:attrNameLst>
                                      </p:cBhvr>
                                      <p:to>
                                        <p:strVal val="visible"/>
                                      </p:to>
                                    </p:set>
                                    <p:animEffect>
                                      <p:cBhvr>
                                        <p:cTn id="135" dur="2000"/>
                                        <p:tgtEl>
                                          <p:spTgt spid="65"/>
                                        </p:tgtEl>
                                      </p:cBhvr>
                                    </p:animEffect>
                                  </p:childTnLst>
                                </p:cTn>
                              </p:par>
                              <p:par>
                                <p:cTn id="136" presetID="3" presetClass="entr" presetSubtype="10" fill="hold" grpId="0" nodeType="withEffect">
                                  <p:stCondLst>
                                    <p:cond delay="0"/>
                                  </p:stCondLst>
                                  <p:childTnLst>
                                    <p:set>
                                      <p:cBhvr>
                                        <p:cTn id="137" dur="1" fill="hold">
                                          <p:stCondLst>
                                            <p:cond delay="0"/>
                                          </p:stCondLst>
                                        </p:cTn>
                                        <p:tgtEl>
                                          <p:spTgt spid="36"/>
                                        </p:tgtEl>
                                        <p:attrNameLst>
                                          <p:attrName>style.visibility</p:attrName>
                                        </p:attrNameLst>
                                      </p:cBhvr>
                                      <p:to>
                                        <p:strVal val="visible"/>
                                      </p:to>
                                    </p:set>
                                    <p:animEffect>
                                      <p:cBhvr>
                                        <p:cTn id="138" dur="500"/>
                                        <p:tgtEl>
                                          <p:spTgt spid="36"/>
                                        </p:tgtEl>
                                      </p:cBhvr>
                                    </p:animEffect>
                                  </p:childTnLst>
                                </p:cTn>
                              </p:par>
                            </p:childTnLst>
                          </p:cTn>
                        </p:par>
                      </p:childTnLst>
                    </p:cTn>
                  </p:par>
                  <p:par>
                    <p:cTn id="139" fill="hold">
                      <p:stCondLst>
                        <p:cond delay="indefinite"/>
                      </p:stCondLst>
                      <p:childTnLst>
                        <p:par>
                          <p:cTn id="140" fill="hold">
                            <p:stCondLst>
                              <p:cond delay="0"/>
                            </p:stCondLst>
                            <p:childTnLst>
                              <p:par>
                                <p:cTn id="141" presetID="14" presetClass="entr" presetSubtype="10" fill="hold" grpId="0" nodeType="clickEffect">
                                  <p:stCondLst>
                                    <p:cond delay="0"/>
                                  </p:stCondLst>
                                  <p:childTnLst>
                                    <p:set>
                                      <p:cBhvr>
                                        <p:cTn id="142" dur="1" fill="hold">
                                          <p:stCondLst>
                                            <p:cond delay="0"/>
                                          </p:stCondLst>
                                        </p:cTn>
                                        <p:tgtEl>
                                          <p:spTgt spid="44"/>
                                        </p:tgtEl>
                                        <p:attrNameLst>
                                          <p:attrName>style.visibility</p:attrName>
                                        </p:attrNameLst>
                                      </p:cBhvr>
                                      <p:to>
                                        <p:strVal val="visible"/>
                                      </p:to>
                                    </p:set>
                                    <p:animEffect transition="in" filter="randombar(horizontal)">
                                      <p:cBhvr>
                                        <p:cTn id="143" dur="500"/>
                                        <p:tgtEl>
                                          <p:spTgt spid="44"/>
                                        </p:tgtEl>
                                      </p:cBhvr>
                                    </p:animEffect>
                                  </p:childTnLst>
                                </p:cTn>
                              </p:par>
                            </p:childTnLst>
                          </p:cTn>
                        </p:par>
                      </p:childTnLst>
                    </p:cTn>
                  </p:par>
                  <p:par>
                    <p:cTn id="144" fill="hold">
                      <p:stCondLst>
                        <p:cond delay="indefinite"/>
                      </p:stCondLst>
                      <p:childTnLst>
                        <p:par>
                          <p:cTn id="145" fill="hold">
                            <p:stCondLst>
                              <p:cond delay="0"/>
                            </p:stCondLst>
                            <p:childTnLst>
                              <p:par>
                                <p:cTn id="146" presetID="14" presetClass="entr" presetSubtype="10" fill="hold" grpId="0" nodeType="clickEffect">
                                  <p:stCondLst>
                                    <p:cond delay="0"/>
                                  </p:stCondLst>
                                  <p:childTnLst>
                                    <p:set>
                                      <p:cBhvr>
                                        <p:cTn id="147" dur="1" fill="hold">
                                          <p:stCondLst>
                                            <p:cond delay="0"/>
                                          </p:stCondLst>
                                        </p:cTn>
                                        <p:tgtEl>
                                          <p:spTgt spid="61"/>
                                        </p:tgtEl>
                                        <p:attrNameLst>
                                          <p:attrName>style.visibility</p:attrName>
                                        </p:attrNameLst>
                                      </p:cBhvr>
                                      <p:to>
                                        <p:strVal val="visible"/>
                                      </p:to>
                                    </p:set>
                                    <p:animEffect transition="in" filter="randombar(horizontal)">
                                      <p:cBhvr>
                                        <p:cTn id="148" dur="500"/>
                                        <p:tgtEl>
                                          <p:spTgt spid="61"/>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37"/>
                                        </p:tgtEl>
                                        <p:attrNameLst>
                                          <p:attrName>style.visibility</p:attrName>
                                        </p:attrNameLst>
                                      </p:cBhvr>
                                      <p:to>
                                        <p:strVal val="visible"/>
                                      </p:to>
                                    </p:set>
                                    <p:animEffect transition="in" filter="wipe(left)">
                                      <p:cBhvr>
                                        <p:cTn id="153" dur="500"/>
                                        <p:tgtEl>
                                          <p:spTgt spid="37"/>
                                        </p:tgtEl>
                                      </p:cBhvr>
                                    </p:animEffect>
                                  </p:childTnLst>
                                </p:cTn>
                              </p:par>
                              <p:par>
                                <p:cTn id="154" presetID="16" presetClass="entr" presetSubtype="26" fill="hold" grpId="0" nodeType="withEffect">
                                  <p:stCondLst>
                                    <p:cond delay="0"/>
                                  </p:stCondLst>
                                  <p:childTnLst>
                                    <p:set>
                                      <p:cBhvr>
                                        <p:cTn id="155" dur="1" fill="hold">
                                          <p:stCondLst>
                                            <p:cond delay="0"/>
                                          </p:stCondLst>
                                        </p:cTn>
                                        <p:tgtEl>
                                          <p:spTgt spid="42"/>
                                        </p:tgtEl>
                                        <p:attrNameLst>
                                          <p:attrName>style.visibility</p:attrName>
                                        </p:attrNameLst>
                                      </p:cBhvr>
                                      <p:to>
                                        <p:strVal val="visible"/>
                                      </p:to>
                                    </p:set>
                                    <p:animEffect>
                                      <p:cBhvr>
                                        <p:cTn id="156" dur="500"/>
                                        <p:tgtEl>
                                          <p:spTgt spid="42"/>
                                        </p:tgtEl>
                                      </p:cBhvr>
                                    </p:animEffect>
                                  </p:childTnLst>
                                </p:cTn>
                              </p:par>
                            </p:childTnLst>
                          </p:cTn>
                        </p:par>
                        <p:par>
                          <p:cTn id="157" fill="hold">
                            <p:stCondLst>
                              <p:cond delay="500"/>
                            </p:stCondLst>
                            <p:childTnLst>
                              <p:par>
                                <p:cTn id="158" presetID="16" presetClass="entr" presetSubtype="26" fill="hold" grpId="0" nodeType="afterEffect">
                                  <p:stCondLst>
                                    <p:cond delay="0"/>
                                  </p:stCondLst>
                                  <p:childTnLst>
                                    <p:set>
                                      <p:cBhvr>
                                        <p:cTn id="159" dur="1" fill="hold">
                                          <p:stCondLst>
                                            <p:cond delay="0"/>
                                          </p:stCondLst>
                                        </p:cTn>
                                        <p:tgtEl>
                                          <p:spTgt spid="35"/>
                                        </p:tgtEl>
                                        <p:attrNameLst>
                                          <p:attrName>style.visibility</p:attrName>
                                        </p:attrNameLst>
                                      </p:cBhvr>
                                      <p:to>
                                        <p:strVal val="visible"/>
                                      </p:to>
                                    </p:set>
                                    <p:animEffect>
                                      <p:cBhvr>
                                        <p:cTn id="160" dur="500"/>
                                        <p:tgtEl>
                                          <p:spTgt spid="35"/>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1" fill="hold" grpId="0" nodeType="clickEffect">
                                  <p:stCondLst>
                                    <p:cond delay="0"/>
                                  </p:stCondLst>
                                  <p:childTnLst>
                                    <p:set>
                                      <p:cBhvr>
                                        <p:cTn id="164" dur="1" fill="hold">
                                          <p:stCondLst>
                                            <p:cond delay="0"/>
                                          </p:stCondLst>
                                        </p:cTn>
                                        <p:tgtEl>
                                          <p:spTgt spid="24"/>
                                        </p:tgtEl>
                                        <p:attrNameLst>
                                          <p:attrName>style.visibility</p:attrName>
                                        </p:attrNameLst>
                                      </p:cBhvr>
                                      <p:to>
                                        <p:strVal val="visible"/>
                                      </p:to>
                                    </p:set>
                                    <p:animEffect transition="in" filter="wipe(up)">
                                      <p:cBhvr>
                                        <p:cTn id="165" dur="500"/>
                                        <p:tgtEl>
                                          <p:spTgt spid="24"/>
                                        </p:tgtEl>
                                      </p:cBhvr>
                                    </p:animEffect>
                                  </p:childTnLst>
                                </p:cTn>
                              </p:par>
                            </p:childTnLst>
                          </p:cTn>
                        </p:par>
                      </p:childTnLst>
                    </p:cTn>
                  </p:par>
                  <p:par>
                    <p:cTn id="166" fill="hold">
                      <p:stCondLst>
                        <p:cond delay="indefinite"/>
                      </p:stCondLst>
                      <p:childTnLst>
                        <p:par>
                          <p:cTn id="167" fill="hold">
                            <p:stCondLst>
                              <p:cond delay="0"/>
                            </p:stCondLst>
                            <p:childTnLst>
                              <p:par>
                                <p:cTn id="168" presetID="14" presetClass="entr" presetSubtype="10" fill="hold" grpId="0" nodeType="clickEffect">
                                  <p:stCondLst>
                                    <p:cond delay="0"/>
                                  </p:stCondLst>
                                  <p:childTnLst>
                                    <p:set>
                                      <p:cBhvr>
                                        <p:cTn id="169" dur="1" fill="hold">
                                          <p:stCondLst>
                                            <p:cond delay="0"/>
                                          </p:stCondLst>
                                        </p:cTn>
                                        <p:tgtEl>
                                          <p:spTgt spid="11"/>
                                        </p:tgtEl>
                                        <p:attrNameLst>
                                          <p:attrName>style.visibility</p:attrName>
                                        </p:attrNameLst>
                                      </p:cBhvr>
                                      <p:to>
                                        <p:strVal val="visible"/>
                                      </p:to>
                                    </p:set>
                                    <p:animEffect transition="in" filter="randombar(horizontal)">
                                      <p:cBhvr>
                                        <p:cTn id="170" dur="500"/>
                                        <p:tgtEl>
                                          <p:spTgt spid="11"/>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48"/>
                                        </p:tgtEl>
                                        <p:attrNameLst>
                                          <p:attrName>style.visibility</p:attrName>
                                        </p:attrNameLst>
                                      </p:cBhvr>
                                      <p:to>
                                        <p:strVal val="visible"/>
                                      </p:to>
                                    </p:set>
                                    <p:animEffect transition="in" filter="wipe(left)">
                                      <p:cBhvr>
                                        <p:cTn id="175" dur="500"/>
                                        <p:tgtEl>
                                          <p:spTgt spid="48"/>
                                        </p:tgtEl>
                                      </p:cBhvr>
                                    </p:animEffect>
                                  </p:childTnLst>
                                </p:cTn>
                              </p:par>
                            </p:childTnLst>
                          </p:cTn>
                        </p:par>
                        <p:par>
                          <p:cTn id="176" fill="hold">
                            <p:stCondLst>
                              <p:cond delay="500"/>
                            </p:stCondLst>
                            <p:childTnLst>
                              <p:par>
                                <p:cTn id="177" presetID="16" presetClass="entr" presetSubtype="26" fill="hold" grpId="0" nodeType="afterEffect">
                                  <p:stCondLst>
                                    <p:cond delay="0"/>
                                  </p:stCondLst>
                                  <p:childTnLst>
                                    <p:set>
                                      <p:cBhvr>
                                        <p:cTn id="178" dur="1" fill="hold">
                                          <p:stCondLst>
                                            <p:cond delay="0"/>
                                          </p:stCondLst>
                                        </p:cTn>
                                        <p:tgtEl>
                                          <p:spTgt spid="47"/>
                                        </p:tgtEl>
                                        <p:attrNameLst>
                                          <p:attrName>style.visibility</p:attrName>
                                        </p:attrNameLst>
                                      </p:cBhvr>
                                      <p:to>
                                        <p:strVal val="visible"/>
                                      </p:to>
                                    </p:set>
                                    <p:animEffect>
                                      <p:cBhvr>
                                        <p:cTn id="179" dur="500"/>
                                        <p:tgtEl>
                                          <p:spTgt spid="47"/>
                                        </p:tgtEl>
                                      </p:cBhvr>
                                    </p:animEffect>
                                  </p:childTnLst>
                                </p:cTn>
                              </p:par>
                            </p:childTnLst>
                          </p:cTn>
                        </p:par>
                      </p:childTnLst>
                    </p:cTn>
                  </p:par>
                  <p:par>
                    <p:cTn id="180" fill="hold">
                      <p:stCondLst>
                        <p:cond delay="indefinite"/>
                      </p:stCondLst>
                      <p:childTnLst>
                        <p:par>
                          <p:cTn id="181" fill="hold">
                            <p:stCondLst>
                              <p:cond delay="0"/>
                            </p:stCondLst>
                            <p:childTnLst>
                              <p:par>
                                <p:cTn id="182" presetID="14" presetClass="entr" presetSubtype="10" fill="hold" grpId="0" nodeType="clickEffect">
                                  <p:stCondLst>
                                    <p:cond delay="0"/>
                                  </p:stCondLst>
                                  <p:childTnLst>
                                    <p:set>
                                      <p:cBhvr>
                                        <p:cTn id="183" dur="1" fill="hold">
                                          <p:stCondLst>
                                            <p:cond delay="0"/>
                                          </p:stCondLst>
                                        </p:cTn>
                                        <p:tgtEl>
                                          <p:spTgt spid="15"/>
                                        </p:tgtEl>
                                        <p:attrNameLst>
                                          <p:attrName>style.visibility</p:attrName>
                                        </p:attrNameLst>
                                      </p:cBhvr>
                                      <p:to>
                                        <p:strVal val="visible"/>
                                      </p:to>
                                    </p:set>
                                    <p:animEffect transition="in" filter="randombar(horizontal)">
                                      <p:cBhvr>
                                        <p:cTn id="184" dur="500"/>
                                        <p:tgtEl>
                                          <p:spTgt spid="15"/>
                                        </p:tgtEl>
                                      </p:cBhvr>
                                    </p:animEffect>
                                  </p:childTnLst>
                                </p:cTn>
                              </p:par>
                            </p:childTnLst>
                          </p:cTn>
                        </p:par>
                      </p:childTnLst>
                    </p:cTn>
                  </p:par>
                  <p:par>
                    <p:cTn id="185" fill="hold">
                      <p:stCondLst>
                        <p:cond delay="indefinite"/>
                      </p:stCondLst>
                      <p:childTnLst>
                        <p:par>
                          <p:cTn id="186" fill="hold">
                            <p:stCondLst>
                              <p:cond delay="0"/>
                            </p:stCondLst>
                            <p:childTnLst>
                              <p:par>
                                <p:cTn id="187" presetID="8" presetClass="entr" presetSubtype="16" fill="hold" grpId="0" nodeType="clickEffect">
                                  <p:stCondLst>
                                    <p:cond delay="0"/>
                                  </p:stCondLst>
                                  <p:childTnLst>
                                    <p:set>
                                      <p:cBhvr>
                                        <p:cTn id="188" dur="1" fill="hold">
                                          <p:stCondLst>
                                            <p:cond delay="0"/>
                                          </p:stCondLst>
                                        </p:cTn>
                                        <p:tgtEl>
                                          <p:spTgt spid="32"/>
                                        </p:tgtEl>
                                        <p:attrNameLst>
                                          <p:attrName>style.visibility</p:attrName>
                                        </p:attrNameLst>
                                      </p:cBhvr>
                                      <p:to>
                                        <p:strVal val="visible"/>
                                      </p:to>
                                    </p:set>
                                    <p:animEffect>
                                      <p:cBhvr>
                                        <p:cTn id="189" dur="2000"/>
                                        <p:tgtEl>
                                          <p:spTgt spid="32"/>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grpId="0" nodeType="clickEffect">
                                  <p:stCondLst>
                                    <p:cond delay="0"/>
                                  </p:stCondLst>
                                  <p:childTnLst>
                                    <p:set>
                                      <p:cBhvr>
                                        <p:cTn id="193" dur="1" fill="hold">
                                          <p:stCondLst>
                                            <p:cond delay="0"/>
                                          </p:stCondLst>
                                        </p:cTn>
                                        <p:tgtEl>
                                          <p:spTgt spid="31"/>
                                        </p:tgtEl>
                                        <p:attrNameLst>
                                          <p:attrName>style.visibility</p:attrName>
                                        </p:attrNameLst>
                                      </p:cBhvr>
                                      <p:to>
                                        <p:strVal val="visible"/>
                                      </p:to>
                                    </p:set>
                                    <p:animEffect transition="in" filter="wipe(left)">
                                      <p:cBhvr>
                                        <p:cTn id="194" dur="500"/>
                                        <p:tgtEl>
                                          <p:spTgt spid="31"/>
                                        </p:tgtEl>
                                      </p:cBhvr>
                                    </p:animEffect>
                                  </p:childTnLst>
                                </p:cTn>
                              </p:par>
                            </p:childTnLst>
                          </p:cTn>
                        </p:par>
                      </p:childTnLst>
                    </p:cTn>
                  </p:par>
                  <p:par>
                    <p:cTn id="195" fill="hold">
                      <p:stCondLst>
                        <p:cond delay="indefinite"/>
                      </p:stCondLst>
                      <p:childTnLst>
                        <p:par>
                          <p:cTn id="196" fill="hold">
                            <p:stCondLst>
                              <p:cond delay="0"/>
                            </p:stCondLst>
                            <p:childTnLst>
                              <p:par>
                                <p:cTn id="197" presetID="14" presetClass="entr" presetSubtype="10" fill="hold" grpId="0" nodeType="clickEffect">
                                  <p:stCondLst>
                                    <p:cond delay="0"/>
                                  </p:stCondLst>
                                  <p:childTnLst>
                                    <p:set>
                                      <p:cBhvr>
                                        <p:cTn id="198" dur="1" fill="hold">
                                          <p:stCondLst>
                                            <p:cond delay="0"/>
                                          </p:stCondLst>
                                        </p:cTn>
                                        <p:tgtEl>
                                          <p:spTgt spid="43"/>
                                        </p:tgtEl>
                                        <p:attrNameLst>
                                          <p:attrName>style.visibility</p:attrName>
                                        </p:attrNameLst>
                                      </p:cBhvr>
                                      <p:to>
                                        <p:strVal val="visible"/>
                                      </p:to>
                                    </p:set>
                                    <p:animEffect transition="in" filter="randombar(horizontal)">
                                      <p:cBhvr>
                                        <p:cTn id="199" dur="500"/>
                                        <p:tgtEl>
                                          <p:spTgt spid="43"/>
                                        </p:tgtEl>
                                      </p:cBhvr>
                                    </p:animEffect>
                                  </p:childTnLst>
                                </p:cTn>
                              </p:par>
                              <p:par>
                                <p:cTn id="200" presetID="8" presetClass="entr" presetSubtype="16" fill="hold" grpId="0" nodeType="withEffect">
                                  <p:stCondLst>
                                    <p:cond delay="0"/>
                                  </p:stCondLst>
                                  <p:childTnLst>
                                    <p:set>
                                      <p:cBhvr>
                                        <p:cTn id="201" dur="1" fill="hold">
                                          <p:stCondLst>
                                            <p:cond delay="0"/>
                                          </p:stCondLst>
                                        </p:cTn>
                                        <p:tgtEl>
                                          <p:spTgt spid="33"/>
                                        </p:tgtEl>
                                        <p:attrNameLst>
                                          <p:attrName>style.visibility</p:attrName>
                                        </p:attrNameLst>
                                      </p:cBhvr>
                                      <p:to>
                                        <p:strVal val="visible"/>
                                      </p:to>
                                    </p:set>
                                    <p:animEffect>
                                      <p:cBhvr>
                                        <p:cTn id="202" dur="2000"/>
                                        <p:tgtEl>
                                          <p:spTgt spid="33"/>
                                        </p:tgtEl>
                                      </p:cBhvr>
                                    </p:animEffect>
                                  </p:childTnLst>
                                </p:cTn>
                              </p:par>
                              <p:par>
                                <p:cTn id="203" presetID="8" presetClass="entr" presetSubtype="16" fill="hold" grpId="0" nodeType="withEffect">
                                  <p:stCondLst>
                                    <p:cond delay="0"/>
                                  </p:stCondLst>
                                  <p:childTnLst>
                                    <p:set>
                                      <p:cBhvr>
                                        <p:cTn id="204" dur="1" fill="hold">
                                          <p:stCondLst>
                                            <p:cond delay="0"/>
                                          </p:stCondLst>
                                        </p:cTn>
                                        <p:tgtEl>
                                          <p:spTgt spid="64"/>
                                        </p:tgtEl>
                                        <p:attrNameLst>
                                          <p:attrName>style.visibility</p:attrName>
                                        </p:attrNameLst>
                                      </p:cBhvr>
                                      <p:to>
                                        <p:strVal val="visible"/>
                                      </p:to>
                                    </p:set>
                                    <p:animEffect>
                                      <p:cBhvr>
                                        <p:cTn id="205" dur="2000"/>
                                        <p:tgtEl>
                                          <p:spTgt spid="64"/>
                                        </p:tgtEl>
                                      </p:cBhvr>
                                    </p:animEffect>
                                  </p:childTnLst>
                                </p:cTn>
                              </p:par>
                            </p:childTnLst>
                          </p:cTn>
                        </p:par>
                      </p:childTnLst>
                    </p:cTn>
                  </p:par>
                  <p:par>
                    <p:cTn id="206" fill="hold">
                      <p:stCondLst>
                        <p:cond delay="indefinite"/>
                      </p:stCondLst>
                      <p:childTnLst>
                        <p:par>
                          <p:cTn id="207" fill="hold">
                            <p:stCondLst>
                              <p:cond delay="0"/>
                            </p:stCondLst>
                            <p:childTnLst>
                              <p:par>
                                <p:cTn id="208" presetID="14" presetClass="entr" presetSubtype="10" fill="hold" grpId="0" nodeType="clickEffect">
                                  <p:stCondLst>
                                    <p:cond delay="0"/>
                                  </p:stCondLst>
                                  <p:childTnLst>
                                    <p:set>
                                      <p:cBhvr>
                                        <p:cTn id="209" dur="1" fill="hold">
                                          <p:stCondLst>
                                            <p:cond delay="0"/>
                                          </p:stCondLst>
                                        </p:cTn>
                                        <p:tgtEl>
                                          <p:spTgt spid="62"/>
                                        </p:tgtEl>
                                        <p:attrNameLst>
                                          <p:attrName>style.visibility</p:attrName>
                                        </p:attrNameLst>
                                      </p:cBhvr>
                                      <p:to>
                                        <p:strVal val="visible"/>
                                      </p:to>
                                    </p:set>
                                    <p:animEffect transition="in" filter="randombar(horizontal)">
                                      <p:cBhvr>
                                        <p:cTn id="210" dur="500"/>
                                        <p:tgtEl>
                                          <p:spTgt spid="62"/>
                                        </p:tgtEl>
                                      </p:cBhvr>
                                    </p:animEffect>
                                  </p:childTnLst>
                                </p:cTn>
                              </p:par>
                            </p:childTnLst>
                          </p:cTn>
                        </p:par>
                      </p:childTnLst>
                    </p:cTn>
                  </p:par>
                  <p:par>
                    <p:cTn id="211" fill="hold">
                      <p:stCondLst>
                        <p:cond delay="indefinite"/>
                      </p:stCondLst>
                      <p:childTnLst>
                        <p:par>
                          <p:cTn id="212" fill="hold">
                            <p:stCondLst>
                              <p:cond delay="0"/>
                            </p:stCondLst>
                            <p:childTnLst>
                              <p:par>
                                <p:cTn id="213" presetID="3" presetClass="entr" presetSubtype="10" fill="hold" grpId="0" nodeType="clickEffect">
                                  <p:stCondLst>
                                    <p:cond delay="0"/>
                                  </p:stCondLst>
                                  <p:childTnLst>
                                    <p:set>
                                      <p:cBhvr>
                                        <p:cTn id="214" dur="1" fill="hold">
                                          <p:stCondLst>
                                            <p:cond delay="0"/>
                                          </p:stCondLst>
                                        </p:cTn>
                                        <p:tgtEl>
                                          <p:spTgt spid="57"/>
                                        </p:tgtEl>
                                        <p:attrNameLst>
                                          <p:attrName>style.visibility</p:attrName>
                                        </p:attrNameLst>
                                      </p:cBhvr>
                                      <p:to>
                                        <p:strVal val="visible"/>
                                      </p:to>
                                    </p:set>
                                    <p:animEffect>
                                      <p:cBhvr>
                                        <p:cTn id="215" dur="500"/>
                                        <p:tgtEl>
                                          <p:spTgt spid="57"/>
                                        </p:tgtEl>
                                      </p:cBhvr>
                                    </p:animEffect>
                                  </p:childTnLst>
                                </p:cTn>
                              </p:par>
                            </p:childTnLst>
                          </p:cTn>
                        </p:par>
                      </p:childTnLst>
                    </p:cTn>
                  </p:par>
                  <p:par>
                    <p:cTn id="216" fill="hold">
                      <p:stCondLst>
                        <p:cond delay="indefinite"/>
                      </p:stCondLst>
                      <p:childTnLst>
                        <p:par>
                          <p:cTn id="217" fill="hold">
                            <p:stCondLst>
                              <p:cond delay="0"/>
                            </p:stCondLst>
                            <p:childTnLst>
                              <p:par>
                                <p:cTn id="218" presetID="22" presetClass="entr" presetSubtype="8" fill="hold" grpId="0" nodeType="clickEffect">
                                  <p:stCondLst>
                                    <p:cond delay="0"/>
                                  </p:stCondLst>
                                  <p:childTnLst>
                                    <p:set>
                                      <p:cBhvr>
                                        <p:cTn id="219" dur="1" fill="hold">
                                          <p:stCondLst>
                                            <p:cond delay="0"/>
                                          </p:stCondLst>
                                        </p:cTn>
                                        <p:tgtEl>
                                          <p:spTgt spid="51"/>
                                        </p:tgtEl>
                                        <p:attrNameLst>
                                          <p:attrName>style.visibility</p:attrName>
                                        </p:attrNameLst>
                                      </p:cBhvr>
                                      <p:to>
                                        <p:strVal val="visible"/>
                                      </p:to>
                                    </p:set>
                                    <p:animEffect transition="in" filter="wipe(left)">
                                      <p:cBhvr>
                                        <p:cTn id="220" dur="500"/>
                                        <p:tgtEl>
                                          <p:spTgt spid="51"/>
                                        </p:tgtEl>
                                      </p:cBhvr>
                                    </p:animEffect>
                                  </p:childTnLst>
                                </p:cTn>
                              </p:par>
                            </p:childTnLst>
                          </p:cTn>
                        </p:par>
                      </p:childTnLst>
                    </p:cTn>
                  </p:par>
                  <p:par>
                    <p:cTn id="221" fill="hold">
                      <p:stCondLst>
                        <p:cond delay="indefinite"/>
                      </p:stCondLst>
                      <p:childTnLst>
                        <p:par>
                          <p:cTn id="222" fill="hold">
                            <p:stCondLst>
                              <p:cond delay="0"/>
                            </p:stCondLst>
                            <p:childTnLst>
                              <p:par>
                                <p:cTn id="223" presetID="3" presetClass="entr" presetSubtype="10" fill="hold" grpId="0" nodeType="clickEffect">
                                  <p:stCondLst>
                                    <p:cond delay="0"/>
                                  </p:stCondLst>
                                  <p:childTnLst>
                                    <p:set>
                                      <p:cBhvr>
                                        <p:cTn id="224" dur="1" fill="hold">
                                          <p:stCondLst>
                                            <p:cond delay="0"/>
                                          </p:stCondLst>
                                        </p:cTn>
                                        <p:tgtEl>
                                          <p:spTgt spid="56"/>
                                        </p:tgtEl>
                                        <p:attrNameLst>
                                          <p:attrName>style.visibility</p:attrName>
                                        </p:attrNameLst>
                                      </p:cBhvr>
                                      <p:to>
                                        <p:strVal val="visible"/>
                                      </p:to>
                                    </p:set>
                                    <p:animEffect>
                                      <p:cBhvr>
                                        <p:cTn id="225" dur="500"/>
                                        <p:tgtEl>
                                          <p:spTgt spid="56"/>
                                        </p:tgtEl>
                                      </p:cBhvr>
                                    </p:animEffect>
                                  </p:childTnLst>
                                </p:cTn>
                              </p:par>
                            </p:childTnLst>
                          </p:cTn>
                        </p:par>
                      </p:childTnLst>
                    </p:cTn>
                  </p:par>
                  <p:par>
                    <p:cTn id="226" fill="hold">
                      <p:stCondLst>
                        <p:cond delay="indefinite"/>
                      </p:stCondLst>
                      <p:childTnLst>
                        <p:par>
                          <p:cTn id="227" fill="hold">
                            <p:stCondLst>
                              <p:cond delay="0"/>
                            </p:stCondLst>
                            <p:childTnLst>
                              <p:par>
                                <p:cTn id="228" presetID="22" presetClass="entr" presetSubtype="1" fill="hold" grpId="0" nodeType="clickEffect">
                                  <p:stCondLst>
                                    <p:cond delay="0"/>
                                  </p:stCondLst>
                                  <p:childTnLst>
                                    <p:set>
                                      <p:cBhvr>
                                        <p:cTn id="229" dur="1" fill="hold">
                                          <p:stCondLst>
                                            <p:cond delay="0"/>
                                          </p:stCondLst>
                                        </p:cTn>
                                        <p:tgtEl>
                                          <p:spTgt spid="25"/>
                                        </p:tgtEl>
                                        <p:attrNameLst>
                                          <p:attrName>style.visibility</p:attrName>
                                        </p:attrNameLst>
                                      </p:cBhvr>
                                      <p:to>
                                        <p:strVal val="visible"/>
                                      </p:to>
                                    </p:set>
                                    <p:animEffect transition="in" filter="wipe(up)">
                                      <p:cBhvr>
                                        <p:cTn id="230" dur="500"/>
                                        <p:tgtEl>
                                          <p:spTgt spid="25"/>
                                        </p:tgtEl>
                                      </p:cBhvr>
                                    </p:animEffect>
                                  </p:childTnLst>
                                </p:cTn>
                              </p:par>
                            </p:childTnLst>
                          </p:cTn>
                        </p:par>
                      </p:childTnLst>
                    </p:cTn>
                  </p:par>
                  <p:par>
                    <p:cTn id="231" fill="hold">
                      <p:stCondLst>
                        <p:cond delay="indefinite"/>
                      </p:stCondLst>
                      <p:childTnLst>
                        <p:par>
                          <p:cTn id="232" fill="hold">
                            <p:stCondLst>
                              <p:cond delay="0"/>
                            </p:stCondLst>
                            <p:childTnLst>
                              <p:par>
                                <p:cTn id="233" presetID="14" presetClass="entr" presetSubtype="10" fill="hold" grpId="0" nodeType="clickEffect">
                                  <p:stCondLst>
                                    <p:cond delay="0"/>
                                  </p:stCondLst>
                                  <p:childTnLst>
                                    <p:set>
                                      <p:cBhvr>
                                        <p:cTn id="234" dur="1" fill="hold">
                                          <p:stCondLst>
                                            <p:cond delay="0"/>
                                          </p:stCondLst>
                                        </p:cTn>
                                        <p:tgtEl>
                                          <p:spTgt spid="16"/>
                                        </p:tgtEl>
                                        <p:attrNameLst>
                                          <p:attrName>style.visibility</p:attrName>
                                        </p:attrNameLst>
                                      </p:cBhvr>
                                      <p:to>
                                        <p:strVal val="visible"/>
                                      </p:to>
                                    </p:set>
                                    <p:animEffect transition="in" filter="randombar(horizontal)">
                                      <p:cBhvr>
                                        <p:cTn id="2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11" grpId="0"/>
      <p:bldP spid="15" grpId="0"/>
      <p:bldP spid="16" grpId="0"/>
      <p:bldP spid="17" grpId="0"/>
      <p:bldP spid="18" grpId="0" animBg="1"/>
      <p:bldP spid="19" grpId="0" animBg="1"/>
      <p:bldP spid="20" grpId="0"/>
      <p:bldP spid="21" grpId="0"/>
      <p:bldP spid="22" grpId="0"/>
      <p:bldP spid="23" grpId="0"/>
      <p:bldP spid="24" grpId="0" animBg="1"/>
      <p:bldP spid="25" grpId="0" animBg="1"/>
      <p:bldP spid="26" grpId="0" animBg="1"/>
      <p:bldP spid="27" grpId="0" bldLvl="0" autoUpdateAnimBg="0"/>
      <p:bldP spid="28" grpId="0" bldLvl="0" autoUpdateAnimBg="0"/>
      <p:bldP spid="29" grpId="0" bldLvl="0" autoUpdateAnimBg="0"/>
      <p:bldP spid="30" grpId="0" animBg="1"/>
      <p:bldP spid="31" grpId="0" animBg="1"/>
      <p:bldP spid="32" grpId="0" bldLvl="0" autoUpdateAnimBg="0"/>
      <p:bldP spid="33" grpId="0" bldLvl="0" autoUpdateAnimBg="0"/>
      <p:bldP spid="34" grpId="0" animBg="1"/>
      <p:bldP spid="35" grpId="0" bldLvl="0" autoUpdateAnimBg="0"/>
      <p:bldP spid="36" grpId="0" bldLvl="0" autoUpdateAnimBg="0"/>
      <p:bldP spid="37" grpId="0" animBg="1"/>
      <p:bldP spid="38" grpId="0" animBg="1"/>
      <p:bldP spid="39" grpId="0" bldLvl="0" autoUpdateAnimBg="0"/>
      <p:bldP spid="41" grpId="0" bldLvl="0" autoUpdateAnimBg="0"/>
      <p:bldP spid="42" grpId="0" bldLvl="0" autoUpdateAnimBg="0"/>
      <p:bldP spid="43" grpId="0"/>
      <p:bldP spid="44" grpId="0"/>
      <p:bldP spid="45" grpId="0" bldLvl="0" autoUpdateAnimBg="0"/>
      <p:bldP spid="46" grpId="0" bldLvl="0" autoUpdateAnimBg="0"/>
      <p:bldP spid="47" grpId="0" bldLvl="0" autoUpdateAnimBg="0"/>
      <p:bldP spid="48" grpId="0" animBg="1"/>
      <p:bldP spid="49" grpId="0" bldLvl="0" autoUpdateAnimBg="0"/>
      <p:bldP spid="50" grpId="0" bldLvl="0" autoUpdateAnimBg="0"/>
      <p:bldP spid="51" grpId="0" animBg="1"/>
      <p:bldP spid="52" grpId="0" animBg="1"/>
      <p:bldP spid="53" grpId="0" animBg="1"/>
      <p:bldP spid="54" grpId="0" animBg="1"/>
      <p:bldP spid="55" grpId="0" animBg="1"/>
      <p:bldP spid="56" grpId="0" bldLvl="0" autoUpdateAnimBg="0"/>
      <p:bldP spid="57" grpId="0" bldLvl="0" autoUpdateAnimBg="0"/>
      <p:bldP spid="58" grpId="0" bldLvl="0" autoUpdateAnimBg="0"/>
      <p:bldP spid="59" grpId="0" bldLvl="0" autoUpdateAnimBg="0"/>
      <p:bldP spid="60" grpId="0" animBg="1"/>
      <p:bldP spid="62" grpId="0" animBg="1"/>
      <p:bldP spid="63" grpId="0" bldLvl="0" animBg="1" autoUpdateAnimBg="0"/>
      <p:bldP spid="64" grpId="0" bldLvl="0" animBg="1" autoUpdateAnimBg="0"/>
      <p:bldP spid="65" grpId="0" bldLvl="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四、企业和市场的短期供给曲线</a:t>
            </a:r>
          </a:p>
        </p:txBody>
      </p:sp>
      <p:sp>
        <p:nvSpPr>
          <p:cNvPr id="14" name="矩形 13">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42" name="直接箭头连接符 4"/>
          <p:cNvSpPr>
            <a:spLocks noChangeShapeType="1"/>
          </p:cNvSpPr>
          <p:nvPr/>
        </p:nvSpPr>
        <p:spPr bwMode="auto">
          <a:xfrm rot="16200000" flipV="1">
            <a:off x="-67940" y="4385511"/>
            <a:ext cx="3054350" cy="0"/>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6" name="直接箭头连接符 5"/>
          <p:cNvSpPr>
            <a:spLocks noChangeShapeType="1"/>
          </p:cNvSpPr>
          <p:nvPr/>
        </p:nvSpPr>
        <p:spPr bwMode="auto">
          <a:xfrm>
            <a:off x="1459235" y="5911098"/>
            <a:ext cx="4286250" cy="19050"/>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9" name="TextBox 6"/>
          <p:cNvSpPr>
            <a:spLocks noChangeArrowheads="1"/>
          </p:cNvSpPr>
          <p:nvPr/>
        </p:nvSpPr>
        <p:spPr bwMode="auto">
          <a:xfrm>
            <a:off x="1173485" y="5917448"/>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O</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50" name="TextBox 7"/>
          <p:cNvSpPr>
            <a:spLocks noChangeArrowheads="1"/>
          </p:cNvSpPr>
          <p:nvPr/>
        </p:nvSpPr>
        <p:spPr bwMode="auto">
          <a:xfrm>
            <a:off x="5459735" y="5917448"/>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51" name="TextBox 8"/>
          <p:cNvSpPr>
            <a:spLocks noChangeArrowheads="1"/>
          </p:cNvSpPr>
          <p:nvPr/>
        </p:nvSpPr>
        <p:spPr bwMode="auto">
          <a:xfrm>
            <a:off x="3745235" y="2929773"/>
            <a:ext cx="7858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MC</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52" name="TextBox 9"/>
          <p:cNvSpPr>
            <a:spLocks noChangeArrowheads="1"/>
          </p:cNvSpPr>
          <p:nvPr/>
        </p:nvSpPr>
        <p:spPr bwMode="auto">
          <a:xfrm>
            <a:off x="4316735" y="3144086"/>
            <a:ext cx="6429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AVC</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53" name="任意多边形 10"/>
          <p:cNvSpPr>
            <a:spLocks noChangeArrowheads="1"/>
          </p:cNvSpPr>
          <p:nvPr/>
        </p:nvSpPr>
        <p:spPr bwMode="auto">
          <a:xfrm>
            <a:off x="2102173" y="3501273"/>
            <a:ext cx="2471737" cy="1081088"/>
          </a:xfrm>
          <a:custGeom>
            <a:avLst/>
            <a:gdLst>
              <a:gd name="T0" fmla="*/ 0 w 2473569"/>
              <a:gd name="T1" fmla="*/ 199293 h 826477"/>
              <a:gd name="T2" fmla="*/ 128953 w 2473569"/>
              <a:gd name="T3" fmla="*/ 386862 h 826477"/>
              <a:gd name="T4" fmla="*/ 422030 w 2473569"/>
              <a:gd name="T5" fmla="*/ 679939 h 826477"/>
              <a:gd name="T6" fmla="*/ 926123 w 2473569"/>
              <a:gd name="T7" fmla="*/ 785446 h 826477"/>
              <a:gd name="T8" fmla="*/ 1828800 w 2473569"/>
              <a:gd name="T9" fmla="*/ 433754 h 826477"/>
              <a:gd name="T10" fmla="*/ 2473569 w 2473569"/>
              <a:gd name="T11" fmla="*/ 0 h 826477"/>
              <a:gd name="T12" fmla="*/ 0 60000 65536"/>
              <a:gd name="T13" fmla="*/ 0 60000 65536"/>
              <a:gd name="T14" fmla="*/ 0 60000 65536"/>
              <a:gd name="T15" fmla="*/ 0 60000 65536"/>
              <a:gd name="T16" fmla="*/ 0 60000 65536"/>
              <a:gd name="T17" fmla="*/ 0 60000 65536"/>
              <a:gd name="T18" fmla="*/ 0 w 2473569"/>
              <a:gd name="T19" fmla="*/ 0 h 826477"/>
              <a:gd name="T20" fmla="*/ 2473569 w 2473569"/>
              <a:gd name="T21" fmla="*/ 826477 h 826477"/>
            </a:gdLst>
            <a:ahLst/>
            <a:cxnLst>
              <a:cxn ang="T12">
                <a:pos x="T0" y="T1"/>
              </a:cxn>
              <a:cxn ang="T13">
                <a:pos x="T2" y="T3"/>
              </a:cxn>
              <a:cxn ang="T14">
                <a:pos x="T4" y="T5"/>
              </a:cxn>
              <a:cxn ang="T15">
                <a:pos x="T6" y="T7"/>
              </a:cxn>
              <a:cxn ang="T16">
                <a:pos x="T8" y="T9"/>
              </a:cxn>
              <a:cxn ang="T17">
                <a:pos x="T10" y="T11"/>
              </a:cxn>
            </a:cxnLst>
            <a:rect l="T18" t="T19" r="T20" b="T21"/>
            <a:pathLst>
              <a:path w="2473569" h="826477">
                <a:moveTo>
                  <a:pt x="0" y="199293"/>
                </a:moveTo>
                <a:cubicBezTo>
                  <a:pt x="29307" y="253023"/>
                  <a:pt x="58615" y="306754"/>
                  <a:pt x="128953" y="386862"/>
                </a:cubicBezTo>
                <a:cubicBezTo>
                  <a:pt x="199291" y="466970"/>
                  <a:pt x="289168" y="613508"/>
                  <a:pt x="422030" y="679939"/>
                </a:cubicBezTo>
                <a:cubicBezTo>
                  <a:pt x="554892" y="746370"/>
                  <a:pt x="691661" y="826477"/>
                  <a:pt x="926123" y="785446"/>
                </a:cubicBezTo>
                <a:cubicBezTo>
                  <a:pt x="1160585" y="744415"/>
                  <a:pt x="1570892" y="564662"/>
                  <a:pt x="1828800" y="433754"/>
                </a:cubicBezTo>
                <a:cubicBezTo>
                  <a:pt x="2086708" y="302846"/>
                  <a:pt x="2280138" y="151423"/>
                  <a:pt x="2473569" y="0"/>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56" name="直接连接符 20"/>
          <p:cNvSpPr>
            <a:spLocks noChangeShapeType="1"/>
          </p:cNvSpPr>
          <p:nvPr/>
        </p:nvSpPr>
        <p:spPr bwMode="auto">
          <a:xfrm flipH="1">
            <a:off x="1459235" y="4553786"/>
            <a:ext cx="1585913" cy="19050"/>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直接连接符 22"/>
          <p:cNvSpPr>
            <a:spLocks noChangeShapeType="1"/>
          </p:cNvSpPr>
          <p:nvPr/>
        </p:nvSpPr>
        <p:spPr bwMode="auto">
          <a:xfrm>
            <a:off x="2524448" y="4390273"/>
            <a:ext cx="6350" cy="1539875"/>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直接连接符 27"/>
          <p:cNvSpPr>
            <a:spLocks noChangeShapeType="1"/>
          </p:cNvSpPr>
          <p:nvPr/>
        </p:nvSpPr>
        <p:spPr bwMode="auto">
          <a:xfrm rot="10800000">
            <a:off x="1459235" y="4858586"/>
            <a:ext cx="1071563" cy="1587"/>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直接连接符 29"/>
          <p:cNvSpPr>
            <a:spLocks noChangeShapeType="1"/>
          </p:cNvSpPr>
          <p:nvPr/>
        </p:nvSpPr>
        <p:spPr bwMode="auto">
          <a:xfrm rot="10800000">
            <a:off x="1459235" y="4429961"/>
            <a:ext cx="1071563" cy="1587"/>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TextBox 32"/>
          <p:cNvSpPr>
            <a:spLocks noChangeArrowheads="1"/>
          </p:cNvSpPr>
          <p:nvPr/>
        </p:nvSpPr>
        <p:spPr bwMode="auto">
          <a:xfrm>
            <a:off x="1102048" y="4477586"/>
            <a:ext cx="5000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900" dirty="0">
                <a:solidFill>
                  <a:srgbClr val="000000"/>
                </a:solidFill>
                <a:latin typeface="Cambria Math" panose="02040503050406030204" pitchFamily="18" charset="0"/>
                <a:sym typeface="Cambria Math" panose="02040503050406030204" pitchFamily="18" charset="0"/>
              </a:rPr>
              <a:t>B</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61" name="TextBox 33"/>
          <p:cNvSpPr>
            <a:spLocks noChangeArrowheads="1"/>
          </p:cNvSpPr>
          <p:nvPr/>
        </p:nvSpPr>
        <p:spPr bwMode="auto">
          <a:xfrm>
            <a:off x="1102048" y="4202948"/>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1000" dirty="0">
                <a:solidFill>
                  <a:srgbClr val="000000"/>
                </a:solidFill>
                <a:latin typeface="Cambria Math" panose="02040503050406030204" pitchFamily="18" charset="0"/>
                <a:sym typeface="Cambria Math" panose="02040503050406030204" pitchFamily="18" charset="0"/>
              </a:rPr>
              <a:t>1</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62" name="TextBox 34"/>
          <p:cNvSpPr>
            <a:spLocks noChangeArrowheads="1"/>
          </p:cNvSpPr>
          <p:nvPr/>
        </p:nvSpPr>
        <p:spPr bwMode="auto">
          <a:xfrm>
            <a:off x="1102048" y="4787148"/>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900" dirty="0">
                <a:solidFill>
                  <a:srgbClr val="000000"/>
                </a:solidFill>
                <a:latin typeface="Cambria Math" panose="02040503050406030204" pitchFamily="18" charset="0"/>
                <a:sym typeface="Cambria Math" panose="02040503050406030204" pitchFamily="18" charset="0"/>
              </a:rPr>
              <a:t>C</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63" name="TextBox 35"/>
          <p:cNvSpPr>
            <a:spLocks noChangeArrowheads="1"/>
          </p:cNvSpPr>
          <p:nvPr/>
        </p:nvSpPr>
        <p:spPr bwMode="auto">
          <a:xfrm>
            <a:off x="1102048" y="3572711"/>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1000" dirty="0">
                <a:solidFill>
                  <a:srgbClr val="000000"/>
                </a:solidFill>
                <a:latin typeface="Cambria Math" panose="02040503050406030204" pitchFamily="18" charset="0"/>
                <a:sym typeface="Cambria Math" panose="02040503050406030204" pitchFamily="18" charset="0"/>
              </a:rPr>
              <a:t>A</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64" name="TextBox 53"/>
          <p:cNvSpPr>
            <a:spLocks noChangeArrowheads="1"/>
          </p:cNvSpPr>
          <p:nvPr/>
        </p:nvSpPr>
        <p:spPr bwMode="auto">
          <a:xfrm>
            <a:off x="2324423" y="5841248"/>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900" dirty="0">
                <a:solidFill>
                  <a:srgbClr val="000000"/>
                </a:solidFill>
                <a:latin typeface="Cambria Math" panose="02040503050406030204" pitchFamily="18" charset="0"/>
                <a:sym typeface="Cambria Math" panose="02040503050406030204" pitchFamily="18" charset="0"/>
              </a:rPr>
              <a:t>C</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65" name="TextBox 54"/>
          <p:cNvSpPr>
            <a:spLocks noChangeArrowheads="1"/>
          </p:cNvSpPr>
          <p:nvPr/>
        </p:nvSpPr>
        <p:spPr bwMode="auto">
          <a:xfrm>
            <a:off x="2915766" y="5895224"/>
            <a:ext cx="5000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900" dirty="0">
                <a:solidFill>
                  <a:srgbClr val="000000"/>
                </a:solidFill>
                <a:latin typeface="Cambria Math" panose="02040503050406030204" pitchFamily="18" charset="0"/>
                <a:sym typeface="Cambria Math" panose="02040503050406030204" pitchFamily="18" charset="0"/>
              </a:rPr>
              <a:t>B</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66" name="TextBox 55"/>
          <p:cNvSpPr>
            <a:spLocks noChangeArrowheads="1"/>
          </p:cNvSpPr>
          <p:nvPr/>
        </p:nvSpPr>
        <p:spPr bwMode="auto">
          <a:xfrm>
            <a:off x="3538066" y="5862198"/>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900" dirty="0">
                <a:solidFill>
                  <a:srgbClr val="000000"/>
                </a:solidFill>
                <a:latin typeface="Cambria Math" panose="02040503050406030204" pitchFamily="18" charset="0"/>
                <a:sym typeface="Cambria Math" panose="02040503050406030204" pitchFamily="18" charset="0"/>
              </a:rPr>
              <a:t>A</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67" name="直接连接符 56"/>
          <p:cNvSpPr>
            <a:spLocks noChangeShapeType="1"/>
          </p:cNvSpPr>
          <p:nvPr/>
        </p:nvSpPr>
        <p:spPr bwMode="auto">
          <a:xfrm rot="16200000" flipH="1">
            <a:off x="2322835" y="5209423"/>
            <a:ext cx="1423988" cy="7938"/>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直接连接符 58"/>
          <p:cNvSpPr>
            <a:spLocks noChangeShapeType="1"/>
          </p:cNvSpPr>
          <p:nvPr/>
        </p:nvSpPr>
        <p:spPr bwMode="auto">
          <a:xfrm rot="16200000" flipH="1">
            <a:off x="2644304" y="4887955"/>
            <a:ext cx="2066925" cy="7937"/>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直接连接符 60"/>
          <p:cNvSpPr>
            <a:spLocks noChangeShapeType="1"/>
          </p:cNvSpPr>
          <p:nvPr/>
        </p:nvSpPr>
        <p:spPr bwMode="auto">
          <a:xfrm rot="10800000" flipV="1">
            <a:off x="1459235" y="3858461"/>
            <a:ext cx="2214563" cy="19050"/>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TextBox 65"/>
          <p:cNvSpPr>
            <a:spLocks noChangeArrowheads="1"/>
          </p:cNvSpPr>
          <p:nvPr/>
        </p:nvSpPr>
        <p:spPr bwMode="auto">
          <a:xfrm>
            <a:off x="3388048" y="3501273"/>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A</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71" name="TextBox 66"/>
          <p:cNvSpPr>
            <a:spLocks noChangeArrowheads="1"/>
          </p:cNvSpPr>
          <p:nvPr/>
        </p:nvSpPr>
        <p:spPr bwMode="auto">
          <a:xfrm>
            <a:off x="2816548" y="4215648"/>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B</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72" name="TextBox 67"/>
          <p:cNvSpPr>
            <a:spLocks noChangeArrowheads="1"/>
          </p:cNvSpPr>
          <p:nvPr/>
        </p:nvSpPr>
        <p:spPr bwMode="auto">
          <a:xfrm>
            <a:off x="2245048" y="4572836"/>
            <a:ext cx="428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C</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73" name="TextBox 68"/>
          <p:cNvSpPr>
            <a:spLocks noChangeArrowheads="1"/>
          </p:cNvSpPr>
          <p:nvPr/>
        </p:nvSpPr>
        <p:spPr bwMode="auto">
          <a:xfrm>
            <a:off x="1102048" y="2786898"/>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74" name="矩形标注 30"/>
          <p:cNvSpPr>
            <a:spLocks noChangeArrowheads="1"/>
          </p:cNvSpPr>
          <p:nvPr/>
        </p:nvSpPr>
        <p:spPr bwMode="auto">
          <a:xfrm>
            <a:off x="683731" y="1701203"/>
            <a:ext cx="4896340" cy="1152239"/>
          </a:xfrm>
          <a:prstGeom prst="wedgeRectCallout">
            <a:avLst>
              <a:gd name="adj1" fmla="val -44829"/>
              <a:gd name="adj2" fmla="val -21144"/>
            </a:avLst>
          </a:prstGeom>
          <a:noFill/>
          <a:ln w="28575" cap="flat" cmpd="sng">
            <a:solidFill>
              <a:schemeClr val="accent3">
                <a:lumMod val="50000"/>
              </a:schemeClr>
            </a:solidFill>
            <a:miter lim="800000"/>
            <a:headEnd/>
            <a:tailEnd/>
          </a:ln>
        </p:spPr>
        <p:txBody>
          <a:bodyPr anchor="ct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pP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MC</a:t>
            </a:r>
            <a:r>
              <a:rPr lang="zh-CN" altLang="en-US" sz="1600" dirty="0">
                <a:latin typeface="微软雅黑" panose="020B0503020204020204" pitchFamily="34" charset="-122"/>
                <a:ea typeface="微软雅黑" panose="020B0503020204020204" pitchFamily="34" charset="-122"/>
              </a:rPr>
              <a:t>曲线反映的是</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MC</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zh-CN" altLang="en-US" sz="1600" dirty="0">
                <a:latin typeface="微软雅黑" panose="020B0503020204020204" pitchFamily="34" charset="-122"/>
                <a:ea typeface="微软雅黑" panose="020B0503020204020204" pitchFamily="34" charset="-122"/>
              </a:rPr>
              <a:t>的关系，供给曲线反映的是</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zh-CN" altLang="en-US" sz="1600" dirty="0">
                <a:latin typeface="微软雅黑" panose="020B0503020204020204" pitchFamily="34" charset="-122"/>
                <a:ea typeface="微软雅黑" panose="020B0503020204020204" pitchFamily="34" charset="-122"/>
              </a:rPr>
              <a:t>的关系，根据利润最大化原则</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P=MC</a:t>
            </a:r>
            <a:r>
              <a:rPr lang="zh-CN" altLang="en-US" sz="1600" dirty="0">
                <a:latin typeface="微软雅黑" panose="020B0503020204020204" pitchFamily="34" charset="-122"/>
                <a:ea typeface="微软雅黑" panose="020B0503020204020204" pitchFamily="34" charset="-122"/>
              </a:rPr>
              <a:t>，可以得出</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MC</a:t>
            </a:r>
            <a:r>
              <a:rPr lang="zh-CN" altLang="en-US" sz="1600" dirty="0">
                <a:latin typeface="微软雅黑" panose="020B0503020204020204" pitchFamily="34" charset="-122"/>
                <a:ea typeface="微软雅黑" panose="020B0503020204020204" pitchFamily="34" charset="-122"/>
              </a:rPr>
              <a:t>曲线在</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AVC</a:t>
            </a:r>
            <a:r>
              <a:rPr lang="zh-CN" altLang="en-US" sz="1600" dirty="0">
                <a:latin typeface="微软雅黑" panose="020B0503020204020204" pitchFamily="34" charset="-122"/>
                <a:ea typeface="微软雅黑" panose="020B0503020204020204" pitchFamily="34" charset="-122"/>
              </a:rPr>
              <a:t>上的部分与供给曲线重合。</a:t>
            </a:r>
            <a:endPar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75" name="任意多边形 42"/>
          <p:cNvSpPr>
            <a:spLocks noChangeArrowheads="1"/>
          </p:cNvSpPr>
          <p:nvPr/>
        </p:nvSpPr>
        <p:spPr bwMode="auto">
          <a:xfrm rot="376169">
            <a:off x="2015045" y="2881507"/>
            <a:ext cx="2174095" cy="2455870"/>
          </a:xfrm>
          <a:custGeom>
            <a:avLst/>
            <a:gdLst>
              <a:gd name="T0" fmla="*/ 55760 w 2740344"/>
              <a:gd name="T1" fmla="*/ 2321169 h 2341684"/>
              <a:gd name="T2" fmla="*/ 114375 w 2740344"/>
              <a:gd name="T3" fmla="*/ 2286000 h 2341684"/>
              <a:gd name="T4" fmla="*/ 876375 w 2740344"/>
              <a:gd name="T5" fmla="*/ 1863969 h 2341684"/>
              <a:gd name="T6" fmla="*/ 1685267 w 2740344"/>
              <a:gd name="T7" fmla="*/ 1266092 h 2341684"/>
              <a:gd name="T8" fmla="*/ 2564498 w 2740344"/>
              <a:gd name="T9" fmla="*/ 316523 h 2341684"/>
              <a:gd name="T10" fmla="*/ 2740344 w 2740344"/>
              <a:gd name="T11" fmla="*/ 0 h 2341684"/>
              <a:gd name="T12" fmla="*/ 0 60000 65536"/>
              <a:gd name="T13" fmla="*/ 0 60000 65536"/>
              <a:gd name="T14" fmla="*/ 0 60000 65536"/>
              <a:gd name="T15" fmla="*/ 0 60000 65536"/>
              <a:gd name="T16" fmla="*/ 0 60000 65536"/>
              <a:gd name="T17" fmla="*/ 0 60000 65536"/>
              <a:gd name="T18" fmla="*/ 0 w 2740344"/>
              <a:gd name="T19" fmla="*/ 0 h 2341684"/>
              <a:gd name="T20" fmla="*/ 2740344 w 2740344"/>
              <a:gd name="T21" fmla="*/ 2341684 h 2341684"/>
            </a:gdLst>
            <a:ahLst/>
            <a:cxnLst>
              <a:cxn ang="T12">
                <a:pos x="T0" y="T1"/>
              </a:cxn>
              <a:cxn ang="T13">
                <a:pos x="T2" y="T3"/>
              </a:cxn>
              <a:cxn ang="T14">
                <a:pos x="T4" y="T5"/>
              </a:cxn>
              <a:cxn ang="T15">
                <a:pos x="T6" y="T7"/>
              </a:cxn>
              <a:cxn ang="T16">
                <a:pos x="T8" y="T9"/>
              </a:cxn>
              <a:cxn ang="T17">
                <a:pos x="T10" y="T11"/>
              </a:cxn>
            </a:cxnLst>
            <a:rect l="T18" t="T19" r="T20" b="T21"/>
            <a:pathLst>
              <a:path w="2740344" h="2341684">
                <a:moveTo>
                  <a:pt x="55760" y="2321169"/>
                </a:moveTo>
                <a:cubicBezTo>
                  <a:pt x="16683" y="2341684"/>
                  <a:pt x="114375" y="2286000"/>
                  <a:pt x="114375" y="2286000"/>
                </a:cubicBezTo>
                <a:cubicBezTo>
                  <a:pt x="251144" y="2209800"/>
                  <a:pt x="0" y="2300185"/>
                  <a:pt x="876375" y="1863969"/>
                </a:cubicBezTo>
                <a:cubicBezTo>
                  <a:pt x="1138190" y="1693984"/>
                  <a:pt x="1403913" y="1524000"/>
                  <a:pt x="1685267" y="1266092"/>
                </a:cubicBezTo>
                <a:cubicBezTo>
                  <a:pt x="1966621" y="1008184"/>
                  <a:pt x="2388652" y="527538"/>
                  <a:pt x="2564498" y="316523"/>
                </a:cubicBezTo>
                <a:cubicBezTo>
                  <a:pt x="2740344" y="105508"/>
                  <a:pt x="2740344" y="52754"/>
                  <a:pt x="2740344" y="0"/>
                </a:cubicBezTo>
              </a:path>
            </a:pathLst>
          </a:custGeom>
          <a:noFill/>
          <a:ln w="31750" cap="flat" cmpd="sng">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dirty="0"/>
          </a:p>
        </p:txBody>
      </p:sp>
      <p:sp>
        <p:nvSpPr>
          <p:cNvPr id="76" name="圆角矩形标注 43"/>
          <p:cNvSpPr>
            <a:spLocks noChangeArrowheads="1"/>
          </p:cNvSpPr>
          <p:nvPr/>
        </p:nvSpPr>
        <p:spPr bwMode="auto">
          <a:xfrm>
            <a:off x="5004030" y="3156786"/>
            <a:ext cx="3271845" cy="1273175"/>
          </a:xfrm>
          <a:prstGeom prst="wedgeRoundRectCallout">
            <a:avLst>
              <a:gd name="adj1" fmla="val -90091"/>
              <a:gd name="adj2" fmla="val 5689"/>
              <a:gd name="adj3" fmla="val 16667"/>
            </a:avLst>
          </a:prstGeom>
          <a:noFill/>
          <a:ln w="28575" cap="flat" cmpd="sng">
            <a:solidFill>
              <a:schemeClr val="accent3">
                <a:lumMod val="50000"/>
              </a:schemeClr>
            </a:solidFill>
            <a:miter lim="800000"/>
            <a:headEnd/>
            <a:tailEnd/>
          </a:ln>
        </p:spPr>
        <p:txBody>
          <a:bodyPr anchor="ctr"/>
          <a:lstStyle/>
          <a:p>
            <a:pPr>
              <a:lnSpc>
                <a:spcPct val="150000"/>
              </a:lnSpc>
            </a:pPr>
            <a:r>
              <a:rPr lang="zh-CN" altLang="en-US" sz="1600" dirty="0">
                <a:latin typeface="微软雅黑" panose="020B0503020204020204" pitchFamily="34" charset="-122"/>
                <a:ea typeface="微软雅黑" panose="020B0503020204020204" pitchFamily="34" charset="-122"/>
              </a:rPr>
              <a:t>当价格高于或等于</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en-US" altLang="zh-CN" sz="11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B</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从而平均收益大于或等于平均可变成本时</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它是边际成本曲线上相应的部分</a:t>
            </a:r>
          </a:p>
        </p:txBody>
      </p:sp>
      <p:sp>
        <p:nvSpPr>
          <p:cNvPr id="77" name="云形标注 44"/>
          <p:cNvSpPr>
            <a:spLocks noChangeArrowheads="1"/>
          </p:cNvSpPr>
          <p:nvPr/>
        </p:nvSpPr>
        <p:spPr bwMode="auto">
          <a:xfrm>
            <a:off x="4788222" y="4501398"/>
            <a:ext cx="3960068" cy="1571625"/>
          </a:xfrm>
          <a:prstGeom prst="cloudCallout">
            <a:avLst>
              <a:gd name="adj1" fmla="val -115201"/>
              <a:gd name="adj2" fmla="val -36731"/>
            </a:avLst>
          </a:prstGeom>
          <a:noFill/>
          <a:ln w="28575" cap="flat" cmpd="sng">
            <a:solidFill>
              <a:schemeClr val="accent3">
                <a:lumMod val="50000"/>
              </a:schemeClr>
            </a:solidFill>
            <a:miter lim="800000"/>
            <a:headEnd/>
            <a:tailEnd/>
          </a:ln>
        </p:spPr>
        <p:txBody>
          <a:bodyPr anchor="ctr"/>
          <a:lstStyle/>
          <a:p>
            <a:pPr>
              <a:lnSpc>
                <a:spcPct val="150000"/>
              </a:lnSpc>
            </a:pPr>
            <a:r>
              <a:rPr lang="zh-CN" altLang="en-US" sz="1600" dirty="0">
                <a:latin typeface="微软雅黑" panose="020B0503020204020204" pitchFamily="34" charset="-122"/>
                <a:ea typeface="微软雅黑" panose="020B0503020204020204" pitchFamily="34" charset="-122"/>
              </a:rPr>
              <a:t>当价格低于</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en-US" altLang="zh-CN" sz="11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B</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从而平均收益小于平均可变成本时</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它是纵轴上相应的部分</a:t>
            </a:r>
          </a:p>
        </p:txBody>
      </p:sp>
      <p:sp>
        <p:nvSpPr>
          <p:cNvPr id="78" name="Text Box 35"/>
          <p:cNvSpPr txBox="1">
            <a:spLocks noChangeArrowheads="1"/>
          </p:cNvSpPr>
          <p:nvPr/>
        </p:nvSpPr>
        <p:spPr bwMode="auto">
          <a:xfrm>
            <a:off x="5745485" y="1812676"/>
            <a:ext cx="2230438" cy="919401"/>
          </a:xfrm>
          <a:prstGeom prst="flowChartAlternateProcess">
            <a:avLst/>
          </a:prstGeom>
          <a:noFill/>
          <a:ln w="28575">
            <a:solidFill>
              <a:schemeClr val="accent3">
                <a:lumMod val="50000"/>
              </a:schemeClr>
            </a:solidFill>
          </a:ln>
        </p:spPr>
        <p:txBody>
          <a:bodyPr>
            <a:spAutoFit/>
          </a:bodyPr>
          <a:lstStyle/>
          <a:p>
            <a:r>
              <a:rPr lang="zh-CN" altLang="en-US" sz="1600" dirty="0">
                <a:latin typeface="微软雅黑" panose="020B0503020204020204" pitchFamily="34" charset="-122"/>
                <a:ea typeface="微软雅黑" panose="020B0503020204020204" pitchFamily="34" charset="-122"/>
              </a:rPr>
              <a:t>      ps：厂商只会在MC大于AVC的情况下生产。</a:t>
            </a:r>
          </a:p>
        </p:txBody>
      </p:sp>
      <p:pic>
        <p:nvPicPr>
          <p:cNvPr id="80" name="图片 79">
            <a:extLst>
              <a:ext uri="{FF2B5EF4-FFF2-40B4-BE49-F238E27FC236}">
                <a16:creationId xmlns:a16="http://schemas.microsoft.com/office/drawing/2014/main" id="{910856D5-C79D-4924-8E1B-F628F801C8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81215" y="1749890"/>
            <a:ext cx="448444" cy="448444"/>
          </a:xfrm>
          <a:prstGeom prst="rect">
            <a:avLst/>
          </a:prstGeom>
          <a:effectLst>
            <a:innerShdw blurRad="114300">
              <a:prstClr val="black"/>
            </a:innerShdw>
          </a:effectLst>
        </p:spPr>
      </p:pic>
      <p:sp>
        <p:nvSpPr>
          <p:cNvPr id="36" name="矩形 35">
            <a:extLst>
              <a:ext uri="{FF2B5EF4-FFF2-40B4-BE49-F238E27FC236}">
                <a16:creationId xmlns:a16="http://schemas.microsoft.com/office/drawing/2014/main" id="{1ACD1AA9-1BC7-4385-AFED-29769655F065}"/>
              </a:ext>
            </a:extLst>
          </p:cNvPr>
          <p:cNvSpPr/>
          <p:nvPr/>
        </p:nvSpPr>
        <p:spPr>
          <a:xfrm>
            <a:off x="467544" y="1121840"/>
            <a:ext cx="3724096" cy="313932"/>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完全竞争企业的短期供给曲线</a:t>
            </a:r>
          </a:p>
        </p:txBody>
      </p:sp>
      <p:cxnSp>
        <p:nvCxnSpPr>
          <p:cNvPr id="3" name="直接连接符 2">
            <a:extLst>
              <a:ext uri="{FF2B5EF4-FFF2-40B4-BE49-F238E27FC236}">
                <a16:creationId xmlns:a16="http://schemas.microsoft.com/office/drawing/2014/main" id="{E22274E3-95FC-411E-B6DE-05092982D8D2}"/>
              </a:ext>
            </a:extLst>
          </p:cNvPr>
          <p:cNvCxnSpPr/>
          <p:nvPr/>
        </p:nvCxnSpPr>
        <p:spPr bwMode="auto">
          <a:xfrm>
            <a:off x="1459234" y="4005040"/>
            <a:ext cx="2078832" cy="0"/>
          </a:xfrm>
          <a:prstGeom prst="line">
            <a:avLst/>
          </a:prstGeom>
          <a:solidFill>
            <a:schemeClr val="accent1"/>
          </a:solidFill>
          <a:ln w="25400" cap="flat" cmpd="sng" algn="ctr">
            <a:solidFill>
              <a:srgbClr val="00B050"/>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a:extLst>
              <a:ext uri="{FF2B5EF4-FFF2-40B4-BE49-F238E27FC236}">
                <a16:creationId xmlns:a16="http://schemas.microsoft.com/office/drawing/2014/main" id="{1D1D3EFC-EC9B-45F3-B12E-B57ACFB4A76B}"/>
              </a:ext>
            </a:extLst>
          </p:cNvPr>
          <p:cNvCxnSpPr/>
          <p:nvPr/>
        </p:nvCxnSpPr>
        <p:spPr bwMode="auto">
          <a:xfrm>
            <a:off x="1459234" y="4149050"/>
            <a:ext cx="1956594" cy="0"/>
          </a:xfrm>
          <a:prstGeom prst="line">
            <a:avLst/>
          </a:prstGeom>
          <a:solidFill>
            <a:schemeClr val="accent1"/>
          </a:solidFill>
          <a:ln w="22225" cap="flat" cmpd="sng" algn="ctr">
            <a:solidFill>
              <a:srgbClr val="FFC000"/>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a:extLst>
              <a:ext uri="{FF2B5EF4-FFF2-40B4-BE49-F238E27FC236}">
                <a16:creationId xmlns:a16="http://schemas.microsoft.com/office/drawing/2014/main" id="{13580221-2A9A-4D04-9295-E7551C2C4B1B}"/>
              </a:ext>
            </a:extLst>
          </p:cNvPr>
          <p:cNvCxnSpPr/>
          <p:nvPr/>
        </p:nvCxnSpPr>
        <p:spPr bwMode="auto">
          <a:xfrm>
            <a:off x="1459234" y="4293060"/>
            <a:ext cx="1785939" cy="0"/>
          </a:xfrm>
          <a:prstGeom prst="line">
            <a:avLst/>
          </a:prstGeom>
          <a:solidFill>
            <a:schemeClr val="accent1"/>
          </a:solidFill>
          <a:ln w="22225" cap="flat" cmpd="sng" algn="ctr">
            <a:solidFill>
              <a:srgbClr val="C00000"/>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标注: 线形 7">
            <a:extLst>
              <a:ext uri="{FF2B5EF4-FFF2-40B4-BE49-F238E27FC236}">
                <a16:creationId xmlns:a16="http://schemas.microsoft.com/office/drawing/2014/main" id="{1CD634C2-A711-41AB-BFFD-70669F834D8A}"/>
              </a:ext>
            </a:extLst>
          </p:cNvPr>
          <p:cNvSpPr/>
          <p:nvPr/>
        </p:nvSpPr>
        <p:spPr bwMode="auto">
          <a:xfrm>
            <a:off x="86027" y="3419103"/>
            <a:ext cx="1022836" cy="2878966"/>
          </a:xfrm>
          <a:prstGeom prst="borderCallout1">
            <a:avLst>
              <a:gd name="adj1" fmla="val -770"/>
              <a:gd name="adj2" fmla="val 49048"/>
              <a:gd name="adj3" fmla="val -11552"/>
              <a:gd name="adj4" fmla="val 12078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可以画若干条水平线，表示不同的市场行情时价格，看企业应对，即根据</a:t>
            </a: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P=MC</a:t>
            </a: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确定供给量，把这些产量价格组合点连接起来发现就是原来的</a:t>
            </a:r>
            <a:r>
              <a:rPr kumimoji="0" lang="en-US"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MC</a:t>
            </a:r>
            <a:r>
              <a:rPr lang="zh-CN" altLang="en-US" sz="1400" dirty="0"/>
              <a:t>线。</a:t>
            </a: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8110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randombar(horizontal)">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down)">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randombar(horizontal)">
                                      <p:cBhvr>
                                        <p:cTn id="17" dur="5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wipe(left)">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randombar(horizontal)">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wipe(left)">
                                      <p:cBhvr>
                                        <p:cTn id="32" dur="500"/>
                                        <p:tgtEl>
                                          <p:spTgt spid="53"/>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randombar(horizontal)">
                                      <p:cBhvr>
                                        <p:cTn id="37" dur="500"/>
                                        <p:tgtEl>
                                          <p:spTgt spid="5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wipe(left)">
                                      <p:cBhvr>
                                        <p:cTn id="42" dur="500"/>
                                        <p:tgtEl>
                                          <p:spTgt spid="75"/>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randombar(horizontal)">
                                      <p:cBhvr>
                                        <p:cTn id="47" dur="500"/>
                                        <p:tgtEl>
                                          <p:spTgt spid="51"/>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71"/>
                                        </p:tgtEl>
                                        <p:attrNameLst>
                                          <p:attrName>style.visibility</p:attrName>
                                        </p:attrNameLst>
                                      </p:cBhvr>
                                      <p:to>
                                        <p:strVal val="visible"/>
                                      </p:to>
                                    </p:set>
                                    <p:animEffect transition="in" filter="randombar(horizontal)">
                                      <p:cBhvr>
                                        <p:cTn id="52" dur="500"/>
                                        <p:tgtEl>
                                          <p:spTgt spid="71"/>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randombar(horizontal)">
                                      <p:cBhvr>
                                        <p:cTn id="57" dur="500"/>
                                        <p:tgtEl>
                                          <p:spTgt spid="6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69"/>
                                        </p:tgtEl>
                                        <p:attrNameLst>
                                          <p:attrName>style.visibility</p:attrName>
                                        </p:attrNameLst>
                                      </p:cBhvr>
                                      <p:to>
                                        <p:strVal val="visible"/>
                                      </p:to>
                                    </p:set>
                                    <p:animEffect transition="in" filter="wipe(down)">
                                      <p:cBhvr>
                                        <p:cTn id="62" dur="500"/>
                                        <p:tgtEl>
                                          <p:spTgt spid="6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68"/>
                                        </p:tgtEl>
                                        <p:attrNameLst>
                                          <p:attrName>style.visibility</p:attrName>
                                        </p:attrNameLst>
                                      </p:cBhvr>
                                      <p:to>
                                        <p:strVal val="visible"/>
                                      </p:to>
                                    </p:set>
                                    <p:animEffect transition="in" filter="wipe(up)">
                                      <p:cBhvr>
                                        <p:cTn id="67" dur="500"/>
                                        <p:tgtEl>
                                          <p:spTgt spid="68"/>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66"/>
                                        </p:tgtEl>
                                        <p:attrNameLst>
                                          <p:attrName>style.visibility</p:attrName>
                                        </p:attrNameLst>
                                      </p:cBhvr>
                                      <p:to>
                                        <p:strVal val="visible"/>
                                      </p:to>
                                    </p:set>
                                    <p:animEffect transition="in" filter="randombar(horizontal)">
                                      <p:cBhvr>
                                        <p:cTn id="72" dur="500"/>
                                        <p:tgtEl>
                                          <p:spTgt spid="66"/>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grpId="0" nodeType="clickEffect">
                                  <p:stCondLst>
                                    <p:cond delay="0"/>
                                  </p:stCondLst>
                                  <p:childTnLst>
                                    <p:set>
                                      <p:cBhvr>
                                        <p:cTn id="76" dur="1" fill="hold">
                                          <p:stCondLst>
                                            <p:cond delay="0"/>
                                          </p:stCondLst>
                                        </p:cTn>
                                        <p:tgtEl>
                                          <p:spTgt spid="70"/>
                                        </p:tgtEl>
                                        <p:attrNameLst>
                                          <p:attrName>style.visibility</p:attrName>
                                        </p:attrNameLst>
                                      </p:cBhvr>
                                      <p:to>
                                        <p:strVal val="visible"/>
                                      </p:to>
                                    </p:set>
                                    <p:animEffect transition="in" filter="randombar(horizontal)">
                                      <p:cBhvr>
                                        <p:cTn id="77" dur="500"/>
                                        <p:tgtEl>
                                          <p:spTgt spid="70"/>
                                        </p:tgtEl>
                                      </p:cBhvr>
                                    </p:animEffect>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76"/>
                                        </p:tgtEl>
                                        <p:attrNameLst>
                                          <p:attrName>style.visibility</p:attrName>
                                        </p:attrNameLst>
                                      </p:cBhvr>
                                      <p:to>
                                        <p:strVal val="visible"/>
                                      </p:to>
                                    </p:set>
                                    <p:animEffect transition="in" filter="randombar(horizontal)">
                                      <p:cBhvr>
                                        <p:cTn id="82" dur="500"/>
                                        <p:tgtEl>
                                          <p:spTgt spid="76"/>
                                        </p:tgtEl>
                                      </p:cBhvr>
                                    </p:animEffect>
                                  </p:childTnLst>
                                </p:cTn>
                              </p:par>
                            </p:childTnLst>
                          </p:cTn>
                        </p:par>
                      </p:childTnLst>
                    </p:cTn>
                  </p:par>
                  <p:par>
                    <p:cTn id="83" fill="hold">
                      <p:stCondLst>
                        <p:cond delay="indefinite"/>
                      </p:stCondLst>
                      <p:childTnLst>
                        <p:par>
                          <p:cTn id="84" fill="hold">
                            <p:stCondLst>
                              <p:cond delay="0"/>
                            </p:stCondLst>
                            <p:childTnLst>
                              <p:par>
                                <p:cTn id="85" presetID="14" presetClass="entr" presetSubtype="1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animEffect transition="in" filter="randombar(horizontal)">
                                      <p:cBhvr>
                                        <p:cTn id="87" dur="500"/>
                                        <p:tgtEl>
                                          <p:spTgt spid="6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wipe(left)">
                                      <p:cBhvr>
                                        <p:cTn id="92" dur="500"/>
                                        <p:tgtEl>
                                          <p:spTgt spid="56"/>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67"/>
                                        </p:tgtEl>
                                        <p:attrNameLst>
                                          <p:attrName>style.visibility</p:attrName>
                                        </p:attrNameLst>
                                      </p:cBhvr>
                                      <p:to>
                                        <p:strVal val="visible"/>
                                      </p:to>
                                    </p:set>
                                    <p:animEffect transition="in" filter="wipe(up)">
                                      <p:cBhvr>
                                        <p:cTn id="97" dur="500"/>
                                        <p:tgtEl>
                                          <p:spTgt spid="67"/>
                                        </p:tgtEl>
                                      </p:cBhvr>
                                    </p:animEffect>
                                  </p:childTnLst>
                                </p:cTn>
                              </p:par>
                            </p:childTnLst>
                          </p:cTn>
                        </p:par>
                      </p:childTnLst>
                    </p:cTn>
                  </p:par>
                  <p:par>
                    <p:cTn id="98" fill="hold">
                      <p:stCondLst>
                        <p:cond delay="indefinite"/>
                      </p:stCondLst>
                      <p:childTnLst>
                        <p:par>
                          <p:cTn id="99" fill="hold">
                            <p:stCondLst>
                              <p:cond delay="0"/>
                            </p:stCondLst>
                            <p:childTnLst>
                              <p:par>
                                <p:cTn id="100" presetID="14" presetClass="entr" presetSubtype="10" fill="hold" grpId="0" nodeType="clickEffect">
                                  <p:stCondLst>
                                    <p:cond delay="0"/>
                                  </p:stCondLst>
                                  <p:childTnLst>
                                    <p:set>
                                      <p:cBhvr>
                                        <p:cTn id="101" dur="1" fill="hold">
                                          <p:stCondLst>
                                            <p:cond delay="0"/>
                                          </p:stCondLst>
                                        </p:cTn>
                                        <p:tgtEl>
                                          <p:spTgt spid="65"/>
                                        </p:tgtEl>
                                        <p:attrNameLst>
                                          <p:attrName>style.visibility</p:attrName>
                                        </p:attrNameLst>
                                      </p:cBhvr>
                                      <p:to>
                                        <p:strVal val="visible"/>
                                      </p:to>
                                    </p:set>
                                    <p:animEffect transition="in" filter="randombar(horizontal)">
                                      <p:cBhvr>
                                        <p:cTn id="102" dur="500"/>
                                        <p:tgtEl>
                                          <p:spTgt spid="65"/>
                                        </p:tgtEl>
                                      </p:cBhvr>
                                    </p:animEffect>
                                  </p:childTnLst>
                                </p:cTn>
                              </p:par>
                            </p:childTnLst>
                          </p:cTn>
                        </p:par>
                      </p:childTnLst>
                    </p:cTn>
                  </p:par>
                  <p:par>
                    <p:cTn id="103" fill="hold">
                      <p:stCondLst>
                        <p:cond delay="indefinite"/>
                      </p:stCondLst>
                      <p:childTnLst>
                        <p:par>
                          <p:cTn id="104" fill="hold">
                            <p:stCondLst>
                              <p:cond delay="0"/>
                            </p:stCondLst>
                            <p:childTnLst>
                              <p:par>
                                <p:cTn id="105" presetID="14" presetClass="entr" presetSubtype="10" fill="hold" grpId="0" nodeType="clickEffect">
                                  <p:stCondLst>
                                    <p:cond delay="0"/>
                                  </p:stCondLst>
                                  <p:childTnLst>
                                    <p:set>
                                      <p:cBhvr>
                                        <p:cTn id="106" dur="1" fill="hold">
                                          <p:stCondLst>
                                            <p:cond delay="0"/>
                                          </p:stCondLst>
                                        </p:cTn>
                                        <p:tgtEl>
                                          <p:spTgt spid="62"/>
                                        </p:tgtEl>
                                        <p:attrNameLst>
                                          <p:attrName>style.visibility</p:attrName>
                                        </p:attrNameLst>
                                      </p:cBhvr>
                                      <p:to>
                                        <p:strVal val="visible"/>
                                      </p:to>
                                    </p:set>
                                    <p:animEffect transition="in" filter="randombar(horizontal)">
                                      <p:cBhvr>
                                        <p:cTn id="107" dur="500"/>
                                        <p:tgtEl>
                                          <p:spTgt spid="62"/>
                                        </p:tgtEl>
                                      </p:cBhvr>
                                    </p:animEffect>
                                  </p:childTnLst>
                                </p:cTn>
                              </p:par>
                              <p:par>
                                <p:cTn id="108" presetID="5" presetClass="entr" presetSubtype="10" fill="hold" nodeType="withEffect">
                                  <p:stCondLst>
                                    <p:cond delay="0"/>
                                  </p:stCondLst>
                                  <p:childTnLst>
                                    <p:set>
                                      <p:cBhvr>
                                        <p:cTn id="109" dur="1" fill="hold">
                                          <p:stCondLst>
                                            <p:cond delay="0"/>
                                          </p:stCondLst>
                                        </p:cTn>
                                        <p:tgtEl>
                                          <p:spTgt spid="58"/>
                                        </p:tgtEl>
                                        <p:attrNameLst>
                                          <p:attrName>style.visibility</p:attrName>
                                        </p:attrNameLst>
                                      </p:cBhvr>
                                      <p:to>
                                        <p:strVal val="visible"/>
                                      </p:to>
                                    </p:set>
                                    <p:animEffect>
                                      <p:cBhvr>
                                        <p:cTn id="110" dur="500"/>
                                        <p:tgtEl>
                                          <p:spTgt spid="58"/>
                                        </p:tgtEl>
                                      </p:cBhvr>
                                    </p:animEffect>
                                  </p:childTnLst>
                                </p:cTn>
                              </p:par>
                              <p:par>
                                <p:cTn id="111" presetID="5" presetClass="entr" presetSubtype="10" fill="hold" nodeType="withEffect">
                                  <p:stCondLst>
                                    <p:cond delay="0"/>
                                  </p:stCondLst>
                                  <p:childTnLst>
                                    <p:set>
                                      <p:cBhvr>
                                        <p:cTn id="112" dur="1" fill="hold">
                                          <p:stCondLst>
                                            <p:cond delay="0"/>
                                          </p:stCondLst>
                                        </p:cTn>
                                        <p:tgtEl>
                                          <p:spTgt spid="57"/>
                                        </p:tgtEl>
                                        <p:attrNameLst>
                                          <p:attrName>style.visibility</p:attrName>
                                        </p:attrNameLst>
                                      </p:cBhvr>
                                      <p:to>
                                        <p:strVal val="visible"/>
                                      </p:to>
                                    </p:set>
                                    <p:animEffect>
                                      <p:cBhvr>
                                        <p:cTn id="113" dur="500"/>
                                        <p:tgtEl>
                                          <p:spTgt spid="57"/>
                                        </p:tgtEl>
                                      </p:cBhvr>
                                    </p:animEffect>
                                  </p:childTnLst>
                                </p:cTn>
                              </p:par>
                            </p:childTnLst>
                          </p:cTn>
                        </p:par>
                      </p:childTnLst>
                    </p:cTn>
                  </p:par>
                  <p:par>
                    <p:cTn id="114" fill="hold">
                      <p:stCondLst>
                        <p:cond delay="indefinite"/>
                      </p:stCondLst>
                      <p:childTnLst>
                        <p:par>
                          <p:cTn id="115" fill="hold">
                            <p:stCondLst>
                              <p:cond delay="0"/>
                            </p:stCondLst>
                            <p:childTnLst>
                              <p:par>
                                <p:cTn id="116" presetID="14" presetClass="entr" presetSubtype="10" fill="hold" grpId="0" nodeType="clickEffect">
                                  <p:stCondLst>
                                    <p:cond delay="0"/>
                                  </p:stCondLst>
                                  <p:childTnLst>
                                    <p:set>
                                      <p:cBhvr>
                                        <p:cTn id="117" dur="1" fill="hold">
                                          <p:stCondLst>
                                            <p:cond delay="0"/>
                                          </p:stCondLst>
                                        </p:cTn>
                                        <p:tgtEl>
                                          <p:spTgt spid="72"/>
                                        </p:tgtEl>
                                        <p:attrNameLst>
                                          <p:attrName>style.visibility</p:attrName>
                                        </p:attrNameLst>
                                      </p:cBhvr>
                                      <p:to>
                                        <p:strVal val="visible"/>
                                      </p:to>
                                    </p:set>
                                    <p:animEffect transition="in" filter="randombar(horizontal)">
                                      <p:cBhvr>
                                        <p:cTn id="118" dur="500"/>
                                        <p:tgtEl>
                                          <p:spTgt spid="72"/>
                                        </p:tgtEl>
                                      </p:cBhvr>
                                    </p:animEffect>
                                  </p:childTnLst>
                                </p:cTn>
                              </p:par>
                            </p:childTnLst>
                          </p:cTn>
                        </p:par>
                      </p:childTnLst>
                    </p:cTn>
                  </p:par>
                  <p:par>
                    <p:cTn id="119" fill="hold">
                      <p:stCondLst>
                        <p:cond delay="indefinite"/>
                      </p:stCondLst>
                      <p:childTnLst>
                        <p:par>
                          <p:cTn id="120" fill="hold">
                            <p:stCondLst>
                              <p:cond delay="0"/>
                            </p:stCondLst>
                            <p:childTnLst>
                              <p:par>
                                <p:cTn id="121" presetID="14" presetClass="entr" presetSubtype="10" fill="hold" grpId="0" nodeType="clickEffect">
                                  <p:stCondLst>
                                    <p:cond delay="0"/>
                                  </p:stCondLst>
                                  <p:childTnLst>
                                    <p:set>
                                      <p:cBhvr>
                                        <p:cTn id="122" dur="1" fill="hold">
                                          <p:stCondLst>
                                            <p:cond delay="0"/>
                                          </p:stCondLst>
                                        </p:cTn>
                                        <p:tgtEl>
                                          <p:spTgt spid="64"/>
                                        </p:tgtEl>
                                        <p:attrNameLst>
                                          <p:attrName>style.visibility</p:attrName>
                                        </p:attrNameLst>
                                      </p:cBhvr>
                                      <p:to>
                                        <p:strVal val="visible"/>
                                      </p:to>
                                    </p:set>
                                    <p:animEffect transition="in" filter="randombar(horizontal)">
                                      <p:cBhvr>
                                        <p:cTn id="123" dur="500"/>
                                        <p:tgtEl>
                                          <p:spTgt spid="64"/>
                                        </p:tgtEl>
                                      </p:cBhvr>
                                    </p:animEffect>
                                  </p:childTnLst>
                                </p:cTn>
                              </p:par>
                            </p:childTnLst>
                          </p:cTn>
                        </p:par>
                      </p:childTnLst>
                    </p:cTn>
                  </p:par>
                  <p:par>
                    <p:cTn id="124" fill="hold">
                      <p:stCondLst>
                        <p:cond delay="indefinite"/>
                      </p:stCondLst>
                      <p:childTnLst>
                        <p:par>
                          <p:cTn id="125" fill="hold">
                            <p:stCondLst>
                              <p:cond delay="0"/>
                            </p:stCondLst>
                            <p:childTnLst>
                              <p:par>
                                <p:cTn id="126" presetID="14" presetClass="entr" presetSubtype="10" fill="hold" grpId="0" nodeType="clickEffect">
                                  <p:stCondLst>
                                    <p:cond delay="0"/>
                                  </p:stCondLst>
                                  <p:childTnLst>
                                    <p:set>
                                      <p:cBhvr>
                                        <p:cTn id="127" dur="1" fill="hold">
                                          <p:stCondLst>
                                            <p:cond delay="0"/>
                                          </p:stCondLst>
                                        </p:cTn>
                                        <p:tgtEl>
                                          <p:spTgt spid="61"/>
                                        </p:tgtEl>
                                        <p:attrNameLst>
                                          <p:attrName>style.visibility</p:attrName>
                                        </p:attrNameLst>
                                      </p:cBhvr>
                                      <p:to>
                                        <p:strVal val="visible"/>
                                      </p:to>
                                    </p:set>
                                    <p:animEffect transition="in" filter="randombar(horizontal)">
                                      <p:cBhvr>
                                        <p:cTn id="128" dur="500"/>
                                        <p:tgtEl>
                                          <p:spTgt spid="61"/>
                                        </p:tgtEl>
                                      </p:cBhvr>
                                    </p:animEffect>
                                  </p:childTnLst>
                                </p:cTn>
                              </p:par>
                              <p:par>
                                <p:cTn id="129" presetID="5" presetClass="entr" presetSubtype="10" fill="hold" nodeType="withEffect">
                                  <p:stCondLst>
                                    <p:cond delay="0"/>
                                  </p:stCondLst>
                                  <p:childTnLst>
                                    <p:set>
                                      <p:cBhvr>
                                        <p:cTn id="130" dur="1" fill="hold">
                                          <p:stCondLst>
                                            <p:cond delay="0"/>
                                          </p:stCondLst>
                                        </p:cTn>
                                        <p:tgtEl>
                                          <p:spTgt spid="59"/>
                                        </p:tgtEl>
                                        <p:attrNameLst>
                                          <p:attrName>style.visibility</p:attrName>
                                        </p:attrNameLst>
                                      </p:cBhvr>
                                      <p:to>
                                        <p:strVal val="visible"/>
                                      </p:to>
                                    </p:set>
                                    <p:animEffect>
                                      <p:cBhvr>
                                        <p:cTn id="131" dur="500"/>
                                        <p:tgtEl>
                                          <p:spTgt spid="59"/>
                                        </p:tgtEl>
                                      </p:cBhvr>
                                    </p:animEffect>
                                  </p:childTnLst>
                                </p:cTn>
                              </p:par>
                            </p:childTnLst>
                          </p:cTn>
                        </p:par>
                      </p:childTnLst>
                    </p:cTn>
                  </p:par>
                  <p:par>
                    <p:cTn id="132" fill="hold">
                      <p:stCondLst>
                        <p:cond delay="indefinite"/>
                      </p:stCondLst>
                      <p:childTnLst>
                        <p:par>
                          <p:cTn id="133" fill="hold">
                            <p:stCondLst>
                              <p:cond delay="0"/>
                            </p:stCondLst>
                            <p:childTnLst>
                              <p:par>
                                <p:cTn id="134" presetID="14" presetClass="entr" presetSubtype="10" fill="hold" grpId="0" nodeType="clickEffect">
                                  <p:stCondLst>
                                    <p:cond delay="0"/>
                                  </p:stCondLst>
                                  <p:childTnLst>
                                    <p:set>
                                      <p:cBhvr>
                                        <p:cTn id="135" dur="1" fill="hold">
                                          <p:stCondLst>
                                            <p:cond delay="0"/>
                                          </p:stCondLst>
                                        </p:cTn>
                                        <p:tgtEl>
                                          <p:spTgt spid="77"/>
                                        </p:tgtEl>
                                        <p:attrNameLst>
                                          <p:attrName>style.visibility</p:attrName>
                                        </p:attrNameLst>
                                      </p:cBhvr>
                                      <p:to>
                                        <p:strVal val="visible"/>
                                      </p:to>
                                    </p:set>
                                    <p:animEffect transition="in" filter="randombar(horizontal)">
                                      <p:cBhvr>
                                        <p:cTn id="136" dur="500"/>
                                        <p:tgtEl>
                                          <p:spTgt spid="77"/>
                                        </p:tgtEl>
                                      </p:cBhvr>
                                    </p:animEffect>
                                  </p:childTnLst>
                                </p:cTn>
                              </p:par>
                            </p:childTnLst>
                          </p:cTn>
                        </p:par>
                      </p:childTnLst>
                    </p:cTn>
                  </p:par>
                  <p:par>
                    <p:cTn id="137" fill="hold">
                      <p:stCondLst>
                        <p:cond delay="indefinite"/>
                      </p:stCondLst>
                      <p:childTnLst>
                        <p:par>
                          <p:cTn id="138" fill="hold">
                            <p:stCondLst>
                              <p:cond delay="0"/>
                            </p:stCondLst>
                            <p:childTnLst>
                              <p:par>
                                <p:cTn id="139" presetID="14" presetClass="entr" presetSubtype="10" fill="hold" grpId="0" nodeType="clickEffect">
                                  <p:stCondLst>
                                    <p:cond delay="0"/>
                                  </p:stCondLst>
                                  <p:childTnLst>
                                    <p:set>
                                      <p:cBhvr>
                                        <p:cTn id="140" dur="1" fill="hold">
                                          <p:stCondLst>
                                            <p:cond delay="0"/>
                                          </p:stCondLst>
                                        </p:cTn>
                                        <p:tgtEl>
                                          <p:spTgt spid="74"/>
                                        </p:tgtEl>
                                        <p:attrNameLst>
                                          <p:attrName>style.visibility</p:attrName>
                                        </p:attrNameLst>
                                      </p:cBhvr>
                                      <p:to>
                                        <p:strVal val="visible"/>
                                      </p:to>
                                    </p:set>
                                    <p:animEffect transition="in" filter="randombar(horizontal)">
                                      <p:cBhvr>
                                        <p:cTn id="141" dur="500"/>
                                        <p:tgtEl>
                                          <p:spTgt spid="74"/>
                                        </p:tgtEl>
                                      </p:cBhvr>
                                    </p:animEffect>
                                  </p:childTnLst>
                                </p:cTn>
                              </p:par>
                            </p:childTnLst>
                          </p:cTn>
                        </p:par>
                      </p:childTnLst>
                    </p:cTn>
                  </p:par>
                  <p:par>
                    <p:cTn id="142" fill="hold">
                      <p:stCondLst>
                        <p:cond delay="indefinite"/>
                      </p:stCondLst>
                      <p:childTnLst>
                        <p:par>
                          <p:cTn id="143" fill="hold">
                            <p:stCondLst>
                              <p:cond delay="0"/>
                            </p:stCondLst>
                            <p:childTnLst>
                              <p:par>
                                <p:cTn id="144" presetID="14" presetClass="entr" presetSubtype="10" fill="hold" grpId="0" nodeType="clickEffect">
                                  <p:stCondLst>
                                    <p:cond delay="0"/>
                                  </p:stCondLst>
                                  <p:childTnLst>
                                    <p:set>
                                      <p:cBhvr>
                                        <p:cTn id="145" dur="1" fill="hold">
                                          <p:stCondLst>
                                            <p:cond delay="0"/>
                                          </p:stCondLst>
                                        </p:cTn>
                                        <p:tgtEl>
                                          <p:spTgt spid="78"/>
                                        </p:tgtEl>
                                        <p:attrNameLst>
                                          <p:attrName>style.visibility</p:attrName>
                                        </p:attrNameLst>
                                      </p:cBhvr>
                                      <p:to>
                                        <p:strVal val="visible"/>
                                      </p:to>
                                    </p:set>
                                    <p:animEffect transition="in" filter="randombar(horizontal)">
                                      <p:cBhvr>
                                        <p:cTn id="146" dur="500"/>
                                        <p:tgtEl>
                                          <p:spTgt spid="78"/>
                                        </p:tgtEl>
                                      </p:cBhvr>
                                    </p:animEffect>
                                  </p:childTnLst>
                                </p:cTn>
                              </p:par>
                              <p:par>
                                <p:cTn id="147" presetID="14" presetClass="entr" presetSubtype="10" fill="hold" nodeType="withEffect">
                                  <p:stCondLst>
                                    <p:cond delay="0"/>
                                  </p:stCondLst>
                                  <p:childTnLst>
                                    <p:set>
                                      <p:cBhvr>
                                        <p:cTn id="148" dur="1" fill="hold">
                                          <p:stCondLst>
                                            <p:cond delay="0"/>
                                          </p:stCondLst>
                                        </p:cTn>
                                        <p:tgtEl>
                                          <p:spTgt spid="80"/>
                                        </p:tgtEl>
                                        <p:attrNameLst>
                                          <p:attrName>style.visibility</p:attrName>
                                        </p:attrNameLst>
                                      </p:cBhvr>
                                      <p:to>
                                        <p:strVal val="visible"/>
                                      </p:to>
                                    </p:set>
                                    <p:animEffect transition="in" filter="randombar(horizontal)">
                                      <p:cBhvr>
                                        <p:cTn id="149"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6" grpId="0" animBg="1"/>
      <p:bldP spid="49" grpId="0"/>
      <p:bldP spid="50" grpId="0"/>
      <p:bldP spid="51" grpId="0"/>
      <p:bldP spid="52" grpId="0"/>
      <p:bldP spid="53" grpId="0" animBg="1"/>
      <p:bldP spid="56" grpId="0" animBg="1"/>
      <p:bldP spid="60" grpId="0"/>
      <p:bldP spid="61" grpId="0"/>
      <p:bldP spid="62" grpId="0"/>
      <p:bldP spid="63" grpId="0"/>
      <p:bldP spid="64" grpId="0"/>
      <p:bldP spid="65" grpId="0"/>
      <p:bldP spid="66" grpId="0"/>
      <p:bldP spid="67" grpId="0" animBg="1"/>
      <p:bldP spid="68" grpId="0" animBg="1"/>
      <p:bldP spid="69" grpId="0" animBg="1"/>
      <p:bldP spid="70" grpId="0"/>
      <p:bldP spid="71" grpId="0"/>
      <p:bldP spid="72" grpId="0"/>
      <p:bldP spid="73" grpId="0"/>
      <p:bldP spid="74" grpId="0" animBg="1"/>
      <p:bldP spid="75" grpId="0" animBg="1"/>
      <p:bldP spid="76" grpId="0" animBg="1"/>
      <p:bldP spid="77" grpId="0" animBg="1"/>
      <p:bldP spid="7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下箭头 43"/>
          <p:cNvSpPr/>
          <p:nvPr/>
        </p:nvSpPr>
        <p:spPr bwMode="auto">
          <a:xfrm>
            <a:off x="6471675" y="4149050"/>
            <a:ext cx="354204" cy="723899"/>
          </a:xfrm>
          <a:prstGeom prst="down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矩形 12">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四、企业和市场的短期供给曲线</a:t>
            </a:r>
          </a:p>
        </p:txBody>
      </p:sp>
      <p:sp>
        <p:nvSpPr>
          <p:cNvPr id="14" name="矩形 13">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4" name="组合 3">
            <a:extLst>
              <a:ext uri="{FF2B5EF4-FFF2-40B4-BE49-F238E27FC236}">
                <a16:creationId xmlns:a16="http://schemas.microsoft.com/office/drawing/2014/main" id="{0C2C9CED-BAA5-40D3-8690-21208E41A7D3}"/>
              </a:ext>
            </a:extLst>
          </p:cNvPr>
          <p:cNvGrpSpPr/>
          <p:nvPr/>
        </p:nvGrpSpPr>
        <p:grpSpPr>
          <a:xfrm>
            <a:off x="735639" y="2627287"/>
            <a:ext cx="2991530" cy="2895600"/>
            <a:chOff x="-3082756" y="2466154"/>
            <a:chExt cx="2991530" cy="2895600"/>
          </a:xfrm>
        </p:grpSpPr>
        <p:sp>
          <p:nvSpPr>
            <p:cNvPr id="25" name="Arc 9"/>
            <p:cNvSpPr>
              <a:spLocks/>
            </p:cNvSpPr>
            <p:nvPr/>
          </p:nvSpPr>
          <p:spPr bwMode="auto">
            <a:xfrm>
              <a:off x="-2990639" y="2466154"/>
              <a:ext cx="2899413" cy="2036763"/>
            </a:xfrm>
            <a:custGeom>
              <a:avLst/>
              <a:gdLst>
                <a:gd name="T0" fmla="*/ 2147483647 w 21600"/>
                <a:gd name="T1" fmla="*/ 2147483647 h 17352"/>
                <a:gd name="T2" fmla="*/ 2147483647 w 21600"/>
                <a:gd name="T3" fmla="*/ 2147483647 h 17352"/>
                <a:gd name="T4" fmla="*/ 0 w 21600"/>
                <a:gd name="T5" fmla="*/ 0 h 17352"/>
                <a:gd name="T6" fmla="*/ 0 60000 65536"/>
                <a:gd name="T7" fmla="*/ 0 60000 65536"/>
                <a:gd name="T8" fmla="*/ 0 60000 65536"/>
                <a:gd name="T9" fmla="*/ 0 w 21600"/>
                <a:gd name="T10" fmla="*/ 0 h 17352"/>
                <a:gd name="T11" fmla="*/ 21600 w 21600"/>
                <a:gd name="T12" fmla="*/ 17352 h 17352"/>
              </a:gdLst>
              <a:ahLst/>
              <a:cxnLst>
                <a:cxn ang="T6">
                  <a:pos x="T0" y="T1"/>
                </a:cxn>
                <a:cxn ang="T7">
                  <a:pos x="T2" y="T3"/>
                </a:cxn>
                <a:cxn ang="T8">
                  <a:pos x="T4" y="T5"/>
                </a:cxn>
              </a:cxnLst>
              <a:rect l="T9" t="T10" r="T11" b="T12"/>
              <a:pathLst>
                <a:path w="21600" h="17352" fill="none" extrusionOk="0">
                  <a:moveTo>
                    <a:pt x="21599" y="16"/>
                  </a:moveTo>
                  <a:cubicBezTo>
                    <a:pt x="21594" y="6852"/>
                    <a:pt x="18354" y="13281"/>
                    <a:pt x="12863" y="17352"/>
                  </a:cubicBezTo>
                </a:path>
                <a:path w="21600" h="17352" stroke="0" extrusionOk="0">
                  <a:moveTo>
                    <a:pt x="21599" y="16"/>
                  </a:moveTo>
                  <a:cubicBezTo>
                    <a:pt x="21594" y="6852"/>
                    <a:pt x="18354" y="13281"/>
                    <a:pt x="12863" y="17352"/>
                  </a:cubicBezTo>
                  <a:lnTo>
                    <a:pt x="0" y="0"/>
                  </a:lnTo>
                  <a:close/>
                </a:path>
              </a:pathLst>
            </a:custGeom>
            <a:noFill/>
            <a:ln w="50800" cap="rnd">
              <a:solidFill>
                <a:srgbClr val="FF7C8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p>
          </p:txBody>
        </p:sp>
        <p:sp>
          <p:nvSpPr>
            <p:cNvPr id="30" name="Line 14"/>
            <p:cNvSpPr>
              <a:spLocks noChangeShapeType="1"/>
            </p:cNvSpPr>
            <p:nvPr/>
          </p:nvSpPr>
          <p:spPr bwMode="auto">
            <a:xfrm>
              <a:off x="-3082756" y="4523554"/>
              <a:ext cx="1812133" cy="0"/>
            </a:xfrm>
            <a:prstGeom prst="line">
              <a:avLst/>
            </a:prstGeom>
            <a:noFill/>
            <a:ln w="50800">
              <a:solidFill>
                <a:srgbClr val="FF66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9" name="Line 23"/>
            <p:cNvSpPr>
              <a:spLocks noChangeShapeType="1"/>
            </p:cNvSpPr>
            <p:nvPr/>
          </p:nvSpPr>
          <p:spPr bwMode="auto">
            <a:xfrm flipV="1">
              <a:off x="-3082756" y="4523554"/>
              <a:ext cx="0" cy="838200"/>
            </a:xfrm>
            <a:prstGeom prst="line">
              <a:avLst/>
            </a:prstGeom>
            <a:noFill/>
            <a:ln w="50800" cap="rnd">
              <a:solidFill>
                <a:srgbClr val="FF7C8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grpSp>
      <p:grpSp>
        <p:nvGrpSpPr>
          <p:cNvPr id="2" name="组合 1">
            <a:extLst>
              <a:ext uri="{FF2B5EF4-FFF2-40B4-BE49-F238E27FC236}">
                <a16:creationId xmlns:a16="http://schemas.microsoft.com/office/drawing/2014/main" id="{40353A56-F438-464D-8A04-96D621E35006}"/>
              </a:ext>
            </a:extLst>
          </p:cNvPr>
          <p:cNvGrpSpPr/>
          <p:nvPr/>
        </p:nvGrpSpPr>
        <p:grpSpPr>
          <a:xfrm>
            <a:off x="251700" y="1884336"/>
            <a:ext cx="4460716" cy="4118030"/>
            <a:chOff x="251700" y="1884336"/>
            <a:chExt cx="4460716" cy="4118030"/>
          </a:xfrm>
        </p:grpSpPr>
        <p:sp>
          <p:nvSpPr>
            <p:cNvPr id="20" name="Arc 3"/>
            <p:cNvSpPr>
              <a:spLocks/>
            </p:cNvSpPr>
            <p:nvPr/>
          </p:nvSpPr>
          <p:spPr bwMode="auto">
            <a:xfrm>
              <a:off x="3262710" y="2570136"/>
              <a:ext cx="1087280" cy="150495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 name="Arc 4"/>
            <p:cNvSpPr>
              <a:spLocks/>
            </p:cNvSpPr>
            <p:nvPr/>
          </p:nvSpPr>
          <p:spPr bwMode="auto">
            <a:xfrm>
              <a:off x="2537856" y="3484536"/>
              <a:ext cx="1957104" cy="1200150"/>
            </a:xfrm>
            <a:custGeom>
              <a:avLst/>
              <a:gdLst>
                <a:gd name="T0" fmla="*/ 2147483647 w 21600"/>
                <a:gd name="T1" fmla="*/ 0 h 21600"/>
                <a:gd name="T2" fmla="*/ 0 w 21600"/>
                <a:gd name="T3" fmla="*/ 2147483647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 name="Line 5"/>
            <p:cNvSpPr>
              <a:spLocks noChangeShapeType="1"/>
            </p:cNvSpPr>
            <p:nvPr/>
          </p:nvSpPr>
          <p:spPr bwMode="auto">
            <a:xfrm>
              <a:off x="725724" y="5541936"/>
              <a:ext cx="39866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Arc 7"/>
            <p:cNvSpPr>
              <a:spLocks/>
            </p:cNvSpPr>
            <p:nvPr/>
          </p:nvSpPr>
          <p:spPr bwMode="auto">
            <a:xfrm>
              <a:off x="943179" y="3332136"/>
              <a:ext cx="1576556" cy="1352550"/>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 name="Rectangle 8"/>
            <p:cNvSpPr>
              <a:spLocks noChangeArrowheads="1"/>
            </p:cNvSpPr>
            <p:nvPr/>
          </p:nvSpPr>
          <p:spPr bwMode="auto">
            <a:xfrm>
              <a:off x="3770107" y="2800324"/>
              <a:ext cx="576249"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600" dirty="0">
                  <a:latin typeface="Arial" panose="020B0604020202020204" pitchFamily="34" charset="0"/>
                </a:rPr>
                <a:t>ATC</a:t>
              </a:r>
            </a:p>
          </p:txBody>
        </p:sp>
        <p:sp>
          <p:nvSpPr>
            <p:cNvPr id="26" name="Rectangle 10"/>
            <p:cNvSpPr>
              <a:spLocks noChangeArrowheads="1"/>
            </p:cNvSpPr>
            <p:nvPr/>
          </p:nvSpPr>
          <p:spPr bwMode="auto">
            <a:xfrm>
              <a:off x="2972768" y="2570136"/>
              <a:ext cx="501741"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600" b="1" dirty="0">
                  <a:solidFill>
                    <a:schemeClr val="tx2"/>
                  </a:solidFill>
                  <a:latin typeface="Arial" panose="020B0604020202020204" pitchFamily="34" charset="0"/>
                </a:rPr>
                <a:t>MC</a:t>
              </a:r>
            </a:p>
          </p:txBody>
        </p:sp>
        <p:sp>
          <p:nvSpPr>
            <p:cNvPr id="27" name="Line 11"/>
            <p:cNvSpPr>
              <a:spLocks noChangeShapeType="1"/>
            </p:cNvSpPr>
            <p:nvPr/>
          </p:nvSpPr>
          <p:spPr bwMode="auto">
            <a:xfrm>
              <a:off x="2537856" y="4703736"/>
              <a:ext cx="0" cy="796925"/>
            </a:xfrm>
            <a:prstGeom prst="line">
              <a:avLst/>
            </a:prstGeom>
            <a:noFill/>
            <a:ln w="127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Arc 12"/>
            <p:cNvSpPr>
              <a:spLocks/>
            </p:cNvSpPr>
            <p:nvPr/>
          </p:nvSpPr>
          <p:spPr bwMode="auto">
            <a:xfrm>
              <a:off x="1305606" y="2493936"/>
              <a:ext cx="1866497" cy="1581150"/>
            </a:xfrm>
            <a:custGeom>
              <a:avLst/>
              <a:gdLst>
                <a:gd name="T0" fmla="*/ 2147483647 w 21600"/>
                <a:gd name="T1" fmla="*/ 2147483647 h 21600"/>
                <a:gd name="T2" fmla="*/ 0 w 21600"/>
                <a:gd name="T3" fmla="*/ 0 h 21600"/>
                <a:gd name="T4" fmla="*/ 214748364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127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 name="Rectangle 13"/>
            <p:cNvSpPr>
              <a:spLocks noChangeArrowheads="1"/>
            </p:cNvSpPr>
            <p:nvPr/>
          </p:nvSpPr>
          <p:spPr bwMode="auto">
            <a:xfrm>
              <a:off x="3943770" y="4398936"/>
              <a:ext cx="64011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800" dirty="0">
                  <a:latin typeface="Arial" panose="020B0604020202020204" pitchFamily="34" charset="0"/>
                </a:rPr>
                <a:t>AVC</a:t>
              </a:r>
            </a:p>
          </p:txBody>
        </p:sp>
        <p:sp>
          <p:nvSpPr>
            <p:cNvPr id="31" name="Rectangle 15"/>
            <p:cNvSpPr>
              <a:spLocks noChangeArrowheads="1"/>
            </p:cNvSpPr>
            <p:nvPr/>
          </p:nvSpPr>
          <p:spPr bwMode="auto">
            <a:xfrm>
              <a:off x="251700" y="4575171"/>
              <a:ext cx="594984"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800" b="1" dirty="0">
                  <a:solidFill>
                    <a:srgbClr val="008000"/>
                  </a:solidFill>
                  <a:latin typeface="Arial" panose="020B0604020202020204" pitchFamily="34" charset="0"/>
                </a:rPr>
                <a:t>P</a:t>
              </a:r>
              <a:r>
                <a:rPr kumimoji="0" lang="en-US" altLang="zh-CN" sz="1800" b="1" baseline="-25000" dirty="0">
                  <a:solidFill>
                    <a:srgbClr val="008000"/>
                  </a:solidFill>
                  <a:latin typeface="Arial" panose="020B0604020202020204" pitchFamily="34" charset="0"/>
                </a:rPr>
                <a:t>1</a:t>
              </a:r>
              <a:endParaRPr kumimoji="0" lang="en-US" altLang="zh-CN" sz="1800" b="1" dirty="0">
                <a:solidFill>
                  <a:srgbClr val="008000"/>
                </a:solidFill>
                <a:latin typeface="Arial" panose="020B0604020202020204" pitchFamily="34" charset="0"/>
              </a:endParaRPr>
            </a:p>
          </p:txBody>
        </p:sp>
        <p:sp>
          <p:nvSpPr>
            <p:cNvPr id="32" name="Oval 16"/>
            <p:cNvSpPr>
              <a:spLocks noChangeArrowheads="1"/>
            </p:cNvSpPr>
            <p:nvPr/>
          </p:nvSpPr>
          <p:spPr bwMode="auto">
            <a:xfrm>
              <a:off x="2465371" y="4627536"/>
              <a:ext cx="144971" cy="152400"/>
            </a:xfrm>
            <a:prstGeom prst="ellipse">
              <a:avLst/>
            </a:prstGeom>
            <a:solidFill>
              <a:schemeClr val="accent1"/>
            </a:solidFill>
            <a:ln w="12700">
              <a:solidFill>
                <a:srgbClr val="FF00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 name="Line 17"/>
            <p:cNvSpPr>
              <a:spLocks noChangeShapeType="1"/>
            </p:cNvSpPr>
            <p:nvPr/>
          </p:nvSpPr>
          <p:spPr bwMode="auto">
            <a:xfrm flipV="1">
              <a:off x="725724" y="1884336"/>
              <a:ext cx="0" cy="3657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18"/>
            <p:cNvSpPr>
              <a:spLocks noChangeShapeType="1"/>
            </p:cNvSpPr>
            <p:nvPr/>
          </p:nvSpPr>
          <p:spPr bwMode="auto">
            <a:xfrm>
              <a:off x="725724" y="3255936"/>
              <a:ext cx="2899413"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19"/>
            <p:cNvSpPr>
              <a:spLocks noChangeShapeType="1"/>
            </p:cNvSpPr>
            <p:nvPr/>
          </p:nvSpPr>
          <p:spPr bwMode="auto">
            <a:xfrm>
              <a:off x="3625136" y="3255936"/>
              <a:ext cx="0" cy="22860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20"/>
            <p:cNvSpPr>
              <a:spLocks noChangeShapeType="1"/>
            </p:cNvSpPr>
            <p:nvPr/>
          </p:nvSpPr>
          <p:spPr bwMode="auto">
            <a:xfrm flipH="1">
              <a:off x="653238" y="3789336"/>
              <a:ext cx="2754442"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Arc 21"/>
            <p:cNvSpPr>
              <a:spLocks/>
            </p:cNvSpPr>
            <p:nvPr/>
          </p:nvSpPr>
          <p:spPr bwMode="auto">
            <a:xfrm>
              <a:off x="870694" y="3713136"/>
              <a:ext cx="1671693" cy="1219200"/>
            </a:xfrm>
            <a:custGeom>
              <a:avLst/>
              <a:gdLst>
                <a:gd name="T0" fmla="*/ 2147483647 w 32804"/>
                <a:gd name="T1" fmla="*/ 2147483647 h 21600"/>
                <a:gd name="T2" fmla="*/ 0 w 32804"/>
                <a:gd name="T3" fmla="*/ 2147483647 h 21600"/>
                <a:gd name="T4" fmla="*/ 2147483647 w 32804"/>
                <a:gd name="T5" fmla="*/ 0 h 21600"/>
                <a:gd name="T6" fmla="*/ 0 60000 65536"/>
                <a:gd name="T7" fmla="*/ 0 60000 65536"/>
                <a:gd name="T8" fmla="*/ 0 60000 65536"/>
                <a:gd name="T9" fmla="*/ 0 w 32804"/>
                <a:gd name="T10" fmla="*/ 0 h 21600"/>
                <a:gd name="T11" fmla="*/ 32804 w 32804"/>
                <a:gd name="T12" fmla="*/ 21600 h 21600"/>
              </a:gdLst>
              <a:ahLst/>
              <a:cxnLst>
                <a:cxn ang="T6">
                  <a:pos x="T0" y="T1"/>
                </a:cxn>
                <a:cxn ang="T7">
                  <a:pos x="T2" y="T3"/>
                </a:cxn>
                <a:cxn ang="T8">
                  <a:pos x="T4" y="T5"/>
                </a:cxn>
              </a:cxnLst>
              <a:rect l="T9" t="T10" r="T11" b="T12"/>
              <a:pathLst>
                <a:path w="32804" h="21600" fill="none" extrusionOk="0">
                  <a:moveTo>
                    <a:pt x="32803" y="17466"/>
                  </a:moveTo>
                  <a:cubicBezTo>
                    <a:pt x="29111" y="20153"/>
                    <a:pt x="24663" y="21599"/>
                    <a:pt x="20097" y="21600"/>
                  </a:cubicBezTo>
                  <a:cubicBezTo>
                    <a:pt x="11223" y="21600"/>
                    <a:pt x="3253" y="16173"/>
                    <a:pt x="0" y="7917"/>
                  </a:cubicBezTo>
                </a:path>
                <a:path w="32804" h="21600" stroke="0" extrusionOk="0">
                  <a:moveTo>
                    <a:pt x="32803" y="17466"/>
                  </a:moveTo>
                  <a:cubicBezTo>
                    <a:pt x="29111" y="20153"/>
                    <a:pt x="24663" y="21599"/>
                    <a:pt x="20097" y="21600"/>
                  </a:cubicBezTo>
                  <a:cubicBezTo>
                    <a:pt x="11223" y="21600"/>
                    <a:pt x="3253" y="16173"/>
                    <a:pt x="0" y="7917"/>
                  </a:cubicBezTo>
                  <a:lnTo>
                    <a:pt x="20097" y="0"/>
                  </a:lnTo>
                  <a:close/>
                </a:path>
              </a:pathLst>
            </a:custGeom>
            <a:noFill/>
            <a:ln w="508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8" name="Line 22"/>
            <p:cNvSpPr>
              <a:spLocks noChangeShapeType="1"/>
            </p:cNvSpPr>
            <p:nvPr/>
          </p:nvSpPr>
          <p:spPr bwMode="auto">
            <a:xfrm>
              <a:off x="3407680" y="3789336"/>
              <a:ext cx="0" cy="175260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Rectangle 15"/>
            <p:cNvSpPr>
              <a:spLocks noChangeArrowheads="1"/>
            </p:cNvSpPr>
            <p:nvPr/>
          </p:nvSpPr>
          <p:spPr bwMode="auto">
            <a:xfrm>
              <a:off x="508268" y="5635599"/>
              <a:ext cx="39716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800" b="1" dirty="0">
                  <a:solidFill>
                    <a:srgbClr val="008000"/>
                  </a:solidFill>
                  <a:latin typeface="Arial" panose="020B0604020202020204" pitchFamily="34" charset="0"/>
                </a:rPr>
                <a:t>O</a:t>
              </a:r>
            </a:p>
          </p:txBody>
        </p:sp>
        <p:sp>
          <p:nvSpPr>
            <p:cNvPr id="41" name="Rectangle 15"/>
            <p:cNvSpPr>
              <a:spLocks noChangeArrowheads="1"/>
            </p:cNvSpPr>
            <p:nvPr/>
          </p:nvSpPr>
          <p:spPr bwMode="auto">
            <a:xfrm>
              <a:off x="2629217" y="4694688"/>
              <a:ext cx="39716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800" b="1" dirty="0">
                  <a:solidFill>
                    <a:srgbClr val="008000"/>
                  </a:solidFill>
                  <a:latin typeface="Arial" panose="020B0604020202020204" pitchFamily="34" charset="0"/>
                </a:rPr>
                <a:t>E</a:t>
              </a:r>
            </a:p>
          </p:txBody>
        </p:sp>
      </p:grpSp>
      <p:sp>
        <p:nvSpPr>
          <p:cNvPr id="43" name="矩形 42"/>
          <p:cNvSpPr/>
          <p:nvPr/>
        </p:nvSpPr>
        <p:spPr>
          <a:xfrm>
            <a:off x="4922853" y="4786748"/>
            <a:ext cx="3930322" cy="874407"/>
          </a:xfrm>
          <a:prstGeom prst="rect">
            <a:avLst/>
          </a:prstGeom>
        </p:spPr>
        <p:txBody>
          <a:bodyPr wrap="square">
            <a:spAutoFit/>
          </a:bodyPr>
          <a:lstStyle/>
          <a:p>
            <a:pPr eaLnBrk="1" hangingPunct="1">
              <a:lnSpc>
                <a:spcPct val="150000"/>
              </a:lnSpc>
            </a:pPr>
            <a:r>
              <a:rPr lang="zh-CN" altLang="en-US" dirty="0">
                <a:solidFill>
                  <a:schemeClr val="tx2"/>
                </a:solidFill>
                <a:latin typeface="微软雅黑" panose="020B0503020204020204" pitchFamily="34" charset="-122"/>
                <a:ea typeface="微软雅黑" panose="020B0503020204020204" pitchFamily="34" charset="-122"/>
                <a:sym typeface="Arial" panose="020B0604020202020204" pitchFamily="34" charset="0"/>
              </a:rPr>
              <a:t>因此</a:t>
            </a:r>
            <a:r>
              <a:rPr lang="en-US" altLang="zh-CN" dirty="0">
                <a:solidFill>
                  <a:schemeClr val="tx2"/>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dirty="0">
                <a:solidFill>
                  <a:schemeClr val="tx2"/>
                </a:solidFill>
                <a:latin typeface="微软雅黑" panose="020B0503020204020204" pitchFamily="34" charset="-122"/>
                <a:ea typeface="微软雅黑" panose="020B0503020204020204" pitchFamily="34" charset="-122"/>
                <a:sym typeface="Arial" panose="020B0604020202020204" pitchFamily="34" charset="0"/>
              </a:rPr>
              <a:t>边际成本曲线高于单位</a:t>
            </a:r>
            <a:endParaRPr lang="en-US" altLang="zh-CN" dirty="0">
              <a:solidFill>
                <a:schemeClr val="tx2"/>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lnSpc>
                <a:spcPct val="150000"/>
              </a:lnSpc>
            </a:pPr>
            <a:r>
              <a:rPr lang="zh-CN" altLang="en-US" dirty="0">
                <a:solidFill>
                  <a:schemeClr val="tx2"/>
                </a:solidFill>
                <a:latin typeface="微软雅黑" panose="020B0503020204020204" pitchFamily="34" charset="-122"/>
                <a:ea typeface="微软雅黑" panose="020B0503020204020204" pitchFamily="34" charset="-122"/>
                <a:sym typeface="Arial" panose="020B0604020202020204" pitchFamily="34" charset="0"/>
              </a:rPr>
              <a:t>可变成本曲线的部分与供给曲线重合</a:t>
            </a:r>
            <a:endParaRPr lang="en-US" altLang="zh-CN" dirty="0">
              <a:solidFill>
                <a:schemeClr val="tx2"/>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7" name="矩形 46">
            <a:extLst>
              <a:ext uri="{FF2B5EF4-FFF2-40B4-BE49-F238E27FC236}">
                <a16:creationId xmlns:a16="http://schemas.microsoft.com/office/drawing/2014/main" id="{000B2A87-2B7D-4B94-87B8-61432F30D800}"/>
              </a:ext>
            </a:extLst>
          </p:cNvPr>
          <p:cNvSpPr/>
          <p:nvPr/>
        </p:nvSpPr>
        <p:spPr>
          <a:xfrm>
            <a:off x="4854767" y="2011988"/>
            <a:ext cx="3950164" cy="2120902"/>
          </a:xfrm>
          <a:prstGeom prst="rect">
            <a:avLst/>
          </a:prstGeom>
          <a:solidFill>
            <a:srgbClr val="F3C9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D2162600-114A-4C05-A7A2-48990CE89835}"/>
              </a:ext>
            </a:extLst>
          </p:cNvPr>
          <p:cNvSpPr/>
          <p:nvPr/>
        </p:nvSpPr>
        <p:spPr>
          <a:xfrm>
            <a:off x="4984234" y="2011988"/>
            <a:ext cx="3834402" cy="170540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边际成本曲线</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边际成本和产量的组合</a:t>
            </a:r>
          </a:p>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供给曲线</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价格和产量的组合</a:t>
            </a:r>
            <a:endParaRPr lang="en-US" altLang="zh-CN" spc="150" dirty="0">
              <a:solidFill>
                <a:srgbClr val="00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利润最大化</a:t>
            </a:r>
            <a:r>
              <a:rPr lang="en-US" altLang="zh-CN" spc="150" dirty="0">
                <a:solidFill>
                  <a:srgbClr val="000000"/>
                </a:solidFill>
                <a:latin typeface="微软雅黑" panose="020B0503020204020204" pitchFamily="34" charset="-122"/>
                <a:ea typeface="微软雅黑" panose="020B0503020204020204" pitchFamily="34" charset="-122"/>
              </a:rPr>
              <a:t>: P = MC</a:t>
            </a:r>
          </a:p>
        </p:txBody>
      </p:sp>
      <p:sp>
        <p:nvSpPr>
          <p:cNvPr id="42" name="矩形 41">
            <a:extLst>
              <a:ext uri="{FF2B5EF4-FFF2-40B4-BE49-F238E27FC236}">
                <a16:creationId xmlns:a16="http://schemas.microsoft.com/office/drawing/2014/main" id="{C2D86EE0-3912-419E-A3D2-2E12004D1E85}"/>
              </a:ext>
            </a:extLst>
          </p:cNvPr>
          <p:cNvSpPr/>
          <p:nvPr/>
        </p:nvSpPr>
        <p:spPr>
          <a:xfrm>
            <a:off x="467544" y="1121840"/>
            <a:ext cx="3724096" cy="313932"/>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完全竞争企业的短期供给曲线</a:t>
            </a:r>
          </a:p>
        </p:txBody>
      </p:sp>
      <p:sp>
        <p:nvSpPr>
          <p:cNvPr id="3" name="标注: 线形 2">
            <a:extLst>
              <a:ext uri="{FF2B5EF4-FFF2-40B4-BE49-F238E27FC236}">
                <a16:creationId xmlns:a16="http://schemas.microsoft.com/office/drawing/2014/main" id="{63609F4E-B749-48EE-B3B2-CADF96998EFA}"/>
              </a:ext>
            </a:extLst>
          </p:cNvPr>
          <p:cNvSpPr/>
          <p:nvPr/>
        </p:nvSpPr>
        <p:spPr bwMode="auto">
          <a:xfrm>
            <a:off x="218327" y="1374415"/>
            <a:ext cx="1948465" cy="2342269"/>
          </a:xfrm>
          <a:prstGeom prst="borderCallout1">
            <a:avLst>
              <a:gd name="adj1" fmla="val 31550"/>
              <a:gd name="adj2" fmla="val 126570"/>
              <a:gd name="adj3" fmla="val 42245"/>
              <a:gd name="adj4" fmla="val 10011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sz="1200" dirty="0"/>
              <a:t>可见：供给曲线是向上倾斜的，这是缘于要素的边际报酬递减规律。即产量越高，出现边际报酬递减，边际成本增加，相应地，价格也必须提高。另一方面，较高的价格可以弥补厂商因产量的增加而产生的较高的生产成本，并提高总利润。因此，这个较高的价格适用于所有的商品。 </a:t>
            </a:r>
          </a:p>
        </p:txBody>
      </p:sp>
    </p:spTree>
    <p:extLst>
      <p:ext uri="{BB962C8B-B14F-4D97-AF65-F5344CB8AC3E}">
        <p14:creationId xmlns:p14="http://schemas.microsoft.com/office/powerpoint/2010/main" val="2495347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left)">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randombar(horizontal)">
                                      <p:cBhvr>
                                        <p:cTn id="22" dur="500"/>
                                        <p:tgtEl>
                                          <p:spTgt spid="47"/>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48">
                                            <p:txEl>
                                              <p:pRg st="0" end="0"/>
                                            </p:txEl>
                                          </p:spTgt>
                                        </p:tgtEl>
                                        <p:attrNameLst>
                                          <p:attrName>style.visibility</p:attrName>
                                        </p:attrNameLst>
                                      </p:cBhvr>
                                      <p:to>
                                        <p:strVal val="visible"/>
                                      </p:to>
                                    </p:set>
                                    <p:animEffect transition="in" filter="wipe(left)">
                                      <p:cBhvr>
                                        <p:cTn id="26" dur="500"/>
                                        <p:tgtEl>
                                          <p:spTgt spid="48">
                                            <p:txEl>
                                              <p:pRg st="0" end="0"/>
                                            </p:txEl>
                                          </p:spTgt>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48">
                                            <p:txEl>
                                              <p:pRg st="1" end="1"/>
                                            </p:txEl>
                                          </p:spTgt>
                                        </p:tgtEl>
                                        <p:attrNameLst>
                                          <p:attrName>style.visibility</p:attrName>
                                        </p:attrNameLst>
                                      </p:cBhvr>
                                      <p:to>
                                        <p:strVal val="visible"/>
                                      </p:to>
                                    </p:set>
                                    <p:animEffect transition="in" filter="wipe(left)">
                                      <p:cBhvr>
                                        <p:cTn id="30" dur="500"/>
                                        <p:tgtEl>
                                          <p:spTgt spid="48">
                                            <p:txEl>
                                              <p:pRg st="1" end="1"/>
                                            </p:txEl>
                                          </p:spTgt>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48">
                                            <p:txEl>
                                              <p:pRg st="2" end="2"/>
                                            </p:txEl>
                                          </p:spTgt>
                                        </p:tgtEl>
                                        <p:attrNameLst>
                                          <p:attrName>style.visibility</p:attrName>
                                        </p:attrNameLst>
                                      </p:cBhvr>
                                      <p:to>
                                        <p:strVal val="visible"/>
                                      </p:to>
                                    </p:set>
                                    <p:animEffect transition="in" filter="wipe(left)">
                                      <p:cBhvr>
                                        <p:cTn id="34" dur="500"/>
                                        <p:tgtEl>
                                          <p:spTgt spid="48">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wipe(up)">
                                      <p:cBhvr>
                                        <p:cTn id="39" dur="500"/>
                                        <p:tgtEl>
                                          <p:spTgt spid="44"/>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down)">
                                      <p:cBhvr>
                                        <p:cTn id="4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13" grpId="0" animBg="1"/>
      <p:bldP spid="43" grpId="0"/>
      <p:bldP spid="47" grpId="0" animBg="1"/>
      <p:bldP spid="4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四、企业和市场的短期供给曲线</a:t>
            </a:r>
          </a:p>
        </p:txBody>
      </p:sp>
      <p:sp>
        <p:nvSpPr>
          <p:cNvPr id="14" name="矩形 13">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45" name="矩形 44">
            <a:extLst>
              <a:ext uri="{FF2B5EF4-FFF2-40B4-BE49-F238E27FC236}">
                <a16:creationId xmlns:a16="http://schemas.microsoft.com/office/drawing/2014/main" id="{43144617-86E7-4C79-8DA7-59FB06215111}"/>
              </a:ext>
            </a:extLst>
          </p:cNvPr>
          <p:cNvSpPr/>
          <p:nvPr/>
        </p:nvSpPr>
        <p:spPr>
          <a:xfrm>
            <a:off x="467544" y="1121840"/>
            <a:ext cx="3724096" cy="313932"/>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完全竞争企业的短期供给曲线</a:t>
            </a:r>
          </a:p>
        </p:txBody>
      </p:sp>
      <p:grpSp>
        <p:nvGrpSpPr>
          <p:cNvPr id="42" name="组合 30"/>
          <p:cNvGrpSpPr>
            <a:grpSpLocks/>
          </p:cNvGrpSpPr>
          <p:nvPr/>
        </p:nvGrpSpPr>
        <p:grpSpPr bwMode="auto">
          <a:xfrm>
            <a:off x="701696" y="1753110"/>
            <a:ext cx="3500437" cy="2286000"/>
            <a:chOff x="0" y="0"/>
            <a:chExt cx="4000528" cy="3083976"/>
          </a:xfrm>
        </p:grpSpPr>
        <p:grpSp>
          <p:nvGrpSpPr>
            <p:cNvPr id="46" name="组合 11"/>
            <p:cNvGrpSpPr>
              <a:grpSpLocks/>
            </p:cNvGrpSpPr>
            <p:nvPr/>
          </p:nvGrpSpPr>
          <p:grpSpPr bwMode="auto">
            <a:xfrm>
              <a:off x="0" y="0"/>
              <a:ext cx="4000528" cy="3000372"/>
              <a:chOff x="0" y="0"/>
              <a:chExt cx="4946107" cy="3500438"/>
            </a:xfrm>
          </p:grpSpPr>
          <p:sp>
            <p:nvSpPr>
              <p:cNvPr id="53" name="直接箭头连接符 4"/>
              <p:cNvSpPr>
                <a:spLocks noChangeShapeType="1"/>
              </p:cNvSpPr>
              <p:nvPr/>
            </p:nvSpPr>
            <p:spPr bwMode="auto">
              <a:xfrm rot="16200000" flipV="1">
                <a:off x="-1080262" y="1599100"/>
                <a:ext cx="3053283" cy="1"/>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4" name="直接箭头连接符 5"/>
              <p:cNvSpPr>
                <a:spLocks noChangeShapeType="1"/>
              </p:cNvSpPr>
              <p:nvPr/>
            </p:nvSpPr>
            <p:spPr bwMode="auto">
              <a:xfrm>
                <a:off x="446383" y="3123244"/>
                <a:ext cx="4286627" cy="19989"/>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5" name="TextBox 6"/>
              <p:cNvSpPr>
                <a:spLocks noChangeArrowheads="1"/>
              </p:cNvSpPr>
              <p:nvPr/>
            </p:nvSpPr>
            <p:spPr bwMode="auto">
              <a:xfrm>
                <a:off x="159761" y="3131106"/>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O</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56" name="TextBox 7"/>
              <p:cNvSpPr>
                <a:spLocks noChangeArrowheads="1"/>
              </p:cNvSpPr>
              <p:nvPr/>
            </p:nvSpPr>
            <p:spPr bwMode="auto">
              <a:xfrm>
                <a:off x="4446041" y="3131106"/>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57" name="TextBox 8"/>
              <p:cNvSpPr>
                <a:spLocks noChangeArrowheads="1"/>
              </p:cNvSpPr>
              <p:nvPr/>
            </p:nvSpPr>
            <p:spPr bwMode="auto">
              <a:xfrm>
                <a:off x="2731529" y="142876"/>
                <a:ext cx="785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MC</a:t>
                </a:r>
                <a:endParaRPr lang="zh-CN" altLang="en-US" sz="1100">
                  <a:solidFill>
                    <a:srgbClr val="000000"/>
                  </a:solidFill>
                  <a:latin typeface="Cambria Math" panose="02040503050406030204" pitchFamily="18" charset="0"/>
                  <a:sym typeface="Cambria Math" panose="02040503050406030204" pitchFamily="18" charset="0"/>
                </a:endParaRPr>
              </a:p>
            </p:txBody>
          </p:sp>
          <p:sp>
            <p:nvSpPr>
              <p:cNvPr id="58" name="任意多边形 9"/>
              <p:cNvSpPr>
                <a:spLocks noChangeArrowheads="1"/>
              </p:cNvSpPr>
              <p:nvPr/>
            </p:nvSpPr>
            <p:spPr bwMode="auto">
              <a:xfrm>
                <a:off x="1231479" y="427261"/>
                <a:ext cx="1855071" cy="1843963"/>
              </a:xfrm>
              <a:custGeom>
                <a:avLst/>
                <a:gdLst>
                  <a:gd name="T0" fmla="*/ 39077 w 2723661"/>
                  <a:gd name="T1" fmla="*/ 2321169 h 2341684"/>
                  <a:gd name="T2" fmla="*/ 97692 w 2723661"/>
                  <a:gd name="T3" fmla="*/ 2286000 h 2341684"/>
                  <a:gd name="T4" fmla="*/ 859692 w 2723661"/>
                  <a:gd name="T5" fmla="*/ 1863969 h 2341684"/>
                  <a:gd name="T6" fmla="*/ 1668584 w 2723661"/>
                  <a:gd name="T7" fmla="*/ 1266092 h 2341684"/>
                  <a:gd name="T8" fmla="*/ 2547815 w 2723661"/>
                  <a:gd name="T9" fmla="*/ 316523 h 2341684"/>
                  <a:gd name="T10" fmla="*/ 2723661 w 2723661"/>
                  <a:gd name="T11" fmla="*/ 0 h 2341684"/>
                  <a:gd name="T12" fmla="*/ 0 60000 65536"/>
                  <a:gd name="T13" fmla="*/ 0 60000 65536"/>
                  <a:gd name="T14" fmla="*/ 0 60000 65536"/>
                  <a:gd name="T15" fmla="*/ 0 60000 65536"/>
                  <a:gd name="T16" fmla="*/ 0 60000 65536"/>
                  <a:gd name="T17" fmla="*/ 0 60000 65536"/>
                  <a:gd name="T18" fmla="*/ 0 w 2723661"/>
                  <a:gd name="T19" fmla="*/ 0 h 2341684"/>
                  <a:gd name="T20" fmla="*/ 2723661 w 2723661"/>
                  <a:gd name="T21" fmla="*/ 2341684 h 2341684"/>
                </a:gdLst>
                <a:ahLst/>
                <a:cxnLst>
                  <a:cxn ang="T12">
                    <a:pos x="T0" y="T1"/>
                  </a:cxn>
                  <a:cxn ang="T13">
                    <a:pos x="T2" y="T3"/>
                  </a:cxn>
                  <a:cxn ang="T14">
                    <a:pos x="T4" y="T5"/>
                  </a:cxn>
                  <a:cxn ang="T15">
                    <a:pos x="T6" y="T7"/>
                  </a:cxn>
                  <a:cxn ang="T16">
                    <a:pos x="T8" y="T9"/>
                  </a:cxn>
                  <a:cxn ang="T17">
                    <a:pos x="T10" y="T11"/>
                  </a:cxn>
                </a:cxnLst>
                <a:rect l="T18" t="T19" r="T20" b="T21"/>
                <a:pathLst>
                  <a:path w="2723661" h="2341684">
                    <a:moveTo>
                      <a:pt x="39077" y="2321169"/>
                    </a:moveTo>
                    <a:cubicBezTo>
                      <a:pt x="0" y="2341684"/>
                      <a:pt x="97692" y="2286000"/>
                      <a:pt x="97692" y="2286000"/>
                    </a:cubicBezTo>
                    <a:cubicBezTo>
                      <a:pt x="234461" y="2209800"/>
                      <a:pt x="597877" y="2033954"/>
                      <a:pt x="859692" y="1863969"/>
                    </a:cubicBezTo>
                    <a:cubicBezTo>
                      <a:pt x="1121507" y="1693984"/>
                      <a:pt x="1387230" y="1524000"/>
                      <a:pt x="1668584" y="1266092"/>
                    </a:cubicBezTo>
                    <a:cubicBezTo>
                      <a:pt x="1949938" y="1008184"/>
                      <a:pt x="2371969" y="527538"/>
                      <a:pt x="2547815" y="316523"/>
                    </a:cubicBezTo>
                    <a:cubicBezTo>
                      <a:pt x="2723661" y="105508"/>
                      <a:pt x="2723661" y="52754"/>
                      <a:pt x="2723661" y="0"/>
                    </a:cubicBezTo>
                  </a:path>
                </a:pathLst>
              </a:custGeom>
              <a:noFill/>
              <a:ln w="28575" cap="flat" cmpd="sng">
                <a:solidFill>
                  <a:srgbClr val="6699FF"/>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59" name="TextBox 10"/>
              <p:cNvSpPr>
                <a:spLocks noChangeArrowheads="1"/>
              </p:cNvSpPr>
              <p:nvPr/>
            </p:nvSpPr>
            <p:spPr bwMode="auto">
              <a:xfrm>
                <a:off x="0" y="0"/>
                <a:ext cx="428628"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endParaRPr lang="zh-CN" altLang="en-US">
                  <a:solidFill>
                    <a:srgbClr val="000000"/>
                  </a:solidFill>
                  <a:latin typeface="Cambria Math" panose="02040503050406030204" pitchFamily="18" charset="0"/>
                  <a:sym typeface="Cambria Math" panose="02040503050406030204" pitchFamily="18" charset="0"/>
                </a:endParaRPr>
              </a:p>
            </p:txBody>
          </p:sp>
        </p:grpSp>
        <p:sp>
          <p:nvSpPr>
            <p:cNvPr id="49" name="TextBox 20"/>
            <p:cNvSpPr>
              <a:spLocks noChangeArrowheads="1"/>
            </p:cNvSpPr>
            <p:nvPr/>
          </p:nvSpPr>
          <p:spPr bwMode="auto">
            <a:xfrm>
              <a:off x="2214578" y="2714644"/>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r>
                <a:rPr lang="en-US" altLang="zh-CN" sz="1100">
                  <a:solidFill>
                    <a:srgbClr val="000000"/>
                  </a:solidFill>
                  <a:latin typeface="Cambria Math" panose="02040503050406030204" pitchFamily="18" charset="0"/>
                  <a:sym typeface="Cambria Math" panose="02040503050406030204" pitchFamily="18" charset="0"/>
                </a:rPr>
                <a:t>0</a:t>
              </a:r>
              <a:endParaRPr lang="zh-CN" altLang="en-US" sz="1100">
                <a:solidFill>
                  <a:srgbClr val="000000"/>
                </a:solidFill>
                <a:latin typeface="Cambria Math" panose="02040503050406030204" pitchFamily="18" charset="0"/>
                <a:sym typeface="Cambria Math" panose="02040503050406030204" pitchFamily="18" charset="0"/>
              </a:endParaRPr>
            </a:p>
          </p:txBody>
        </p:sp>
        <p:sp>
          <p:nvSpPr>
            <p:cNvPr id="50" name="直接连接符 21"/>
            <p:cNvSpPr>
              <a:spLocks noChangeShapeType="1"/>
            </p:cNvSpPr>
            <p:nvPr/>
          </p:nvSpPr>
          <p:spPr bwMode="auto">
            <a:xfrm rot="16200000" flipH="1">
              <a:off x="1327961" y="1671304"/>
              <a:ext cx="2066693" cy="9072"/>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直接连接符 22"/>
            <p:cNvSpPr>
              <a:spLocks noChangeShapeType="1"/>
            </p:cNvSpPr>
            <p:nvPr/>
          </p:nvSpPr>
          <p:spPr bwMode="auto">
            <a:xfrm rot="10800000">
              <a:off x="357416" y="642495"/>
              <a:ext cx="1999357" cy="2142"/>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TextBox 24"/>
            <p:cNvSpPr>
              <a:spLocks noChangeArrowheads="1"/>
            </p:cNvSpPr>
            <p:nvPr/>
          </p:nvSpPr>
          <p:spPr bwMode="auto">
            <a:xfrm>
              <a:off x="0" y="500066"/>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1100">
                  <a:solidFill>
                    <a:srgbClr val="000000"/>
                  </a:solidFill>
                  <a:latin typeface="Cambria Math" panose="02040503050406030204" pitchFamily="18" charset="0"/>
                  <a:sym typeface="Cambria Math" panose="02040503050406030204" pitchFamily="18" charset="0"/>
                </a:rPr>
                <a:t>0</a:t>
              </a:r>
              <a:endParaRPr lang="zh-CN" altLang="en-US" sz="1100">
                <a:solidFill>
                  <a:srgbClr val="000000"/>
                </a:solidFill>
                <a:latin typeface="Cambria Math" panose="02040503050406030204" pitchFamily="18" charset="0"/>
                <a:sym typeface="Cambria Math" panose="02040503050406030204" pitchFamily="18" charset="0"/>
              </a:endParaRPr>
            </a:p>
          </p:txBody>
        </p:sp>
      </p:grpSp>
      <p:grpSp>
        <p:nvGrpSpPr>
          <p:cNvPr id="60" name="组合 45"/>
          <p:cNvGrpSpPr>
            <a:grpSpLocks/>
          </p:cNvGrpSpPr>
          <p:nvPr/>
        </p:nvGrpSpPr>
        <p:grpSpPr bwMode="auto">
          <a:xfrm>
            <a:off x="701697" y="4015657"/>
            <a:ext cx="3500438" cy="2291214"/>
            <a:chOff x="0" y="0"/>
            <a:chExt cx="4000528" cy="3151153"/>
          </a:xfrm>
        </p:grpSpPr>
        <p:grpSp>
          <p:nvGrpSpPr>
            <p:cNvPr id="61" name="组合 12"/>
            <p:cNvGrpSpPr>
              <a:grpSpLocks/>
            </p:cNvGrpSpPr>
            <p:nvPr/>
          </p:nvGrpSpPr>
          <p:grpSpPr bwMode="auto">
            <a:xfrm>
              <a:off x="71438" y="0"/>
              <a:ext cx="3929090" cy="3000372"/>
              <a:chOff x="0" y="0"/>
              <a:chExt cx="4857784" cy="3500438"/>
            </a:xfrm>
          </p:grpSpPr>
          <p:sp>
            <p:nvSpPr>
              <p:cNvPr id="66" name="直接箭头连接符 13"/>
              <p:cNvSpPr>
                <a:spLocks noChangeShapeType="1"/>
              </p:cNvSpPr>
              <p:nvPr/>
            </p:nvSpPr>
            <p:spPr bwMode="auto">
              <a:xfrm rot="16200000" flipV="1">
                <a:off x="-1172509" y="1599646"/>
                <a:ext cx="3056652" cy="1"/>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7" name="直接箭头连接符 14"/>
              <p:cNvSpPr>
                <a:spLocks noChangeShapeType="1"/>
              </p:cNvSpPr>
              <p:nvPr/>
            </p:nvSpPr>
            <p:spPr bwMode="auto">
              <a:xfrm>
                <a:off x="355817" y="3122880"/>
                <a:ext cx="4286627" cy="17830"/>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68" name="TextBox 15"/>
              <p:cNvSpPr>
                <a:spLocks noChangeArrowheads="1"/>
              </p:cNvSpPr>
              <p:nvPr/>
            </p:nvSpPr>
            <p:spPr bwMode="auto">
              <a:xfrm>
                <a:off x="71438" y="3131106"/>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O</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69" name="TextBox 16"/>
              <p:cNvSpPr>
                <a:spLocks noChangeArrowheads="1"/>
              </p:cNvSpPr>
              <p:nvPr/>
            </p:nvSpPr>
            <p:spPr bwMode="auto">
              <a:xfrm>
                <a:off x="4357718" y="3131106"/>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70" name="TextBox 17"/>
              <p:cNvSpPr>
                <a:spLocks noChangeArrowheads="1"/>
              </p:cNvSpPr>
              <p:nvPr/>
            </p:nvSpPr>
            <p:spPr bwMode="auto">
              <a:xfrm>
                <a:off x="2643206" y="142876"/>
                <a:ext cx="785818" cy="43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S</a:t>
                </a:r>
                <a:endParaRPr lang="zh-CN" altLang="en-US" sz="1100">
                  <a:solidFill>
                    <a:srgbClr val="000000"/>
                  </a:solidFill>
                  <a:latin typeface="Cambria Math" panose="02040503050406030204" pitchFamily="18" charset="0"/>
                  <a:sym typeface="Cambria Math" panose="02040503050406030204" pitchFamily="18" charset="0"/>
                </a:endParaRPr>
              </a:p>
            </p:txBody>
          </p:sp>
          <p:sp>
            <p:nvSpPr>
              <p:cNvPr id="71" name="任意多边形 18"/>
              <p:cNvSpPr>
                <a:spLocks noChangeArrowheads="1"/>
              </p:cNvSpPr>
              <p:nvPr/>
            </p:nvSpPr>
            <p:spPr bwMode="auto">
              <a:xfrm>
                <a:off x="1143157" y="427931"/>
                <a:ext cx="1855070" cy="1841632"/>
              </a:xfrm>
              <a:custGeom>
                <a:avLst/>
                <a:gdLst>
                  <a:gd name="T0" fmla="*/ 39077 w 2723661"/>
                  <a:gd name="T1" fmla="*/ 2321169 h 2341684"/>
                  <a:gd name="T2" fmla="*/ 97692 w 2723661"/>
                  <a:gd name="T3" fmla="*/ 2286000 h 2341684"/>
                  <a:gd name="T4" fmla="*/ 859692 w 2723661"/>
                  <a:gd name="T5" fmla="*/ 1863969 h 2341684"/>
                  <a:gd name="T6" fmla="*/ 1668584 w 2723661"/>
                  <a:gd name="T7" fmla="*/ 1266092 h 2341684"/>
                  <a:gd name="T8" fmla="*/ 2547815 w 2723661"/>
                  <a:gd name="T9" fmla="*/ 316523 h 2341684"/>
                  <a:gd name="T10" fmla="*/ 2723661 w 2723661"/>
                  <a:gd name="T11" fmla="*/ 0 h 2341684"/>
                  <a:gd name="T12" fmla="*/ 0 60000 65536"/>
                  <a:gd name="T13" fmla="*/ 0 60000 65536"/>
                  <a:gd name="T14" fmla="*/ 0 60000 65536"/>
                  <a:gd name="T15" fmla="*/ 0 60000 65536"/>
                  <a:gd name="T16" fmla="*/ 0 60000 65536"/>
                  <a:gd name="T17" fmla="*/ 0 60000 65536"/>
                  <a:gd name="T18" fmla="*/ 0 w 2723661"/>
                  <a:gd name="T19" fmla="*/ 0 h 2341684"/>
                  <a:gd name="T20" fmla="*/ 2723661 w 2723661"/>
                  <a:gd name="T21" fmla="*/ 2341684 h 2341684"/>
                </a:gdLst>
                <a:ahLst/>
                <a:cxnLst>
                  <a:cxn ang="T12">
                    <a:pos x="T0" y="T1"/>
                  </a:cxn>
                  <a:cxn ang="T13">
                    <a:pos x="T2" y="T3"/>
                  </a:cxn>
                  <a:cxn ang="T14">
                    <a:pos x="T4" y="T5"/>
                  </a:cxn>
                  <a:cxn ang="T15">
                    <a:pos x="T6" y="T7"/>
                  </a:cxn>
                  <a:cxn ang="T16">
                    <a:pos x="T8" y="T9"/>
                  </a:cxn>
                  <a:cxn ang="T17">
                    <a:pos x="T10" y="T11"/>
                  </a:cxn>
                </a:cxnLst>
                <a:rect l="T18" t="T19" r="T20" b="T21"/>
                <a:pathLst>
                  <a:path w="2723661" h="2341684">
                    <a:moveTo>
                      <a:pt x="39077" y="2321169"/>
                    </a:moveTo>
                    <a:cubicBezTo>
                      <a:pt x="0" y="2341684"/>
                      <a:pt x="97692" y="2286000"/>
                      <a:pt x="97692" y="2286000"/>
                    </a:cubicBezTo>
                    <a:cubicBezTo>
                      <a:pt x="234461" y="2209800"/>
                      <a:pt x="597877" y="2033954"/>
                      <a:pt x="859692" y="1863969"/>
                    </a:cubicBezTo>
                    <a:cubicBezTo>
                      <a:pt x="1121507" y="1693984"/>
                      <a:pt x="1387230" y="1524000"/>
                      <a:pt x="1668584" y="1266092"/>
                    </a:cubicBezTo>
                    <a:cubicBezTo>
                      <a:pt x="1949938" y="1008184"/>
                      <a:pt x="2371969" y="527538"/>
                      <a:pt x="2547815" y="316523"/>
                    </a:cubicBezTo>
                    <a:cubicBezTo>
                      <a:pt x="2723661" y="105508"/>
                      <a:pt x="2723661" y="52754"/>
                      <a:pt x="2723661" y="0"/>
                    </a:cubicBezTo>
                  </a:path>
                </a:pathLst>
              </a:custGeom>
              <a:noFill/>
              <a:ln w="28575" cap="flat" cmpd="sng">
                <a:solidFill>
                  <a:srgbClr val="6699FF"/>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72" name="TextBox 19"/>
              <p:cNvSpPr>
                <a:spLocks noChangeArrowheads="1"/>
              </p:cNvSpPr>
              <p:nvPr/>
            </p:nvSpPr>
            <p:spPr bwMode="auto">
              <a:xfrm>
                <a:off x="0" y="0"/>
                <a:ext cx="4286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endParaRPr lang="zh-CN" altLang="en-US">
                  <a:solidFill>
                    <a:srgbClr val="000000"/>
                  </a:solidFill>
                  <a:latin typeface="Cambria Math" panose="02040503050406030204" pitchFamily="18" charset="0"/>
                  <a:sym typeface="Cambria Math" panose="02040503050406030204" pitchFamily="18" charset="0"/>
                </a:endParaRPr>
              </a:p>
            </p:txBody>
          </p:sp>
        </p:grpSp>
        <p:sp>
          <p:nvSpPr>
            <p:cNvPr id="62" name="TextBox 25"/>
            <p:cNvSpPr>
              <a:spLocks noChangeArrowheads="1"/>
            </p:cNvSpPr>
            <p:nvPr/>
          </p:nvSpPr>
          <p:spPr bwMode="auto">
            <a:xfrm>
              <a:off x="2214576" y="2643203"/>
              <a:ext cx="838459" cy="5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nQ</a:t>
              </a:r>
              <a:r>
                <a:rPr lang="en-US" altLang="zh-CN" sz="1100" dirty="0">
                  <a:solidFill>
                    <a:srgbClr val="000000"/>
                  </a:solidFill>
                  <a:latin typeface="Cambria Math" panose="02040503050406030204" pitchFamily="18" charset="0"/>
                  <a:sym typeface="Cambria Math" panose="02040503050406030204" pitchFamily="18" charset="0"/>
                </a:rPr>
                <a:t>0</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63" name="直接连接符 26"/>
            <p:cNvSpPr>
              <a:spLocks noChangeShapeType="1"/>
            </p:cNvSpPr>
            <p:nvPr/>
          </p:nvSpPr>
          <p:spPr bwMode="auto">
            <a:xfrm rot="16200000" flipH="1">
              <a:off x="1327690" y="1601111"/>
              <a:ext cx="2065422" cy="7257"/>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直接连接符 27"/>
            <p:cNvSpPr>
              <a:spLocks noChangeShapeType="1"/>
            </p:cNvSpPr>
            <p:nvPr/>
          </p:nvSpPr>
          <p:spPr bwMode="auto">
            <a:xfrm rot="10800000">
              <a:off x="357417" y="572030"/>
              <a:ext cx="1999357" cy="2183"/>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TextBox 28"/>
            <p:cNvSpPr>
              <a:spLocks noChangeArrowheads="1"/>
            </p:cNvSpPr>
            <p:nvPr/>
          </p:nvSpPr>
          <p:spPr bwMode="auto">
            <a:xfrm>
              <a:off x="0" y="428628"/>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1100">
                  <a:solidFill>
                    <a:srgbClr val="000000"/>
                  </a:solidFill>
                  <a:latin typeface="Cambria Math" panose="02040503050406030204" pitchFamily="18" charset="0"/>
                  <a:sym typeface="Cambria Math" panose="02040503050406030204" pitchFamily="18" charset="0"/>
                </a:rPr>
                <a:t>0</a:t>
              </a:r>
              <a:endParaRPr lang="zh-CN" altLang="en-US" sz="1100">
                <a:solidFill>
                  <a:srgbClr val="000000"/>
                </a:solidFill>
                <a:latin typeface="Cambria Math" panose="02040503050406030204" pitchFamily="18" charset="0"/>
                <a:sym typeface="Cambria Math" panose="02040503050406030204" pitchFamily="18" charset="0"/>
              </a:endParaRPr>
            </a:p>
          </p:txBody>
        </p:sp>
      </p:grpSp>
      <p:sp>
        <p:nvSpPr>
          <p:cNvPr id="73" name="圆角矩形标注 30"/>
          <p:cNvSpPr>
            <a:spLocks noChangeArrowheads="1"/>
          </p:cNvSpPr>
          <p:nvPr/>
        </p:nvSpPr>
        <p:spPr bwMode="auto">
          <a:xfrm>
            <a:off x="4808214" y="1858742"/>
            <a:ext cx="3743263" cy="1925958"/>
          </a:xfrm>
          <a:prstGeom prst="wedgeRoundRectCallout">
            <a:avLst>
              <a:gd name="adj1" fmla="val -71523"/>
              <a:gd name="adj2" fmla="val 27135"/>
              <a:gd name="adj3" fmla="val 16667"/>
            </a:avLst>
          </a:prstGeom>
          <a:noFill/>
          <a:ln w="28575" cap="flat" cmpd="sng">
            <a:solidFill>
              <a:schemeClr val="accent3">
                <a:lumMod val="50000"/>
              </a:schemeClr>
            </a:solidFill>
            <a:miter lim="800000"/>
            <a:headEnd/>
            <a:tailEnd/>
          </a:ln>
        </p:spPr>
        <p:txBody>
          <a:bodyPr anchor="ctr"/>
          <a:lstStyle/>
          <a:p>
            <a:pPr algn="ctr">
              <a:lnSpc>
                <a:spcPct val="150000"/>
              </a:lnSpc>
            </a:pPr>
            <a:r>
              <a:rPr lang="zh-CN" altLang="en-US" sz="1400" dirty="0">
                <a:latin typeface="微软雅黑" panose="020B0503020204020204" pitchFamily="34" charset="-122"/>
                <a:ea typeface="微软雅黑" panose="020B0503020204020204" pitchFamily="34" charset="-122"/>
              </a:rPr>
              <a:t>假定</a:t>
            </a:r>
            <a:r>
              <a:rPr lang="zh-CN" altLang="en-US" sz="1600" dirty="0">
                <a:latin typeface="微软雅黑" panose="020B0503020204020204" pitchFamily="34" charset="-122"/>
                <a:ea typeface="微软雅黑" panose="020B0503020204020204" pitchFamily="34" charset="-122"/>
              </a:rPr>
              <a:t>：产品市场价格变化，所有厂商对相关要素的需求仅构成该要素市场需求微不足道的一部分。所有企业改变产量的行为不会会改变要素的价格</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因而短期</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MC</a:t>
            </a:r>
            <a:r>
              <a:rPr lang="zh-CN" altLang="en-US" sz="1600" dirty="0">
                <a:latin typeface="微软雅黑" panose="020B0503020204020204" pitchFamily="34" charset="-122"/>
                <a:ea typeface="微软雅黑" panose="020B0503020204020204" pitchFamily="34" charset="-122"/>
              </a:rPr>
              <a:t>曲线不变。</a:t>
            </a:r>
          </a:p>
        </p:txBody>
      </p:sp>
      <p:sp>
        <p:nvSpPr>
          <p:cNvPr id="74" name="矩形标注 31"/>
          <p:cNvSpPr>
            <a:spLocks noChangeArrowheads="1"/>
          </p:cNvSpPr>
          <p:nvPr/>
        </p:nvSpPr>
        <p:spPr bwMode="auto">
          <a:xfrm>
            <a:off x="4843856" y="4373245"/>
            <a:ext cx="3707622" cy="1653237"/>
          </a:xfrm>
          <a:prstGeom prst="wedgeRectCallout">
            <a:avLst>
              <a:gd name="adj1" fmla="val -106708"/>
              <a:gd name="adj2" fmla="val 31515"/>
            </a:avLst>
          </a:prstGeom>
          <a:noFill/>
          <a:ln w="28575" cap="flat" cmpd="sng">
            <a:solidFill>
              <a:schemeClr val="accent3">
                <a:lumMod val="50000"/>
              </a:schemeClr>
            </a:solidFill>
            <a:miter lim="800000"/>
            <a:headEnd/>
            <a:tailEnd/>
          </a:ln>
        </p:spPr>
        <p:txBody>
          <a:bodyPr anchor="ctr"/>
          <a:lstStyle/>
          <a:p>
            <a:pPr>
              <a:lnSpc>
                <a:spcPct val="150000"/>
              </a:lnSpc>
            </a:pPr>
            <a:r>
              <a:rPr lang="zh-CN" altLang="en-US" sz="1600" dirty="0">
                <a:latin typeface="微软雅黑" panose="020B0503020204020204" pitchFamily="34" charset="-122"/>
                <a:ea typeface="微软雅黑" panose="020B0503020204020204" pitchFamily="34" charset="-122"/>
              </a:rPr>
              <a:t>由于产品价格的变化不影响要素市场的价格</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故产品市场的供给曲线</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S</a:t>
            </a:r>
            <a:r>
              <a:rPr lang="zh-CN" altLang="en-US" sz="1600" dirty="0">
                <a:latin typeface="微软雅黑" panose="020B0503020204020204" pitchFamily="34" charset="-122"/>
                <a:ea typeface="微软雅黑" panose="020B0503020204020204" pitchFamily="34" charset="-122"/>
              </a:rPr>
              <a:t>是所有企业边际成本曲线的简单水平相加。</a:t>
            </a:r>
          </a:p>
        </p:txBody>
      </p:sp>
      <p:sp>
        <p:nvSpPr>
          <p:cNvPr id="75" name="左弧形箭头 32"/>
          <p:cNvSpPr>
            <a:spLocks noChangeArrowheads="1"/>
          </p:cNvSpPr>
          <p:nvPr/>
        </p:nvSpPr>
        <p:spPr bwMode="auto">
          <a:xfrm>
            <a:off x="399115" y="3294070"/>
            <a:ext cx="428625" cy="1143000"/>
          </a:xfrm>
          <a:prstGeom prst="curvedRightArrow">
            <a:avLst>
              <a:gd name="adj1" fmla="val 24988"/>
              <a:gd name="adj2" fmla="val 50000"/>
              <a:gd name="adj3" fmla="val 25000"/>
            </a:avLst>
          </a:prstGeom>
          <a:solidFill>
            <a:srgbClr val="BB1528"/>
          </a:solidFill>
          <a:ln w="25400" cap="flat" cmpd="sng">
            <a:noFill/>
            <a:miter lim="800000"/>
            <a:headEnd/>
            <a:tailEnd/>
          </a:ln>
        </p:spPr>
        <p:txBody>
          <a:bodyPr anchor="ctr"/>
          <a:lstStyle/>
          <a:p>
            <a:pPr algn="ctr"/>
            <a:endParaRPr lang="zh-CN" altLang="zh-CN"/>
          </a:p>
        </p:txBody>
      </p:sp>
      <p:sp>
        <p:nvSpPr>
          <p:cNvPr id="76" name="矩形 75"/>
          <p:cNvSpPr/>
          <p:nvPr/>
        </p:nvSpPr>
        <p:spPr>
          <a:xfrm>
            <a:off x="701696" y="1352057"/>
            <a:ext cx="3930322" cy="461665"/>
          </a:xfrm>
          <a:prstGeom prst="rect">
            <a:avLst/>
          </a:prstGeom>
        </p:spPr>
        <p:txBody>
          <a:bodyPr wrap="square">
            <a:spAutoFit/>
          </a:bodyPr>
          <a:lstStyle/>
          <a:p>
            <a:pPr eaLnBrk="1" hangingPunct="1">
              <a:lnSpc>
                <a:spcPct val="150000"/>
              </a:lnSpc>
            </a:pPr>
            <a:r>
              <a:rPr lang="zh-CN" altLang="en-US" sz="1600" dirty="0">
                <a:solidFill>
                  <a:schemeClr val="tx2"/>
                </a:solidFill>
                <a:latin typeface="微软雅黑" panose="020B0503020204020204" pitchFamily="34" charset="-122"/>
                <a:ea typeface="微软雅黑" panose="020B0503020204020204" pitchFamily="34" charset="-122"/>
                <a:sym typeface="Arial" panose="020B0604020202020204" pitchFamily="34" charset="0"/>
              </a:rPr>
              <a:t>⑴：产品价格变化不影响要素价格</a:t>
            </a:r>
          </a:p>
        </p:txBody>
      </p:sp>
    </p:spTree>
    <p:extLst>
      <p:ext uri="{BB962C8B-B14F-4D97-AF65-F5344CB8AC3E}">
        <p14:creationId xmlns:p14="http://schemas.microsoft.com/office/powerpoint/2010/main" val="3428965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circle(in)">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randombar(horizontal)">
                                      <p:cBhvr>
                                        <p:cTn id="17" dur="500"/>
                                        <p:tgtEl>
                                          <p:spTgt spid="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wipe(up)">
                                      <p:cBhvr>
                                        <p:cTn id="22" dur="500"/>
                                        <p:tgtEl>
                                          <p:spTgt spid="75"/>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circle(in)">
                                      <p:cBhvr>
                                        <p:cTn id="27" dur="500"/>
                                        <p:tgtEl>
                                          <p:spTgt spid="60"/>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randombar(horizontal)">
                                      <p:cBhvr>
                                        <p:cTn id="3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animBg="1"/>
      <p:bldP spid="7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8AA600B-8732-412D-AAD6-A052E742ACFF}"/>
              </a:ext>
            </a:extLst>
          </p:cNvPr>
          <p:cNvSpPr>
            <a:spLocks noGrp="1"/>
          </p:cNvSpPr>
          <p:nvPr>
            <p:ph idx="1"/>
          </p:nvPr>
        </p:nvSpPr>
        <p:spPr>
          <a:xfrm>
            <a:off x="457200" y="620688"/>
            <a:ext cx="8229600" cy="765448"/>
          </a:xfrm>
        </p:spPr>
        <p:txBody>
          <a:bodyPr>
            <a:normAutofit/>
          </a:bodyPr>
          <a:lstStyle/>
          <a:p>
            <a:r>
              <a:rPr lang="zh-CN" altLang="en-US" dirty="0"/>
              <a:t>完全竞争市场的短期供给曲线</a:t>
            </a:r>
            <a:endParaRPr lang="en-US" altLang="zh-CN" dirty="0"/>
          </a:p>
          <a:p>
            <a:endParaRPr lang="zh-CN" altLang="en-US" dirty="0"/>
          </a:p>
        </p:txBody>
      </p:sp>
      <p:sp>
        <p:nvSpPr>
          <p:cNvPr id="8" name="弧形 7">
            <a:extLst>
              <a:ext uri="{FF2B5EF4-FFF2-40B4-BE49-F238E27FC236}">
                <a16:creationId xmlns:a16="http://schemas.microsoft.com/office/drawing/2014/main" id="{B0CBDEF3-513C-4D98-A9E0-DBEFC7F07D65}"/>
              </a:ext>
            </a:extLst>
          </p:cNvPr>
          <p:cNvSpPr/>
          <p:nvPr/>
        </p:nvSpPr>
        <p:spPr>
          <a:xfrm rot="6319099">
            <a:off x="28918" y="546665"/>
            <a:ext cx="3973595" cy="2420623"/>
          </a:xfrm>
          <a:prstGeom prst="arc">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弧形 26">
            <a:extLst>
              <a:ext uri="{FF2B5EF4-FFF2-40B4-BE49-F238E27FC236}">
                <a16:creationId xmlns:a16="http://schemas.microsoft.com/office/drawing/2014/main" id="{AD801E04-E94E-4341-ADA9-9B84E479D801}"/>
              </a:ext>
            </a:extLst>
          </p:cNvPr>
          <p:cNvSpPr/>
          <p:nvPr/>
        </p:nvSpPr>
        <p:spPr>
          <a:xfrm rot="6319099">
            <a:off x="3485303" y="699065"/>
            <a:ext cx="3973595" cy="2420623"/>
          </a:xfrm>
          <a:prstGeom prst="arc">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15E29783-FB4B-4A60-BAD2-E55F40922184}"/>
              </a:ext>
            </a:extLst>
          </p:cNvPr>
          <p:cNvGrpSpPr/>
          <p:nvPr/>
        </p:nvGrpSpPr>
        <p:grpSpPr>
          <a:xfrm>
            <a:off x="395536" y="1619508"/>
            <a:ext cx="7272808" cy="4339064"/>
            <a:chOff x="395536" y="1619508"/>
            <a:chExt cx="7272808" cy="4339064"/>
          </a:xfrm>
        </p:grpSpPr>
        <p:cxnSp>
          <p:nvCxnSpPr>
            <p:cNvPr id="5" name="直接箭头连接符 4">
              <a:extLst>
                <a:ext uri="{FF2B5EF4-FFF2-40B4-BE49-F238E27FC236}">
                  <a16:creationId xmlns:a16="http://schemas.microsoft.com/office/drawing/2014/main" id="{83FCF5A0-DB44-46E9-8332-67E5DE3D7A59}"/>
                </a:ext>
              </a:extLst>
            </p:cNvPr>
            <p:cNvCxnSpPr/>
            <p:nvPr/>
          </p:nvCxnSpPr>
          <p:spPr>
            <a:xfrm flipV="1">
              <a:off x="755576" y="1628800"/>
              <a:ext cx="0" cy="309634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73EA59A7-6647-4063-9DD3-65BBB7C3BCFB}"/>
                </a:ext>
              </a:extLst>
            </p:cNvPr>
            <p:cNvCxnSpPr/>
            <p:nvPr/>
          </p:nvCxnSpPr>
          <p:spPr>
            <a:xfrm>
              <a:off x="755576" y="4725144"/>
              <a:ext cx="3024336"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4FFED42-9813-40BB-8E70-7F259E26786C}"/>
                </a:ext>
              </a:extLst>
            </p:cNvPr>
            <p:cNvCxnSpPr/>
            <p:nvPr/>
          </p:nvCxnSpPr>
          <p:spPr>
            <a:xfrm>
              <a:off x="755576" y="3068960"/>
              <a:ext cx="1944216" cy="0"/>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3258CEB-13DA-4066-A148-DB57680D26FC}"/>
                </a:ext>
              </a:extLst>
            </p:cNvPr>
            <p:cNvCxnSpPr/>
            <p:nvPr/>
          </p:nvCxnSpPr>
          <p:spPr>
            <a:xfrm>
              <a:off x="2699792" y="3068960"/>
              <a:ext cx="0" cy="1656184"/>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D55A4425-9E78-45BD-B130-015357313FCD}"/>
                </a:ext>
              </a:extLst>
            </p:cNvPr>
            <p:cNvSpPr txBox="1"/>
            <p:nvPr/>
          </p:nvSpPr>
          <p:spPr>
            <a:xfrm>
              <a:off x="3275856" y="1916832"/>
              <a:ext cx="543739" cy="369332"/>
            </a:xfrm>
            <a:prstGeom prst="rect">
              <a:avLst/>
            </a:prstGeom>
            <a:noFill/>
          </p:spPr>
          <p:txBody>
            <a:bodyPr wrap="none" rtlCol="0">
              <a:spAutoFit/>
            </a:bodyPr>
            <a:lstStyle/>
            <a:p>
              <a:r>
                <a:rPr lang="en-US" altLang="zh-CN" dirty="0"/>
                <a:t>MC</a:t>
              </a:r>
              <a:endParaRPr lang="zh-CN" altLang="en-US" dirty="0"/>
            </a:p>
          </p:txBody>
        </p:sp>
        <p:sp>
          <p:nvSpPr>
            <p:cNvPr id="14" name="文本框 13">
              <a:extLst>
                <a:ext uri="{FF2B5EF4-FFF2-40B4-BE49-F238E27FC236}">
                  <a16:creationId xmlns:a16="http://schemas.microsoft.com/office/drawing/2014/main" id="{A057069E-0903-4C2A-B772-1A65AFA14C03}"/>
                </a:ext>
              </a:extLst>
            </p:cNvPr>
            <p:cNvSpPr txBox="1"/>
            <p:nvPr/>
          </p:nvSpPr>
          <p:spPr>
            <a:xfrm>
              <a:off x="395536" y="2996957"/>
              <a:ext cx="466793" cy="369332"/>
            </a:xfrm>
            <a:prstGeom prst="rect">
              <a:avLst/>
            </a:prstGeom>
            <a:noFill/>
          </p:spPr>
          <p:txBody>
            <a:bodyPr wrap="square" rtlCol="0">
              <a:spAutoFit/>
            </a:bodyPr>
            <a:lstStyle/>
            <a:p>
              <a:r>
                <a:rPr lang="en-US" altLang="zh-CN" dirty="0"/>
                <a:t>P</a:t>
              </a:r>
              <a:r>
                <a:rPr lang="en-US" altLang="zh-CN" baseline="-25000" dirty="0"/>
                <a:t>0</a:t>
              </a:r>
              <a:endParaRPr lang="zh-CN" altLang="en-US" baseline="-25000" dirty="0"/>
            </a:p>
          </p:txBody>
        </p:sp>
        <p:sp>
          <p:nvSpPr>
            <p:cNvPr id="15" name="文本框 14">
              <a:extLst>
                <a:ext uri="{FF2B5EF4-FFF2-40B4-BE49-F238E27FC236}">
                  <a16:creationId xmlns:a16="http://schemas.microsoft.com/office/drawing/2014/main" id="{54E11BA2-BDA0-44D0-B9A2-FC586CA6B54D}"/>
                </a:ext>
              </a:extLst>
            </p:cNvPr>
            <p:cNvSpPr txBox="1"/>
            <p:nvPr/>
          </p:nvSpPr>
          <p:spPr>
            <a:xfrm>
              <a:off x="2483768" y="4797152"/>
              <a:ext cx="449162" cy="369332"/>
            </a:xfrm>
            <a:prstGeom prst="rect">
              <a:avLst/>
            </a:prstGeom>
            <a:noFill/>
          </p:spPr>
          <p:txBody>
            <a:bodyPr wrap="none" rtlCol="0">
              <a:spAutoFit/>
            </a:bodyPr>
            <a:lstStyle/>
            <a:p>
              <a:r>
                <a:rPr lang="en-US" altLang="zh-CN" dirty="0"/>
                <a:t>Q</a:t>
              </a:r>
              <a:r>
                <a:rPr lang="en-US" altLang="zh-CN" baseline="-25000" dirty="0"/>
                <a:t>0</a:t>
              </a:r>
              <a:endParaRPr lang="zh-CN" altLang="en-US" baseline="-25000" dirty="0"/>
            </a:p>
          </p:txBody>
        </p:sp>
        <p:sp>
          <p:nvSpPr>
            <p:cNvPr id="16" name="文本框 15">
              <a:extLst>
                <a:ext uri="{FF2B5EF4-FFF2-40B4-BE49-F238E27FC236}">
                  <a16:creationId xmlns:a16="http://schemas.microsoft.com/office/drawing/2014/main" id="{6D9684CB-972F-475E-B571-FE707514D668}"/>
                </a:ext>
              </a:extLst>
            </p:cNvPr>
            <p:cNvSpPr txBox="1"/>
            <p:nvPr/>
          </p:nvSpPr>
          <p:spPr>
            <a:xfrm>
              <a:off x="457200" y="1628800"/>
              <a:ext cx="338554" cy="369332"/>
            </a:xfrm>
            <a:prstGeom prst="rect">
              <a:avLst/>
            </a:prstGeom>
            <a:noFill/>
          </p:spPr>
          <p:txBody>
            <a:bodyPr wrap="none" rtlCol="0">
              <a:spAutoFit/>
            </a:bodyPr>
            <a:lstStyle/>
            <a:p>
              <a:r>
                <a:rPr lang="en-US" altLang="zh-CN" dirty="0"/>
                <a:t>P</a:t>
              </a:r>
              <a:endParaRPr lang="zh-CN" altLang="en-US" dirty="0"/>
            </a:p>
          </p:txBody>
        </p:sp>
        <p:sp>
          <p:nvSpPr>
            <p:cNvPr id="17" name="文本框 16">
              <a:extLst>
                <a:ext uri="{FF2B5EF4-FFF2-40B4-BE49-F238E27FC236}">
                  <a16:creationId xmlns:a16="http://schemas.microsoft.com/office/drawing/2014/main" id="{06D1AA33-6807-47E9-8E8D-FFCAFB96A2F9}"/>
                </a:ext>
              </a:extLst>
            </p:cNvPr>
            <p:cNvSpPr txBox="1"/>
            <p:nvPr/>
          </p:nvSpPr>
          <p:spPr>
            <a:xfrm>
              <a:off x="3707904" y="4787860"/>
              <a:ext cx="364202" cy="369332"/>
            </a:xfrm>
            <a:prstGeom prst="rect">
              <a:avLst/>
            </a:prstGeom>
            <a:noFill/>
          </p:spPr>
          <p:txBody>
            <a:bodyPr wrap="none" rtlCol="0">
              <a:spAutoFit/>
            </a:bodyPr>
            <a:lstStyle/>
            <a:p>
              <a:r>
                <a:rPr lang="en-US" altLang="zh-CN" dirty="0"/>
                <a:t>Q</a:t>
              </a:r>
              <a:endParaRPr lang="zh-CN" altLang="en-US" dirty="0"/>
            </a:p>
          </p:txBody>
        </p:sp>
        <p:cxnSp>
          <p:nvCxnSpPr>
            <p:cNvPr id="18" name="直接箭头连接符 17">
              <a:extLst>
                <a:ext uri="{FF2B5EF4-FFF2-40B4-BE49-F238E27FC236}">
                  <a16:creationId xmlns:a16="http://schemas.microsoft.com/office/drawing/2014/main" id="{02C4EC60-14E4-4DB6-96AA-8B6ED6818B9B}"/>
                </a:ext>
              </a:extLst>
            </p:cNvPr>
            <p:cNvCxnSpPr/>
            <p:nvPr/>
          </p:nvCxnSpPr>
          <p:spPr>
            <a:xfrm flipV="1">
              <a:off x="4351814" y="1619508"/>
              <a:ext cx="0" cy="309634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6D882547-61D7-4DE0-9113-76762FFFEAB7}"/>
                </a:ext>
              </a:extLst>
            </p:cNvPr>
            <p:cNvCxnSpPr/>
            <p:nvPr/>
          </p:nvCxnSpPr>
          <p:spPr>
            <a:xfrm>
              <a:off x="4351814" y="4715852"/>
              <a:ext cx="3024336"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D3FC6641-1175-4AED-BDEA-4B09FBB17CEA}"/>
                </a:ext>
              </a:extLst>
            </p:cNvPr>
            <p:cNvCxnSpPr/>
            <p:nvPr/>
          </p:nvCxnSpPr>
          <p:spPr>
            <a:xfrm>
              <a:off x="4351814" y="3059668"/>
              <a:ext cx="1944216" cy="0"/>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3C3FA7E8-3349-4B22-954F-2EDED68E7DA3}"/>
                </a:ext>
              </a:extLst>
            </p:cNvPr>
            <p:cNvCxnSpPr/>
            <p:nvPr/>
          </p:nvCxnSpPr>
          <p:spPr>
            <a:xfrm>
              <a:off x="6296030" y="3059668"/>
              <a:ext cx="0" cy="1656184"/>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534FD5A-E513-4D07-920D-6D92624B6552}"/>
                </a:ext>
              </a:extLst>
            </p:cNvPr>
            <p:cNvSpPr txBox="1"/>
            <p:nvPr/>
          </p:nvSpPr>
          <p:spPr>
            <a:xfrm>
              <a:off x="6872094" y="1907540"/>
              <a:ext cx="338554" cy="369332"/>
            </a:xfrm>
            <a:prstGeom prst="rect">
              <a:avLst/>
            </a:prstGeom>
            <a:noFill/>
          </p:spPr>
          <p:txBody>
            <a:bodyPr wrap="none" rtlCol="0">
              <a:spAutoFit/>
            </a:bodyPr>
            <a:lstStyle/>
            <a:p>
              <a:r>
                <a:rPr lang="en-US" altLang="zh-CN" dirty="0"/>
                <a:t>S</a:t>
              </a:r>
              <a:endParaRPr lang="zh-CN" altLang="en-US" dirty="0"/>
            </a:p>
          </p:txBody>
        </p:sp>
        <p:sp>
          <p:nvSpPr>
            <p:cNvPr id="23" name="文本框 22">
              <a:extLst>
                <a:ext uri="{FF2B5EF4-FFF2-40B4-BE49-F238E27FC236}">
                  <a16:creationId xmlns:a16="http://schemas.microsoft.com/office/drawing/2014/main" id="{5A66E138-A0AA-4D29-9AFD-B3E832B7E477}"/>
                </a:ext>
              </a:extLst>
            </p:cNvPr>
            <p:cNvSpPr txBox="1"/>
            <p:nvPr/>
          </p:nvSpPr>
          <p:spPr>
            <a:xfrm>
              <a:off x="3991774" y="2987665"/>
              <a:ext cx="466793" cy="369332"/>
            </a:xfrm>
            <a:prstGeom prst="rect">
              <a:avLst/>
            </a:prstGeom>
            <a:noFill/>
          </p:spPr>
          <p:txBody>
            <a:bodyPr wrap="square" rtlCol="0">
              <a:spAutoFit/>
            </a:bodyPr>
            <a:lstStyle/>
            <a:p>
              <a:r>
                <a:rPr lang="en-US" altLang="zh-CN" dirty="0"/>
                <a:t>P</a:t>
              </a:r>
              <a:r>
                <a:rPr lang="en-US" altLang="zh-CN" baseline="-25000" dirty="0"/>
                <a:t>0</a:t>
              </a:r>
              <a:endParaRPr lang="zh-CN" altLang="en-US" baseline="-25000" dirty="0"/>
            </a:p>
          </p:txBody>
        </p:sp>
        <p:sp>
          <p:nvSpPr>
            <p:cNvPr id="24" name="文本框 23">
              <a:extLst>
                <a:ext uri="{FF2B5EF4-FFF2-40B4-BE49-F238E27FC236}">
                  <a16:creationId xmlns:a16="http://schemas.microsoft.com/office/drawing/2014/main" id="{CE8FF21B-AD92-45FA-AEB4-ED89FE29A568}"/>
                </a:ext>
              </a:extLst>
            </p:cNvPr>
            <p:cNvSpPr txBox="1"/>
            <p:nvPr/>
          </p:nvSpPr>
          <p:spPr>
            <a:xfrm>
              <a:off x="6080006" y="4787860"/>
              <a:ext cx="577402" cy="369332"/>
            </a:xfrm>
            <a:prstGeom prst="rect">
              <a:avLst/>
            </a:prstGeom>
            <a:noFill/>
          </p:spPr>
          <p:txBody>
            <a:bodyPr wrap="none" rtlCol="0">
              <a:spAutoFit/>
            </a:bodyPr>
            <a:lstStyle/>
            <a:p>
              <a:r>
                <a:rPr lang="en-US" altLang="zh-CN" dirty="0"/>
                <a:t>nQ</a:t>
              </a:r>
              <a:r>
                <a:rPr lang="en-US" altLang="zh-CN" baseline="-25000" dirty="0"/>
                <a:t>0</a:t>
              </a:r>
              <a:endParaRPr lang="zh-CN" altLang="en-US" baseline="-25000" dirty="0"/>
            </a:p>
          </p:txBody>
        </p:sp>
        <p:sp>
          <p:nvSpPr>
            <p:cNvPr id="25" name="文本框 24">
              <a:extLst>
                <a:ext uri="{FF2B5EF4-FFF2-40B4-BE49-F238E27FC236}">
                  <a16:creationId xmlns:a16="http://schemas.microsoft.com/office/drawing/2014/main" id="{81A3F3C3-FA30-4A5F-82A6-6A02EB0B9442}"/>
                </a:ext>
              </a:extLst>
            </p:cNvPr>
            <p:cNvSpPr txBox="1"/>
            <p:nvPr/>
          </p:nvSpPr>
          <p:spPr>
            <a:xfrm>
              <a:off x="4053438" y="1619508"/>
              <a:ext cx="338554" cy="369332"/>
            </a:xfrm>
            <a:prstGeom prst="rect">
              <a:avLst/>
            </a:prstGeom>
            <a:noFill/>
          </p:spPr>
          <p:txBody>
            <a:bodyPr wrap="none" rtlCol="0">
              <a:spAutoFit/>
            </a:bodyPr>
            <a:lstStyle/>
            <a:p>
              <a:r>
                <a:rPr lang="en-US" altLang="zh-CN" dirty="0"/>
                <a:t>P</a:t>
              </a:r>
              <a:endParaRPr lang="zh-CN" altLang="en-US" dirty="0"/>
            </a:p>
          </p:txBody>
        </p:sp>
        <p:sp>
          <p:nvSpPr>
            <p:cNvPr id="26" name="文本框 25">
              <a:extLst>
                <a:ext uri="{FF2B5EF4-FFF2-40B4-BE49-F238E27FC236}">
                  <a16:creationId xmlns:a16="http://schemas.microsoft.com/office/drawing/2014/main" id="{CD75E479-F212-49DA-A138-B753DC0D507F}"/>
                </a:ext>
              </a:extLst>
            </p:cNvPr>
            <p:cNvSpPr txBox="1"/>
            <p:nvPr/>
          </p:nvSpPr>
          <p:spPr>
            <a:xfrm>
              <a:off x="7304142" y="4778568"/>
              <a:ext cx="364202" cy="369332"/>
            </a:xfrm>
            <a:prstGeom prst="rect">
              <a:avLst/>
            </a:prstGeom>
            <a:noFill/>
          </p:spPr>
          <p:txBody>
            <a:bodyPr wrap="none" rtlCol="0">
              <a:spAutoFit/>
            </a:bodyPr>
            <a:lstStyle/>
            <a:p>
              <a:r>
                <a:rPr lang="en-US" altLang="zh-CN" dirty="0"/>
                <a:t>Q</a:t>
              </a:r>
              <a:endParaRPr lang="zh-CN" altLang="en-US" dirty="0"/>
            </a:p>
          </p:txBody>
        </p:sp>
        <p:sp>
          <p:nvSpPr>
            <p:cNvPr id="28" name="文本框 27">
              <a:extLst>
                <a:ext uri="{FF2B5EF4-FFF2-40B4-BE49-F238E27FC236}">
                  <a16:creationId xmlns:a16="http://schemas.microsoft.com/office/drawing/2014/main" id="{6BBA0315-B619-438F-97AB-33EBBEC12AC0}"/>
                </a:ext>
              </a:extLst>
            </p:cNvPr>
            <p:cNvSpPr txBox="1"/>
            <p:nvPr/>
          </p:nvSpPr>
          <p:spPr>
            <a:xfrm>
              <a:off x="4067944" y="4581128"/>
              <a:ext cx="312906" cy="369332"/>
            </a:xfrm>
            <a:prstGeom prst="rect">
              <a:avLst/>
            </a:prstGeom>
            <a:noFill/>
          </p:spPr>
          <p:txBody>
            <a:bodyPr wrap="none" rtlCol="0">
              <a:spAutoFit/>
            </a:bodyPr>
            <a:lstStyle/>
            <a:p>
              <a:r>
                <a:rPr lang="en-US" altLang="zh-CN" dirty="0"/>
                <a:t>0</a:t>
              </a:r>
              <a:endParaRPr lang="zh-CN" altLang="en-US" dirty="0"/>
            </a:p>
          </p:txBody>
        </p:sp>
        <p:sp>
          <p:nvSpPr>
            <p:cNvPr id="29" name="文本框 28">
              <a:extLst>
                <a:ext uri="{FF2B5EF4-FFF2-40B4-BE49-F238E27FC236}">
                  <a16:creationId xmlns:a16="http://schemas.microsoft.com/office/drawing/2014/main" id="{872EC18C-56BC-4047-B9F3-5D98E53D9316}"/>
                </a:ext>
              </a:extLst>
            </p:cNvPr>
            <p:cNvSpPr txBox="1"/>
            <p:nvPr/>
          </p:nvSpPr>
          <p:spPr>
            <a:xfrm>
              <a:off x="467544" y="4581128"/>
              <a:ext cx="312906" cy="369332"/>
            </a:xfrm>
            <a:prstGeom prst="rect">
              <a:avLst/>
            </a:prstGeom>
            <a:noFill/>
          </p:spPr>
          <p:txBody>
            <a:bodyPr wrap="none" rtlCol="0">
              <a:spAutoFit/>
            </a:bodyPr>
            <a:lstStyle/>
            <a:p>
              <a:r>
                <a:rPr lang="en-US" altLang="zh-CN" dirty="0"/>
                <a:t>0</a:t>
              </a:r>
              <a:endParaRPr lang="zh-CN" altLang="en-US" dirty="0"/>
            </a:p>
          </p:txBody>
        </p:sp>
        <p:sp>
          <p:nvSpPr>
            <p:cNvPr id="30" name="文本框 29">
              <a:extLst>
                <a:ext uri="{FF2B5EF4-FFF2-40B4-BE49-F238E27FC236}">
                  <a16:creationId xmlns:a16="http://schemas.microsoft.com/office/drawing/2014/main" id="{6FCAD3FD-8630-4241-8E57-DBD3A1323439}"/>
                </a:ext>
              </a:extLst>
            </p:cNvPr>
            <p:cNvSpPr txBox="1"/>
            <p:nvPr/>
          </p:nvSpPr>
          <p:spPr>
            <a:xfrm>
              <a:off x="2267744" y="5589240"/>
              <a:ext cx="3456384" cy="369332"/>
            </a:xfrm>
            <a:prstGeom prst="rect">
              <a:avLst/>
            </a:prstGeom>
            <a:noFill/>
          </p:spPr>
          <p:txBody>
            <a:bodyPr wrap="square" rtlCol="0">
              <a:spAutoFit/>
            </a:bodyPr>
            <a:lstStyle/>
            <a:p>
              <a:r>
                <a:rPr lang="zh-CN" altLang="en-US" dirty="0"/>
                <a:t>短期供给曲线：从企业到市场</a:t>
              </a:r>
            </a:p>
          </p:txBody>
        </p:sp>
      </p:grpSp>
    </p:spTree>
    <p:extLst>
      <p:ext uri="{BB962C8B-B14F-4D97-AF65-F5344CB8AC3E}">
        <p14:creationId xmlns:p14="http://schemas.microsoft.com/office/powerpoint/2010/main" val="58373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36">
            <a:extLst>
              <a:ext uri="{FF2B5EF4-FFF2-40B4-BE49-F238E27FC236}">
                <a16:creationId xmlns:a16="http://schemas.microsoft.com/office/drawing/2014/main" id="{99FEB619-461B-43B3-ADFD-4A8220D77C23}"/>
              </a:ext>
            </a:extLst>
          </p:cNvPr>
          <p:cNvSpPr>
            <a:spLocks noGrp="1" noChangeArrowheads="1"/>
          </p:cNvSpPr>
          <p:nvPr>
            <p:ph type="title"/>
          </p:nvPr>
        </p:nvSpPr>
        <p:spPr>
          <a:noFill/>
        </p:spPr>
        <p:txBody>
          <a:bodyPr/>
          <a:lstStyle/>
          <a:p>
            <a:pPr eaLnBrk="1" hangingPunct="1"/>
            <a:r>
              <a:rPr lang="zh-CN" altLang="en-US" sz="3600">
                <a:latin typeface="黑体" panose="02010609060101010101" pitchFamily="49" charset="-122"/>
                <a:ea typeface="黑体" panose="02010609060101010101" pitchFamily="49" charset="-122"/>
              </a:rPr>
              <a:t>短期市场供给曲线</a:t>
            </a:r>
          </a:p>
        </p:txBody>
      </p:sp>
      <p:grpSp>
        <p:nvGrpSpPr>
          <p:cNvPr id="2" name="Group 1084">
            <a:extLst>
              <a:ext uri="{FF2B5EF4-FFF2-40B4-BE49-F238E27FC236}">
                <a16:creationId xmlns:a16="http://schemas.microsoft.com/office/drawing/2014/main" id="{728F3AFB-FA5B-4E9D-A087-7A64BEFA7919}"/>
              </a:ext>
            </a:extLst>
          </p:cNvPr>
          <p:cNvGrpSpPr>
            <a:grpSpLocks/>
          </p:cNvGrpSpPr>
          <p:nvPr/>
        </p:nvGrpSpPr>
        <p:grpSpPr bwMode="auto">
          <a:xfrm>
            <a:off x="3155950" y="1500188"/>
            <a:ext cx="1498600" cy="3178175"/>
            <a:chOff x="2345" y="1038"/>
            <a:chExt cx="944" cy="2002"/>
          </a:xfrm>
        </p:grpSpPr>
        <p:sp>
          <p:nvSpPr>
            <p:cNvPr id="56372" name="Freeform 1034">
              <a:extLst>
                <a:ext uri="{FF2B5EF4-FFF2-40B4-BE49-F238E27FC236}">
                  <a16:creationId xmlns:a16="http://schemas.microsoft.com/office/drawing/2014/main" id="{23B683DD-3BC7-4143-B156-F0E88CC8D908}"/>
                </a:ext>
              </a:extLst>
            </p:cNvPr>
            <p:cNvSpPr>
              <a:spLocks/>
            </p:cNvSpPr>
            <p:nvPr/>
          </p:nvSpPr>
          <p:spPr bwMode="auto">
            <a:xfrm>
              <a:off x="2345" y="1324"/>
              <a:ext cx="915" cy="1716"/>
            </a:xfrm>
            <a:custGeom>
              <a:avLst/>
              <a:gdLst>
                <a:gd name="T0" fmla="*/ 154632 w 562"/>
                <a:gd name="T1" fmla="*/ 57180 h 1411"/>
                <a:gd name="T2" fmla="*/ 102247 w 562"/>
                <a:gd name="T3" fmla="*/ 57354 h 1411"/>
                <a:gd name="T4" fmla="*/ 50921 w 562"/>
                <a:gd name="T5" fmla="*/ 57940 h 1411"/>
                <a:gd name="T6" fmla="*/ 0 w 562"/>
                <a:gd name="T7" fmla="*/ 58090 h 1411"/>
                <a:gd name="T8" fmla="*/ 50921 w 562"/>
                <a:gd name="T9" fmla="*/ 58090 h 1411"/>
                <a:gd name="T10" fmla="*/ 50921 w 562"/>
                <a:gd name="T11" fmla="*/ 57743 h 1411"/>
                <a:gd name="T12" fmla="*/ 154632 w 562"/>
                <a:gd name="T13" fmla="*/ 57180 h 1411"/>
                <a:gd name="T14" fmla="*/ 321966 w 562"/>
                <a:gd name="T15" fmla="*/ 56280 h 1411"/>
                <a:gd name="T16" fmla="*/ 535925 w 562"/>
                <a:gd name="T17" fmla="*/ 55024 h 1411"/>
                <a:gd name="T18" fmla="*/ 810084 w 562"/>
                <a:gd name="T19" fmla="*/ 53597 h 1411"/>
                <a:gd name="T20" fmla="*/ 1137553 w 562"/>
                <a:gd name="T21" fmla="*/ 51956 h 1411"/>
                <a:gd name="T22" fmla="*/ 1738140 w 562"/>
                <a:gd name="T23" fmla="*/ 48367 h 1411"/>
                <a:gd name="T24" fmla="*/ 2273838 w 562"/>
                <a:gd name="T25" fmla="*/ 44566 h 1411"/>
                <a:gd name="T26" fmla="*/ 2759664 w 562"/>
                <a:gd name="T27" fmla="*/ 41132 h 1411"/>
                <a:gd name="T28" fmla="*/ 3198505 w 562"/>
                <a:gd name="T29" fmla="*/ 37720 h 1411"/>
                <a:gd name="T30" fmla="*/ 3411599 w 562"/>
                <a:gd name="T31" fmla="*/ 35694 h 1411"/>
                <a:gd name="T32" fmla="*/ 3632088 w 562"/>
                <a:gd name="T33" fmla="*/ 33555 h 1411"/>
                <a:gd name="T34" fmla="*/ 3837320 w 562"/>
                <a:gd name="T35" fmla="*/ 31385 h 1411"/>
                <a:gd name="T36" fmla="*/ 4056524 w 562"/>
                <a:gd name="T37" fmla="*/ 28723 h 1411"/>
                <a:gd name="T38" fmla="*/ 4283699 w 562"/>
                <a:gd name="T39" fmla="*/ 25773 h 1411"/>
                <a:gd name="T40" fmla="*/ 4493047 w 562"/>
                <a:gd name="T41" fmla="*/ 22560 h 1411"/>
                <a:gd name="T42" fmla="*/ 4769646 w 562"/>
                <a:gd name="T43" fmla="*/ 19089 h 1411"/>
                <a:gd name="T44" fmla="*/ 4977864 w 562"/>
                <a:gd name="T45" fmla="*/ 15493 h 1411"/>
                <a:gd name="T46" fmla="*/ 5472441 w 562"/>
                <a:gd name="T47" fmla="*/ 7952 h 1411"/>
                <a:gd name="T48" fmla="*/ 5896079 w 562"/>
                <a:gd name="T49" fmla="*/ 0 h 14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62"/>
                <a:gd name="T76" fmla="*/ 0 h 1411"/>
                <a:gd name="T77" fmla="*/ 562 w 562"/>
                <a:gd name="T78" fmla="*/ 1411 h 141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62" h="1411">
                  <a:moveTo>
                    <a:pt x="15" y="1388"/>
                  </a:moveTo>
                  <a:lnTo>
                    <a:pt x="10" y="1393"/>
                  </a:lnTo>
                  <a:lnTo>
                    <a:pt x="5" y="1406"/>
                  </a:lnTo>
                  <a:lnTo>
                    <a:pt x="0" y="1410"/>
                  </a:lnTo>
                  <a:lnTo>
                    <a:pt x="5" y="1410"/>
                  </a:lnTo>
                  <a:lnTo>
                    <a:pt x="5" y="1402"/>
                  </a:lnTo>
                  <a:lnTo>
                    <a:pt x="15" y="1388"/>
                  </a:lnTo>
                  <a:lnTo>
                    <a:pt x="31" y="1367"/>
                  </a:lnTo>
                  <a:lnTo>
                    <a:pt x="51" y="1336"/>
                  </a:lnTo>
                  <a:lnTo>
                    <a:pt x="77" y="1301"/>
                  </a:lnTo>
                  <a:lnTo>
                    <a:pt x="108" y="1261"/>
                  </a:lnTo>
                  <a:lnTo>
                    <a:pt x="165" y="1174"/>
                  </a:lnTo>
                  <a:lnTo>
                    <a:pt x="216" y="1082"/>
                  </a:lnTo>
                  <a:lnTo>
                    <a:pt x="262" y="999"/>
                  </a:lnTo>
                  <a:lnTo>
                    <a:pt x="304" y="915"/>
                  </a:lnTo>
                  <a:lnTo>
                    <a:pt x="324" y="867"/>
                  </a:lnTo>
                  <a:lnTo>
                    <a:pt x="345" y="815"/>
                  </a:lnTo>
                  <a:lnTo>
                    <a:pt x="365" y="762"/>
                  </a:lnTo>
                  <a:lnTo>
                    <a:pt x="386" y="697"/>
                  </a:lnTo>
                  <a:lnTo>
                    <a:pt x="407" y="626"/>
                  </a:lnTo>
                  <a:lnTo>
                    <a:pt x="427" y="548"/>
                  </a:lnTo>
                  <a:lnTo>
                    <a:pt x="453" y="464"/>
                  </a:lnTo>
                  <a:lnTo>
                    <a:pt x="473" y="377"/>
                  </a:lnTo>
                  <a:lnTo>
                    <a:pt x="520" y="193"/>
                  </a:lnTo>
                  <a:lnTo>
                    <a:pt x="561" y="0"/>
                  </a:lnTo>
                </a:path>
              </a:pathLst>
            </a:custGeom>
            <a:noFill/>
            <a:ln w="50800" cap="rnd">
              <a:solidFill>
                <a:srgbClr val="33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73" name="Rectangle 1067">
              <a:extLst>
                <a:ext uri="{FF2B5EF4-FFF2-40B4-BE49-F238E27FC236}">
                  <a16:creationId xmlns:a16="http://schemas.microsoft.com/office/drawing/2014/main" id="{F7A3D74D-8429-4DD8-A092-704687AABB31}"/>
                </a:ext>
              </a:extLst>
            </p:cNvPr>
            <p:cNvSpPr>
              <a:spLocks noChangeArrowheads="1"/>
            </p:cNvSpPr>
            <p:nvPr/>
          </p:nvSpPr>
          <p:spPr bwMode="auto">
            <a:xfrm>
              <a:off x="2898" y="1038"/>
              <a:ext cx="39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MC</a:t>
              </a:r>
              <a:r>
                <a:rPr lang="en-US" altLang="zh-CN" sz="1800" i="1" baseline="-25000">
                  <a:latin typeface="Times New Roman" panose="02020603050405020304" pitchFamily="18" charset="0"/>
                  <a:ea typeface="宋体" panose="02010600030101010101" pitchFamily="2" charset="-122"/>
                </a:rPr>
                <a:t>3</a:t>
              </a:r>
            </a:p>
          </p:txBody>
        </p:sp>
      </p:grpSp>
      <p:sp>
        <p:nvSpPr>
          <p:cNvPr id="56324" name="Rectangle 1027">
            <a:extLst>
              <a:ext uri="{FF2B5EF4-FFF2-40B4-BE49-F238E27FC236}">
                <a16:creationId xmlns:a16="http://schemas.microsoft.com/office/drawing/2014/main" id="{C809D816-BB08-4654-BA7A-DDCDF907E251}"/>
              </a:ext>
            </a:extLst>
          </p:cNvPr>
          <p:cNvSpPr>
            <a:spLocks noChangeArrowheads="1"/>
          </p:cNvSpPr>
          <p:nvPr/>
        </p:nvSpPr>
        <p:spPr bwMode="auto">
          <a:xfrm>
            <a:off x="2709863" y="6100763"/>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56325" name="Line 1037">
            <a:extLst>
              <a:ext uri="{FF2B5EF4-FFF2-40B4-BE49-F238E27FC236}">
                <a16:creationId xmlns:a16="http://schemas.microsoft.com/office/drawing/2014/main" id="{5482AEA7-B253-4684-AB31-6A23E3028162}"/>
              </a:ext>
            </a:extLst>
          </p:cNvPr>
          <p:cNvSpPr>
            <a:spLocks noChangeShapeType="1"/>
          </p:cNvSpPr>
          <p:nvPr/>
        </p:nvSpPr>
        <p:spPr bwMode="auto">
          <a:xfrm>
            <a:off x="1643063" y="1568450"/>
            <a:ext cx="0" cy="4265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6" name="Line 1038">
            <a:extLst>
              <a:ext uri="{FF2B5EF4-FFF2-40B4-BE49-F238E27FC236}">
                <a16:creationId xmlns:a16="http://schemas.microsoft.com/office/drawing/2014/main" id="{5371171A-78EA-481F-ADD9-52BD7741B690}"/>
              </a:ext>
            </a:extLst>
          </p:cNvPr>
          <p:cNvSpPr>
            <a:spLocks noChangeShapeType="1"/>
          </p:cNvSpPr>
          <p:nvPr/>
        </p:nvSpPr>
        <p:spPr bwMode="auto">
          <a:xfrm>
            <a:off x="1636713" y="5807075"/>
            <a:ext cx="6283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7" name="Rectangle 1039">
            <a:extLst>
              <a:ext uri="{FF2B5EF4-FFF2-40B4-BE49-F238E27FC236}">
                <a16:creationId xmlns:a16="http://schemas.microsoft.com/office/drawing/2014/main" id="{56500592-4282-48F2-8B69-D7B8EFBF73D9}"/>
              </a:ext>
            </a:extLst>
          </p:cNvPr>
          <p:cNvSpPr>
            <a:spLocks noChangeArrowheads="1"/>
          </p:cNvSpPr>
          <p:nvPr/>
        </p:nvSpPr>
        <p:spPr bwMode="auto">
          <a:xfrm>
            <a:off x="533400" y="1522413"/>
            <a:ext cx="11017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单位价格</a:t>
            </a:r>
            <a:endParaRPr lang="en-US" altLang="zh-CN" sz="1800">
              <a:latin typeface="Times New Roman" panose="02020603050405020304" pitchFamily="18" charset="0"/>
              <a:ea typeface="宋体" panose="02010600030101010101" pitchFamily="2" charset="-122"/>
            </a:endParaRPr>
          </a:p>
        </p:txBody>
      </p:sp>
      <p:sp>
        <p:nvSpPr>
          <p:cNvPr id="56328" name="Rectangle 1040">
            <a:extLst>
              <a:ext uri="{FF2B5EF4-FFF2-40B4-BE49-F238E27FC236}">
                <a16:creationId xmlns:a16="http://schemas.microsoft.com/office/drawing/2014/main" id="{5175D896-D735-4483-B457-A3A92DBA994E}"/>
              </a:ext>
            </a:extLst>
          </p:cNvPr>
          <p:cNvSpPr>
            <a:spLocks noChangeArrowheads="1"/>
          </p:cNvSpPr>
          <p:nvPr/>
        </p:nvSpPr>
        <p:spPr bwMode="auto">
          <a:xfrm>
            <a:off x="1393825" y="5815013"/>
            <a:ext cx="2936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0</a:t>
            </a:r>
          </a:p>
        </p:txBody>
      </p:sp>
      <p:sp>
        <p:nvSpPr>
          <p:cNvPr id="56329" name="Rectangle 1041">
            <a:extLst>
              <a:ext uri="{FF2B5EF4-FFF2-40B4-BE49-F238E27FC236}">
                <a16:creationId xmlns:a16="http://schemas.microsoft.com/office/drawing/2014/main" id="{F376F577-389A-46F5-97DD-6BE6D5F491AC}"/>
              </a:ext>
            </a:extLst>
          </p:cNvPr>
          <p:cNvSpPr>
            <a:spLocks noChangeArrowheads="1"/>
          </p:cNvSpPr>
          <p:nvPr/>
        </p:nvSpPr>
        <p:spPr bwMode="auto">
          <a:xfrm>
            <a:off x="1943100" y="5815013"/>
            <a:ext cx="2936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2</a:t>
            </a:r>
          </a:p>
        </p:txBody>
      </p:sp>
      <p:sp>
        <p:nvSpPr>
          <p:cNvPr id="56330" name="Rectangle 1042">
            <a:extLst>
              <a:ext uri="{FF2B5EF4-FFF2-40B4-BE49-F238E27FC236}">
                <a16:creationId xmlns:a16="http://schemas.microsoft.com/office/drawing/2014/main" id="{F2CA58B2-FECA-4748-9953-3C76ED682F8A}"/>
              </a:ext>
            </a:extLst>
          </p:cNvPr>
          <p:cNvSpPr>
            <a:spLocks noChangeArrowheads="1"/>
          </p:cNvSpPr>
          <p:nvPr/>
        </p:nvSpPr>
        <p:spPr bwMode="auto">
          <a:xfrm>
            <a:off x="2286000" y="5815013"/>
            <a:ext cx="2936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4</a:t>
            </a:r>
          </a:p>
        </p:txBody>
      </p:sp>
      <p:sp>
        <p:nvSpPr>
          <p:cNvPr id="56331" name="Rectangle 1043">
            <a:extLst>
              <a:ext uri="{FF2B5EF4-FFF2-40B4-BE49-F238E27FC236}">
                <a16:creationId xmlns:a16="http://schemas.microsoft.com/office/drawing/2014/main" id="{854566E0-E5B0-41F9-B89B-D28E26B0352B}"/>
              </a:ext>
            </a:extLst>
          </p:cNvPr>
          <p:cNvSpPr>
            <a:spLocks noChangeArrowheads="1"/>
          </p:cNvSpPr>
          <p:nvPr/>
        </p:nvSpPr>
        <p:spPr bwMode="auto">
          <a:xfrm>
            <a:off x="3467100" y="5815013"/>
            <a:ext cx="2936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8</a:t>
            </a:r>
          </a:p>
        </p:txBody>
      </p:sp>
      <p:sp>
        <p:nvSpPr>
          <p:cNvPr id="56332" name="Rectangle 1044">
            <a:extLst>
              <a:ext uri="{FF2B5EF4-FFF2-40B4-BE49-F238E27FC236}">
                <a16:creationId xmlns:a16="http://schemas.microsoft.com/office/drawing/2014/main" id="{262F35DE-D556-4059-B206-38DB66812351}"/>
              </a:ext>
            </a:extLst>
          </p:cNvPr>
          <p:cNvSpPr>
            <a:spLocks noChangeArrowheads="1"/>
          </p:cNvSpPr>
          <p:nvPr/>
        </p:nvSpPr>
        <p:spPr bwMode="auto">
          <a:xfrm>
            <a:off x="4076700" y="5815013"/>
            <a:ext cx="4064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10</a:t>
            </a:r>
          </a:p>
        </p:txBody>
      </p:sp>
      <p:sp>
        <p:nvSpPr>
          <p:cNvPr id="56333" name="Rectangle 1045">
            <a:extLst>
              <a:ext uri="{FF2B5EF4-FFF2-40B4-BE49-F238E27FC236}">
                <a16:creationId xmlns:a16="http://schemas.microsoft.com/office/drawing/2014/main" id="{F0CBC318-417D-42E0-A69F-C24728B66331}"/>
              </a:ext>
            </a:extLst>
          </p:cNvPr>
          <p:cNvSpPr>
            <a:spLocks noChangeArrowheads="1"/>
          </p:cNvSpPr>
          <p:nvPr/>
        </p:nvSpPr>
        <p:spPr bwMode="auto">
          <a:xfrm>
            <a:off x="2571750" y="5815013"/>
            <a:ext cx="2936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5</a:t>
            </a:r>
          </a:p>
        </p:txBody>
      </p:sp>
      <p:sp>
        <p:nvSpPr>
          <p:cNvPr id="56334" name="Rectangle 1046">
            <a:extLst>
              <a:ext uri="{FF2B5EF4-FFF2-40B4-BE49-F238E27FC236}">
                <a16:creationId xmlns:a16="http://schemas.microsoft.com/office/drawing/2014/main" id="{6EA8608C-7587-4F94-9C3D-E07E3103BD34}"/>
              </a:ext>
            </a:extLst>
          </p:cNvPr>
          <p:cNvSpPr>
            <a:spLocks noChangeArrowheads="1"/>
          </p:cNvSpPr>
          <p:nvPr/>
        </p:nvSpPr>
        <p:spPr bwMode="auto">
          <a:xfrm>
            <a:off x="3238500" y="5815013"/>
            <a:ext cx="2936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7</a:t>
            </a:r>
          </a:p>
        </p:txBody>
      </p:sp>
      <p:sp>
        <p:nvSpPr>
          <p:cNvPr id="56335" name="Rectangle 1047">
            <a:extLst>
              <a:ext uri="{FF2B5EF4-FFF2-40B4-BE49-F238E27FC236}">
                <a16:creationId xmlns:a16="http://schemas.microsoft.com/office/drawing/2014/main" id="{768885A3-5F66-45FA-874B-BD123599C754}"/>
              </a:ext>
            </a:extLst>
          </p:cNvPr>
          <p:cNvSpPr>
            <a:spLocks noChangeArrowheads="1"/>
          </p:cNvSpPr>
          <p:nvPr/>
        </p:nvSpPr>
        <p:spPr bwMode="auto">
          <a:xfrm>
            <a:off x="6057900" y="5815013"/>
            <a:ext cx="4064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solidFill>
                  <a:srgbClr val="FF3300"/>
                </a:solidFill>
                <a:latin typeface="Times New Roman" panose="02020603050405020304" pitchFamily="18" charset="0"/>
                <a:ea typeface="宋体" panose="02010600030101010101" pitchFamily="2" charset="-122"/>
              </a:rPr>
              <a:t>15</a:t>
            </a:r>
          </a:p>
        </p:txBody>
      </p:sp>
      <p:sp>
        <p:nvSpPr>
          <p:cNvPr id="56336" name="Rectangle 1048">
            <a:extLst>
              <a:ext uri="{FF2B5EF4-FFF2-40B4-BE49-F238E27FC236}">
                <a16:creationId xmlns:a16="http://schemas.microsoft.com/office/drawing/2014/main" id="{7E65CC74-21CC-481B-A119-376FBDA81F36}"/>
              </a:ext>
            </a:extLst>
          </p:cNvPr>
          <p:cNvSpPr>
            <a:spLocks noChangeArrowheads="1"/>
          </p:cNvSpPr>
          <p:nvPr/>
        </p:nvSpPr>
        <p:spPr bwMode="auto">
          <a:xfrm>
            <a:off x="7505700" y="5815013"/>
            <a:ext cx="4064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600">
                <a:solidFill>
                  <a:srgbClr val="FF3300"/>
                </a:solidFill>
                <a:latin typeface="Times New Roman" panose="02020603050405020304" pitchFamily="18" charset="0"/>
                <a:ea typeface="宋体" panose="02010600030101010101" pitchFamily="2" charset="-122"/>
              </a:rPr>
              <a:t>21</a:t>
            </a:r>
          </a:p>
        </p:txBody>
      </p:sp>
      <p:grpSp>
        <p:nvGrpSpPr>
          <p:cNvPr id="3" name="Group 1082">
            <a:extLst>
              <a:ext uri="{FF2B5EF4-FFF2-40B4-BE49-F238E27FC236}">
                <a16:creationId xmlns:a16="http://schemas.microsoft.com/office/drawing/2014/main" id="{CA72AFD8-8B71-41DA-B00F-70CB744E46F2}"/>
              </a:ext>
            </a:extLst>
          </p:cNvPr>
          <p:cNvGrpSpPr>
            <a:grpSpLocks/>
          </p:cNvGrpSpPr>
          <p:nvPr/>
        </p:nvGrpSpPr>
        <p:grpSpPr bwMode="auto">
          <a:xfrm>
            <a:off x="2025650" y="1447800"/>
            <a:ext cx="1300163" cy="2751138"/>
            <a:chOff x="1633" y="1005"/>
            <a:chExt cx="819" cy="1733"/>
          </a:xfrm>
        </p:grpSpPr>
        <p:sp>
          <p:nvSpPr>
            <p:cNvPr id="56370" name="Freeform 1051">
              <a:extLst>
                <a:ext uri="{FF2B5EF4-FFF2-40B4-BE49-F238E27FC236}">
                  <a16:creationId xmlns:a16="http://schemas.microsoft.com/office/drawing/2014/main" id="{28924215-1891-4320-9D02-79A66AC5F0A5}"/>
                </a:ext>
              </a:extLst>
            </p:cNvPr>
            <p:cNvSpPr>
              <a:spLocks/>
            </p:cNvSpPr>
            <p:nvPr/>
          </p:nvSpPr>
          <p:spPr bwMode="auto">
            <a:xfrm>
              <a:off x="1633" y="1296"/>
              <a:ext cx="577" cy="1442"/>
            </a:xfrm>
            <a:custGeom>
              <a:avLst/>
              <a:gdLst>
                <a:gd name="T0" fmla="*/ 0 w 577"/>
                <a:gd name="T1" fmla="*/ 1441 h 1442"/>
                <a:gd name="T2" fmla="*/ 49 w 577"/>
                <a:gd name="T3" fmla="*/ 1375 h 1442"/>
                <a:gd name="T4" fmla="*/ 95 w 577"/>
                <a:gd name="T5" fmla="*/ 1310 h 1442"/>
                <a:gd name="T6" fmla="*/ 145 w 577"/>
                <a:gd name="T7" fmla="*/ 1235 h 1442"/>
                <a:gd name="T8" fmla="*/ 191 w 577"/>
                <a:gd name="T9" fmla="*/ 1152 h 1442"/>
                <a:gd name="T10" fmla="*/ 240 w 577"/>
                <a:gd name="T11" fmla="*/ 1064 h 1442"/>
                <a:gd name="T12" fmla="*/ 286 w 577"/>
                <a:gd name="T13" fmla="*/ 972 h 1442"/>
                <a:gd name="T14" fmla="*/ 311 w 577"/>
                <a:gd name="T15" fmla="*/ 924 h 1442"/>
                <a:gd name="T16" fmla="*/ 336 w 577"/>
                <a:gd name="T17" fmla="*/ 867 h 1442"/>
                <a:gd name="T18" fmla="*/ 357 w 577"/>
                <a:gd name="T19" fmla="*/ 810 h 1442"/>
                <a:gd name="T20" fmla="*/ 382 w 577"/>
                <a:gd name="T21" fmla="*/ 740 h 1442"/>
                <a:gd name="T22" fmla="*/ 406 w 577"/>
                <a:gd name="T23" fmla="*/ 666 h 1442"/>
                <a:gd name="T24" fmla="*/ 431 w 577"/>
                <a:gd name="T25" fmla="*/ 583 h 1442"/>
                <a:gd name="T26" fmla="*/ 456 w 577"/>
                <a:gd name="T27" fmla="*/ 495 h 1442"/>
                <a:gd name="T28" fmla="*/ 481 w 577"/>
                <a:gd name="T29" fmla="*/ 403 h 1442"/>
                <a:gd name="T30" fmla="*/ 530 w 577"/>
                <a:gd name="T31" fmla="*/ 206 h 1442"/>
                <a:gd name="T32" fmla="*/ 576 w 577"/>
                <a:gd name="T33" fmla="*/ 0 h 1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77"/>
                <a:gd name="T52" fmla="*/ 0 h 1442"/>
                <a:gd name="T53" fmla="*/ 577 w 577"/>
                <a:gd name="T54" fmla="*/ 1442 h 1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77" h="1442">
                  <a:moveTo>
                    <a:pt x="0" y="1441"/>
                  </a:moveTo>
                  <a:lnTo>
                    <a:pt x="49" y="1375"/>
                  </a:lnTo>
                  <a:lnTo>
                    <a:pt x="95" y="1310"/>
                  </a:lnTo>
                  <a:lnTo>
                    <a:pt x="145" y="1235"/>
                  </a:lnTo>
                  <a:lnTo>
                    <a:pt x="191" y="1152"/>
                  </a:lnTo>
                  <a:lnTo>
                    <a:pt x="240" y="1064"/>
                  </a:lnTo>
                  <a:lnTo>
                    <a:pt x="286" y="972"/>
                  </a:lnTo>
                  <a:lnTo>
                    <a:pt x="311" y="924"/>
                  </a:lnTo>
                  <a:lnTo>
                    <a:pt x="336" y="867"/>
                  </a:lnTo>
                  <a:lnTo>
                    <a:pt x="357" y="810"/>
                  </a:lnTo>
                  <a:lnTo>
                    <a:pt x="382" y="740"/>
                  </a:lnTo>
                  <a:lnTo>
                    <a:pt x="406" y="666"/>
                  </a:lnTo>
                  <a:lnTo>
                    <a:pt x="431" y="583"/>
                  </a:lnTo>
                  <a:lnTo>
                    <a:pt x="456" y="495"/>
                  </a:lnTo>
                  <a:lnTo>
                    <a:pt x="481" y="403"/>
                  </a:lnTo>
                  <a:lnTo>
                    <a:pt x="530" y="206"/>
                  </a:lnTo>
                  <a:lnTo>
                    <a:pt x="576" y="0"/>
                  </a:lnTo>
                </a:path>
              </a:pathLst>
            </a:custGeom>
            <a:noFill/>
            <a:ln w="50800" cap="rnd">
              <a:solidFill>
                <a:srgbClr val="33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71" name="Rectangle 1052">
              <a:extLst>
                <a:ext uri="{FF2B5EF4-FFF2-40B4-BE49-F238E27FC236}">
                  <a16:creationId xmlns:a16="http://schemas.microsoft.com/office/drawing/2014/main" id="{B76B6AD6-4B67-4AAE-9076-A369EDD5E3EA}"/>
                </a:ext>
              </a:extLst>
            </p:cNvPr>
            <p:cNvSpPr>
              <a:spLocks noChangeArrowheads="1"/>
            </p:cNvSpPr>
            <p:nvPr/>
          </p:nvSpPr>
          <p:spPr bwMode="auto">
            <a:xfrm>
              <a:off x="2061" y="1005"/>
              <a:ext cx="39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MC</a:t>
              </a:r>
              <a:r>
                <a:rPr lang="en-US" altLang="zh-CN" sz="1800" i="1" baseline="-25000">
                  <a:latin typeface="Times New Roman" panose="02020603050405020304" pitchFamily="18" charset="0"/>
                  <a:ea typeface="宋体" panose="02010600030101010101" pitchFamily="2" charset="-122"/>
                </a:rPr>
                <a:t>1</a:t>
              </a:r>
            </a:p>
          </p:txBody>
        </p:sp>
      </p:grpSp>
      <p:grpSp>
        <p:nvGrpSpPr>
          <p:cNvPr id="4" name="Group 1080">
            <a:extLst>
              <a:ext uri="{FF2B5EF4-FFF2-40B4-BE49-F238E27FC236}">
                <a16:creationId xmlns:a16="http://schemas.microsoft.com/office/drawing/2014/main" id="{13CDE6C9-F9C5-43C0-914C-6DB50859D8C3}"/>
              </a:ext>
            </a:extLst>
          </p:cNvPr>
          <p:cNvGrpSpPr>
            <a:grpSpLocks/>
          </p:cNvGrpSpPr>
          <p:nvPr/>
        </p:nvGrpSpPr>
        <p:grpSpPr bwMode="auto">
          <a:xfrm>
            <a:off x="3170238" y="1219200"/>
            <a:ext cx="5284787" cy="3436938"/>
            <a:chOff x="2354" y="861"/>
            <a:chExt cx="3329" cy="2165"/>
          </a:xfrm>
        </p:grpSpPr>
        <p:sp>
          <p:nvSpPr>
            <p:cNvPr id="56365" name="Line 1032">
              <a:extLst>
                <a:ext uri="{FF2B5EF4-FFF2-40B4-BE49-F238E27FC236}">
                  <a16:creationId xmlns:a16="http://schemas.microsoft.com/office/drawing/2014/main" id="{D368EB13-0FA6-4E99-A37F-7BA15A2A12BC}"/>
                </a:ext>
              </a:extLst>
            </p:cNvPr>
            <p:cNvSpPr>
              <a:spLocks noChangeShapeType="1"/>
            </p:cNvSpPr>
            <p:nvPr/>
          </p:nvSpPr>
          <p:spPr bwMode="auto">
            <a:xfrm>
              <a:off x="2657" y="2736"/>
              <a:ext cx="1647" cy="0"/>
            </a:xfrm>
            <a:prstGeom prst="line">
              <a:avLst/>
            </a:prstGeom>
            <a:noFill/>
            <a:ln w="50800">
              <a:solidFill>
                <a:srgbClr val="99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66" name="Freeform 1033">
              <a:extLst>
                <a:ext uri="{FF2B5EF4-FFF2-40B4-BE49-F238E27FC236}">
                  <a16:creationId xmlns:a16="http://schemas.microsoft.com/office/drawing/2014/main" id="{0861E243-5A98-404E-9F0C-FBC74D66C390}"/>
                </a:ext>
              </a:extLst>
            </p:cNvPr>
            <p:cNvSpPr>
              <a:spLocks/>
            </p:cNvSpPr>
            <p:nvPr/>
          </p:nvSpPr>
          <p:spPr bwMode="auto">
            <a:xfrm>
              <a:off x="2354" y="2735"/>
              <a:ext cx="288" cy="291"/>
            </a:xfrm>
            <a:custGeom>
              <a:avLst/>
              <a:gdLst>
                <a:gd name="T0" fmla="*/ 0 w 288"/>
                <a:gd name="T1" fmla="*/ 290 h 291"/>
                <a:gd name="T2" fmla="*/ 88 w 288"/>
                <a:gd name="T3" fmla="*/ 203 h 291"/>
                <a:gd name="T4" fmla="*/ 169 w 288"/>
                <a:gd name="T5" fmla="*/ 116 h 291"/>
                <a:gd name="T6" fmla="*/ 207 w 288"/>
                <a:gd name="T7" fmla="*/ 82 h 291"/>
                <a:gd name="T8" fmla="*/ 236 w 288"/>
                <a:gd name="T9" fmla="*/ 48 h 291"/>
                <a:gd name="T10" fmla="*/ 266 w 288"/>
                <a:gd name="T11" fmla="*/ 19 h 291"/>
                <a:gd name="T12" fmla="*/ 287 w 288"/>
                <a:gd name="T13" fmla="*/ 0 h 291"/>
                <a:gd name="T14" fmla="*/ 0 60000 65536"/>
                <a:gd name="T15" fmla="*/ 0 60000 65536"/>
                <a:gd name="T16" fmla="*/ 0 60000 65536"/>
                <a:gd name="T17" fmla="*/ 0 60000 65536"/>
                <a:gd name="T18" fmla="*/ 0 60000 65536"/>
                <a:gd name="T19" fmla="*/ 0 60000 65536"/>
                <a:gd name="T20" fmla="*/ 0 60000 65536"/>
                <a:gd name="T21" fmla="*/ 0 w 288"/>
                <a:gd name="T22" fmla="*/ 0 h 291"/>
                <a:gd name="T23" fmla="*/ 288 w 288"/>
                <a:gd name="T24" fmla="*/ 291 h 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8" h="291">
                  <a:moveTo>
                    <a:pt x="0" y="290"/>
                  </a:moveTo>
                  <a:lnTo>
                    <a:pt x="88" y="203"/>
                  </a:lnTo>
                  <a:lnTo>
                    <a:pt x="169" y="116"/>
                  </a:lnTo>
                  <a:lnTo>
                    <a:pt x="207" y="82"/>
                  </a:lnTo>
                  <a:lnTo>
                    <a:pt x="236" y="48"/>
                  </a:lnTo>
                  <a:lnTo>
                    <a:pt x="266" y="19"/>
                  </a:lnTo>
                  <a:lnTo>
                    <a:pt x="287"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67" name="Freeform 1070">
              <a:extLst>
                <a:ext uri="{FF2B5EF4-FFF2-40B4-BE49-F238E27FC236}">
                  <a16:creationId xmlns:a16="http://schemas.microsoft.com/office/drawing/2014/main" id="{23AA3E7D-4E14-4880-8F10-493A24D5256C}"/>
                </a:ext>
              </a:extLst>
            </p:cNvPr>
            <p:cNvSpPr>
              <a:spLocks/>
            </p:cNvSpPr>
            <p:nvPr/>
          </p:nvSpPr>
          <p:spPr bwMode="auto">
            <a:xfrm>
              <a:off x="4324" y="1104"/>
              <a:ext cx="1342" cy="1634"/>
            </a:xfrm>
            <a:custGeom>
              <a:avLst/>
              <a:gdLst>
                <a:gd name="T0" fmla="*/ 0 w 1342"/>
                <a:gd name="T1" fmla="*/ 1633 h 1634"/>
                <a:gd name="T2" fmla="*/ 253 w 1342"/>
                <a:gd name="T3" fmla="*/ 1432 h 1634"/>
                <a:gd name="T4" fmla="*/ 498 w 1342"/>
                <a:gd name="T5" fmla="*/ 1226 h 1634"/>
                <a:gd name="T6" fmla="*/ 725 w 1342"/>
                <a:gd name="T7" fmla="*/ 1020 h 1634"/>
                <a:gd name="T8" fmla="*/ 815 w 1342"/>
                <a:gd name="T9" fmla="*/ 919 h 1634"/>
                <a:gd name="T10" fmla="*/ 906 w 1342"/>
                <a:gd name="T11" fmla="*/ 814 h 1634"/>
                <a:gd name="T12" fmla="*/ 988 w 1342"/>
                <a:gd name="T13" fmla="*/ 713 h 1634"/>
                <a:gd name="T14" fmla="*/ 1051 w 1342"/>
                <a:gd name="T15" fmla="*/ 613 h 1634"/>
                <a:gd name="T16" fmla="*/ 1169 w 1342"/>
                <a:gd name="T17" fmla="*/ 407 h 1634"/>
                <a:gd name="T18" fmla="*/ 1259 w 1342"/>
                <a:gd name="T19" fmla="*/ 205 h 1634"/>
                <a:gd name="T20" fmla="*/ 1341 w 1342"/>
                <a:gd name="T21" fmla="*/ 0 h 16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42"/>
                <a:gd name="T34" fmla="*/ 0 h 1634"/>
                <a:gd name="T35" fmla="*/ 1342 w 1342"/>
                <a:gd name="T36" fmla="*/ 1634 h 16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42" h="1634">
                  <a:moveTo>
                    <a:pt x="0" y="1633"/>
                  </a:moveTo>
                  <a:lnTo>
                    <a:pt x="253" y="1432"/>
                  </a:lnTo>
                  <a:lnTo>
                    <a:pt x="498" y="1226"/>
                  </a:lnTo>
                  <a:lnTo>
                    <a:pt x="725" y="1020"/>
                  </a:lnTo>
                  <a:lnTo>
                    <a:pt x="815" y="919"/>
                  </a:lnTo>
                  <a:lnTo>
                    <a:pt x="906" y="814"/>
                  </a:lnTo>
                  <a:lnTo>
                    <a:pt x="988" y="713"/>
                  </a:lnTo>
                  <a:lnTo>
                    <a:pt x="1051" y="613"/>
                  </a:lnTo>
                  <a:lnTo>
                    <a:pt x="1169" y="407"/>
                  </a:lnTo>
                  <a:lnTo>
                    <a:pt x="1259" y="205"/>
                  </a:lnTo>
                  <a:lnTo>
                    <a:pt x="1341" y="0"/>
                  </a:lnTo>
                </a:path>
              </a:pathLst>
            </a:custGeom>
            <a:noFill/>
            <a:ln w="50800" cap="rnd">
              <a:solidFill>
                <a:srgbClr val="99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4849" name="Rectangle 1073">
              <a:extLst>
                <a:ext uri="{FF2B5EF4-FFF2-40B4-BE49-F238E27FC236}">
                  <a16:creationId xmlns:a16="http://schemas.microsoft.com/office/drawing/2014/main" id="{F4389843-E486-4F77-9918-DD02A566C346}"/>
                </a:ext>
              </a:extLst>
            </p:cNvPr>
            <p:cNvSpPr>
              <a:spLocks noChangeArrowheads="1"/>
            </p:cNvSpPr>
            <p:nvPr/>
          </p:nvSpPr>
          <p:spPr bwMode="auto">
            <a:xfrm>
              <a:off x="5469" y="861"/>
              <a:ext cx="210" cy="229"/>
            </a:xfrm>
            <a:prstGeom prst="rect">
              <a:avLst/>
            </a:prstGeom>
            <a:noFill/>
            <a:ln w="12700">
              <a:noFill/>
              <a:miter lim="800000"/>
              <a:headEnd/>
              <a:tailEnd/>
            </a:ln>
            <a:effectLst/>
          </p:spPr>
          <p:txBody>
            <a:bodyPr wrap="none" lIns="90488" tIns="44450" rIns="90488" bIns="44450">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i="1">
                  <a:effectLst>
                    <a:outerShdw blurRad="38100" dist="38100" dir="2700000" algn="tl">
                      <a:srgbClr val="C0C0C0"/>
                    </a:outerShdw>
                  </a:effectLst>
                </a:rPr>
                <a:t>S</a:t>
              </a:r>
            </a:p>
          </p:txBody>
        </p:sp>
        <p:sp>
          <p:nvSpPr>
            <p:cNvPr id="37937" name="Rectangle 1056">
              <a:extLst>
                <a:ext uri="{FF2B5EF4-FFF2-40B4-BE49-F238E27FC236}">
                  <a16:creationId xmlns:a16="http://schemas.microsoft.com/office/drawing/2014/main" id="{A87528B1-A3BF-4097-871E-90944F6B852C}"/>
                </a:ext>
              </a:extLst>
            </p:cNvPr>
            <p:cNvSpPr>
              <a:spLocks noChangeArrowheads="1"/>
            </p:cNvSpPr>
            <p:nvPr/>
          </p:nvSpPr>
          <p:spPr bwMode="auto">
            <a:xfrm>
              <a:off x="3454" y="1017"/>
              <a:ext cx="2229" cy="44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lIns="90488" tIns="44450" rIns="90488" bIns="44450">
              <a:spAutoFit/>
            </a:bodyPr>
            <a:lstStyle/>
            <a:p>
              <a:pPr eaLnBrk="1" hangingPunct="1">
                <a:defRPr/>
              </a:pPr>
              <a:r>
                <a:rPr lang="zh-CN" altLang="en-US" sz="2000" b="1" dirty="0">
                  <a:solidFill>
                    <a:srgbClr val="993300"/>
                  </a:solidFill>
                </a:rPr>
                <a:t>短期市场供给曲线是私人厂商</a:t>
              </a:r>
            </a:p>
            <a:p>
              <a:pPr eaLnBrk="1" hangingPunct="1">
                <a:defRPr/>
              </a:pPr>
              <a:r>
                <a:rPr lang="zh-CN" altLang="en-US" sz="2000" b="1" dirty="0">
                  <a:solidFill>
                    <a:srgbClr val="993300"/>
                  </a:solidFill>
                </a:rPr>
                <a:t>的供给曲线在横向加总。</a:t>
              </a:r>
            </a:p>
          </p:txBody>
        </p:sp>
      </p:grpSp>
      <p:sp>
        <p:nvSpPr>
          <p:cNvPr id="56339" name="Rectangle 1058">
            <a:extLst>
              <a:ext uri="{FF2B5EF4-FFF2-40B4-BE49-F238E27FC236}">
                <a16:creationId xmlns:a16="http://schemas.microsoft.com/office/drawing/2014/main" id="{B29FAE5A-8260-435A-A473-BC0CE4B77BC4}"/>
              </a:ext>
            </a:extLst>
          </p:cNvPr>
          <p:cNvSpPr>
            <a:spLocks noChangeArrowheads="1"/>
          </p:cNvSpPr>
          <p:nvPr/>
        </p:nvSpPr>
        <p:spPr bwMode="auto">
          <a:xfrm>
            <a:off x="6788150" y="5868988"/>
            <a:ext cx="64135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产量</a:t>
            </a:r>
          </a:p>
        </p:txBody>
      </p:sp>
      <p:grpSp>
        <p:nvGrpSpPr>
          <p:cNvPr id="5" name="Group 1083">
            <a:extLst>
              <a:ext uri="{FF2B5EF4-FFF2-40B4-BE49-F238E27FC236}">
                <a16:creationId xmlns:a16="http://schemas.microsoft.com/office/drawing/2014/main" id="{D317C20D-96B4-460A-8616-BC7290637871}"/>
              </a:ext>
            </a:extLst>
          </p:cNvPr>
          <p:cNvGrpSpPr>
            <a:grpSpLocks/>
          </p:cNvGrpSpPr>
          <p:nvPr/>
        </p:nvGrpSpPr>
        <p:grpSpPr bwMode="auto">
          <a:xfrm>
            <a:off x="2706688" y="1447800"/>
            <a:ext cx="1228725" cy="2751138"/>
            <a:chOff x="2062" y="1005"/>
            <a:chExt cx="774" cy="1733"/>
          </a:xfrm>
        </p:grpSpPr>
        <p:sp>
          <p:nvSpPr>
            <p:cNvPr id="56363" name="Freeform 1061">
              <a:extLst>
                <a:ext uri="{FF2B5EF4-FFF2-40B4-BE49-F238E27FC236}">
                  <a16:creationId xmlns:a16="http://schemas.microsoft.com/office/drawing/2014/main" id="{968EF173-437C-4C49-8701-C8153B4285D6}"/>
                </a:ext>
              </a:extLst>
            </p:cNvPr>
            <p:cNvSpPr>
              <a:spLocks/>
            </p:cNvSpPr>
            <p:nvPr/>
          </p:nvSpPr>
          <p:spPr bwMode="auto">
            <a:xfrm>
              <a:off x="2062" y="1296"/>
              <a:ext cx="580" cy="1442"/>
            </a:xfrm>
            <a:custGeom>
              <a:avLst/>
              <a:gdLst>
                <a:gd name="T0" fmla="*/ 0 w 580"/>
                <a:gd name="T1" fmla="*/ 1441 h 1442"/>
                <a:gd name="T2" fmla="*/ 51 w 580"/>
                <a:gd name="T3" fmla="*/ 1375 h 1442"/>
                <a:gd name="T4" fmla="*/ 97 w 580"/>
                <a:gd name="T5" fmla="*/ 1310 h 1442"/>
                <a:gd name="T6" fmla="*/ 148 w 580"/>
                <a:gd name="T7" fmla="*/ 1235 h 1442"/>
                <a:gd name="T8" fmla="*/ 194 w 580"/>
                <a:gd name="T9" fmla="*/ 1152 h 1442"/>
                <a:gd name="T10" fmla="*/ 241 w 580"/>
                <a:gd name="T11" fmla="*/ 1064 h 1442"/>
                <a:gd name="T12" fmla="*/ 292 w 580"/>
                <a:gd name="T13" fmla="*/ 972 h 1442"/>
                <a:gd name="T14" fmla="*/ 313 w 580"/>
                <a:gd name="T15" fmla="*/ 924 h 1442"/>
                <a:gd name="T16" fmla="*/ 338 w 580"/>
                <a:gd name="T17" fmla="*/ 867 h 1442"/>
                <a:gd name="T18" fmla="*/ 359 w 580"/>
                <a:gd name="T19" fmla="*/ 810 h 1442"/>
                <a:gd name="T20" fmla="*/ 385 w 580"/>
                <a:gd name="T21" fmla="*/ 740 h 1442"/>
                <a:gd name="T22" fmla="*/ 410 w 580"/>
                <a:gd name="T23" fmla="*/ 666 h 1442"/>
                <a:gd name="T24" fmla="*/ 431 w 580"/>
                <a:gd name="T25" fmla="*/ 583 h 1442"/>
                <a:gd name="T26" fmla="*/ 456 w 580"/>
                <a:gd name="T27" fmla="*/ 495 h 1442"/>
                <a:gd name="T28" fmla="*/ 482 w 580"/>
                <a:gd name="T29" fmla="*/ 403 h 1442"/>
                <a:gd name="T30" fmla="*/ 533 w 580"/>
                <a:gd name="T31" fmla="*/ 206 h 1442"/>
                <a:gd name="T32" fmla="*/ 579 w 580"/>
                <a:gd name="T33" fmla="*/ 0 h 14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80"/>
                <a:gd name="T52" fmla="*/ 0 h 1442"/>
                <a:gd name="T53" fmla="*/ 580 w 580"/>
                <a:gd name="T54" fmla="*/ 1442 h 14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80" h="1442">
                  <a:moveTo>
                    <a:pt x="0" y="1441"/>
                  </a:moveTo>
                  <a:lnTo>
                    <a:pt x="51" y="1375"/>
                  </a:lnTo>
                  <a:lnTo>
                    <a:pt x="97" y="1310"/>
                  </a:lnTo>
                  <a:lnTo>
                    <a:pt x="148" y="1235"/>
                  </a:lnTo>
                  <a:lnTo>
                    <a:pt x="194" y="1152"/>
                  </a:lnTo>
                  <a:lnTo>
                    <a:pt x="241" y="1064"/>
                  </a:lnTo>
                  <a:lnTo>
                    <a:pt x="292" y="972"/>
                  </a:lnTo>
                  <a:lnTo>
                    <a:pt x="313" y="924"/>
                  </a:lnTo>
                  <a:lnTo>
                    <a:pt x="338" y="867"/>
                  </a:lnTo>
                  <a:lnTo>
                    <a:pt x="359" y="810"/>
                  </a:lnTo>
                  <a:lnTo>
                    <a:pt x="385" y="740"/>
                  </a:lnTo>
                  <a:lnTo>
                    <a:pt x="410" y="666"/>
                  </a:lnTo>
                  <a:lnTo>
                    <a:pt x="431" y="583"/>
                  </a:lnTo>
                  <a:lnTo>
                    <a:pt x="456" y="495"/>
                  </a:lnTo>
                  <a:lnTo>
                    <a:pt x="482" y="403"/>
                  </a:lnTo>
                  <a:lnTo>
                    <a:pt x="533" y="206"/>
                  </a:lnTo>
                  <a:lnTo>
                    <a:pt x="579" y="0"/>
                  </a:lnTo>
                </a:path>
              </a:pathLst>
            </a:custGeom>
            <a:noFill/>
            <a:ln w="50800" cap="rnd">
              <a:solidFill>
                <a:srgbClr val="33CC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364" name="Rectangle 1064">
              <a:extLst>
                <a:ext uri="{FF2B5EF4-FFF2-40B4-BE49-F238E27FC236}">
                  <a16:creationId xmlns:a16="http://schemas.microsoft.com/office/drawing/2014/main" id="{A2B6EC0A-BECA-4922-AC46-AD839ECF79E1}"/>
                </a:ext>
              </a:extLst>
            </p:cNvPr>
            <p:cNvSpPr>
              <a:spLocks noChangeArrowheads="1"/>
            </p:cNvSpPr>
            <p:nvPr/>
          </p:nvSpPr>
          <p:spPr bwMode="auto">
            <a:xfrm>
              <a:off x="2445" y="1005"/>
              <a:ext cx="39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latin typeface="Times New Roman" panose="02020603050405020304" pitchFamily="18" charset="0"/>
                  <a:ea typeface="宋体" panose="02010600030101010101" pitchFamily="2" charset="-122"/>
                </a:rPr>
                <a:t>MC</a:t>
              </a:r>
              <a:r>
                <a:rPr lang="en-US" altLang="zh-CN" sz="1800" i="1" baseline="-25000">
                  <a:latin typeface="Times New Roman" panose="02020603050405020304" pitchFamily="18" charset="0"/>
                  <a:ea typeface="宋体" panose="02010600030101010101" pitchFamily="2" charset="-122"/>
                </a:rPr>
                <a:t>2</a:t>
              </a:r>
            </a:p>
          </p:txBody>
        </p:sp>
      </p:grpSp>
      <p:grpSp>
        <p:nvGrpSpPr>
          <p:cNvPr id="6" name="Group 1079">
            <a:extLst>
              <a:ext uri="{FF2B5EF4-FFF2-40B4-BE49-F238E27FC236}">
                <a16:creationId xmlns:a16="http://schemas.microsoft.com/office/drawing/2014/main" id="{24496DDC-7682-4D3B-9A07-B871E773EB5C}"/>
              </a:ext>
            </a:extLst>
          </p:cNvPr>
          <p:cNvGrpSpPr>
            <a:grpSpLocks/>
          </p:cNvGrpSpPr>
          <p:nvPr/>
        </p:nvGrpSpPr>
        <p:grpSpPr bwMode="auto">
          <a:xfrm>
            <a:off x="1165225" y="2667000"/>
            <a:ext cx="6650038" cy="3192463"/>
            <a:chOff x="1091" y="1773"/>
            <a:chExt cx="4189" cy="2011"/>
          </a:xfrm>
        </p:grpSpPr>
        <p:sp>
          <p:nvSpPr>
            <p:cNvPr id="56342" name="Oval 1069">
              <a:extLst>
                <a:ext uri="{FF2B5EF4-FFF2-40B4-BE49-F238E27FC236}">
                  <a16:creationId xmlns:a16="http://schemas.microsoft.com/office/drawing/2014/main" id="{8525C852-F666-4FA5-9146-86864B9BB7D6}"/>
                </a:ext>
              </a:extLst>
            </p:cNvPr>
            <p:cNvSpPr>
              <a:spLocks noChangeArrowheads="1"/>
            </p:cNvSpPr>
            <p:nvPr/>
          </p:nvSpPr>
          <p:spPr bwMode="auto">
            <a:xfrm>
              <a:off x="2304" y="2976"/>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56343" name="Line 1028">
              <a:extLst>
                <a:ext uri="{FF2B5EF4-FFF2-40B4-BE49-F238E27FC236}">
                  <a16:creationId xmlns:a16="http://schemas.microsoft.com/office/drawing/2014/main" id="{AC351417-A762-4D89-830F-6E6783DE1136}"/>
                </a:ext>
              </a:extLst>
            </p:cNvPr>
            <p:cNvSpPr>
              <a:spLocks noChangeShapeType="1"/>
            </p:cNvSpPr>
            <p:nvPr/>
          </p:nvSpPr>
          <p:spPr bwMode="auto">
            <a:xfrm>
              <a:off x="5232" y="1929"/>
              <a:ext cx="0" cy="1855"/>
            </a:xfrm>
            <a:prstGeom prst="line">
              <a:avLst/>
            </a:prstGeom>
            <a:noFill/>
            <a:ln w="254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44" name="Line 1029">
              <a:extLst>
                <a:ext uri="{FF2B5EF4-FFF2-40B4-BE49-F238E27FC236}">
                  <a16:creationId xmlns:a16="http://schemas.microsoft.com/office/drawing/2014/main" id="{E8043C59-9D0C-4D7C-9EFB-1740A80B7210}"/>
                </a:ext>
              </a:extLst>
            </p:cNvPr>
            <p:cNvSpPr>
              <a:spLocks noChangeShapeType="1"/>
            </p:cNvSpPr>
            <p:nvPr/>
          </p:nvSpPr>
          <p:spPr bwMode="auto">
            <a:xfrm>
              <a:off x="4320" y="2745"/>
              <a:ext cx="0" cy="1039"/>
            </a:xfrm>
            <a:prstGeom prst="line">
              <a:avLst/>
            </a:prstGeom>
            <a:noFill/>
            <a:ln w="254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45" name="Line 1030">
              <a:extLst>
                <a:ext uri="{FF2B5EF4-FFF2-40B4-BE49-F238E27FC236}">
                  <a16:creationId xmlns:a16="http://schemas.microsoft.com/office/drawing/2014/main" id="{150200F8-B283-470D-A0D6-13231F82C12C}"/>
                </a:ext>
              </a:extLst>
            </p:cNvPr>
            <p:cNvSpPr>
              <a:spLocks noChangeShapeType="1"/>
            </p:cNvSpPr>
            <p:nvPr/>
          </p:nvSpPr>
          <p:spPr bwMode="auto">
            <a:xfrm>
              <a:off x="3072" y="1929"/>
              <a:ext cx="0" cy="185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46" name="Line 1031">
              <a:extLst>
                <a:ext uri="{FF2B5EF4-FFF2-40B4-BE49-F238E27FC236}">
                  <a16:creationId xmlns:a16="http://schemas.microsoft.com/office/drawing/2014/main" id="{B53BAF08-31C6-4D8B-B65A-6412F034F6A4}"/>
                </a:ext>
              </a:extLst>
            </p:cNvPr>
            <p:cNvSpPr>
              <a:spLocks noChangeShapeType="1"/>
            </p:cNvSpPr>
            <p:nvPr/>
          </p:nvSpPr>
          <p:spPr bwMode="auto">
            <a:xfrm>
              <a:off x="2640" y="2745"/>
              <a:ext cx="0" cy="1039"/>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47" name="Line 1035">
              <a:extLst>
                <a:ext uri="{FF2B5EF4-FFF2-40B4-BE49-F238E27FC236}">
                  <a16:creationId xmlns:a16="http://schemas.microsoft.com/office/drawing/2014/main" id="{0EDB3345-4C6E-4CE3-AE29-83F563853F0C}"/>
                </a:ext>
              </a:extLst>
            </p:cNvPr>
            <p:cNvSpPr>
              <a:spLocks noChangeShapeType="1"/>
            </p:cNvSpPr>
            <p:nvPr/>
          </p:nvSpPr>
          <p:spPr bwMode="auto">
            <a:xfrm>
              <a:off x="1401" y="2736"/>
              <a:ext cx="1186" cy="0"/>
            </a:xfrm>
            <a:prstGeom prst="line">
              <a:avLst/>
            </a:prstGeom>
            <a:noFill/>
            <a:ln w="254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48" name="Rectangle 1049">
              <a:extLst>
                <a:ext uri="{FF2B5EF4-FFF2-40B4-BE49-F238E27FC236}">
                  <a16:creationId xmlns:a16="http://schemas.microsoft.com/office/drawing/2014/main" id="{6F8598FF-5EFB-4CF2-907A-1D0A2F0B3BEC}"/>
                </a:ext>
              </a:extLst>
            </p:cNvPr>
            <p:cNvSpPr>
              <a:spLocks noChangeArrowheads="1"/>
            </p:cNvSpPr>
            <p:nvPr/>
          </p:nvSpPr>
          <p:spPr bwMode="auto">
            <a:xfrm>
              <a:off x="1091" y="2855"/>
              <a:ext cx="26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solidFill>
                    <a:srgbClr val="FF3300"/>
                  </a:solidFill>
                  <a:latin typeface="Times New Roman" panose="02020603050405020304" pitchFamily="18" charset="0"/>
                  <a:ea typeface="宋体" panose="02010600030101010101" pitchFamily="2" charset="-122"/>
                </a:rPr>
                <a:t>P</a:t>
              </a:r>
              <a:r>
                <a:rPr lang="en-US" altLang="zh-CN" sz="1800" i="1" baseline="-25000">
                  <a:solidFill>
                    <a:srgbClr val="FF3300"/>
                  </a:solidFill>
                  <a:latin typeface="Times New Roman" panose="02020603050405020304" pitchFamily="18" charset="0"/>
                  <a:ea typeface="宋体" panose="02010600030101010101" pitchFamily="2" charset="-122"/>
                </a:rPr>
                <a:t>1</a:t>
              </a:r>
            </a:p>
          </p:txBody>
        </p:sp>
        <p:sp>
          <p:nvSpPr>
            <p:cNvPr id="56349" name="Rectangle 1050">
              <a:extLst>
                <a:ext uri="{FF2B5EF4-FFF2-40B4-BE49-F238E27FC236}">
                  <a16:creationId xmlns:a16="http://schemas.microsoft.com/office/drawing/2014/main" id="{8AC9EAEB-2D17-4F54-86FF-A38E319921BD}"/>
                </a:ext>
              </a:extLst>
            </p:cNvPr>
            <p:cNvSpPr>
              <a:spLocks noChangeArrowheads="1"/>
            </p:cNvSpPr>
            <p:nvPr/>
          </p:nvSpPr>
          <p:spPr bwMode="auto">
            <a:xfrm>
              <a:off x="1091" y="1773"/>
              <a:ext cx="26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solidFill>
                    <a:srgbClr val="FF3300"/>
                  </a:solidFill>
                  <a:latin typeface="Times New Roman" panose="02020603050405020304" pitchFamily="18" charset="0"/>
                  <a:ea typeface="宋体" panose="02010600030101010101" pitchFamily="2" charset="-122"/>
                </a:rPr>
                <a:t>P</a:t>
              </a:r>
              <a:r>
                <a:rPr lang="en-US" altLang="zh-CN" sz="1800" i="1" baseline="-25000">
                  <a:solidFill>
                    <a:srgbClr val="FF3300"/>
                  </a:solidFill>
                  <a:latin typeface="Times New Roman" panose="02020603050405020304" pitchFamily="18" charset="0"/>
                  <a:ea typeface="宋体" panose="02010600030101010101" pitchFamily="2" charset="-122"/>
                </a:rPr>
                <a:t>3</a:t>
              </a:r>
            </a:p>
          </p:txBody>
        </p:sp>
        <p:sp>
          <p:nvSpPr>
            <p:cNvPr id="56350" name="Line 1053">
              <a:extLst>
                <a:ext uri="{FF2B5EF4-FFF2-40B4-BE49-F238E27FC236}">
                  <a16:creationId xmlns:a16="http://schemas.microsoft.com/office/drawing/2014/main" id="{05738D78-26EE-4B38-8B81-D535F0F2DD82}"/>
                </a:ext>
              </a:extLst>
            </p:cNvPr>
            <p:cNvSpPr>
              <a:spLocks noChangeShapeType="1"/>
            </p:cNvSpPr>
            <p:nvPr/>
          </p:nvSpPr>
          <p:spPr bwMode="auto">
            <a:xfrm>
              <a:off x="1632" y="2793"/>
              <a:ext cx="0" cy="99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51" name="Oval 1054">
              <a:extLst>
                <a:ext uri="{FF2B5EF4-FFF2-40B4-BE49-F238E27FC236}">
                  <a16:creationId xmlns:a16="http://schemas.microsoft.com/office/drawing/2014/main" id="{BB4B2EB9-233E-4009-87F4-3329C87178EE}"/>
                </a:ext>
              </a:extLst>
            </p:cNvPr>
            <p:cNvSpPr>
              <a:spLocks noChangeArrowheads="1"/>
            </p:cNvSpPr>
            <p:nvPr/>
          </p:nvSpPr>
          <p:spPr bwMode="auto">
            <a:xfrm>
              <a:off x="1584" y="2688"/>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56352" name="Line 1055">
              <a:extLst>
                <a:ext uri="{FF2B5EF4-FFF2-40B4-BE49-F238E27FC236}">
                  <a16:creationId xmlns:a16="http://schemas.microsoft.com/office/drawing/2014/main" id="{4C27D5C3-1027-4E71-8A5A-80E41D74A6C6}"/>
                </a:ext>
              </a:extLst>
            </p:cNvPr>
            <p:cNvSpPr>
              <a:spLocks noChangeShapeType="1"/>
            </p:cNvSpPr>
            <p:nvPr/>
          </p:nvSpPr>
          <p:spPr bwMode="auto">
            <a:xfrm>
              <a:off x="2064" y="1929"/>
              <a:ext cx="0" cy="185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53" name="Line 1057">
              <a:extLst>
                <a:ext uri="{FF2B5EF4-FFF2-40B4-BE49-F238E27FC236}">
                  <a16:creationId xmlns:a16="http://schemas.microsoft.com/office/drawing/2014/main" id="{9B7150DC-353A-4924-AD97-1C5A70466C55}"/>
                </a:ext>
              </a:extLst>
            </p:cNvPr>
            <p:cNvSpPr>
              <a:spLocks noChangeShapeType="1"/>
            </p:cNvSpPr>
            <p:nvPr/>
          </p:nvSpPr>
          <p:spPr bwMode="auto">
            <a:xfrm>
              <a:off x="1401" y="1920"/>
              <a:ext cx="3779" cy="0"/>
            </a:xfrm>
            <a:prstGeom prst="line">
              <a:avLst/>
            </a:prstGeom>
            <a:noFill/>
            <a:ln w="254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54" name="Oval 1059">
              <a:extLst>
                <a:ext uri="{FF2B5EF4-FFF2-40B4-BE49-F238E27FC236}">
                  <a16:creationId xmlns:a16="http://schemas.microsoft.com/office/drawing/2014/main" id="{7B63BE8A-4AB7-4F2E-93F7-71944AB9ECF8}"/>
                </a:ext>
              </a:extLst>
            </p:cNvPr>
            <p:cNvSpPr>
              <a:spLocks noChangeArrowheads="1"/>
            </p:cNvSpPr>
            <p:nvPr/>
          </p:nvSpPr>
          <p:spPr bwMode="auto">
            <a:xfrm>
              <a:off x="2016" y="1872"/>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56355" name="Rectangle 1060">
              <a:extLst>
                <a:ext uri="{FF2B5EF4-FFF2-40B4-BE49-F238E27FC236}">
                  <a16:creationId xmlns:a16="http://schemas.microsoft.com/office/drawing/2014/main" id="{5D83657C-474B-4DFE-AF67-DFE615125F28}"/>
                </a:ext>
              </a:extLst>
            </p:cNvPr>
            <p:cNvSpPr>
              <a:spLocks noChangeArrowheads="1"/>
            </p:cNvSpPr>
            <p:nvPr/>
          </p:nvSpPr>
          <p:spPr bwMode="auto">
            <a:xfrm>
              <a:off x="1091" y="2541"/>
              <a:ext cx="26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800" i="1">
                  <a:solidFill>
                    <a:srgbClr val="FF3300"/>
                  </a:solidFill>
                  <a:latin typeface="Times New Roman" panose="02020603050405020304" pitchFamily="18" charset="0"/>
                  <a:ea typeface="宋体" panose="02010600030101010101" pitchFamily="2" charset="-122"/>
                </a:rPr>
                <a:t>P</a:t>
              </a:r>
              <a:r>
                <a:rPr lang="en-US" altLang="zh-CN" sz="1800" i="1" baseline="-25000">
                  <a:solidFill>
                    <a:srgbClr val="FF3300"/>
                  </a:solidFill>
                  <a:latin typeface="Times New Roman" panose="02020603050405020304" pitchFamily="18" charset="0"/>
                  <a:ea typeface="宋体" panose="02010600030101010101" pitchFamily="2" charset="-122"/>
                </a:rPr>
                <a:t>2</a:t>
              </a:r>
            </a:p>
          </p:txBody>
        </p:sp>
        <p:sp>
          <p:nvSpPr>
            <p:cNvPr id="56356" name="Oval 1062">
              <a:extLst>
                <a:ext uri="{FF2B5EF4-FFF2-40B4-BE49-F238E27FC236}">
                  <a16:creationId xmlns:a16="http://schemas.microsoft.com/office/drawing/2014/main" id="{5652B19A-9344-45C0-B77E-655EB1C66B9C}"/>
                </a:ext>
              </a:extLst>
            </p:cNvPr>
            <p:cNvSpPr>
              <a:spLocks noChangeArrowheads="1"/>
            </p:cNvSpPr>
            <p:nvPr/>
          </p:nvSpPr>
          <p:spPr bwMode="auto">
            <a:xfrm>
              <a:off x="2592" y="2688"/>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56357" name="Oval 1063">
              <a:extLst>
                <a:ext uri="{FF2B5EF4-FFF2-40B4-BE49-F238E27FC236}">
                  <a16:creationId xmlns:a16="http://schemas.microsoft.com/office/drawing/2014/main" id="{AC6F3BBF-473C-44A2-8337-89D6FB8FCBD8}"/>
                </a:ext>
              </a:extLst>
            </p:cNvPr>
            <p:cNvSpPr>
              <a:spLocks noChangeArrowheads="1"/>
            </p:cNvSpPr>
            <p:nvPr/>
          </p:nvSpPr>
          <p:spPr bwMode="auto">
            <a:xfrm>
              <a:off x="3024" y="1872"/>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56358" name="Oval 1065">
              <a:extLst>
                <a:ext uri="{FF2B5EF4-FFF2-40B4-BE49-F238E27FC236}">
                  <a16:creationId xmlns:a16="http://schemas.microsoft.com/office/drawing/2014/main" id="{1AAE4ADC-D970-4704-8159-99551CECFF36}"/>
                </a:ext>
              </a:extLst>
            </p:cNvPr>
            <p:cNvSpPr>
              <a:spLocks noChangeArrowheads="1"/>
            </p:cNvSpPr>
            <p:nvPr/>
          </p:nvSpPr>
          <p:spPr bwMode="auto">
            <a:xfrm>
              <a:off x="2016" y="2688"/>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56359" name="Oval 1066">
              <a:extLst>
                <a:ext uri="{FF2B5EF4-FFF2-40B4-BE49-F238E27FC236}">
                  <a16:creationId xmlns:a16="http://schemas.microsoft.com/office/drawing/2014/main" id="{87EE6884-35AB-4F2D-9DA1-BB7EEF3CF423}"/>
                </a:ext>
              </a:extLst>
            </p:cNvPr>
            <p:cNvSpPr>
              <a:spLocks noChangeArrowheads="1"/>
            </p:cNvSpPr>
            <p:nvPr/>
          </p:nvSpPr>
          <p:spPr bwMode="auto">
            <a:xfrm>
              <a:off x="2448" y="1872"/>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56360" name="Line 1068">
              <a:extLst>
                <a:ext uri="{FF2B5EF4-FFF2-40B4-BE49-F238E27FC236}">
                  <a16:creationId xmlns:a16="http://schemas.microsoft.com/office/drawing/2014/main" id="{6C1491EE-210B-4921-8D7B-94360DB513B3}"/>
                </a:ext>
              </a:extLst>
            </p:cNvPr>
            <p:cNvSpPr>
              <a:spLocks noChangeShapeType="1"/>
            </p:cNvSpPr>
            <p:nvPr/>
          </p:nvSpPr>
          <p:spPr bwMode="auto">
            <a:xfrm>
              <a:off x="1353" y="3024"/>
              <a:ext cx="935" cy="0"/>
            </a:xfrm>
            <a:prstGeom prst="line">
              <a:avLst/>
            </a:prstGeom>
            <a:noFill/>
            <a:ln w="25400">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61" name="Oval 1071">
              <a:extLst>
                <a:ext uri="{FF2B5EF4-FFF2-40B4-BE49-F238E27FC236}">
                  <a16:creationId xmlns:a16="http://schemas.microsoft.com/office/drawing/2014/main" id="{1E677205-9055-4230-9DA0-032E5C205B6B}"/>
                </a:ext>
              </a:extLst>
            </p:cNvPr>
            <p:cNvSpPr>
              <a:spLocks noChangeArrowheads="1"/>
            </p:cNvSpPr>
            <p:nvPr/>
          </p:nvSpPr>
          <p:spPr bwMode="auto">
            <a:xfrm>
              <a:off x="5184" y="1872"/>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56362" name="Oval 1072">
              <a:extLst>
                <a:ext uri="{FF2B5EF4-FFF2-40B4-BE49-F238E27FC236}">
                  <a16:creationId xmlns:a16="http://schemas.microsoft.com/office/drawing/2014/main" id="{C6BDFE4C-25D2-4EE0-9425-D202222884AF}"/>
                </a:ext>
              </a:extLst>
            </p:cNvPr>
            <p:cNvSpPr>
              <a:spLocks noChangeArrowheads="1"/>
            </p:cNvSpPr>
            <p:nvPr/>
          </p:nvSpPr>
          <p:spPr bwMode="auto">
            <a:xfrm>
              <a:off x="4272" y="2688"/>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grpSp>
      <p:sp>
        <p:nvSpPr>
          <p:cNvPr id="7" name="标注: 线形 6">
            <a:extLst>
              <a:ext uri="{FF2B5EF4-FFF2-40B4-BE49-F238E27FC236}">
                <a16:creationId xmlns:a16="http://schemas.microsoft.com/office/drawing/2014/main" id="{0171E143-9236-4ADC-88CB-47E047AEE293}"/>
              </a:ext>
            </a:extLst>
          </p:cNvPr>
          <p:cNvSpPr/>
          <p:nvPr/>
        </p:nvSpPr>
        <p:spPr bwMode="auto">
          <a:xfrm>
            <a:off x="7954885" y="4491038"/>
            <a:ext cx="1282699" cy="1741487"/>
          </a:xfrm>
          <a:prstGeom prst="borderCallout1">
            <a:avLst>
              <a:gd name="adj1" fmla="val -1461"/>
              <a:gd name="adj2" fmla="val 39734"/>
              <a:gd name="adj3" fmla="val -106434"/>
              <a:gd name="adj4" fmla="val -1058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由于市场上通常有无数家企业，因此加总成的市场供给曲线会比较平滑。</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F68E5273-CD77-47B9-B841-9D29349C133D}"/>
              </a:ext>
            </a:extLst>
          </p:cNvPr>
          <p:cNvSpPr/>
          <p:nvPr/>
        </p:nvSpPr>
        <p:spPr>
          <a:xfrm>
            <a:off x="467544" y="548680"/>
            <a:ext cx="4762842"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四、企业和市场的短期供给曲线</a:t>
            </a:r>
          </a:p>
        </p:txBody>
      </p:sp>
      <p:sp>
        <p:nvSpPr>
          <p:cNvPr id="14" name="矩形 13">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45" name="矩形 44">
            <a:extLst>
              <a:ext uri="{FF2B5EF4-FFF2-40B4-BE49-F238E27FC236}">
                <a16:creationId xmlns:a16="http://schemas.microsoft.com/office/drawing/2014/main" id="{43144617-86E7-4C79-8DA7-59FB06215111}"/>
              </a:ext>
            </a:extLst>
          </p:cNvPr>
          <p:cNvSpPr/>
          <p:nvPr/>
        </p:nvSpPr>
        <p:spPr>
          <a:xfrm>
            <a:off x="467544" y="1121840"/>
            <a:ext cx="3724096" cy="313932"/>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完全竞争企业的短期供给曲线</a:t>
            </a:r>
          </a:p>
        </p:txBody>
      </p:sp>
      <p:sp>
        <p:nvSpPr>
          <p:cNvPr id="76" name="矩形 75"/>
          <p:cNvSpPr/>
          <p:nvPr/>
        </p:nvSpPr>
        <p:spPr>
          <a:xfrm>
            <a:off x="701696" y="1352057"/>
            <a:ext cx="3930322" cy="461665"/>
          </a:xfrm>
          <a:prstGeom prst="rect">
            <a:avLst/>
          </a:prstGeom>
        </p:spPr>
        <p:txBody>
          <a:bodyPr wrap="square">
            <a:spAutoFit/>
          </a:bodyPr>
          <a:lstStyle/>
          <a:p>
            <a:pPr eaLnBrk="1" hangingPunct="1">
              <a:lnSpc>
                <a:spcPct val="150000"/>
              </a:lnSpc>
            </a:pPr>
            <a:r>
              <a:rPr lang="zh-CN" altLang="en-US" sz="1600" dirty="0">
                <a:solidFill>
                  <a:schemeClr val="tx2"/>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1600" dirty="0">
                <a:solidFill>
                  <a:schemeClr val="tx2"/>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sz="1600" dirty="0">
                <a:solidFill>
                  <a:schemeClr val="tx2"/>
                </a:solidFill>
                <a:latin typeface="微软雅黑" panose="020B0503020204020204" pitchFamily="34" charset="-122"/>
                <a:ea typeface="微软雅黑" panose="020B0503020204020204" pitchFamily="34" charset="-122"/>
                <a:sym typeface="Arial" panose="020B0604020202020204" pitchFamily="34" charset="0"/>
              </a:rPr>
              <a:t>：产品价格变化影响要素价格</a:t>
            </a:r>
          </a:p>
        </p:txBody>
      </p:sp>
      <p:sp>
        <p:nvSpPr>
          <p:cNvPr id="36" name="直接箭头连接符 10"/>
          <p:cNvSpPr>
            <a:spLocks noChangeShapeType="1"/>
          </p:cNvSpPr>
          <p:nvPr/>
        </p:nvSpPr>
        <p:spPr bwMode="auto">
          <a:xfrm rot="16200000" flipV="1">
            <a:off x="-34925" y="2992438"/>
            <a:ext cx="2209800" cy="0"/>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7" name="直接箭头连接符 11"/>
          <p:cNvSpPr>
            <a:spLocks noChangeShapeType="1"/>
          </p:cNvSpPr>
          <p:nvPr/>
        </p:nvSpPr>
        <p:spPr bwMode="auto">
          <a:xfrm>
            <a:off x="1069975" y="4095750"/>
            <a:ext cx="3063875" cy="12700"/>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8" name="TextBox 6"/>
          <p:cNvSpPr>
            <a:spLocks noChangeArrowheads="1"/>
          </p:cNvSpPr>
          <p:nvPr/>
        </p:nvSpPr>
        <p:spPr bwMode="auto">
          <a:xfrm>
            <a:off x="866775" y="4098925"/>
            <a:ext cx="3556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O</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9" name="TextBox 7"/>
          <p:cNvSpPr>
            <a:spLocks noChangeArrowheads="1"/>
          </p:cNvSpPr>
          <p:nvPr/>
        </p:nvSpPr>
        <p:spPr bwMode="auto">
          <a:xfrm>
            <a:off x="3929063" y="4098925"/>
            <a:ext cx="357187"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40" name="TextBox 8"/>
          <p:cNvSpPr>
            <a:spLocks noChangeArrowheads="1"/>
          </p:cNvSpPr>
          <p:nvPr/>
        </p:nvSpPr>
        <p:spPr bwMode="auto">
          <a:xfrm>
            <a:off x="2582863" y="1714500"/>
            <a:ext cx="9731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MC</a:t>
            </a:r>
            <a:r>
              <a:rPr lang="en-US" altLang="zh-CN" sz="1100">
                <a:solidFill>
                  <a:srgbClr val="000000"/>
                </a:solidFill>
                <a:latin typeface="Cambria Math" panose="02040503050406030204" pitchFamily="18" charset="0"/>
                <a:sym typeface="Cambria Math" panose="02040503050406030204" pitchFamily="18" charset="0"/>
              </a:rPr>
              <a:t>1</a:t>
            </a:r>
            <a:endParaRPr lang="zh-CN" altLang="en-US" sz="1100">
              <a:solidFill>
                <a:srgbClr val="000000"/>
              </a:solidFill>
              <a:latin typeface="Cambria Math" panose="02040503050406030204" pitchFamily="18" charset="0"/>
              <a:sym typeface="Cambria Math" panose="02040503050406030204" pitchFamily="18" charset="0"/>
            </a:endParaRPr>
          </a:p>
        </p:txBody>
      </p:sp>
      <p:sp>
        <p:nvSpPr>
          <p:cNvPr id="41" name="任意多边形 15"/>
          <p:cNvSpPr>
            <a:spLocks noChangeArrowheads="1"/>
          </p:cNvSpPr>
          <p:nvPr/>
        </p:nvSpPr>
        <p:spPr bwMode="auto">
          <a:xfrm>
            <a:off x="1630363" y="2144713"/>
            <a:ext cx="1328737" cy="1333500"/>
          </a:xfrm>
          <a:custGeom>
            <a:avLst/>
            <a:gdLst>
              <a:gd name="T0" fmla="*/ 39077 w 2723661"/>
              <a:gd name="T1" fmla="*/ 2321169 h 2341684"/>
              <a:gd name="T2" fmla="*/ 97692 w 2723661"/>
              <a:gd name="T3" fmla="*/ 2286000 h 2341684"/>
              <a:gd name="T4" fmla="*/ 859692 w 2723661"/>
              <a:gd name="T5" fmla="*/ 1863969 h 2341684"/>
              <a:gd name="T6" fmla="*/ 1668584 w 2723661"/>
              <a:gd name="T7" fmla="*/ 1266092 h 2341684"/>
              <a:gd name="T8" fmla="*/ 2547815 w 2723661"/>
              <a:gd name="T9" fmla="*/ 316523 h 2341684"/>
              <a:gd name="T10" fmla="*/ 2723661 w 2723661"/>
              <a:gd name="T11" fmla="*/ 0 h 2341684"/>
              <a:gd name="T12" fmla="*/ 0 60000 65536"/>
              <a:gd name="T13" fmla="*/ 0 60000 65536"/>
              <a:gd name="T14" fmla="*/ 0 60000 65536"/>
              <a:gd name="T15" fmla="*/ 0 60000 65536"/>
              <a:gd name="T16" fmla="*/ 0 60000 65536"/>
              <a:gd name="T17" fmla="*/ 0 60000 65536"/>
              <a:gd name="T18" fmla="*/ 0 w 2723661"/>
              <a:gd name="T19" fmla="*/ 0 h 2341684"/>
              <a:gd name="T20" fmla="*/ 2723661 w 2723661"/>
              <a:gd name="T21" fmla="*/ 2341684 h 2341684"/>
            </a:gdLst>
            <a:ahLst/>
            <a:cxnLst>
              <a:cxn ang="T12">
                <a:pos x="T0" y="T1"/>
              </a:cxn>
              <a:cxn ang="T13">
                <a:pos x="T2" y="T3"/>
              </a:cxn>
              <a:cxn ang="T14">
                <a:pos x="T4" y="T5"/>
              </a:cxn>
              <a:cxn ang="T15">
                <a:pos x="T6" y="T7"/>
              </a:cxn>
              <a:cxn ang="T16">
                <a:pos x="T8" y="T9"/>
              </a:cxn>
              <a:cxn ang="T17">
                <a:pos x="T10" y="T11"/>
              </a:cxn>
            </a:cxnLst>
            <a:rect l="T18" t="T19" r="T20" b="T21"/>
            <a:pathLst>
              <a:path w="2723661" h="2341684">
                <a:moveTo>
                  <a:pt x="39077" y="2321169"/>
                </a:moveTo>
                <a:cubicBezTo>
                  <a:pt x="0" y="2341684"/>
                  <a:pt x="97692" y="2286000"/>
                  <a:pt x="97692" y="2286000"/>
                </a:cubicBezTo>
                <a:cubicBezTo>
                  <a:pt x="234461" y="2209800"/>
                  <a:pt x="597877" y="2033954"/>
                  <a:pt x="859692" y="1863969"/>
                </a:cubicBezTo>
                <a:cubicBezTo>
                  <a:pt x="1121507" y="1693984"/>
                  <a:pt x="1387230" y="1524000"/>
                  <a:pt x="1668584" y="1266092"/>
                </a:cubicBezTo>
                <a:cubicBezTo>
                  <a:pt x="1949938" y="1008184"/>
                  <a:pt x="2371969" y="527538"/>
                  <a:pt x="2547815" y="316523"/>
                </a:cubicBezTo>
                <a:cubicBezTo>
                  <a:pt x="2723661" y="105508"/>
                  <a:pt x="2723661" y="52754"/>
                  <a:pt x="2723661" y="0"/>
                </a:cubicBezTo>
              </a:path>
            </a:pathLst>
          </a:custGeom>
          <a:noFill/>
          <a:ln w="28575" cap="flat" cmpd="sng">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43" name="TextBox 10"/>
          <p:cNvSpPr>
            <a:spLocks noChangeArrowheads="1"/>
          </p:cNvSpPr>
          <p:nvPr/>
        </p:nvSpPr>
        <p:spPr bwMode="auto">
          <a:xfrm>
            <a:off x="696913" y="1835150"/>
            <a:ext cx="3079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44" name="任意多边形 17"/>
          <p:cNvSpPr>
            <a:spLocks noChangeArrowheads="1"/>
          </p:cNvSpPr>
          <p:nvPr/>
        </p:nvSpPr>
        <p:spPr bwMode="auto">
          <a:xfrm>
            <a:off x="1881187" y="2260728"/>
            <a:ext cx="1328737" cy="1382586"/>
          </a:xfrm>
          <a:custGeom>
            <a:avLst/>
            <a:gdLst>
              <a:gd name="T0" fmla="*/ 39077 w 2723661"/>
              <a:gd name="T1" fmla="*/ 2321169 h 2341684"/>
              <a:gd name="T2" fmla="*/ 97692 w 2723661"/>
              <a:gd name="T3" fmla="*/ 2286000 h 2341684"/>
              <a:gd name="T4" fmla="*/ 859692 w 2723661"/>
              <a:gd name="T5" fmla="*/ 1863969 h 2341684"/>
              <a:gd name="T6" fmla="*/ 1668584 w 2723661"/>
              <a:gd name="T7" fmla="*/ 1266092 h 2341684"/>
              <a:gd name="T8" fmla="*/ 2547815 w 2723661"/>
              <a:gd name="T9" fmla="*/ 316523 h 2341684"/>
              <a:gd name="T10" fmla="*/ 2723661 w 2723661"/>
              <a:gd name="T11" fmla="*/ 0 h 2341684"/>
              <a:gd name="T12" fmla="*/ 0 60000 65536"/>
              <a:gd name="T13" fmla="*/ 0 60000 65536"/>
              <a:gd name="T14" fmla="*/ 0 60000 65536"/>
              <a:gd name="T15" fmla="*/ 0 60000 65536"/>
              <a:gd name="T16" fmla="*/ 0 60000 65536"/>
              <a:gd name="T17" fmla="*/ 0 60000 65536"/>
              <a:gd name="T18" fmla="*/ 0 w 2723661"/>
              <a:gd name="T19" fmla="*/ 0 h 2341684"/>
              <a:gd name="T20" fmla="*/ 2723661 w 2723661"/>
              <a:gd name="T21" fmla="*/ 2341684 h 2341684"/>
            </a:gdLst>
            <a:ahLst/>
            <a:cxnLst>
              <a:cxn ang="T12">
                <a:pos x="T0" y="T1"/>
              </a:cxn>
              <a:cxn ang="T13">
                <a:pos x="T2" y="T3"/>
              </a:cxn>
              <a:cxn ang="T14">
                <a:pos x="T4" y="T5"/>
              </a:cxn>
              <a:cxn ang="T15">
                <a:pos x="T6" y="T7"/>
              </a:cxn>
              <a:cxn ang="T16">
                <a:pos x="T8" y="T9"/>
              </a:cxn>
              <a:cxn ang="T17">
                <a:pos x="T10" y="T11"/>
              </a:cxn>
            </a:cxnLst>
            <a:rect l="T18" t="T19" r="T20" b="T21"/>
            <a:pathLst>
              <a:path w="2723661" h="2341684">
                <a:moveTo>
                  <a:pt x="39077" y="2321169"/>
                </a:moveTo>
                <a:cubicBezTo>
                  <a:pt x="0" y="2341684"/>
                  <a:pt x="97692" y="2286000"/>
                  <a:pt x="97692" y="2286000"/>
                </a:cubicBezTo>
                <a:cubicBezTo>
                  <a:pt x="234461" y="2209800"/>
                  <a:pt x="597877" y="2033954"/>
                  <a:pt x="859692" y="1863969"/>
                </a:cubicBezTo>
                <a:cubicBezTo>
                  <a:pt x="1121507" y="1693984"/>
                  <a:pt x="1387230" y="1524000"/>
                  <a:pt x="1668584" y="1266092"/>
                </a:cubicBezTo>
                <a:cubicBezTo>
                  <a:pt x="1949938" y="1008184"/>
                  <a:pt x="2371969" y="527538"/>
                  <a:pt x="2547815" y="316523"/>
                </a:cubicBezTo>
                <a:cubicBezTo>
                  <a:pt x="2723661" y="105508"/>
                  <a:pt x="2723661" y="52754"/>
                  <a:pt x="2723661" y="0"/>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47" name="任意多边形 18"/>
          <p:cNvSpPr>
            <a:spLocks noChangeArrowheads="1"/>
          </p:cNvSpPr>
          <p:nvPr/>
        </p:nvSpPr>
        <p:spPr bwMode="auto">
          <a:xfrm rot="19594056">
            <a:off x="1676400" y="2165350"/>
            <a:ext cx="1328738" cy="1333500"/>
          </a:xfrm>
          <a:custGeom>
            <a:avLst/>
            <a:gdLst>
              <a:gd name="T0" fmla="*/ 39077 w 2723661"/>
              <a:gd name="T1" fmla="*/ 2321169 h 2341684"/>
              <a:gd name="T2" fmla="*/ 97692 w 2723661"/>
              <a:gd name="T3" fmla="*/ 2286000 h 2341684"/>
              <a:gd name="T4" fmla="*/ 859692 w 2723661"/>
              <a:gd name="T5" fmla="*/ 1863969 h 2341684"/>
              <a:gd name="T6" fmla="*/ 1668584 w 2723661"/>
              <a:gd name="T7" fmla="*/ 1266092 h 2341684"/>
              <a:gd name="T8" fmla="*/ 2547815 w 2723661"/>
              <a:gd name="T9" fmla="*/ 316523 h 2341684"/>
              <a:gd name="T10" fmla="*/ 2723661 w 2723661"/>
              <a:gd name="T11" fmla="*/ 0 h 2341684"/>
              <a:gd name="T12" fmla="*/ 0 60000 65536"/>
              <a:gd name="T13" fmla="*/ 0 60000 65536"/>
              <a:gd name="T14" fmla="*/ 0 60000 65536"/>
              <a:gd name="T15" fmla="*/ 0 60000 65536"/>
              <a:gd name="T16" fmla="*/ 0 60000 65536"/>
              <a:gd name="T17" fmla="*/ 0 60000 65536"/>
              <a:gd name="T18" fmla="*/ 0 w 2723661"/>
              <a:gd name="T19" fmla="*/ 0 h 2341684"/>
              <a:gd name="T20" fmla="*/ 2723661 w 2723661"/>
              <a:gd name="T21" fmla="*/ 2341684 h 2341684"/>
            </a:gdLst>
            <a:ahLst/>
            <a:cxnLst>
              <a:cxn ang="T12">
                <a:pos x="T0" y="T1"/>
              </a:cxn>
              <a:cxn ang="T13">
                <a:pos x="T2" y="T3"/>
              </a:cxn>
              <a:cxn ang="T14">
                <a:pos x="T4" y="T5"/>
              </a:cxn>
              <a:cxn ang="T15">
                <a:pos x="T6" y="T7"/>
              </a:cxn>
              <a:cxn ang="T16">
                <a:pos x="T8" y="T9"/>
              </a:cxn>
              <a:cxn ang="T17">
                <a:pos x="T10" y="T11"/>
              </a:cxn>
            </a:cxnLst>
            <a:rect l="T18" t="T19" r="T20" b="T21"/>
            <a:pathLst>
              <a:path w="2723661" h="2341684">
                <a:moveTo>
                  <a:pt x="39077" y="2321169"/>
                </a:moveTo>
                <a:cubicBezTo>
                  <a:pt x="0" y="2341684"/>
                  <a:pt x="97692" y="2286000"/>
                  <a:pt x="97692" y="2286000"/>
                </a:cubicBezTo>
                <a:cubicBezTo>
                  <a:pt x="234461" y="2209800"/>
                  <a:pt x="597877" y="2033954"/>
                  <a:pt x="859692" y="1863969"/>
                </a:cubicBezTo>
                <a:cubicBezTo>
                  <a:pt x="1121507" y="1693984"/>
                  <a:pt x="1387230" y="1524000"/>
                  <a:pt x="1668584" y="1266092"/>
                </a:cubicBezTo>
                <a:cubicBezTo>
                  <a:pt x="1949938" y="1008184"/>
                  <a:pt x="2371969" y="527538"/>
                  <a:pt x="2547815" y="316523"/>
                </a:cubicBezTo>
                <a:cubicBezTo>
                  <a:pt x="2723661" y="105508"/>
                  <a:pt x="2723661" y="52754"/>
                  <a:pt x="2723661" y="0"/>
                </a:cubicBezTo>
              </a:path>
            </a:pathLst>
          </a:custGeom>
          <a:noFill/>
          <a:ln w="38100" cap="flat" cmpd="sng">
            <a:solidFill>
              <a:srgbClr val="99CC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48" name="TextBox 8"/>
          <p:cNvSpPr>
            <a:spLocks noChangeArrowheads="1"/>
          </p:cNvSpPr>
          <p:nvPr/>
        </p:nvSpPr>
        <p:spPr bwMode="auto">
          <a:xfrm>
            <a:off x="3209925" y="1979613"/>
            <a:ext cx="763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MC</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77" name="TextBox 8"/>
          <p:cNvSpPr>
            <a:spLocks noChangeArrowheads="1"/>
          </p:cNvSpPr>
          <p:nvPr/>
        </p:nvSpPr>
        <p:spPr bwMode="auto">
          <a:xfrm>
            <a:off x="2890838" y="2649353"/>
            <a:ext cx="56038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B</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78" name="TextBox 8"/>
          <p:cNvSpPr>
            <a:spLocks noChangeArrowheads="1"/>
          </p:cNvSpPr>
          <p:nvPr/>
        </p:nvSpPr>
        <p:spPr bwMode="auto">
          <a:xfrm>
            <a:off x="2187575" y="2438400"/>
            <a:ext cx="255588"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C</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79" name="TextBox 8"/>
          <p:cNvSpPr>
            <a:spLocks noChangeArrowheads="1"/>
          </p:cNvSpPr>
          <p:nvPr/>
        </p:nvSpPr>
        <p:spPr bwMode="auto">
          <a:xfrm>
            <a:off x="2290763" y="3343275"/>
            <a:ext cx="25400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A</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80" name="TextBox 8"/>
          <p:cNvSpPr>
            <a:spLocks noChangeArrowheads="1"/>
          </p:cNvSpPr>
          <p:nvPr/>
        </p:nvSpPr>
        <p:spPr bwMode="auto">
          <a:xfrm>
            <a:off x="2339975" y="1714500"/>
            <a:ext cx="204788"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S</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81" name="TextBox 20"/>
          <p:cNvSpPr>
            <a:spLocks noChangeArrowheads="1"/>
          </p:cNvSpPr>
          <p:nvPr/>
        </p:nvSpPr>
        <p:spPr bwMode="auto">
          <a:xfrm>
            <a:off x="2082800" y="4077045"/>
            <a:ext cx="709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1100" dirty="0">
                <a:solidFill>
                  <a:srgbClr val="000000"/>
                </a:solidFill>
                <a:latin typeface="Cambria Math" panose="02040503050406030204" pitchFamily="18" charset="0"/>
                <a:sym typeface="Cambria Math" panose="02040503050406030204" pitchFamily="18" charset="0"/>
              </a:rPr>
              <a:t>0</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82" name="直接连接符 7"/>
          <p:cNvSpPr>
            <a:spLocks noChangeShapeType="1"/>
          </p:cNvSpPr>
          <p:nvPr/>
        </p:nvSpPr>
        <p:spPr bwMode="auto">
          <a:xfrm>
            <a:off x="2344736" y="3343274"/>
            <a:ext cx="1589" cy="779463"/>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直接连接符 8"/>
          <p:cNvSpPr>
            <a:spLocks noChangeShapeType="1"/>
          </p:cNvSpPr>
          <p:nvPr/>
        </p:nvSpPr>
        <p:spPr bwMode="auto">
          <a:xfrm rot="10800000" flipV="1">
            <a:off x="1065213" y="2798763"/>
            <a:ext cx="1785937" cy="1587"/>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TextBox 24"/>
          <p:cNvSpPr>
            <a:spLocks noChangeArrowheads="1"/>
          </p:cNvSpPr>
          <p:nvPr/>
        </p:nvSpPr>
        <p:spPr bwMode="auto">
          <a:xfrm>
            <a:off x="614363" y="3170238"/>
            <a:ext cx="56832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r>
              <a:rPr lang="en-US" altLang="zh-CN" sz="1100">
                <a:solidFill>
                  <a:srgbClr val="000000"/>
                </a:solidFill>
                <a:latin typeface="Cambria Math" panose="02040503050406030204" pitchFamily="18" charset="0"/>
                <a:sym typeface="Cambria Math" panose="02040503050406030204" pitchFamily="18" charset="0"/>
              </a:rPr>
              <a:t>0</a:t>
            </a:r>
            <a:endParaRPr lang="zh-CN" altLang="en-US" sz="1100">
              <a:solidFill>
                <a:srgbClr val="000000"/>
              </a:solidFill>
              <a:latin typeface="Cambria Math" panose="02040503050406030204" pitchFamily="18" charset="0"/>
              <a:sym typeface="Cambria Math" panose="02040503050406030204" pitchFamily="18" charset="0"/>
            </a:endParaRPr>
          </a:p>
        </p:txBody>
      </p:sp>
      <p:sp>
        <p:nvSpPr>
          <p:cNvPr id="85" name="直接连接符 20"/>
          <p:cNvSpPr>
            <a:spLocks noChangeShapeType="1"/>
          </p:cNvSpPr>
          <p:nvPr/>
        </p:nvSpPr>
        <p:spPr bwMode="auto">
          <a:xfrm rot="16200000" flipH="1">
            <a:off x="1835150" y="3457576"/>
            <a:ext cx="1323975" cy="6350"/>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直接连接符 21"/>
          <p:cNvSpPr>
            <a:spLocks noChangeShapeType="1"/>
          </p:cNvSpPr>
          <p:nvPr/>
        </p:nvSpPr>
        <p:spPr bwMode="auto">
          <a:xfrm rot="16200000" flipH="1">
            <a:off x="2192337" y="3457576"/>
            <a:ext cx="1323975" cy="6350"/>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直接连接符 24"/>
          <p:cNvSpPr>
            <a:spLocks noChangeShapeType="1"/>
          </p:cNvSpPr>
          <p:nvPr/>
        </p:nvSpPr>
        <p:spPr bwMode="auto">
          <a:xfrm flipH="1">
            <a:off x="1065213" y="3333875"/>
            <a:ext cx="1274762" cy="9400"/>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TextBox 24"/>
          <p:cNvSpPr>
            <a:spLocks noChangeArrowheads="1"/>
          </p:cNvSpPr>
          <p:nvPr/>
        </p:nvSpPr>
        <p:spPr bwMode="auto">
          <a:xfrm>
            <a:off x="649288" y="2619375"/>
            <a:ext cx="496887"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1100" dirty="0">
                <a:solidFill>
                  <a:srgbClr val="000000"/>
                </a:solidFill>
                <a:latin typeface="Cambria Math" panose="02040503050406030204" pitchFamily="18" charset="0"/>
                <a:sym typeface="Cambria Math" panose="02040503050406030204" pitchFamily="18" charset="0"/>
              </a:rPr>
              <a:t>1</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89" name="TextBox 20"/>
          <p:cNvSpPr>
            <a:spLocks noChangeArrowheads="1"/>
          </p:cNvSpPr>
          <p:nvPr/>
        </p:nvSpPr>
        <p:spPr bwMode="auto">
          <a:xfrm>
            <a:off x="2393951" y="4070351"/>
            <a:ext cx="635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FF0000"/>
                </a:solidFill>
                <a:latin typeface="Cambria Math" panose="02040503050406030204" pitchFamily="18" charset="0"/>
                <a:sym typeface="Cambria Math" panose="02040503050406030204" pitchFamily="18" charset="0"/>
              </a:rPr>
              <a:t>Q</a:t>
            </a:r>
            <a:r>
              <a:rPr lang="en-US" altLang="zh-CN" sz="1100" dirty="0">
                <a:solidFill>
                  <a:srgbClr val="FF0000"/>
                </a:solidFill>
                <a:latin typeface="Cambria Math" panose="02040503050406030204" pitchFamily="18" charset="0"/>
                <a:sym typeface="Cambria Math" panose="02040503050406030204" pitchFamily="18" charset="0"/>
              </a:rPr>
              <a:t>2</a:t>
            </a:r>
            <a:endParaRPr lang="zh-CN" altLang="en-US" sz="1100" dirty="0">
              <a:solidFill>
                <a:srgbClr val="FF0000"/>
              </a:solidFill>
              <a:latin typeface="Cambria Math" panose="02040503050406030204" pitchFamily="18" charset="0"/>
              <a:sym typeface="Cambria Math" panose="02040503050406030204" pitchFamily="18" charset="0"/>
            </a:endParaRPr>
          </a:p>
        </p:txBody>
      </p:sp>
      <p:sp>
        <p:nvSpPr>
          <p:cNvPr id="90" name="TextBox 20"/>
          <p:cNvSpPr>
            <a:spLocks noChangeArrowheads="1"/>
          </p:cNvSpPr>
          <p:nvPr/>
        </p:nvSpPr>
        <p:spPr bwMode="auto">
          <a:xfrm>
            <a:off x="2698750" y="4100513"/>
            <a:ext cx="75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1100" dirty="0">
                <a:solidFill>
                  <a:srgbClr val="000000"/>
                </a:solidFill>
                <a:latin typeface="Cambria Math" panose="02040503050406030204" pitchFamily="18" charset="0"/>
                <a:sym typeface="Cambria Math" panose="02040503050406030204" pitchFamily="18" charset="0"/>
              </a:rPr>
              <a:t>1</a:t>
            </a:r>
            <a:endParaRPr lang="zh-CN" altLang="en-US" sz="1100" dirty="0">
              <a:solidFill>
                <a:srgbClr val="000000"/>
              </a:solidFill>
              <a:latin typeface="Cambria Math" panose="02040503050406030204" pitchFamily="18" charset="0"/>
              <a:sym typeface="Cambria Math" panose="02040503050406030204" pitchFamily="18" charset="0"/>
            </a:endParaRPr>
          </a:p>
        </p:txBody>
      </p:sp>
      <p:grpSp>
        <p:nvGrpSpPr>
          <p:cNvPr id="91" name="组合 45"/>
          <p:cNvGrpSpPr>
            <a:grpSpLocks/>
          </p:cNvGrpSpPr>
          <p:nvPr/>
        </p:nvGrpSpPr>
        <p:grpSpPr bwMode="auto">
          <a:xfrm>
            <a:off x="4797425" y="3643313"/>
            <a:ext cx="3643313" cy="2587828"/>
            <a:chOff x="0" y="0"/>
            <a:chExt cx="5216728" cy="3083242"/>
          </a:xfrm>
        </p:grpSpPr>
        <p:grpSp>
          <p:nvGrpSpPr>
            <p:cNvPr id="92" name="组合 12"/>
            <p:cNvGrpSpPr>
              <a:grpSpLocks/>
            </p:cNvGrpSpPr>
            <p:nvPr/>
          </p:nvGrpSpPr>
          <p:grpSpPr bwMode="auto">
            <a:xfrm>
              <a:off x="0" y="0"/>
              <a:ext cx="5216728" cy="3000373"/>
              <a:chOff x="0" y="0"/>
              <a:chExt cx="5216728" cy="3500438"/>
            </a:xfrm>
          </p:grpSpPr>
          <p:sp>
            <p:nvSpPr>
              <p:cNvPr id="97" name="直接箭头连接符 41"/>
              <p:cNvSpPr>
                <a:spLocks noChangeShapeType="1"/>
              </p:cNvSpPr>
              <p:nvPr/>
            </p:nvSpPr>
            <p:spPr bwMode="auto">
              <a:xfrm rot="16200000" flipV="1">
                <a:off x="-808007" y="1598778"/>
                <a:ext cx="3052604" cy="1"/>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98" name="直接箭头连接符 42"/>
              <p:cNvSpPr>
                <a:spLocks noChangeShapeType="1"/>
              </p:cNvSpPr>
              <p:nvPr/>
            </p:nvSpPr>
            <p:spPr bwMode="auto">
              <a:xfrm>
                <a:off x="718294" y="3122951"/>
                <a:ext cx="4284764" cy="21317"/>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99" name="TextBox 15"/>
              <p:cNvSpPr>
                <a:spLocks noChangeArrowheads="1"/>
              </p:cNvSpPr>
              <p:nvPr/>
            </p:nvSpPr>
            <p:spPr bwMode="auto">
              <a:xfrm>
                <a:off x="430382" y="3131106"/>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O</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100" name="TextBox 16"/>
              <p:cNvSpPr>
                <a:spLocks noChangeArrowheads="1"/>
              </p:cNvSpPr>
              <p:nvPr/>
            </p:nvSpPr>
            <p:spPr bwMode="auto">
              <a:xfrm>
                <a:off x="4716662" y="3131106"/>
                <a:ext cx="500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Q</a:t>
                </a:r>
                <a:endParaRPr lang="zh-CN" altLang="en-US">
                  <a:solidFill>
                    <a:srgbClr val="000000"/>
                  </a:solidFill>
                  <a:latin typeface="Cambria Math" panose="02040503050406030204" pitchFamily="18" charset="0"/>
                  <a:sym typeface="Cambria Math" panose="02040503050406030204" pitchFamily="18" charset="0"/>
                </a:endParaRPr>
              </a:p>
            </p:txBody>
          </p:sp>
          <p:sp>
            <p:nvSpPr>
              <p:cNvPr id="101" name="TextBox 17"/>
              <p:cNvSpPr>
                <a:spLocks noChangeArrowheads="1"/>
              </p:cNvSpPr>
              <p:nvPr/>
            </p:nvSpPr>
            <p:spPr bwMode="auto">
              <a:xfrm>
                <a:off x="3051978" y="87866"/>
                <a:ext cx="785819" cy="43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S</a:t>
                </a:r>
                <a:endParaRPr lang="zh-CN" altLang="en-US" sz="1100">
                  <a:solidFill>
                    <a:srgbClr val="000000"/>
                  </a:solidFill>
                  <a:latin typeface="Cambria Math" panose="02040503050406030204" pitchFamily="18" charset="0"/>
                  <a:sym typeface="Cambria Math" panose="02040503050406030204" pitchFamily="18" charset="0"/>
                </a:endParaRPr>
              </a:p>
            </p:txBody>
          </p:sp>
          <p:sp>
            <p:nvSpPr>
              <p:cNvPr id="102" name="任意多边形 46"/>
              <p:cNvSpPr>
                <a:spLocks noChangeArrowheads="1"/>
              </p:cNvSpPr>
              <p:nvPr/>
            </p:nvSpPr>
            <p:spPr bwMode="auto">
              <a:xfrm>
                <a:off x="1436589" y="441264"/>
                <a:ext cx="1857110" cy="1843925"/>
              </a:xfrm>
              <a:custGeom>
                <a:avLst/>
                <a:gdLst>
                  <a:gd name="T0" fmla="*/ 39077 w 2723661"/>
                  <a:gd name="T1" fmla="*/ 2321169 h 2341684"/>
                  <a:gd name="T2" fmla="*/ 97692 w 2723661"/>
                  <a:gd name="T3" fmla="*/ 2286000 h 2341684"/>
                  <a:gd name="T4" fmla="*/ 859692 w 2723661"/>
                  <a:gd name="T5" fmla="*/ 1863969 h 2341684"/>
                  <a:gd name="T6" fmla="*/ 1668584 w 2723661"/>
                  <a:gd name="T7" fmla="*/ 1266092 h 2341684"/>
                  <a:gd name="T8" fmla="*/ 2547815 w 2723661"/>
                  <a:gd name="T9" fmla="*/ 316523 h 2341684"/>
                  <a:gd name="T10" fmla="*/ 2723661 w 2723661"/>
                  <a:gd name="T11" fmla="*/ 0 h 2341684"/>
                  <a:gd name="T12" fmla="*/ 0 60000 65536"/>
                  <a:gd name="T13" fmla="*/ 0 60000 65536"/>
                  <a:gd name="T14" fmla="*/ 0 60000 65536"/>
                  <a:gd name="T15" fmla="*/ 0 60000 65536"/>
                  <a:gd name="T16" fmla="*/ 0 60000 65536"/>
                  <a:gd name="T17" fmla="*/ 0 60000 65536"/>
                  <a:gd name="T18" fmla="*/ 0 w 2723661"/>
                  <a:gd name="T19" fmla="*/ 0 h 2341684"/>
                  <a:gd name="T20" fmla="*/ 2723661 w 2723661"/>
                  <a:gd name="T21" fmla="*/ 2341684 h 2341684"/>
                </a:gdLst>
                <a:ahLst/>
                <a:cxnLst>
                  <a:cxn ang="T12">
                    <a:pos x="T0" y="T1"/>
                  </a:cxn>
                  <a:cxn ang="T13">
                    <a:pos x="T2" y="T3"/>
                  </a:cxn>
                  <a:cxn ang="T14">
                    <a:pos x="T4" y="T5"/>
                  </a:cxn>
                  <a:cxn ang="T15">
                    <a:pos x="T6" y="T7"/>
                  </a:cxn>
                  <a:cxn ang="T16">
                    <a:pos x="T8" y="T9"/>
                  </a:cxn>
                  <a:cxn ang="T17">
                    <a:pos x="T10" y="T11"/>
                  </a:cxn>
                </a:cxnLst>
                <a:rect l="T18" t="T19" r="T20" b="T21"/>
                <a:pathLst>
                  <a:path w="2723661" h="2341684">
                    <a:moveTo>
                      <a:pt x="39077" y="2321169"/>
                    </a:moveTo>
                    <a:cubicBezTo>
                      <a:pt x="0" y="2341684"/>
                      <a:pt x="97692" y="2286000"/>
                      <a:pt x="97692" y="2286000"/>
                    </a:cubicBezTo>
                    <a:cubicBezTo>
                      <a:pt x="234461" y="2209800"/>
                      <a:pt x="597877" y="2033954"/>
                      <a:pt x="859692" y="1863969"/>
                    </a:cubicBezTo>
                    <a:cubicBezTo>
                      <a:pt x="1121507" y="1693984"/>
                      <a:pt x="1387230" y="1524000"/>
                      <a:pt x="1668584" y="1266092"/>
                    </a:cubicBezTo>
                    <a:cubicBezTo>
                      <a:pt x="1949938" y="1008184"/>
                      <a:pt x="2371969" y="527538"/>
                      <a:pt x="2547815" y="316523"/>
                    </a:cubicBezTo>
                    <a:cubicBezTo>
                      <a:pt x="2723661" y="105508"/>
                      <a:pt x="2723661" y="52754"/>
                      <a:pt x="2723661" y="0"/>
                    </a:cubicBezTo>
                  </a:path>
                </a:pathLst>
              </a:custGeom>
              <a:noFill/>
              <a:ln w="28575" cap="flat" cmpd="sng">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103" name="TextBox 19"/>
              <p:cNvSpPr>
                <a:spLocks noChangeArrowheads="1"/>
              </p:cNvSpPr>
              <p:nvPr/>
            </p:nvSpPr>
            <p:spPr bwMode="auto">
              <a:xfrm>
                <a:off x="0" y="0"/>
                <a:ext cx="4286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latin typeface="Cambria Math" panose="02040503050406030204" pitchFamily="18" charset="0"/>
                    <a:sym typeface="Cambria Math" panose="02040503050406030204" pitchFamily="18" charset="0"/>
                  </a:rPr>
                  <a:t>P</a:t>
                </a:r>
                <a:endParaRPr lang="zh-CN" altLang="en-US">
                  <a:solidFill>
                    <a:srgbClr val="000000"/>
                  </a:solidFill>
                  <a:latin typeface="Cambria Math" panose="02040503050406030204" pitchFamily="18" charset="0"/>
                  <a:sym typeface="Cambria Math" panose="02040503050406030204" pitchFamily="18" charset="0"/>
                </a:endParaRPr>
              </a:p>
            </p:txBody>
          </p:sp>
        </p:grpSp>
        <p:sp>
          <p:nvSpPr>
            <p:cNvPr id="93" name="TextBox 25"/>
            <p:cNvSpPr>
              <a:spLocks noChangeArrowheads="1"/>
            </p:cNvSpPr>
            <p:nvPr/>
          </p:nvSpPr>
          <p:spPr bwMode="auto">
            <a:xfrm>
              <a:off x="1842361" y="2643205"/>
              <a:ext cx="824781" cy="44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000000"/>
                  </a:solidFill>
                  <a:latin typeface="Cambria Math" panose="02040503050406030204" pitchFamily="18" charset="0"/>
                  <a:sym typeface="Cambria Math" panose="02040503050406030204" pitchFamily="18" charset="0"/>
                </a:rPr>
                <a:t>nQ</a:t>
              </a:r>
              <a:r>
                <a:rPr lang="en-US" altLang="zh-CN" sz="1100" dirty="0">
                  <a:solidFill>
                    <a:srgbClr val="000000"/>
                  </a:solidFill>
                  <a:latin typeface="Cambria Math" panose="02040503050406030204" pitchFamily="18" charset="0"/>
                  <a:sym typeface="Cambria Math" panose="02040503050406030204" pitchFamily="18" charset="0"/>
                </a:rPr>
                <a:t>0</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94" name="直接连接符 38"/>
            <p:cNvSpPr>
              <a:spLocks noChangeShapeType="1"/>
            </p:cNvSpPr>
            <p:nvPr/>
          </p:nvSpPr>
          <p:spPr bwMode="auto">
            <a:xfrm rot="5400000">
              <a:off x="1760000" y="2034338"/>
              <a:ext cx="1355764" cy="2274"/>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直接连接符 39"/>
            <p:cNvSpPr>
              <a:spLocks noChangeShapeType="1"/>
            </p:cNvSpPr>
            <p:nvPr/>
          </p:nvSpPr>
          <p:spPr bwMode="auto">
            <a:xfrm rot="10800000">
              <a:off x="736479" y="1355764"/>
              <a:ext cx="1702540" cy="1828"/>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TextBox 28"/>
            <p:cNvSpPr>
              <a:spLocks noChangeArrowheads="1"/>
            </p:cNvSpPr>
            <p:nvPr/>
          </p:nvSpPr>
          <p:spPr bwMode="auto">
            <a:xfrm>
              <a:off x="0" y="903343"/>
              <a:ext cx="837379" cy="4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1100" dirty="0">
                  <a:solidFill>
                    <a:srgbClr val="000000"/>
                  </a:solidFill>
                  <a:latin typeface="Cambria Math" panose="02040503050406030204" pitchFamily="18" charset="0"/>
                  <a:sym typeface="Cambria Math" panose="02040503050406030204" pitchFamily="18" charset="0"/>
                </a:rPr>
                <a:t>0</a:t>
              </a:r>
              <a:endParaRPr lang="zh-CN" altLang="en-US" sz="1100" dirty="0">
                <a:solidFill>
                  <a:srgbClr val="000000"/>
                </a:solidFill>
                <a:latin typeface="Cambria Math" panose="02040503050406030204" pitchFamily="18" charset="0"/>
                <a:sym typeface="Cambria Math" panose="02040503050406030204" pitchFamily="18" charset="0"/>
              </a:endParaRPr>
            </a:p>
          </p:txBody>
        </p:sp>
      </p:grpSp>
      <p:sp>
        <p:nvSpPr>
          <p:cNvPr id="104" name="圆角矩形标注 43"/>
          <p:cNvSpPr>
            <a:spLocks noChangeArrowheads="1"/>
          </p:cNvSpPr>
          <p:nvPr/>
        </p:nvSpPr>
        <p:spPr bwMode="auto">
          <a:xfrm>
            <a:off x="4294187" y="1887537"/>
            <a:ext cx="4357688" cy="1646307"/>
          </a:xfrm>
          <a:prstGeom prst="wedgeRoundRectCallout">
            <a:avLst>
              <a:gd name="adj1" fmla="val -70630"/>
              <a:gd name="adj2" fmla="val 27829"/>
              <a:gd name="adj3" fmla="val 16667"/>
            </a:avLst>
          </a:prstGeom>
          <a:noFill/>
          <a:ln w="28575" cap="flat" cmpd="sng">
            <a:solidFill>
              <a:schemeClr val="accent3">
                <a:lumMod val="50000"/>
              </a:schemeClr>
            </a:solidFill>
            <a:miter lim="800000"/>
            <a:headEnd/>
            <a:tailEnd/>
          </a:ln>
        </p:spPr>
        <p:txBody>
          <a:bodyPr anchor="ctr"/>
          <a:lstStyle/>
          <a:p>
            <a:pPr algn="ctr">
              <a:lnSpc>
                <a:spcPct val="150000"/>
              </a:lnSpc>
            </a:pPr>
            <a:r>
              <a:rPr lang="zh-CN" altLang="en-US" sz="1600" dirty="0">
                <a:latin typeface="微软雅黑" panose="020B0503020204020204" pitchFamily="34" charset="-122"/>
                <a:ea typeface="微软雅黑" panose="020B0503020204020204" pitchFamily="34" charset="-122"/>
              </a:rPr>
              <a:t>假定：产品价格变化</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所有企业改变产量的行为会改变要素的价格</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对每一个新的产品价格</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都有一条新的边际成本曲线（例：产品价格上升，短期</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MC</a:t>
            </a:r>
            <a:r>
              <a:rPr lang="zh-CN" altLang="en-US" sz="1600" dirty="0">
                <a:latin typeface="微软雅黑" panose="020B0503020204020204" pitchFamily="34" charset="-122"/>
                <a:ea typeface="微软雅黑" panose="020B0503020204020204" pitchFamily="34" charset="-122"/>
              </a:rPr>
              <a:t>曲线上移）。</a:t>
            </a:r>
          </a:p>
        </p:txBody>
      </p:sp>
      <p:sp>
        <p:nvSpPr>
          <p:cNvPr id="105" name="圆角矩形标注 44"/>
          <p:cNvSpPr>
            <a:spLocks noChangeArrowheads="1"/>
          </p:cNvSpPr>
          <p:nvPr/>
        </p:nvSpPr>
        <p:spPr bwMode="auto">
          <a:xfrm>
            <a:off x="1220788" y="4754688"/>
            <a:ext cx="2913062" cy="1325378"/>
          </a:xfrm>
          <a:prstGeom prst="wedgeRoundRectCallout">
            <a:avLst>
              <a:gd name="adj1" fmla="val 131316"/>
              <a:gd name="adj2" fmla="val -54583"/>
              <a:gd name="adj3" fmla="val 16667"/>
            </a:avLst>
          </a:prstGeom>
          <a:noFill/>
          <a:ln w="28575" cap="flat" cmpd="sng">
            <a:solidFill>
              <a:schemeClr val="accent3">
                <a:lumMod val="50000"/>
              </a:schemeClr>
            </a:solidFill>
            <a:miter lim="800000"/>
            <a:headEnd/>
            <a:tailEnd/>
          </a:ln>
        </p:spPr>
        <p:txBody>
          <a:bodyPr anchor="ctr"/>
          <a:lstStyle/>
          <a:p>
            <a:pPr>
              <a:lnSpc>
                <a:spcPct val="150000"/>
              </a:lnSpc>
            </a:pPr>
            <a:r>
              <a:rPr lang="zh-CN" altLang="en-US" sz="1600" dirty="0">
                <a:latin typeface="微软雅黑" panose="020B0503020204020204" pitchFamily="34" charset="-122"/>
                <a:ea typeface="微软雅黑" panose="020B0503020204020204" pitchFamily="34" charset="-122"/>
              </a:rPr>
              <a:t>市场的短期供给曲线是所有企业的真正的短期供给曲线的水平相加。</a:t>
            </a:r>
          </a:p>
        </p:txBody>
      </p:sp>
      <p:cxnSp>
        <p:nvCxnSpPr>
          <p:cNvPr id="3" name="直接连接符 2">
            <a:extLst>
              <a:ext uri="{FF2B5EF4-FFF2-40B4-BE49-F238E27FC236}">
                <a16:creationId xmlns:a16="http://schemas.microsoft.com/office/drawing/2014/main" id="{D5A19A02-CA20-46AB-AAE9-17E501EFC5BE}"/>
              </a:ext>
            </a:extLst>
          </p:cNvPr>
          <p:cNvCxnSpPr/>
          <p:nvPr/>
        </p:nvCxnSpPr>
        <p:spPr bwMode="auto">
          <a:xfrm>
            <a:off x="5299075" y="4221055"/>
            <a:ext cx="1629822" cy="0"/>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a:extLst>
              <a:ext uri="{FF2B5EF4-FFF2-40B4-BE49-F238E27FC236}">
                <a16:creationId xmlns:a16="http://schemas.microsoft.com/office/drawing/2014/main" id="{F8BB3200-58BD-4092-A7A5-D077BC22FE28}"/>
              </a:ext>
            </a:extLst>
          </p:cNvPr>
          <p:cNvCxnSpPr/>
          <p:nvPr/>
        </p:nvCxnSpPr>
        <p:spPr bwMode="auto">
          <a:xfrm>
            <a:off x="6970785" y="4221055"/>
            <a:ext cx="0" cy="1640754"/>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 name="TextBox 24">
            <a:extLst>
              <a:ext uri="{FF2B5EF4-FFF2-40B4-BE49-F238E27FC236}">
                <a16:creationId xmlns:a16="http://schemas.microsoft.com/office/drawing/2014/main" id="{F3F17AEB-D9C6-428B-855E-D0A43BEF6581}"/>
              </a:ext>
            </a:extLst>
          </p:cNvPr>
          <p:cNvSpPr>
            <a:spLocks noChangeArrowheads="1"/>
          </p:cNvSpPr>
          <p:nvPr/>
        </p:nvSpPr>
        <p:spPr bwMode="auto">
          <a:xfrm>
            <a:off x="4795163" y="3966035"/>
            <a:ext cx="496887"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1100" dirty="0">
                <a:solidFill>
                  <a:srgbClr val="000000"/>
                </a:solidFill>
                <a:latin typeface="Cambria Math" panose="02040503050406030204" pitchFamily="18" charset="0"/>
                <a:sym typeface="Cambria Math" panose="02040503050406030204" pitchFamily="18" charset="0"/>
              </a:rPr>
              <a:t>1</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50" name="TextBox 25">
            <a:extLst>
              <a:ext uri="{FF2B5EF4-FFF2-40B4-BE49-F238E27FC236}">
                <a16:creationId xmlns:a16="http://schemas.microsoft.com/office/drawing/2014/main" id="{A7D7D319-0937-4019-A759-F9CFE29679B4}"/>
              </a:ext>
            </a:extLst>
          </p:cNvPr>
          <p:cNvSpPr>
            <a:spLocks noChangeArrowheads="1"/>
          </p:cNvSpPr>
          <p:nvPr/>
        </p:nvSpPr>
        <p:spPr bwMode="auto">
          <a:xfrm>
            <a:off x="6660166" y="5867863"/>
            <a:ext cx="5760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FF0000"/>
                </a:solidFill>
                <a:latin typeface="Cambria Math" panose="02040503050406030204" pitchFamily="18" charset="0"/>
                <a:sym typeface="Cambria Math" panose="02040503050406030204" pitchFamily="18" charset="0"/>
              </a:rPr>
              <a:t>nQ</a:t>
            </a:r>
            <a:r>
              <a:rPr lang="en-US" altLang="zh-CN" sz="1100" dirty="0">
                <a:solidFill>
                  <a:srgbClr val="FF0000"/>
                </a:solidFill>
                <a:latin typeface="Cambria Math" panose="02040503050406030204" pitchFamily="18" charset="0"/>
                <a:sym typeface="Cambria Math" panose="02040503050406030204" pitchFamily="18" charset="0"/>
              </a:rPr>
              <a:t>2</a:t>
            </a:r>
            <a:endParaRPr lang="zh-CN" altLang="en-US" sz="1100" dirty="0">
              <a:solidFill>
                <a:srgbClr val="FF0000"/>
              </a:solidFill>
              <a:latin typeface="Cambria Math" panose="02040503050406030204" pitchFamily="18" charset="0"/>
              <a:sym typeface="Cambria Math" panose="02040503050406030204" pitchFamily="18" charset="0"/>
            </a:endParaRPr>
          </a:p>
        </p:txBody>
      </p:sp>
    </p:spTree>
    <p:extLst>
      <p:ext uri="{BB962C8B-B14F-4D97-AF65-F5344CB8AC3E}">
        <p14:creationId xmlns:p14="http://schemas.microsoft.com/office/powerpoint/2010/main" val="2924578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randombar(horizontal)">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down)">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randombar(horizontal)">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randombar(horizontal)">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randombar(horizontal)">
                                      <p:cBhvr>
                                        <p:cTn id="37" dur="500"/>
                                        <p:tgtEl>
                                          <p:spTgt spid="10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left)">
                                      <p:cBhvr>
                                        <p:cTn id="42" dur="500"/>
                                        <p:tgtEl>
                                          <p:spTgt spid="44"/>
                                        </p:tgtEl>
                                      </p:cBhvr>
                                    </p:animEffect>
                                  </p:childTnLst>
                                </p:cTn>
                              </p:par>
                            </p:childTnLst>
                          </p:cTn>
                        </p:par>
                        <p:par>
                          <p:cTn id="43" fill="hold">
                            <p:stCondLst>
                              <p:cond delay="500"/>
                            </p:stCondLst>
                            <p:childTnLst>
                              <p:par>
                                <p:cTn id="44" presetID="3" presetClass="entr" presetSubtype="10" fill="hold" grpId="0" nodeType="afterEffect">
                                  <p:stCondLst>
                                    <p:cond delay="0"/>
                                  </p:stCondLst>
                                  <p:childTnLst>
                                    <p:set>
                                      <p:cBhvr>
                                        <p:cTn id="45" dur="1" fill="hold">
                                          <p:stCondLst>
                                            <p:cond delay="0"/>
                                          </p:stCondLst>
                                        </p:cTn>
                                        <p:tgtEl>
                                          <p:spTgt spid="48"/>
                                        </p:tgtEl>
                                        <p:attrNameLst>
                                          <p:attrName>style.visibility</p:attrName>
                                        </p:attrNameLst>
                                      </p:cBhvr>
                                      <p:to>
                                        <p:strVal val="visible"/>
                                      </p:to>
                                    </p:set>
                                    <p:animEffect>
                                      <p:cBhvr>
                                        <p:cTn id="46" dur="500"/>
                                        <p:tgtEl>
                                          <p:spTgt spid="4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84"/>
                                        </p:tgtEl>
                                        <p:attrNameLst>
                                          <p:attrName>style.visibility</p:attrName>
                                        </p:attrNameLst>
                                      </p:cBhvr>
                                      <p:to>
                                        <p:strVal val="visible"/>
                                      </p:to>
                                    </p:set>
                                    <p:animEffect transition="in" filter="randombar(horizontal)">
                                      <p:cBhvr>
                                        <p:cTn id="51" dur="500"/>
                                        <p:tgtEl>
                                          <p:spTgt spid="8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87"/>
                                        </p:tgtEl>
                                        <p:attrNameLst>
                                          <p:attrName>style.visibility</p:attrName>
                                        </p:attrNameLst>
                                      </p:cBhvr>
                                      <p:to>
                                        <p:strVal val="visible"/>
                                      </p:to>
                                    </p:set>
                                    <p:animEffect transition="in" filter="wipe(left)">
                                      <p:cBhvr>
                                        <p:cTn id="56" dur="500"/>
                                        <p:tgtEl>
                                          <p:spTgt spid="87"/>
                                        </p:tgtEl>
                                      </p:cBhvr>
                                    </p:animEffec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grpId="0" nodeType="clickEffect">
                                  <p:stCondLst>
                                    <p:cond delay="0"/>
                                  </p:stCondLst>
                                  <p:childTnLst>
                                    <p:set>
                                      <p:cBhvr>
                                        <p:cTn id="60" dur="1" fill="hold">
                                          <p:stCondLst>
                                            <p:cond delay="0"/>
                                          </p:stCondLst>
                                        </p:cTn>
                                        <p:tgtEl>
                                          <p:spTgt spid="79"/>
                                        </p:tgtEl>
                                        <p:attrNameLst>
                                          <p:attrName>style.visibility</p:attrName>
                                        </p:attrNameLst>
                                      </p:cBhvr>
                                      <p:to>
                                        <p:strVal val="visible"/>
                                      </p:to>
                                    </p:set>
                                    <p:animEffect transition="in" filter="randombar(horizontal)">
                                      <p:cBhvr>
                                        <p:cTn id="61" dur="500"/>
                                        <p:tgtEl>
                                          <p:spTgt spid="7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82"/>
                                        </p:tgtEl>
                                        <p:attrNameLst>
                                          <p:attrName>style.visibility</p:attrName>
                                        </p:attrNameLst>
                                      </p:cBhvr>
                                      <p:to>
                                        <p:strVal val="visible"/>
                                      </p:to>
                                    </p:set>
                                    <p:animEffect transition="in" filter="wipe(up)">
                                      <p:cBhvr>
                                        <p:cTn id="66" dur="500"/>
                                        <p:tgtEl>
                                          <p:spTgt spid="82"/>
                                        </p:tgtEl>
                                      </p:cBhvr>
                                    </p:animEffect>
                                  </p:childTnLst>
                                </p:cTn>
                              </p:par>
                            </p:childTnLst>
                          </p:cTn>
                        </p:par>
                      </p:childTnLst>
                    </p:cTn>
                  </p:par>
                  <p:par>
                    <p:cTn id="67" fill="hold">
                      <p:stCondLst>
                        <p:cond delay="indefinite"/>
                      </p:stCondLst>
                      <p:childTnLst>
                        <p:par>
                          <p:cTn id="68" fill="hold">
                            <p:stCondLst>
                              <p:cond delay="0"/>
                            </p:stCondLst>
                            <p:childTnLst>
                              <p:par>
                                <p:cTn id="69" presetID="14" presetClass="entr" presetSubtype="10" fill="hold" grpId="0" nodeType="clickEffect">
                                  <p:stCondLst>
                                    <p:cond delay="0"/>
                                  </p:stCondLst>
                                  <p:childTnLst>
                                    <p:set>
                                      <p:cBhvr>
                                        <p:cTn id="70" dur="1" fill="hold">
                                          <p:stCondLst>
                                            <p:cond delay="0"/>
                                          </p:stCondLst>
                                        </p:cTn>
                                        <p:tgtEl>
                                          <p:spTgt spid="81"/>
                                        </p:tgtEl>
                                        <p:attrNameLst>
                                          <p:attrName>style.visibility</p:attrName>
                                        </p:attrNameLst>
                                      </p:cBhvr>
                                      <p:to>
                                        <p:strVal val="visible"/>
                                      </p:to>
                                    </p:set>
                                    <p:animEffect transition="in" filter="randombar(horizontal)">
                                      <p:cBhvr>
                                        <p:cTn id="71" dur="500"/>
                                        <p:tgtEl>
                                          <p:spTgt spid="81"/>
                                        </p:tgtEl>
                                      </p:cBhvr>
                                    </p:animEffect>
                                  </p:childTnLst>
                                </p:cTn>
                              </p:par>
                            </p:childTnLst>
                          </p:cTn>
                        </p:par>
                      </p:childTnLst>
                    </p:cTn>
                  </p:par>
                  <p:par>
                    <p:cTn id="72" fill="hold">
                      <p:stCondLst>
                        <p:cond delay="indefinite"/>
                      </p:stCondLst>
                      <p:childTnLst>
                        <p:par>
                          <p:cTn id="73" fill="hold">
                            <p:stCondLst>
                              <p:cond delay="0"/>
                            </p:stCondLst>
                            <p:childTnLst>
                              <p:par>
                                <p:cTn id="74" presetID="14" presetClass="entr" presetSubtype="10" fill="hold" grpId="0" nodeType="clickEffect">
                                  <p:stCondLst>
                                    <p:cond delay="0"/>
                                  </p:stCondLst>
                                  <p:childTnLst>
                                    <p:set>
                                      <p:cBhvr>
                                        <p:cTn id="75" dur="1" fill="hold">
                                          <p:stCondLst>
                                            <p:cond delay="0"/>
                                          </p:stCondLst>
                                        </p:cTn>
                                        <p:tgtEl>
                                          <p:spTgt spid="88"/>
                                        </p:tgtEl>
                                        <p:attrNameLst>
                                          <p:attrName>style.visibility</p:attrName>
                                        </p:attrNameLst>
                                      </p:cBhvr>
                                      <p:to>
                                        <p:strVal val="visible"/>
                                      </p:to>
                                    </p:set>
                                    <p:animEffect transition="in" filter="randombar(horizontal)">
                                      <p:cBhvr>
                                        <p:cTn id="76" dur="500"/>
                                        <p:tgtEl>
                                          <p:spTgt spid="8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83"/>
                                        </p:tgtEl>
                                        <p:attrNameLst>
                                          <p:attrName>style.visibility</p:attrName>
                                        </p:attrNameLst>
                                      </p:cBhvr>
                                      <p:to>
                                        <p:strVal val="visible"/>
                                      </p:to>
                                    </p:set>
                                    <p:animEffect transition="in" filter="wipe(left)">
                                      <p:cBhvr>
                                        <p:cTn id="81" dur="500"/>
                                        <p:tgtEl>
                                          <p:spTgt spid="83"/>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grpId="0" nodeType="clickEffect">
                                  <p:stCondLst>
                                    <p:cond delay="0"/>
                                  </p:stCondLst>
                                  <p:childTnLst>
                                    <p:set>
                                      <p:cBhvr>
                                        <p:cTn id="85" dur="1" fill="hold">
                                          <p:stCondLst>
                                            <p:cond delay="0"/>
                                          </p:stCondLst>
                                        </p:cTn>
                                        <p:tgtEl>
                                          <p:spTgt spid="86"/>
                                        </p:tgtEl>
                                        <p:attrNameLst>
                                          <p:attrName>style.visibility</p:attrName>
                                        </p:attrNameLst>
                                      </p:cBhvr>
                                      <p:to>
                                        <p:strVal val="visible"/>
                                      </p:to>
                                    </p:set>
                                    <p:animEffect transition="in" filter="wipe(up)">
                                      <p:cBhvr>
                                        <p:cTn id="86" dur="500"/>
                                        <p:tgtEl>
                                          <p:spTgt spid="86"/>
                                        </p:tgtEl>
                                      </p:cBhvr>
                                    </p:animEffect>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grpId="0" nodeType="clickEffect">
                                  <p:stCondLst>
                                    <p:cond delay="0"/>
                                  </p:stCondLst>
                                  <p:childTnLst>
                                    <p:set>
                                      <p:cBhvr>
                                        <p:cTn id="90" dur="1" fill="hold">
                                          <p:stCondLst>
                                            <p:cond delay="0"/>
                                          </p:stCondLst>
                                        </p:cTn>
                                        <p:tgtEl>
                                          <p:spTgt spid="90"/>
                                        </p:tgtEl>
                                        <p:attrNameLst>
                                          <p:attrName>style.visibility</p:attrName>
                                        </p:attrNameLst>
                                      </p:cBhvr>
                                      <p:to>
                                        <p:strVal val="visible"/>
                                      </p:to>
                                    </p:set>
                                    <p:animEffect transition="in" filter="randombar(horizontal)">
                                      <p:cBhvr>
                                        <p:cTn id="91" dur="500"/>
                                        <p:tgtEl>
                                          <p:spTgt spid="90"/>
                                        </p:tgtEl>
                                      </p:cBhvr>
                                    </p:animEffect>
                                  </p:childTnLst>
                                </p:cTn>
                              </p:par>
                            </p:childTnLst>
                          </p:cTn>
                        </p:par>
                      </p:childTnLst>
                    </p:cTn>
                  </p:par>
                  <p:par>
                    <p:cTn id="92" fill="hold">
                      <p:stCondLst>
                        <p:cond delay="indefinite"/>
                      </p:stCondLst>
                      <p:childTnLst>
                        <p:par>
                          <p:cTn id="93" fill="hold">
                            <p:stCondLst>
                              <p:cond delay="0"/>
                            </p:stCondLst>
                            <p:childTnLst>
                              <p:par>
                                <p:cTn id="94" presetID="14" presetClass="entr" presetSubtype="10" fill="hold" grpId="0" nodeType="clickEffect">
                                  <p:stCondLst>
                                    <p:cond delay="0"/>
                                  </p:stCondLst>
                                  <p:childTnLst>
                                    <p:set>
                                      <p:cBhvr>
                                        <p:cTn id="95" dur="1" fill="hold">
                                          <p:stCondLst>
                                            <p:cond delay="0"/>
                                          </p:stCondLst>
                                        </p:cTn>
                                        <p:tgtEl>
                                          <p:spTgt spid="77"/>
                                        </p:tgtEl>
                                        <p:attrNameLst>
                                          <p:attrName>style.visibility</p:attrName>
                                        </p:attrNameLst>
                                      </p:cBhvr>
                                      <p:to>
                                        <p:strVal val="visible"/>
                                      </p:to>
                                    </p:set>
                                    <p:animEffect transition="in" filter="randombar(horizontal)">
                                      <p:cBhvr>
                                        <p:cTn id="96" dur="500"/>
                                        <p:tgtEl>
                                          <p:spTgt spid="77"/>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wipe(down)">
                                      <p:cBhvr>
                                        <p:cTn id="101" dur="500"/>
                                        <p:tgtEl>
                                          <p:spTgt spid="41"/>
                                        </p:tgtEl>
                                      </p:cBhvr>
                                    </p:animEffect>
                                  </p:childTnLst>
                                </p:cTn>
                              </p:par>
                              <p:par>
                                <p:cTn id="102" presetID="16" presetClass="entr" presetSubtype="26" fill="hold" grpId="0" nodeType="withEffect">
                                  <p:stCondLst>
                                    <p:cond delay="0"/>
                                  </p:stCondLst>
                                  <p:childTnLst>
                                    <p:set>
                                      <p:cBhvr>
                                        <p:cTn id="103" dur="1" fill="hold">
                                          <p:stCondLst>
                                            <p:cond delay="0"/>
                                          </p:stCondLst>
                                        </p:cTn>
                                        <p:tgtEl>
                                          <p:spTgt spid="40"/>
                                        </p:tgtEl>
                                        <p:attrNameLst>
                                          <p:attrName>style.visibility</p:attrName>
                                        </p:attrNameLst>
                                      </p:cBhvr>
                                      <p:to>
                                        <p:strVal val="visible"/>
                                      </p:to>
                                    </p:set>
                                    <p:animEffect>
                                      <p:cBhvr>
                                        <p:cTn id="104" dur="1000"/>
                                        <p:tgtEl>
                                          <p:spTgt spid="40"/>
                                        </p:tgtEl>
                                      </p:cBhvr>
                                    </p:animEffect>
                                  </p:childTnLst>
                                </p:cTn>
                              </p:par>
                            </p:childTnLst>
                          </p:cTn>
                        </p:par>
                      </p:childTnLst>
                    </p:cTn>
                  </p:par>
                  <p:par>
                    <p:cTn id="105" fill="hold">
                      <p:stCondLst>
                        <p:cond delay="indefinite"/>
                      </p:stCondLst>
                      <p:childTnLst>
                        <p:par>
                          <p:cTn id="106" fill="hold">
                            <p:stCondLst>
                              <p:cond delay="0"/>
                            </p:stCondLst>
                            <p:childTnLst>
                              <p:par>
                                <p:cTn id="107" presetID="14" presetClass="entr" presetSubtype="10" fill="hold" grpId="0" nodeType="clickEffect">
                                  <p:stCondLst>
                                    <p:cond delay="0"/>
                                  </p:stCondLst>
                                  <p:childTnLst>
                                    <p:set>
                                      <p:cBhvr>
                                        <p:cTn id="108" dur="1" fill="hold">
                                          <p:stCondLst>
                                            <p:cond delay="0"/>
                                          </p:stCondLst>
                                        </p:cTn>
                                        <p:tgtEl>
                                          <p:spTgt spid="78"/>
                                        </p:tgtEl>
                                        <p:attrNameLst>
                                          <p:attrName>style.visibility</p:attrName>
                                        </p:attrNameLst>
                                      </p:cBhvr>
                                      <p:to>
                                        <p:strVal val="visible"/>
                                      </p:to>
                                    </p:set>
                                    <p:animEffect transition="in" filter="randombar(horizontal)">
                                      <p:cBhvr>
                                        <p:cTn id="109" dur="500"/>
                                        <p:tgtEl>
                                          <p:spTgt spid="78"/>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grpId="0" nodeType="clickEffect">
                                  <p:stCondLst>
                                    <p:cond delay="0"/>
                                  </p:stCondLst>
                                  <p:childTnLst>
                                    <p:set>
                                      <p:cBhvr>
                                        <p:cTn id="113" dur="1" fill="hold">
                                          <p:stCondLst>
                                            <p:cond delay="0"/>
                                          </p:stCondLst>
                                        </p:cTn>
                                        <p:tgtEl>
                                          <p:spTgt spid="85"/>
                                        </p:tgtEl>
                                        <p:attrNameLst>
                                          <p:attrName>style.visibility</p:attrName>
                                        </p:attrNameLst>
                                      </p:cBhvr>
                                      <p:to>
                                        <p:strVal val="visible"/>
                                      </p:to>
                                    </p:set>
                                    <p:animEffect transition="in" filter="wipe(up)">
                                      <p:cBhvr>
                                        <p:cTn id="114" dur="500"/>
                                        <p:tgtEl>
                                          <p:spTgt spid="85"/>
                                        </p:tgtEl>
                                      </p:cBhvr>
                                    </p:animEffect>
                                  </p:childTnLst>
                                </p:cTn>
                              </p:par>
                              <p:par>
                                <p:cTn id="115" presetID="16" presetClass="entr" presetSubtype="26" fill="hold" grpId="0" nodeType="withEffect">
                                  <p:stCondLst>
                                    <p:cond delay="0"/>
                                  </p:stCondLst>
                                  <p:childTnLst>
                                    <p:set>
                                      <p:cBhvr>
                                        <p:cTn id="116" dur="1" fill="hold">
                                          <p:stCondLst>
                                            <p:cond delay="0"/>
                                          </p:stCondLst>
                                        </p:cTn>
                                        <p:tgtEl>
                                          <p:spTgt spid="89"/>
                                        </p:tgtEl>
                                        <p:attrNameLst>
                                          <p:attrName>style.visibility</p:attrName>
                                        </p:attrNameLst>
                                      </p:cBhvr>
                                      <p:to>
                                        <p:strVal val="visible"/>
                                      </p:to>
                                    </p:set>
                                    <p:animEffect>
                                      <p:cBhvr>
                                        <p:cTn id="117" dur="1000"/>
                                        <p:tgtEl>
                                          <p:spTgt spid="89"/>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47"/>
                                        </p:tgtEl>
                                        <p:attrNameLst>
                                          <p:attrName>style.visibility</p:attrName>
                                        </p:attrNameLst>
                                      </p:cBhvr>
                                      <p:to>
                                        <p:strVal val="visible"/>
                                      </p:to>
                                    </p:set>
                                    <p:animEffect transition="in" filter="wipe(down)">
                                      <p:cBhvr>
                                        <p:cTn id="122" dur="500"/>
                                        <p:tgtEl>
                                          <p:spTgt spid="47"/>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grpId="0" nodeType="clickEffect">
                                  <p:stCondLst>
                                    <p:cond delay="0"/>
                                  </p:stCondLst>
                                  <p:childTnLst>
                                    <p:set>
                                      <p:cBhvr>
                                        <p:cTn id="126" dur="1" fill="hold">
                                          <p:stCondLst>
                                            <p:cond delay="0"/>
                                          </p:stCondLst>
                                        </p:cTn>
                                        <p:tgtEl>
                                          <p:spTgt spid="80"/>
                                        </p:tgtEl>
                                        <p:attrNameLst>
                                          <p:attrName>style.visibility</p:attrName>
                                        </p:attrNameLst>
                                      </p:cBhvr>
                                      <p:to>
                                        <p:strVal val="visible"/>
                                      </p:to>
                                    </p:set>
                                    <p:animEffect>
                                      <p:cBhvr>
                                        <p:cTn id="127" dur="500"/>
                                        <p:tgtEl>
                                          <p:spTgt spid="80"/>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105"/>
                                        </p:tgtEl>
                                        <p:attrNameLst>
                                          <p:attrName>style.visibility</p:attrName>
                                        </p:attrNameLst>
                                      </p:cBhvr>
                                      <p:to>
                                        <p:strVal val="visible"/>
                                      </p:to>
                                    </p:set>
                                    <p:animEffect>
                                      <p:cBhvr>
                                        <p:cTn id="132" dur="500"/>
                                        <p:tgtEl>
                                          <p:spTgt spid="105"/>
                                        </p:tgtEl>
                                      </p:cBhvr>
                                    </p:animEffect>
                                  </p:childTnLst>
                                </p:cTn>
                              </p:par>
                            </p:childTnLst>
                          </p:cTn>
                        </p:par>
                      </p:childTnLst>
                    </p:cTn>
                  </p:par>
                  <p:par>
                    <p:cTn id="133" fill="hold">
                      <p:stCondLst>
                        <p:cond delay="indefinite"/>
                      </p:stCondLst>
                      <p:childTnLst>
                        <p:par>
                          <p:cTn id="134" fill="hold">
                            <p:stCondLst>
                              <p:cond delay="0"/>
                            </p:stCondLst>
                            <p:childTnLst>
                              <p:par>
                                <p:cTn id="135" presetID="14" presetClass="entr" presetSubtype="10" fill="hold" nodeType="clickEffect">
                                  <p:stCondLst>
                                    <p:cond delay="0"/>
                                  </p:stCondLst>
                                  <p:childTnLst>
                                    <p:set>
                                      <p:cBhvr>
                                        <p:cTn id="136" dur="1" fill="hold">
                                          <p:stCondLst>
                                            <p:cond delay="0"/>
                                          </p:stCondLst>
                                        </p:cTn>
                                        <p:tgtEl>
                                          <p:spTgt spid="91"/>
                                        </p:tgtEl>
                                        <p:attrNameLst>
                                          <p:attrName>style.visibility</p:attrName>
                                        </p:attrNameLst>
                                      </p:cBhvr>
                                      <p:to>
                                        <p:strVal val="visible"/>
                                      </p:to>
                                    </p:set>
                                    <p:animEffect transition="in" filter="randombar(horizontal)">
                                      <p:cBhvr>
                                        <p:cTn id="137" dur="500"/>
                                        <p:tgtEl>
                                          <p:spTgt spid="91"/>
                                        </p:tgtEl>
                                      </p:cBhvr>
                                    </p:animEffect>
                                  </p:childTnLst>
                                </p:cTn>
                              </p:par>
                            </p:childTnLst>
                          </p:cTn>
                        </p:par>
                      </p:childTnLst>
                    </p:cTn>
                  </p:par>
                  <p:par>
                    <p:cTn id="138" fill="hold">
                      <p:stCondLst>
                        <p:cond delay="indefinite"/>
                      </p:stCondLst>
                      <p:childTnLst>
                        <p:par>
                          <p:cTn id="139" fill="hold">
                            <p:stCondLst>
                              <p:cond delay="0"/>
                            </p:stCondLst>
                            <p:childTnLst>
                              <p:par>
                                <p:cTn id="140" presetID="14" presetClass="entr" presetSubtype="10" fill="hold" grpId="0" nodeType="clickEffect">
                                  <p:stCondLst>
                                    <p:cond delay="0"/>
                                  </p:stCondLst>
                                  <p:childTnLst>
                                    <p:set>
                                      <p:cBhvr>
                                        <p:cTn id="141" dur="1" fill="hold">
                                          <p:stCondLst>
                                            <p:cond delay="0"/>
                                          </p:stCondLst>
                                        </p:cTn>
                                        <p:tgtEl>
                                          <p:spTgt spid="49"/>
                                        </p:tgtEl>
                                        <p:attrNameLst>
                                          <p:attrName>style.visibility</p:attrName>
                                        </p:attrNameLst>
                                      </p:cBhvr>
                                      <p:to>
                                        <p:strVal val="visible"/>
                                      </p:to>
                                    </p:set>
                                    <p:animEffect transition="in" filter="randombar(horizontal)">
                                      <p:cBhvr>
                                        <p:cTn id="142"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36" grpId="0" animBg="1"/>
      <p:bldP spid="37" grpId="0" animBg="1"/>
      <p:bldP spid="38" grpId="0"/>
      <p:bldP spid="39" grpId="0"/>
      <p:bldP spid="40" grpId="0" bldLvl="0" autoUpdateAnimBg="0"/>
      <p:bldP spid="41" grpId="0" animBg="1"/>
      <p:bldP spid="43" grpId="0"/>
      <p:bldP spid="44" grpId="0" animBg="1"/>
      <p:bldP spid="47" grpId="0" animBg="1"/>
      <p:bldP spid="48" grpId="0" bldLvl="0" autoUpdateAnimBg="0"/>
      <p:bldP spid="77" grpId="0"/>
      <p:bldP spid="78" grpId="0"/>
      <p:bldP spid="79" grpId="0"/>
      <p:bldP spid="80" grpId="0" bldLvl="0" autoUpdateAnimBg="0"/>
      <p:bldP spid="81" grpId="0"/>
      <p:bldP spid="82" grpId="0" animBg="1"/>
      <p:bldP spid="83" grpId="0" animBg="1"/>
      <p:bldP spid="84" grpId="0"/>
      <p:bldP spid="85" grpId="0" animBg="1"/>
      <p:bldP spid="86" grpId="0" animBg="1"/>
      <p:bldP spid="87" grpId="0" animBg="1"/>
      <p:bldP spid="88" grpId="0"/>
      <p:bldP spid="89" grpId="0" bldLvl="0" autoUpdateAnimBg="0"/>
      <p:bldP spid="90" grpId="0"/>
      <p:bldP spid="104" grpId="0" animBg="1"/>
      <p:bldP spid="105" grpId="0" bldLvl="0" animBg="1" autoUpdateAnimBg="0"/>
      <p:bldP spid="4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组合 63">
            <a:extLst>
              <a:ext uri="{FF2B5EF4-FFF2-40B4-BE49-F238E27FC236}">
                <a16:creationId xmlns:a16="http://schemas.microsoft.com/office/drawing/2014/main" id="{E46E9CBB-F469-4671-BB3C-6C4293675CB5}"/>
              </a:ext>
            </a:extLst>
          </p:cNvPr>
          <p:cNvGrpSpPr/>
          <p:nvPr/>
        </p:nvGrpSpPr>
        <p:grpSpPr>
          <a:xfrm>
            <a:off x="301349" y="-570315"/>
            <a:ext cx="7366995" cy="6528887"/>
            <a:chOff x="301349" y="-570315"/>
            <a:chExt cx="7366995" cy="6528887"/>
          </a:xfrm>
        </p:grpSpPr>
        <p:grpSp>
          <p:nvGrpSpPr>
            <p:cNvPr id="21" name="组合 20">
              <a:extLst>
                <a:ext uri="{FF2B5EF4-FFF2-40B4-BE49-F238E27FC236}">
                  <a16:creationId xmlns:a16="http://schemas.microsoft.com/office/drawing/2014/main" id="{0EAEF9D8-908A-402F-A51B-2B94E0865410}"/>
                </a:ext>
              </a:extLst>
            </p:cNvPr>
            <p:cNvGrpSpPr/>
            <p:nvPr/>
          </p:nvGrpSpPr>
          <p:grpSpPr>
            <a:xfrm>
              <a:off x="323705" y="1619508"/>
              <a:ext cx="7344639" cy="4339064"/>
              <a:chOff x="323705" y="1619508"/>
              <a:chExt cx="7344639" cy="4339064"/>
            </a:xfrm>
          </p:grpSpPr>
          <p:cxnSp>
            <p:nvCxnSpPr>
              <p:cNvPr id="22" name="直接箭头连接符 21">
                <a:extLst>
                  <a:ext uri="{FF2B5EF4-FFF2-40B4-BE49-F238E27FC236}">
                    <a16:creationId xmlns:a16="http://schemas.microsoft.com/office/drawing/2014/main" id="{A66AF342-5C85-4BDF-9507-1CB2C867F75F}"/>
                  </a:ext>
                </a:extLst>
              </p:cNvPr>
              <p:cNvCxnSpPr/>
              <p:nvPr/>
            </p:nvCxnSpPr>
            <p:spPr>
              <a:xfrm flipV="1">
                <a:off x="755576" y="1628800"/>
                <a:ext cx="0" cy="309634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4EC5FA13-B548-4890-90A0-6B02A15E7107}"/>
                  </a:ext>
                </a:extLst>
              </p:cNvPr>
              <p:cNvCxnSpPr/>
              <p:nvPr/>
            </p:nvCxnSpPr>
            <p:spPr>
              <a:xfrm>
                <a:off x="755576" y="4725144"/>
                <a:ext cx="3024336"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0A329253-4913-4007-B117-9120E9F7F539}"/>
                  </a:ext>
                </a:extLst>
              </p:cNvPr>
              <p:cNvCxnSpPr>
                <a:cxnSpLocks/>
              </p:cNvCxnSpPr>
              <p:nvPr/>
            </p:nvCxnSpPr>
            <p:spPr>
              <a:xfrm>
                <a:off x="755576" y="3429000"/>
                <a:ext cx="1584176" cy="0"/>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46CD3A9A-B200-41A5-B612-018E0F9403D9}"/>
                  </a:ext>
                </a:extLst>
              </p:cNvPr>
              <p:cNvCxnSpPr>
                <a:cxnSpLocks/>
              </p:cNvCxnSpPr>
              <p:nvPr/>
            </p:nvCxnSpPr>
            <p:spPr>
              <a:xfrm>
                <a:off x="2339752" y="3501008"/>
                <a:ext cx="0" cy="1224136"/>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8B35CD4B-06E8-4944-A8A5-0ABD5531FCCC}"/>
                  </a:ext>
                </a:extLst>
              </p:cNvPr>
              <p:cNvSpPr txBox="1"/>
              <p:nvPr/>
            </p:nvSpPr>
            <p:spPr>
              <a:xfrm>
                <a:off x="3275856" y="1916832"/>
                <a:ext cx="543739" cy="369332"/>
              </a:xfrm>
              <a:prstGeom prst="rect">
                <a:avLst/>
              </a:prstGeom>
              <a:noFill/>
            </p:spPr>
            <p:txBody>
              <a:bodyPr wrap="none" rtlCol="0">
                <a:spAutoFit/>
              </a:bodyPr>
              <a:lstStyle/>
              <a:p>
                <a:r>
                  <a:rPr lang="en-US" altLang="zh-CN" dirty="0"/>
                  <a:t>MC</a:t>
                </a:r>
                <a:endParaRPr lang="zh-CN" altLang="en-US" dirty="0"/>
              </a:p>
            </p:txBody>
          </p:sp>
          <p:sp>
            <p:nvSpPr>
              <p:cNvPr id="27" name="文本框 26">
                <a:extLst>
                  <a:ext uri="{FF2B5EF4-FFF2-40B4-BE49-F238E27FC236}">
                    <a16:creationId xmlns:a16="http://schemas.microsoft.com/office/drawing/2014/main" id="{70EDE0DE-7CBA-4ACC-B818-CCBD3A94ED45}"/>
                  </a:ext>
                </a:extLst>
              </p:cNvPr>
              <p:cNvSpPr txBox="1"/>
              <p:nvPr/>
            </p:nvSpPr>
            <p:spPr>
              <a:xfrm>
                <a:off x="323705" y="2996957"/>
                <a:ext cx="466793" cy="369332"/>
              </a:xfrm>
              <a:prstGeom prst="rect">
                <a:avLst/>
              </a:prstGeom>
              <a:noFill/>
            </p:spPr>
            <p:txBody>
              <a:bodyPr wrap="square" rtlCol="0">
                <a:spAutoFit/>
              </a:bodyPr>
              <a:lstStyle/>
              <a:p>
                <a:r>
                  <a:rPr lang="en-US" altLang="zh-CN" dirty="0"/>
                  <a:t>P</a:t>
                </a:r>
                <a:r>
                  <a:rPr lang="en-US" altLang="zh-CN" baseline="-25000" dirty="0"/>
                  <a:t>0</a:t>
                </a:r>
                <a:endParaRPr lang="zh-CN" altLang="en-US" baseline="-25000" dirty="0"/>
              </a:p>
            </p:txBody>
          </p:sp>
          <p:sp>
            <p:nvSpPr>
              <p:cNvPr id="28" name="文本框 27">
                <a:extLst>
                  <a:ext uri="{FF2B5EF4-FFF2-40B4-BE49-F238E27FC236}">
                    <a16:creationId xmlns:a16="http://schemas.microsoft.com/office/drawing/2014/main" id="{B77E105B-7F18-43A1-B21E-F0563EE7D835}"/>
                  </a:ext>
                </a:extLst>
              </p:cNvPr>
              <p:cNvSpPr txBox="1"/>
              <p:nvPr/>
            </p:nvSpPr>
            <p:spPr>
              <a:xfrm>
                <a:off x="2123728" y="4797152"/>
                <a:ext cx="449162" cy="369332"/>
              </a:xfrm>
              <a:prstGeom prst="rect">
                <a:avLst/>
              </a:prstGeom>
              <a:noFill/>
            </p:spPr>
            <p:txBody>
              <a:bodyPr wrap="none" rtlCol="0">
                <a:spAutoFit/>
              </a:bodyPr>
              <a:lstStyle/>
              <a:p>
                <a:r>
                  <a:rPr lang="en-US" altLang="zh-CN" dirty="0"/>
                  <a:t>Q</a:t>
                </a:r>
                <a:r>
                  <a:rPr lang="en-US" altLang="zh-CN" baseline="-25000" dirty="0"/>
                  <a:t>0</a:t>
                </a:r>
                <a:endParaRPr lang="zh-CN" altLang="en-US" baseline="-25000" dirty="0"/>
              </a:p>
            </p:txBody>
          </p:sp>
          <p:sp>
            <p:nvSpPr>
              <p:cNvPr id="29" name="文本框 28">
                <a:extLst>
                  <a:ext uri="{FF2B5EF4-FFF2-40B4-BE49-F238E27FC236}">
                    <a16:creationId xmlns:a16="http://schemas.microsoft.com/office/drawing/2014/main" id="{1AAB4C13-9963-40D1-BDB6-D36B188AFA51}"/>
                  </a:ext>
                </a:extLst>
              </p:cNvPr>
              <p:cNvSpPr txBox="1"/>
              <p:nvPr/>
            </p:nvSpPr>
            <p:spPr>
              <a:xfrm>
                <a:off x="457200" y="1628800"/>
                <a:ext cx="338554" cy="369332"/>
              </a:xfrm>
              <a:prstGeom prst="rect">
                <a:avLst/>
              </a:prstGeom>
              <a:noFill/>
            </p:spPr>
            <p:txBody>
              <a:bodyPr wrap="none" rtlCol="0">
                <a:spAutoFit/>
              </a:bodyPr>
              <a:lstStyle/>
              <a:p>
                <a:r>
                  <a:rPr lang="en-US" altLang="zh-CN" dirty="0"/>
                  <a:t>P</a:t>
                </a:r>
                <a:endParaRPr lang="zh-CN" altLang="en-US" dirty="0"/>
              </a:p>
            </p:txBody>
          </p:sp>
          <p:sp>
            <p:nvSpPr>
              <p:cNvPr id="30" name="文本框 29">
                <a:extLst>
                  <a:ext uri="{FF2B5EF4-FFF2-40B4-BE49-F238E27FC236}">
                    <a16:creationId xmlns:a16="http://schemas.microsoft.com/office/drawing/2014/main" id="{185A96A2-E889-4CDF-B24C-795F0B4192E2}"/>
                  </a:ext>
                </a:extLst>
              </p:cNvPr>
              <p:cNvSpPr txBox="1"/>
              <p:nvPr/>
            </p:nvSpPr>
            <p:spPr>
              <a:xfrm>
                <a:off x="3707904" y="4787860"/>
                <a:ext cx="364202" cy="369332"/>
              </a:xfrm>
              <a:prstGeom prst="rect">
                <a:avLst/>
              </a:prstGeom>
              <a:noFill/>
            </p:spPr>
            <p:txBody>
              <a:bodyPr wrap="none" rtlCol="0">
                <a:spAutoFit/>
              </a:bodyPr>
              <a:lstStyle/>
              <a:p>
                <a:r>
                  <a:rPr lang="en-US" altLang="zh-CN" dirty="0"/>
                  <a:t>Q</a:t>
                </a:r>
                <a:endParaRPr lang="zh-CN" altLang="en-US" dirty="0"/>
              </a:p>
            </p:txBody>
          </p:sp>
          <p:cxnSp>
            <p:nvCxnSpPr>
              <p:cNvPr id="31" name="直接箭头连接符 30">
                <a:extLst>
                  <a:ext uri="{FF2B5EF4-FFF2-40B4-BE49-F238E27FC236}">
                    <a16:creationId xmlns:a16="http://schemas.microsoft.com/office/drawing/2014/main" id="{1A5BDFCF-B9DD-4126-966C-02F925322FDE}"/>
                  </a:ext>
                </a:extLst>
              </p:cNvPr>
              <p:cNvCxnSpPr/>
              <p:nvPr/>
            </p:nvCxnSpPr>
            <p:spPr>
              <a:xfrm flipV="1">
                <a:off x="4351814" y="1619508"/>
                <a:ext cx="0" cy="309634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33344D1F-621A-410F-98CE-5C02A93373EE}"/>
                  </a:ext>
                </a:extLst>
              </p:cNvPr>
              <p:cNvCxnSpPr/>
              <p:nvPr/>
            </p:nvCxnSpPr>
            <p:spPr>
              <a:xfrm>
                <a:off x="4351814" y="4715852"/>
                <a:ext cx="3024336"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2F7952F5-453D-412C-96D1-2F1227B9470F}"/>
                  </a:ext>
                </a:extLst>
              </p:cNvPr>
              <p:cNvCxnSpPr/>
              <p:nvPr/>
            </p:nvCxnSpPr>
            <p:spPr>
              <a:xfrm>
                <a:off x="4351814" y="2537389"/>
                <a:ext cx="1944216" cy="0"/>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0B0A8F24-D839-42F8-A420-A3A014C484F7}"/>
                  </a:ext>
                </a:extLst>
              </p:cNvPr>
              <p:cNvCxnSpPr>
                <a:cxnSpLocks/>
              </p:cNvCxnSpPr>
              <p:nvPr/>
            </p:nvCxnSpPr>
            <p:spPr>
              <a:xfrm>
                <a:off x="6296030" y="2537389"/>
                <a:ext cx="0" cy="2178463"/>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0D9BB51-563E-4F86-9C3F-86A468B4767A}"/>
                  </a:ext>
                </a:extLst>
              </p:cNvPr>
              <p:cNvSpPr txBox="1"/>
              <p:nvPr/>
            </p:nvSpPr>
            <p:spPr>
              <a:xfrm>
                <a:off x="6872094" y="1907540"/>
                <a:ext cx="338554" cy="369332"/>
              </a:xfrm>
              <a:prstGeom prst="rect">
                <a:avLst/>
              </a:prstGeom>
              <a:noFill/>
            </p:spPr>
            <p:txBody>
              <a:bodyPr wrap="none" rtlCol="0">
                <a:spAutoFit/>
              </a:bodyPr>
              <a:lstStyle/>
              <a:p>
                <a:r>
                  <a:rPr lang="en-US" altLang="zh-CN" dirty="0"/>
                  <a:t>S</a:t>
                </a:r>
                <a:endParaRPr lang="zh-CN" altLang="en-US" dirty="0"/>
              </a:p>
            </p:txBody>
          </p:sp>
          <p:sp>
            <p:nvSpPr>
              <p:cNvPr id="36" name="文本框 35">
                <a:extLst>
                  <a:ext uri="{FF2B5EF4-FFF2-40B4-BE49-F238E27FC236}">
                    <a16:creationId xmlns:a16="http://schemas.microsoft.com/office/drawing/2014/main" id="{22BAE9A9-755B-493B-B511-8F4CE88E5753}"/>
                  </a:ext>
                </a:extLst>
              </p:cNvPr>
              <p:cNvSpPr txBox="1"/>
              <p:nvPr/>
            </p:nvSpPr>
            <p:spPr>
              <a:xfrm>
                <a:off x="3923927" y="2411596"/>
                <a:ext cx="468066" cy="369323"/>
              </a:xfrm>
              <a:prstGeom prst="rect">
                <a:avLst/>
              </a:prstGeom>
              <a:noFill/>
            </p:spPr>
            <p:txBody>
              <a:bodyPr wrap="square" rtlCol="0">
                <a:spAutoFit/>
              </a:bodyPr>
              <a:lstStyle/>
              <a:p>
                <a:r>
                  <a:rPr lang="en-US" altLang="zh-CN" dirty="0"/>
                  <a:t>P</a:t>
                </a:r>
                <a:r>
                  <a:rPr lang="en-US" altLang="zh-CN" baseline="-25000" dirty="0"/>
                  <a:t>1</a:t>
                </a:r>
                <a:endParaRPr lang="zh-CN" altLang="en-US" baseline="-25000" dirty="0"/>
              </a:p>
            </p:txBody>
          </p:sp>
          <p:sp>
            <p:nvSpPr>
              <p:cNvPr id="37" name="文本框 36">
                <a:extLst>
                  <a:ext uri="{FF2B5EF4-FFF2-40B4-BE49-F238E27FC236}">
                    <a16:creationId xmlns:a16="http://schemas.microsoft.com/office/drawing/2014/main" id="{7815A053-0921-4157-B5A5-9F80F1096112}"/>
                  </a:ext>
                </a:extLst>
              </p:cNvPr>
              <p:cNvSpPr txBox="1"/>
              <p:nvPr/>
            </p:nvSpPr>
            <p:spPr>
              <a:xfrm>
                <a:off x="6080006" y="4715783"/>
                <a:ext cx="577402" cy="369332"/>
              </a:xfrm>
              <a:prstGeom prst="rect">
                <a:avLst/>
              </a:prstGeom>
              <a:noFill/>
            </p:spPr>
            <p:txBody>
              <a:bodyPr wrap="none" rtlCol="0">
                <a:spAutoFit/>
              </a:bodyPr>
              <a:lstStyle/>
              <a:p>
                <a:r>
                  <a:rPr lang="en-US" altLang="zh-CN" dirty="0"/>
                  <a:t>nQ</a:t>
                </a:r>
                <a:r>
                  <a:rPr lang="en-US" altLang="zh-CN" baseline="-25000" dirty="0"/>
                  <a:t>2</a:t>
                </a:r>
                <a:endParaRPr lang="zh-CN" altLang="en-US" baseline="-25000" dirty="0"/>
              </a:p>
            </p:txBody>
          </p:sp>
          <p:sp>
            <p:nvSpPr>
              <p:cNvPr id="38" name="文本框 37">
                <a:extLst>
                  <a:ext uri="{FF2B5EF4-FFF2-40B4-BE49-F238E27FC236}">
                    <a16:creationId xmlns:a16="http://schemas.microsoft.com/office/drawing/2014/main" id="{8E90C98F-378A-4FDB-A634-B8C59E4B75D8}"/>
                  </a:ext>
                </a:extLst>
              </p:cNvPr>
              <p:cNvSpPr txBox="1"/>
              <p:nvPr/>
            </p:nvSpPr>
            <p:spPr>
              <a:xfrm>
                <a:off x="4053438" y="1619508"/>
                <a:ext cx="338554" cy="369332"/>
              </a:xfrm>
              <a:prstGeom prst="rect">
                <a:avLst/>
              </a:prstGeom>
              <a:noFill/>
            </p:spPr>
            <p:txBody>
              <a:bodyPr wrap="none" rtlCol="0">
                <a:spAutoFit/>
              </a:bodyPr>
              <a:lstStyle/>
              <a:p>
                <a:r>
                  <a:rPr lang="en-US" altLang="zh-CN" dirty="0"/>
                  <a:t>P</a:t>
                </a:r>
                <a:endParaRPr lang="zh-CN" altLang="en-US" dirty="0"/>
              </a:p>
            </p:txBody>
          </p:sp>
          <p:sp>
            <p:nvSpPr>
              <p:cNvPr id="39" name="文本框 38">
                <a:extLst>
                  <a:ext uri="{FF2B5EF4-FFF2-40B4-BE49-F238E27FC236}">
                    <a16:creationId xmlns:a16="http://schemas.microsoft.com/office/drawing/2014/main" id="{E3EC6C2E-8DA6-462C-B639-5A56A3DC2A25}"/>
                  </a:ext>
                </a:extLst>
              </p:cNvPr>
              <p:cNvSpPr txBox="1"/>
              <p:nvPr/>
            </p:nvSpPr>
            <p:spPr>
              <a:xfrm>
                <a:off x="7304142" y="4778568"/>
                <a:ext cx="364202" cy="369332"/>
              </a:xfrm>
              <a:prstGeom prst="rect">
                <a:avLst/>
              </a:prstGeom>
              <a:noFill/>
            </p:spPr>
            <p:txBody>
              <a:bodyPr wrap="none" rtlCol="0">
                <a:spAutoFit/>
              </a:bodyPr>
              <a:lstStyle/>
              <a:p>
                <a:r>
                  <a:rPr lang="en-US" altLang="zh-CN" dirty="0"/>
                  <a:t>Q</a:t>
                </a:r>
                <a:endParaRPr lang="zh-CN" altLang="en-US" dirty="0"/>
              </a:p>
            </p:txBody>
          </p:sp>
          <p:sp>
            <p:nvSpPr>
              <p:cNvPr id="40" name="文本框 39">
                <a:extLst>
                  <a:ext uri="{FF2B5EF4-FFF2-40B4-BE49-F238E27FC236}">
                    <a16:creationId xmlns:a16="http://schemas.microsoft.com/office/drawing/2014/main" id="{680FF585-7029-45EE-8F0C-749F95B71C82}"/>
                  </a:ext>
                </a:extLst>
              </p:cNvPr>
              <p:cNvSpPr txBox="1"/>
              <p:nvPr/>
            </p:nvSpPr>
            <p:spPr>
              <a:xfrm>
                <a:off x="4067944" y="4581128"/>
                <a:ext cx="312906" cy="369332"/>
              </a:xfrm>
              <a:prstGeom prst="rect">
                <a:avLst/>
              </a:prstGeom>
              <a:noFill/>
            </p:spPr>
            <p:txBody>
              <a:bodyPr wrap="none" rtlCol="0">
                <a:spAutoFit/>
              </a:bodyPr>
              <a:lstStyle/>
              <a:p>
                <a:r>
                  <a:rPr lang="en-US" altLang="zh-CN" dirty="0"/>
                  <a:t>0</a:t>
                </a:r>
                <a:endParaRPr lang="zh-CN" altLang="en-US" dirty="0"/>
              </a:p>
            </p:txBody>
          </p:sp>
          <p:sp>
            <p:nvSpPr>
              <p:cNvPr id="41" name="文本框 40">
                <a:extLst>
                  <a:ext uri="{FF2B5EF4-FFF2-40B4-BE49-F238E27FC236}">
                    <a16:creationId xmlns:a16="http://schemas.microsoft.com/office/drawing/2014/main" id="{D65640CD-260A-4DD2-A94E-4E6718813E3D}"/>
                  </a:ext>
                </a:extLst>
              </p:cNvPr>
              <p:cNvSpPr txBox="1"/>
              <p:nvPr/>
            </p:nvSpPr>
            <p:spPr>
              <a:xfrm>
                <a:off x="467544" y="4581128"/>
                <a:ext cx="312906" cy="369332"/>
              </a:xfrm>
              <a:prstGeom prst="rect">
                <a:avLst/>
              </a:prstGeom>
              <a:noFill/>
            </p:spPr>
            <p:txBody>
              <a:bodyPr wrap="none" rtlCol="0">
                <a:spAutoFit/>
              </a:bodyPr>
              <a:lstStyle/>
              <a:p>
                <a:r>
                  <a:rPr lang="en-US" altLang="zh-CN" dirty="0"/>
                  <a:t>0</a:t>
                </a:r>
                <a:endParaRPr lang="zh-CN" altLang="en-US" dirty="0"/>
              </a:p>
            </p:txBody>
          </p:sp>
          <p:sp>
            <p:nvSpPr>
              <p:cNvPr id="42" name="文本框 41">
                <a:extLst>
                  <a:ext uri="{FF2B5EF4-FFF2-40B4-BE49-F238E27FC236}">
                    <a16:creationId xmlns:a16="http://schemas.microsoft.com/office/drawing/2014/main" id="{65B6CA6C-8905-467D-A5BA-4ABDCCA1390A}"/>
                  </a:ext>
                </a:extLst>
              </p:cNvPr>
              <p:cNvSpPr txBox="1"/>
              <p:nvPr/>
            </p:nvSpPr>
            <p:spPr>
              <a:xfrm>
                <a:off x="2267744" y="5589240"/>
                <a:ext cx="3456384" cy="369332"/>
              </a:xfrm>
              <a:prstGeom prst="rect">
                <a:avLst/>
              </a:prstGeom>
              <a:noFill/>
            </p:spPr>
            <p:txBody>
              <a:bodyPr wrap="square" rtlCol="0">
                <a:spAutoFit/>
              </a:bodyPr>
              <a:lstStyle/>
              <a:p>
                <a:r>
                  <a:rPr lang="zh-CN" altLang="en-US" dirty="0"/>
                  <a:t>短期供给曲线：从企业到市场</a:t>
                </a:r>
              </a:p>
            </p:txBody>
          </p:sp>
        </p:grpSp>
        <p:sp>
          <p:nvSpPr>
            <p:cNvPr id="43" name="弧形 42">
              <a:extLst>
                <a:ext uri="{FF2B5EF4-FFF2-40B4-BE49-F238E27FC236}">
                  <a16:creationId xmlns:a16="http://schemas.microsoft.com/office/drawing/2014/main" id="{61EBBE62-4287-42D5-9861-08765D38D10B}"/>
                </a:ext>
              </a:extLst>
            </p:cNvPr>
            <p:cNvSpPr/>
            <p:nvPr/>
          </p:nvSpPr>
          <p:spPr>
            <a:xfrm rot="6319099">
              <a:off x="42485" y="557016"/>
              <a:ext cx="3946460" cy="2428056"/>
            </a:xfrm>
            <a:prstGeom prst="arc">
              <a:avLst/>
            </a:prstGeom>
            <a:ln w="158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4" name="弧形 43">
              <a:extLst>
                <a:ext uri="{FF2B5EF4-FFF2-40B4-BE49-F238E27FC236}">
                  <a16:creationId xmlns:a16="http://schemas.microsoft.com/office/drawing/2014/main" id="{3E2B09CC-2F42-42B3-A6AF-CA5740054D11}"/>
                </a:ext>
              </a:extLst>
            </p:cNvPr>
            <p:cNvSpPr/>
            <p:nvPr/>
          </p:nvSpPr>
          <p:spPr>
            <a:xfrm rot="6319099">
              <a:off x="-115098" y="206171"/>
              <a:ext cx="3973595" cy="2420623"/>
            </a:xfrm>
            <a:prstGeom prst="arc">
              <a:avLst/>
            </a:prstGeom>
            <a:ln w="1587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ECDA939D-2F54-4ABA-B6C1-8CC462476086}"/>
                </a:ext>
              </a:extLst>
            </p:cNvPr>
            <p:cNvSpPr txBox="1"/>
            <p:nvPr/>
          </p:nvSpPr>
          <p:spPr>
            <a:xfrm>
              <a:off x="2771800" y="1412776"/>
              <a:ext cx="628698" cy="369332"/>
            </a:xfrm>
            <a:prstGeom prst="rect">
              <a:avLst/>
            </a:prstGeom>
            <a:noFill/>
          </p:spPr>
          <p:txBody>
            <a:bodyPr wrap="none" rtlCol="0">
              <a:spAutoFit/>
            </a:bodyPr>
            <a:lstStyle/>
            <a:p>
              <a:r>
                <a:rPr lang="en-US" altLang="zh-CN" dirty="0"/>
                <a:t>MC</a:t>
              </a:r>
              <a:r>
                <a:rPr lang="en-US" altLang="zh-CN" baseline="-25000" dirty="0"/>
                <a:t>1</a:t>
              </a:r>
              <a:endParaRPr lang="zh-CN" altLang="en-US" baseline="-25000" dirty="0"/>
            </a:p>
          </p:txBody>
        </p:sp>
        <p:cxnSp>
          <p:nvCxnSpPr>
            <p:cNvPr id="47" name="直接连接符 46">
              <a:extLst>
                <a:ext uri="{FF2B5EF4-FFF2-40B4-BE49-F238E27FC236}">
                  <a16:creationId xmlns:a16="http://schemas.microsoft.com/office/drawing/2014/main" id="{AE8F636F-264F-40E2-BA5D-F075F9504B71}"/>
                </a:ext>
              </a:extLst>
            </p:cNvPr>
            <p:cNvCxnSpPr>
              <a:cxnSpLocks/>
            </p:cNvCxnSpPr>
            <p:nvPr/>
          </p:nvCxnSpPr>
          <p:spPr>
            <a:xfrm>
              <a:off x="755576" y="2492896"/>
              <a:ext cx="2304256" cy="0"/>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E5183A83-71CA-43C1-AB14-8B79F0D32364}"/>
                </a:ext>
              </a:extLst>
            </p:cNvPr>
            <p:cNvCxnSpPr/>
            <p:nvPr/>
          </p:nvCxnSpPr>
          <p:spPr>
            <a:xfrm>
              <a:off x="3059832" y="2492896"/>
              <a:ext cx="0" cy="2222956"/>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3E42FF46-7A38-4645-885A-0D0AD88823D5}"/>
                </a:ext>
              </a:extLst>
            </p:cNvPr>
            <p:cNvSpPr txBox="1"/>
            <p:nvPr/>
          </p:nvSpPr>
          <p:spPr>
            <a:xfrm>
              <a:off x="2915816" y="4797152"/>
              <a:ext cx="449162" cy="369332"/>
            </a:xfrm>
            <a:prstGeom prst="rect">
              <a:avLst/>
            </a:prstGeom>
            <a:noFill/>
          </p:spPr>
          <p:txBody>
            <a:bodyPr wrap="none" rtlCol="0">
              <a:spAutoFit/>
            </a:bodyPr>
            <a:lstStyle/>
            <a:p>
              <a:r>
                <a:rPr lang="en-US" altLang="zh-CN" dirty="0"/>
                <a:t>Q</a:t>
              </a:r>
              <a:r>
                <a:rPr lang="en-US" altLang="zh-CN" baseline="-25000" dirty="0"/>
                <a:t>1</a:t>
              </a:r>
              <a:endParaRPr lang="zh-CN" altLang="en-US" baseline="-25000" dirty="0"/>
            </a:p>
          </p:txBody>
        </p:sp>
        <p:sp>
          <p:nvSpPr>
            <p:cNvPr id="56" name="文本框 55">
              <a:extLst>
                <a:ext uri="{FF2B5EF4-FFF2-40B4-BE49-F238E27FC236}">
                  <a16:creationId xmlns:a16="http://schemas.microsoft.com/office/drawing/2014/main" id="{127B114D-6869-40F1-AEDC-273A897F845C}"/>
                </a:ext>
              </a:extLst>
            </p:cNvPr>
            <p:cNvSpPr txBox="1"/>
            <p:nvPr/>
          </p:nvSpPr>
          <p:spPr>
            <a:xfrm>
              <a:off x="323528" y="2420888"/>
              <a:ext cx="423514" cy="369332"/>
            </a:xfrm>
            <a:prstGeom prst="rect">
              <a:avLst/>
            </a:prstGeom>
            <a:noFill/>
          </p:spPr>
          <p:txBody>
            <a:bodyPr wrap="none" rtlCol="0">
              <a:spAutoFit/>
            </a:bodyPr>
            <a:lstStyle/>
            <a:p>
              <a:r>
                <a:rPr lang="en-US" altLang="zh-CN" dirty="0"/>
                <a:t>P</a:t>
              </a:r>
              <a:r>
                <a:rPr lang="en-US" altLang="zh-CN" baseline="-25000" dirty="0"/>
                <a:t>1</a:t>
              </a:r>
              <a:endParaRPr lang="zh-CN" altLang="en-US" baseline="-25000" dirty="0"/>
            </a:p>
          </p:txBody>
        </p:sp>
        <p:cxnSp>
          <p:nvCxnSpPr>
            <p:cNvPr id="58" name="直接连接符 57">
              <a:extLst>
                <a:ext uri="{FF2B5EF4-FFF2-40B4-BE49-F238E27FC236}">
                  <a16:creationId xmlns:a16="http://schemas.microsoft.com/office/drawing/2014/main" id="{8732C34A-2B2D-4E2F-857E-20EBDE4BDFAB}"/>
                </a:ext>
              </a:extLst>
            </p:cNvPr>
            <p:cNvCxnSpPr/>
            <p:nvPr/>
          </p:nvCxnSpPr>
          <p:spPr>
            <a:xfrm>
              <a:off x="2699792" y="2492896"/>
              <a:ext cx="0" cy="2232248"/>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361B35F9-B4B4-4B54-AD69-E3D1F3C4CB5D}"/>
                </a:ext>
              </a:extLst>
            </p:cNvPr>
            <p:cNvSpPr txBox="1"/>
            <p:nvPr/>
          </p:nvSpPr>
          <p:spPr>
            <a:xfrm>
              <a:off x="2538662" y="4797152"/>
              <a:ext cx="449162" cy="369332"/>
            </a:xfrm>
            <a:prstGeom prst="rect">
              <a:avLst/>
            </a:prstGeom>
            <a:noFill/>
          </p:spPr>
          <p:txBody>
            <a:bodyPr wrap="none" rtlCol="0">
              <a:spAutoFit/>
            </a:bodyPr>
            <a:lstStyle/>
            <a:p>
              <a:r>
                <a:rPr lang="en-US" altLang="zh-CN" dirty="0"/>
                <a:t>Q</a:t>
              </a:r>
              <a:r>
                <a:rPr lang="en-US" altLang="zh-CN" baseline="-25000" dirty="0"/>
                <a:t>2</a:t>
              </a:r>
              <a:endParaRPr lang="zh-CN" altLang="en-US" baseline="-25000" dirty="0"/>
            </a:p>
          </p:txBody>
        </p:sp>
        <p:sp>
          <p:nvSpPr>
            <p:cNvPr id="60" name="弧形 59">
              <a:extLst>
                <a:ext uri="{FF2B5EF4-FFF2-40B4-BE49-F238E27FC236}">
                  <a16:creationId xmlns:a16="http://schemas.microsoft.com/office/drawing/2014/main" id="{0039403C-4D59-47FB-9048-124A81636584}"/>
                </a:ext>
              </a:extLst>
            </p:cNvPr>
            <p:cNvSpPr/>
            <p:nvPr/>
          </p:nvSpPr>
          <p:spPr>
            <a:xfrm rot="6319099">
              <a:off x="3282888" y="639166"/>
              <a:ext cx="3946460" cy="2428056"/>
            </a:xfrm>
            <a:prstGeom prst="arc">
              <a:avLst/>
            </a:prstGeom>
            <a:ln w="381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弧形 61">
              <a:extLst>
                <a:ext uri="{FF2B5EF4-FFF2-40B4-BE49-F238E27FC236}">
                  <a16:creationId xmlns:a16="http://schemas.microsoft.com/office/drawing/2014/main" id="{68AD3B30-2A39-48A5-A6A4-CB288F2E8B02}"/>
                </a:ext>
              </a:extLst>
            </p:cNvPr>
            <p:cNvSpPr/>
            <p:nvPr/>
          </p:nvSpPr>
          <p:spPr>
            <a:xfrm rot="5400000">
              <a:off x="-475137" y="807078"/>
              <a:ext cx="3973595" cy="2420623"/>
            </a:xfrm>
            <a:prstGeom prst="arc">
              <a:avLst>
                <a:gd name="adj1" fmla="val 16378791"/>
                <a:gd name="adj2" fmla="val 20906166"/>
              </a:avLst>
            </a:prstGeom>
            <a:ln w="25400">
              <a:solidFill>
                <a:srgbClr val="6A943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BCCC030F-A7B7-42D0-9E3E-690860283C02}"/>
                </a:ext>
              </a:extLst>
            </p:cNvPr>
            <p:cNvSpPr txBox="1"/>
            <p:nvPr/>
          </p:nvSpPr>
          <p:spPr>
            <a:xfrm>
              <a:off x="2538662" y="1772816"/>
              <a:ext cx="300082" cy="369332"/>
            </a:xfrm>
            <a:prstGeom prst="rect">
              <a:avLst/>
            </a:prstGeom>
            <a:noFill/>
          </p:spPr>
          <p:txBody>
            <a:bodyPr wrap="none" rtlCol="0">
              <a:spAutoFit/>
            </a:bodyPr>
            <a:lstStyle/>
            <a:p>
              <a:r>
                <a:rPr lang="en-US" altLang="zh-CN" dirty="0"/>
                <a:t>s</a:t>
              </a:r>
              <a:endParaRPr lang="zh-CN" altLang="en-US" dirty="0"/>
            </a:p>
          </p:txBody>
        </p:sp>
      </p:grpSp>
      <p:sp>
        <p:nvSpPr>
          <p:cNvPr id="65" name="文本框 64">
            <a:extLst>
              <a:ext uri="{FF2B5EF4-FFF2-40B4-BE49-F238E27FC236}">
                <a16:creationId xmlns:a16="http://schemas.microsoft.com/office/drawing/2014/main" id="{4DBACF44-A8D0-4A09-86D8-246451EBA483}"/>
              </a:ext>
            </a:extLst>
          </p:cNvPr>
          <p:cNvSpPr txBox="1"/>
          <p:nvPr/>
        </p:nvSpPr>
        <p:spPr>
          <a:xfrm>
            <a:off x="1043608" y="692696"/>
            <a:ext cx="5328505" cy="400110"/>
          </a:xfrm>
          <a:prstGeom prst="rect">
            <a:avLst/>
          </a:prstGeom>
          <a:noFill/>
        </p:spPr>
        <p:txBody>
          <a:bodyPr wrap="square" rtlCol="0">
            <a:spAutoFit/>
          </a:bodyPr>
          <a:lstStyle/>
          <a:p>
            <a:r>
              <a:rPr lang="zh-CN" altLang="en-US" sz="2000" b="1" dirty="0">
                <a:solidFill>
                  <a:srgbClr val="FF0000"/>
                </a:solidFill>
              </a:rPr>
              <a:t>即：当所有企业共同行动导致要素价格上升时</a:t>
            </a:r>
          </a:p>
        </p:txBody>
      </p:sp>
      <p:cxnSp>
        <p:nvCxnSpPr>
          <p:cNvPr id="3" name="直接连接符 2">
            <a:extLst>
              <a:ext uri="{FF2B5EF4-FFF2-40B4-BE49-F238E27FC236}">
                <a16:creationId xmlns:a16="http://schemas.microsoft.com/office/drawing/2014/main" id="{44FEA80B-D6D9-469B-BD9F-EA8058A3E84D}"/>
              </a:ext>
            </a:extLst>
          </p:cNvPr>
          <p:cNvCxnSpPr>
            <a:cxnSpLocks/>
          </p:cNvCxnSpPr>
          <p:nvPr/>
        </p:nvCxnSpPr>
        <p:spPr bwMode="auto">
          <a:xfrm>
            <a:off x="4351814" y="3458244"/>
            <a:ext cx="1300261" cy="0"/>
          </a:xfrm>
          <a:prstGeom prst="line">
            <a:avLst/>
          </a:prstGeom>
          <a:solidFill>
            <a:schemeClr val="accent1"/>
          </a:solidFill>
          <a:ln w="1587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a:extLst>
              <a:ext uri="{FF2B5EF4-FFF2-40B4-BE49-F238E27FC236}">
                <a16:creationId xmlns:a16="http://schemas.microsoft.com/office/drawing/2014/main" id="{BF43BEDC-185A-4F0A-BF39-218A9E180018}"/>
              </a:ext>
            </a:extLst>
          </p:cNvPr>
          <p:cNvCxnSpPr>
            <a:cxnSpLocks/>
          </p:cNvCxnSpPr>
          <p:nvPr/>
        </p:nvCxnSpPr>
        <p:spPr bwMode="auto">
          <a:xfrm>
            <a:off x="5652075" y="3510300"/>
            <a:ext cx="0" cy="1214844"/>
          </a:xfrm>
          <a:prstGeom prst="line">
            <a:avLst/>
          </a:prstGeom>
          <a:solidFill>
            <a:schemeClr val="accent1"/>
          </a:solidFill>
          <a:ln w="1587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文本框 45">
            <a:extLst>
              <a:ext uri="{FF2B5EF4-FFF2-40B4-BE49-F238E27FC236}">
                <a16:creationId xmlns:a16="http://schemas.microsoft.com/office/drawing/2014/main" id="{6B996EDD-5425-4033-B523-25B0046E9910}"/>
              </a:ext>
            </a:extLst>
          </p:cNvPr>
          <p:cNvSpPr txBox="1"/>
          <p:nvPr/>
        </p:nvSpPr>
        <p:spPr>
          <a:xfrm>
            <a:off x="3889192" y="3275683"/>
            <a:ext cx="466793" cy="369332"/>
          </a:xfrm>
          <a:prstGeom prst="rect">
            <a:avLst/>
          </a:prstGeom>
          <a:noFill/>
        </p:spPr>
        <p:txBody>
          <a:bodyPr wrap="square" rtlCol="0">
            <a:spAutoFit/>
          </a:bodyPr>
          <a:lstStyle/>
          <a:p>
            <a:r>
              <a:rPr lang="en-US" altLang="zh-CN" dirty="0"/>
              <a:t>P</a:t>
            </a:r>
            <a:r>
              <a:rPr lang="en-US" altLang="zh-CN" baseline="-25000" dirty="0"/>
              <a:t>0</a:t>
            </a:r>
            <a:endParaRPr lang="zh-CN" altLang="en-US" baseline="-25000" dirty="0"/>
          </a:p>
        </p:txBody>
      </p:sp>
      <p:sp>
        <p:nvSpPr>
          <p:cNvPr id="48" name="TextBox 25">
            <a:extLst>
              <a:ext uri="{FF2B5EF4-FFF2-40B4-BE49-F238E27FC236}">
                <a16:creationId xmlns:a16="http://schemas.microsoft.com/office/drawing/2014/main" id="{BDD013E8-667D-4708-933B-E10CBE656DC1}"/>
              </a:ext>
            </a:extLst>
          </p:cNvPr>
          <p:cNvSpPr>
            <a:spLocks noChangeArrowheads="1"/>
          </p:cNvSpPr>
          <p:nvPr/>
        </p:nvSpPr>
        <p:spPr bwMode="auto">
          <a:xfrm>
            <a:off x="5292051" y="4725090"/>
            <a:ext cx="6480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ym typeface="Cambria Math" panose="02040503050406030204" pitchFamily="18" charset="0"/>
              </a:rPr>
              <a:t>nQ</a:t>
            </a:r>
            <a:r>
              <a:rPr lang="en-US" altLang="zh-CN" baseline="-25000" dirty="0">
                <a:sym typeface="Cambria Math" panose="02040503050406030204" pitchFamily="18" charset="0"/>
              </a:rPr>
              <a:t>0</a:t>
            </a:r>
            <a:endParaRPr lang="zh-CN" altLang="en-US" baseline="-25000" dirty="0">
              <a:sym typeface="Cambria Math" panose="02040503050406030204" pitchFamily="18" charset="0"/>
            </a:endParaRPr>
          </a:p>
        </p:txBody>
      </p:sp>
    </p:spTree>
    <p:extLst>
      <p:ext uri="{BB962C8B-B14F-4D97-AF65-F5344CB8AC3E}">
        <p14:creationId xmlns:p14="http://schemas.microsoft.com/office/powerpoint/2010/main" val="9052970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F68E5273-CD77-47B9-B841-9D29349C133D}"/>
              </a:ext>
            </a:extLst>
          </p:cNvPr>
          <p:cNvSpPr/>
          <p:nvPr/>
        </p:nvSpPr>
        <p:spPr>
          <a:xfrm>
            <a:off x="467544" y="548680"/>
            <a:ext cx="4435830"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rgbClr val="FFFFFF"/>
                </a:solidFill>
                <a:latin typeface="微软雅黑" panose="020B0503020204020204" pitchFamily="34" charset="-122"/>
                <a:ea typeface="微软雅黑" panose="020B0503020204020204" pitchFamily="34" charset="-122"/>
              </a:rPr>
              <a:t>五、生产者剩余和市场总剩余</a:t>
            </a:r>
          </a:p>
        </p:txBody>
      </p:sp>
      <p:sp>
        <p:nvSpPr>
          <p:cNvPr id="14" name="矩形 13">
            <a:extLst>
              <a:ext uri="{FF2B5EF4-FFF2-40B4-BE49-F238E27FC236}">
                <a16:creationId xmlns:a16="http://schemas.microsoft.com/office/drawing/2014/main" id="{88E64304-A318-44E5-8B2C-DCEFC99551AF}"/>
              </a:ext>
            </a:extLst>
          </p:cNvPr>
          <p:cNvSpPr/>
          <p:nvPr/>
        </p:nvSpPr>
        <p:spPr>
          <a:xfrm>
            <a:off x="5282045" y="0"/>
            <a:ext cx="3861955"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第三节  完全竞争企业的短期均衡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46" name="矩形 45">
            <a:extLst>
              <a:ext uri="{FF2B5EF4-FFF2-40B4-BE49-F238E27FC236}">
                <a16:creationId xmlns:a16="http://schemas.microsoft.com/office/drawing/2014/main" id="{E0A99D78-9954-4D9E-A9CD-6D00C6935420}"/>
              </a:ext>
            </a:extLst>
          </p:cNvPr>
          <p:cNvSpPr/>
          <p:nvPr/>
        </p:nvSpPr>
        <p:spPr>
          <a:xfrm>
            <a:off x="670226" y="1676542"/>
            <a:ext cx="1973617" cy="313932"/>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消费者剩余：</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49" name="矩形 48">
            <a:extLst>
              <a:ext uri="{FF2B5EF4-FFF2-40B4-BE49-F238E27FC236}">
                <a16:creationId xmlns:a16="http://schemas.microsoft.com/office/drawing/2014/main" id="{8BB6046A-2FD6-4FE6-B85B-57433D0B65A9}"/>
              </a:ext>
            </a:extLst>
          </p:cNvPr>
          <p:cNvSpPr/>
          <p:nvPr/>
        </p:nvSpPr>
        <p:spPr>
          <a:xfrm>
            <a:off x="670226" y="3860968"/>
            <a:ext cx="1973617" cy="313932"/>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生产者剩余：</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50" name="矩形 49">
            <a:extLst>
              <a:ext uri="{FF2B5EF4-FFF2-40B4-BE49-F238E27FC236}">
                <a16:creationId xmlns:a16="http://schemas.microsoft.com/office/drawing/2014/main" id="{03A39773-DE69-4C72-AC29-F37DB447E101}"/>
              </a:ext>
            </a:extLst>
          </p:cNvPr>
          <p:cNvSpPr/>
          <p:nvPr/>
        </p:nvSpPr>
        <p:spPr>
          <a:xfrm>
            <a:off x="1074344" y="4328222"/>
            <a:ext cx="3449670" cy="874407"/>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生产者实际获得的价格与其边际成本之间的差值</a:t>
            </a:r>
          </a:p>
        </p:txBody>
      </p:sp>
      <p:sp>
        <p:nvSpPr>
          <p:cNvPr id="51" name="矩形 50">
            <a:extLst>
              <a:ext uri="{FF2B5EF4-FFF2-40B4-BE49-F238E27FC236}">
                <a16:creationId xmlns:a16="http://schemas.microsoft.com/office/drawing/2014/main" id="{DFA7F2C8-98F5-40D0-94C5-32316328066C}"/>
              </a:ext>
            </a:extLst>
          </p:cNvPr>
          <p:cNvSpPr/>
          <p:nvPr/>
        </p:nvSpPr>
        <p:spPr>
          <a:xfrm>
            <a:off x="971750" y="2161042"/>
            <a:ext cx="3552263" cy="1289905"/>
          </a:xfrm>
          <a:prstGeom prst="rect">
            <a:avLst/>
          </a:prstGeom>
        </p:spPr>
        <p:txBody>
          <a:bodyPr wrap="square">
            <a:spAutoFit/>
          </a:bodyPr>
          <a:lstStyle/>
          <a:p>
            <a:pPr marL="342900" indent="-342900">
              <a:lnSpc>
                <a:spcPct val="150000"/>
              </a:lnSpc>
              <a:spcBef>
                <a:spcPct val="40000"/>
              </a:spcBef>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消费者愿意支付的最高价格与其实际支付价格之间的差值</a:t>
            </a:r>
          </a:p>
        </p:txBody>
      </p:sp>
      <p:sp>
        <p:nvSpPr>
          <p:cNvPr id="19" name="直接箭头连接符 41">
            <a:extLst>
              <a:ext uri="{FF2B5EF4-FFF2-40B4-BE49-F238E27FC236}">
                <a16:creationId xmlns:a16="http://schemas.microsoft.com/office/drawing/2014/main" id="{7A0EB2F8-2AF0-4487-823B-EC6B19DAD953}"/>
              </a:ext>
            </a:extLst>
          </p:cNvPr>
          <p:cNvSpPr>
            <a:spLocks noChangeShapeType="1"/>
          </p:cNvSpPr>
          <p:nvPr/>
        </p:nvSpPr>
        <p:spPr bwMode="auto">
          <a:xfrm rot="16200000" flipV="1">
            <a:off x="3952140" y="3797063"/>
            <a:ext cx="2646478" cy="1589"/>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0" name="直接箭头连接符 42">
            <a:extLst>
              <a:ext uri="{FF2B5EF4-FFF2-40B4-BE49-F238E27FC236}">
                <a16:creationId xmlns:a16="http://schemas.microsoft.com/office/drawing/2014/main" id="{920EBD07-D215-4921-BD73-ABFC53B56112}"/>
              </a:ext>
            </a:extLst>
          </p:cNvPr>
          <p:cNvSpPr>
            <a:spLocks noChangeShapeType="1"/>
          </p:cNvSpPr>
          <p:nvPr/>
        </p:nvSpPr>
        <p:spPr bwMode="auto">
          <a:xfrm>
            <a:off x="5276173" y="5119566"/>
            <a:ext cx="2992438" cy="15336"/>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1" name="TextBox 15">
            <a:extLst>
              <a:ext uri="{FF2B5EF4-FFF2-40B4-BE49-F238E27FC236}">
                <a16:creationId xmlns:a16="http://schemas.microsoft.com/office/drawing/2014/main" id="{8152E499-A683-44A6-A432-88A4755B5E6E}"/>
              </a:ext>
            </a:extLst>
          </p:cNvPr>
          <p:cNvSpPr>
            <a:spLocks noChangeArrowheads="1"/>
          </p:cNvSpPr>
          <p:nvPr/>
        </p:nvSpPr>
        <p:spPr bwMode="auto">
          <a:xfrm>
            <a:off x="5075097" y="5125432"/>
            <a:ext cx="349241" cy="265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O</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22" name="TextBox 16">
            <a:extLst>
              <a:ext uri="{FF2B5EF4-FFF2-40B4-BE49-F238E27FC236}">
                <a16:creationId xmlns:a16="http://schemas.microsoft.com/office/drawing/2014/main" id="{D73DD162-7EAD-4681-956C-E920EF53A603}"/>
              </a:ext>
            </a:extLst>
          </p:cNvPr>
          <p:cNvSpPr>
            <a:spLocks noChangeArrowheads="1"/>
          </p:cNvSpPr>
          <p:nvPr/>
        </p:nvSpPr>
        <p:spPr bwMode="auto">
          <a:xfrm>
            <a:off x="8068595" y="5125432"/>
            <a:ext cx="349241" cy="265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23" name="TextBox 17">
            <a:extLst>
              <a:ext uri="{FF2B5EF4-FFF2-40B4-BE49-F238E27FC236}">
                <a16:creationId xmlns:a16="http://schemas.microsoft.com/office/drawing/2014/main" id="{44A74A3B-0489-4851-9A98-EDC0D273C277}"/>
              </a:ext>
            </a:extLst>
          </p:cNvPr>
          <p:cNvSpPr>
            <a:spLocks noChangeArrowheads="1"/>
          </p:cNvSpPr>
          <p:nvPr/>
        </p:nvSpPr>
        <p:spPr bwMode="auto">
          <a:xfrm>
            <a:off x="7773859" y="2693138"/>
            <a:ext cx="548809" cy="30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S</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25" name="TextBox 19">
            <a:extLst>
              <a:ext uri="{FF2B5EF4-FFF2-40B4-BE49-F238E27FC236}">
                <a16:creationId xmlns:a16="http://schemas.microsoft.com/office/drawing/2014/main" id="{90204D0C-6965-4D61-B9F9-6C7D1B2E3E78}"/>
              </a:ext>
            </a:extLst>
          </p:cNvPr>
          <p:cNvSpPr>
            <a:spLocks noChangeArrowheads="1"/>
          </p:cNvSpPr>
          <p:nvPr/>
        </p:nvSpPr>
        <p:spPr bwMode="auto">
          <a:xfrm>
            <a:off x="4957492" y="2238985"/>
            <a:ext cx="299350" cy="265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2" name="TextBox 16">
            <a:extLst>
              <a:ext uri="{FF2B5EF4-FFF2-40B4-BE49-F238E27FC236}">
                <a16:creationId xmlns:a16="http://schemas.microsoft.com/office/drawing/2014/main" id="{4B096344-5DAB-42F4-A25D-AD5DB0E603FB}"/>
              </a:ext>
            </a:extLst>
          </p:cNvPr>
          <p:cNvSpPr>
            <a:spLocks noChangeArrowheads="1"/>
          </p:cNvSpPr>
          <p:nvPr/>
        </p:nvSpPr>
        <p:spPr bwMode="auto">
          <a:xfrm>
            <a:off x="8048264" y="4497707"/>
            <a:ext cx="349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D</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33" name="TextBox 16">
            <a:extLst>
              <a:ext uri="{FF2B5EF4-FFF2-40B4-BE49-F238E27FC236}">
                <a16:creationId xmlns:a16="http://schemas.microsoft.com/office/drawing/2014/main" id="{2ADDF8A1-B551-4393-A305-341AE42071D4}"/>
              </a:ext>
            </a:extLst>
          </p:cNvPr>
          <p:cNvSpPr>
            <a:spLocks noChangeArrowheads="1"/>
          </p:cNvSpPr>
          <p:nvPr/>
        </p:nvSpPr>
        <p:spPr bwMode="auto">
          <a:xfrm>
            <a:off x="6896218" y="3606968"/>
            <a:ext cx="349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E</a:t>
            </a:r>
            <a:endParaRPr lang="zh-CN" altLang="en-US" dirty="0">
              <a:solidFill>
                <a:srgbClr val="000000"/>
              </a:solidFill>
              <a:latin typeface="Cambria Math" panose="02040503050406030204" pitchFamily="18" charset="0"/>
              <a:sym typeface="Cambria Math" panose="02040503050406030204" pitchFamily="18" charset="0"/>
            </a:endParaRPr>
          </a:p>
        </p:txBody>
      </p:sp>
      <p:sp>
        <p:nvSpPr>
          <p:cNvPr id="15" name="TextBox 25">
            <a:extLst>
              <a:ext uri="{FF2B5EF4-FFF2-40B4-BE49-F238E27FC236}">
                <a16:creationId xmlns:a16="http://schemas.microsoft.com/office/drawing/2014/main" id="{BD888977-E89D-49B9-A9A5-E75114E55978}"/>
              </a:ext>
            </a:extLst>
          </p:cNvPr>
          <p:cNvSpPr>
            <a:spLocks noChangeArrowheads="1"/>
          </p:cNvSpPr>
          <p:nvPr/>
        </p:nvSpPr>
        <p:spPr bwMode="auto">
          <a:xfrm>
            <a:off x="6596181" y="5071070"/>
            <a:ext cx="7492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Q</a:t>
            </a:r>
            <a:r>
              <a:rPr lang="en-US" altLang="zh-CN" sz="1100" dirty="0">
                <a:solidFill>
                  <a:srgbClr val="000000"/>
                </a:solidFill>
                <a:latin typeface="Cambria Math" panose="02040503050406030204" pitchFamily="18" charset="0"/>
                <a:sym typeface="Cambria Math" panose="02040503050406030204" pitchFamily="18" charset="0"/>
              </a:rPr>
              <a:t>0</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16" name="直接连接符 38">
            <a:extLst>
              <a:ext uri="{FF2B5EF4-FFF2-40B4-BE49-F238E27FC236}">
                <a16:creationId xmlns:a16="http://schemas.microsoft.com/office/drawing/2014/main" id="{10FE4C62-CF58-40F8-B7BD-33A5D8B3A24A}"/>
              </a:ext>
            </a:extLst>
          </p:cNvPr>
          <p:cNvSpPr>
            <a:spLocks noChangeShapeType="1"/>
          </p:cNvSpPr>
          <p:nvPr/>
        </p:nvSpPr>
        <p:spPr bwMode="auto">
          <a:xfrm rot="5400000">
            <a:off x="6135362" y="4487061"/>
            <a:ext cx="1337586" cy="0"/>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dirty="0"/>
          </a:p>
        </p:txBody>
      </p:sp>
      <p:sp>
        <p:nvSpPr>
          <p:cNvPr id="17" name="直接连接符 39">
            <a:extLst>
              <a:ext uri="{FF2B5EF4-FFF2-40B4-BE49-F238E27FC236}">
                <a16:creationId xmlns:a16="http://schemas.microsoft.com/office/drawing/2014/main" id="{54CF39DE-2B74-4A41-B9E2-7C1F92A44C16}"/>
              </a:ext>
            </a:extLst>
          </p:cNvPr>
          <p:cNvSpPr>
            <a:spLocks noChangeShapeType="1"/>
          </p:cNvSpPr>
          <p:nvPr/>
        </p:nvSpPr>
        <p:spPr bwMode="auto">
          <a:xfrm rot="10800000">
            <a:off x="5280362" y="3818269"/>
            <a:ext cx="1509491" cy="0"/>
          </a:xfrm>
          <a:prstGeom prst="line">
            <a:avLst/>
          </a:prstGeom>
          <a:noFill/>
          <a:ln w="12700"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Box 28">
            <a:extLst>
              <a:ext uri="{FF2B5EF4-FFF2-40B4-BE49-F238E27FC236}">
                <a16:creationId xmlns:a16="http://schemas.microsoft.com/office/drawing/2014/main" id="{F85D2E54-551B-4DD5-892A-C434FB7E956B}"/>
              </a:ext>
            </a:extLst>
          </p:cNvPr>
          <p:cNvSpPr>
            <a:spLocks noChangeArrowheads="1"/>
          </p:cNvSpPr>
          <p:nvPr/>
        </p:nvSpPr>
        <p:spPr bwMode="auto">
          <a:xfrm>
            <a:off x="4904795" y="3674933"/>
            <a:ext cx="584817" cy="398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1100" dirty="0">
                <a:solidFill>
                  <a:srgbClr val="000000"/>
                </a:solidFill>
                <a:latin typeface="Cambria Math" panose="02040503050406030204" pitchFamily="18" charset="0"/>
                <a:sym typeface="Cambria Math" panose="02040503050406030204" pitchFamily="18" charset="0"/>
              </a:rPr>
              <a:t>0</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26" name="TextBox 28">
            <a:extLst>
              <a:ext uri="{FF2B5EF4-FFF2-40B4-BE49-F238E27FC236}">
                <a16:creationId xmlns:a16="http://schemas.microsoft.com/office/drawing/2014/main" id="{19298F60-A74D-4339-B711-39BD39C2498A}"/>
              </a:ext>
            </a:extLst>
          </p:cNvPr>
          <p:cNvSpPr>
            <a:spLocks noChangeArrowheads="1"/>
          </p:cNvSpPr>
          <p:nvPr/>
        </p:nvSpPr>
        <p:spPr bwMode="auto">
          <a:xfrm>
            <a:off x="4889314" y="2606613"/>
            <a:ext cx="5848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1100" dirty="0">
                <a:solidFill>
                  <a:srgbClr val="000000"/>
                </a:solidFill>
                <a:latin typeface="Cambria Math" panose="02040503050406030204" pitchFamily="18" charset="0"/>
                <a:sym typeface="Cambria Math" panose="02040503050406030204" pitchFamily="18" charset="0"/>
              </a:rPr>
              <a:t>1</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27" name="TextBox 28">
            <a:extLst>
              <a:ext uri="{FF2B5EF4-FFF2-40B4-BE49-F238E27FC236}">
                <a16:creationId xmlns:a16="http://schemas.microsoft.com/office/drawing/2014/main" id="{7271CF79-EA33-4B82-BCC6-CE9DC591D121}"/>
              </a:ext>
            </a:extLst>
          </p:cNvPr>
          <p:cNvSpPr>
            <a:spLocks noChangeArrowheads="1"/>
          </p:cNvSpPr>
          <p:nvPr/>
        </p:nvSpPr>
        <p:spPr bwMode="auto">
          <a:xfrm>
            <a:off x="4932878" y="4864513"/>
            <a:ext cx="5848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latin typeface="Cambria Math" panose="02040503050406030204" pitchFamily="18" charset="0"/>
                <a:sym typeface="Cambria Math" panose="02040503050406030204" pitchFamily="18" charset="0"/>
              </a:rPr>
              <a:t>P</a:t>
            </a:r>
            <a:r>
              <a:rPr lang="en-US" altLang="zh-CN" sz="1100" dirty="0">
                <a:solidFill>
                  <a:srgbClr val="000000"/>
                </a:solidFill>
                <a:latin typeface="Cambria Math" panose="02040503050406030204" pitchFamily="18" charset="0"/>
                <a:sym typeface="Cambria Math" panose="02040503050406030204" pitchFamily="18" charset="0"/>
              </a:rPr>
              <a:t>2</a:t>
            </a:r>
            <a:endParaRPr lang="zh-CN" altLang="en-US" sz="1100" dirty="0">
              <a:solidFill>
                <a:srgbClr val="000000"/>
              </a:solidFill>
              <a:latin typeface="Cambria Math" panose="02040503050406030204" pitchFamily="18" charset="0"/>
              <a:sym typeface="Cambria Math" panose="02040503050406030204" pitchFamily="18" charset="0"/>
            </a:endParaRPr>
          </a:p>
        </p:txBody>
      </p:sp>
      <p:sp>
        <p:nvSpPr>
          <p:cNvPr id="29" name="直接连接符 45">
            <a:extLst>
              <a:ext uri="{FF2B5EF4-FFF2-40B4-BE49-F238E27FC236}">
                <a16:creationId xmlns:a16="http://schemas.microsoft.com/office/drawing/2014/main" id="{4B477C2B-75C7-4337-9560-77594E7CCEAD}"/>
              </a:ext>
            </a:extLst>
          </p:cNvPr>
          <p:cNvSpPr>
            <a:spLocks noChangeShapeType="1"/>
          </p:cNvSpPr>
          <p:nvPr/>
        </p:nvSpPr>
        <p:spPr bwMode="auto">
          <a:xfrm flipV="1">
            <a:off x="5293916" y="2947075"/>
            <a:ext cx="2574414" cy="2102858"/>
          </a:xfrm>
          <a:prstGeom prst="line">
            <a:avLst/>
          </a:prstGeom>
          <a:noFill/>
          <a:ln w="19050" cap="flat" cmpd="sng">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直接连接符 45">
            <a:extLst>
              <a:ext uri="{FF2B5EF4-FFF2-40B4-BE49-F238E27FC236}">
                <a16:creationId xmlns:a16="http://schemas.microsoft.com/office/drawing/2014/main" id="{E56AFCAF-C0A1-4659-BB4C-A79E30A26340}"/>
              </a:ext>
            </a:extLst>
          </p:cNvPr>
          <p:cNvSpPr>
            <a:spLocks noChangeShapeType="1"/>
          </p:cNvSpPr>
          <p:nvPr/>
        </p:nvSpPr>
        <p:spPr bwMode="auto">
          <a:xfrm>
            <a:off x="5280362" y="2742105"/>
            <a:ext cx="2787456" cy="1962117"/>
          </a:xfrm>
          <a:prstGeom prst="line">
            <a:avLst/>
          </a:prstGeom>
          <a:noFill/>
          <a:ln w="19050" cap="flat" cmpd="sng">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 name="等腰三角形 2">
            <a:extLst>
              <a:ext uri="{FF2B5EF4-FFF2-40B4-BE49-F238E27FC236}">
                <a16:creationId xmlns:a16="http://schemas.microsoft.com/office/drawing/2014/main" id="{D729742A-2D6F-4B40-BC2C-86C3B8A56750}"/>
              </a:ext>
            </a:extLst>
          </p:cNvPr>
          <p:cNvSpPr/>
          <p:nvPr/>
        </p:nvSpPr>
        <p:spPr bwMode="auto">
          <a:xfrm>
            <a:off x="5283368" y="2780955"/>
            <a:ext cx="1462780" cy="1005416"/>
          </a:xfrm>
          <a:prstGeom prst="triangle">
            <a:avLst>
              <a:gd name="adj" fmla="val 651"/>
            </a:avLst>
          </a:prstGeom>
          <a:solidFill>
            <a:schemeClr val="accent1">
              <a:lumMod val="9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1" name="等腰三角形 30">
            <a:extLst>
              <a:ext uri="{FF2B5EF4-FFF2-40B4-BE49-F238E27FC236}">
                <a16:creationId xmlns:a16="http://schemas.microsoft.com/office/drawing/2014/main" id="{5FBFD8FF-DE68-4CA4-ABBB-58DFB0C41AC2}"/>
              </a:ext>
            </a:extLst>
          </p:cNvPr>
          <p:cNvSpPr/>
          <p:nvPr/>
        </p:nvSpPr>
        <p:spPr bwMode="auto">
          <a:xfrm flipV="1">
            <a:off x="5304513" y="3836507"/>
            <a:ext cx="1441634" cy="1171097"/>
          </a:xfrm>
          <a:prstGeom prst="triangle">
            <a:avLst>
              <a:gd name="adj" fmla="val 0"/>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8" name="文本框 27">
            <a:extLst>
              <a:ext uri="{FF2B5EF4-FFF2-40B4-BE49-F238E27FC236}">
                <a16:creationId xmlns:a16="http://schemas.microsoft.com/office/drawing/2014/main" id="{C3D64AFB-5B11-439E-9916-02E755AA8DCC}"/>
              </a:ext>
            </a:extLst>
          </p:cNvPr>
          <p:cNvSpPr txBox="1"/>
          <p:nvPr/>
        </p:nvSpPr>
        <p:spPr>
          <a:xfrm>
            <a:off x="5372974" y="3950825"/>
            <a:ext cx="1595832" cy="276999"/>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生产者剩余</a:t>
            </a:r>
          </a:p>
        </p:txBody>
      </p:sp>
      <p:sp>
        <p:nvSpPr>
          <p:cNvPr id="2" name="文本框 1">
            <a:extLst>
              <a:ext uri="{FF2B5EF4-FFF2-40B4-BE49-F238E27FC236}">
                <a16:creationId xmlns:a16="http://schemas.microsoft.com/office/drawing/2014/main" id="{818E9A8A-42A0-48A9-85A5-FBABA1CF143C}"/>
              </a:ext>
            </a:extLst>
          </p:cNvPr>
          <p:cNvSpPr txBox="1"/>
          <p:nvPr/>
        </p:nvSpPr>
        <p:spPr>
          <a:xfrm>
            <a:off x="5306009" y="3363243"/>
            <a:ext cx="1595832" cy="276999"/>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消费者剩余</a:t>
            </a:r>
          </a:p>
        </p:txBody>
      </p:sp>
      <p:sp>
        <p:nvSpPr>
          <p:cNvPr id="4" name="标注: 线形(带边框和强调线) 3">
            <a:extLst>
              <a:ext uri="{FF2B5EF4-FFF2-40B4-BE49-F238E27FC236}">
                <a16:creationId xmlns:a16="http://schemas.microsoft.com/office/drawing/2014/main" id="{DF6BDE1C-3A5E-4B65-98FA-BACF7FBEC4EE}"/>
              </a:ext>
            </a:extLst>
          </p:cNvPr>
          <p:cNvSpPr/>
          <p:nvPr/>
        </p:nvSpPr>
        <p:spPr bwMode="auto">
          <a:xfrm>
            <a:off x="6804154" y="1417598"/>
            <a:ext cx="1368095" cy="871592"/>
          </a:xfrm>
          <a:prstGeom prst="accentBorderCallout1">
            <a:avLst>
              <a:gd name="adj1" fmla="val 52984"/>
              <a:gd name="adj2" fmla="val -946"/>
              <a:gd name="adj3" fmla="val 146735"/>
              <a:gd name="adj4" fmla="val -3059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市场上的消费者剩余与生产者剩余</a:t>
            </a:r>
          </a:p>
        </p:txBody>
      </p:sp>
    </p:spTree>
    <p:extLst>
      <p:ext uri="{BB962C8B-B14F-4D97-AF65-F5344CB8AC3E}">
        <p14:creationId xmlns:p14="http://schemas.microsoft.com/office/powerpoint/2010/main" val="324063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left)">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wipe(left)">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wipe(left)">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wipe(left)">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down)">
                                      <p:cBhvr>
                                        <p:cTn id="32" dur="500"/>
                                        <p:tgtEl>
                                          <p:spTgt spid="20"/>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down)">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barn(inVertical)">
                                      <p:cBhvr>
                                        <p:cTn id="40" dur="500"/>
                                        <p:tgtEl>
                                          <p:spTgt spid="21"/>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arn(inVertical)">
                                      <p:cBhvr>
                                        <p:cTn id="43" dur="500"/>
                                        <p:tgtEl>
                                          <p:spTgt spid="25"/>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barn(inVertical)">
                                      <p:cBhvr>
                                        <p:cTn id="46" dur="50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barn(inVertical)">
                                      <p:cBhvr>
                                        <p:cTn id="51" dur="500"/>
                                        <p:tgtEl>
                                          <p:spTgt spid="15"/>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barn(inVertical)">
                                      <p:cBhvr>
                                        <p:cTn id="54" dur="500"/>
                                        <p:tgtEl>
                                          <p:spTgt spid="16"/>
                                        </p:tgtEl>
                                      </p:cBhvr>
                                    </p:animEffect>
                                  </p:childTnLst>
                                </p:cTn>
                              </p:par>
                              <p:par>
                                <p:cTn id="55" presetID="16" presetClass="entr" presetSubtype="21"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arn(inVertical)">
                                      <p:cBhvr>
                                        <p:cTn id="57" dur="500"/>
                                        <p:tgtEl>
                                          <p:spTgt spid="17"/>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barn(inVertical)">
                                      <p:cBhvr>
                                        <p:cTn id="60" dur="500"/>
                                        <p:tgtEl>
                                          <p:spTgt spid="18"/>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barn(inVertical)">
                                      <p:cBhvr>
                                        <p:cTn id="65" dur="500"/>
                                        <p:tgtEl>
                                          <p:spTgt spid="30"/>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barn(inVertical)">
                                      <p:cBhvr>
                                        <p:cTn id="68" dur="500"/>
                                        <p:tgtEl>
                                          <p:spTgt spid="26"/>
                                        </p:tgtEl>
                                      </p:cBhvr>
                                    </p:animEffect>
                                  </p:childTnLst>
                                </p:cTn>
                              </p:par>
                              <p:par>
                                <p:cTn id="69" presetID="16" presetClass="entr" presetSubtype="21"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barn(inVertical)">
                                      <p:cBhvr>
                                        <p:cTn id="71" dur="500"/>
                                        <p:tgtEl>
                                          <p:spTgt spid="32"/>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2"/>
                                        </p:tgtEl>
                                        <p:attrNameLst>
                                          <p:attrName>style.visibility</p:attrName>
                                        </p:attrNameLst>
                                      </p:cBhvr>
                                      <p:to>
                                        <p:strVal val="visible"/>
                                      </p:to>
                                    </p:set>
                                    <p:animEffect transition="in" filter="fade">
                                      <p:cBhvr>
                                        <p:cTn id="76" dur="1000"/>
                                        <p:tgtEl>
                                          <p:spTgt spid="2"/>
                                        </p:tgtEl>
                                      </p:cBhvr>
                                    </p:animEffect>
                                    <p:anim calcmode="lin" valueType="num">
                                      <p:cBhvr>
                                        <p:cTn id="77" dur="1000" fill="hold"/>
                                        <p:tgtEl>
                                          <p:spTgt spid="2"/>
                                        </p:tgtEl>
                                        <p:attrNameLst>
                                          <p:attrName>ppt_x</p:attrName>
                                        </p:attrNameLst>
                                      </p:cBhvr>
                                      <p:tavLst>
                                        <p:tav tm="0">
                                          <p:val>
                                            <p:strVal val="#ppt_x"/>
                                          </p:val>
                                        </p:tav>
                                        <p:tav tm="100000">
                                          <p:val>
                                            <p:strVal val="#ppt_x"/>
                                          </p:val>
                                        </p:tav>
                                      </p:tavLst>
                                    </p:anim>
                                    <p:anim calcmode="lin" valueType="num">
                                      <p:cBhvr>
                                        <p:cTn id="78" dur="1000" fill="hold"/>
                                        <p:tgtEl>
                                          <p:spTgt spid="2"/>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3"/>
                                        </p:tgtEl>
                                        <p:attrNameLst>
                                          <p:attrName>style.visibility</p:attrName>
                                        </p:attrNameLst>
                                      </p:cBhvr>
                                      <p:to>
                                        <p:strVal val="visible"/>
                                      </p:to>
                                    </p:set>
                                    <p:animEffect transition="in" filter="fade">
                                      <p:cBhvr>
                                        <p:cTn id="81" dur="1000"/>
                                        <p:tgtEl>
                                          <p:spTgt spid="3"/>
                                        </p:tgtEl>
                                      </p:cBhvr>
                                    </p:animEffect>
                                    <p:anim calcmode="lin" valueType="num">
                                      <p:cBhvr>
                                        <p:cTn id="82" dur="1000" fill="hold"/>
                                        <p:tgtEl>
                                          <p:spTgt spid="3"/>
                                        </p:tgtEl>
                                        <p:attrNameLst>
                                          <p:attrName>ppt_x</p:attrName>
                                        </p:attrNameLst>
                                      </p:cBhvr>
                                      <p:tavLst>
                                        <p:tav tm="0">
                                          <p:val>
                                            <p:strVal val="#ppt_x"/>
                                          </p:val>
                                        </p:tav>
                                        <p:tav tm="100000">
                                          <p:val>
                                            <p:strVal val="#ppt_x"/>
                                          </p:val>
                                        </p:tav>
                                      </p:tavLst>
                                    </p:anim>
                                    <p:anim calcmode="lin" valueType="num">
                                      <p:cBhvr>
                                        <p:cTn id="8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6" presetClass="entr" presetSubtype="21"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barn(inVertical)">
                                      <p:cBhvr>
                                        <p:cTn id="88" dur="500"/>
                                        <p:tgtEl>
                                          <p:spTgt spid="27"/>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barn(inVertical)">
                                      <p:cBhvr>
                                        <p:cTn id="91" dur="500"/>
                                        <p:tgtEl>
                                          <p:spTgt spid="29"/>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barn(inVertical)">
                                      <p:cBhvr>
                                        <p:cTn id="94" dur="500"/>
                                        <p:tgtEl>
                                          <p:spTgt spid="23"/>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ppt_x"/>
                                          </p:val>
                                        </p:tav>
                                        <p:tav tm="100000">
                                          <p:val>
                                            <p:strVal val="#ppt_x"/>
                                          </p:val>
                                        </p:tav>
                                      </p:tavLst>
                                    </p:anim>
                                    <p:anim calcmode="lin" valueType="num">
                                      <p:cBhvr additive="base">
                                        <p:cTn id="100" dur="500" fill="hold"/>
                                        <p:tgtEl>
                                          <p:spTgt spid="28"/>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1"/>
                                        </p:tgtEl>
                                        <p:attrNameLst>
                                          <p:attrName>style.visibility</p:attrName>
                                        </p:attrNameLst>
                                      </p:cBhvr>
                                      <p:to>
                                        <p:strVal val="visible"/>
                                      </p:to>
                                    </p:set>
                                    <p:anim calcmode="lin" valueType="num">
                                      <p:cBhvr additive="base">
                                        <p:cTn id="103" dur="500" fill="hold"/>
                                        <p:tgtEl>
                                          <p:spTgt spid="31"/>
                                        </p:tgtEl>
                                        <p:attrNameLst>
                                          <p:attrName>ppt_x</p:attrName>
                                        </p:attrNameLst>
                                      </p:cBhvr>
                                      <p:tavLst>
                                        <p:tav tm="0">
                                          <p:val>
                                            <p:strVal val="#ppt_x"/>
                                          </p:val>
                                        </p:tav>
                                        <p:tav tm="100000">
                                          <p:val>
                                            <p:strVal val="#ppt_x"/>
                                          </p:val>
                                        </p:tav>
                                      </p:tavLst>
                                    </p:anim>
                                    <p:anim calcmode="lin" valueType="num">
                                      <p:cBhvr additive="base">
                                        <p:cTn id="10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grpId="0" nodeType="clickEffect">
                                  <p:stCondLst>
                                    <p:cond delay="0"/>
                                  </p:stCondLst>
                                  <p:childTnLst>
                                    <p:set>
                                      <p:cBhvr>
                                        <p:cTn id="108" dur="1" fill="hold">
                                          <p:stCondLst>
                                            <p:cond delay="0"/>
                                          </p:stCondLst>
                                        </p:cTn>
                                        <p:tgtEl>
                                          <p:spTgt spid="33"/>
                                        </p:tgtEl>
                                        <p:attrNameLst>
                                          <p:attrName>style.visibility</p:attrName>
                                        </p:attrNameLst>
                                      </p:cBhvr>
                                      <p:to>
                                        <p:strVal val="visible"/>
                                      </p:to>
                                    </p:set>
                                    <p:animEffect transition="in" filter="wipe(down)">
                                      <p:cBhvr>
                                        <p:cTn id="10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6" grpId="0"/>
      <p:bldP spid="49" grpId="0"/>
      <p:bldP spid="50" grpId="0"/>
      <p:bldP spid="51" grpId="0"/>
      <p:bldP spid="19" grpId="0" animBg="1"/>
      <p:bldP spid="20" grpId="0" animBg="1"/>
      <p:bldP spid="21" grpId="0"/>
      <p:bldP spid="22" grpId="0"/>
      <p:bldP spid="23" grpId="0"/>
      <p:bldP spid="25" grpId="0"/>
      <p:bldP spid="32" grpId="0"/>
      <p:bldP spid="33" grpId="0"/>
      <p:bldP spid="15" grpId="0"/>
      <p:bldP spid="16" grpId="0" animBg="1"/>
      <p:bldP spid="17" grpId="0" animBg="1"/>
      <p:bldP spid="18" grpId="0"/>
      <p:bldP spid="26" grpId="0"/>
      <p:bldP spid="27" grpId="0"/>
      <p:bldP spid="29" grpId="0" animBg="1"/>
      <p:bldP spid="30" grpId="0" animBg="1"/>
      <p:bldP spid="3" grpId="0" animBg="1"/>
      <p:bldP spid="31" grpId="0" animBg="1"/>
      <p:bldP spid="28" grpId="0"/>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44D0F74-13A4-4F5A-9869-697B575A3772}"/>
              </a:ext>
            </a:extLst>
          </p:cNvPr>
          <p:cNvSpPr>
            <a:spLocks noGrp="1"/>
          </p:cNvSpPr>
          <p:nvPr>
            <p:ph idx="1"/>
          </p:nvPr>
        </p:nvSpPr>
        <p:spPr>
          <a:xfrm>
            <a:off x="457200" y="404664"/>
            <a:ext cx="8229600" cy="811972"/>
          </a:xfrm>
        </p:spPr>
        <p:txBody>
          <a:bodyPr/>
          <a:lstStyle/>
          <a:p>
            <a:r>
              <a:rPr lang="zh-CN" altLang="en-US" dirty="0"/>
              <a:t>单个厂商的生产者剩余</a:t>
            </a:r>
          </a:p>
        </p:txBody>
      </p:sp>
      <p:grpSp>
        <p:nvGrpSpPr>
          <p:cNvPr id="4" name="组合 3">
            <a:extLst>
              <a:ext uri="{FF2B5EF4-FFF2-40B4-BE49-F238E27FC236}">
                <a16:creationId xmlns:a16="http://schemas.microsoft.com/office/drawing/2014/main" id="{045884DC-E8AC-4253-9DF3-3026FD864C89}"/>
              </a:ext>
            </a:extLst>
          </p:cNvPr>
          <p:cNvGrpSpPr/>
          <p:nvPr/>
        </p:nvGrpSpPr>
        <p:grpSpPr>
          <a:xfrm>
            <a:off x="1259770" y="1834985"/>
            <a:ext cx="6996664" cy="4594647"/>
            <a:chOff x="1050925" y="1344613"/>
            <a:chExt cx="7696843" cy="5022850"/>
          </a:xfrm>
        </p:grpSpPr>
        <p:sp>
          <p:nvSpPr>
            <p:cNvPr id="5" name="Freeform 4">
              <a:extLst>
                <a:ext uri="{FF2B5EF4-FFF2-40B4-BE49-F238E27FC236}">
                  <a16:creationId xmlns:a16="http://schemas.microsoft.com/office/drawing/2014/main" id="{90A1CA7C-9D70-40EB-A902-B2D33F6A1509}"/>
                </a:ext>
              </a:extLst>
            </p:cNvPr>
            <p:cNvSpPr>
              <a:spLocks/>
            </p:cNvSpPr>
            <p:nvPr/>
          </p:nvSpPr>
          <p:spPr bwMode="auto">
            <a:xfrm>
              <a:off x="1436688" y="2951163"/>
              <a:ext cx="2287587" cy="2211387"/>
            </a:xfrm>
            <a:custGeom>
              <a:avLst/>
              <a:gdLst>
                <a:gd name="T0" fmla="*/ 0 w 1441"/>
                <a:gd name="T1" fmla="*/ 2147483646 h 1393"/>
                <a:gd name="T2" fmla="*/ 2147483646 w 1441"/>
                <a:gd name="T3" fmla="*/ 2147483646 h 1393"/>
                <a:gd name="T4" fmla="*/ 2147483646 w 1441"/>
                <a:gd name="T5" fmla="*/ 2147483646 h 1393"/>
                <a:gd name="T6" fmla="*/ 2147483646 w 1441"/>
                <a:gd name="T7" fmla="*/ 2147483646 h 1393"/>
                <a:gd name="T8" fmla="*/ 2147483646 w 1441"/>
                <a:gd name="T9" fmla="*/ 2147483646 h 1393"/>
                <a:gd name="T10" fmla="*/ 2147483646 w 1441"/>
                <a:gd name="T11" fmla="*/ 2147483646 h 1393"/>
                <a:gd name="T12" fmla="*/ 2147483646 w 1441"/>
                <a:gd name="T13" fmla="*/ 2147483646 h 1393"/>
                <a:gd name="T14" fmla="*/ 2147483646 w 1441"/>
                <a:gd name="T15" fmla="*/ 2147483646 h 1393"/>
                <a:gd name="T16" fmla="*/ 2147483646 w 1441"/>
                <a:gd name="T17" fmla="*/ 2147483646 h 1393"/>
                <a:gd name="T18" fmla="*/ 2147483646 w 1441"/>
                <a:gd name="T19" fmla="*/ 2147483646 h 1393"/>
                <a:gd name="T20" fmla="*/ 2147483646 w 1441"/>
                <a:gd name="T21" fmla="*/ 0 h 1393"/>
                <a:gd name="T22" fmla="*/ 0 w 1441"/>
                <a:gd name="T23" fmla="*/ 0 h 1393"/>
                <a:gd name="T24" fmla="*/ 0 w 1441"/>
                <a:gd name="T25" fmla="*/ 2147483646 h 13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41"/>
                <a:gd name="T40" fmla="*/ 0 h 1393"/>
                <a:gd name="T41" fmla="*/ 1441 w 1441"/>
                <a:gd name="T42" fmla="*/ 1393 h 139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41" h="1393">
                  <a:moveTo>
                    <a:pt x="0" y="528"/>
                  </a:moveTo>
                  <a:lnTo>
                    <a:pt x="48" y="768"/>
                  </a:lnTo>
                  <a:lnTo>
                    <a:pt x="48" y="960"/>
                  </a:lnTo>
                  <a:lnTo>
                    <a:pt x="144" y="1152"/>
                  </a:lnTo>
                  <a:lnTo>
                    <a:pt x="240" y="1296"/>
                  </a:lnTo>
                  <a:lnTo>
                    <a:pt x="384" y="1392"/>
                  </a:lnTo>
                  <a:lnTo>
                    <a:pt x="528" y="1392"/>
                  </a:lnTo>
                  <a:lnTo>
                    <a:pt x="624" y="1344"/>
                  </a:lnTo>
                  <a:lnTo>
                    <a:pt x="720" y="1248"/>
                  </a:lnTo>
                  <a:lnTo>
                    <a:pt x="1251" y="353"/>
                  </a:lnTo>
                  <a:lnTo>
                    <a:pt x="1440" y="0"/>
                  </a:lnTo>
                  <a:lnTo>
                    <a:pt x="0" y="0"/>
                  </a:lnTo>
                  <a:lnTo>
                    <a:pt x="0" y="528"/>
                  </a:lnTo>
                </a:path>
              </a:pathLst>
            </a:custGeom>
            <a:solidFill>
              <a:srgbClr val="FFFF00">
                <a:alpha val="50000"/>
              </a:srgbClr>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6" name="Rectangle 17">
              <a:extLst>
                <a:ext uri="{FF2B5EF4-FFF2-40B4-BE49-F238E27FC236}">
                  <a16:creationId xmlns:a16="http://schemas.microsoft.com/office/drawing/2014/main" id="{F82F6AAA-743B-4F47-9E8A-63BBCCBDF721}"/>
                </a:ext>
              </a:extLst>
            </p:cNvPr>
            <p:cNvSpPr>
              <a:spLocks noChangeArrowheads="1"/>
            </p:cNvSpPr>
            <p:nvPr/>
          </p:nvSpPr>
          <p:spPr bwMode="auto">
            <a:xfrm>
              <a:off x="1050925" y="2759075"/>
              <a:ext cx="346075" cy="363538"/>
            </a:xfrm>
            <a:prstGeom prst="rect">
              <a:avLst/>
            </a:prstGeom>
            <a:noFill/>
            <a:ln w="12700">
              <a:noFill/>
              <a:miter lim="800000"/>
              <a:headEnd/>
              <a:tailEnd/>
            </a:ln>
            <a:effectLst/>
          </p:spPr>
          <p:txBody>
            <a:bodyPr wrap="none" lIns="90488" tIns="44450" rIns="90488" bIns="44450">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i="1">
                  <a:effectLst>
                    <a:outerShdw blurRad="38100" dist="38100" dir="2700000" algn="tl">
                      <a:srgbClr val="C0C0C0"/>
                    </a:outerShdw>
                  </a:effectLst>
                </a:rPr>
                <a:t>A</a:t>
              </a:r>
            </a:p>
          </p:txBody>
        </p:sp>
        <p:sp>
          <p:nvSpPr>
            <p:cNvPr id="7" name="Rectangle 21">
              <a:extLst>
                <a:ext uri="{FF2B5EF4-FFF2-40B4-BE49-F238E27FC236}">
                  <a16:creationId xmlns:a16="http://schemas.microsoft.com/office/drawing/2014/main" id="{D96118CC-8342-4B47-8359-A8CCF147648E}"/>
                </a:ext>
              </a:extLst>
            </p:cNvPr>
            <p:cNvSpPr>
              <a:spLocks noChangeArrowheads="1"/>
            </p:cNvSpPr>
            <p:nvPr/>
          </p:nvSpPr>
          <p:spPr bwMode="auto">
            <a:xfrm>
              <a:off x="1050925" y="4165600"/>
              <a:ext cx="346075" cy="363538"/>
            </a:xfrm>
            <a:prstGeom prst="rect">
              <a:avLst/>
            </a:prstGeom>
            <a:noFill/>
            <a:ln w="12700">
              <a:noFill/>
              <a:miter lim="800000"/>
              <a:headEnd/>
              <a:tailEnd/>
            </a:ln>
            <a:effectLst/>
          </p:spPr>
          <p:txBody>
            <a:bodyPr wrap="none" lIns="90488" tIns="44450" rIns="90488" bIns="44450">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i="1">
                  <a:effectLst>
                    <a:outerShdw blurRad="38100" dist="38100" dir="2700000" algn="tl">
                      <a:srgbClr val="C0C0C0"/>
                    </a:outerShdw>
                  </a:effectLst>
                </a:rPr>
                <a:t>D</a:t>
              </a:r>
            </a:p>
          </p:txBody>
        </p:sp>
        <p:sp>
          <p:nvSpPr>
            <p:cNvPr id="8" name="Oval 22">
              <a:extLst>
                <a:ext uri="{FF2B5EF4-FFF2-40B4-BE49-F238E27FC236}">
                  <a16:creationId xmlns:a16="http://schemas.microsoft.com/office/drawing/2014/main" id="{4BF94E89-F164-4629-B300-267870838D8D}"/>
                </a:ext>
              </a:extLst>
            </p:cNvPr>
            <p:cNvSpPr>
              <a:spLocks noChangeArrowheads="1"/>
            </p:cNvSpPr>
            <p:nvPr/>
          </p:nvSpPr>
          <p:spPr bwMode="auto">
            <a:xfrm>
              <a:off x="3646488" y="2874963"/>
              <a:ext cx="152400" cy="1524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9" name="Oval 23">
              <a:extLst>
                <a:ext uri="{FF2B5EF4-FFF2-40B4-BE49-F238E27FC236}">
                  <a16:creationId xmlns:a16="http://schemas.microsoft.com/office/drawing/2014/main" id="{C2252098-E7B8-456C-9CA0-3D58883D47E0}"/>
                </a:ext>
              </a:extLst>
            </p:cNvPr>
            <p:cNvSpPr>
              <a:spLocks noChangeArrowheads="1"/>
            </p:cNvSpPr>
            <p:nvPr/>
          </p:nvSpPr>
          <p:spPr bwMode="auto">
            <a:xfrm>
              <a:off x="3646488" y="4322763"/>
              <a:ext cx="152400" cy="1524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10" name="Rectangle 24">
              <a:extLst>
                <a:ext uri="{FF2B5EF4-FFF2-40B4-BE49-F238E27FC236}">
                  <a16:creationId xmlns:a16="http://schemas.microsoft.com/office/drawing/2014/main" id="{8213020D-7E75-4F31-87C8-8366841B773D}"/>
                </a:ext>
              </a:extLst>
            </p:cNvPr>
            <p:cNvSpPr>
              <a:spLocks noChangeArrowheads="1"/>
            </p:cNvSpPr>
            <p:nvPr/>
          </p:nvSpPr>
          <p:spPr bwMode="auto">
            <a:xfrm>
              <a:off x="3336925" y="2489200"/>
              <a:ext cx="346075" cy="363538"/>
            </a:xfrm>
            <a:prstGeom prst="rect">
              <a:avLst/>
            </a:prstGeom>
            <a:noFill/>
            <a:ln w="12700">
              <a:noFill/>
              <a:miter lim="800000"/>
              <a:headEnd/>
              <a:tailEnd/>
            </a:ln>
            <a:effectLst/>
          </p:spPr>
          <p:txBody>
            <a:bodyPr wrap="none" lIns="90488" tIns="44450" rIns="90488" bIns="44450">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i="1">
                  <a:effectLst>
                    <a:outerShdw blurRad="38100" dist="38100" dir="2700000" algn="tl">
                      <a:srgbClr val="C0C0C0"/>
                    </a:outerShdw>
                  </a:effectLst>
                </a:rPr>
                <a:t>B</a:t>
              </a:r>
            </a:p>
          </p:txBody>
        </p:sp>
        <p:sp>
          <p:nvSpPr>
            <p:cNvPr id="11" name="Rectangle 25">
              <a:extLst>
                <a:ext uri="{FF2B5EF4-FFF2-40B4-BE49-F238E27FC236}">
                  <a16:creationId xmlns:a16="http://schemas.microsoft.com/office/drawing/2014/main" id="{368466CB-72CD-405C-925D-749340F96B41}"/>
                </a:ext>
              </a:extLst>
            </p:cNvPr>
            <p:cNvSpPr>
              <a:spLocks noChangeArrowheads="1"/>
            </p:cNvSpPr>
            <p:nvPr/>
          </p:nvSpPr>
          <p:spPr bwMode="auto">
            <a:xfrm>
              <a:off x="3717925" y="4318000"/>
              <a:ext cx="346075" cy="363538"/>
            </a:xfrm>
            <a:prstGeom prst="rect">
              <a:avLst/>
            </a:prstGeom>
            <a:noFill/>
            <a:ln w="12700">
              <a:noFill/>
              <a:miter lim="800000"/>
              <a:headEnd/>
              <a:tailEnd/>
            </a:ln>
            <a:effectLst/>
          </p:spPr>
          <p:txBody>
            <a:bodyPr wrap="none" lIns="90488" tIns="44450" rIns="90488" bIns="44450">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i="1">
                  <a:effectLst>
                    <a:outerShdw blurRad="38100" dist="38100" dir="2700000" algn="tl">
                      <a:srgbClr val="C0C0C0"/>
                    </a:outerShdw>
                  </a:effectLst>
                </a:rPr>
                <a:t>C</a:t>
              </a:r>
            </a:p>
          </p:txBody>
        </p:sp>
        <p:sp>
          <p:nvSpPr>
            <p:cNvPr id="12" name="Rectangle 27">
              <a:extLst>
                <a:ext uri="{FF2B5EF4-FFF2-40B4-BE49-F238E27FC236}">
                  <a16:creationId xmlns:a16="http://schemas.microsoft.com/office/drawing/2014/main" id="{77C6F65D-36D6-4B2C-A910-F520D1853605}"/>
                </a:ext>
              </a:extLst>
            </p:cNvPr>
            <p:cNvSpPr>
              <a:spLocks noChangeArrowheads="1"/>
            </p:cNvSpPr>
            <p:nvPr/>
          </p:nvSpPr>
          <p:spPr bwMode="auto">
            <a:xfrm>
              <a:off x="1828800" y="2116138"/>
              <a:ext cx="1204913" cy="333375"/>
            </a:xfrm>
            <a:prstGeom prst="rect">
              <a:avLst/>
            </a:prstGeom>
            <a:noFill/>
            <a:ln w="12700">
              <a:noFill/>
              <a:miter lim="800000"/>
              <a:headEnd/>
              <a:tailEnd/>
            </a:ln>
            <a:effectLst/>
          </p:spPr>
          <p:txBody>
            <a:bodyPr wrap="none" lIns="90488" tIns="44450" rIns="90488" bIns="44450">
              <a:spAutoFit/>
            </a:bodyPr>
            <a:lstStyle/>
            <a:p>
              <a:pPr algn="ctr" eaLnBrk="1" hangingPunct="1">
                <a:defRPr/>
              </a:pPr>
              <a:r>
                <a:rPr lang="zh-CN" altLang="en-US" sz="1600">
                  <a:effectLst>
                    <a:outerShdw blurRad="38100" dist="38100" dir="2700000" algn="tl">
                      <a:srgbClr val="C0C0C0"/>
                    </a:outerShdw>
                  </a:effectLst>
                  <a:latin typeface="Times New Roman" charset="0"/>
                  <a:ea typeface="宋体" charset="-122"/>
                </a:rPr>
                <a:t>生产者剩余</a:t>
              </a:r>
            </a:p>
          </p:txBody>
        </p:sp>
        <p:sp>
          <p:nvSpPr>
            <p:cNvPr id="13" name="Line 28">
              <a:extLst>
                <a:ext uri="{FF2B5EF4-FFF2-40B4-BE49-F238E27FC236}">
                  <a16:creationId xmlns:a16="http://schemas.microsoft.com/office/drawing/2014/main" id="{3FC814AC-0CE8-447C-8AD3-71A2C62E31D8}"/>
                </a:ext>
              </a:extLst>
            </p:cNvPr>
            <p:cNvSpPr>
              <a:spLocks noChangeShapeType="1"/>
            </p:cNvSpPr>
            <p:nvPr/>
          </p:nvSpPr>
          <p:spPr bwMode="auto">
            <a:xfrm flipH="1">
              <a:off x="2327275" y="2444750"/>
              <a:ext cx="201613" cy="938213"/>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Rectangle 29">
              <a:extLst>
                <a:ext uri="{FF2B5EF4-FFF2-40B4-BE49-F238E27FC236}">
                  <a16:creationId xmlns:a16="http://schemas.microsoft.com/office/drawing/2014/main" id="{21EC17E6-D3F4-44E9-8740-60EC2C2D861D}"/>
                </a:ext>
              </a:extLst>
            </p:cNvPr>
            <p:cNvSpPr>
              <a:spLocks noChangeArrowheads="1"/>
            </p:cNvSpPr>
            <p:nvPr/>
          </p:nvSpPr>
          <p:spPr bwMode="auto">
            <a:xfrm>
              <a:off x="4787226" y="3676651"/>
              <a:ext cx="3960542" cy="144397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lIns="90488" tIns="44450" rIns="90488" bIns="44450">
              <a:spAutoFit/>
            </a:bodyPr>
            <a:lstStyle/>
            <a:p>
              <a:pPr eaLnBrk="1" hangingPunct="1">
                <a:defRPr/>
              </a:pPr>
              <a:r>
                <a:rPr lang="en-US" altLang="zh-CN" sz="2000" dirty="0"/>
                <a:t>MC</a:t>
              </a:r>
              <a:r>
                <a:rPr lang="zh-CN" altLang="en-US" sz="2000" dirty="0"/>
                <a:t>的总和实际上就是可变成本的总和，即</a:t>
              </a:r>
              <a:r>
                <a:rPr lang="en-US" altLang="zh-CN" sz="2000" dirty="0"/>
                <a:t>ODCQ</a:t>
              </a:r>
              <a:r>
                <a:rPr lang="en-US" altLang="zh-CN" sz="2000" baseline="30000" dirty="0"/>
                <a:t>*</a:t>
              </a:r>
              <a:r>
                <a:rPr lang="en-US" altLang="zh-CN" sz="2000" dirty="0"/>
                <a:t>。</a:t>
              </a:r>
              <a:r>
                <a:rPr lang="zh-CN" altLang="en-US" sz="2000" dirty="0"/>
                <a:t>因此，</a:t>
              </a:r>
            </a:p>
            <a:p>
              <a:pPr eaLnBrk="1" hangingPunct="1">
                <a:defRPr/>
              </a:pPr>
              <a:r>
                <a:rPr lang="zh-CN" altLang="en-US" sz="2000" dirty="0"/>
                <a:t>生产者剩余=</a:t>
              </a:r>
              <a:r>
                <a:rPr lang="en-US" altLang="zh-CN" sz="2000" dirty="0"/>
                <a:t>OABQ</a:t>
              </a:r>
              <a:r>
                <a:rPr lang="en-US" altLang="zh-CN" sz="2000" baseline="30000" dirty="0"/>
                <a:t>* — </a:t>
              </a:r>
              <a:r>
                <a:rPr lang="en-US" altLang="zh-CN" sz="2000" dirty="0"/>
                <a:t>ODCQ</a:t>
              </a:r>
              <a:r>
                <a:rPr lang="en-US" altLang="zh-CN" sz="2000" baseline="30000" dirty="0"/>
                <a:t>*，</a:t>
              </a:r>
              <a:endParaRPr lang="zh-CN" altLang="en-US" sz="2000" dirty="0"/>
            </a:p>
            <a:p>
              <a:pPr eaLnBrk="1" hangingPunct="1">
                <a:defRPr/>
              </a:pPr>
              <a:r>
                <a:rPr lang="zh-CN" altLang="en-US" sz="2000" dirty="0"/>
                <a:t>即 </a:t>
              </a:r>
              <a:r>
                <a:rPr lang="en-US" altLang="zh-CN" sz="2000" dirty="0"/>
                <a:t>ABCD</a:t>
              </a:r>
              <a:r>
                <a:rPr lang="zh-CN" altLang="en-US" sz="2000" dirty="0"/>
                <a:t>。</a:t>
              </a:r>
              <a:endParaRPr lang="en-US" altLang="zh-CN" sz="2000" dirty="0"/>
            </a:p>
          </p:txBody>
        </p:sp>
        <p:sp>
          <p:nvSpPr>
            <p:cNvPr id="15" name="Line 20">
              <a:extLst>
                <a:ext uri="{FF2B5EF4-FFF2-40B4-BE49-F238E27FC236}">
                  <a16:creationId xmlns:a16="http://schemas.microsoft.com/office/drawing/2014/main" id="{677EA15D-F817-405D-B520-38251BCBE05D}"/>
                </a:ext>
              </a:extLst>
            </p:cNvPr>
            <p:cNvSpPr>
              <a:spLocks noChangeShapeType="1"/>
            </p:cNvSpPr>
            <p:nvPr/>
          </p:nvSpPr>
          <p:spPr bwMode="auto">
            <a:xfrm>
              <a:off x="1450975" y="4398963"/>
              <a:ext cx="225901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Rectangle 6">
              <a:extLst>
                <a:ext uri="{FF2B5EF4-FFF2-40B4-BE49-F238E27FC236}">
                  <a16:creationId xmlns:a16="http://schemas.microsoft.com/office/drawing/2014/main" id="{DADB3D9F-E241-47AC-9968-9B770FDB8EE2}"/>
                </a:ext>
              </a:extLst>
            </p:cNvPr>
            <p:cNvSpPr>
              <a:spLocks noChangeArrowheads="1"/>
            </p:cNvSpPr>
            <p:nvPr/>
          </p:nvSpPr>
          <p:spPr bwMode="auto">
            <a:xfrm>
              <a:off x="2351088" y="5910263"/>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17" name="Line 7">
              <a:extLst>
                <a:ext uri="{FF2B5EF4-FFF2-40B4-BE49-F238E27FC236}">
                  <a16:creationId xmlns:a16="http://schemas.microsoft.com/office/drawing/2014/main" id="{CB000C3B-52B1-465F-A5FB-8FCAE80E0A84}"/>
                </a:ext>
              </a:extLst>
            </p:cNvPr>
            <p:cNvSpPr>
              <a:spLocks noChangeShapeType="1"/>
            </p:cNvSpPr>
            <p:nvPr/>
          </p:nvSpPr>
          <p:spPr bwMode="auto">
            <a:xfrm>
              <a:off x="1436688" y="1390650"/>
              <a:ext cx="0" cy="42656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8">
              <a:extLst>
                <a:ext uri="{FF2B5EF4-FFF2-40B4-BE49-F238E27FC236}">
                  <a16:creationId xmlns:a16="http://schemas.microsoft.com/office/drawing/2014/main" id="{F0766006-510D-4A64-AC75-F62B92621EA4}"/>
                </a:ext>
              </a:extLst>
            </p:cNvPr>
            <p:cNvSpPr>
              <a:spLocks noChangeShapeType="1"/>
            </p:cNvSpPr>
            <p:nvPr/>
          </p:nvSpPr>
          <p:spPr bwMode="auto">
            <a:xfrm>
              <a:off x="1430338" y="5646738"/>
              <a:ext cx="5140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Rectangle 9">
              <a:extLst>
                <a:ext uri="{FF2B5EF4-FFF2-40B4-BE49-F238E27FC236}">
                  <a16:creationId xmlns:a16="http://schemas.microsoft.com/office/drawing/2014/main" id="{9D6FDDBA-5A12-4139-A816-3BDF88355D31}"/>
                </a:ext>
              </a:extLst>
            </p:cNvPr>
            <p:cNvSpPr>
              <a:spLocks noChangeArrowheads="1"/>
            </p:cNvSpPr>
            <p:nvPr/>
          </p:nvSpPr>
          <p:spPr bwMode="auto">
            <a:xfrm>
              <a:off x="1102517" y="1344613"/>
              <a:ext cx="326233" cy="367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r" eaLnBrk="1" hangingPunct="1">
                <a:spcBef>
                  <a:spcPct val="0"/>
                </a:spcBef>
                <a:buClrTx/>
                <a:buFontTx/>
                <a:buNone/>
              </a:pPr>
              <a:r>
                <a:rPr lang="en-US" altLang="zh-CN" sz="1600" dirty="0">
                  <a:latin typeface="Times New Roman" panose="02020603050405020304" pitchFamily="18" charset="0"/>
                  <a:ea typeface="宋体" panose="02010600030101010101" pitchFamily="2" charset="-122"/>
                </a:rPr>
                <a:t>P</a:t>
              </a:r>
              <a:endParaRPr lang="zh-CN" altLang="en-US" sz="1600" dirty="0">
                <a:latin typeface="Times New Roman" panose="02020603050405020304" pitchFamily="18" charset="0"/>
                <a:ea typeface="宋体" panose="02010600030101010101" pitchFamily="2" charset="-122"/>
              </a:endParaRPr>
            </a:p>
          </p:txBody>
        </p:sp>
        <p:sp>
          <p:nvSpPr>
            <p:cNvPr id="20" name="Rectangle 10">
              <a:extLst>
                <a:ext uri="{FF2B5EF4-FFF2-40B4-BE49-F238E27FC236}">
                  <a16:creationId xmlns:a16="http://schemas.microsoft.com/office/drawing/2014/main" id="{D0BC7C89-F224-4DB6-A0DB-4728535CFD30}"/>
                </a:ext>
              </a:extLst>
            </p:cNvPr>
            <p:cNvSpPr>
              <a:spLocks noChangeArrowheads="1"/>
            </p:cNvSpPr>
            <p:nvPr/>
          </p:nvSpPr>
          <p:spPr bwMode="auto">
            <a:xfrm>
              <a:off x="6192180" y="5688013"/>
              <a:ext cx="363266" cy="367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hlink"/>
                </a:buClr>
                <a:buFont typeface="Wingdings" panose="05000000000000000000" pitchFamily="2" charset="2"/>
                <a:buChar char="v"/>
                <a:defRPr sz="2800">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1"/>
                </a:buClr>
                <a:buFont typeface="Wingdings" panose="05000000000000000000" pitchFamily="2" charset="2"/>
                <a:buChar char="§"/>
                <a:defRPr sz="2400">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2200">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pPr>
              <a:r>
                <a:rPr lang="en-US" altLang="zh-CN" sz="1600" dirty="0">
                  <a:latin typeface="Times New Roman" panose="02020603050405020304" pitchFamily="18" charset="0"/>
                  <a:ea typeface="宋体" panose="02010600030101010101" pitchFamily="2" charset="-122"/>
                </a:rPr>
                <a:t>Q</a:t>
              </a:r>
              <a:endParaRPr lang="zh-CN" altLang="en-US" sz="1600" dirty="0">
                <a:latin typeface="Times New Roman" panose="02020603050405020304" pitchFamily="18" charset="0"/>
                <a:ea typeface="宋体" panose="02010600030101010101" pitchFamily="2" charset="-122"/>
              </a:endParaRPr>
            </a:p>
          </p:txBody>
        </p:sp>
        <p:grpSp>
          <p:nvGrpSpPr>
            <p:cNvPr id="21" name="Group 31">
              <a:extLst>
                <a:ext uri="{FF2B5EF4-FFF2-40B4-BE49-F238E27FC236}">
                  <a16:creationId xmlns:a16="http://schemas.microsoft.com/office/drawing/2014/main" id="{3E32FC4F-3754-4B86-97C0-897AF3BF086A}"/>
                </a:ext>
              </a:extLst>
            </p:cNvPr>
            <p:cNvGrpSpPr>
              <a:grpSpLocks/>
            </p:cNvGrpSpPr>
            <p:nvPr/>
          </p:nvGrpSpPr>
          <p:grpSpPr bwMode="auto">
            <a:xfrm>
              <a:off x="1439863" y="1733550"/>
              <a:ext cx="4859337" cy="2925763"/>
              <a:chOff x="1394" y="1297"/>
              <a:chExt cx="3061" cy="1843"/>
            </a:xfrm>
          </p:grpSpPr>
          <p:sp>
            <p:nvSpPr>
              <p:cNvPr id="32" name="Freeform 11">
                <a:extLst>
                  <a:ext uri="{FF2B5EF4-FFF2-40B4-BE49-F238E27FC236}">
                    <a16:creationId xmlns:a16="http://schemas.microsoft.com/office/drawing/2014/main" id="{052CD598-B835-4734-B025-B647D8FB0E6E}"/>
                  </a:ext>
                </a:extLst>
              </p:cNvPr>
              <p:cNvSpPr>
                <a:spLocks/>
              </p:cNvSpPr>
              <p:nvPr/>
            </p:nvSpPr>
            <p:spPr bwMode="auto">
              <a:xfrm>
                <a:off x="1394" y="1630"/>
                <a:ext cx="2736" cy="1510"/>
              </a:xfrm>
              <a:custGeom>
                <a:avLst/>
                <a:gdLst>
                  <a:gd name="T0" fmla="*/ 0 w 2736"/>
                  <a:gd name="T1" fmla="*/ 820 h 1510"/>
                  <a:gd name="T2" fmla="*/ 20 w 2736"/>
                  <a:gd name="T3" fmla="*/ 851 h 1510"/>
                  <a:gd name="T4" fmla="*/ 40 w 2736"/>
                  <a:gd name="T5" fmla="*/ 891 h 1510"/>
                  <a:gd name="T6" fmla="*/ 66 w 2736"/>
                  <a:gd name="T7" fmla="*/ 942 h 1510"/>
                  <a:gd name="T8" fmla="*/ 99 w 2736"/>
                  <a:gd name="T9" fmla="*/ 997 h 1510"/>
                  <a:gd name="T10" fmla="*/ 165 w 2736"/>
                  <a:gd name="T11" fmla="*/ 1109 h 1510"/>
                  <a:gd name="T12" fmla="*/ 205 w 2736"/>
                  <a:gd name="T13" fmla="*/ 1164 h 1510"/>
                  <a:gd name="T14" fmla="*/ 244 w 2736"/>
                  <a:gd name="T15" fmla="*/ 1210 h 1510"/>
                  <a:gd name="T16" fmla="*/ 330 w 2736"/>
                  <a:gd name="T17" fmla="*/ 1296 h 1510"/>
                  <a:gd name="T18" fmla="*/ 423 w 2736"/>
                  <a:gd name="T19" fmla="*/ 1377 h 1510"/>
                  <a:gd name="T20" fmla="*/ 469 w 2736"/>
                  <a:gd name="T21" fmla="*/ 1413 h 1510"/>
                  <a:gd name="T22" fmla="*/ 522 w 2736"/>
                  <a:gd name="T23" fmla="*/ 1443 h 1510"/>
                  <a:gd name="T24" fmla="*/ 568 w 2736"/>
                  <a:gd name="T25" fmla="*/ 1468 h 1510"/>
                  <a:gd name="T26" fmla="*/ 621 w 2736"/>
                  <a:gd name="T27" fmla="*/ 1488 h 1510"/>
                  <a:gd name="T28" fmla="*/ 674 w 2736"/>
                  <a:gd name="T29" fmla="*/ 1504 h 1510"/>
                  <a:gd name="T30" fmla="*/ 727 w 2736"/>
                  <a:gd name="T31" fmla="*/ 1509 h 1510"/>
                  <a:gd name="T32" fmla="*/ 786 w 2736"/>
                  <a:gd name="T33" fmla="*/ 1509 h 1510"/>
                  <a:gd name="T34" fmla="*/ 839 w 2736"/>
                  <a:gd name="T35" fmla="*/ 1509 h 1510"/>
                  <a:gd name="T36" fmla="*/ 958 w 2736"/>
                  <a:gd name="T37" fmla="*/ 1488 h 1510"/>
                  <a:gd name="T38" fmla="*/ 1070 w 2736"/>
                  <a:gd name="T39" fmla="*/ 1468 h 1510"/>
                  <a:gd name="T40" fmla="*/ 1182 w 2736"/>
                  <a:gd name="T41" fmla="*/ 1443 h 1510"/>
                  <a:gd name="T42" fmla="*/ 1295 w 2736"/>
                  <a:gd name="T43" fmla="*/ 1407 h 1510"/>
                  <a:gd name="T44" fmla="*/ 1407 w 2736"/>
                  <a:gd name="T45" fmla="*/ 1362 h 1510"/>
                  <a:gd name="T46" fmla="*/ 1467 w 2736"/>
                  <a:gd name="T47" fmla="*/ 1332 h 1510"/>
                  <a:gd name="T48" fmla="*/ 1533 w 2736"/>
                  <a:gd name="T49" fmla="*/ 1296 h 1510"/>
                  <a:gd name="T50" fmla="*/ 1678 w 2736"/>
                  <a:gd name="T51" fmla="*/ 1220 h 1510"/>
                  <a:gd name="T52" fmla="*/ 1757 w 2736"/>
                  <a:gd name="T53" fmla="*/ 1175 h 1510"/>
                  <a:gd name="T54" fmla="*/ 1837 w 2736"/>
                  <a:gd name="T55" fmla="*/ 1129 h 1510"/>
                  <a:gd name="T56" fmla="*/ 1922 w 2736"/>
                  <a:gd name="T57" fmla="*/ 1073 h 1510"/>
                  <a:gd name="T58" fmla="*/ 2002 w 2736"/>
                  <a:gd name="T59" fmla="*/ 1013 h 1510"/>
                  <a:gd name="T60" fmla="*/ 2081 w 2736"/>
                  <a:gd name="T61" fmla="*/ 942 h 1510"/>
                  <a:gd name="T62" fmla="*/ 2160 w 2736"/>
                  <a:gd name="T63" fmla="*/ 866 h 1510"/>
                  <a:gd name="T64" fmla="*/ 2233 w 2736"/>
                  <a:gd name="T65" fmla="*/ 780 h 1510"/>
                  <a:gd name="T66" fmla="*/ 2306 w 2736"/>
                  <a:gd name="T67" fmla="*/ 684 h 1510"/>
                  <a:gd name="T68" fmla="*/ 2378 w 2736"/>
                  <a:gd name="T69" fmla="*/ 582 h 1510"/>
                  <a:gd name="T70" fmla="*/ 2451 w 2736"/>
                  <a:gd name="T71" fmla="*/ 471 h 1510"/>
                  <a:gd name="T72" fmla="*/ 2590 w 2736"/>
                  <a:gd name="T73" fmla="*/ 243 h 1510"/>
                  <a:gd name="T74" fmla="*/ 2735 w 2736"/>
                  <a:gd name="T75" fmla="*/ 0 h 15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36"/>
                  <a:gd name="T115" fmla="*/ 0 h 1510"/>
                  <a:gd name="T116" fmla="*/ 2736 w 2736"/>
                  <a:gd name="T117" fmla="*/ 1510 h 15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36" h="1510">
                    <a:moveTo>
                      <a:pt x="0" y="820"/>
                    </a:moveTo>
                    <a:lnTo>
                      <a:pt x="20" y="851"/>
                    </a:lnTo>
                    <a:lnTo>
                      <a:pt x="40" y="891"/>
                    </a:lnTo>
                    <a:lnTo>
                      <a:pt x="66" y="942"/>
                    </a:lnTo>
                    <a:lnTo>
                      <a:pt x="99" y="997"/>
                    </a:lnTo>
                    <a:lnTo>
                      <a:pt x="165" y="1109"/>
                    </a:lnTo>
                    <a:lnTo>
                      <a:pt x="205" y="1164"/>
                    </a:lnTo>
                    <a:lnTo>
                      <a:pt x="244" y="1210"/>
                    </a:lnTo>
                    <a:lnTo>
                      <a:pt x="330" y="1296"/>
                    </a:lnTo>
                    <a:lnTo>
                      <a:pt x="423" y="1377"/>
                    </a:lnTo>
                    <a:lnTo>
                      <a:pt x="469" y="1413"/>
                    </a:lnTo>
                    <a:lnTo>
                      <a:pt x="522" y="1443"/>
                    </a:lnTo>
                    <a:lnTo>
                      <a:pt x="568" y="1468"/>
                    </a:lnTo>
                    <a:lnTo>
                      <a:pt x="621" y="1488"/>
                    </a:lnTo>
                    <a:lnTo>
                      <a:pt x="674" y="1504"/>
                    </a:lnTo>
                    <a:lnTo>
                      <a:pt x="727" y="1509"/>
                    </a:lnTo>
                    <a:lnTo>
                      <a:pt x="786" y="1509"/>
                    </a:lnTo>
                    <a:lnTo>
                      <a:pt x="839" y="1509"/>
                    </a:lnTo>
                    <a:lnTo>
                      <a:pt x="958" y="1488"/>
                    </a:lnTo>
                    <a:lnTo>
                      <a:pt x="1070" y="1468"/>
                    </a:lnTo>
                    <a:lnTo>
                      <a:pt x="1182" y="1443"/>
                    </a:lnTo>
                    <a:lnTo>
                      <a:pt x="1295" y="1407"/>
                    </a:lnTo>
                    <a:lnTo>
                      <a:pt x="1407" y="1362"/>
                    </a:lnTo>
                    <a:lnTo>
                      <a:pt x="1467" y="1332"/>
                    </a:lnTo>
                    <a:lnTo>
                      <a:pt x="1533" y="1296"/>
                    </a:lnTo>
                    <a:lnTo>
                      <a:pt x="1678" y="1220"/>
                    </a:lnTo>
                    <a:lnTo>
                      <a:pt x="1757" y="1175"/>
                    </a:lnTo>
                    <a:lnTo>
                      <a:pt x="1837" y="1129"/>
                    </a:lnTo>
                    <a:lnTo>
                      <a:pt x="1922" y="1073"/>
                    </a:lnTo>
                    <a:lnTo>
                      <a:pt x="2002" y="1013"/>
                    </a:lnTo>
                    <a:lnTo>
                      <a:pt x="2081" y="942"/>
                    </a:lnTo>
                    <a:lnTo>
                      <a:pt x="2160" y="866"/>
                    </a:lnTo>
                    <a:lnTo>
                      <a:pt x="2233" y="780"/>
                    </a:lnTo>
                    <a:lnTo>
                      <a:pt x="2306" y="684"/>
                    </a:lnTo>
                    <a:lnTo>
                      <a:pt x="2378" y="582"/>
                    </a:lnTo>
                    <a:lnTo>
                      <a:pt x="2451" y="471"/>
                    </a:lnTo>
                    <a:lnTo>
                      <a:pt x="2590" y="243"/>
                    </a:lnTo>
                    <a:lnTo>
                      <a:pt x="2735" y="0"/>
                    </a:lnTo>
                  </a:path>
                </a:pathLst>
              </a:custGeom>
              <a:noFill/>
              <a:ln w="50800" cap="rnd">
                <a:solidFill>
                  <a:srgbClr val="FF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 name="Rectangle 12">
                <a:extLst>
                  <a:ext uri="{FF2B5EF4-FFF2-40B4-BE49-F238E27FC236}">
                    <a16:creationId xmlns:a16="http://schemas.microsoft.com/office/drawing/2014/main" id="{D560436E-3DB1-4CAA-9FCA-D399A46D8D81}"/>
                  </a:ext>
                </a:extLst>
              </p:cNvPr>
              <p:cNvSpPr>
                <a:spLocks noChangeArrowheads="1"/>
              </p:cNvSpPr>
              <p:nvPr/>
            </p:nvSpPr>
            <p:spPr bwMode="auto">
              <a:xfrm>
                <a:off x="3971" y="1297"/>
                <a:ext cx="484" cy="229"/>
              </a:xfrm>
              <a:prstGeom prst="rect">
                <a:avLst/>
              </a:prstGeom>
              <a:noFill/>
              <a:ln w="12700">
                <a:noFill/>
                <a:miter lim="800000"/>
                <a:headEnd/>
                <a:tailEnd/>
              </a:ln>
              <a:effectLst/>
            </p:spPr>
            <p:txBody>
              <a:bodyPr lIns="90488" tIns="44450" rIns="90488" bIns="44450">
                <a:spAutoFit/>
              </a:bodyPr>
              <a:lstStyle/>
              <a:p>
                <a:pPr algn="ctr" eaLnBrk="1" hangingPunct="1">
                  <a:defRPr/>
                </a:pPr>
                <a:r>
                  <a:rPr lang="en-US" altLang="zh-CN" i="1">
                    <a:effectLst>
                      <a:outerShdw blurRad="38100" dist="38100" dir="2700000" algn="tl">
                        <a:srgbClr val="FFFFFF"/>
                      </a:outerShdw>
                    </a:effectLst>
                    <a:latin typeface="Times New Roman" charset="0"/>
                    <a:ea typeface="宋体" charset="-122"/>
                    <a:cs typeface="宋体" charset="-122"/>
                  </a:rPr>
                  <a:t>AVC</a:t>
                </a:r>
              </a:p>
            </p:txBody>
          </p:sp>
        </p:grpSp>
        <p:grpSp>
          <p:nvGrpSpPr>
            <p:cNvPr id="22" name="Group 32">
              <a:extLst>
                <a:ext uri="{FF2B5EF4-FFF2-40B4-BE49-F238E27FC236}">
                  <a16:creationId xmlns:a16="http://schemas.microsoft.com/office/drawing/2014/main" id="{DBEAD0AC-CB87-4D42-B004-93E11FCBA97D}"/>
                </a:ext>
              </a:extLst>
            </p:cNvPr>
            <p:cNvGrpSpPr>
              <a:grpSpLocks/>
            </p:cNvGrpSpPr>
            <p:nvPr/>
          </p:nvGrpSpPr>
          <p:grpSpPr bwMode="auto">
            <a:xfrm>
              <a:off x="1438275" y="1733550"/>
              <a:ext cx="3200400" cy="3452813"/>
              <a:chOff x="1393" y="1297"/>
              <a:chExt cx="2016" cy="2175"/>
            </a:xfrm>
          </p:grpSpPr>
          <p:sp>
            <p:nvSpPr>
              <p:cNvPr id="30" name="Freeform 13">
                <a:extLst>
                  <a:ext uri="{FF2B5EF4-FFF2-40B4-BE49-F238E27FC236}">
                    <a16:creationId xmlns:a16="http://schemas.microsoft.com/office/drawing/2014/main" id="{89EEEC05-C4DD-4DBD-93CE-EEF76755E9FC}"/>
                  </a:ext>
                </a:extLst>
              </p:cNvPr>
              <p:cNvSpPr>
                <a:spLocks/>
              </p:cNvSpPr>
              <p:nvPr/>
            </p:nvSpPr>
            <p:spPr bwMode="auto">
              <a:xfrm>
                <a:off x="1393" y="1536"/>
                <a:ext cx="1729" cy="1936"/>
              </a:xfrm>
              <a:custGeom>
                <a:avLst/>
                <a:gdLst>
                  <a:gd name="T0" fmla="*/ 0 w 1729"/>
                  <a:gd name="T1" fmla="*/ 1081 h 1936"/>
                  <a:gd name="T2" fmla="*/ 35 w 1729"/>
                  <a:gd name="T3" fmla="*/ 1275 h 1936"/>
                  <a:gd name="T4" fmla="*/ 75 w 1729"/>
                  <a:gd name="T5" fmla="*/ 1451 h 1936"/>
                  <a:gd name="T6" fmla="*/ 95 w 1729"/>
                  <a:gd name="T7" fmla="*/ 1536 h 1936"/>
                  <a:gd name="T8" fmla="*/ 120 w 1729"/>
                  <a:gd name="T9" fmla="*/ 1610 h 1936"/>
                  <a:gd name="T10" fmla="*/ 150 w 1729"/>
                  <a:gd name="T11" fmla="*/ 1679 h 1936"/>
                  <a:gd name="T12" fmla="*/ 185 w 1729"/>
                  <a:gd name="T13" fmla="*/ 1736 h 1936"/>
                  <a:gd name="T14" fmla="*/ 270 w 1729"/>
                  <a:gd name="T15" fmla="*/ 1832 h 1936"/>
                  <a:gd name="T16" fmla="*/ 315 w 1729"/>
                  <a:gd name="T17" fmla="*/ 1878 h 1936"/>
                  <a:gd name="T18" fmla="*/ 365 w 1729"/>
                  <a:gd name="T19" fmla="*/ 1912 h 1936"/>
                  <a:gd name="T20" fmla="*/ 420 w 1729"/>
                  <a:gd name="T21" fmla="*/ 1929 h 1936"/>
                  <a:gd name="T22" fmla="*/ 480 w 1729"/>
                  <a:gd name="T23" fmla="*/ 1935 h 1936"/>
                  <a:gd name="T24" fmla="*/ 510 w 1729"/>
                  <a:gd name="T25" fmla="*/ 1935 h 1936"/>
                  <a:gd name="T26" fmla="*/ 540 w 1729"/>
                  <a:gd name="T27" fmla="*/ 1923 h 1936"/>
                  <a:gd name="T28" fmla="*/ 574 w 1729"/>
                  <a:gd name="T29" fmla="*/ 1906 h 1936"/>
                  <a:gd name="T30" fmla="*/ 604 w 1729"/>
                  <a:gd name="T31" fmla="*/ 1883 h 1936"/>
                  <a:gd name="T32" fmla="*/ 639 w 1729"/>
                  <a:gd name="T33" fmla="*/ 1855 h 1936"/>
                  <a:gd name="T34" fmla="*/ 669 w 1729"/>
                  <a:gd name="T35" fmla="*/ 1821 h 1936"/>
                  <a:gd name="T36" fmla="*/ 709 w 1729"/>
                  <a:gd name="T37" fmla="*/ 1775 h 1936"/>
                  <a:gd name="T38" fmla="*/ 744 w 1729"/>
                  <a:gd name="T39" fmla="*/ 1724 h 1936"/>
                  <a:gd name="T40" fmla="*/ 824 w 1729"/>
                  <a:gd name="T41" fmla="*/ 1610 h 1936"/>
                  <a:gd name="T42" fmla="*/ 904 w 1729"/>
                  <a:gd name="T43" fmla="*/ 1479 h 1936"/>
                  <a:gd name="T44" fmla="*/ 984 w 1729"/>
                  <a:gd name="T45" fmla="*/ 1343 h 1936"/>
                  <a:gd name="T46" fmla="*/ 1064 w 1729"/>
                  <a:gd name="T47" fmla="*/ 1201 h 1936"/>
                  <a:gd name="T48" fmla="*/ 1139 w 1729"/>
                  <a:gd name="T49" fmla="*/ 1064 h 1936"/>
                  <a:gd name="T50" fmla="*/ 1214 w 1729"/>
                  <a:gd name="T51" fmla="*/ 939 h 1936"/>
                  <a:gd name="T52" fmla="*/ 1353 w 1729"/>
                  <a:gd name="T53" fmla="*/ 706 h 1936"/>
                  <a:gd name="T54" fmla="*/ 1483 w 1729"/>
                  <a:gd name="T55" fmla="*/ 467 h 1936"/>
                  <a:gd name="T56" fmla="*/ 1608 w 1729"/>
                  <a:gd name="T57" fmla="*/ 233 h 1936"/>
                  <a:gd name="T58" fmla="*/ 1728 w 1729"/>
                  <a:gd name="T59" fmla="*/ 0 h 19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9"/>
                  <a:gd name="T91" fmla="*/ 0 h 1936"/>
                  <a:gd name="T92" fmla="*/ 1729 w 1729"/>
                  <a:gd name="T93" fmla="*/ 1936 h 19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9" h="1936">
                    <a:moveTo>
                      <a:pt x="0" y="1081"/>
                    </a:moveTo>
                    <a:lnTo>
                      <a:pt x="35" y="1275"/>
                    </a:lnTo>
                    <a:lnTo>
                      <a:pt x="75" y="1451"/>
                    </a:lnTo>
                    <a:lnTo>
                      <a:pt x="95" y="1536"/>
                    </a:lnTo>
                    <a:lnTo>
                      <a:pt x="120" y="1610"/>
                    </a:lnTo>
                    <a:lnTo>
                      <a:pt x="150" y="1679"/>
                    </a:lnTo>
                    <a:lnTo>
                      <a:pt x="185" y="1736"/>
                    </a:lnTo>
                    <a:lnTo>
                      <a:pt x="270" y="1832"/>
                    </a:lnTo>
                    <a:lnTo>
                      <a:pt x="315" y="1878"/>
                    </a:lnTo>
                    <a:lnTo>
                      <a:pt x="365" y="1912"/>
                    </a:lnTo>
                    <a:lnTo>
                      <a:pt x="420" y="1929"/>
                    </a:lnTo>
                    <a:lnTo>
                      <a:pt x="480" y="1935"/>
                    </a:lnTo>
                    <a:lnTo>
                      <a:pt x="510" y="1935"/>
                    </a:lnTo>
                    <a:lnTo>
                      <a:pt x="540" y="1923"/>
                    </a:lnTo>
                    <a:lnTo>
                      <a:pt x="574" y="1906"/>
                    </a:lnTo>
                    <a:lnTo>
                      <a:pt x="604" y="1883"/>
                    </a:lnTo>
                    <a:lnTo>
                      <a:pt x="639" y="1855"/>
                    </a:lnTo>
                    <a:lnTo>
                      <a:pt x="669" y="1821"/>
                    </a:lnTo>
                    <a:lnTo>
                      <a:pt x="709" y="1775"/>
                    </a:lnTo>
                    <a:lnTo>
                      <a:pt x="744" y="1724"/>
                    </a:lnTo>
                    <a:lnTo>
                      <a:pt x="824" y="1610"/>
                    </a:lnTo>
                    <a:lnTo>
                      <a:pt x="904" y="1479"/>
                    </a:lnTo>
                    <a:lnTo>
                      <a:pt x="984" y="1343"/>
                    </a:lnTo>
                    <a:lnTo>
                      <a:pt x="1064" y="1201"/>
                    </a:lnTo>
                    <a:lnTo>
                      <a:pt x="1139" y="1064"/>
                    </a:lnTo>
                    <a:lnTo>
                      <a:pt x="1214" y="939"/>
                    </a:lnTo>
                    <a:lnTo>
                      <a:pt x="1353" y="706"/>
                    </a:lnTo>
                    <a:lnTo>
                      <a:pt x="1483" y="467"/>
                    </a:lnTo>
                    <a:lnTo>
                      <a:pt x="1608" y="233"/>
                    </a:lnTo>
                    <a:lnTo>
                      <a:pt x="1728" y="0"/>
                    </a:lnTo>
                  </a:path>
                </a:pathLst>
              </a:custGeom>
              <a:noFill/>
              <a:ln w="50800" cap="rnd">
                <a:solidFill>
                  <a:srgbClr val="99CC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 name="Rectangle 14">
                <a:extLst>
                  <a:ext uri="{FF2B5EF4-FFF2-40B4-BE49-F238E27FC236}">
                    <a16:creationId xmlns:a16="http://schemas.microsoft.com/office/drawing/2014/main" id="{07E057A1-5E2A-469E-939A-9471C1ACCC70}"/>
                  </a:ext>
                </a:extLst>
              </p:cNvPr>
              <p:cNvSpPr>
                <a:spLocks noChangeArrowheads="1"/>
              </p:cNvSpPr>
              <p:nvPr/>
            </p:nvSpPr>
            <p:spPr bwMode="auto">
              <a:xfrm>
                <a:off x="2925" y="1297"/>
                <a:ext cx="484" cy="229"/>
              </a:xfrm>
              <a:prstGeom prst="rect">
                <a:avLst/>
              </a:prstGeom>
              <a:noFill/>
              <a:ln w="12700">
                <a:noFill/>
                <a:miter lim="800000"/>
                <a:headEnd/>
                <a:tailEnd/>
              </a:ln>
              <a:effectLst/>
            </p:spPr>
            <p:txBody>
              <a:bodyPr lIns="90488" tIns="44450" rIns="90488" bIns="44450">
                <a:spAutoFit/>
              </a:bodyPr>
              <a:lstStyle/>
              <a:p>
                <a:pPr algn="ctr" eaLnBrk="1" hangingPunct="1">
                  <a:defRPr/>
                </a:pPr>
                <a:r>
                  <a:rPr lang="en-US" altLang="zh-CN" i="1">
                    <a:effectLst>
                      <a:outerShdw blurRad="38100" dist="38100" dir="2700000" algn="tl">
                        <a:srgbClr val="FFFFFF"/>
                      </a:outerShdw>
                    </a:effectLst>
                    <a:latin typeface="Times New Roman" charset="0"/>
                    <a:ea typeface="宋体" charset="-122"/>
                    <a:cs typeface="宋体" charset="-122"/>
                  </a:rPr>
                  <a:t>MC</a:t>
                </a:r>
              </a:p>
            </p:txBody>
          </p:sp>
        </p:grpSp>
        <p:sp>
          <p:nvSpPr>
            <p:cNvPr id="23" name="Rectangle 26">
              <a:extLst>
                <a:ext uri="{FF2B5EF4-FFF2-40B4-BE49-F238E27FC236}">
                  <a16:creationId xmlns:a16="http://schemas.microsoft.com/office/drawing/2014/main" id="{80F6168D-CDBF-4FB1-88BE-508886E23908}"/>
                </a:ext>
              </a:extLst>
            </p:cNvPr>
            <p:cNvSpPr>
              <a:spLocks noChangeArrowheads="1"/>
            </p:cNvSpPr>
            <p:nvPr/>
          </p:nvSpPr>
          <p:spPr bwMode="auto">
            <a:xfrm>
              <a:off x="1050925" y="5613400"/>
              <a:ext cx="349250" cy="366713"/>
            </a:xfrm>
            <a:prstGeom prst="rect">
              <a:avLst/>
            </a:prstGeom>
            <a:noFill/>
            <a:ln w="12700">
              <a:noFill/>
              <a:miter lim="800000"/>
              <a:headEnd/>
              <a:tailEnd/>
            </a:ln>
            <a:effectLst/>
          </p:spPr>
          <p:txBody>
            <a:bodyPr wrap="none" lIns="90488" tIns="44450" rIns="90488" bIns="44450">
              <a:spAutoFit/>
            </a:bodyPr>
            <a:lstStyle/>
            <a:p>
              <a:pPr algn="ctr" eaLnBrk="1" hangingPunct="1">
                <a:defRPr/>
              </a:pPr>
              <a:r>
                <a:rPr lang="en-US" altLang="zh-CN" dirty="0">
                  <a:effectLst>
                    <a:outerShdw blurRad="38100" dist="38100" dir="2700000" algn="tl">
                      <a:srgbClr val="C0C0C0"/>
                    </a:outerShdw>
                  </a:effectLst>
                  <a:latin typeface="Times New Roman" charset="0"/>
                  <a:ea typeface="宋体" charset="-122"/>
                </a:rPr>
                <a:t>O</a:t>
              </a:r>
              <a:endParaRPr lang="zh-CN" altLang="en-US" dirty="0">
                <a:effectLst>
                  <a:outerShdw blurRad="38100" dist="38100" dir="2700000" algn="tl">
                    <a:srgbClr val="C0C0C0"/>
                  </a:outerShdw>
                </a:effectLst>
                <a:latin typeface="Times New Roman" charset="0"/>
                <a:ea typeface="宋体" charset="-122"/>
              </a:endParaRPr>
            </a:p>
          </p:txBody>
        </p:sp>
        <p:grpSp>
          <p:nvGrpSpPr>
            <p:cNvPr id="24" name="Group 35">
              <a:extLst>
                <a:ext uri="{FF2B5EF4-FFF2-40B4-BE49-F238E27FC236}">
                  <a16:creationId xmlns:a16="http://schemas.microsoft.com/office/drawing/2014/main" id="{15589938-75D2-46B5-A297-E6D1B75433E8}"/>
                </a:ext>
              </a:extLst>
            </p:cNvPr>
            <p:cNvGrpSpPr>
              <a:grpSpLocks/>
            </p:cNvGrpSpPr>
            <p:nvPr/>
          </p:nvGrpSpPr>
          <p:grpSpPr bwMode="auto">
            <a:xfrm>
              <a:off x="1450975" y="2759075"/>
              <a:ext cx="4946651" cy="3259138"/>
              <a:chOff x="1401" y="1943"/>
              <a:chExt cx="3116" cy="2053"/>
            </a:xfrm>
          </p:grpSpPr>
          <p:sp>
            <p:nvSpPr>
              <p:cNvPr id="25" name="Line 15">
                <a:extLst>
                  <a:ext uri="{FF2B5EF4-FFF2-40B4-BE49-F238E27FC236}">
                    <a16:creationId xmlns:a16="http://schemas.microsoft.com/office/drawing/2014/main" id="{B2A56A4D-EEB8-495C-8469-BC67714B3721}"/>
                  </a:ext>
                </a:extLst>
              </p:cNvPr>
              <p:cNvSpPr>
                <a:spLocks noChangeShapeType="1"/>
              </p:cNvSpPr>
              <p:nvPr/>
            </p:nvSpPr>
            <p:spPr bwMode="auto">
              <a:xfrm>
                <a:off x="1401" y="2064"/>
                <a:ext cx="286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Rectangle 16">
                <a:extLst>
                  <a:ext uri="{FF2B5EF4-FFF2-40B4-BE49-F238E27FC236}">
                    <a16:creationId xmlns:a16="http://schemas.microsoft.com/office/drawing/2014/main" id="{7AF2BA87-6F63-4D28-A4A4-82A752152FB6}"/>
                  </a:ext>
                </a:extLst>
              </p:cNvPr>
              <p:cNvSpPr>
                <a:spLocks noChangeArrowheads="1"/>
              </p:cNvSpPr>
              <p:nvPr/>
            </p:nvSpPr>
            <p:spPr bwMode="auto">
              <a:xfrm>
                <a:off x="4307" y="1943"/>
                <a:ext cx="210" cy="229"/>
              </a:xfrm>
              <a:prstGeom prst="rect">
                <a:avLst/>
              </a:prstGeom>
              <a:noFill/>
              <a:ln w="12700">
                <a:noFill/>
                <a:miter lim="800000"/>
                <a:headEnd/>
                <a:tailEnd/>
              </a:ln>
              <a:effectLst/>
            </p:spPr>
            <p:txBody>
              <a:bodyPr wrap="none" lIns="90488" tIns="44450" rIns="90488" bIns="44450">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en-US" altLang="zh-CN" i="1">
                    <a:effectLst>
                      <a:outerShdw blurRad="38100" dist="38100" dir="2700000" algn="tl">
                        <a:srgbClr val="C0C0C0"/>
                      </a:outerShdw>
                    </a:effectLst>
                  </a:rPr>
                  <a:t>P</a:t>
                </a:r>
              </a:p>
            </p:txBody>
          </p:sp>
          <p:sp>
            <p:nvSpPr>
              <p:cNvPr id="27" name="Line 18">
                <a:extLst>
                  <a:ext uri="{FF2B5EF4-FFF2-40B4-BE49-F238E27FC236}">
                    <a16:creationId xmlns:a16="http://schemas.microsoft.com/office/drawing/2014/main" id="{AAFF9783-EB4C-43D5-8F70-6C88D20D7054}"/>
                  </a:ext>
                </a:extLst>
              </p:cNvPr>
              <p:cNvSpPr>
                <a:spLocks noChangeShapeType="1"/>
              </p:cNvSpPr>
              <p:nvPr/>
            </p:nvSpPr>
            <p:spPr bwMode="auto">
              <a:xfrm>
                <a:off x="2832" y="2073"/>
                <a:ext cx="0" cy="171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Rectangle 19">
                <a:extLst>
                  <a:ext uri="{FF2B5EF4-FFF2-40B4-BE49-F238E27FC236}">
                    <a16:creationId xmlns:a16="http://schemas.microsoft.com/office/drawing/2014/main" id="{6A2CCF4A-617C-4019-9749-8490F768C6D0}"/>
                  </a:ext>
                </a:extLst>
              </p:cNvPr>
              <p:cNvSpPr>
                <a:spLocks noChangeArrowheads="1"/>
              </p:cNvSpPr>
              <p:nvPr/>
            </p:nvSpPr>
            <p:spPr bwMode="auto">
              <a:xfrm>
                <a:off x="2695" y="3743"/>
                <a:ext cx="295" cy="253"/>
              </a:xfrm>
              <a:prstGeom prst="rect">
                <a:avLst/>
              </a:prstGeom>
              <a:noFill/>
              <a:ln w="12700">
                <a:noFill/>
                <a:miter lim="800000"/>
                <a:headEnd/>
                <a:tailEnd/>
              </a:ln>
              <a:effectLst/>
            </p:spPr>
            <p:txBody>
              <a:bodyPr wrap="none" lIns="90488" tIns="44450" rIns="90488" bIns="44450">
                <a:spAutoFit/>
              </a:bodyPr>
              <a:lstStyle/>
              <a:p>
                <a:pPr algn="ctr" eaLnBrk="1" hangingPunct="1">
                  <a:defRPr/>
                </a:pPr>
                <a:r>
                  <a:rPr lang="en-US" altLang="zh-CN" i="1" dirty="0">
                    <a:effectLst>
                      <a:outerShdw blurRad="38100" dist="38100" dir="2700000" algn="tl">
                        <a:srgbClr val="FFFFFF"/>
                      </a:outerShdw>
                    </a:effectLst>
                    <a:latin typeface="Times New Roman" charset="0"/>
                    <a:ea typeface="宋体" charset="-122"/>
                    <a:cs typeface="宋体" charset="-122"/>
                  </a:rPr>
                  <a:t>Q</a:t>
                </a:r>
                <a:r>
                  <a:rPr lang="en-US" altLang="zh-CN" i="1" baseline="30000" dirty="0">
                    <a:effectLst>
                      <a:outerShdw blurRad="38100" dist="38100" dir="2700000" algn="tl">
                        <a:srgbClr val="FFFFFF"/>
                      </a:outerShdw>
                    </a:effectLst>
                    <a:latin typeface="Times New Roman" charset="0"/>
                    <a:ea typeface="宋体" charset="-122"/>
                    <a:cs typeface="宋体" charset="-122"/>
                  </a:rPr>
                  <a:t>*</a:t>
                </a:r>
              </a:p>
            </p:txBody>
          </p:sp>
        </p:grpSp>
      </p:grpSp>
      <p:sp>
        <p:nvSpPr>
          <p:cNvPr id="35" name="标注: 线形(带边框和强调线) 34">
            <a:extLst>
              <a:ext uri="{FF2B5EF4-FFF2-40B4-BE49-F238E27FC236}">
                <a16:creationId xmlns:a16="http://schemas.microsoft.com/office/drawing/2014/main" id="{089D465E-81C6-43F3-B4A5-349BFDF17A56}"/>
              </a:ext>
            </a:extLst>
          </p:cNvPr>
          <p:cNvSpPr/>
          <p:nvPr/>
        </p:nvSpPr>
        <p:spPr bwMode="auto">
          <a:xfrm>
            <a:off x="6065706" y="423897"/>
            <a:ext cx="2935708" cy="1776548"/>
          </a:xfrm>
          <a:prstGeom prst="accentBorderCallout1">
            <a:avLst>
              <a:gd name="adj1" fmla="val 46015"/>
              <a:gd name="adj2" fmla="val -45"/>
              <a:gd name="adj3" fmla="val 85410"/>
              <a:gd name="adj4" fmla="val -2643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sz="1600" dirty="0"/>
              <a:t>生产者剩余与利润是两个不同的概念：</a:t>
            </a:r>
            <a:endParaRPr lang="en-US" altLang="zh-CN" sz="1600" dirty="0"/>
          </a:p>
          <a:p>
            <a:r>
              <a:rPr lang="zh-CN" altLang="en-US" sz="1600" dirty="0"/>
              <a:t>生产者剩余</a:t>
            </a:r>
            <a:r>
              <a:rPr lang="en-US" altLang="zh-CN" sz="1600" dirty="0"/>
              <a:t>PS=TR-TVC</a:t>
            </a:r>
          </a:p>
          <a:p>
            <a:r>
              <a:rPr lang="zh-CN" altLang="en-US" sz="1600" dirty="0"/>
              <a:t>利润</a:t>
            </a:r>
            <a:r>
              <a:rPr lang="en-US" altLang="zh-CN" sz="1600" dirty="0"/>
              <a:t>π=TR-TVC-TFC</a:t>
            </a:r>
          </a:p>
          <a:p>
            <a:r>
              <a:rPr lang="zh-CN" altLang="en-US" sz="1600" dirty="0"/>
              <a:t>在短期，如果固定成本为正值，那么，生产者剩余要大于利润。</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 name="标注: 线形 1">
            <a:extLst>
              <a:ext uri="{FF2B5EF4-FFF2-40B4-BE49-F238E27FC236}">
                <a16:creationId xmlns:a16="http://schemas.microsoft.com/office/drawing/2014/main" id="{ACA7C3D6-75AB-4953-B136-CD2FDF5C50AA}"/>
              </a:ext>
            </a:extLst>
          </p:cNvPr>
          <p:cNvSpPr/>
          <p:nvPr/>
        </p:nvSpPr>
        <p:spPr bwMode="auto">
          <a:xfrm>
            <a:off x="-98425" y="4204616"/>
            <a:ext cx="1407754" cy="2022864"/>
          </a:xfrm>
          <a:prstGeom prst="borderCallout1">
            <a:avLst>
              <a:gd name="adj1" fmla="val -1812"/>
              <a:gd name="adj2" fmla="val 52720"/>
              <a:gd name="adj3" fmla="val -21771"/>
              <a:gd name="adj4" fmla="val 9570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根据定义，生产者剩余实际上是</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0-Q*</a:t>
            </a: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上的价格与边际成本之差的定积分</a:t>
            </a:r>
            <a:r>
              <a:rPr lang="en-US" altLang="zh-CN" sz="1600" dirty="0"/>
              <a:t>∫(P-MC) </a:t>
            </a:r>
            <a:r>
              <a:rPr lang="en-US" altLang="zh-CN" sz="1600" dirty="0" err="1"/>
              <a:t>dQ</a:t>
            </a:r>
            <a:r>
              <a:rPr lang="zh-CN" altLang="en-US" sz="1600" dirty="0"/>
              <a:t>，下限是</a:t>
            </a:r>
            <a:r>
              <a:rPr lang="en-US" altLang="zh-CN" sz="1600" dirty="0"/>
              <a:t>0</a:t>
            </a:r>
            <a:r>
              <a:rPr lang="zh-CN" altLang="en-US" sz="1600" dirty="0"/>
              <a:t>，上限是</a:t>
            </a:r>
            <a:r>
              <a:rPr lang="en-US" altLang="zh-CN" sz="1600" dirty="0"/>
              <a:t>Q*</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981870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68C97A1C-E800-49E5-A69A-A43B2EFAA82C}"/>
              </a:ext>
            </a:extLst>
          </p:cNvPr>
          <p:cNvSpPr>
            <a:spLocks noGrp="1" noChangeArrowheads="1"/>
          </p:cNvSpPr>
          <p:nvPr>
            <p:ph type="body" idx="4294967295"/>
          </p:nvPr>
        </p:nvSpPr>
        <p:spPr>
          <a:xfrm>
            <a:off x="571500" y="1341438"/>
            <a:ext cx="8176790" cy="1439518"/>
          </a:xfrm>
        </p:spPr>
        <p:txBody>
          <a:bodyPr/>
          <a:lstStyle/>
          <a:p>
            <a:pPr marL="0" indent="0">
              <a:buFont typeface="Wingdings" panose="05000000000000000000" pitchFamily="2" charset="2"/>
              <a:buNone/>
            </a:pPr>
            <a:r>
              <a:rPr lang="zh-CN" altLang="en-US" dirty="0">
                <a:ea typeface="宋体" panose="02010600030101010101" pitchFamily="2" charset="-122"/>
              </a:rPr>
              <a:t>例题复习</a:t>
            </a:r>
            <a:r>
              <a:rPr lang="zh-CN" altLang="en-US" dirty="0">
                <a:solidFill>
                  <a:srgbClr val="CC0000"/>
                </a:solidFill>
                <a:ea typeface="宋体" panose="02010600030101010101" pitchFamily="2" charset="-122"/>
              </a:rPr>
              <a:t>：</a:t>
            </a:r>
            <a:endParaRPr lang="en-US" altLang="zh-CN" dirty="0">
              <a:solidFill>
                <a:srgbClr val="CC0000"/>
              </a:solidFill>
              <a:ea typeface="宋体" panose="02010600030101010101" pitchFamily="2" charset="-122"/>
            </a:endParaRPr>
          </a:p>
          <a:p>
            <a:pPr marL="0" indent="0">
              <a:buFont typeface="Wingdings" panose="05000000000000000000" pitchFamily="2" charset="2"/>
              <a:buNone/>
            </a:pPr>
            <a:r>
              <a:rPr lang="en-US" altLang="zh-CN" dirty="0">
                <a:ea typeface="宋体" panose="02010600030101010101" pitchFamily="2" charset="-122"/>
              </a:rPr>
              <a:t>	</a:t>
            </a:r>
            <a:r>
              <a:rPr lang="zh-CN" altLang="en-US" dirty="0">
                <a:ea typeface="宋体" panose="02010600030101010101" pitchFamily="2" charset="-122"/>
              </a:rPr>
              <a:t>消费者剩余</a:t>
            </a:r>
            <a:r>
              <a:rPr lang="en-US" altLang="zh-CN" dirty="0">
                <a:ea typeface="宋体" panose="02010600030101010101" pitchFamily="2" charset="-122"/>
              </a:rPr>
              <a:t> </a:t>
            </a:r>
            <a:r>
              <a:rPr lang="zh-CN" altLang="ja-JP" dirty="0">
                <a:ea typeface="宋体" panose="02010600030101010101" pitchFamily="2" charset="-122"/>
              </a:rPr>
              <a:t>=  </a:t>
            </a:r>
            <a:r>
              <a:rPr lang="zh-CN" altLang="en-US" dirty="0">
                <a:ea typeface="宋体" panose="02010600030101010101" pitchFamily="2" charset="-122"/>
              </a:rPr>
              <a:t>支付意愿</a:t>
            </a:r>
            <a:r>
              <a:rPr lang="en-US" altLang="zh-CN" dirty="0">
                <a:ea typeface="宋体" panose="02010600030101010101" pitchFamily="2" charset="-122"/>
              </a:rPr>
              <a:t>  </a:t>
            </a:r>
            <a:r>
              <a:rPr lang="zh-CN" altLang="ja-JP" dirty="0">
                <a:ea typeface="宋体" panose="02010600030101010101" pitchFamily="2" charset="-122"/>
              </a:rPr>
              <a:t>–  </a:t>
            </a:r>
            <a:r>
              <a:rPr lang="zh-CN" altLang="en-US" dirty="0">
                <a:ea typeface="宋体" panose="02010600030101010101" pitchFamily="2" charset="-122"/>
              </a:rPr>
              <a:t>市场价格</a:t>
            </a:r>
            <a:endParaRPr lang="en-US" altLang="zh-CN" i="1" dirty="0">
              <a:ea typeface="宋体" panose="02010600030101010101" pitchFamily="2" charset="-122"/>
            </a:endParaRPr>
          </a:p>
        </p:txBody>
      </p:sp>
      <p:graphicFrame>
        <p:nvGraphicFramePr>
          <p:cNvPr id="22532" name="Group 4">
            <a:extLst>
              <a:ext uri="{FF2B5EF4-FFF2-40B4-BE49-F238E27FC236}">
                <a16:creationId xmlns:a16="http://schemas.microsoft.com/office/drawing/2014/main" id="{6C594EC6-1712-43DE-8771-DEA8BA1983AB}"/>
              </a:ext>
            </a:extLst>
          </p:cNvPr>
          <p:cNvGraphicFramePr>
            <a:graphicFrameLocks noGrp="1"/>
          </p:cNvGraphicFramePr>
          <p:nvPr>
            <p:extLst>
              <p:ext uri="{D42A27DB-BD31-4B8C-83A1-F6EECF244321}">
                <p14:modId xmlns:p14="http://schemas.microsoft.com/office/powerpoint/2010/main" val="4129080858"/>
              </p:ext>
            </p:extLst>
          </p:nvPr>
        </p:nvGraphicFramePr>
        <p:xfrm>
          <a:off x="250825" y="2996970"/>
          <a:ext cx="3025775" cy="2708950"/>
        </p:xfrm>
        <a:graphic>
          <a:graphicData uri="http://schemas.openxmlformats.org/drawingml/2006/table">
            <a:tbl>
              <a:tblPr/>
              <a:tblGrid>
                <a:gridCol w="1400274">
                  <a:extLst>
                    <a:ext uri="{9D8B030D-6E8A-4147-A177-3AD203B41FA5}">
                      <a16:colId xmlns:a16="http://schemas.microsoft.com/office/drawing/2014/main" val="20000"/>
                    </a:ext>
                  </a:extLst>
                </a:gridCol>
                <a:gridCol w="1625501">
                  <a:extLst>
                    <a:ext uri="{9D8B030D-6E8A-4147-A177-3AD203B41FA5}">
                      <a16:colId xmlns:a16="http://schemas.microsoft.com/office/drawing/2014/main" val="20001"/>
                    </a:ext>
                  </a:extLst>
                </a:gridCol>
              </a:tblGrid>
              <a:tr h="67865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dirty="0">
                          <a:ln>
                            <a:noFill/>
                          </a:ln>
                          <a:solidFill>
                            <a:schemeClr val="tx1"/>
                          </a:solidFill>
                          <a:effectLst/>
                          <a:latin typeface="Arial" pitchFamily="34" charset="0"/>
                          <a:ea typeface="宋体" pitchFamily="2" charset="-122"/>
                        </a:rPr>
                        <a:t>人名</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a:ln>
                            <a:noFill/>
                          </a:ln>
                          <a:solidFill>
                            <a:schemeClr val="tx1"/>
                          </a:solidFill>
                          <a:effectLst/>
                          <a:latin typeface="Arial" pitchFamily="34" charset="0"/>
                          <a:ea typeface="宋体" pitchFamily="2" charset="-122"/>
                        </a:rPr>
                        <a:t>支付意愿</a:t>
                      </a:r>
                      <a:endParaRPr kumimoji="0" lang="en-US" altLang="zh-CN" sz="2600" b="0" i="0" u="none" strike="noStrike" cap="none" normalizeH="0" baseline="0">
                        <a:ln>
                          <a:noFill/>
                        </a:ln>
                        <a:solidFill>
                          <a:schemeClr val="tx1"/>
                        </a:solidFill>
                        <a:effectLst/>
                        <a:latin typeface="Arial" pitchFamily="34" charset="0"/>
                        <a:ea typeface="宋体" pitchFamily="2" charset="-122"/>
                      </a:endParaRPr>
                    </a:p>
                  </a:txBody>
                  <a:tcPr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50757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defRPr/>
                      </a:pPr>
                      <a:r>
                        <a:rPr kumimoji="0" lang="zh-CN" altLang="en-US" sz="2600" b="0" i="0" u="none" strike="noStrike" cap="none" normalizeH="0" baseline="0" dirty="0">
                          <a:ln>
                            <a:noFill/>
                          </a:ln>
                          <a:solidFill>
                            <a:schemeClr val="tx1"/>
                          </a:solidFill>
                          <a:effectLst/>
                          <a:latin typeface="Arial" pitchFamily="34" charset="0"/>
                          <a:ea typeface="宋体" pitchFamily="2" charset="-122"/>
                        </a:rPr>
                        <a:t>小孙</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2600" b="0" i="0" u="none" strike="noStrike" cap="none" normalizeH="0" baseline="0" dirty="0">
                          <a:ln>
                            <a:noFill/>
                          </a:ln>
                          <a:solidFill>
                            <a:schemeClr val="tx1"/>
                          </a:solidFill>
                          <a:effectLst/>
                          <a:latin typeface="Arial" pitchFamily="34" charset="0"/>
                          <a:ea typeface="宋体" pitchFamily="2" charset="-122"/>
                        </a:rPr>
                        <a:t>300</a:t>
                      </a:r>
                    </a:p>
                  </a:txBody>
                  <a:tcPr marR="182880"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50757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defRPr/>
                      </a:pPr>
                      <a:r>
                        <a:rPr kumimoji="0" lang="zh-CN" altLang="en-US" sz="2600" b="0" i="0" u="none" strike="noStrike" cap="none" normalizeH="0" baseline="0" dirty="0">
                          <a:ln>
                            <a:noFill/>
                          </a:ln>
                          <a:solidFill>
                            <a:schemeClr val="tx1"/>
                          </a:solidFill>
                          <a:effectLst/>
                          <a:latin typeface="Arial" pitchFamily="34" charset="0"/>
                          <a:ea typeface="宋体" pitchFamily="2" charset="-122"/>
                        </a:rPr>
                        <a:t>小赵</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2600" b="0" i="0" u="none" strike="noStrike" cap="none" normalizeH="0" baseline="0" dirty="0">
                          <a:ln>
                            <a:noFill/>
                          </a:ln>
                          <a:solidFill>
                            <a:schemeClr val="tx1"/>
                          </a:solidFill>
                          <a:effectLst/>
                          <a:latin typeface="Arial" pitchFamily="34" charset="0"/>
                          <a:ea typeface="宋体" pitchFamily="2" charset="-122"/>
                        </a:rPr>
                        <a:t>250</a:t>
                      </a:r>
                    </a:p>
                  </a:txBody>
                  <a:tcPr marR="182880"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50757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defRPr/>
                      </a:pPr>
                      <a:r>
                        <a:rPr kumimoji="0" lang="zh-CN" altLang="en-US" sz="2600" b="0" i="0" u="none" strike="noStrike" cap="none" normalizeH="0" baseline="0" dirty="0">
                          <a:ln>
                            <a:noFill/>
                          </a:ln>
                          <a:solidFill>
                            <a:schemeClr val="tx1"/>
                          </a:solidFill>
                          <a:effectLst/>
                          <a:latin typeface="Arial" pitchFamily="34" charset="0"/>
                          <a:ea typeface="宋体" pitchFamily="2" charset="-122"/>
                        </a:rPr>
                        <a:t>小钱</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2600" b="0" i="0" u="none" strike="noStrike" cap="none" normalizeH="0" baseline="0" dirty="0">
                          <a:ln>
                            <a:noFill/>
                          </a:ln>
                          <a:solidFill>
                            <a:schemeClr val="tx1"/>
                          </a:solidFill>
                          <a:effectLst/>
                          <a:latin typeface="Arial" pitchFamily="34" charset="0"/>
                          <a:ea typeface="宋体" pitchFamily="2" charset="-122"/>
                        </a:rPr>
                        <a:t>175</a:t>
                      </a:r>
                    </a:p>
                  </a:txBody>
                  <a:tcPr marR="182880"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50757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dirty="0">
                          <a:ln>
                            <a:noFill/>
                          </a:ln>
                          <a:solidFill>
                            <a:schemeClr val="tx1"/>
                          </a:solidFill>
                          <a:effectLst/>
                          <a:latin typeface="Arial" pitchFamily="34" charset="0"/>
                          <a:ea typeface="宋体" pitchFamily="2" charset="-122"/>
                        </a:rPr>
                        <a:t>小李</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2600" b="0" i="0" u="none" strike="noStrike" cap="none" normalizeH="0" baseline="0" dirty="0">
                          <a:ln>
                            <a:noFill/>
                          </a:ln>
                          <a:solidFill>
                            <a:schemeClr val="tx1"/>
                          </a:solidFill>
                          <a:effectLst/>
                          <a:latin typeface="Arial" pitchFamily="34" charset="0"/>
                          <a:ea typeface="宋体" pitchFamily="2" charset="-122"/>
                        </a:rPr>
                        <a:t>125</a:t>
                      </a:r>
                    </a:p>
                  </a:txBody>
                  <a:tcPr marR="182880" marT="45727" marB="457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bl>
          </a:graphicData>
        </a:graphic>
      </p:graphicFrame>
      <p:sp>
        <p:nvSpPr>
          <p:cNvPr id="22552" name="Rectangle 24">
            <a:extLst>
              <a:ext uri="{FF2B5EF4-FFF2-40B4-BE49-F238E27FC236}">
                <a16:creationId xmlns:a16="http://schemas.microsoft.com/office/drawing/2014/main" id="{4FB5177F-9DA7-47E0-96EE-17FB8F2E0D4F}"/>
              </a:ext>
            </a:extLst>
          </p:cNvPr>
          <p:cNvSpPr>
            <a:spLocks noChangeArrowheads="1"/>
          </p:cNvSpPr>
          <p:nvPr/>
        </p:nvSpPr>
        <p:spPr bwMode="auto">
          <a:xfrm>
            <a:off x="3314700" y="2996969"/>
            <a:ext cx="5753100" cy="270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45000"/>
              </a:spcBef>
              <a:buClr>
                <a:srgbClr val="00B85C"/>
              </a:buClr>
              <a:buSzPct val="120000"/>
              <a:buFont typeface="Wingdings" panose="05000000000000000000" pitchFamily="2" charset="2"/>
              <a:buNone/>
            </a:pPr>
            <a:r>
              <a:rPr lang="zh-CN" altLang="en-US" sz="2600" b="0" dirty="0">
                <a:latin typeface="Arial" panose="020B0604020202020204" pitchFamily="34" charset="0"/>
              </a:rPr>
              <a:t>如果</a:t>
            </a:r>
            <a:r>
              <a:rPr lang="en-US" altLang="zh-CN" sz="2600" b="0" dirty="0">
                <a:latin typeface="Arial" panose="020B0604020202020204" pitchFamily="34" charset="0"/>
              </a:rPr>
              <a:t> </a:t>
            </a:r>
            <a:r>
              <a:rPr lang="zh-CN" altLang="ja-JP" sz="2600" i="1" dirty="0">
                <a:latin typeface="Arial" panose="020B0604020202020204" pitchFamily="34" charset="0"/>
              </a:rPr>
              <a:t>P</a:t>
            </a:r>
            <a:r>
              <a:rPr lang="zh-CN" altLang="ja-JP" sz="2600" b="0" dirty="0">
                <a:latin typeface="Arial" panose="020B0604020202020204" pitchFamily="34" charset="0"/>
              </a:rPr>
              <a:t> = 260</a:t>
            </a:r>
            <a:r>
              <a:rPr lang="zh-CN" altLang="en-US" sz="2600" b="0" dirty="0">
                <a:latin typeface="Arial" panose="020B0604020202020204" pitchFamily="34" charset="0"/>
              </a:rPr>
              <a:t>元</a:t>
            </a:r>
            <a:endParaRPr lang="zh-CN" altLang="ja-JP" sz="2600" b="0" dirty="0">
              <a:latin typeface="Arial" panose="020B0604020202020204" pitchFamily="34" charset="0"/>
            </a:endParaRPr>
          </a:p>
          <a:p>
            <a:pPr eaLnBrk="1" hangingPunct="1">
              <a:spcBef>
                <a:spcPct val="45000"/>
              </a:spcBef>
              <a:buClr>
                <a:srgbClr val="00B85C"/>
              </a:buClr>
              <a:buSzPct val="120000"/>
              <a:buFont typeface="Wingdings" panose="05000000000000000000" pitchFamily="2" charset="2"/>
              <a:buNone/>
            </a:pPr>
            <a:r>
              <a:rPr lang="zh-CN" altLang="en-US" sz="2600" b="0" dirty="0">
                <a:latin typeface="Arial" panose="020B0604020202020204" pitchFamily="34" charset="0"/>
              </a:rPr>
              <a:t>小孙的消费者剩余</a:t>
            </a:r>
            <a:r>
              <a:rPr lang="en-US" altLang="zh-CN" sz="2600" b="0" dirty="0">
                <a:latin typeface="Arial" panose="020B0604020202020204" pitchFamily="34" charset="0"/>
              </a:rPr>
              <a:t> </a:t>
            </a:r>
            <a:r>
              <a:rPr lang="zh-CN" altLang="ja-JP" sz="2600" b="0" dirty="0">
                <a:latin typeface="Arial" panose="020B0604020202020204" pitchFamily="34" charset="0"/>
              </a:rPr>
              <a:t>= 300 – 260 =</a:t>
            </a:r>
            <a:r>
              <a:rPr lang="en-US" altLang="zh-CN" sz="2600" b="0" dirty="0">
                <a:latin typeface="Arial" panose="020B0604020202020204" pitchFamily="34" charset="0"/>
              </a:rPr>
              <a:t> </a:t>
            </a:r>
            <a:r>
              <a:rPr lang="zh-CN" altLang="ja-JP" sz="2600" b="0" dirty="0">
                <a:latin typeface="Arial" panose="020B0604020202020204" pitchFamily="34" charset="0"/>
              </a:rPr>
              <a:t>40</a:t>
            </a:r>
            <a:r>
              <a:rPr lang="zh-CN" altLang="en-US" sz="2600" b="0" dirty="0">
                <a:latin typeface="Arial" panose="020B0604020202020204" pitchFamily="34" charset="0"/>
              </a:rPr>
              <a:t>元</a:t>
            </a:r>
            <a:endParaRPr lang="zh-CN" altLang="ja-JP" sz="2600" b="0" dirty="0">
              <a:latin typeface="Arial" panose="020B0604020202020204" pitchFamily="34" charset="0"/>
            </a:endParaRPr>
          </a:p>
          <a:p>
            <a:pPr eaLnBrk="1" hangingPunct="1">
              <a:spcBef>
                <a:spcPct val="45000"/>
              </a:spcBef>
              <a:buClr>
                <a:srgbClr val="00B85C"/>
              </a:buClr>
              <a:buSzPct val="120000"/>
              <a:buFont typeface="Wingdings" panose="05000000000000000000" pitchFamily="2" charset="2"/>
              <a:buNone/>
            </a:pPr>
            <a:r>
              <a:rPr lang="zh-CN" altLang="en-US" sz="2600" b="0" dirty="0">
                <a:latin typeface="Arial" panose="020B0604020202020204" pitchFamily="34" charset="0"/>
              </a:rPr>
              <a:t>其他人没有消费者剩余，因为他们不会在这个价格下购买</a:t>
            </a:r>
            <a:endParaRPr lang="zh-CN" altLang="ja-JP" sz="2600" b="0" dirty="0">
              <a:latin typeface="Arial" panose="020B0604020202020204" pitchFamily="34" charset="0"/>
            </a:endParaRPr>
          </a:p>
          <a:p>
            <a:pPr eaLnBrk="1" hangingPunct="1">
              <a:spcBef>
                <a:spcPct val="45000"/>
              </a:spcBef>
              <a:buClr>
                <a:srgbClr val="00B85C"/>
              </a:buClr>
              <a:buSzPct val="120000"/>
              <a:buFont typeface="Wingdings" panose="05000000000000000000" pitchFamily="2" charset="2"/>
              <a:buNone/>
            </a:pPr>
            <a:r>
              <a:rPr lang="zh-CN" altLang="en-US" sz="2600" b="0" dirty="0">
                <a:latin typeface="Arial" panose="020B0604020202020204" pitchFamily="34" charset="0"/>
              </a:rPr>
              <a:t>总消费者剩余</a:t>
            </a:r>
            <a:r>
              <a:rPr lang="en-US" altLang="zh-CN" sz="2600" b="0" dirty="0">
                <a:latin typeface="Arial" panose="020B0604020202020204" pitchFamily="34" charset="0"/>
              </a:rPr>
              <a:t> </a:t>
            </a:r>
            <a:r>
              <a:rPr lang="zh-CN" altLang="ja-JP" sz="2600" b="0" dirty="0">
                <a:latin typeface="Arial" panose="020B0604020202020204" pitchFamily="34" charset="0"/>
              </a:rPr>
              <a:t>= 40</a:t>
            </a:r>
            <a:r>
              <a:rPr lang="zh-CN" altLang="en-US" sz="2600" b="0" dirty="0">
                <a:latin typeface="Arial" panose="020B0604020202020204" pitchFamily="34" charset="0"/>
              </a:rPr>
              <a:t>元</a:t>
            </a:r>
            <a:endParaRPr lang="en-US" altLang="zh-CN" sz="2600" b="0" dirty="0">
              <a:latin typeface="Arial" panose="020B0604020202020204" pitchFamily="34" charset="0"/>
            </a:endParaRPr>
          </a:p>
        </p:txBody>
      </p:sp>
      <p:sp>
        <p:nvSpPr>
          <p:cNvPr id="91161" name="Title 1">
            <a:extLst>
              <a:ext uri="{FF2B5EF4-FFF2-40B4-BE49-F238E27FC236}">
                <a16:creationId xmlns:a16="http://schemas.microsoft.com/office/drawing/2014/main" id="{0833D306-B820-42B9-8DA3-6D327D17B0D7}"/>
              </a:ext>
            </a:extLst>
          </p:cNvPr>
          <p:cNvSpPr txBox="1">
            <a:spLocks/>
          </p:cNvSpPr>
          <p:nvPr/>
        </p:nvSpPr>
        <p:spPr bwMode="auto">
          <a:xfrm>
            <a:off x="571500" y="548800"/>
            <a:ext cx="80010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2400" dirty="0">
                <a:latin typeface="Arial" panose="020B0604020202020204" pitchFamily="34" charset="0"/>
              </a:rPr>
              <a:t>竞争性市场中的效率衡量：消费者剩余与生产者剩余</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wipe(left)">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wipe(left)">
                                      <p:cBhvr>
                                        <p:cTn id="12" dur="500"/>
                                        <p:tgtEl>
                                          <p:spTgt spid="225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2532"/>
                                        </p:tgtEl>
                                        <p:attrNameLst>
                                          <p:attrName>style.visibility</p:attrName>
                                        </p:attrNameLst>
                                      </p:cBhvr>
                                      <p:to>
                                        <p:strVal val="visible"/>
                                      </p:to>
                                    </p:set>
                                    <p:animEffect transition="in" filter="dissolve">
                                      <p:cBhvr>
                                        <p:cTn id="17" dur="500"/>
                                        <p:tgtEl>
                                          <p:spTgt spid="225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552">
                                            <p:txEl>
                                              <p:pRg st="0" end="0"/>
                                            </p:txEl>
                                          </p:spTgt>
                                        </p:tgtEl>
                                        <p:attrNameLst>
                                          <p:attrName>style.visibility</p:attrName>
                                        </p:attrNameLst>
                                      </p:cBhvr>
                                      <p:to>
                                        <p:strVal val="visible"/>
                                      </p:to>
                                    </p:set>
                                    <p:animEffect transition="in" filter="wipe(left)">
                                      <p:cBhvr>
                                        <p:cTn id="22" dur="500"/>
                                        <p:tgtEl>
                                          <p:spTgt spid="22552">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552">
                                            <p:txEl>
                                              <p:pRg st="1" end="1"/>
                                            </p:txEl>
                                          </p:spTgt>
                                        </p:tgtEl>
                                        <p:attrNameLst>
                                          <p:attrName>style.visibility</p:attrName>
                                        </p:attrNameLst>
                                      </p:cBhvr>
                                      <p:to>
                                        <p:strVal val="visible"/>
                                      </p:to>
                                    </p:set>
                                    <p:animEffect transition="in" filter="wipe(left)">
                                      <p:cBhvr>
                                        <p:cTn id="27" dur="500"/>
                                        <p:tgtEl>
                                          <p:spTgt spid="22552">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552">
                                            <p:txEl>
                                              <p:pRg st="2" end="2"/>
                                            </p:txEl>
                                          </p:spTgt>
                                        </p:tgtEl>
                                        <p:attrNameLst>
                                          <p:attrName>style.visibility</p:attrName>
                                        </p:attrNameLst>
                                      </p:cBhvr>
                                      <p:to>
                                        <p:strVal val="visible"/>
                                      </p:to>
                                    </p:set>
                                    <p:animEffect transition="in" filter="wipe(left)">
                                      <p:cBhvr>
                                        <p:cTn id="32" dur="500"/>
                                        <p:tgtEl>
                                          <p:spTgt spid="22552">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552">
                                            <p:txEl>
                                              <p:pRg st="3" end="3"/>
                                            </p:txEl>
                                          </p:spTgt>
                                        </p:tgtEl>
                                        <p:attrNameLst>
                                          <p:attrName>style.visibility</p:attrName>
                                        </p:attrNameLst>
                                      </p:cBhvr>
                                      <p:to>
                                        <p:strVal val="visible"/>
                                      </p:to>
                                    </p:set>
                                    <p:animEffect transition="in" filter="wipe(left)">
                                      <p:cBhvr>
                                        <p:cTn id="37" dur="500"/>
                                        <p:tgtEl>
                                          <p:spTgt spid="225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bldLvl="5" autoUpdateAnimBg="0"/>
      <p:bldP spid="22552"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62" name="Object 2">
            <a:extLst>
              <a:ext uri="{FF2B5EF4-FFF2-40B4-BE49-F238E27FC236}">
                <a16:creationId xmlns:a16="http://schemas.microsoft.com/office/drawing/2014/main" id="{641C10BD-D221-42D9-A10A-B40B207EE60C}"/>
              </a:ext>
            </a:extLst>
          </p:cNvPr>
          <p:cNvGraphicFramePr>
            <a:graphicFrameLocks noChangeAspect="1"/>
          </p:cNvGraphicFramePr>
          <p:nvPr/>
        </p:nvGraphicFramePr>
        <p:xfrm>
          <a:off x="214313" y="804863"/>
          <a:ext cx="5900737" cy="5711825"/>
        </p:xfrm>
        <a:graphic>
          <a:graphicData uri="http://schemas.openxmlformats.org/presentationml/2006/ole">
            <mc:AlternateContent xmlns:mc="http://schemas.openxmlformats.org/markup-compatibility/2006">
              <mc:Choice xmlns:v="urn:schemas-microsoft-com:vml" Requires="v">
                <p:oleObj spid="_x0000_s8214" r:id="rId4" imgW="3168000" imgH="3069360" progId="Excel.Chart.8">
                  <p:embed/>
                </p:oleObj>
              </mc:Choice>
              <mc:Fallback>
                <p:oleObj r:id="rId4" imgW="3168000" imgH="3069360" progId="Excel.Chart.8">
                  <p:embed/>
                  <p:pic>
                    <p:nvPicPr>
                      <p:cNvPr id="92162" name="Object 2">
                        <a:extLst>
                          <a:ext uri="{FF2B5EF4-FFF2-40B4-BE49-F238E27FC236}">
                            <a16:creationId xmlns:a16="http://schemas.microsoft.com/office/drawing/2014/main" id="{641C10BD-D221-42D9-A10A-B40B207EE6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13" y="804863"/>
                        <a:ext cx="5900737" cy="571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163" name="Text Box 8">
            <a:extLst>
              <a:ext uri="{FF2B5EF4-FFF2-40B4-BE49-F238E27FC236}">
                <a16:creationId xmlns:a16="http://schemas.microsoft.com/office/drawing/2014/main" id="{2766D9C3-3025-4167-94F1-2670BC2C5302}"/>
              </a:ext>
            </a:extLst>
          </p:cNvPr>
          <p:cNvSpPr txBox="1">
            <a:spLocks noChangeArrowheads="1"/>
          </p:cNvSpPr>
          <p:nvPr/>
        </p:nvSpPr>
        <p:spPr bwMode="auto">
          <a:xfrm>
            <a:off x="1393825" y="838200"/>
            <a:ext cx="403225"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P</a:t>
            </a:r>
          </a:p>
        </p:txBody>
      </p:sp>
      <p:sp>
        <p:nvSpPr>
          <p:cNvPr id="92164" name="Text Box 9">
            <a:extLst>
              <a:ext uri="{FF2B5EF4-FFF2-40B4-BE49-F238E27FC236}">
                <a16:creationId xmlns:a16="http://schemas.microsoft.com/office/drawing/2014/main" id="{52DD2A7B-E6E5-49F5-9DD8-915243FB1AF0}"/>
              </a:ext>
            </a:extLst>
          </p:cNvPr>
          <p:cNvSpPr txBox="1">
            <a:spLocks noChangeArrowheads="1"/>
          </p:cNvSpPr>
          <p:nvPr/>
        </p:nvSpPr>
        <p:spPr bwMode="auto">
          <a:xfrm>
            <a:off x="5233988" y="5416550"/>
            <a:ext cx="474662"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Q</a:t>
            </a:r>
          </a:p>
        </p:txBody>
      </p:sp>
      <p:grpSp>
        <p:nvGrpSpPr>
          <p:cNvPr id="92165" name="Group 6">
            <a:extLst>
              <a:ext uri="{FF2B5EF4-FFF2-40B4-BE49-F238E27FC236}">
                <a16:creationId xmlns:a16="http://schemas.microsoft.com/office/drawing/2014/main" id="{10BB1813-DEB6-49E5-9242-8BCBBB61EB11}"/>
              </a:ext>
            </a:extLst>
          </p:cNvPr>
          <p:cNvGrpSpPr>
            <a:grpSpLocks/>
          </p:cNvGrpSpPr>
          <p:nvPr/>
        </p:nvGrpSpPr>
        <p:grpSpPr bwMode="auto">
          <a:xfrm>
            <a:off x="1614488" y="1270000"/>
            <a:ext cx="3368675" cy="4292600"/>
            <a:chOff x="0" y="0"/>
            <a:chExt cx="2122" cy="2704"/>
          </a:xfrm>
        </p:grpSpPr>
        <p:sp>
          <p:nvSpPr>
            <p:cNvPr id="92174" name="Line 11">
              <a:extLst>
                <a:ext uri="{FF2B5EF4-FFF2-40B4-BE49-F238E27FC236}">
                  <a16:creationId xmlns:a16="http://schemas.microsoft.com/office/drawing/2014/main" id="{6DB4171A-FB13-4F39-8DE3-28B6B151DC14}"/>
                </a:ext>
              </a:extLst>
            </p:cNvPr>
            <p:cNvSpPr>
              <a:spLocks noChangeShapeType="1"/>
            </p:cNvSpPr>
            <p:nvPr/>
          </p:nvSpPr>
          <p:spPr bwMode="auto">
            <a:xfrm flipV="1">
              <a:off x="18" y="0"/>
              <a:ext cx="0" cy="514"/>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5" name="Line 12">
              <a:extLst>
                <a:ext uri="{FF2B5EF4-FFF2-40B4-BE49-F238E27FC236}">
                  <a16:creationId xmlns:a16="http://schemas.microsoft.com/office/drawing/2014/main" id="{FFBBF064-B1CE-4CEA-A2C7-90A460859B65}"/>
                </a:ext>
              </a:extLst>
            </p:cNvPr>
            <p:cNvSpPr>
              <a:spLocks noChangeShapeType="1"/>
            </p:cNvSpPr>
            <p:nvPr/>
          </p:nvSpPr>
          <p:spPr bwMode="auto">
            <a:xfrm>
              <a:off x="0" y="509"/>
              <a:ext cx="539"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6" name="Line 13">
              <a:extLst>
                <a:ext uri="{FF2B5EF4-FFF2-40B4-BE49-F238E27FC236}">
                  <a16:creationId xmlns:a16="http://schemas.microsoft.com/office/drawing/2014/main" id="{0415A0D8-00CB-4678-8910-A7287FC0B2F6}"/>
                </a:ext>
              </a:extLst>
            </p:cNvPr>
            <p:cNvSpPr>
              <a:spLocks noChangeShapeType="1"/>
            </p:cNvSpPr>
            <p:nvPr/>
          </p:nvSpPr>
          <p:spPr bwMode="auto">
            <a:xfrm flipV="1">
              <a:off x="2122" y="1771"/>
              <a:ext cx="0" cy="933"/>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7" name="Line 14">
              <a:extLst>
                <a:ext uri="{FF2B5EF4-FFF2-40B4-BE49-F238E27FC236}">
                  <a16:creationId xmlns:a16="http://schemas.microsoft.com/office/drawing/2014/main" id="{4029182D-23FA-4420-9993-F20E1EC8E418}"/>
                </a:ext>
              </a:extLst>
            </p:cNvPr>
            <p:cNvSpPr>
              <a:spLocks noChangeShapeType="1"/>
            </p:cNvSpPr>
            <p:nvPr/>
          </p:nvSpPr>
          <p:spPr bwMode="auto">
            <a:xfrm flipV="1">
              <a:off x="1588" y="1396"/>
              <a:ext cx="0" cy="397"/>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8" name="Line 15">
              <a:extLst>
                <a:ext uri="{FF2B5EF4-FFF2-40B4-BE49-F238E27FC236}">
                  <a16:creationId xmlns:a16="http://schemas.microsoft.com/office/drawing/2014/main" id="{A00BB5E8-EAC6-43FC-BA88-7F5DB1437B83}"/>
                </a:ext>
              </a:extLst>
            </p:cNvPr>
            <p:cNvSpPr>
              <a:spLocks noChangeShapeType="1"/>
            </p:cNvSpPr>
            <p:nvPr/>
          </p:nvSpPr>
          <p:spPr bwMode="auto">
            <a:xfrm>
              <a:off x="1570" y="1789"/>
              <a:ext cx="55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9" name="Line 16">
              <a:extLst>
                <a:ext uri="{FF2B5EF4-FFF2-40B4-BE49-F238E27FC236}">
                  <a16:creationId xmlns:a16="http://schemas.microsoft.com/office/drawing/2014/main" id="{F1DDF72F-F41E-4836-83B9-2A8E8271E962}"/>
                </a:ext>
              </a:extLst>
            </p:cNvPr>
            <p:cNvSpPr>
              <a:spLocks noChangeShapeType="1"/>
            </p:cNvSpPr>
            <p:nvPr/>
          </p:nvSpPr>
          <p:spPr bwMode="auto">
            <a:xfrm flipV="1">
              <a:off x="1066" y="861"/>
              <a:ext cx="0" cy="557"/>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0" name="Line 17">
              <a:extLst>
                <a:ext uri="{FF2B5EF4-FFF2-40B4-BE49-F238E27FC236}">
                  <a16:creationId xmlns:a16="http://schemas.microsoft.com/office/drawing/2014/main" id="{F6A14A7A-6678-4317-AFB0-A26965ED75D2}"/>
                </a:ext>
              </a:extLst>
            </p:cNvPr>
            <p:cNvSpPr>
              <a:spLocks noChangeShapeType="1"/>
            </p:cNvSpPr>
            <p:nvPr/>
          </p:nvSpPr>
          <p:spPr bwMode="auto">
            <a:xfrm>
              <a:off x="1048" y="1413"/>
              <a:ext cx="539"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1" name="Line 18">
              <a:extLst>
                <a:ext uri="{FF2B5EF4-FFF2-40B4-BE49-F238E27FC236}">
                  <a16:creationId xmlns:a16="http://schemas.microsoft.com/office/drawing/2014/main" id="{A353E10D-6ABD-4C8D-BE3A-AE62441001B3}"/>
                </a:ext>
              </a:extLst>
            </p:cNvPr>
            <p:cNvSpPr>
              <a:spLocks noChangeShapeType="1"/>
            </p:cNvSpPr>
            <p:nvPr/>
          </p:nvSpPr>
          <p:spPr bwMode="auto">
            <a:xfrm flipV="1">
              <a:off x="537" y="491"/>
              <a:ext cx="0" cy="391"/>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2" name="Line 19">
              <a:extLst>
                <a:ext uri="{FF2B5EF4-FFF2-40B4-BE49-F238E27FC236}">
                  <a16:creationId xmlns:a16="http://schemas.microsoft.com/office/drawing/2014/main" id="{73EAA258-8D4A-412B-903C-979009EC1A9A}"/>
                </a:ext>
              </a:extLst>
            </p:cNvPr>
            <p:cNvSpPr>
              <a:spLocks noChangeShapeType="1"/>
            </p:cNvSpPr>
            <p:nvPr/>
          </p:nvSpPr>
          <p:spPr bwMode="auto">
            <a:xfrm>
              <a:off x="519" y="878"/>
              <a:ext cx="547"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166" name="Group 16">
            <a:extLst>
              <a:ext uri="{FF2B5EF4-FFF2-40B4-BE49-F238E27FC236}">
                <a16:creationId xmlns:a16="http://schemas.microsoft.com/office/drawing/2014/main" id="{EAA7F229-EF36-4687-81FE-079A841A5E9C}"/>
              </a:ext>
            </a:extLst>
          </p:cNvPr>
          <p:cNvGrpSpPr>
            <a:grpSpLocks/>
          </p:cNvGrpSpPr>
          <p:nvPr/>
        </p:nvGrpSpPr>
        <p:grpSpPr bwMode="auto">
          <a:xfrm>
            <a:off x="2500313" y="1341438"/>
            <a:ext cx="2647950" cy="752475"/>
            <a:chOff x="0" y="0"/>
            <a:chExt cx="1165" cy="520"/>
          </a:xfrm>
        </p:grpSpPr>
        <p:sp>
          <p:nvSpPr>
            <p:cNvPr id="92172" name="Arc 21">
              <a:extLst>
                <a:ext uri="{FF2B5EF4-FFF2-40B4-BE49-F238E27FC236}">
                  <a16:creationId xmlns:a16="http://schemas.microsoft.com/office/drawing/2014/main" id="{FA532525-CFBC-4328-B065-5EB03A8A6304}"/>
                </a:ext>
              </a:extLst>
            </p:cNvPr>
            <p:cNvSpPr>
              <a:spLocks/>
            </p:cNvSpPr>
            <p:nvPr/>
          </p:nvSpPr>
          <p:spPr bwMode="auto">
            <a:xfrm flipV="1">
              <a:off x="24" y="149"/>
              <a:ext cx="553" cy="371"/>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lnTo>
                    <a:pt x="0" y="53"/>
                  </a:lnTo>
                  <a:close/>
                </a:path>
              </a:pathLst>
            </a:custGeom>
            <a:noFill/>
            <a:ln w="19050">
              <a:solidFill>
                <a:schemeClr val="tx1"/>
              </a:solidFill>
              <a:miter lim="800000"/>
              <a:headEnd type="triangle" w="lg"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173" name="Text Box 22">
              <a:extLst>
                <a:ext uri="{FF2B5EF4-FFF2-40B4-BE49-F238E27FC236}">
                  <a16:creationId xmlns:a16="http://schemas.microsoft.com/office/drawing/2014/main" id="{00ED7F61-8235-4548-9111-F6A78C837481}"/>
                </a:ext>
              </a:extLst>
            </p:cNvPr>
            <p:cNvSpPr txBox="1">
              <a:spLocks noChangeArrowheads="1"/>
            </p:cNvSpPr>
            <p:nvPr/>
          </p:nvSpPr>
          <p:spPr bwMode="auto">
            <a:xfrm>
              <a:off x="0" y="0"/>
              <a:ext cx="1165" cy="330"/>
            </a:xfrm>
            <a:prstGeom prst="rect">
              <a:avLst/>
            </a:prstGeom>
            <a:solidFill>
              <a:srgbClr val="FFCCCC"/>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小孙的支付意愿</a:t>
              </a:r>
              <a:endParaRPr lang="en-US" altLang="zh-CN" sz="2500" b="0">
                <a:latin typeface="Arial" panose="020B0604020202020204" pitchFamily="34" charset="0"/>
              </a:endParaRPr>
            </a:p>
          </p:txBody>
        </p:sp>
      </p:grpSp>
      <p:sp>
        <p:nvSpPr>
          <p:cNvPr id="23571" name="Rectangle 33">
            <a:extLst>
              <a:ext uri="{FF2B5EF4-FFF2-40B4-BE49-F238E27FC236}">
                <a16:creationId xmlns:a16="http://schemas.microsoft.com/office/drawing/2014/main" id="{2157AC8B-CACC-4523-B8C4-44B9016084D1}"/>
              </a:ext>
            </a:extLst>
          </p:cNvPr>
          <p:cNvSpPr>
            <a:spLocks noChangeArrowheads="1"/>
          </p:cNvSpPr>
          <p:nvPr/>
        </p:nvSpPr>
        <p:spPr bwMode="auto">
          <a:xfrm>
            <a:off x="5394325" y="1576388"/>
            <a:ext cx="3067050" cy="238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40000"/>
              </a:spcBef>
              <a:buClr>
                <a:srgbClr val="00B85C"/>
              </a:buClr>
              <a:buSzPct val="120000"/>
              <a:buFont typeface="Wingdings" panose="05000000000000000000" pitchFamily="2" charset="2"/>
              <a:buNone/>
            </a:pPr>
            <a:r>
              <a:rPr lang="en-US" altLang="zh-CN" sz="2600" i="1">
                <a:latin typeface="Arial" panose="020B0604020202020204" pitchFamily="34" charset="0"/>
              </a:rPr>
              <a:t>P</a:t>
            </a:r>
            <a:r>
              <a:rPr lang="en-US" altLang="zh-CN" sz="2600" b="0">
                <a:latin typeface="Arial" panose="020B0604020202020204" pitchFamily="34" charset="0"/>
              </a:rPr>
              <a:t> = 260  </a:t>
            </a:r>
          </a:p>
          <a:p>
            <a:pPr algn="r" eaLnBrk="1" hangingPunct="1">
              <a:spcBef>
                <a:spcPct val="40000"/>
              </a:spcBef>
              <a:buClr>
                <a:srgbClr val="00B85C"/>
              </a:buClr>
              <a:buSzPct val="120000"/>
              <a:buFont typeface="Wingdings" panose="05000000000000000000" pitchFamily="2" charset="2"/>
              <a:buNone/>
            </a:pPr>
            <a:r>
              <a:rPr lang="zh-CN" altLang="en-US" sz="2600" b="0">
                <a:latin typeface="Arial" panose="020B0604020202020204" pitchFamily="34" charset="0"/>
              </a:rPr>
              <a:t>小孙的消费者剩余</a:t>
            </a:r>
            <a:r>
              <a:rPr lang="en-US" altLang="zh-CN" sz="2600" b="0">
                <a:latin typeface="Arial" panose="020B0604020202020204" pitchFamily="34" charset="0"/>
              </a:rPr>
              <a:t> </a:t>
            </a:r>
            <a:r>
              <a:rPr lang="zh-CN" altLang="ja-JP" sz="2600" b="0">
                <a:latin typeface="Arial" panose="020B0604020202020204" pitchFamily="34" charset="0"/>
              </a:rPr>
              <a:t>= 300 – 260 = </a:t>
            </a:r>
            <a:r>
              <a:rPr lang="zh-CN" altLang="ja-JP" sz="2600" b="0" u="sng">
                <a:latin typeface="Arial" panose="020B0604020202020204" pitchFamily="34" charset="0"/>
              </a:rPr>
              <a:t>40</a:t>
            </a:r>
            <a:endParaRPr lang="zh-CN" altLang="ja-JP" sz="2600" b="0">
              <a:latin typeface="Arial" panose="020B0604020202020204" pitchFamily="34" charset="0"/>
            </a:endParaRPr>
          </a:p>
          <a:p>
            <a:pPr algn="r" eaLnBrk="1" hangingPunct="1">
              <a:spcBef>
                <a:spcPct val="40000"/>
              </a:spcBef>
              <a:buClr>
                <a:srgbClr val="00B85C"/>
              </a:buClr>
              <a:buSzPct val="120000"/>
              <a:buFont typeface="Wingdings" panose="05000000000000000000" pitchFamily="2" charset="2"/>
              <a:buNone/>
            </a:pPr>
            <a:r>
              <a:rPr lang="zh-CN" altLang="en-US" sz="2600" b="0">
                <a:latin typeface="Arial" panose="020B0604020202020204" pitchFamily="34" charset="0"/>
              </a:rPr>
              <a:t>总消费者剩余</a:t>
            </a:r>
            <a:r>
              <a:rPr lang="en-US" altLang="zh-CN" sz="2600" b="0">
                <a:latin typeface="Arial" panose="020B0604020202020204" pitchFamily="34" charset="0"/>
              </a:rPr>
              <a:t> </a:t>
            </a:r>
            <a:r>
              <a:rPr lang="zh-CN" altLang="ja-JP" sz="2600" b="0">
                <a:latin typeface="Arial" panose="020B0604020202020204" pitchFamily="34" charset="0"/>
              </a:rPr>
              <a:t>=</a:t>
            </a:r>
            <a:r>
              <a:rPr lang="zh-CN" altLang="ja-JP" sz="2600" b="0" u="sng">
                <a:latin typeface="Arial" panose="020B0604020202020204" pitchFamily="34" charset="0"/>
              </a:rPr>
              <a:t>40</a:t>
            </a:r>
            <a:endParaRPr lang="en-US" altLang="zh-CN" sz="2600" b="0">
              <a:latin typeface="Arial" panose="020B0604020202020204" pitchFamily="34" charset="0"/>
            </a:endParaRPr>
          </a:p>
        </p:txBody>
      </p:sp>
      <p:sp>
        <p:nvSpPr>
          <p:cNvPr id="23572" name="Line 34">
            <a:extLst>
              <a:ext uri="{FF2B5EF4-FFF2-40B4-BE49-F238E27FC236}">
                <a16:creationId xmlns:a16="http://schemas.microsoft.com/office/drawing/2014/main" id="{4D4D0C9E-2130-4954-965E-EB747297E9C6}"/>
              </a:ext>
            </a:extLst>
          </p:cNvPr>
          <p:cNvSpPr>
            <a:spLocks noChangeShapeType="1"/>
          </p:cNvSpPr>
          <p:nvPr/>
        </p:nvSpPr>
        <p:spPr bwMode="auto">
          <a:xfrm>
            <a:off x="1638300" y="2568575"/>
            <a:ext cx="823913"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3" name="Rectangle 36">
            <a:extLst>
              <a:ext uri="{FF2B5EF4-FFF2-40B4-BE49-F238E27FC236}">
                <a16:creationId xmlns:a16="http://schemas.microsoft.com/office/drawing/2014/main" id="{79BFD8D8-9F31-4F1D-9C91-7295CD6DD7E7}"/>
              </a:ext>
            </a:extLst>
          </p:cNvPr>
          <p:cNvSpPr>
            <a:spLocks noChangeArrowheads="1"/>
          </p:cNvSpPr>
          <p:nvPr/>
        </p:nvSpPr>
        <p:spPr bwMode="auto">
          <a:xfrm>
            <a:off x="1644650" y="2106613"/>
            <a:ext cx="792163" cy="450850"/>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23574" name="Line 37">
            <a:extLst>
              <a:ext uri="{FF2B5EF4-FFF2-40B4-BE49-F238E27FC236}">
                <a16:creationId xmlns:a16="http://schemas.microsoft.com/office/drawing/2014/main" id="{4923B263-FCA9-4C62-88F4-339655692523}"/>
              </a:ext>
            </a:extLst>
          </p:cNvPr>
          <p:cNvSpPr>
            <a:spLocks noChangeShapeType="1"/>
          </p:cNvSpPr>
          <p:nvPr/>
        </p:nvSpPr>
        <p:spPr bwMode="auto">
          <a:xfrm>
            <a:off x="904875" y="2392363"/>
            <a:ext cx="679450" cy="169862"/>
          </a:xfrm>
          <a:prstGeom prst="line">
            <a:avLst/>
          </a:prstGeom>
          <a:noFill/>
          <a:ln w="38100">
            <a:solidFill>
              <a:srgbClr val="0000FF"/>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92171" name="Title 1">
            <a:extLst>
              <a:ext uri="{FF2B5EF4-FFF2-40B4-BE49-F238E27FC236}">
                <a16:creationId xmlns:a16="http://schemas.microsoft.com/office/drawing/2014/main" id="{150356B8-83B0-49E2-B68B-10316F746301}"/>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消费者剩余与需求曲线</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71">
                                            <p:txEl>
                                              <p:pRg st="0" end="0"/>
                                            </p:txEl>
                                          </p:spTgt>
                                        </p:tgtEl>
                                        <p:attrNameLst>
                                          <p:attrName>style.visibility</p:attrName>
                                        </p:attrNameLst>
                                      </p:cBhvr>
                                      <p:to>
                                        <p:strVal val="visible"/>
                                      </p:to>
                                    </p:set>
                                    <p:animEffect transition="in" filter="wipe(left)">
                                      <p:cBhvr>
                                        <p:cTn id="7" dur="500"/>
                                        <p:tgtEl>
                                          <p:spTgt spid="23571">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3574"/>
                                        </p:tgtEl>
                                        <p:attrNameLst>
                                          <p:attrName>style.visibility</p:attrName>
                                        </p:attrNameLst>
                                      </p:cBhvr>
                                      <p:to>
                                        <p:strVal val="visible"/>
                                      </p:to>
                                    </p:set>
                                    <p:animEffect transition="in" filter="wipe(left)">
                                      <p:cBhvr>
                                        <p:cTn id="10" dur="500"/>
                                        <p:tgtEl>
                                          <p:spTgt spid="23574"/>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23572"/>
                                        </p:tgtEl>
                                        <p:attrNameLst>
                                          <p:attrName>style.visibility</p:attrName>
                                        </p:attrNameLst>
                                      </p:cBhvr>
                                      <p:to>
                                        <p:strVal val="visible"/>
                                      </p:to>
                                    </p:set>
                                    <p:animEffect transition="in" filter="wipe(left)">
                                      <p:cBhvr>
                                        <p:cTn id="14" dur="500"/>
                                        <p:tgtEl>
                                          <p:spTgt spid="2357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3571">
                                            <p:txEl>
                                              <p:pRg st="1" end="1"/>
                                            </p:txEl>
                                          </p:spTgt>
                                        </p:tgtEl>
                                        <p:attrNameLst>
                                          <p:attrName>style.visibility</p:attrName>
                                        </p:attrNameLst>
                                      </p:cBhvr>
                                      <p:to>
                                        <p:strVal val="visible"/>
                                      </p:to>
                                    </p:set>
                                    <p:animEffect transition="in" filter="wipe(left)">
                                      <p:cBhvr>
                                        <p:cTn id="19" dur="500"/>
                                        <p:tgtEl>
                                          <p:spTgt spid="23571">
                                            <p:txEl>
                                              <p:pRg st="1" end="1"/>
                                            </p:txEl>
                                          </p:spTgt>
                                        </p:tgtEl>
                                      </p:cBhvr>
                                    </p:animEffect>
                                  </p:childTnLst>
                                </p:cTn>
                              </p:par>
                            </p:childTnLst>
                          </p:cTn>
                        </p:par>
                        <p:par>
                          <p:cTn id="20" fill="hold" nodeType="afterGroup">
                            <p:stCondLst>
                              <p:cond delay="500"/>
                            </p:stCondLst>
                            <p:childTnLst>
                              <p:par>
                                <p:cTn id="21" presetID="9" presetClass="entr" presetSubtype="0" fill="hold" grpId="0" nodeType="afterEffect">
                                  <p:stCondLst>
                                    <p:cond delay="0"/>
                                  </p:stCondLst>
                                  <p:childTnLst>
                                    <p:set>
                                      <p:cBhvr>
                                        <p:cTn id="22" dur="1" fill="hold">
                                          <p:stCondLst>
                                            <p:cond delay="0"/>
                                          </p:stCondLst>
                                        </p:cTn>
                                        <p:tgtEl>
                                          <p:spTgt spid="23573"/>
                                        </p:tgtEl>
                                        <p:attrNameLst>
                                          <p:attrName>style.visibility</p:attrName>
                                        </p:attrNameLst>
                                      </p:cBhvr>
                                      <p:to>
                                        <p:strVal val="visible"/>
                                      </p:to>
                                    </p:set>
                                    <p:animEffect transition="in" filter="dissolve">
                                      <p:cBhvr>
                                        <p:cTn id="23" dur="500"/>
                                        <p:tgtEl>
                                          <p:spTgt spid="2357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3571">
                                            <p:txEl>
                                              <p:pRg st="2" end="2"/>
                                            </p:txEl>
                                          </p:spTgt>
                                        </p:tgtEl>
                                        <p:attrNameLst>
                                          <p:attrName>style.visibility</p:attrName>
                                        </p:attrNameLst>
                                      </p:cBhvr>
                                      <p:to>
                                        <p:strVal val="visible"/>
                                      </p:to>
                                    </p:set>
                                    <p:animEffect transition="in" filter="wipe(left)">
                                      <p:cBhvr>
                                        <p:cTn id="28" dur="500"/>
                                        <p:tgtEl>
                                          <p:spTgt spid="235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71" grpId="0" build="p" autoUpdateAnimBg="0"/>
      <p:bldP spid="23573"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210" name="Object 2">
            <a:extLst>
              <a:ext uri="{FF2B5EF4-FFF2-40B4-BE49-F238E27FC236}">
                <a16:creationId xmlns:a16="http://schemas.microsoft.com/office/drawing/2014/main" id="{E5994286-2C0F-4A1F-B8B8-492364A0A6F9}"/>
              </a:ext>
            </a:extLst>
          </p:cNvPr>
          <p:cNvGraphicFramePr>
            <a:graphicFrameLocks noChangeAspect="1"/>
          </p:cNvGraphicFramePr>
          <p:nvPr/>
        </p:nvGraphicFramePr>
        <p:xfrm>
          <a:off x="184150" y="804863"/>
          <a:ext cx="5900738" cy="5711825"/>
        </p:xfrm>
        <a:graphic>
          <a:graphicData uri="http://schemas.openxmlformats.org/presentationml/2006/ole">
            <mc:AlternateContent xmlns:mc="http://schemas.openxmlformats.org/markup-compatibility/2006">
              <mc:Choice xmlns:v="urn:schemas-microsoft-com:vml" Requires="v">
                <p:oleObj spid="_x0000_s9238" r:id="rId4" imgW="3168000" imgH="3069360" progId="Excel.Chart.8">
                  <p:embed/>
                </p:oleObj>
              </mc:Choice>
              <mc:Fallback>
                <p:oleObj r:id="rId4" imgW="3168000" imgH="3069360" progId="Excel.Chart.8">
                  <p:embed/>
                  <p:pic>
                    <p:nvPicPr>
                      <p:cNvPr id="94210" name="Object 2">
                        <a:extLst>
                          <a:ext uri="{FF2B5EF4-FFF2-40B4-BE49-F238E27FC236}">
                            <a16:creationId xmlns:a16="http://schemas.microsoft.com/office/drawing/2014/main" id="{E5994286-2C0F-4A1F-B8B8-492364A0A6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150" y="804863"/>
                        <a:ext cx="5900738" cy="571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11" name="Text Box 4">
            <a:extLst>
              <a:ext uri="{FF2B5EF4-FFF2-40B4-BE49-F238E27FC236}">
                <a16:creationId xmlns:a16="http://schemas.microsoft.com/office/drawing/2014/main" id="{BC7E2645-1F1A-4F12-9C20-3AE37EB53830}"/>
              </a:ext>
            </a:extLst>
          </p:cNvPr>
          <p:cNvSpPr txBox="1">
            <a:spLocks noChangeArrowheads="1"/>
          </p:cNvSpPr>
          <p:nvPr/>
        </p:nvSpPr>
        <p:spPr bwMode="auto">
          <a:xfrm>
            <a:off x="1393825" y="838200"/>
            <a:ext cx="403225"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P</a:t>
            </a:r>
          </a:p>
        </p:txBody>
      </p:sp>
      <p:sp>
        <p:nvSpPr>
          <p:cNvPr id="94212" name="Text Box 5">
            <a:extLst>
              <a:ext uri="{FF2B5EF4-FFF2-40B4-BE49-F238E27FC236}">
                <a16:creationId xmlns:a16="http://schemas.microsoft.com/office/drawing/2014/main" id="{B18FEDA7-6D7A-46B6-A863-4748821CEA97}"/>
              </a:ext>
            </a:extLst>
          </p:cNvPr>
          <p:cNvSpPr txBox="1">
            <a:spLocks noChangeArrowheads="1"/>
          </p:cNvSpPr>
          <p:nvPr/>
        </p:nvSpPr>
        <p:spPr bwMode="auto">
          <a:xfrm>
            <a:off x="5233988" y="5416550"/>
            <a:ext cx="474662"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Q</a:t>
            </a:r>
          </a:p>
        </p:txBody>
      </p:sp>
      <p:grpSp>
        <p:nvGrpSpPr>
          <p:cNvPr id="94213" name="Group 6">
            <a:extLst>
              <a:ext uri="{FF2B5EF4-FFF2-40B4-BE49-F238E27FC236}">
                <a16:creationId xmlns:a16="http://schemas.microsoft.com/office/drawing/2014/main" id="{D8AC3C0C-EB56-43E2-82F0-26267ACD41C9}"/>
              </a:ext>
            </a:extLst>
          </p:cNvPr>
          <p:cNvGrpSpPr>
            <a:grpSpLocks/>
          </p:cNvGrpSpPr>
          <p:nvPr/>
        </p:nvGrpSpPr>
        <p:grpSpPr bwMode="auto">
          <a:xfrm>
            <a:off x="1614488" y="1270000"/>
            <a:ext cx="3368675" cy="4292600"/>
            <a:chOff x="0" y="0"/>
            <a:chExt cx="2122" cy="2704"/>
          </a:xfrm>
        </p:grpSpPr>
        <p:sp>
          <p:nvSpPr>
            <p:cNvPr id="94226" name="Line 7">
              <a:extLst>
                <a:ext uri="{FF2B5EF4-FFF2-40B4-BE49-F238E27FC236}">
                  <a16:creationId xmlns:a16="http://schemas.microsoft.com/office/drawing/2014/main" id="{4761ABD9-FBEE-4231-B507-B07416FE6B99}"/>
                </a:ext>
              </a:extLst>
            </p:cNvPr>
            <p:cNvSpPr>
              <a:spLocks noChangeShapeType="1"/>
            </p:cNvSpPr>
            <p:nvPr/>
          </p:nvSpPr>
          <p:spPr bwMode="auto">
            <a:xfrm flipV="1">
              <a:off x="18" y="0"/>
              <a:ext cx="0" cy="514"/>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7" name="Line 8">
              <a:extLst>
                <a:ext uri="{FF2B5EF4-FFF2-40B4-BE49-F238E27FC236}">
                  <a16:creationId xmlns:a16="http://schemas.microsoft.com/office/drawing/2014/main" id="{5777171E-A34F-4351-A7C5-E40C4AF61576}"/>
                </a:ext>
              </a:extLst>
            </p:cNvPr>
            <p:cNvSpPr>
              <a:spLocks noChangeShapeType="1"/>
            </p:cNvSpPr>
            <p:nvPr/>
          </p:nvSpPr>
          <p:spPr bwMode="auto">
            <a:xfrm>
              <a:off x="0" y="509"/>
              <a:ext cx="539"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8" name="Line 9">
              <a:extLst>
                <a:ext uri="{FF2B5EF4-FFF2-40B4-BE49-F238E27FC236}">
                  <a16:creationId xmlns:a16="http://schemas.microsoft.com/office/drawing/2014/main" id="{624F3935-5D03-45E9-AE73-A76E0A11E9B6}"/>
                </a:ext>
              </a:extLst>
            </p:cNvPr>
            <p:cNvSpPr>
              <a:spLocks noChangeShapeType="1"/>
            </p:cNvSpPr>
            <p:nvPr/>
          </p:nvSpPr>
          <p:spPr bwMode="auto">
            <a:xfrm flipV="1">
              <a:off x="2122" y="1771"/>
              <a:ext cx="0" cy="933"/>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29" name="Line 10">
              <a:extLst>
                <a:ext uri="{FF2B5EF4-FFF2-40B4-BE49-F238E27FC236}">
                  <a16:creationId xmlns:a16="http://schemas.microsoft.com/office/drawing/2014/main" id="{997CF8AF-40AE-482B-8B18-C87B1297CA69}"/>
                </a:ext>
              </a:extLst>
            </p:cNvPr>
            <p:cNvSpPr>
              <a:spLocks noChangeShapeType="1"/>
            </p:cNvSpPr>
            <p:nvPr/>
          </p:nvSpPr>
          <p:spPr bwMode="auto">
            <a:xfrm flipV="1">
              <a:off x="1588" y="1396"/>
              <a:ext cx="0" cy="397"/>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0" name="Line 11">
              <a:extLst>
                <a:ext uri="{FF2B5EF4-FFF2-40B4-BE49-F238E27FC236}">
                  <a16:creationId xmlns:a16="http://schemas.microsoft.com/office/drawing/2014/main" id="{A467D9DE-7935-4B93-8D0F-5DB488B3AD5C}"/>
                </a:ext>
              </a:extLst>
            </p:cNvPr>
            <p:cNvSpPr>
              <a:spLocks noChangeShapeType="1"/>
            </p:cNvSpPr>
            <p:nvPr/>
          </p:nvSpPr>
          <p:spPr bwMode="auto">
            <a:xfrm>
              <a:off x="1570" y="1789"/>
              <a:ext cx="55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1" name="Line 12">
              <a:extLst>
                <a:ext uri="{FF2B5EF4-FFF2-40B4-BE49-F238E27FC236}">
                  <a16:creationId xmlns:a16="http://schemas.microsoft.com/office/drawing/2014/main" id="{6BAB32C2-FC77-4DAB-9CA7-24FDAAFD77A4}"/>
                </a:ext>
              </a:extLst>
            </p:cNvPr>
            <p:cNvSpPr>
              <a:spLocks noChangeShapeType="1"/>
            </p:cNvSpPr>
            <p:nvPr/>
          </p:nvSpPr>
          <p:spPr bwMode="auto">
            <a:xfrm flipV="1">
              <a:off x="1066" y="861"/>
              <a:ext cx="0" cy="557"/>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2" name="Line 13">
              <a:extLst>
                <a:ext uri="{FF2B5EF4-FFF2-40B4-BE49-F238E27FC236}">
                  <a16:creationId xmlns:a16="http://schemas.microsoft.com/office/drawing/2014/main" id="{F421760D-1086-4DBF-AA54-3D59A78A8EC7}"/>
                </a:ext>
              </a:extLst>
            </p:cNvPr>
            <p:cNvSpPr>
              <a:spLocks noChangeShapeType="1"/>
            </p:cNvSpPr>
            <p:nvPr/>
          </p:nvSpPr>
          <p:spPr bwMode="auto">
            <a:xfrm>
              <a:off x="1048" y="1413"/>
              <a:ext cx="539"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3" name="Line 14">
              <a:extLst>
                <a:ext uri="{FF2B5EF4-FFF2-40B4-BE49-F238E27FC236}">
                  <a16:creationId xmlns:a16="http://schemas.microsoft.com/office/drawing/2014/main" id="{B4E934C0-E46C-42C1-B486-FCEAEE47B026}"/>
                </a:ext>
              </a:extLst>
            </p:cNvPr>
            <p:cNvSpPr>
              <a:spLocks noChangeShapeType="1"/>
            </p:cNvSpPr>
            <p:nvPr/>
          </p:nvSpPr>
          <p:spPr bwMode="auto">
            <a:xfrm flipV="1">
              <a:off x="537" y="491"/>
              <a:ext cx="0" cy="391"/>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34" name="Line 15">
              <a:extLst>
                <a:ext uri="{FF2B5EF4-FFF2-40B4-BE49-F238E27FC236}">
                  <a16:creationId xmlns:a16="http://schemas.microsoft.com/office/drawing/2014/main" id="{356E22C5-37A0-400F-B3CE-7337F54BDF21}"/>
                </a:ext>
              </a:extLst>
            </p:cNvPr>
            <p:cNvSpPr>
              <a:spLocks noChangeShapeType="1"/>
            </p:cNvSpPr>
            <p:nvPr/>
          </p:nvSpPr>
          <p:spPr bwMode="auto">
            <a:xfrm>
              <a:off x="519" y="878"/>
              <a:ext cx="547"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6">
            <a:extLst>
              <a:ext uri="{FF2B5EF4-FFF2-40B4-BE49-F238E27FC236}">
                <a16:creationId xmlns:a16="http://schemas.microsoft.com/office/drawing/2014/main" id="{85E88C76-5508-4A0D-A735-0DEE7F74CBEE}"/>
              </a:ext>
            </a:extLst>
          </p:cNvPr>
          <p:cNvGrpSpPr>
            <a:grpSpLocks/>
          </p:cNvGrpSpPr>
          <p:nvPr/>
        </p:nvGrpSpPr>
        <p:grpSpPr bwMode="auto">
          <a:xfrm>
            <a:off x="2500313" y="1130300"/>
            <a:ext cx="3151187" cy="1074738"/>
            <a:chOff x="0" y="0"/>
            <a:chExt cx="1165" cy="597"/>
          </a:xfrm>
        </p:grpSpPr>
        <p:sp>
          <p:nvSpPr>
            <p:cNvPr id="94224" name="Arc 17">
              <a:extLst>
                <a:ext uri="{FF2B5EF4-FFF2-40B4-BE49-F238E27FC236}">
                  <a16:creationId xmlns:a16="http://schemas.microsoft.com/office/drawing/2014/main" id="{DC881C83-4746-447F-9B77-6A40DACA646E}"/>
                </a:ext>
              </a:extLst>
            </p:cNvPr>
            <p:cNvSpPr>
              <a:spLocks/>
            </p:cNvSpPr>
            <p:nvPr/>
          </p:nvSpPr>
          <p:spPr bwMode="auto">
            <a:xfrm flipV="1">
              <a:off x="40" y="226"/>
              <a:ext cx="553" cy="371"/>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lnTo>
                    <a:pt x="0" y="53"/>
                  </a:lnTo>
                  <a:close/>
                </a:path>
              </a:pathLst>
            </a:custGeom>
            <a:noFill/>
            <a:ln w="19050">
              <a:solidFill>
                <a:schemeClr val="tx1"/>
              </a:solidFill>
              <a:miter lim="800000"/>
              <a:headEnd type="triangle" w="lg"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4225" name="Text Box 18">
              <a:extLst>
                <a:ext uri="{FF2B5EF4-FFF2-40B4-BE49-F238E27FC236}">
                  <a16:creationId xmlns:a16="http://schemas.microsoft.com/office/drawing/2014/main" id="{95458A6D-E64E-48CD-B125-075AA6A68971}"/>
                </a:ext>
              </a:extLst>
            </p:cNvPr>
            <p:cNvSpPr txBox="1">
              <a:spLocks noChangeArrowheads="1"/>
            </p:cNvSpPr>
            <p:nvPr/>
          </p:nvSpPr>
          <p:spPr bwMode="auto">
            <a:xfrm>
              <a:off x="0" y="0"/>
              <a:ext cx="1165" cy="265"/>
            </a:xfrm>
            <a:prstGeom prst="rect">
              <a:avLst/>
            </a:prstGeom>
            <a:solidFill>
              <a:srgbClr val="FFCCCC"/>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小孙的消费者剩余</a:t>
              </a:r>
              <a:endParaRPr lang="en-US" altLang="zh-CN" sz="2500" b="0">
                <a:latin typeface="Arial" panose="020B0604020202020204" pitchFamily="34" charset="0"/>
              </a:endParaRPr>
            </a:p>
          </p:txBody>
        </p:sp>
      </p:grpSp>
      <p:grpSp>
        <p:nvGrpSpPr>
          <p:cNvPr id="4" name="Group 19">
            <a:extLst>
              <a:ext uri="{FF2B5EF4-FFF2-40B4-BE49-F238E27FC236}">
                <a16:creationId xmlns:a16="http://schemas.microsoft.com/office/drawing/2014/main" id="{1114981C-E7C5-4821-8E12-A9A44F8F0FA1}"/>
              </a:ext>
            </a:extLst>
          </p:cNvPr>
          <p:cNvGrpSpPr>
            <a:grpSpLocks/>
          </p:cNvGrpSpPr>
          <p:nvPr/>
        </p:nvGrpSpPr>
        <p:grpSpPr bwMode="auto">
          <a:xfrm>
            <a:off x="3059113" y="1700213"/>
            <a:ext cx="3384550" cy="977900"/>
            <a:chOff x="0" y="0"/>
            <a:chExt cx="1538" cy="616"/>
          </a:xfrm>
        </p:grpSpPr>
        <p:sp>
          <p:nvSpPr>
            <p:cNvPr id="94222" name="Arc 20">
              <a:extLst>
                <a:ext uri="{FF2B5EF4-FFF2-40B4-BE49-F238E27FC236}">
                  <a16:creationId xmlns:a16="http://schemas.microsoft.com/office/drawing/2014/main" id="{3E4604B3-4124-49CD-BB4E-1F4B8F4F0F7B}"/>
                </a:ext>
              </a:extLst>
            </p:cNvPr>
            <p:cNvSpPr>
              <a:spLocks/>
            </p:cNvSpPr>
            <p:nvPr/>
          </p:nvSpPr>
          <p:spPr bwMode="auto">
            <a:xfrm flipV="1">
              <a:off x="164" y="227"/>
              <a:ext cx="601" cy="389"/>
            </a:xfrm>
            <a:custGeom>
              <a:avLst/>
              <a:gdLst>
                <a:gd name="T0" fmla="*/ 0 w 23113"/>
                <a:gd name="T1" fmla="*/ 0 h 21600"/>
                <a:gd name="T2" fmla="*/ 0 w 23113"/>
                <a:gd name="T3" fmla="*/ 0 h 21600"/>
                <a:gd name="T4" fmla="*/ 0 w 23113"/>
                <a:gd name="T5" fmla="*/ 0 h 21600"/>
                <a:gd name="T6" fmla="*/ 0 60000 65536"/>
                <a:gd name="T7" fmla="*/ 0 60000 65536"/>
                <a:gd name="T8" fmla="*/ 0 60000 65536"/>
                <a:gd name="T9" fmla="*/ 0 w 23113"/>
                <a:gd name="T10" fmla="*/ 0 h 21600"/>
                <a:gd name="T11" fmla="*/ 23113 w 23113"/>
                <a:gd name="T12" fmla="*/ 21600 h 21600"/>
              </a:gdLst>
              <a:ahLst/>
              <a:cxnLst>
                <a:cxn ang="T6">
                  <a:pos x="T0" y="T1"/>
                </a:cxn>
                <a:cxn ang="T7">
                  <a:pos x="T2" y="T3"/>
                </a:cxn>
                <a:cxn ang="T8">
                  <a:pos x="T4" y="T5"/>
                </a:cxn>
              </a:cxnLst>
              <a:rect l="T9" t="T10" r="T11" b="T12"/>
              <a:pathLst>
                <a:path w="23113" h="21600" fill="none" extrusionOk="0">
                  <a:moveTo>
                    <a:pt x="0" y="53"/>
                  </a:moveTo>
                  <a:cubicBezTo>
                    <a:pt x="503" y="17"/>
                    <a:pt x="1008" y="-1"/>
                    <a:pt x="1513" y="0"/>
                  </a:cubicBezTo>
                  <a:cubicBezTo>
                    <a:pt x="13442" y="0"/>
                    <a:pt x="23113" y="9670"/>
                    <a:pt x="23113" y="21600"/>
                  </a:cubicBezTo>
                </a:path>
                <a:path w="23113" h="21600" stroke="0" extrusionOk="0">
                  <a:moveTo>
                    <a:pt x="0" y="53"/>
                  </a:moveTo>
                  <a:cubicBezTo>
                    <a:pt x="503" y="17"/>
                    <a:pt x="1008" y="-1"/>
                    <a:pt x="1513" y="0"/>
                  </a:cubicBezTo>
                  <a:cubicBezTo>
                    <a:pt x="13442" y="0"/>
                    <a:pt x="23113" y="9670"/>
                    <a:pt x="23113" y="21600"/>
                  </a:cubicBezTo>
                  <a:lnTo>
                    <a:pt x="1513" y="21600"/>
                  </a:lnTo>
                  <a:lnTo>
                    <a:pt x="0" y="53"/>
                  </a:lnTo>
                  <a:close/>
                </a:path>
              </a:pathLst>
            </a:custGeom>
            <a:noFill/>
            <a:ln w="19050">
              <a:solidFill>
                <a:schemeClr val="tx1"/>
              </a:solidFill>
              <a:miter lim="800000"/>
              <a:headEnd type="triangle" w="lg"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4223" name="Text Box 21">
              <a:extLst>
                <a:ext uri="{FF2B5EF4-FFF2-40B4-BE49-F238E27FC236}">
                  <a16:creationId xmlns:a16="http://schemas.microsoft.com/office/drawing/2014/main" id="{9A61D9A8-814C-4508-9340-0672FD465F62}"/>
                </a:ext>
              </a:extLst>
            </p:cNvPr>
            <p:cNvSpPr txBox="1">
              <a:spLocks noChangeArrowheads="1"/>
            </p:cNvSpPr>
            <p:nvPr/>
          </p:nvSpPr>
          <p:spPr bwMode="auto">
            <a:xfrm>
              <a:off x="0" y="0"/>
              <a:ext cx="1538" cy="301"/>
            </a:xfrm>
            <a:prstGeom prst="rect">
              <a:avLst/>
            </a:prstGeom>
            <a:solidFill>
              <a:srgbClr val="FFCCCC"/>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小赵的消费者剩余</a:t>
              </a:r>
              <a:endParaRPr lang="en-US" altLang="zh-CN" sz="2500" b="0">
                <a:latin typeface="Arial" panose="020B0604020202020204" pitchFamily="34" charset="0"/>
              </a:endParaRPr>
            </a:p>
          </p:txBody>
        </p:sp>
      </p:grpSp>
      <p:sp>
        <p:nvSpPr>
          <p:cNvPr id="25622" name="Rectangle 22">
            <a:extLst>
              <a:ext uri="{FF2B5EF4-FFF2-40B4-BE49-F238E27FC236}">
                <a16:creationId xmlns:a16="http://schemas.microsoft.com/office/drawing/2014/main" id="{6F516087-CEB2-4854-ACBC-2C9ACCE3F2E1}"/>
              </a:ext>
            </a:extLst>
          </p:cNvPr>
          <p:cNvSpPr>
            <a:spLocks noChangeArrowheads="1"/>
          </p:cNvSpPr>
          <p:nvPr/>
        </p:nvSpPr>
        <p:spPr bwMode="auto">
          <a:xfrm>
            <a:off x="4465638" y="1700213"/>
            <a:ext cx="4678362"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40000"/>
              </a:spcBef>
              <a:buClr>
                <a:srgbClr val="00B85C"/>
              </a:buClr>
              <a:buSzPct val="120000"/>
              <a:buFont typeface="Wingdings" panose="05000000000000000000" pitchFamily="2" charset="2"/>
              <a:buNone/>
            </a:pPr>
            <a:r>
              <a:rPr lang="zh-CN" altLang="en-US" sz="2600" b="0">
                <a:latin typeface="Arial" panose="020B0604020202020204" pitchFamily="34" charset="0"/>
              </a:rPr>
              <a:t>如果</a:t>
            </a:r>
            <a:br>
              <a:rPr lang="zh-CN" altLang="en-US" sz="2600" b="0">
                <a:latin typeface="Arial" panose="020B0604020202020204" pitchFamily="34" charset="0"/>
              </a:rPr>
            </a:br>
            <a:r>
              <a:rPr lang="en-US" altLang="zh-CN" sz="2600" i="1">
                <a:latin typeface="Arial" panose="020B0604020202020204" pitchFamily="34" charset="0"/>
              </a:rPr>
              <a:t>P</a:t>
            </a:r>
            <a:r>
              <a:rPr lang="en-US" altLang="zh-CN" sz="2600" b="0">
                <a:latin typeface="Arial" panose="020B0604020202020204" pitchFamily="34" charset="0"/>
              </a:rPr>
              <a:t> = 220  </a:t>
            </a:r>
          </a:p>
          <a:p>
            <a:pPr algn="r" eaLnBrk="1" hangingPunct="1">
              <a:spcBef>
                <a:spcPct val="40000"/>
              </a:spcBef>
              <a:buClr>
                <a:srgbClr val="00B85C"/>
              </a:buClr>
              <a:buSzPct val="120000"/>
              <a:buFont typeface="Wingdings" panose="05000000000000000000" pitchFamily="2" charset="2"/>
              <a:buNone/>
            </a:pPr>
            <a:r>
              <a:rPr lang="zh-CN" altLang="en-US" sz="2600" b="0">
                <a:latin typeface="Arial" panose="020B0604020202020204" pitchFamily="34" charset="0"/>
              </a:rPr>
              <a:t>小孙的消费者剩余</a:t>
            </a:r>
            <a:r>
              <a:rPr lang="en-US" altLang="zh-CN" sz="2600" b="0">
                <a:latin typeface="Arial" panose="020B0604020202020204" pitchFamily="34" charset="0"/>
              </a:rPr>
              <a:t> = 300 – 220 = </a:t>
            </a:r>
            <a:r>
              <a:rPr lang="en-US" altLang="zh-CN" sz="2600" b="0" u="sng">
                <a:latin typeface="Arial" panose="020B0604020202020204" pitchFamily="34" charset="0"/>
              </a:rPr>
              <a:t>80</a:t>
            </a:r>
            <a:endParaRPr lang="en-US" altLang="zh-CN" sz="2600" b="0">
              <a:latin typeface="Arial" panose="020B0604020202020204" pitchFamily="34" charset="0"/>
            </a:endParaRPr>
          </a:p>
          <a:p>
            <a:pPr algn="r" eaLnBrk="1" hangingPunct="1">
              <a:spcBef>
                <a:spcPct val="40000"/>
              </a:spcBef>
              <a:buClr>
                <a:srgbClr val="00B85C"/>
              </a:buClr>
              <a:buSzPct val="120000"/>
              <a:buFont typeface="Wingdings" panose="05000000000000000000" pitchFamily="2" charset="2"/>
              <a:buNone/>
            </a:pPr>
            <a:r>
              <a:rPr lang="zh-CN" altLang="en-US" sz="2600" b="0">
                <a:latin typeface="Arial" panose="020B0604020202020204" pitchFamily="34" charset="0"/>
              </a:rPr>
              <a:t>小赵的消费者剩余</a:t>
            </a:r>
            <a:r>
              <a:rPr lang="en-US" altLang="zh-CN" sz="2600" b="0">
                <a:latin typeface="Arial" panose="020B0604020202020204" pitchFamily="34" charset="0"/>
              </a:rPr>
              <a:t> =250 – 220</a:t>
            </a:r>
          </a:p>
          <a:p>
            <a:pPr algn="r" eaLnBrk="1" hangingPunct="1">
              <a:spcBef>
                <a:spcPct val="40000"/>
              </a:spcBef>
              <a:buClr>
                <a:srgbClr val="00B85C"/>
              </a:buClr>
              <a:buSzPct val="120000"/>
              <a:buFont typeface="Wingdings" panose="05000000000000000000" pitchFamily="2" charset="2"/>
              <a:buNone/>
            </a:pPr>
            <a:r>
              <a:rPr lang="en-US" altLang="zh-CN" sz="2600" b="0">
                <a:latin typeface="Arial" panose="020B0604020202020204" pitchFamily="34" charset="0"/>
              </a:rPr>
              <a:t>= </a:t>
            </a:r>
            <a:r>
              <a:rPr lang="en-US" altLang="zh-CN" sz="2600" b="0" u="sng">
                <a:latin typeface="Arial" panose="020B0604020202020204" pitchFamily="34" charset="0"/>
              </a:rPr>
              <a:t>30</a:t>
            </a:r>
            <a:endParaRPr lang="en-US" altLang="zh-CN" sz="2600" b="0">
              <a:latin typeface="Arial" panose="020B0604020202020204" pitchFamily="34" charset="0"/>
            </a:endParaRPr>
          </a:p>
          <a:p>
            <a:pPr algn="r" eaLnBrk="1" hangingPunct="1">
              <a:spcBef>
                <a:spcPct val="40000"/>
              </a:spcBef>
              <a:buClr>
                <a:srgbClr val="00B85C"/>
              </a:buClr>
              <a:buSzPct val="120000"/>
              <a:buFont typeface="Wingdings" panose="05000000000000000000" pitchFamily="2" charset="2"/>
              <a:buNone/>
            </a:pPr>
            <a:r>
              <a:rPr lang="zh-CN" altLang="en-US" sz="2600" b="0">
                <a:latin typeface="Arial" panose="020B0604020202020204" pitchFamily="34" charset="0"/>
              </a:rPr>
              <a:t>总消费者剩余</a:t>
            </a:r>
            <a:endParaRPr lang="en-US" altLang="zh-CN" sz="2600" b="0">
              <a:latin typeface="Arial" panose="020B0604020202020204" pitchFamily="34" charset="0"/>
            </a:endParaRPr>
          </a:p>
          <a:p>
            <a:pPr algn="r" eaLnBrk="1" hangingPunct="1">
              <a:spcBef>
                <a:spcPct val="40000"/>
              </a:spcBef>
              <a:buClr>
                <a:srgbClr val="00B85C"/>
              </a:buClr>
              <a:buSzPct val="120000"/>
              <a:buFont typeface="Wingdings" panose="05000000000000000000" pitchFamily="2" charset="2"/>
              <a:buNone/>
            </a:pPr>
            <a:r>
              <a:rPr lang="zh-CN" altLang="en-US" sz="2600" b="0">
                <a:latin typeface="Arial" panose="020B0604020202020204" pitchFamily="34" charset="0"/>
              </a:rPr>
              <a:t>      </a:t>
            </a:r>
            <a:r>
              <a:rPr lang="en-US" altLang="zh-CN" sz="2600" b="0">
                <a:latin typeface="Arial" panose="020B0604020202020204" pitchFamily="34" charset="0"/>
              </a:rPr>
              <a:t>= </a:t>
            </a:r>
            <a:r>
              <a:rPr lang="en-US" altLang="zh-CN" sz="2600" b="0" u="sng">
                <a:latin typeface="Arial" panose="020B0604020202020204" pitchFamily="34" charset="0"/>
              </a:rPr>
              <a:t>110</a:t>
            </a:r>
            <a:endParaRPr lang="en-US" altLang="zh-CN" sz="2600" b="0">
              <a:latin typeface="Arial" panose="020B0604020202020204" pitchFamily="34" charset="0"/>
            </a:endParaRPr>
          </a:p>
        </p:txBody>
      </p:sp>
      <p:sp>
        <p:nvSpPr>
          <p:cNvPr id="25623" name="Line 23">
            <a:extLst>
              <a:ext uri="{FF2B5EF4-FFF2-40B4-BE49-F238E27FC236}">
                <a16:creationId xmlns:a16="http://schemas.microsoft.com/office/drawing/2014/main" id="{E348D89F-5FAC-4D3F-9FBD-D987945F151D}"/>
              </a:ext>
            </a:extLst>
          </p:cNvPr>
          <p:cNvSpPr>
            <a:spLocks noChangeShapeType="1"/>
          </p:cNvSpPr>
          <p:nvPr/>
        </p:nvSpPr>
        <p:spPr bwMode="auto">
          <a:xfrm>
            <a:off x="1638300" y="3049588"/>
            <a:ext cx="1666875"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24" name="Rectangle 24">
            <a:extLst>
              <a:ext uri="{FF2B5EF4-FFF2-40B4-BE49-F238E27FC236}">
                <a16:creationId xmlns:a16="http://schemas.microsoft.com/office/drawing/2014/main" id="{1E7C9FB7-B8E8-4AFB-9395-B86696D418DE}"/>
              </a:ext>
            </a:extLst>
          </p:cNvPr>
          <p:cNvSpPr>
            <a:spLocks noChangeArrowheads="1"/>
          </p:cNvSpPr>
          <p:nvPr/>
        </p:nvSpPr>
        <p:spPr bwMode="auto">
          <a:xfrm>
            <a:off x="1644650" y="2106613"/>
            <a:ext cx="792163" cy="931862"/>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25625" name="Line 25">
            <a:extLst>
              <a:ext uri="{FF2B5EF4-FFF2-40B4-BE49-F238E27FC236}">
                <a16:creationId xmlns:a16="http://schemas.microsoft.com/office/drawing/2014/main" id="{BF1A2FDA-9FF7-4B8B-83F7-DD0A8F67F6FE}"/>
              </a:ext>
            </a:extLst>
          </p:cNvPr>
          <p:cNvSpPr>
            <a:spLocks noChangeShapeType="1"/>
          </p:cNvSpPr>
          <p:nvPr/>
        </p:nvSpPr>
        <p:spPr bwMode="auto">
          <a:xfrm>
            <a:off x="855663" y="2965450"/>
            <a:ext cx="728662" cy="77788"/>
          </a:xfrm>
          <a:prstGeom prst="line">
            <a:avLst/>
          </a:prstGeom>
          <a:noFill/>
          <a:ln w="38100">
            <a:solidFill>
              <a:srgbClr val="0000FF"/>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25626" name="Rectangle 26">
            <a:extLst>
              <a:ext uri="{FF2B5EF4-FFF2-40B4-BE49-F238E27FC236}">
                <a16:creationId xmlns:a16="http://schemas.microsoft.com/office/drawing/2014/main" id="{4EC8D21E-8F49-40B4-A8AA-868E32F83FDC}"/>
              </a:ext>
            </a:extLst>
          </p:cNvPr>
          <p:cNvSpPr>
            <a:spLocks noChangeArrowheads="1"/>
          </p:cNvSpPr>
          <p:nvPr/>
        </p:nvSpPr>
        <p:spPr bwMode="auto">
          <a:xfrm>
            <a:off x="2436813" y="2692400"/>
            <a:ext cx="849312" cy="346075"/>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94221" name="Title 1">
            <a:extLst>
              <a:ext uri="{FF2B5EF4-FFF2-40B4-BE49-F238E27FC236}">
                <a16:creationId xmlns:a16="http://schemas.microsoft.com/office/drawing/2014/main" id="{3C976735-A927-485F-8080-DB8D186D5C50}"/>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消费者剩余与需求曲线</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22">
                                            <p:txEl>
                                              <p:pRg st="0" end="0"/>
                                            </p:txEl>
                                          </p:spTgt>
                                        </p:tgtEl>
                                        <p:attrNameLst>
                                          <p:attrName>style.visibility</p:attrName>
                                        </p:attrNameLst>
                                      </p:cBhvr>
                                      <p:to>
                                        <p:strVal val="visible"/>
                                      </p:to>
                                    </p:set>
                                    <p:animEffect transition="in" filter="wipe(left)">
                                      <p:cBhvr>
                                        <p:cTn id="7" dur="500"/>
                                        <p:tgtEl>
                                          <p:spTgt spid="25622">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5625"/>
                                        </p:tgtEl>
                                        <p:attrNameLst>
                                          <p:attrName>style.visibility</p:attrName>
                                        </p:attrNameLst>
                                      </p:cBhvr>
                                      <p:to>
                                        <p:strVal val="visible"/>
                                      </p:to>
                                    </p:set>
                                    <p:animEffect transition="in" filter="wipe(left)">
                                      <p:cBhvr>
                                        <p:cTn id="10" dur="500"/>
                                        <p:tgtEl>
                                          <p:spTgt spid="25625"/>
                                        </p:tgtEl>
                                      </p:cBhvr>
                                    </p:animEffect>
                                  </p:childTnLst>
                                </p:cTn>
                              </p:par>
                            </p:childTnLst>
                          </p:cTn>
                        </p:par>
                        <p:par>
                          <p:cTn id="11" fill="hold" nodeType="afterGroup">
                            <p:stCondLst>
                              <p:cond delay="500"/>
                            </p:stCondLst>
                            <p:childTnLst>
                              <p:par>
                                <p:cTn id="12" presetID="22" presetClass="entr" presetSubtype="8" fill="hold" nodeType="afterEffect">
                                  <p:stCondLst>
                                    <p:cond delay="0"/>
                                  </p:stCondLst>
                                  <p:childTnLst>
                                    <p:set>
                                      <p:cBhvr>
                                        <p:cTn id="13" dur="1" fill="hold">
                                          <p:stCondLst>
                                            <p:cond delay="0"/>
                                          </p:stCondLst>
                                        </p:cTn>
                                        <p:tgtEl>
                                          <p:spTgt spid="25623"/>
                                        </p:tgtEl>
                                        <p:attrNameLst>
                                          <p:attrName>style.visibility</p:attrName>
                                        </p:attrNameLst>
                                      </p:cBhvr>
                                      <p:to>
                                        <p:strVal val="visible"/>
                                      </p:to>
                                    </p:set>
                                    <p:animEffect transition="in" filter="wipe(left)">
                                      <p:cBhvr>
                                        <p:cTn id="14" dur="500"/>
                                        <p:tgtEl>
                                          <p:spTgt spid="2562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5622">
                                            <p:txEl>
                                              <p:pRg st="1" end="1"/>
                                            </p:txEl>
                                          </p:spTgt>
                                        </p:tgtEl>
                                        <p:attrNameLst>
                                          <p:attrName>style.visibility</p:attrName>
                                        </p:attrNameLst>
                                      </p:cBhvr>
                                      <p:to>
                                        <p:strVal val="visible"/>
                                      </p:to>
                                    </p:set>
                                    <p:animEffect transition="in" filter="wipe(left)">
                                      <p:cBhvr>
                                        <p:cTn id="19" dur="500"/>
                                        <p:tgtEl>
                                          <p:spTgt spid="25622">
                                            <p:txEl>
                                              <p:pRg st="1" end="1"/>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5624"/>
                                        </p:tgtEl>
                                        <p:attrNameLst>
                                          <p:attrName>style.visibility</p:attrName>
                                        </p:attrNameLst>
                                      </p:cBhvr>
                                      <p:to>
                                        <p:strVal val="visible"/>
                                      </p:to>
                                    </p:set>
                                    <p:animEffect transition="in" filter="dissolve">
                                      <p:cBhvr>
                                        <p:cTn id="22" dur="500"/>
                                        <p:tgtEl>
                                          <p:spTgt spid="256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xit" presetSubtype="0" fill="hold" grpId="1" nodeType="clickEffect">
                                  <p:stCondLst>
                                    <p:cond delay="0"/>
                                  </p:stCondLst>
                                  <p:childTnLst>
                                    <p:animEffect transition="out" filter="dissolve">
                                      <p:cBhvr>
                                        <p:cTn id="26" dur="500"/>
                                        <p:tgtEl>
                                          <p:spTgt spid="25624"/>
                                        </p:tgtEl>
                                      </p:cBhvr>
                                    </p:animEffect>
                                    <p:set>
                                      <p:cBhvr>
                                        <p:cTn id="27" dur="1" fill="hold">
                                          <p:stCondLst>
                                            <p:cond delay="499"/>
                                          </p:stCondLst>
                                        </p:cTn>
                                        <p:tgtEl>
                                          <p:spTgt spid="25624"/>
                                        </p:tgtEl>
                                        <p:attrNameLst>
                                          <p:attrName>style.visibility</p:attrName>
                                        </p:attrNameLst>
                                      </p:cBhvr>
                                      <p:to>
                                        <p:strVal val="hidden"/>
                                      </p:to>
                                    </p:set>
                                  </p:childTnLst>
                                </p:cTn>
                              </p:par>
                              <p:par>
                                <p:cTn id="28" presetID="9" presetClass="exit" presetSubtype="0" fill="hold" nodeType="withEffect">
                                  <p:stCondLst>
                                    <p:cond delay="0"/>
                                  </p:stCondLst>
                                  <p:childTnLst>
                                    <p:animEffect transition="out" filter="dissolve">
                                      <p:cBhvr>
                                        <p:cTn id="29" dur="500"/>
                                        <p:tgtEl>
                                          <p:spTgt spid="3"/>
                                        </p:tgtEl>
                                      </p:cBhvr>
                                    </p:animEffect>
                                    <p:set>
                                      <p:cBhvr>
                                        <p:cTn id="30" dur="1" fill="hold">
                                          <p:stCondLst>
                                            <p:cond delay="499"/>
                                          </p:stCondLst>
                                        </p:cTn>
                                        <p:tgtEl>
                                          <p:spTgt spid="3"/>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12"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strips(downLeft)">
                                      <p:cBhvr>
                                        <p:cTn id="35" dur="500"/>
                                        <p:tgtEl>
                                          <p:spTgt spid="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5622">
                                            <p:txEl>
                                              <p:pRg st="2" end="2"/>
                                            </p:txEl>
                                          </p:spTgt>
                                        </p:tgtEl>
                                        <p:attrNameLst>
                                          <p:attrName>style.visibility</p:attrName>
                                        </p:attrNameLst>
                                      </p:cBhvr>
                                      <p:to>
                                        <p:strVal val="visible"/>
                                      </p:to>
                                    </p:set>
                                    <p:animEffect transition="in" filter="wipe(left)">
                                      <p:cBhvr>
                                        <p:cTn id="40" dur="500"/>
                                        <p:tgtEl>
                                          <p:spTgt spid="25622">
                                            <p:txEl>
                                              <p:pRg st="2" end="2"/>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5622">
                                            <p:txEl>
                                              <p:pRg st="3" end="3"/>
                                            </p:txEl>
                                          </p:spTgt>
                                        </p:tgtEl>
                                        <p:attrNameLst>
                                          <p:attrName>style.visibility</p:attrName>
                                        </p:attrNameLst>
                                      </p:cBhvr>
                                      <p:to>
                                        <p:strVal val="visible"/>
                                      </p:to>
                                    </p:set>
                                    <p:animEffect transition="in" filter="wipe(left)">
                                      <p:cBhvr>
                                        <p:cTn id="45" dur="500"/>
                                        <p:tgtEl>
                                          <p:spTgt spid="25622">
                                            <p:txEl>
                                              <p:pRg st="3" end="3"/>
                                            </p:txEl>
                                          </p:spTgt>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25626"/>
                                        </p:tgtEl>
                                        <p:attrNameLst>
                                          <p:attrName>style.visibility</p:attrName>
                                        </p:attrNameLst>
                                      </p:cBhvr>
                                      <p:to>
                                        <p:strVal val="visible"/>
                                      </p:to>
                                    </p:set>
                                    <p:animEffect transition="in" filter="dissolve">
                                      <p:cBhvr>
                                        <p:cTn id="48" dur="500"/>
                                        <p:tgtEl>
                                          <p:spTgt spid="2562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xit" presetSubtype="0" fill="hold" grpId="1" nodeType="clickEffect">
                                  <p:stCondLst>
                                    <p:cond delay="0"/>
                                  </p:stCondLst>
                                  <p:childTnLst>
                                    <p:animEffect transition="out" filter="dissolve">
                                      <p:cBhvr>
                                        <p:cTn id="52" dur="500"/>
                                        <p:tgtEl>
                                          <p:spTgt spid="25626"/>
                                        </p:tgtEl>
                                      </p:cBhvr>
                                    </p:animEffect>
                                    <p:set>
                                      <p:cBhvr>
                                        <p:cTn id="53" dur="1" fill="hold">
                                          <p:stCondLst>
                                            <p:cond delay="499"/>
                                          </p:stCondLst>
                                        </p:cTn>
                                        <p:tgtEl>
                                          <p:spTgt spid="25626"/>
                                        </p:tgtEl>
                                        <p:attrNameLst>
                                          <p:attrName>style.visibility</p:attrName>
                                        </p:attrNameLst>
                                      </p:cBhvr>
                                      <p:to>
                                        <p:strVal val="hidden"/>
                                      </p:to>
                                    </p:set>
                                  </p:childTnLst>
                                </p:cTn>
                              </p:par>
                              <p:par>
                                <p:cTn id="54" presetID="9" presetClass="exit" presetSubtype="0" fill="hold" nodeType="withEffect">
                                  <p:stCondLst>
                                    <p:cond delay="0"/>
                                  </p:stCondLst>
                                  <p:childTnLst>
                                    <p:animEffect transition="out" filter="dissolve">
                                      <p:cBhvr>
                                        <p:cTn id="55" dur="500"/>
                                        <p:tgtEl>
                                          <p:spTgt spid="4"/>
                                        </p:tgtEl>
                                      </p:cBhvr>
                                    </p:animEffect>
                                    <p:set>
                                      <p:cBhvr>
                                        <p:cTn id="56" dur="1" fill="hold">
                                          <p:stCondLst>
                                            <p:cond delay="499"/>
                                          </p:stCondLst>
                                        </p:cTn>
                                        <p:tgtEl>
                                          <p:spTgt spid="4"/>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5622">
                                            <p:txEl>
                                              <p:pRg st="4" end="4"/>
                                            </p:txEl>
                                          </p:spTgt>
                                        </p:tgtEl>
                                        <p:attrNameLst>
                                          <p:attrName>style.visibility</p:attrName>
                                        </p:attrNameLst>
                                      </p:cBhvr>
                                      <p:to>
                                        <p:strVal val="visible"/>
                                      </p:to>
                                    </p:set>
                                    <p:animEffect transition="in" filter="wipe(left)">
                                      <p:cBhvr>
                                        <p:cTn id="61" dur="500"/>
                                        <p:tgtEl>
                                          <p:spTgt spid="25622">
                                            <p:txEl>
                                              <p:pRg st="4" end="4"/>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5622">
                                            <p:txEl>
                                              <p:pRg st="5" end="5"/>
                                            </p:txEl>
                                          </p:spTgt>
                                        </p:tgtEl>
                                        <p:attrNameLst>
                                          <p:attrName>style.visibility</p:attrName>
                                        </p:attrNameLst>
                                      </p:cBhvr>
                                      <p:to>
                                        <p:strVal val="visible"/>
                                      </p:to>
                                    </p:set>
                                    <p:animEffect transition="in" filter="wipe(left)">
                                      <p:cBhvr>
                                        <p:cTn id="66" dur="500"/>
                                        <p:tgtEl>
                                          <p:spTgt spid="25622">
                                            <p:txEl>
                                              <p:pRg st="5" end="5"/>
                                            </p:txEl>
                                          </p:spTgt>
                                        </p:tgtEl>
                                      </p:cBhvr>
                                    </p:animEffect>
                                  </p:childTnLst>
                                </p:cTn>
                              </p:par>
                              <p:par>
                                <p:cTn id="67" presetID="9" presetClass="entr" presetSubtype="0" fill="hold" grpId="2" nodeType="withEffect">
                                  <p:stCondLst>
                                    <p:cond delay="0"/>
                                  </p:stCondLst>
                                  <p:childTnLst>
                                    <p:set>
                                      <p:cBhvr>
                                        <p:cTn id="68" dur="1" fill="hold">
                                          <p:stCondLst>
                                            <p:cond delay="0"/>
                                          </p:stCondLst>
                                        </p:cTn>
                                        <p:tgtEl>
                                          <p:spTgt spid="25626"/>
                                        </p:tgtEl>
                                        <p:attrNameLst>
                                          <p:attrName>style.visibility</p:attrName>
                                        </p:attrNameLst>
                                      </p:cBhvr>
                                      <p:to>
                                        <p:strVal val="visible"/>
                                      </p:to>
                                    </p:set>
                                    <p:animEffect transition="in" filter="dissolve">
                                      <p:cBhvr>
                                        <p:cTn id="69" dur="500"/>
                                        <p:tgtEl>
                                          <p:spTgt spid="25626"/>
                                        </p:tgtEl>
                                      </p:cBhvr>
                                    </p:animEffect>
                                  </p:childTnLst>
                                </p:cTn>
                              </p:par>
                              <p:par>
                                <p:cTn id="70" presetID="9" presetClass="entr" presetSubtype="0" fill="hold" grpId="2" nodeType="withEffect">
                                  <p:stCondLst>
                                    <p:cond delay="0"/>
                                  </p:stCondLst>
                                  <p:childTnLst>
                                    <p:set>
                                      <p:cBhvr>
                                        <p:cTn id="71" dur="1" fill="hold">
                                          <p:stCondLst>
                                            <p:cond delay="0"/>
                                          </p:stCondLst>
                                        </p:cTn>
                                        <p:tgtEl>
                                          <p:spTgt spid="25624"/>
                                        </p:tgtEl>
                                        <p:attrNameLst>
                                          <p:attrName>style.visibility</p:attrName>
                                        </p:attrNameLst>
                                      </p:cBhvr>
                                      <p:to>
                                        <p:strVal val="visible"/>
                                      </p:to>
                                    </p:set>
                                    <p:animEffect transition="in" filter="dissolve">
                                      <p:cBhvr>
                                        <p:cTn id="72" dur="500"/>
                                        <p:tgtEl>
                                          <p:spTgt spid="25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22" grpId="0" build="p" autoUpdateAnimBg="0"/>
      <p:bldP spid="25624" grpId="0" animBg="1" autoUpdateAnimBg="0"/>
      <p:bldP spid="25624" grpId="1" animBg="1" autoUpdateAnimBg="0"/>
      <p:bldP spid="25624" grpId="2" animBg="1" autoUpdateAnimBg="0"/>
      <p:bldP spid="25626" grpId="0" animBg="1" autoUpdateAnimBg="0"/>
      <p:bldP spid="25626" grpId="1" animBg="1" autoUpdateAnimBg="0"/>
      <p:bldP spid="25626" grpId="2"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258" name="Object 2">
            <a:extLst>
              <a:ext uri="{FF2B5EF4-FFF2-40B4-BE49-F238E27FC236}">
                <a16:creationId xmlns:a16="http://schemas.microsoft.com/office/drawing/2014/main" id="{E1E8509A-1592-4A13-8332-4C4CF87FD253}"/>
              </a:ext>
            </a:extLst>
          </p:cNvPr>
          <p:cNvGraphicFramePr>
            <a:graphicFrameLocks noChangeAspect="1"/>
          </p:cNvGraphicFramePr>
          <p:nvPr/>
        </p:nvGraphicFramePr>
        <p:xfrm>
          <a:off x="214313" y="804863"/>
          <a:ext cx="5900737" cy="5711825"/>
        </p:xfrm>
        <a:graphic>
          <a:graphicData uri="http://schemas.openxmlformats.org/presentationml/2006/ole">
            <mc:AlternateContent xmlns:mc="http://schemas.openxmlformats.org/markup-compatibility/2006">
              <mc:Choice xmlns:v="urn:schemas-microsoft-com:vml" Requires="v">
                <p:oleObj spid="_x0000_s10262" r:id="rId4" imgW="3168000" imgH="3069360" progId="Excel.Chart.8">
                  <p:embed/>
                </p:oleObj>
              </mc:Choice>
              <mc:Fallback>
                <p:oleObj r:id="rId4" imgW="3168000" imgH="3069360" progId="Excel.Chart.8">
                  <p:embed/>
                  <p:pic>
                    <p:nvPicPr>
                      <p:cNvPr id="96258" name="Object 2">
                        <a:extLst>
                          <a:ext uri="{FF2B5EF4-FFF2-40B4-BE49-F238E27FC236}">
                            <a16:creationId xmlns:a16="http://schemas.microsoft.com/office/drawing/2014/main" id="{E1E8509A-1592-4A13-8332-4C4CF87FD2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13" y="804863"/>
                        <a:ext cx="5900737" cy="571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6259" name="Text Box 4">
            <a:extLst>
              <a:ext uri="{FF2B5EF4-FFF2-40B4-BE49-F238E27FC236}">
                <a16:creationId xmlns:a16="http://schemas.microsoft.com/office/drawing/2014/main" id="{90DC1598-0085-4CAC-9B49-926C57F5AC3D}"/>
              </a:ext>
            </a:extLst>
          </p:cNvPr>
          <p:cNvSpPr txBox="1">
            <a:spLocks noChangeArrowheads="1"/>
          </p:cNvSpPr>
          <p:nvPr/>
        </p:nvSpPr>
        <p:spPr bwMode="auto">
          <a:xfrm>
            <a:off x="1393825" y="838200"/>
            <a:ext cx="403225"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P</a:t>
            </a:r>
          </a:p>
        </p:txBody>
      </p:sp>
      <p:sp>
        <p:nvSpPr>
          <p:cNvPr id="96260" name="Text Box 5">
            <a:extLst>
              <a:ext uri="{FF2B5EF4-FFF2-40B4-BE49-F238E27FC236}">
                <a16:creationId xmlns:a16="http://schemas.microsoft.com/office/drawing/2014/main" id="{A0F6F9BB-7853-4C42-B639-391EED466208}"/>
              </a:ext>
            </a:extLst>
          </p:cNvPr>
          <p:cNvSpPr txBox="1">
            <a:spLocks noChangeArrowheads="1"/>
          </p:cNvSpPr>
          <p:nvPr/>
        </p:nvSpPr>
        <p:spPr bwMode="auto">
          <a:xfrm>
            <a:off x="5233988" y="5416550"/>
            <a:ext cx="474662"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Q</a:t>
            </a:r>
          </a:p>
        </p:txBody>
      </p:sp>
      <p:grpSp>
        <p:nvGrpSpPr>
          <p:cNvPr id="96261" name="Group 6">
            <a:extLst>
              <a:ext uri="{FF2B5EF4-FFF2-40B4-BE49-F238E27FC236}">
                <a16:creationId xmlns:a16="http://schemas.microsoft.com/office/drawing/2014/main" id="{670269F7-7D29-44A0-ACFF-BAFE6BB48EEC}"/>
              </a:ext>
            </a:extLst>
          </p:cNvPr>
          <p:cNvGrpSpPr>
            <a:grpSpLocks/>
          </p:cNvGrpSpPr>
          <p:nvPr/>
        </p:nvGrpSpPr>
        <p:grpSpPr bwMode="auto">
          <a:xfrm>
            <a:off x="1614488" y="1270000"/>
            <a:ext cx="3368675" cy="4292600"/>
            <a:chOff x="0" y="0"/>
            <a:chExt cx="2122" cy="2704"/>
          </a:xfrm>
        </p:grpSpPr>
        <p:sp>
          <p:nvSpPr>
            <p:cNvPr id="96268" name="Line 7">
              <a:extLst>
                <a:ext uri="{FF2B5EF4-FFF2-40B4-BE49-F238E27FC236}">
                  <a16:creationId xmlns:a16="http://schemas.microsoft.com/office/drawing/2014/main" id="{07A6D9AE-604D-4DF0-8E0D-5025E01DD7DD}"/>
                </a:ext>
              </a:extLst>
            </p:cNvPr>
            <p:cNvSpPr>
              <a:spLocks noChangeShapeType="1"/>
            </p:cNvSpPr>
            <p:nvPr/>
          </p:nvSpPr>
          <p:spPr bwMode="auto">
            <a:xfrm flipV="1">
              <a:off x="18" y="0"/>
              <a:ext cx="0" cy="514"/>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9" name="Line 8">
              <a:extLst>
                <a:ext uri="{FF2B5EF4-FFF2-40B4-BE49-F238E27FC236}">
                  <a16:creationId xmlns:a16="http://schemas.microsoft.com/office/drawing/2014/main" id="{A6FAB8B4-BC41-4BA8-9228-8D7158717E49}"/>
                </a:ext>
              </a:extLst>
            </p:cNvPr>
            <p:cNvSpPr>
              <a:spLocks noChangeShapeType="1"/>
            </p:cNvSpPr>
            <p:nvPr/>
          </p:nvSpPr>
          <p:spPr bwMode="auto">
            <a:xfrm>
              <a:off x="0" y="509"/>
              <a:ext cx="539"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0" name="Line 9">
              <a:extLst>
                <a:ext uri="{FF2B5EF4-FFF2-40B4-BE49-F238E27FC236}">
                  <a16:creationId xmlns:a16="http://schemas.microsoft.com/office/drawing/2014/main" id="{495904A7-D920-4903-8679-388DDC383CAE}"/>
                </a:ext>
              </a:extLst>
            </p:cNvPr>
            <p:cNvSpPr>
              <a:spLocks noChangeShapeType="1"/>
            </p:cNvSpPr>
            <p:nvPr/>
          </p:nvSpPr>
          <p:spPr bwMode="auto">
            <a:xfrm flipV="1">
              <a:off x="2122" y="1771"/>
              <a:ext cx="0" cy="933"/>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1" name="Line 10">
              <a:extLst>
                <a:ext uri="{FF2B5EF4-FFF2-40B4-BE49-F238E27FC236}">
                  <a16:creationId xmlns:a16="http://schemas.microsoft.com/office/drawing/2014/main" id="{66A3EFE8-08B6-4AA9-8AF4-2DA48AFBEB4D}"/>
                </a:ext>
              </a:extLst>
            </p:cNvPr>
            <p:cNvSpPr>
              <a:spLocks noChangeShapeType="1"/>
            </p:cNvSpPr>
            <p:nvPr/>
          </p:nvSpPr>
          <p:spPr bwMode="auto">
            <a:xfrm flipV="1">
              <a:off x="1588" y="1396"/>
              <a:ext cx="0" cy="397"/>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2" name="Line 11">
              <a:extLst>
                <a:ext uri="{FF2B5EF4-FFF2-40B4-BE49-F238E27FC236}">
                  <a16:creationId xmlns:a16="http://schemas.microsoft.com/office/drawing/2014/main" id="{E1FBCB5F-5527-4370-9437-65746E82F69E}"/>
                </a:ext>
              </a:extLst>
            </p:cNvPr>
            <p:cNvSpPr>
              <a:spLocks noChangeShapeType="1"/>
            </p:cNvSpPr>
            <p:nvPr/>
          </p:nvSpPr>
          <p:spPr bwMode="auto">
            <a:xfrm>
              <a:off x="1570" y="1789"/>
              <a:ext cx="55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3" name="Line 12">
              <a:extLst>
                <a:ext uri="{FF2B5EF4-FFF2-40B4-BE49-F238E27FC236}">
                  <a16:creationId xmlns:a16="http://schemas.microsoft.com/office/drawing/2014/main" id="{7E89535D-E718-47DF-885C-946A0C330DE8}"/>
                </a:ext>
              </a:extLst>
            </p:cNvPr>
            <p:cNvSpPr>
              <a:spLocks noChangeShapeType="1"/>
            </p:cNvSpPr>
            <p:nvPr/>
          </p:nvSpPr>
          <p:spPr bwMode="auto">
            <a:xfrm flipV="1">
              <a:off x="1066" y="861"/>
              <a:ext cx="0" cy="557"/>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4" name="Line 13">
              <a:extLst>
                <a:ext uri="{FF2B5EF4-FFF2-40B4-BE49-F238E27FC236}">
                  <a16:creationId xmlns:a16="http://schemas.microsoft.com/office/drawing/2014/main" id="{D6330553-BD32-4EE4-8142-A300FC87227C}"/>
                </a:ext>
              </a:extLst>
            </p:cNvPr>
            <p:cNvSpPr>
              <a:spLocks noChangeShapeType="1"/>
            </p:cNvSpPr>
            <p:nvPr/>
          </p:nvSpPr>
          <p:spPr bwMode="auto">
            <a:xfrm>
              <a:off x="1048" y="1413"/>
              <a:ext cx="539"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5" name="Line 14">
              <a:extLst>
                <a:ext uri="{FF2B5EF4-FFF2-40B4-BE49-F238E27FC236}">
                  <a16:creationId xmlns:a16="http://schemas.microsoft.com/office/drawing/2014/main" id="{9841816E-0E4C-45CC-BBF1-BD35A18152A1}"/>
                </a:ext>
              </a:extLst>
            </p:cNvPr>
            <p:cNvSpPr>
              <a:spLocks noChangeShapeType="1"/>
            </p:cNvSpPr>
            <p:nvPr/>
          </p:nvSpPr>
          <p:spPr bwMode="auto">
            <a:xfrm flipV="1">
              <a:off x="537" y="491"/>
              <a:ext cx="0" cy="391"/>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76" name="Line 15">
              <a:extLst>
                <a:ext uri="{FF2B5EF4-FFF2-40B4-BE49-F238E27FC236}">
                  <a16:creationId xmlns:a16="http://schemas.microsoft.com/office/drawing/2014/main" id="{95CD733F-515A-4C65-9F8D-23BF51E61ADA}"/>
                </a:ext>
              </a:extLst>
            </p:cNvPr>
            <p:cNvSpPr>
              <a:spLocks noChangeShapeType="1"/>
            </p:cNvSpPr>
            <p:nvPr/>
          </p:nvSpPr>
          <p:spPr bwMode="auto">
            <a:xfrm>
              <a:off x="519" y="878"/>
              <a:ext cx="547"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664" name="Rectangle 22">
            <a:extLst>
              <a:ext uri="{FF2B5EF4-FFF2-40B4-BE49-F238E27FC236}">
                <a16:creationId xmlns:a16="http://schemas.microsoft.com/office/drawing/2014/main" id="{9761B911-FCB1-40BD-AFCB-FD3DC27C06B0}"/>
              </a:ext>
            </a:extLst>
          </p:cNvPr>
          <p:cNvSpPr>
            <a:spLocks noChangeArrowheads="1"/>
          </p:cNvSpPr>
          <p:nvPr/>
        </p:nvSpPr>
        <p:spPr bwMode="auto">
          <a:xfrm>
            <a:off x="5305425" y="1863725"/>
            <a:ext cx="2709863" cy="2384425"/>
          </a:xfrm>
          <a:prstGeom prst="rect">
            <a:avLst/>
          </a:prstGeom>
          <a:solidFill>
            <a:srgbClr val="FFFF99"/>
          </a:solidFill>
          <a:ln w="19050">
            <a:solidFill>
              <a:srgbClr val="FFFF00"/>
            </a:solidFill>
            <a:miter lim="800000"/>
            <a:headEnd/>
            <a:tailEnd/>
          </a:ln>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40000"/>
              </a:spcBef>
              <a:buClr>
                <a:srgbClr val="00B85C"/>
              </a:buClr>
              <a:buSzPct val="120000"/>
              <a:buFont typeface="Wingdings" panose="05000000000000000000" pitchFamily="2" charset="2"/>
              <a:buNone/>
            </a:pPr>
            <a:r>
              <a:rPr lang="zh-CN" altLang="en-US" b="0" dirty="0">
                <a:latin typeface="Arial" panose="020B0604020202020204" pitchFamily="34" charset="0"/>
              </a:rPr>
              <a:t>总结：总消费者剩余等于需求曲线以下和价格以上的面积</a:t>
            </a:r>
            <a:endParaRPr lang="en-US" altLang="zh-CN" b="0" dirty="0">
              <a:latin typeface="Arial" panose="020B0604020202020204" pitchFamily="34" charset="0"/>
            </a:endParaRPr>
          </a:p>
        </p:txBody>
      </p:sp>
      <p:sp>
        <p:nvSpPr>
          <p:cNvPr id="96263" name="Line 23">
            <a:extLst>
              <a:ext uri="{FF2B5EF4-FFF2-40B4-BE49-F238E27FC236}">
                <a16:creationId xmlns:a16="http://schemas.microsoft.com/office/drawing/2014/main" id="{099CACC3-2A23-4F23-B465-D825F255FA16}"/>
              </a:ext>
            </a:extLst>
          </p:cNvPr>
          <p:cNvSpPr>
            <a:spLocks noChangeShapeType="1"/>
          </p:cNvSpPr>
          <p:nvPr/>
        </p:nvSpPr>
        <p:spPr bwMode="auto">
          <a:xfrm>
            <a:off x="1638300" y="3049588"/>
            <a:ext cx="1666875"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4" name="Rectangle 24">
            <a:extLst>
              <a:ext uri="{FF2B5EF4-FFF2-40B4-BE49-F238E27FC236}">
                <a16:creationId xmlns:a16="http://schemas.microsoft.com/office/drawing/2014/main" id="{7E2116EA-14F2-4D3E-A932-9FDDA5F67C01}"/>
              </a:ext>
            </a:extLst>
          </p:cNvPr>
          <p:cNvSpPr>
            <a:spLocks noChangeArrowheads="1"/>
          </p:cNvSpPr>
          <p:nvPr/>
        </p:nvSpPr>
        <p:spPr bwMode="auto">
          <a:xfrm>
            <a:off x="1644650" y="2106613"/>
            <a:ext cx="792163" cy="931862"/>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96265" name="Line 25">
            <a:extLst>
              <a:ext uri="{FF2B5EF4-FFF2-40B4-BE49-F238E27FC236}">
                <a16:creationId xmlns:a16="http://schemas.microsoft.com/office/drawing/2014/main" id="{5F946027-B09B-46B7-8302-E6C7EFBFAB56}"/>
              </a:ext>
            </a:extLst>
          </p:cNvPr>
          <p:cNvSpPr>
            <a:spLocks noChangeShapeType="1"/>
          </p:cNvSpPr>
          <p:nvPr/>
        </p:nvSpPr>
        <p:spPr bwMode="auto">
          <a:xfrm>
            <a:off x="855663" y="2965450"/>
            <a:ext cx="728662" cy="77788"/>
          </a:xfrm>
          <a:prstGeom prst="line">
            <a:avLst/>
          </a:prstGeom>
          <a:noFill/>
          <a:ln w="38100">
            <a:solidFill>
              <a:srgbClr val="0000FF"/>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96266" name="Rectangle 26">
            <a:extLst>
              <a:ext uri="{FF2B5EF4-FFF2-40B4-BE49-F238E27FC236}">
                <a16:creationId xmlns:a16="http://schemas.microsoft.com/office/drawing/2014/main" id="{3F42C381-3C1D-47C4-A272-6DCF357D3C4B}"/>
              </a:ext>
            </a:extLst>
          </p:cNvPr>
          <p:cNvSpPr>
            <a:spLocks noChangeArrowheads="1"/>
          </p:cNvSpPr>
          <p:nvPr/>
        </p:nvSpPr>
        <p:spPr bwMode="auto">
          <a:xfrm>
            <a:off x="2436813" y="2692400"/>
            <a:ext cx="849312" cy="346075"/>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96267" name="Title 1">
            <a:extLst>
              <a:ext uri="{FF2B5EF4-FFF2-40B4-BE49-F238E27FC236}">
                <a16:creationId xmlns:a16="http://schemas.microsoft.com/office/drawing/2014/main" id="{CA0A9A39-334A-4FE3-BE4C-76208258BB2A}"/>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消费者剩余与需求曲线</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664"/>
                                        </p:tgtEl>
                                        <p:attrNameLst>
                                          <p:attrName>style.visibility</p:attrName>
                                        </p:attrNameLst>
                                      </p:cBhvr>
                                      <p:to>
                                        <p:strVal val="visible"/>
                                      </p:to>
                                    </p:set>
                                    <p:animEffect transition="in" filter="dissolve">
                                      <p:cBhvr>
                                        <p:cTn id="7" dur="500"/>
                                        <p:tgtEl>
                                          <p:spTgt spid="276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4" grpId="0" bldLvl="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092650D-454A-4577-8170-941A00FF53E5}"/>
              </a:ext>
            </a:extLst>
          </p:cNvPr>
          <p:cNvGrpSpPr>
            <a:grpSpLocks/>
          </p:cNvGrpSpPr>
          <p:nvPr/>
        </p:nvGrpSpPr>
        <p:grpSpPr bwMode="auto">
          <a:xfrm>
            <a:off x="3690938" y="1009650"/>
            <a:ext cx="5076825" cy="5295900"/>
            <a:chOff x="0" y="0"/>
            <a:chExt cx="3198" cy="3336"/>
          </a:xfrm>
        </p:grpSpPr>
        <p:grpSp>
          <p:nvGrpSpPr>
            <p:cNvPr id="98325" name="Group 3">
              <a:extLst>
                <a:ext uri="{FF2B5EF4-FFF2-40B4-BE49-F238E27FC236}">
                  <a16:creationId xmlns:a16="http://schemas.microsoft.com/office/drawing/2014/main" id="{EFCE2A08-ADC3-4DFA-860F-56B73108EF34}"/>
                </a:ext>
              </a:extLst>
            </p:cNvPr>
            <p:cNvGrpSpPr>
              <a:grpSpLocks/>
            </p:cNvGrpSpPr>
            <p:nvPr/>
          </p:nvGrpSpPr>
          <p:grpSpPr bwMode="auto">
            <a:xfrm>
              <a:off x="61" y="0"/>
              <a:ext cx="3137" cy="3336"/>
              <a:chOff x="0" y="0"/>
              <a:chExt cx="3137" cy="3336"/>
            </a:xfrm>
          </p:grpSpPr>
          <p:graphicFrame>
            <p:nvGraphicFramePr>
              <p:cNvPr id="98327" name="Object 3">
                <a:extLst>
                  <a:ext uri="{FF2B5EF4-FFF2-40B4-BE49-F238E27FC236}">
                    <a16:creationId xmlns:a16="http://schemas.microsoft.com/office/drawing/2014/main" id="{54650FB3-26AF-45E1-B94B-36FCCB03CFC8}"/>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11286" r:id="rId4" imgW="3061080" imgH="3274920" progId="Excel.Chart.8">
                      <p:embed/>
                    </p:oleObj>
                  </mc:Choice>
                  <mc:Fallback>
                    <p:oleObj r:id="rId4" imgW="3061080" imgH="3274920" progId="Excel.Chart.8">
                      <p:embed/>
                      <p:pic>
                        <p:nvPicPr>
                          <p:cNvPr id="98327" name="Object 3">
                            <a:extLst>
                              <a:ext uri="{FF2B5EF4-FFF2-40B4-BE49-F238E27FC236}">
                                <a16:creationId xmlns:a16="http://schemas.microsoft.com/office/drawing/2014/main" id="{54650FB3-26AF-45E1-B94B-36FCCB03CF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328" name="Rectangle 4">
                <a:extLst>
                  <a:ext uri="{FF2B5EF4-FFF2-40B4-BE49-F238E27FC236}">
                    <a16:creationId xmlns:a16="http://schemas.microsoft.com/office/drawing/2014/main" id="{E20C9E5A-F0E4-4732-8490-392D3FFDFB1B}"/>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98329" name="Rectangle 5">
                <a:extLst>
                  <a:ext uri="{FF2B5EF4-FFF2-40B4-BE49-F238E27FC236}">
                    <a16:creationId xmlns:a16="http://schemas.microsoft.com/office/drawing/2014/main" id="{2361F4CC-EB80-490A-9AB6-C7E785B612FC}"/>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sp>
          <p:nvSpPr>
            <p:cNvPr id="98326" name="Text Box 24">
              <a:extLst>
                <a:ext uri="{FF2B5EF4-FFF2-40B4-BE49-F238E27FC236}">
                  <a16:creationId xmlns:a16="http://schemas.microsoft.com/office/drawing/2014/main" id="{A5463652-4C3C-4911-B722-213BFF3D6A4E}"/>
                </a:ext>
              </a:extLst>
            </p:cNvPr>
            <p:cNvSpPr txBox="1">
              <a:spLocks noChangeArrowheads="1"/>
            </p:cNvSpPr>
            <p:nvPr/>
          </p:nvSpPr>
          <p:spPr bwMode="auto">
            <a:xfrm>
              <a:off x="0" y="416"/>
              <a:ext cx="27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500" b="0">
                  <a:latin typeface="Arial" panose="020B0604020202020204" pitchFamily="34" charset="0"/>
                </a:rPr>
                <a:t>$</a:t>
              </a:r>
            </a:p>
          </p:txBody>
        </p:sp>
      </p:grpSp>
      <p:sp>
        <p:nvSpPr>
          <p:cNvPr id="29705" name="Text Box 8">
            <a:extLst>
              <a:ext uri="{FF2B5EF4-FFF2-40B4-BE49-F238E27FC236}">
                <a16:creationId xmlns:a16="http://schemas.microsoft.com/office/drawing/2014/main" id="{FDB370D9-5FE5-4952-A405-91CAB06D910B}"/>
              </a:ext>
            </a:extLst>
          </p:cNvPr>
          <p:cNvSpPr txBox="1">
            <a:spLocks noChangeArrowheads="1"/>
          </p:cNvSpPr>
          <p:nvPr/>
        </p:nvSpPr>
        <p:spPr bwMode="auto">
          <a:xfrm>
            <a:off x="5435600" y="1773238"/>
            <a:ext cx="3470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b="0">
                <a:latin typeface="Arial" panose="020B0604020202020204" pitchFamily="34" charset="0"/>
              </a:rPr>
              <a:t>对鞋的需求</a:t>
            </a:r>
            <a:endParaRPr lang="en-US" altLang="zh-CN" b="0">
              <a:latin typeface="Arial" panose="020B0604020202020204" pitchFamily="34" charset="0"/>
            </a:endParaRPr>
          </a:p>
        </p:txBody>
      </p:sp>
      <p:grpSp>
        <p:nvGrpSpPr>
          <p:cNvPr id="4" name="Group 10">
            <a:extLst>
              <a:ext uri="{FF2B5EF4-FFF2-40B4-BE49-F238E27FC236}">
                <a16:creationId xmlns:a16="http://schemas.microsoft.com/office/drawing/2014/main" id="{623AA0C6-CDEB-482F-88AB-7B316C2FBBE3}"/>
              </a:ext>
            </a:extLst>
          </p:cNvPr>
          <p:cNvGrpSpPr>
            <a:grpSpLocks/>
          </p:cNvGrpSpPr>
          <p:nvPr/>
        </p:nvGrpSpPr>
        <p:grpSpPr bwMode="auto">
          <a:xfrm>
            <a:off x="4583113" y="1887538"/>
            <a:ext cx="3438525" cy="3495675"/>
            <a:chOff x="0" y="0"/>
            <a:chExt cx="2166" cy="2202"/>
          </a:xfrm>
        </p:grpSpPr>
        <p:sp>
          <p:nvSpPr>
            <p:cNvPr id="98323" name="Line 10">
              <a:extLst>
                <a:ext uri="{FF2B5EF4-FFF2-40B4-BE49-F238E27FC236}">
                  <a16:creationId xmlns:a16="http://schemas.microsoft.com/office/drawing/2014/main" id="{EB9DDFEB-D2D3-46FA-8A7C-9E29D9D87DA8}"/>
                </a:ext>
              </a:extLst>
            </p:cNvPr>
            <p:cNvSpPr>
              <a:spLocks noChangeShapeType="1"/>
            </p:cNvSpPr>
            <p:nvPr/>
          </p:nvSpPr>
          <p:spPr bwMode="auto">
            <a:xfrm>
              <a:off x="0" y="0"/>
              <a:ext cx="1901" cy="1990"/>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24" name="Rectangle 11">
              <a:extLst>
                <a:ext uri="{FF2B5EF4-FFF2-40B4-BE49-F238E27FC236}">
                  <a16:creationId xmlns:a16="http://schemas.microsoft.com/office/drawing/2014/main" id="{C4956E8A-9315-4763-8F05-836B53525CD3}"/>
                </a:ext>
              </a:extLst>
            </p:cNvPr>
            <p:cNvSpPr>
              <a:spLocks noChangeArrowheads="1"/>
            </p:cNvSpPr>
            <p:nvPr/>
          </p:nvSpPr>
          <p:spPr bwMode="auto">
            <a:xfrm>
              <a:off x="1861" y="1885"/>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D</a:t>
              </a:r>
            </a:p>
          </p:txBody>
        </p:sp>
      </p:grpSp>
      <p:grpSp>
        <p:nvGrpSpPr>
          <p:cNvPr id="5" name="Group 13">
            <a:extLst>
              <a:ext uri="{FF2B5EF4-FFF2-40B4-BE49-F238E27FC236}">
                <a16:creationId xmlns:a16="http://schemas.microsoft.com/office/drawing/2014/main" id="{33B3B3B3-FAEC-4C64-B79A-AF4D72D47E2C}"/>
              </a:ext>
            </a:extLst>
          </p:cNvPr>
          <p:cNvGrpSpPr>
            <a:grpSpLocks/>
          </p:cNvGrpSpPr>
          <p:nvPr/>
        </p:nvGrpSpPr>
        <p:grpSpPr bwMode="auto">
          <a:xfrm>
            <a:off x="7235825" y="3933825"/>
            <a:ext cx="1485900" cy="1295400"/>
            <a:chOff x="572" y="-22"/>
            <a:chExt cx="1408" cy="1215"/>
          </a:xfrm>
        </p:grpSpPr>
        <p:sp>
          <p:nvSpPr>
            <p:cNvPr id="98321" name="Text Box 13">
              <a:extLst>
                <a:ext uri="{FF2B5EF4-FFF2-40B4-BE49-F238E27FC236}">
                  <a16:creationId xmlns:a16="http://schemas.microsoft.com/office/drawing/2014/main" id="{34F68971-D8E7-47C4-87AE-A28F9B9B6A95}"/>
                </a:ext>
              </a:extLst>
            </p:cNvPr>
            <p:cNvSpPr txBox="1">
              <a:spLocks noChangeArrowheads="1"/>
            </p:cNvSpPr>
            <p:nvPr/>
          </p:nvSpPr>
          <p:spPr bwMode="auto">
            <a:xfrm>
              <a:off x="572" y="-22"/>
              <a:ext cx="1408" cy="453"/>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千双</a:t>
              </a:r>
              <a:endParaRPr lang="en-US" altLang="zh-CN" sz="2500" b="0">
                <a:latin typeface="Arial" panose="020B0604020202020204" pitchFamily="34" charset="0"/>
              </a:endParaRPr>
            </a:p>
          </p:txBody>
        </p:sp>
        <p:sp>
          <p:nvSpPr>
            <p:cNvPr id="98322" name="Line 14">
              <a:extLst>
                <a:ext uri="{FF2B5EF4-FFF2-40B4-BE49-F238E27FC236}">
                  <a16:creationId xmlns:a16="http://schemas.microsoft.com/office/drawing/2014/main" id="{03EFBF5F-8428-4121-BF86-C1E327066807}"/>
                </a:ext>
              </a:extLst>
            </p:cNvPr>
            <p:cNvSpPr>
              <a:spLocks noChangeShapeType="1"/>
            </p:cNvSpPr>
            <p:nvPr/>
          </p:nvSpPr>
          <p:spPr bwMode="auto">
            <a:xfrm>
              <a:off x="1459" y="518"/>
              <a:ext cx="341" cy="675"/>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16">
            <a:extLst>
              <a:ext uri="{FF2B5EF4-FFF2-40B4-BE49-F238E27FC236}">
                <a16:creationId xmlns:a16="http://schemas.microsoft.com/office/drawing/2014/main" id="{C9721A9A-D008-4595-9EB1-232AFB4C427E}"/>
              </a:ext>
            </a:extLst>
          </p:cNvPr>
          <p:cNvGrpSpPr>
            <a:grpSpLocks/>
          </p:cNvGrpSpPr>
          <p:nvPr/>
        </p:nvGrpSpPr>
        <p:grpSpPr bwMode="auto">
          <a:xfrm>
            <a:off x="2195513" y="1341438"/>
            <a:ext cx="2079625" cy="863600"/>
            <a:chOff x="-45" y="136"/>
            <a:chExt cx="1309" cy="544"/>
          </a:xfrm>
        </p:grpSpPr>
        <p:sp>
          <p:nvSpPr>
            <p:cNvPr id="98319" name="Line 16">
              <a:extLst>
                <a:ext uri="{FF2B5EF4-FFF2-40B4-BE49-F238E27FC236}">
                  <a16:creationId xmlns:a16="http://schemas.microsoft.com/office/drawing/2014/main" id="{54565339-4D0C-47C4-A59E-4E2EAE2CBF3A}"/>
                </a:ext>
              </a:extLst>
            </p:cNvPr>
            <p:cNvSpPr>
              <a:spLocks noChangeShapeType="1"/>
            </p:cNvSpPr>
            <p:nvPr/>
          </p:nvSpPr>
          <p:spPr bwMode="auto">
            <a:xfrm flipV="1">
              <a:off x="711" y="204"/>
              <a:ext cx="553" cy="105"/>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98320" name="Text Box 17">
              <a:extLst>
                <a:ext uri="{FF2B5EF4-FFF2-40B4-BE49-F238E27FC236}">
                  <a16:creationId xmlns:a16="http://schemas.microsoft.com/office/drawing/2014/main" id="{53B72B90-D5A5-42CF-9678-CE444FCDD67B}"/>
                </a:ext>
              </a:extLst>
            </p:cNvPr>
            <p:cNvSpPr txBox="1">
              <a:spLocks noChangeArrowheads="1"/>
            </p:cNvSpPr>
            <p:nvPr/>
          </p:nvSpPr>
          <p:spPr bwMode="auto">
            <a:xfrm>
              <a:off x="-45" y="136"/>
              <a:ext cx="899" cy="54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每双鞋的价格</a:t>
              </a:r>
              <a:endParaRPr lang="en-US" altLang="zh-CN" sz="2500" b="0">
                <a:latin typeface="Arial" panose="020B0604020202020204" pitchFamily="34" charset="0"/>
              </a:endParaRPr>
            </a:p>
          </p:txBody>
        </p:sp>
      </p:grpSp>
      <p:sp>
        <p:nvSpPr>
          <p:cNvPr id="29715" name="Rectangle 7">
            <a:extLst>
              <a:ext uri="{FF2B5EF4-FFF2-40B4-BE49-F238E27FC236}">
                <a16:creationId xmlns:a16="http://schemas.microsoft.com/office/drawing/2014/main" id="{9DAE43B7-F0E5-49B3-A0E3-12DBF777228B}"/>
              </a:ext>
            </a:extLst>
          </p:cNvPr>
          <p:cNvSpPr>
            <a:spLocks noGrp="1" noChangeArrowheads="1"/>
          </p:cNvSpPr>
          <p:nvPr>
            <p:ph type="body" idx="4294967295"/>
          </p:nvPr>
        </p:nvSpPr>
        <p:spPr>
          <a:xfrm>
            <a:off x="395288" y="2420938"/>
            <a:ext cx="3178175" cy="3024187"/>
          </a:xfrm>
          <a:noFill/>
        </p:spPr>
        <p:txBody>
          <a:bodyPr/>
          <a:lstStyle/>
          <a:p>
            <a:pPr marL="0" indent="0">
              <a:buFont typeface="Wingdings" panose="05000000000000000000" pitchFamily="2" charset="2"/>
              <a:buNone/>
            </a:pPr>
            <a:r>
              <a:rPr lang="zh-CN" altLang="en-US" sz="2600">
                <a:ea typeface="宋体" panose="02010600030101010101" pitchFamily="2" charset="-122"/>
              </a:rPr>
              <a:t>当</a:t>
            </a:r>
            <a:r>
              <a:rPr lang="en-US" altLang="zh-CN" sz="2600">
                <a:ea typeface="宋体" panose="02010600030101010101" pitchFamily="2" charset="-122"/>
              </a:rPr>
              <a:t> </a:t>
            </a:r>
            <a:r>
              <a:rPr lang="zh-CN" altLang="ja-JP" sz="2600" i="1">
                <a:ea typeface="宋体" panose="02010600030101010101" pitchFamily="2" charset="-122"/>
              </a:rPr>
              <a:t>Q</a:t>
            </a:r>
            <a:r>
              <a:rPr lang="zh-CN" altLang="ja-JP" sz="2600">
                <a:ea typeface="宋体" panose="02010600030101010101" pitchFamily="2" charset="-122"/>
              </a:rPr>
              <a:t> = 5(</a:t>
            </a:r>
            <a:r>
              <a:rPr lang="zh-CN" altLang="en-US" sz="2600">
                <a:ea typeface="宋体" panose="02010600030101010101" pitchFamily="2" charset="-122"/>
              </a:rPr>
              <a:t>千双</a:t>
            </a:r>
            <a:r>
              <a:rPr lang="zh-CN" altLang="ja-JP" sz="2600">
                <a:ea typeface="宋体" panose="02010600030101010101" pitchFamily="2" charset="-122"/>
              </a:rPr>
              <a:t>), </a:t>
            </a:r>
            <a:r>
              <a:rPr lang="zh-CN" altLang="en-US" sz="2600">
                <a:ea typeface="宋体" panose="02010600030101010101" pitchFamily="2" charset="-122"/>
              </a:rPr>
              <a:t>边际买者为每双鞋的支付意愿是</a:t>
            </a:r>
            <a:r>
              <a:rPr lang="zh-CN" altLang="ja-JP" sz="2600">
                <a:ea typeface="宋体" panose="02010600030101010101" pitchFamily="2" charset="-122"/>
              </a:rPr>
              <a:t>50</a:t>
            </a:r>
          </a:p>
          <a:p>
            <a:pPr marL="0" indent="0">
              <a:buFont typeface="Wingdings" panose="05000000000000000000" pitchFamily="2" charset="2"/>
              <a:buNone/>
            </a:pPr>
            <a:r>
              <a:rPr lang="zh-CN" altLang="en-US" sz="2600">
                <a:ea typeface="宋体" panose="02010600030101010101" pitchFamily="2" charset="-122"/>
              </a:rPr>
              <a:t>如果</a:t>
            </a:r>
            <a:r>
              <a:rPr lang="en-US" altLang="zh-CN" sz="2600">
                <a:ea typeface="宋体" panose="02010600030101010101" pitchFamily="2" charset="-122"/>
              </a:rPr>
              <a:t> </a:t>
            </a:r>
            <a:r>
              <a:rPr lang="zh-CN" altLang="ja-JP" sz="2600" i="1">
                <a:ea typeface="宋体" panose="02010600030101010101" pitchFamily="2" charset="-122"/>
              </a:rPr>
              <a:t>P</a:t>
            </a:r>
            <a:r>
              <a:rPr lang="zh-CN" altLang="ja-JP" sz="2600">
                <a:ea typeface="宋体" panose="02010600030101010101" pitchFamily="2" charset="-122"/>
              </a:rPr>
              <a:t> = 30</a:t>
            </a:r>
          </a:p>
          <a:p>
            <a:pPr marL="0" indent="0">
              <a:buFont typeface="Wingdings" panose="05000000000000000000" pitchFamily="2" charset="2"/>
              <a:buNone/>
            </a:pPr>
            <a:r>
              <a:rPr lang="zh-CN" altLang="en-US" sz="2600">
                <a:ea typeface="宋体" panose="02010600030101010101" pitchFamily="2" charset="-122"/>
              </a:rPr>
              <a:t>他的消费者剩余</a:t>
            </a:r>
            <a:endParaRPr lang="en-US" altLang="zh-CN" sz="2600">
              <a:ea typeface="宋体" panose="02010600030101010101" pitchFamily="2" charset="-122"/>
            </a:endParaRPr>
          </a:p>
          <a:p>
            <a:pPr marL="0" indent="0">
              <a:buFont typeface="Wingdings" panose="05000000000000000000" pitchFamily="2" charset="2"/>
              <a:buNone/>
            </a:pPr>
            <a:r>
              <a:rPr lang="en-US" altLang="zh-CN" sz="2600">
                <a:ea typeface="宋体" panose="02010600030101010101" pitchFamily="2" charset="-122"/>
              </a:rPr>
              <a:t>            = 20 </a:t>
            </a:r>
          </a:p>
          <a:p>
            <a:pPr marL="0" indent="0">
              <a:buFont typeface="Wingdings" panose="05000000000000000000" pitchFamily="2" charset="2"/>
              <a:buNone/>
            </a:pPr>
            <a:endParaRPr lang="en-US" altLang="zh-CN" sz="2600">
              <a:ea typeface="宋体" panose="02010600030101010101" pitchFamily="2" charset="-122"/>
            </a:endParaRPr>
          </a:p>
        </p:txBody>
      </p:sp>
      <p:sp>
        <p:nvSpPr>
          <p:cNvPr id="29716" name="Line 18">
            <a:extLst>
              <a:ext uri="{FF2B5EF4-FFF2-40B4-BE49-F238E27FC236}">
                <a16:creationId xmlns:a16="http://schemas.microsoft.com/office/drawing/2014/main" id="{7F764B9C-74A3-41CF-A2EC-A559A7FE3FCA}"/>
              </a:ext>
            </a:extLst>
          </p:cNvPr>
          <p:cNvSpPr>
            <a:spLocks noChangeShapeType="1"/>
          </p:cNvSpPr>
          <p:nvPr/>
        </p:nvSpPr>
        <p:spPr bwMode="auto">
          <a:xfrm flipV="1">
            <a:off x="5151438" y="2486025"/>
            <a:ext cx="0" cy="2957513"/>
          </a:xfrm>
          <a:prstGeom prst="line">
            <a:avLst/>
          </a:prstGeom>
          <a:noFill/>
          <a:ln w="38100">
            <a:solidFill>
              <a:srgbClr val="00CC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29717" name="Line 20">
            <a:extLst>
              <a:ext uri="{FF2B5EF4-FFF2-40B4-BE49-F238E27FC236}">
                <a16:creationId xmlns:a16="http://schemas.microsoft.com/office/drawing/2014/main" id="{2DD71D42-5398-4C39-972F-02762F55CD34}"/>
              </a:ext>
            </a:extLst>
          </p:cNvPr>
          <p:cNvSpPr>
            <a:spLocks noChangeShapeType="1"/>
          </p:cNvSpPr>
          <p:nvPr/>
        </p:nvSpPr>
        <p:spPr bwMode="auto">
          <a:xfrm flipV="1">
            <a:off x="5172075" y="2484438"/>
            <a:ext cx="0" cy="1185862"/>
          </a:xfrm>
          <a:prstGeom prst="line">
            <a:avLst/>
          </a:prstGeom>
          <a:noFill/>
          <a:ln w="38100">
            <a:solidFill>
              <a:srgbClr val="FF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zh-CN" altLang="en-US"/>
          </a:p>
        </p:txBody>
      </p:sp>
      <p:grpSp>
        <p:nvGrpSpPr>
          <p:cNvPr id="7" name="Group 22">
            <a:extLst>
              <a:ext uri="{FF2B5EF4-FFF2-40B4-BE49-F238E27FC236}">
                <a16:creationId xmlns:a16="http://schemas.microsoft.com/office/drawing/2014/main" id="{F723F0CA-E639-4843-8867-CDCEB0786F7E}"/>
              </a:ext>
            </a:extLst>
          </p:cNvPr>
          <p:cNvGrpSpPr>
            <a:grpSpLocks/>
          </p:cNvGrpSpPr>
          <p:nvPr/>
        </p:nvGrpSpPr>
        <p:grpSpPr bwMode="auto">
          <a:xfrm>
            <a:off x="3881438" y="3475038"/>
            <a:ext cx="2398712" cy="393700"/>
            <a:chOff x="0" y="0"/>
            <a:chExt cx="1511" cy="248"/>
          </a:xfrm>
        </p:grpSpPr>
        <p:sp>
          <p:nvSpPr>
            <p:cNvPr id="98317" name="Line 19">
              <a:extLst>
                <a:ext uri="{FF2B5EF4-FFF2-40B4-BE49-F238E27FC236}">
                  <a16:creationId xmlns:a16="http://schemas.microsoft.com/office/drawing/2014/main" id="{EA15EBD4-0828-448C-8237-F74078E3A4A2}"/>
                </a:ext>
              </a:extLst>
            </p:cNvPr>
            <p:cNvSpPr>
              <a:spLocks noChangeShapeType="1"/>
            </p:cNvSpPr>
            <p:nvPr/>
          </p:nvSpPr>
          <p:spPr bwMode="auto">
            <a:xfrm>
              <a:off x="326" y="122"/>
              <a:ext cx="1185"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8" name="Rectangle 21">
              <a:extLst>
                <a:ext uri="{FF2B5EF4-FFF2-40B4-BE49-F238E27FC236}">
                  <a16:creationId xmlns:a16="http://schemas.microsoft.com/office/drawing/2014/main" id="{8BD4FC34-3DCB-4FFA-B3F2-3B9AA7BC844C}"/>
                </a:ext>
              </a:extLst>
            </p:cNvPr>
            <p:cNvSpPr>
              <a:spLocks noChangeArrowheads="1"/>
            </p:cNvSpPr>
            <p:nvPr/>
          </p:nvSpPr>
          <p:spPr bwMode="auto">
            <a:xfrm>
              <a:off x="0" y="0"/>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sp>
        <p:nvSpPr>
          <p:cNvPr id="29721" name="Line 23">
            <a:extLst>
              <a:ext uri="{FF2B5EF4-FFF2-40B4-BE49-F238E27FC236}">
                <a16:creationId xmlns:a16="http://schemas.microsoft.com/office/drawing/2014/main" id="{176D3355-CBEA-469E-BDE1-BAD27EA590D2}"/>
              </a:ext>
            </a:extLst>
          </p:cNvPr>
          <p:cNvSpPr>
            <a:spLocks noChangeShapeType="1"/>
          </p:cNvSpPr>
          <p:nvPr/>
        </p:nvSpPr>
        <p:spPr bwMode="auto">
          <a:xfrm>
            <a:off x="4586288" y="2484438"/>
            <a:ext cx="573087" cy="0"/>
          </a:xfrm>
          <a:prstGeom prst="line">
            <a:avLst/>
          </a:prstGeom>
          <a:noFill/>
          <a:ln w="12700">
            <a:solidFill>
              <a:srgbClr val="3333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6" name="Title 1">
            <a:extLst>
              <a:ext uri="{FF2B5EF4-FFF2-40B4-BE49-F238E27FC236}">
                <a16:creationId xmlns:a16="http://schemas.microsoft.com/office/drawing/2014/main" id="{A067389B-B632-4430-99A9-AC1E41504F4D}"/>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消费者剩余与需求曲线</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5"/>
                                        </p:tgtEl>
                                        <p:attrNameLst>
                                          <p:attrName>style.visibility</p:attrName>
                                        </p:attrNameLst>
                                      </p:cBhvr>
                                      <p:to>
                                        <p:strVal val="visible"/>
                                      </p:to>
                                    </p:set>
                                    <p:animEffect transition="in" filter="wipe(left)">
                                      <p:cBhvr>
                                        <p:cTn id="7" dur="500"/>
                                        <p:tgtEl>
                                          <p:spTgt spid="29705"/>
                                        </p:tgtEl>
                                      </p:cBhvr>
                                    </p:animEffect>
                                  </p:childTnLst>
                                </p:cTn>
                              </p:par>
                              <p:par>
                                <p:cTn id="8" presetID="18" presetClass="entr" presetSubtype="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trips(downRight)">
                                      <p:cBhvr>
                                        <p:cTn id="10" dur="500"/>
                                        <p:tgtEl>
                                          <p:spTgt spid="2"/>
                                        </p:tgtEl>
                                      </p:cBhvr>
                                    </p:animEffect>
                                  </p:childTnLst>
                                </p:cTn>
                              </p:par>
                            </p:childTnLst>
                          </p:cTn>
                        </p:par>
                        <p:par>
                          <p:cTn id="11" fill="hold" nodeType="afterGroup">
                            <p:stCondLst>
                              <p:cond delay="500"/>
                            </p:stCondLst>
                            <p:childTnLst>
                              <p:par>
                                <p:cTn id="12" presetID="9"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dissolve">
                                      <p:cBhvr>
                                        <p:cTn id="14" dur="500"/>
                                        <p:tgtEl>
                                          <p:spTgt spid="6"/>
                                        </p:tgtEl>
                                      </p:cBhvr>
                                    </p:animEffect>
                                  </p:childTnLst>
                                </p:cTn>
                              </p:par>
                              <p:par>
                                <p:cTn id="15" presetID="9"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par>
                                <p:cTn id="23" presetID="9" presetClass="exit" presetSubtype="0" fill="hold" nodeType="withEffect">
                                  <p:stCondLst>
                                    <p:cond delay="0"/>
                                  </p:stCondLst>
                                  <p:childTnLst>
                                    <p:animEffect transition="out" filter="dissolve">
                                      <p:cBhvr>
                                        <p:cTn id="24" dur="500"/>
                                        <p:tgtEl>
                                          <p:spTgt spid="5"/>
                                        </p:tgtEl>
                                      </p:cBhvr>
                                    </p:animEffect>
                                    <p:set>
                                      <p:cBhvr>
                                        <p:cTn id="25" dur="1" fill="hold">
                                          <p:stCondLst>
                                            <p:cond delay="499"/>
                                          </p:stCondLst>
                                        </p:cTn>
                                        <p:tgtEl>
                                          <p:spTgt spid="5"/>
                                        </p:tgtEl>
                                        <p:attrNameLst>
                                          <p:attrName>style.visibility</p:attrName>
                                        </p:attrNameLst>
                                      </p:cBhvr>
                                      <p:to>
                                        <p:strVal val="hidden"/>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8" presetClass="entr" presetSubtype="6"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strips(downRight)">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9715">
                                            <p:txEl>
                                              <p:pRg st="0" end="0"/>
                                            </p:txEl>
                                          </p:spTgt>
                                        </p:tgtEl>
                                        <p:attrNameLst>
                                          <p:attrName>style.visibility</p:attrName>
                                        </p:attrNameLst>
                                      </p:cBhvr>
                                      <p:to>
                                        <p:strVal val="visible"/>
                                      </p:to>
                                    </p:set>
                                    <p:animEffect transition="in" filter="wipe(left)">
                                      <p:cBhvr>
                                        <p:cTn id="35" dur="500"/>
                                        <p:tgtEl>
                                          <p:spTgt spid="29715">
                                            <p:txEl>
                                              <p:pRg st="0" end="0"/>
                                            </p:txEl>
                                          </p:spTgt>
                                        </p:tgtEl>
                                      </p:cBhvr>
                                    </p:animEffect>
                                  </p:childTnLst>
                                </p:cTn>
                              </p:par>
                            </p:childTnLst>
                          </p:cTn>
                        </p:par>
                        <p:par>
                          <p:cTn id="36" fill="hold" nodeType="afterGroup">
                            <p:stCondLst>
                              <p:cond delay="500"/>
                            </p:stCondLst>
                            <p:childTnLst>
                              <p:par>
                                <p:cTn id="37" presetID="22" presetClass="entr" presetSubtype="4" fill="hold" nodeType="afterEffect">
                                  <p:stCondLst>
                                    <p:cond delay="0"/>
                                  </p:stCondLst>
                                  <p:childTnLst>
                                    <p:set>
                                      <p:cBhvr>
                                        <p:cTn id="38" dur="1" fill="hold">
                                          <p:stCondLst>
                                            <p:cond delay="0"/>
                                          </p:stCondLst>
                                        </p:cTn>
                                        <p:tgtEl>
                                          <p:spTgt spid="29716"/>
                                        </p:tgtEl>
                                        <p:attrNameLst>
                                          <p:attrName>style.visibility</p:attrName>
                                        </p:attrNameLst>
                                      </p:cBhvr>
                                      <p:to>
                                        <p:strVal val="visible"/>
                                      </p:to>
                                    </p:set>
                                    <p:animEffect transition="in" filter="wipe(down)">
                                      <p:cBhvr>
                                        <p:cTn id="39" dur="500"/>
                                        <p:tgtEl>
                                          <p:spTgt spid="29716"/>
                                        </p:tgtEl>
                                      </p:cBhvr>
                                    </p:animEffect>
                                  </p:childTnLst>
                                </p:cTn>
                              </p:par>
                            </p:childTnLst>
                          </p:cTn>
                        </p:par>
                        <p:par>
                          <p:cTn id="40" fill="hold" nodeType="afterGroup">
                            <p:stCondLst>
                              <p:cond delay="1000"/>
                            </p:stCondLst>
                            <p:childTnLst>
                              <p:par>
                                <p:cTn id="41" presetID="22" presetClass="entr" presetSubtype="2" fill="hold" nodeType="afterEffect">
                                  <p:stCondLst>
                                    <p:cond delay="0"/>
                                  </p:stCondLst>
                                  <p:childTnLst>
                                    <p:set>
                                      <p:cBhvr>
                                        <p:cTn id="42" dur="1" fill="hold">
                                          <p:stCondLst>
                                            <p:cond delay="0"/>
                                          </p:stCondLst>
                                        </p:cTn>
                                        <p:tgtEl>
                                          <p:spTgt spid="29721"/>
                                        </p:tgtEl>
                                        <p:attrNameLst>
                                          <p:attrName>style.visibility</p:attrName>
                                        </p:attrNameLst>
                                      </p:cBhvr>
                                      <p:to>
                                        <p:strVal val="visible"/>
                                      </p:to>
                                    </p:set>
                                    <p:animEffect transition="in" filter="wipe(right)">
                                      <p:cBhvr>
                                        <p:cTn id="43" dur="500"/>
                                        <p:tgtEl>
                                          <p:spTgt spid="2972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9715">
                                            <p:txEl>
                                              <p:pRg st="1" end="1"/>
                                            </p:txEl>
                                          </p:spTgt>
                                        </p:tgtEl>
                                        <p:attrNameLst>
                                          <p:attrName>style.visibility</p:attrName>
                                        </p:attrNameLst>
                                      </p:cBhvr>
                                      <p:to>
                                        <p:strVal val="visible"/>
                                      </p:to>
                                    </p:set>
                                    <p:animEffect transition="in" filter="wipe(left)">
                                      <p:cBhvr>
                                        <p:cTn id="48" dur="500"/>
                                        <p:tgtEl>
                                          <p:spTgt spid="29715">
                                            <p:txEl>
                                              <p:pRg st="1" end="1"/>
                                            </p:txEl>
                                          </p:spTgt>
                                        </p:tgtEl>
                                      </p:cBhvr>
                                    </p:animEffect>
                                  </p:childTnLst>
                                </p:cTn>
                              </p:par>
                            </p:childTnLst>
                          </p:cTn>
                        </p:par>
                        <p:par>
                          <p:cTn id="49" fill="hold" nodeType="afterGroup">
                            <p:stCondLst>
                              <p:cond delay="500"/>
                            </p:stCondLst>
                            <p:childTnLst>
                              <p:par>
                                <p:cTn id="50" presetID="18" presetClass="entr" presetSubtype="6" fill="hold" nodeType="after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strips(downRight)">
                                      <p:cBhvr>
                                        <p:cTn id="52" dur="500"/>
                                        <p:tgtEl>
                                          <p:spTgt spid="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9715">
                                            <p:txEl>
                                              <p:pRg st="2" end="2"/>
                                            </p:txEl>
                                          </p:spTgt>
                                        </p:tgtEl>
                                        <p:attrNameLst>
                                          <p:attrName>style.visibility</p:attrName>
                                        </p:attrNameLst>
                                      </p:cBhvr>
                                      <p:to>
                                        <p:strVal val="visible"/>
                                      </p:to>
                                    </p:set>
                                    <p:animEffect transition="in" filter="wipe(left)">
                                      <p:cBhvr>
                                        <p:cTn id="57" dur="500"/>
                                        <p:tgtEl>
                                          <p:spTgt spid="29715">
                                            <p:txEl>
                                              <p:pRg st="2" end="2"/>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9715">
                                            <p:txEl>
                                              <p:pRg st="3" end="3"/>
                                            </p:txEl>
                                          </p:spTgt>
                                        </p:tgtEl>
                                        <p:attrNameLst>
                                          <p:attrName>style.visibility</p:attrName>
                                        </p:attrNameLst>
                                      </p:cBhvr>
                                      <p:to>
                                        <p:strVal val="visible"/>
                                      </p:to>
                                    </p:set>
                                    <p:animEffect transition="in" filter="wipe(left)">
                                      <p:cBhvr>
                                        <p:cTn id="62" dur="500"/>
                                        <p:tgtEl>
                                          <p:spTgt spid="29715">
                                            <p:txEl>
                                              <p:pRg st="3" end="3"/>
                                            </p:txEl>
                                          </p:spTgt>
                                        </p:tgtEl>
                                      </p:cBhvr>
                                    </p:animEffect>
                                  </p:childTnLst>
                                </p:cTn>
                              </p:par>
                            </p:childTnLst>
                          </p:cTn>
                        </p:par>
                        <p:par>
                          <p:cTn id="63" fill="hold" nodeType="afterGroup">
                            <p:stCondLst>
                              <p:cond delay="500"/>
                            </p:stCondLst>
                            <p:childTnLst>
                              <p:par>
                                <p:cTn id="64" presetID="4" presetClass="entr" presetSubtype="32" fill="hold" nodeType="afterEffect">
                                  <p:stCondLst>
                                    <p:cond delay="0"/>
                                  </p:stCondLst>
                                  <p:childTnLst>
                                    <p:set>
                                      <p:cBhvr>
                                        <p:cTn id="65" dur="1" fill="hold">
                                          <p:stCondLst>
                                            <p:cond delay="0"/>
                                          </p:stCondLst>
                                        </p:cTn>
                                        <p:tgtEl>
                                          <p:spTgt spid="29717"/>
                                        </p:tgtEl>
                                        <p:attrNameLst>
                                          <p:attrName>style.visibility</p:attrName>
                                        </p:attrNameLst>
                                      </p:cBhvr>
                                      <p:to>
                                        <p:strVal val="visible"/>
                                      </p:to>
                                    </p:set>
                                    <p:animEffect transition="in" filter="box(out)">
                                      <p:cBhvr>
                                        <p:cTn id="66" dur="500"/>
                                        <p:tgtEl>
                                          <p:spTgt spid="29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5" grpId="0" autoUpdateAnimBg="0"/>
      <p:bldP spid="29715" grpId="0" build="p" bldLvl="5"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0354" name="Group 2">
            <a:extLst>
              <a:ext uri="{FF2B5EF4-FFF2-40B4-BE49-F238E27FC236}">
                <a16:creationId xmlns:a16="http://schemas.microsoft.com/office/drawing/2014/main" id="{D764E690-796D-48C1-B615-E9218C477580}"/>
              </a:ext>
            </a:extLst>
          </p:cNvPr>
          <p:cNvGrpSpPr>
            <a:grpSpLocks/>
          </p:cNvGrpSpPr>
          <p:nvPr/>
        </p:nvGrpSpPr>
        <p:grpSpPr bwMode="auto">
          <a:xfrm>
            <a:off x="3787775" y="1009650"/>
            <a:ext cx="4979988" cy="5295900"/>
            <a:chOff x="0" y="0"/>
            <a:chExt cx="3137" cy="3336"/>
          </a:xfrm>
        </p:grpSpPr>
        <p:graphicFrame>
          <p:nvGraphicFramePr>
            <p:cNvPr id="100372" name="Object 3">
              <a:extLst>
                <a:ext uri="{FF2B5EF4-FFF2-40B4-BE49-F238E27FC236}">
                  <a16:creationId xmlns:a16="http://schemas.microsoft.com/office/drawing/2014/main" id="{6B39DACC-AA3C-4CF8-8D80-926A98D25EEE}"/>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12310" r:id="rId4" imgW="3061080" imgH="3274920" progId="Excel.Chart.8">
                    <p:embed/>
                  </p:oleObj>
                </mc:Choice>
                <mc:Fallback>
                  <p:oleObj r:id="rId4" imgW="3061080" imgH="3274920" progId="Excel.Chart.8">
                    <p:embed/>
                    <p:pic>
                      <p:nvPicPr>
                        <p:cNvPr id="100372" name="Object 3">
                          <a:extLst>
                            <a:ext uri="{FF2B5EF4-FFF2-40B4-BE49-F238E27FC236}">
                              <a16:creationId xmlns:a16="http://schemas.microsoft.com/office/drawing/2014/main" id="{6B39DACC-AA3C-4CF8-8D80-926A98D25E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373" name="Rectangle 4">
              <a:extLst>
                <a:ext uri="{FF2B5EF4-FFF2-40B4-BE49-F238E27FC236}">
                  <a16:creationId xmlns:a16="http://schemas.microsoft.com/office/drawing/2014/main" id="{3038B4AA-9F11-4EEA-A293-6261A5917159}"/>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00374" name="Rectangle 5">
              <a:extLst>
                <a:ext uri="{FF2B5EF4-FFF2-40B4-BE49-F238E27FC236}">
                  <a16:creationId xmlns:a16="http://schemas.microsoft.com/office/drawing/2014/main" id="{5923E744-4852-4974-BFE9-9931B9D9B6B2}"/>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sp>
        <p:nvSpPr>
          <p:cNvPr id="100355" name="Text Box 7">
            <a:extLst>
              <a:ext uri="{FF2B5EF4-FFF2-40B4-BE49-F238E27FC236}">
                <a16:creationId xmlns:a16="http://schemas.microsoft.com/office/drawing/2014/main" id="{4A763F53-45EF-49F9-8DF3-44C2BB430EA6}"/>
              </a:ext>
            </a:extLst>
          </p:cNvPr>
          <p:cNvSpPr txBox="1">
            <a:spLocks noChangeArrowheads="1"/>
          </p:cNvSpPr>
          <p:nvPr/>
        </p:nvSpPr>
        <p:spPr bwMode="auto">
          <a:xfrm>
            <a:off x="5508625" y="2133600"/>
            <a:ext cx="3470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b="0">
                <a:latin typeface="Arial" panose="020B0604020202020204" pitchFamily="34" charset="0"/>
              </a:rPr>
              <a:t>对鞋的需求</a:t>
            </a:r>
            <a:endParaRPr lang="en-US" altLang="zh-CN" b="0">
              <a:latin typeface="Arial" panose="020B0604020202020204" pitchFamily="34" charset="0"/>
            </a:endParaRPr>
          </a:p>
        </p:txBody>
      </p:sp>
      <p:grpSp>
        <p:nvGrpSpPr>
          <p:cNvPr id="100356" name="Group 8">
            <a:extLst>
              <a:ext uri="{FF2B5EF4-FFF2-40B4-BE49-F238E27FC236}">
                <a16:creationId xmlns:a16="http://schemas.microsoft.com/office/drawing/2014/main" id="{D30C0AD5-CD84-463D-B198-351F12234B6C}"/>
              </a:ext>
            </a:extLst>
          </p:cNvPr>
          <p:cNvGrpSpPr>
            <a:grpSpLocks/>
          </p:cNvGrpSpPr>
          <p:nvPr/>
        </p:nvGrpSpPr>
        <p:grpSpPr bwMode="auto">
          <a:xfrm>
            <a:off x="4583113" y="1887538"/>
            <a:ext cx="3438525" cy="3495675"/>
            <a:chOff x="0" y="0"/>
            <a:chExt cx="2166" cy="2202"/>
          </a:xfrm>
        </p:grpSpPr>
        <p:sp>
          <p:nvSpPr>
            <p:cNvPr id="100370" name="Line 9">
              <a:extLst>
                <a:ext uri="{FF2B5EF4-FFF2-40B4-BE49-F238E27FC236}">
                  <a16:creationId xmlns:a16="http://schemas.microsoft.com/office/drawing/2014/main" id="{C01183A0-0B6D-47A8-A976-85444EF7A7EB}"/>
                </a:ext>
              </a:extLst>
            </p:cNvPr>
            <p:cNvSpPr>
              <a:spLocks noChangeShapeType="1"/>
            </p:cNvSpPr>
            <p:nvPr/>
          </p:nvSpPr>
          <p:spPr bwMode="auto">
            <a:xfrm>
              <a:off x="0" y="0"/>
              <a:ext cx="1901" cy="1990"/>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1" name="Rectangle 10">
              <a:extLst>
                <a:ext uri="{FF2B5EF4-FFF2-40B4-BE49-F238E27FC236}">
                  <a16:creationId xmlns:a16="http://schemas.microsoft.com/office/drawing/2014/main" id="{E539BEE2-BAB9-47B4-BF9E-6C30D2CB0632}"/>
                </a:ext>
              </a:extLst>
            </p:cNvPr>
            <p:cNvSpPr>
              <a:spLocks noChangeArrowheads="1"/>
            </p:cNvSpPr>
            <p:nvPr/>
          </p:nvSpPr>
          <p:spPr bwMode="auto">
            <a:xfrm>
              <a:off x="1861" y="1885"/>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D</a:t>
              </a:r>
            </a:p>
          </p:txBody>
        </p:sp>
      </p:grpSp>
      <p:sp>
        <p:nvSpPr>
          <p:cNvPr id="31755" name="Rectangle 17">
            <a:extLst>
              <a:ext uri="{FF2B5EF4-FFF2-40B4-BE49-F238E27FC236}">
                <a16:creationId xmlns:a16="http://schemas.microsoft.com/office/drawing/2014/main" id="{BF7D3EE5-BAD4-4F96-809E-88178C292422}"/>
              </a:ext>
            </a:extLst>
          </p:cNvPr>
          <p:cNvSpPr>
            <a:spLocks noGrp="1" noChangeArrowheads="1"/>
          </p:cNvSpPr>
          <p:nvPr>
            <p:ph type="body" idx="4294967295"/>
          </p:nvPr>
        </p:nvSpPr>
        <p:spPr>
          <a:xfrm>
            <a:off x="468313" y="1628775"/>
            <a:ext cx="3146425" cy="3384550"/>
          </a:xfrm>
          <a:noFill/>
        </p:spPr>
        <p:txBody>
          <a:bodyPr/>
          <a:lstStyle/>
          <a:p>
            <a:pPr marL="0" indent="0">
              <a:buFont typeface="Wingdings" panose="05000000000000000000" pitchFamily="2" charset="2"/>
              <a:buNone/>
            </a:pPr>
            <a:r>
              <a:rPr lang="zh-CN" altLang="en-US" sz="2600">
                <a:ea typeface="宋体" panose="02010600030101010101" pitchFamily="2" charset="-122"/>
              </a:rPr>
              <a:t>消费者剩余是买者愿意为一种物品支付的量减去其为此实际支付的量</a:t>
            </a:r>
            <a:r>
              <a:rPr lang="en-US" altLang="zh-CN" sz="2600">
                <a:ea typeface="宋体" panose="02010600030101010101" pitchFamily="2" charset="-122"/>
              </a:rPr>
              <a:t> </a:t>
            </a:r>
          </a:p>
          <a:p>
            <a:pPr marL="0" indent="0">
              <a:buFont typeface="Wingdings" panose="05000000000000000000" pitchFamily="2" charset="2"/>
              <a:buNone/>
            </a:pPr>
            <a:br>
              <a:rPr lang="en-US" altLang="zh-CN" sz="2600">
                <a:ea typeface="宋体" panose="02010600030101010101" pitchFamily="2" charset="-122"/>
              </a:rPr>
            </a:br>
            <a:r>
              <a:rPr lang="en-US" altLang="zh-CN" sz="2600">
                <a:ea typeface="宋体" panose="02010600030101010101" pitchFamily="2" charset="-122"/>
              </a:rPr>
              <a:t>CS =</a:t>
            </a:r>
            <a:r>
              <a:rPr lang="zh-CN" altLang="en-US" sz="2600">
                <a:ea typeface="宋体" panose="02010600030101010101" pitchFamily="2" charset="-122"/>
              </a:rPr>
              <a:t>阴影三角形的面积</a:t>
            </a:r>
            <a:r>
              <a:rPr lang="zh-CN" altLang="ja-JP" sz="2600">
                <a:ea typeface="宋体" panose="02010600030101010101" pitchFamily="2" charset="-122"/>
              </a:rPr>
              <a:t>= </a:t>
            </a:r>
            <a:r>
              <a:rPr lang="zh-CN" altLang="ja-JP" sz="2600" u="sng">
                <a:ea typeface="宋体" panose="02010600030101010101" pitchFamily="2" charset="-122"/>
              </a:rPr>
              <a:t>225</a:t>
            </a:r>
            <a:endParaRPr lang="en-US" altLang="zh-CN" sz="2600">
              <a:ea typeface="宋体" panose="02010600030101010101" pitchFamily="2" charset="-122"/>
            </a:endParaRPr>
          </a:p>
        </p:txBody>
      </p:sp>
      <p:grpSp>
        <p:nvGrpSpPr>
          <p:cNvPr id="100358" name="Group 12">
            <a:extLst>
              <a:ext uri="{FF2B5EF4-FFF2-40B4-BE49-F238E27FC236}">
                <a16:creationId xmlns:a16="http://schemas.microsoft.com/office/drawing/2014/main" id="{F1601D5F-ECDC-4934-B031-3B3AC335C155}"/>
              </a:ext>
            </a:extLst>
          </p:cNvPr>
          <p:cNvGrpSpPr>
            <a:grpSpLocks/>
          </p:cNvGrpSpPr>
          <p:nvPr/>
        </p:nvGrpSpPr>
        <p:grpSpPr bwMode="auto">
          <a:xfrm>
            <a:off x="3881438" y="3475038"/>
            <a:ext cx="2398712" cy="393700"/>
            <a:chOff x="0" y="0"/>
            <a:chExt cx="1511" cy="248"/>
          </a:xfrm>
        </p:grpSpPr>
        <p:sp>
          <p:nvSpPr>
            <p:cNvPr id="100368" name="Line 21">
              <a:extLst>
                <a:ext uri="{FF2B5EF4-FFF2-40B4-BE49-F238E27FC236}">
                  <a16:creationId xmlns:a16="http://schemas.microsoft.com/office/drawing/2014/main" id="{E638F900-29BB-4DD1-84C7-EB4432351D0B}"/>
                </a:ext>
              </a:extLst>
            </p:cNvPr>
            <p:cNvSpPr>
              <a:spLocks noChangeShapeType="1"/>
            </p:cNvSpPr>
            <p:nvPr/>
          </p:nvSpPr>
          <p:spPr bwMode="auto">
            <a:xfrm>
              <a:off x="326" y="122"/>
              <a:ext cx="1185"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9" name="Rectangle 22">
              <a:extLst>
                <a:ext uri="{FF2B5EF4-FFF2-40B4-BE49-F238E27FC236}">
                  <a16:creationId xmlns:a16="http://schemas.microsoft.com/office/drawing/2014/main" id="{43DD0E53-7A07-4816-95C4-3C1CBAE0A3CB}"/>
                </a:ext>
              </a:extLst>
            </p:cNvPr>
            <p:cNvSpPr>
              <a:spLocks noChangeArrowheads="1"/>
            </p:cNvSpPr>
            <p:nvPr/>
          </p:nvSpPr>
          <p:spPr bwMode="auto">
            <a:xfrm>
              <a:off x="0" y="0"/>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sp>
        <p:nvSpPr>
          <p:cNvPr id="31759" name="AutoShape 23">
            <a:extLst>
              <a:ext uri="{FF2B5EF4-FFF2-40B4-BE49-F238E27FC236}">
                <a16:creationId xmlns:a16="http://schemas.microsoft.com/office/drawing/2014/main" id="{C7039AD8-7015-41AF-A2E3-4B7334D68183}"/>
              </a:ext>
            </a:extLst>
          </p:cNvPr>
          <p:cNvSpPr>
            <a:spLocks noChangeArrowheads="1"/>
          </p:cNvSpPr>
          <p:nvPr/>
        </p:nvSpPr>
        <p:spPr bwMode="auto">
          <a:xfrm>
            <a:off x="4597400" y="1930400"/>
            <a:ext cx="1657350" cy="1733550"/>
          </a:xfrm>
          <a:prstGeom prst="rtTriangle">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5" name="Group 16">
            <a:extLst>
              <a:ext uri="{FF2B5EF4-FFF2-40B4-BE49-F238E27FC236}">
                <a16:creationId xmlns:a16="http://schemas.microsoft.com/office/drawing/2014/main" id="{03F9922A-AFCB-4CCD-A1FB-E838B85CD75D}"/>
              </a:ext>
            </a:extLst>
          </p:cNvPr>
          <p:cNvGrpSpPr>
            <a:grpSpLocks/>
          </p:cNvGrpSpPr>
          <p:nvPr/>
        </p:nvGrpSpPr>
        <p:grpSpPr bwMode="auto">
          <a:xfrm>
            <a:off x="6029325" y="3673475"/>
            <a:ext cx="522288" cy="2473325"/>
            <a:chOff x="0" y="0"/>
            <a:chExt cx="329" cy="1558"/>
          </a:xfrm>
        </p:grpSpPr>
        <p:sp>
          <p:nvSpPr>
            <p:cNvPr id="100366" name="Line 25">
              <a:extLst>
                <a:ext uri="{FF2B5EF4-FFF2-40B4-BE49-F238E27FC236}">
                  <a16:creationId xmlns:a16="http://schemas.microsoft.com/office/drawing/2014/main" id="{04629414-7664-4870-A7C8-2A82CF6ED062}"/>
                </a:ext>
              </a:extLst>
            </p:cNvPr>
            <p:cNvSpPr>
              <a:spLocks noChangeShapeType="1"/>
            </p:cNvSpPr>
            <p:nvPr/>
          </p:nvSpPr>
          <p:spPr bwMode="auto">
            <a:xfrm rot="5400000">
              <a:off x="-492" y="657"/>
              <a:ext cx="1314"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7" name="Rectangle 26">
              <a:extLst>
                <a:ext uri="{FF2B5EF4-FFF2-40B4-BE49-F238E27FC236}">
                  <a16:creationId xmlns:a16="http://schemas.microsoft.com/office/drawing/2014/main" id="{6786C16A-9F30-4AF1-B3E6-AADAC04B1328}"/>
                </a:ext>
              </a:extLst>
            </p:cNvPr>
            <p:cNvSpPr>
              <a:spLocks noChangeArrowheads="1"/>
            </p:cNvSpPr>
            <p:nvPr/>
          </p:nvSpPr>
          <p:spPr bwMode="auto">
            <a:xfrm>
              <a:off x="0" y="1310"/>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6" name="Group 19">
            <a:extLst>
              <a:ext uri="{FF2B5EF4-FFF2-40B4-BE49-F238E27FC236}">
                <a16:creationId xmlns:a16="http://schemas.microsoft.com/office/drawing/2014/main" id="{99BE99E1-0F43-495D-AE11-801D2635100C}"/>
              </a:ext>
            </a:extLst>
          </p:cNvPr>
          <p:cNvGrpSpPr>
            <a:grpSpLocks/>
          </p:cNvGrpSpPr>
          <p:nvPr/>
        </p:nvGrpSpPr>
        <p:grpSpPr bwMode="auto">
          <a:xfrm>
            <a:off x="3808413" y="1895475"/>
            <a:ext cx="735012" cy="1760538"/>
            <a:chOff x="0" y="0"/>
            <a:chExt cx="463" cy="1109"/>
          </a:xfrm>
        </p:grpSpPr>
        <p:sp>
          <p:nvSpPr>
            <p:cNvPr id="100364" name="AutoShape 29">
              <a:extLst>
                <a:ext uri="{FF2B5EF4-FFF2-40B4-BE49-F238E27FC236}">
                  <a16:creationId xmlns:a16="http://schemas.microsoft.com/office/drawing/2014/main" id="{BFF4ECC8-0939-4450-BBAA-DEFD7A27F35F}"/>
                </a:ext>
              </a:extLst>
            </p:cNvPr>
            <p:cNvSpPr>
              <a:spLocks/>
            </p:cNvSpPr>
            <p:nvPr/>
          </p:nvSpPr>
          <p:spPr bwMode="auto">
            <a:xfrm>
              <a:off x="260" y="0"/>
              <a:ext cx="203" cy="1109"/>
            </a:xfrm>
            <a:prstGeom prst="leftBrace">
              <a:avLst>
                <a:gd name="adj1" fmla="val 74535"/>
                <a:gd name="adj2" fmla="val 50676"/>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00365" name="Text Box 30">
              <a:extLst>
                <a:ext uri="{FF2B5EF4-FFF2-40B4-BE49-F238E27FC236}">
                  <a16:creationId xmlns:a16="http://schemas.microsoft.com/office/drawing/2014/main" id="{5ED5F2D0-CDC7-44C0-94B3-75EE3E95FC8C}"/>
                </a:ext>
              </a:extLst>
            </p:cNvPr>
            <p:cNvSpPr txBox="1">
              <a:spLocks noChangeArrowheads="1"/>
            </p:cNvSpPr>
            <p:nvPr/>
          </p:nvSpPr>
          <p:spPr bwMode="auto">
            <a:xfrm>
              <a:off x="0" y="405"/>
              <a:ext cx="231"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600" b="0" i="1">
                  <a:solidFill>
                    <a:srgbClr val="FF0000"/>
                  </a:solidFill>
                  <a:latin typeface="Arial" panose="020B0604020202020204" pitchFamily="34" charset="0"/>
                </a:rPr>
                <a:t>h</a:t>
              </a:r>
            </a:p>
          </p:txBody>
        </p:sp>
      </p:grpSp>
      <p:sp>
        <p:nvSpPr>
          <p:cNvPr id="100362" name="Text Box 32">
            <a:extLst>
              <a:ext uri="{FF2B5EF4-FFF2-40B4-BE49-F238E27FC236}">
                <a16:creationId xmlns:a16="http://schemas.microsoft.com/office/drawing/2014/main" id="{FCD86A04-38A3-48FD-861C-15E14FEA3602}"/>
              </a:ext>
            </a:extLst>
          </p:cNvPr>
          <p:cNvSpPr txBox="1">
            <a:spLocks noChangeArrowheads="1"/>
          </p:cNvSpPr>
          <p:nvPr/>
        </p:nvSpPr>
        <p:spPr bwMode="auto">
          <a:xfrm>
            <a:off x="3690938" y="1670050"/>
            <a:ext cx="4381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500" b="0">
                <a:latin typeface="Arial" panose="020B0604020202020204" pitchFamily="34" charset="0"/>
              </a:rPr>
              <a:t>$</a:t>
            </a:r>
          </a:p>
        </p:txBody>
      </p:sp>
      <p:sp>
        <p:nvSpPr>
          <p:cNvPr id="100363" name="Title 1">
            <a:extLst>
              <a:ext uri="{FF2B5EF4-FFF2-40B4-BE49-F238E27FC236}">
                <a16:creationId xmlns:a16="http://schemas.microsoft.com/office/drawing/2014/main" id="{0D26F44F-8D8B-46EE-B1DB-EFDD8C6B04A5}"/>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消费者剩余与需求曲线</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55">
                                            <p:txEl>
                                              <p:pRg st="0" end="0"/>
                                            </p:txEl>
                                          </p:spTgt>
                                        </p:tgtEl>
                                        <p:attrNameLst>
                                          <p:attrName>style.visibility</p:attrName>
                                        </p:attrNameLst>
                                      </p:cBhvr>
                                      <p:to>
                                        <p:strVal val="visible"/>
                                      </p:to>
                                    </p:set>
                                    <p:animEffect transition="in" filter="wipe(left)">
                                      <p:cBhvr>
                                        <p:cTn id="12" dur="500"/>
                                        <p:tgtEl>
                                          <p:spTgt spid="31755">
                                            <p:txEl>
                                              <p:pRg st="0" end="0"/>
                                            </p:txEl>
                                          </p:spTgt>
                                        </p:tgtEl>
                                      </p:cBhvr>
                                    </p:animEffect>
                                  </p:childTnLst>
                                </p:cTn>
                              </p:par>
                            </p:childTnLst>
                          </p:cTn>
                        </p:par>
                        <p:par>
                          <p:cTn id="13" fill="hold" nodeType="afterGroup">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31759"/>
                                        </p:tgtEl>
                                        <p:attrNameLst>
                                          <p:attrName>style.visibility</p:attrName>
                                        </p:attrNameLst>
                                      </p:cBhvr>
                                      <p:to>
                                        <p:strVal val="visible"/>
                                      </p:to>
                                    </p:set>
                                    <p:animEffect transition="in" filter="dissolve">
                                      <p:cBhvr>
                                        <p:cTn id="16" dur="500"/>
                                        <p:tgtEl>
                                          <p:spTgt spid="31759"/>
                                        </p:tgtEl>
                                      </p:cBhvr>
                                    </p:animEffect>
                                  </p:childTnLst>
                                </p:cTn>
                              </p:par>
                            </p:childTnLst>
                          </p:cTn>
                        </p:par>
                        <p:par>
                          <p:cTn id="17" fill="hold" nodeType="afterGroup">
                            <p:stCondLst>
                              <p:cond delay="1000"/>
                            </p:stCondLst>
                            <p:childTnLst>
                              <p:par>
                                <p:cTn id="18" presetID="18" presetClass="entr" presetSubtype="12"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strips(downLeft)">
                                      <p:cBhvr>
                                        <p:cTn id="20" dur="500"/>
                                        <p:tgtEl>
                                          <p:spTgt spid="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1755">
                                            <p:txEl>
                                              <p:pRg st="1" end="1"/>
                                            </p:txEl>
                                          </p:spTgt>
                                        </p:tgtEl>
                                        <p:attrNameLst>
                                          <p:attrName>style.visibility</p:attrName>
                                        </p:attrNameLst>
                                      </p:cBhvr>
                                      <p:to>
                                        <p:strVal val="visible"/>
                                      </p:to>
                                    </p:set>
                                    <p:animEffect transition="in" filter="wipe(left)">
                                      <p:cBhvr>
                                        <p:cTn id="25" dur="500"/>
                                        <p:tgtEl>
                                          <p:spTgt spid="317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5" grpId="0" build="p" bldLvl="5" autoUpdateAnimBg="0"/>
      <p:bldP spid="31759" grpId="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2402" name="Group 2">
            <a:extLst>
              <a:ext uri="{FF2B5EF4-FFF2-40B4-BE49-F238E27FC236}">
                <a16:creationId xmlns:a16="http://schemas.microsoft.com/office/drawing/2014/main" id="{8B7B4421-73B2-4DCD-89AE-7AFF6B71DB2D}"/>
              </a:ext>
            </a:extLst>
          </p:cNvPr>
          <p:cNvGrpSpPr>
            <a:grpSpLocks/>
          </p:cNvGrpSpPr>
          <p:nvPr/>
        </p:nvGrpSpPr>
        <p:grpSpPr bwMode="auto">
          <a:xfrm>
            <a:off x="3757613" y="1023938"/>
            <a:ext cx="4979987" cy="5295900"/>
            <a:chOff x="0" y="0"/>
            <a:chExt cx="3137" cy="3336"/>
          </a:xfrm>
        </p:grpSpPr>
        <p:graphicFrame>
          <p:nvGraphicFramePr>
            <p:cNvPr id="102425" name="Object 3">
              <a:extLst>
                <a:ext uri="{FF2B5EF4-FFF2-40B4-BE49-F238E27FC236}">
                  <a16:creationId xmlns:a16="http://schemas.microsoft.com/office/drawing/2014/main" id="{C6278240-09F3-4D38-9CA7-F87E45653BC4}"/>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13334" r:id="rId4" imgW="3061080" imgH="3274920" progId="Excel.Chart.8">
                    <p:embed/>
                  </p:oleObj>
                </mc:Choice>
                <mc:Fallback>
                  <p:oleObj r:id="rId4" imgW="3061080" imgH="3274920" progId="Excel.Chart.8">
                    <p:embed/>
                    <p:pic>
                      <p:nvPicPr>
                        <p:cNvPr id="102425" name="Object 3">
                          <a:extLst>
                            <a:ext uri="{FF2B5EF4-FFF2-40B4-BE49-F238E27FC236}">
                              <a16:creationId xmlns:a16="http://schemas.microsoft.com/office/drawing/2014/main" id="{C6278240-09F3-4D38-9CA7-F87E45653B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26" name="Rectangle 4">
              <a:extLst>
                <a:ext uri="{FF2B5EF4-FFF2-40B4-BE49-F238E27FC236}">
                  <a16:creationId xmlns:a16="http://schemas.microsoft.com/office/drawing/2014/main" id="{0C0C4E53-BDBD-4E50-BCB4-C32E1A1C805D}"/>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02427" name="Rectangle 5">
              <a:extLst>
                <a:ext uri="{FF2B5EF4-FFF2-40B4-BE49-F238E27FC236}">
                  <a16:creationId xmlns:a16="http://schemas.microsoft.com/office/drawing/2014/main" id="{DEB5DA52-7A81-470C-BC47-2A886ABCF693}"/>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sp>
        <p:nvSpPr>
          <p:cNvPr id="102403" name="AutoShape 15">
            <a:extLst>
              <a:ext uri="{FF2B5EF4-FFF2-40B4-BE49-F238E27FC236}">
                <a16:creationId xmlns:a16="http://schemas.microsoft.com/office/drawing/2014/main" id="{97D65DC0-3949-4EFD-8E6C-E8828845D784}"/>
              </a:ext>
            </a:extLst>
          </p:cNvPr>
          <p:cNvSpPr>
            <a:spLocks noChangeArrowheads="1"/>
          </p:cNvSpPr>
          <p:nvPr/>
        </p:nvSpPr>
        <p:spPr bwMode="auto">
          <a:xfrm>
            <a:off x="4597400" y="1930400"/>
            <a:ext cx="1657350" cy="1733550"/>
          </a:xfrm>
          <a:prstGeom prst="rtTriangle">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33799" name="AutoShape 25">
            <a:extLst>
              <a:ext uri="{FF2B5EF4-FFF2-40B4-BE49-F238E27FC236}">
                <a16:creationId xmlns:a16="http://schemas.microsoft.com/office/drawing/2014/main" id="{1E51F501-918A-4F9F-9210-2EDA99971650}"/>
              </a:ext>
            </a:extLst>
          </p:cNvPr>
          <p:cNvSpPr>
            <a:spLocks noChangeArrowheads="1"/>
          </p:cNvSpPr>
          <p:nvPr/>
        </p:nvSpPr>
        <p:spPr bwMode="auto">
          <a:xfrm>
            <a:off x="5722938" y="3106738"/>
            <a:ext cx="528637" cy="554037"/>
          </a:xfrm>
          <a:prstGeom prst="rtTriangle">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33800" name="Rectangle 26">
            <a:extLst>
              <a:ext uri="{FF2B5EF4-FFF2-40B4-BE49-F238E27FC236}">
                <a16:creationId xmlns:a16="http://schemas.microsoft.com/office/drawing/2014/main" id="{F55C2A5C-4152-4DFA-840C-18316389C990}"/>
              </a:ext>
            </a:extLst>
          </p:cNvPr>
          <p:cNvSpPr>
            <a:spLocks noChangeArrowheads="1"/>
          </p:cNvSpPr>
          <p:nvPr/>
        </p:nvSpPr>
        <p:spPr bwMode="auto">
          <a:xfrm>
            <a:off x="4594225" y="3082925"/>
            <a:ext cx="1111250" cy="581025"/>
          </a:xfrm>
          <a:prstGeom prst="rect">
            <a:avLst/>
          </a:prstGeom>
          <a:blipFill dpi="0" rotWithShape="0">
            <a:blip r:embed="rId7"/>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102406" name="Group 10">
            <a:extLst>
              <a:ext uri="{FF2B5EF4-FFF2-40B4-BE49-F238E27FC236}">
                <a16:creationId xmlns:a16="http://schemas.microsoft.com/office/drawing/2014/main" id="{A4D8953C-4440-433E-BCCD-76F7333B5D8E}"/>
              </a:ext>
            </a:extLst>
          </p:cNvPr>
          <p:cNvGrpSpPr>
            <a:grpSpLocks/>
          </p:cNvGrpSpPr>
          <p:nvPr/>
        </p:nvGrpSpPr>
        <p:grpSpPr bwMode="auto">
          <a:xfrm>
            <a:off x="4583113" y="1887538"/>
            <a:ext cx="3438525" cy="3495675"/>
            <a:chOff x="0" y="0"/>
            <a:chExt cx="2166" cy="2202"/>
          </a:xfrm>
        </p:grpSpPr>
        <p:sp>
          <p:nvSpPr>
            <p:cNvPr id="102423" name="Line 9">
              <a:extLst>
                <a:ext uri="{FF2B5EF4-FFF2-40B4-BE49-F238E27FC236}">
                  <a16:creationId xmlns:a16="http://schemas.microsoft.com/office/drawing/2014/main" id="{0956C49C-C641-43E1-A550-7E4A682B4BAA}"/>
                </a:ext>
              </a:extLst>
            </p:cNvPr>
            <p:cNvSpPr>
              <a:spLocks noChangeShapeType="1"/>
            </p:cNvSpPr>
            <p:nvPr/>
          </p:nvSpPr>
          <p:spPr bwMode="auto">
            <a:xfrm>
              <a:off x="0" y="0"/>
              <a:ext cx="1901" cy="1990"/>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4" name="Rectangle 10">
              <a:extLst>
                <a:ext uri="{FF2B5EF4-FFF2-40B4-BE49-F238E27FC236}">
                  <a16:creationId xmlns:a16="http://schemas.microsoft.com/office/drawing/2014/main" id="{367BE95F-C423-434B-AADA-4695C45E3E24}"/>
                </a:ext>
              </a:extLst>
            </p:cNvPr>
            <p:cNvSpPr>
              <a:spLocks noChangeArrowheads="1"/>
            </p:cNvSpPr>
            <p:nvPr/>
          </p:nvSpPr>
          <p:spPr bwMode="auto">
            <a:xfrm>
              <a:off x="1861" y="1885"/>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D</a:t>
              </a:r>
            </a:p>
          </p:txBody>
        </p:sp>
      </p:grpSp>
      <p:sp>
        <p:nvSpPr>
          <p:cNvPr id="33805" name="Rectangle 11">
            <a:extLst>
              <a:ext uri="{FF2B5EF4-FFF2-40B4-BE49-F238E27FC236}">
                <a16:creationId xmlns:a16="http://schemas.microsoft.com/office/drawing/2014/main" id="{6C689D9F-BF14-435D-94CA-74EE9A9CC39D}"/>
              </a:ext>
            </a:extLst>
          </p:cNvPr>
          <p:cNvSpPr>
            <a:spLocks noGrp="1" noChangeArrowheads="1"/>
          </p:cNvSpPr>
          <p:nvPr>
            <p:ph type="body" idx="4294967295"/>
          </p:nvPr>
        </p:nvSpPr>
        <p:spPr>
          <a:xfrm>
            <a:off x="457200" y="1412875"/>
            <a:ext cx="3276600" cy="1406525"/>
          </a:xfrm>
          <a:noFill/>
        </p:spPr>
        <p:txBody>
          <a:bodyPr/>
          <a:lstStyle/>
          <a:p>
            <a:pPr marL="0" indent="0">
              <a:spcBef>
                <a:spcPct val="40000"/>
              </a:spcBef>
              <a:buFont typeface="Wingdings" panose="05000000000000000000" pitchFamily="2" charset="2"/>
              <a:buNone/>
            </a:pPr>
            <a:r>
              <a:rPr lang="zh-CN" altLang="en-US">
                <a:ea typeface="宋体" panose="02010600030101010101" pitchFamily="2" charset="-122"/>
              </a:rPr>
              <a:t>如果价格上升到</a:t>
            </a:r>
            <a:r>
              <a:rPr lang="zh-CN" altLang="ja-JP">
                <a:ea typeface="宋体" panose="02010600030101010101" pitchFamily="2" charset="-122"/>
              </a:rPr>
              <a:t>40, CS =100</a:t>
            </a:r>
          </a:p>
          <a:p>
            <a:pPr marL="0" indent="0">
              <a:spcBef>
                <a:spcPct val="40000"/>
              </a:spcBef>
              <a:buFont typeface="Wingdings" panose="05000000000000000000" pitchFamily="2" charset="2"/>
              <a:buNone/>
            </a:pPr>
            <a:r>
              <a:rPr lang="zh-CN" altLang="en-US">
                <a:ea typeface="宋体" panose="02010600030101010101" pitchFamily="2" charset="-122"/>
              </a:rPr>
              <a:t>消费者剩余减少的两个原因：</a:t>
            </a:r>
            <a:endParaRPr lang="en-US" altLang="zh-CN">
              <a:ea typeface="宋体" panose="02010600030101010101" pitchFamily="2" charset="-122"/>
            </a:endParaRPr>
          </a:p>
        </p:txBody>
      </p:sp>
      <p:sp>
        <p:nvSpPr>
          <p:cNvPr id="102408" name="Line 13">
            <a:extLst>
              <a:ext uri="{FF2B5EF4-FFF2-40B4-BE49-F238E27FC236}">
                <a16:creationId xmlns:a16="http://schemas.microsoft.com/office/drawing/2014/main" id="{810DF526-A50E-451F-A6FB-A08B47CB42D2}"/>
              </a:ext>
            </a:extLst>
          </p:cNvPr>
          <p:cNvSpPr>
            <a:spLocks noChangeShapeType="1"/>
          </p:cNvSpPr>
          <p:nvPr/>
        </p:nvSpPr>
        <p:spPr bwMode="auto">
          <a:xfrm>
            <a:off x="4584700" y="3668713"/>
            <a:ext cx="1695450"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 name="Group 15">
            <a:extLst>
              <a:ext uri="{FF2B5EF4-FFF2-40B4-BE49-F238E27FC236}">
                <a16:creationId xmlns:a16="http://schemas.microsoft.com/office/drawing/2014/main" id="{86F976A5-F923-4A99-9712-4DAD1BD4FADF}"/>
              </a:ext>
            </a:extLst>
          </p:cNvPr>
          <p:cNvGrpSpPr>
            <a:grpSpLocks/>
          </p:cNvGrpSpPr>
          <p:nvPr/>
        </p:nvGrpSpPr>
        <p:grpSpPr bwMode="auto">
          <a:xfrm>
            <a:off x="3878263" y="2881313"/>
            <a:ext cx="2111375" cy="3265487"/>
            <a:chOff x="0" y="0"/>
            <a:chExt cx="1330" cy="2057"/>
          </a:xfrm>
        </p:grpSpPr>
        <p:sp>
          <p:nvSpPr>
            <p:cNvPr id="102418" name="Rectangle 17">
              <a:extLst>
                <a:ext uri="{FF2B5EF4-FFF2-40B4-BE49-F238E27FC236}">
                  <a16:creationId xmlns:a16="http://schemas.microsoft.com/office/drawing/2014/main" id="{EB4D2C82-5E9E-4E38-B89F-A8B6B991DBE7}"/>
                </a:ext>
              </a:extLst>
            </p:cNvPr>
            <p:cNvSpPr>
              <a:spLocks noChangeArrowheads="1"/>
            </p:cNvSpPr>
            <p:nvPr/>
          </p:nvSpPr>
          <p:spPr bwMode="auto">
            <a:xfrm>
              <a:off x="1001" y="1809"/>
              <a:ext cx="329" cy="24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102419" name="Group 17">
              <a:extLst>
                <a:ext uri="{FF2B5EF4-FFF2-40B4-BE49-F238E27FC236}">
                  <a16:creationId xmlns:a16="http://schemas.microsoft.com/office/drawing/2014/main" id="{FDBD4FC7-FE70-49D8-A7CE-1262CE01B1AC}"/>
                </a:ext>
              </a:extLst>
            </p:cNvPr>
            <p:cNvGrpSpPr>
              <a:grpSpLocks/>
            </p:cNvGrpSpPr>
            <p:nvPr/>
          </p:nvGrpSpPr>
          <p:grpSpPr bwMode="auto">
            <a:xfrm>
              <a:off x="0" y="0"/>
              <a:ext cx="1160" cy="248"/>
              <a:chOff x="0" y="0"/>
              <a:chExt cx="1160" cy="248"/>
            </a:xfrm>
          </p:grpSpPr>
          <p:sp>
            <p:nvSpPr>
              <p:cNvPr id="102421" name="Line 19">
                <a:extLst>
                  <a:ext uri="{FF2B5EF4-FFF2-40B4-BE49-F238E27FC236}">
                    <a16:creationId xmlns:a16="http://schemas.microsoft.com/office/drawing/2014/main" id="{3EDCC8C8-D6DE-486C-BC75-237FD52330FE}"/>
                  </a:ext>
                </a:extLst>
              </p:cNvPr>
              <p:cNvSpPr>
                <a:spLocks noChangeShapeType="1"/>
              </p:cNvSpPr>
              <p:nvPr/>
            </p:nvSpPr>
            <p:spPr bwMode="auto">
              <a:xfrm>
                <a:off x="326" y="122"/>
                <a:ext cx="834"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22" name="Rectangle 20">
                <a:extLst>
                  <a:ext uri="{FF2B5EF4-FFF2-40B4-BE49-F238E27FC236}">
                    <a16:creationId xmlns:a16="http://schemas.microsoft.com/office/drawing/2014/main" id="{90754865-992A-40B5-BF04-DE4A65AFFA11}"/>
                  </a:ext>
                </a:extLst>
              </p:cNvPr>
              <p:cNvSpPr>
                <a:spLocks noChangeArrowheads="1"/>
              </p:cNvSpPr>
              <p:nvPr/>
            </p:nvSpPr>
            <p:spPr bwMode="auto">
              <a:xfrm>
                <a:off x="0" y="0"/>
                <a:ext cx="329" cy="24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sp>
          <p:nvSpPr>
            <p:cNvPr id="102420" name="Line 21">
              <a:extLst>
                <a:ext uri="{FF2B5EF4-FFF2-40B4-BE49-F238E27FC236}">
                  <a16:creationId xmlns:a16="http://schemas.microsoft.com/office/drawing/2014/main" id="{8026E2C5-CE0C-4768-8ED9-61788FDC229F}"/>
                </a:ext>
              </a:extLst>
            </p:cNvPr>
            <p:cNvSpPr>
              <a:spLocks noChangeShapeType="1"/>
            </p:cNvSpPr>
            <p:nvPr/>
          </p:nvSpPr>
          <p:spPr bwMode="auto">
            <a:xfrm flipV="1">
              <a:off x="1157" y="117"/>
              <a:ext cx="0" cy="1695"/>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3813" name="AutoShape 24">
            <a:extLst>
              <a:ext uri="{FF2B5EF4-FFF2-40B4-BE49-F238E27FC236}">
                <a16:creationId xmlns:a16="http://schemas.microsoft.com/office/drawing/2014/main" id="{611DF66A-CF91-409A-A32D-D7C78DAD4878}"/>
              </a:ext>
            </a:extLst>
          </p:cNvPr>
          <p:cNvSpPr>
            <a:spLocks noChangeArrowheads="1"/>
          </p:cNvSpPr>
          <p:nvPr/>
        </p:nvSpPr>
        <p:spPr bwMode="auto">
          <a:xfrm>
            <a:off x="4592638" y="1924050"/>
            <a:ext cx="1100137" cy="1143000"/>
          </a:xfrm>
          <a:prstGeom prst="rtTriangle">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6" name="Group 22">
            <a:extLst>
              <a:ext uri="{FF2B5EF4-FFF2-40B4-BE49-F238E27FC236}">
                <a16:creationId xmlns:a16="http://schemas.microsoft.com/office/drawing/2014/main" id="{66038FA4-EA49-4570-A512-F6A2B760C2F4}"/>
              </a:ext>
            </a:extLst>
          </p:cNvPr>
          <p:cNvGrpSpPr>
            <a:grpSpLocks/>
          </p:cNvGrpSpPr>
          <p:nvPr/>
        </p:nvGrpSpPr>
        <p:grpSpPr bwMode="auto">
          <a:xfrm>
            <a:off x="5794375" y="1471613"/>
            <a:ext cx="2630488" cy="1985962"/>
            <a:chOff x="0" y="0"/>
            <a:chExt cx="1657" cy="1251"/>
          </a:xfrm>
        </p:grpSpPr>
        <p:sp>
          <p:nvSpPr>
            <p:cNvPr id="102416" name="Line 29">
              <a:extLst>
                <a:ext uri="{FF2B5EF4-FFF2-40B4-BE49-F238E27FC236}">
                  <a16:creationId xmlns:a16="http://schemas.microsoft.com/office/drawing/2014/main" id="{62417990-642F-4009-AB83-F2AA63B4D283}"/>
                </a:ext>
              </a:extLst>
            </p:cNvPr>
            <p:cNvSpPr>
              <a:spLocks noChangeShapeType="1"/>
            </p:cNvSpPr>
            <p:nvPr/>
          </p:nvSpPr>
          <p:spPr bwMode="auto">
            <a:xfrm flipH="1">
              <a:off x="73" y="735"/>
              <a:ext cx="516" cy="516"/>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7" name="Text Box 27">
              <a:extLst>
                <a:ext uri="{FF2B5EF4-FFF2-40B4-BE49-F238E27FC236}">
                  <a16:creationId xmlns:a16="http://schemas.microsoft.com/office/drawing/2014/main" id="{7C83B69B-30CC-45E4-926F-EAEC163B0053}"/>
                </a:ext>
              </a:extLst>
            </p:cNvPr>
            <p:cNvSpPr txBox="1">
              <a:spLocks noChangeArrowheads="1"/>
            </p:cNvSpPr>
            <p:nvPr/>
          </p:nvSpPr>
          <p:spPr bwMode="auto">
            <a:xfrm>
              <a:off x="0" y="0"/>
              <a:ext cx="1657" cy="602"/>
            </a:xfrm>
            <a:prstGeom prst="rect">
              <a:avLst/>
            </a:prstGeom>
            <a:solidFill>
              <a:srgbClr val="FFFFCC"/>
            </a:solidFill>
            <a:ln w="9525">
              <a:solidFill>
                <a:srgbClr val="3333FF"/>
              </a:solidFill>
              <a:miter lim="800000"/>
              <a:headEnd/>
              <a:tailEnd/>
            </a:ln>
          </p:spPr>
          <p:txBody>
            <a:bodyPr>
              <a:spAutoFit/>
            </a:bodyPr>
            <a:lstStyle>
              <a:lvl1pPr marL="403225" indent="-403225">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b="0">
                  <a:latin typeface="Arial" panose="020B0604020202020204" pitchFamily="34" charset="0"/>
                </a:rPr>
                <a:t>1. </a:t>
              </a:r>
              <a:r>
                <a:rPr lang="zh-CN" altLang="en-US" b="0">
                  <a:latin typeface="Arial" panose="020B0604020202020204" pitchFamily="34" charset="0"/>
                </a:rPr>
                <a:t>一些买者离开市场</a:t>
              </a:r>
              <a:endParaRPr lang="en-US" altLang="zh-CN" b="0">
                <a:latin typeface="Arial" panose="020B0604020202020204" pitchFamily="34" charset="0"/>
              </a:endParaRPr>
            </a:p>
          </p:txBody>
        </p:sp>
      </p:grpSp>
      <p:grpSp>
        <p:nvGrpSpPr>
          <p:cNvPr id="7" name="Group 25">
            <a:extLst>
              <a:ext uri="{FF2B5EF4-FFF2-40B4-BE49-F238E27FC236}">
                <a16:creationId xmlns:a16="http://schemas.microsoft.com/office/drawing/2014/main" id="{EDF975E8-C4C9-48A8-8EA5-F3448EEE804F}"/>
              </a:ext>
            </a:extLst>
          </p:cNvPr>
          <p:cNvGrpSpPr>
            <a:grpSpLocks/>
          </p:cNvGrpSpPr>
          <p:nvPr/>
        </p:nvGrpSpPr>
        <p:grpSpPr bwMode="auto">
          <a:xfrm>
            <a:off x="777875" y="3514725"/>
            <a:ext cx="4329113" cy="1997075"/>
            <a:chOff x="0" y="0"/>
            <a:chExt cx="2727" cy="1258"/>
          </a:xfrm>
        </p:grpSpPr>
        <p:sp>
          <p:nvSpPr>
            <p:cNvPr id="102414" name="Line 31">
              <a:extLst>
                <a:ext uri="{FF2B5EF4-FFF2-40B4-BE49-F238E27FC236}">
                  <a16:creationId xmlns:a16="http://schemas.microsoft.com/office/drawing/2014/main" id="{8A403BC5-901A-4846-BF50-284A8E6270B4}"/>
                </a:ext>
              </a:extLst>
            </p:cNvPr>
            <p:cNvSpPr>
              <a:spLocks noChangeShapeType="1"/>
            </p:cNvSpPr>
            <p:nvPr/>
          </p:nvSpPr>
          <p:spPr bwMode="auto">
            <a:xfrm flipV="1">
              <a:off x="1762" y="0"/>
              <a:ext cx="965" cy="523"/>
            </a:xfrm>
            <a:prstGeom prst="line">
              <a:avLst/>
            </a:prstGeom>
            <a:noFill/>
            <a:ln w="127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5" name="Text Box 28">
              <a:extLst>
                <a:ext uri="{FF2B5EF4-FFF2-40B4-BE49-F238E27FC236}">
                  <a16:creationId xmlns:a16="http://schemas.microsoft.com/office/drawing/2014/main" id="{5BB87395-7D3A-4FD6-BFB5-3C326B85FF16}"/>
                </a:ext>
              </a:extLst>
            </p:cNvPr>
            <p:cNvSpPr txBox="1">
              <a:spLocks noChangeArrowheads="1"/>
            </p:cNvSpPr>
            <p:nvPr/>
          </p:nvSpPr>
          <p:spPr bwMode="auto">
            <a:xfrm>
              <a:off x="0" y="387"/>
              <a:ext cx="1867" cy="871"/>
            </a:xfrm>
            <a:prstGeom prst="rect">
              <a:avLst/>
            </a:prstGeom>
            <a:solidFill>
              <a:srgbClr val="FFFFCC"/>
            </a:solidFill>
            <a:ln w="9525">
              <a:solidFill>
                <a:srgbClr val="00CC00"/>
              </a:solidFill>
              <a:miter lim="800000"/>
              <a:headEnd/>
              <a:tailEnd/>
            </a:ln>
          </p:spPr>
          <p:txBody>
            <a:bodyPr>
              <a:spAutoFit/>
            </a:bodyPr>
            <a:lstStyle>
              <a:lvl1pPr marL="403225" indent="-403225">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b="0">
                  <a:latin typeface="Arial" panose="020B0604020202020204" pitchFamily="34" charset="0"/>
                </a:rPr>
                <a:t>2. 	</a:t>
              </a:r>
              <a:r>
                <a:rPr lang="zh-CN" altLang="en-US" b="0">
                  <a:latin typeface="Arial" panose="020B0604020202020204" pitchFamily="34" charset="0"/>
                </a:rPr>
                <a:t>留在市场中的买者支付更高的价格</a:t>
              </a:r>
              <a:endParaRPr lang="en-US" altLang="zh-CN" i="1">
                <a:latin typeface="Arial" panose="020B0604020202020204" pitchFamily="34" charset="0"/>
              </a:endParaRPr>
            </a:p>
          </p:txBody>
        </p:sp>
      </p:grpSp>
      <p:sp>
        <p:nvSpPr>
          <p:cNvPr id="102413" name="Title 1">
            <a:extLst>
              <a:ext uri="{FF2B5EF4-FFF2-40B4-BE49-F238E27FC236}">
                <a16:creationId xmlns:a16="http://schemas.microsoft.com/office/drawing/2014/main" id="{2FCD4F14-204A-4457-AEFB-A7DAEF05D169}"/>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消费者剩余与需求曲线</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805">
                                            <p:txEl>
                                              <p:pRg st="0" end="0"/>
                                            </p:txEl>
                                          </p:spTgt>
                                        </p:tgtEl>
                                        <p:attrNameLst>
                                          <p:attrName>style.visibility</p:attrName>
                                        </p:attrNameLst>
                                      </p:cBhvr>
                                      <p:to>
                                        <p:strVal val="visible"/>
                                      </p:to>
                                    </p:set>
                                    <p:animEffect transition="in" filter="wipe(left)">
                                      <p:cBhvr>
                                        <p:cTn id="7" dur="500"/>
                                        <p:tgtEl>
                                          <p:spTgt spid="33805">
                                            <p:txEl>
                                              <p:pRg st="0" end="0"/>
                                            </p:txEl>
                                          </p:spTgt>
                                        </p:tgtEl>
                                      </p:cBhvr>
                                    </p:animEffect>
                                  </p:childTnLst>
                                </p:cTn>
                              </p:par>
                            </p:childTnLst>
                          </p:cTn>
                        </p:par>
                        <p:par>
                          <p:cTn id="8" fill="hold" nodeType="after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par>
                          <p:cTn id="12" fill="hold" nodeType="afterGroup">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3813"/>
                                        </p:tgtEl>
                                        <p:attrNameLst>
                                          <p:attrName>style.visibility</p:attrName>
                                        </p:attrNameLst>
                                      </p:cBhvr>
                                      <p:to>
                                        <p:strVal val="visible"/>
                                      </p:to>
                                    </p:set>
                                    <p:animEffect transition="in" filter="dissolve">
                                      <p:cBhvr>
                                        <p:cTn id="15" dur="500"/>
                                        <p:tgtEl>
                                          <p:spTgt spid="3381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3805">
                                            <p:txEl>
                                              <p:pRg st="1" end="1"/>
                                            </p:txEl>
                                          </p:spTgt>
                                        </p:tgtEl>
                                        <p:attrNameLst>
                                          <p:attrName>style.visibility</p:attrName>
                                        </p:attrNameLst>
                                      </p:cBhvr>
                                      <p:to>
                                        <p:strVal val="visible"/>
                                      </p:to>
                                    </p:set>
                                    <p:animEffect transition="in" filter="wipe(left)">
                                      <p:cBhvr>
                                        <p:cTn id="20" dur="500"/>
                                        <p:tgtEl>
                                          <p:spTgt spid="33805">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3799"/>
                                        </p:tgtEl>
                                        <p:attrNameLst>
                                          <p:attrName>style.visibility</p:attrName>
                                        </p:attrNameLst>
                                      </p:cBhvr>
                                      <p:to>
                                        <p:strVal val="visible"/>
                                      </p:to>
                                    </p:set>
                                    <p:animEffect transition="in" filter="dissolve">
                                      <p:cBhvr>
                                        <p:cTn id="28" dur="500"/>
                                        <p:tgtEl>
                                          <p:spTgt spid="3379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dissolve">
                                      <p:cBhvr>
                                        <p:cTn id="33" dur="500"/>
                                        <p:tgtEl>
                                          <p:spTgt spid="7"/>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3800"/>
                                        </p:tgtEl>
                                        <p:attrNameLst>
                                          <p:attrName>style.visibility</p:attrName>
                                        </p:attrNameLst>
                                      </p:cBhvr>
                                      <p:to>
                                        <p:strVal val="visible"/>
                                      </p:to>
                                    </p:set>
                                    <p:animEffect transition="in" filter="dissolve">
                                      <p:cBhvr>
                                        <p:cTn id="36" dur="500"/>
                                        <p:tgtEl>
                                          <p:spTgt spid="33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9" grpId="0" animBg="1" autoUpdateAnimBg="0"/>
      <p:bldP spid="33800" grpId="0" animBg="1" autoUpdateAnimBg="0"/>
      <p:bldP spid="33805" grpId="0" build="p" bldLvl="5" autoUpdateAnimBg="0"/>
      <p:bldP spid="33813" grpId="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7891" name="Group 3">
            <a:extLst>
              <a:ext uri="{FF2B5EF4-FFF2-40B4-BE49-F238E27FC236}">
                <a16:creationId xmlns:a16="http://schemas.microsoft.com/office/drawing/2014/main" id="{FF28ED4E-B2C0-438B-8843-3EA0C4F27334}"/>
              </a:ext>
            </a:extLst>
          </p:cNvPr>
          <p:cNvGraphicFramePr>
            <a:graphicFrameLocks noGrp="1"/>
          </p:cNvGraphicFramePr>
          <p:nvPr>
            <p:extLst>
              <p:ext uri="{D42A27DB-BD31-4B8C-83A1-F6EECF244321}">
                <p14:modId xmlns:p14="http://schemas.microsoft.com/office/powerpoint/2010/main" val="2226598814"/>
              </p:ext>
            </p:extLst>
          </p:nvPr>
        </p:nvGraphicFramePr>
        <p:xfrm>
          <a:off x="755650" y="3140980"/>
          <a:ext cx="2663825" cy="2030412"/>
        </p:xfrm>
        <a:graphic>
          <a:graphicData uri="http://schemas.openxmlformats.org/drawingml/2006/table">
            <a:tbl>
              <a:tblPr/>
              <a:tblGrid>
                <a:gridCol w="1517650">
                  <a:extLst>
                    <a:ext uri="{9D8B030D-6E8A-4147-A177-3AD203B41FA5}">
                      <a16:colId xmlns:a16="http://schemas.microsoft.com/office/drawing/2014/main" val="20000"/>
                    </a:ext>
                  </a:extLst>
                </a:gridCol>
                <a:gridCol w="1146175">
                  <a:extLst>
                    <a:ext uri="{9D8B030D-6E8A-4147-A177-3AD203B41FA5}">
                      <a16:colId xmlns:a16="http://schemas.microsoft.com/office/drawing/2014/main" val="20001"/>
                    </a:ext>
                  </a:extLst>
                </a:gridCol>
              </a:tblGrid>
              <a:tr h="50760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dirty="0">
                          <a:ln>
                            <a:noFill/>
                          </a:ln>
                          <a:solidFill>
                            <a:schemeClr val="tx1"/>
                          </a:solidFill>
                          <a:effectLst/>
                          <a:latin typeface="Arial" pitchFamily="34" charset="0"/>
                          <a:ea typeface="宋体" pitchFamily="2" charset="-122"/>
                        </a:rPr>
                        <a:t>人名</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a:ln>
                            <a:noFill/>
                          </a:ln>
                          <a:solidFill>
                            <a:schemeClr val="tx1"/>
                          </a:solidFill>
                          <a:effectLst/>
                          <a:latin typeface="Arial" pitchFamily="34" charset="0"/>
                          <a:ea typeface="宋体" pitchFamily="2" charset="-122"/>
                        </a:rPr>
                        <a:t>成本</a:t>
                      </a:r>
                      <a:endParaRPr kumimoji="0" lang="en-US" altLang="zh-CN" sz="2600" b="0" i="0" u="none" strike="noStrike" cap="none" normalizeH="0" baseline="0">
                        <a:ln>
                          <a:noFill/>
                        </a:ln>
                        <a:solidFill>
                          <a:schemeClr val="tx1"/>
                        </a:solidFill>
                        <a:effectLst/>
                        <a:latin typeface="Arial" pitchFamily="34" charset="0"/>
                        <a:ea typeface="宋体" pitchFamily="2" charset="-122"/>
                      </a:endParaRPr>
                    </a:p>
                  </a:txBody>
                  <a:tcPr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50760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dirty="0">
                          <a:ln>
                            <a:noFill/>
                          </a:ln>
                          <a:solidFill>
                            <a:schemeClr val="tx1"/>
                          </a:solidFill>
                          <a:effectLst/>
                          <a:latin typeface="Arial" pitchFamily="34" charset="0"/>
                          <a:ea typeface="宋体" pitchFamily="2" charset="-122"/>
                        </a:rPr>
                        <a:t>小海</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2600" b="0" i="0" u="none" strike="noStrike" cap="none" normalizeH="0" baseline="0" dirty="0">
                          <a:ln>
                            <a:noFill/>
                          </a:ln>
                          <a:solidFill>
                            <a:schemeClr val="tx1"/>
                          </a:solidFill>
                          <a:effectLst/>
                          <a:latin typeface="Arial" pitchFamily="34" charset="0"/>
                          <a:ea typeface="宋体" pitchFamily="2" charset="-122"/>
                        </a:rPr>
                        <a:t>10</a:t>
                      </a:r>
                    </a:p>
                  </a:txBody>
                  <a:tcPr marR="182880"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50760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dirty="0">
                          <a:ln>
                            <a:noFill/>
                          </a:ln>
                          <a:solidFill>
                            <a:schemeClr val="tx1"/>
                          </a:solidFill>
                          <a:effectLst/>
                          <a:latin typeface="Arial" pitchFamily="34" charset="0"/>
                          <a:ea typeface="宋体" pitchFamily="2" charset="-122"/>
                        </a:rPr>
                        <a:t>小肥</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2600" b="0" i="0" u="none" strike="noStrike" cap="none" normalizeH="0" baseline="0">
                          <a:ln>
                            <a:noFill/>
                          </a:ln>
                          <a:solidFill>
                            <a:schemeClr val="tx1"/>
                          </a:solidFill>
                          <a:effectLst/>
                          <a:latin typeface="Arial" pitchFamily="34" charset="0"/>
                          <a:ea typeface="宋体" pitchFamily="2" charset="-122"/>
                        </a:rPr>
                        <a:t>20</a:t>
                      </a:r>
                    </a:p>
                  </a:txBody>
                  <a:tcPr marR="182880"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50760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dirty="0">
                          <a:ln>
                            <a:noFill/>
                          </a:ln>
                          <a:solidFill>
                            <a:schemeClr val="tx1"/>
                          </a:solidFill>
                          <a:effectLst/>
                          <a:latin typeface="Arial" pitchFamily="34" charset="0"/>
                          <a:ea typeface="宋体" pitchFamily="2" charset="-122"/>
                        </a:rPr>
                        <a:t>小东</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2600" b="0" i="0" u="none" strike="noStrike" cap="none" normalizeH="0" baseline="0" dirty="0">
                          <a:ln>
                            <a:noFill/>
                          </a:ln>
                          <a:solidFill>
                            <a:schemeClr val="tx1"/>
                          </a:solidFill>
                          <a:effectLst/>
                          <a:latin typeface="Arial" pitchFamily="34" charset="0"/>
                          <a:ea typeface="宋体" pitchFamily="2" charset="-122"/>
                        </a:rPr>
                        <a:t>35</a:t>
                      </a:r>
                    </a:p>
                  </a:txBody>
                  <a:tcPr marR="182880" marT="45730" marB="457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bl>
          </a:graphicData>
        </a:graphic>
      </p:graphicFrame>
      <p:sp>
        <p:nvSpPr>
          <p:cNvPr id="37908" name="Text Box 95">
            <a:extLst>
              <a:ext uri="{FF2B5EF4-FFF2-40B4-BE49-F238E27FC236}">
                <a16:creationId xmlns:a16="http://schemas.microsoft.com/office/drawing/2014/main" id="{EF17B0EE-DF4C-4D37-90CB-5471CF65A0E8}"/>
              </a:ext>
            </a:extLst>
          </p:cNvPr>
          <p:cNvSpPr txBox="1">
            <a:spLocks noChangeArrowheads="1"/>
          </p:cNvSpPr>
          <p:nvPr/>
        </p:nvSpPr>
        <p:spPr bwMode="auto">
          <a:xfrm>
            <a:off x="3779945" y="3324915"/>
            <a:ext cx="514985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50000"/>
              </a:spcBef>
              <a:buClrTx/>
              <a:buFontTx/>
              <a:buNone/>
            </a:pPr>
            <a:r>
              <a:rPr lang="zh-CN" altLang="en-US" sz="2700" b="0" dirty="0">
                <a:latin typeface="Arial" panose="020B0604020202020204" pitchFamily="34" charset="0"/>
              </a:rPr>
              <a:t>一个卖者生产和出售物品或服务，除非价格高于其成本</a:t>
            </a:r>
            <a:r>
              <a:rPr lang="en-US" altLang="zh-CN" sz="2700" b="0" dirty="0">
                <a:latin typeface="Arial" panose="020B0604020202020204" pitchFamily="34" charset="0"/>
              </a:rPr>
              <a:t> </a:t>
            </a:r>
            <a:r>
              <a:rPr lang="zh-CN" altLang="en-US" sz="2700" b="0" dirty="0">
                <a:latin typeface="Arial" panose="020B0604020202020204" pitchFamily="34" charset="0"/>
              </a:rPr>
              <a:t>。因此，成本衡量了其出售意愿。</a:t>
            </a:r>
            <a:endParaRPr lang="en-US" altLang="zh-CN" sz="2700" b="0" dirty="0">
              <a:latin typeface="Arial" panose="020B0604020202020204" pitchFamily="34" charset="0"/>
            </a:endParaRPr>
          </a:p>
        </p:txBody>
      </p:sp>
      <p:sp>
        <p:nvSpPr>
          <p:cNvPr id="87060" name="Rectangle 96">
            <a:extLst>
              <a:ext uri="{FF2B5EF4-FFF2-40B4-BE49-F238E27FC236}">
                <a16:creationId xmlns:a16="http://schemas.microsoft.com/office/drawing/2014/main" id="{56EE3399-657E-4ADD-869E-B87996606833}"/>
              </a:ext>
            </a:extLst>
          </p:cNvPr>
          <p:cNvSpPr>
            <a:spLocks noGrp="1" noChangeArrowheads="1"/>
          </p:cNvSpPr>
          <p:nvPr>
            <p:ph type="body" idx="4294967295"/>
          </p:nvPr>
        </p:nvSpPr>
        <p:spPr>
          <a:xfrm>
            <a:off x="457200" y="1124841"/>
            <a:ext cx="8229600" cy="1224084"/>
          </a:xfrm>
        </p:spPr>
        <p:txBody>
          <a:bodyPr/>
          <a:lstStyle/>
          <a:p>
            <a:pPr>
              <a:spcBef>
                <a:spcPct val="35000"/>
              </a:spcBef>
            </a:pPr>
            <a:r>
              <a:rPr lang="zh-CN" altLang="en-US" dirty="0">
                <a:ea typeface="宋体" panose="02010600030101010101" pitchFamily="2" charset="-122"/>
              </a:rPr>
              <a:t>举例说明生产者剩余：三个提供火锅服务卖者的成本</a:t>
            </a:r>
            <a:endParaRPr lang="en-US" altLang="zh-CN" dirty="0">
              <a:ea typeface="宋体" panose="02010600030101010101" pitchFamily="2" charset="-122"/>
            </a:endParaRPr>
          </a:p>
        </p:txBody>
      </p:sp>
      <p:sp>
        <p:nvSpPr>
          <p:cNvPr id="104469" name="Title 1">
            <a:extLst>
              <a:ext uri="{FF2B5EF4-FFF2-40B4-BE49-F238E27FC236}">
                <a16:creationId xmlns:a16="http://schemas.microsoft.com/office/drawing/2014/main" id="{27D84275-BF8D-4D36-B31B-BD6F1DB44D2C}"/>
              </a:ext>
            </a:extLst>
          </p:cNvPr>
          <p:cNvSpPr txBox="1">
            <a:spLocks/>
          </p:cNvSpPr>
          <p:nvPr/>
        </p:nvSpPr>
        <p:spPr bwMode="auto">
          <a:xfrm>
            <a:off x="1042988" y="404813"/>
            <a:ext cx="799332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dirty="0">
                <a:latin typeface="Arial" panose="020B0604020202020204" pitchFamily="34" charset="0"/>
              </a:rPr>
              <a:t>生产者剩余部分与成本与供给曲线密不可分</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060">
                                            <p:txEl>
                                              <p:pRg st="0" end="0"/>
                                            </p:txEl>
                                          </p:spTgt>
                                        </p:tgtEl>
                                        <p:attrNameLst>
                                          <p:attrName>style.visibility</p:attrName>
                                        </p:attrNameLst>
                                      </p:cBhvr>
                                      <p:to>
                                        <p:strVal val="visible"/>
                                      </p:to>
                                    </p:set>
                                    <p:animEffect transition="in" filter="blinds(horizontal)">
                                      <p:cBhvr>
                                        <p:cTn id="7" dur="500"/>
                                        <p:tgtEl>
                                          <p:spTgt spid="8706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7891"/>
                                        </p:tgtEl>
                                        <p:attrNameLst>
                                          <p:attrName>style.visibility</p:attrName>
                                        </p:attrNameLst>
                                      </p:cBhvr>
                                      <p:to>
                                        <p:strVal val="visible"/>
                                      </p:to>
                                    </p:set>
                                    <p:animEffect transition="in" filter="dissolve">
                                      <p:cBhvr>
                                        <p:cTn id="10" dur="500"/>
                                        <p:tgtEl>
                                          <p:spTgt spid="3789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7908">
                                            <p:txEl>
                                              <p:pRg st="0" end="0"/>
                                            </p:txEl>
                                          </p:spTgt>
                                        </p:tgtEl>
                                        <p:attrNameLst>
                                          <p:attrName>style.visibility</p:attrName>
                                        </p:attrNameLst>
                                      </p:cBhvr>
                                      <p:to>
                                        <p:strVal val="visible"/>
                                      </p:to>
                                    </p:set>
                                    <p:animEffect transition="in" filter="wipe(left)">
                                      <p:cBhvr>
                                        <p:cTn id="15" dur="500"/>
                                        <p:tgtEl>
                                          <p:spTgt spid="379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8" grpId="0" build="p" autoUpdateAnimBg="0"/>
      <p:bldP spid="87060"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4">
            <a:extLst>
              <a:ext uri="{FF2B5EF4-FFF2-40B4-BE49-F238E27FC236}">
                <a16:creationId xmlns:a16="http://schemas.microsoft.com/office/drawing/2014/main" id="{132CFAB0-AE55-4A4A-939C-95A7B7917C7F}"/>
              </a:ext>
            </a:extLst>
          </p:cNvPr>
          <p:cNvSpPr>
            <a:spLocks noChangeArrowheads="1"/>
          </p:cNvSpPr>
          <p:nvPr/>
        </p:nvSpPr>
        <p:spPr bwMode="auto">
          <a:xfrm>
            <a:off x="7770813" y="4133850"/>
            <a:ext cx="795337"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05000"/>
              </a:lnSpc>
              <a:spcBef>
                <a:spcPct val="45000"/>
              </a:spcBef>
              <a:buClr>
                <a:srgbClr val="00B85C"/>
              </a:buClr>
              <a:buSzPct val="120000"/>
              <a:buFont typeface="Wingdings" panose="05000000000000000000" pitchFamily="2" charset="2"/>
              <a:buNone/>
            </a:pPr>
            <a:r>
              <a:rPr lang="en-US" altLang="zh-CN" sz="2500" b="0">
                <a:latin typeface="Arial" panose="020B0604020202020204" pitchFamily="34" charset="0"/>
              </a:rPr>
              <a:t>3</a:t>
            </a:r>
          </a:p>
        </p:txBody>
      </p:sp>
      <p:sp>
        <p:nvSpPr>
          <p:cNvPr id="39940" name="Rectangle 5">
            <a:extLst>
              <a:ext uri="{FF2B5EF4-FFF2-40B4-BE49-F238E27FC236}">
                <a16:creationId xmlns:a16="http://schemas.microsoft.com/office/drawing/2014/main" id="{4A17521A-5091-44FC-A0E3-8977B1ABA046}"/>
              </a:ext>
            </a:extLst>
          </p:cNvPr>
          <p:cNvSpPr>
            <a:spLocks noChangeArrowheads="1"/>
          </p:cNvSpPr>
          <p:nvPr/>
        </p:nvSpPr>
        <p:spPr bwMode="auto">
          <a:xfrm>
            <a:off x="6348413" y="4162425"/>
            <a:ext cx="1301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137160"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05000"/>
              </a:lnSpc>
              <a:spcBef>
                <a:spcPct val="45000"/>
              </a:spcBef>
              <a:buClr>
                <a:srgbClr val="00B85C"/>
              </a:buClr>
              <a:buSzPct val="120000"/>
              <a:buFont typeface="Wingdings" panose="05000000000000000000" pitchFamily="2" charset="2"/>
              <a:buNone/>
            </a:pPr>
            <a:r>
              <a:rPr lang="en-US" altLang="zh-CN" sz="2500" b="0">
                <a:latin typeface="Arial" panose="020B0604020202020204" pitchFamily="34" charset="0"/>
              </a:rPr>
              <a:t> </a:t>
            </a:r>
            <a:r>
              <a:rPr lang="zh-CN" altLang="en-US" sz="2500" b="0">
                <a:latin typeface="Arial" panose="020B0604020202020204" pitchFamily="34" charset="0"/>
              </a:rPr>
              <a:t>≥</a:t>
            </a:r>
            <a:r>
              <a:rPr lang="en-US" altLang="zh-CN" sz="2500" b="0">
                <a:latin typeface="Arial" panose="020B0604020202020204" pitchFamily="34" charset="0"/>
              </a:rPr>
              <a:t>35</a:t>
            </a:r>
          </a:p>
        </p:txBody>
      </p:sp>
      <p:sp>
        <p:nvSpPr>
          <p:cNvPr id="39941" name="Rectangle 6">
            <a:extLst>
              <a:ext uri="{FF2B5EF4-FFF2-40B4-BE49-F238E27FC236}">
                <a16:creationId xmlns:a16="http://schemas.microsoft.com/office/drawing/2014/main" id="{87DD8FD2-7D24-4D58-8CDD-93A4268E09A1}"/>
              </a:ext>
            </a:extLst>
          </p:cNvPr>
          <p:cNvSpPr>
            <a:spLocks noChangeArrowheads="1"/>
          </p:cNvSpPr>
          <p:nvPr/>
        </p:nvSpPr>
        <p:spPr bwMode="auto">
          <a:xfrm>
            <a:off x="7770813" y="3443288"/>
            <a:ext cx="795337"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05000"/>
              </a:lnSpc>
              <a:spcBef>
                <a:spcPct val="45000"/>
              </a:spcBef>
              <a:buClr>
                <a:srgbClr val="00B85C"/>
              </a:buClr>
              <a:buSzPct val="120000"/>
              <a:buFont typeface="Wingdings" panose="05000000000000000000" pitchFamily="2" charset="2"/>
              <a:buNone/>
            </a:pPr>
            <a:r>
              <a:rPr lang="en-US" altLang="zh-CN" sz="2500" b="0">
                <a:latin typeface="Arial" panose="020B0604020202020204" pitchFamily="34" charset="0"/>
              </a:rPr>
              <a:t>2</a:t>
            </a:r>
          </a:p>
        </p:txBody>
      </p:sp>
      <p:sp>
        <p:nvSpPr>
          <p:cNvPr id="39942" name="Rectangle 7">
            <a:extLst>
              <a:ext uri="{FF2B5EF4-FFF2-40B4-BE49-F238E27FC236}">
                <a16:creationId xmlns:a16="http://schemas.microsoft.com/office/drawing/2014/main" id="{56A792DA-B7B8-485F-968D-7B56C74B67E9}"/>
              </a:ext>
            </a:extLst>
          </p:cNvPr>
          <p:cNvSpPr>
            <a:spLocks noChangeArrowheads="1"/>
          </p:cNvSpPr>
          <p:nvPr/>
        </p:nvSpPr>
        <p:spPr bwMode="auto">
          <a:xfrm>
            <a:off x="6334125" y="3443288"/>
            <a:ext cx="143668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137160"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05000"/>
              </a:lnSpc>
              <a:spcBef>
                <a:spcPct val="45000"/>
              </a:spcBef>
              <a:buClr>
                <a:srgbClr val="00B85C"/>
              </a:buClr>
              <a:buSzPct val="120000"/>
              <a:buFont typeface="Wingdings" panose="05000000000000000000" pitchFamily="2" charset="2"/>
              <a:buNone/>
            </a:pPr>
            <a:r>
              <a:rPr lang="en-US" altLang="zh-CN" sz="2500" b="0">
                <a:latin typeface="Arial" panose="020B0604020202020204" pitchFamily="34" charset="0"/>
              </a:rPr>
              <a:t>20 – 34</a:t>
            </a:r>
          </a:p>
        </p:txBody>
      </p:sp>
      <p:sp>
        <p:nvSpPr>
          <p:cNvPr id="39943" name="Rectangle 8">
            <a:extLst>
              <a:ext uri="{FF2B5EF4-FFF2-40B4-BE49-F238E27FC236}">
                <a16:creationId xmlns:a16="http://schemas.microsoft.com/office/drawing/2014/main" id="{8717B080-4B41-4D84-9A74-027B06B778AA}"/>
              </a:ext>
            </a:extLst>
          </p:cNvPr>
          <p:cNvSpPr>
            <a:spLocks noChangeArrowheads="1"/>
          </p:cNvSpPr>
          <p:nvPr/>
        </p:nvSpPr>
        <p:spPr bwMode="auto">
          <a:xfrm>
            <a:off x="7770813" y="2752725"/>
            <a:ext cx="795337"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05000"/>
              </a:lnSpc>
              <a:spcBef>
                <a:spcPct val="45000"/>
              </a:spcBef>
              <a:buClr>
                <a:srgbClr val="00B85C"/>
              </a:buClr>
              <a:buSzPct val="120000"/>
              <a:buFont typeface="Wingdings" panose="05000000000000000000" pitchFamily="2" charset="2"/>
              <a:buNone/>
            </a:pPr>
            <a:r>
              <a:rPr lang="en-US" altLang="zh-CN" sz="2500" b="0">
                <a:latin typeface="Arial" panose="020B0604020202020204" pitchFamily="34" charset="0"/>
              </a:rPr>
              <a:t>1</a:t>
            </a:r>
          </a:p>
        </p:txBody>
      </p:sp>
      <p:sp>
        <p:nvSpPr>
          <p:cNvPr id="39944" name="Rectangle 9">
            <a:extLst>
              <a:ext uri="{FF2B5EF4-FFF2-40B4-BE49-F238E27FC236}">
                <a16:creationId xmlns:a16="http://schemas.microsoft.com/office/drawing/2014/main" id="{4637F037-2355-412D-A2C4-CA3472ADA237}"/>
              </a:ext>
            </a:extLst>
          </p:cNvPr>
          <p:cNvSpPr>
            <a:spLocks noChangeArrowheads="1"/>
          </p:cNvSpPr>
          <p:nvPr/>
        </p:nvSpPr>
        <p:spPr bwMode="auto">
          <a:xfrm>
            <a:off x="6334125" y="2752725"/>
            <a:ext cx="1436688"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137160"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05000"/>
              </a:lnSpc>
              <a:spcBef>
                <a:spcPct val="45000"/>
              </a:spcBef>
              <a:buClr>
                <a:srgbClr val="00B85C"/>
              </a:buClr>
              <a:buSzPct val="120000"/>
              <a:buFont typeface="Wingdings" panose="05000000000000000000" pitchFamily="2" charset="2"/>
              <a:buNone/>
            </a:pPr>
            <a:r>
              <a:rPr lang="en-US" altLang="zh-CN" sz="2500" b="0">
                <a:latin typeface="Arial" panose="020B0604020202020204" pitchFamily="34" charset="0"/>
              </a:rPr>
              <a:t>10 – 19</a:t>
            </a:r>
          </a:p>
        </p:txBody>
      </p:sp>
      <p:sp>
        <p:nvSpPr>
          <p:cNvPr id="39945" name="Rectangle 10">
            <a:extLst>
              <a:ext uri="{FF2B5EF4-FFF2-40B4-BE49-F238E27FC236}">
                <a16:creationId xmlns:a16="http://schemas.microsoft.com/office/drawing/2014/main" id="{05A6CACE-6DCC-483B-97E0-C6EE45BD72F5}"/>
              </a:ext>
            </a:extLst>
          </p:cNvPr>
          <p:cNvSpPr>
            <a:spLocks noChangeArrowheads="1"/>
          </p:cNvSpPr>
          <p:nvPr/>
        </p:nvSpPr>
        <p:spPr bwMode="auto">
          <a:xfrm>
            <a:off x="7770813" y="2062163"/>
            <a:ext cx="795337"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05000"/>
              </a:lnSpc>
              <a:spcBef>
                <a:spcPct val="45000"/>
              </a:spcBef>
              <a:buClr>
                <a:srgbClr val="00B85C"/>
              </a:buClr>
              <a:buSzPct val="120000"/>
              <a:buFont typeface="Wingdings" panose="05000000000000000000" pitchFamily="2" charset="2"/>
              <a:buNone/>
            </a:pPr>
            <a:r>
              <a:rPr lang="en-US" altLang="zh-CN" sz="2500" b="0">
                <a:latin typeface="Arial" panose="020B0604020202020204" pitchFamily="34" charset="0"/>
              </a:rPr>
              <a:t>0</a:t>
            </a:r>
          </a:p>
        </p:txBody>
      </p:sp>
      <p:sp>
        <p:nvSpPr>
          <p:cNvPr id="39946" name="Rectangle 11">
            <a:extLst>
              <a:ext uri="{FF2B5EF4-FFF2-40B4-BE49-F238E27FC236}">
                <a16:creationId xmlns:a16="http://schemas.microsoft.com/office/drawing/2014/main" id="{5532E9AD-DFF9-490F-9908-67008B0BBDC6}"/>
              </a:ext>
            </a:extLst>
          </p:cNvPr>
          <p:cNvSpPr>
            <a:spLocks noChangeArrowheads="1"/>
          </p:cNvSpPr>
          <p:nvPr/>
        </p:nvSpPr>
        <p:spPr bwMode="auto">
          <a:xfrm>
            <a:off x="6334125" y="2062163"/>
            <a:ext cx="143668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137160"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05000"/>
              </a:lnSpc>
              <a:spcBef>
                <a:spcPct val="45000"/>
              </a:spcBef>
              <a:buClr>
                <a:srgbClr val="00B85C"/>
              </a:buClr>
              <a:buSzPct val="120000"/>
              <a:buFont typeface="Wingdings" panose="05000000000000000000" pitchFamily="2" charset="2"/>
              <a:buNone/>
            </a:pPr>
            <a:r>
              <a:rPr lang="en-US" altLang="zh-CN" sz="2500" b="0">
                <a:latin typeface="Arial" panose="020B0604020202020204" pitchFamily="34" charset="0"/>
              </a:rPr>
              <a:t>0 – 9</a:t>
            </a:r>
          </a:p>
        </p:txBody>
      </p:sp>
      <p:sp>
        <p:nvSpPr>
          <p:cNvPr id="39947" name="Rectangle 12">
            <a:extLst>
              <a:ext uri="{FF2B5EF4-FFF2-40B4-BE49-F238E27FC236}">
                <a16:creationId xmlns:a16="http://schemas.microsoft.com/office/drawing/2014/main" id="{88DD7D6F-8D82-4DF8-86FC-9C2969A80315}"/>
              </a:ext>
            </a:extLst>
          </p:cNvPr>
          <p:cNvSpPr>
            <a:spLocks noChangeArrowheads="1"/>
          </p:cNvSpPr>
          <p:nvPr/>
        </p:nvSpPr>
        <p:spPr bwMode="auto">
          <a:xfrm>
            <a:off x="7770813" y="1481138"/>
            <a:ext cx="7953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05000"/>
              </a:lnSpc>
              <a:spcBef>
                <a:spcPct val="45000"/>
              </a:spcBef>
              <a:buClr>
                <a:srgbClr val="00B85C"/>
              </a:buClr>
              <a:buSzPct val="120000"/>
              <a:buFont typeface="Wingdings" panose="05000000000000000000" pitchFamily="2" charset="2"/>
              <a:buNone/>
            </a:pPr>
            <a:r>
              <a:rPr lang="en-US" altLang="zh-CN" sz="2500" i="1">
                <a:latin typeface="Arial" panose="020B0604020202020204" pitchFamily="34" charset="0"/>
              </a:rPr>
              <a:t>Q</a:t>
            </a:r>
            <a:r>
              <a:rPr lang="en-US" altLang="zh-CN" sz="2500" i="1" baseline="30000">
                <a:latin typeface="Arial" panose="020B0604020202020204" pitchFamily="34" charset="0"/>
              </a:rPr>
              <a:t>s</a:t>
            </a:r>
          </a:p>
        </p:txBody>
      </p:sp>
      <p:sp>
        <p:nvSpPr>
          <p:cNvPr id="39948" name="Rectangle 13">
            <a:extLst>
              <a:ext uri="{FF2B5EF4-FFF2-40B4-BE49-F238E27FC236}">
                <a16:creationId xmlns:a16="http://schemas.microsoft.com/office/drawing/2014/main" id="{AC43B99D-E87A-4F94-A94D-DD6C48D75C86}"/>
              </a:ext>
            </a:extLst>
          </p:cNvPr>
          <p:cNvSpPr>
            <a:spLocks noChangeArrowheads="1"/>
          </p:cNvSpPr>
          <p:nvPr/>
        </p:nvSpPr>
        <p:spPr bwMode="auto">
          <a:xfrm>
            <a:off x="6334125" y="1481138"/>
            <a:ext cx="14366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05000"/>
              </a:lnSpc>
              <a:spcBef>
                <a:spcPct val="45000"/>
              </a:spcBef>
              <a:buClr>
                <a:srgbClr val="00B85C"/>
              </a:buClr>
              <a:buSzPct val="120000"/>
              <a:buFont typeface="Wingdings" panose="05000000000000000000" pitchFamily="2" charset="2"/>
              <a:buNone/>
            </a:pPr>
            <a:r>
              <a:rPr lang="en-US" altLang="zh-CN" sz="2500" i="1">
                <a:latin typeface="Arial" panose="020B0604020202020204" pitchFamily="34" charset="0"/>
              </a:rPr>
              <a:t>P</a:t>
            </a:r>
          </a:p>
        </p:txBody>
      </p:sp>
      <p:sp>
        <p:nvSpPr>
          <p:cNvPr id="39949" name="Line 14">
            <a:extLst>
              <a:ext uri="{FF2B5EF4-FFF2-40B4-BE49-F238E27FC236}">
                <a16:creationId xmlns:a16="http://schemas.microsoft.com/office/drawing/2014/main" id="{E169F704-410A-430D-831D-BF186CE99E3F}"/>
              </a:ext>
            </a:extLst>
          </p:cNvPr>
          <p:cNvSpPr>
            <a:spLocks noChangeShapeType="1"/>
          </p:cNvSpPr>
          <p:nvPr/>
        </p:nvSpPr>
        <p:spPr bwMode="auto">
          <a:xfrm>
            <a:off x="6334125" y="1481138"/>
            <a:ext cx="223202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rIns="0" anchor="ctr"/>
          <a:lstStyle/>
          <a:p>
            <a:endParaRPr lang="zh-CN" altLang="en-US"/>
          </a:p>
        </p:txBody>
      </p:sp>
      <p:sp>
        <p:nvSpPr>
          <p:cNvPr id="39950" name="Line 15">
            <a:extLst>
              <a:ext uri="{FF2B5EF4-FFF2-40B4-BE49-F238E27FC236}">
                <a16:creationId xmlns:a16="http://schemas.microsoft.com/office/drawing/2014/main" id="{9F9CBD7F-D34F-4603-96A3-D2C83EA11A8D}"/>
              </a:ext>
            </a:extLst>
          </p:cNvPr>
          <p:cNvSpPr>
            <a:spLocks noChangeShapeType="1"/>
          </p:cNvSpPr>
          <p:nvPr/>
        </p:nvSpPr>
        <p:spPr bwMode="auto">
          <a:xfrm>
            <a:off x="6334125" y="2062163"/>
            <a:ext cx="22320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rIns="0" anchor="ctr"/>
          <a:lstStyle/>
          <a:p>
            <a:endParaRPr lang="zh-CN" altLang="en-US"/>
          </a:p>
        </p:txBody>
      </p:sp>
      <p:sp>
        <p:nvSpPr>
          <p:cNvPr id="39951" name="Line 16">
            <a:extLst>
              <a:ext uri="{FF2B5EF4-FFF2-40B4-BE49-F238E27FC236}">
                <a16:creationId xmlns:a16="http://schemas.microsoft.com/office/drawing/2014/main" id="{BBF217D9-F84D-4E9C-9F3C-83E6816E0D06}"/>
              </a:ext>
            </a:extLst>
          </p:cNvPr>
          <p:cNvSpPr>
            <a:spLocks noChangeShapeType="1"/>
          </p:cNvSpPr>
          <p:nvPr/>
        </p:nvSpPr>
        <p:spPr bwMode="auto">
          <a:xfrm>
            <a:off x="6334125" y="4824413"/>
            <a:ext cx="2232025"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rIns="0" anchor="ctr"/>
          <a:lstStyle/>
          <a:p>
            <a:endParaRPr lang="zh-CN" altLang="en-US"/>
          </a:p>
        </p:txBody>
      </p:sp>
      <p:sp>
        <p:nvSpPr>
          <p:cNvPr id="39952" name="Line 17">
            <a:extLst>
              <a:ext uri="{FF2B5EF4-FFF2-40B4-BE49-F238E27FC236}">
                <a16:creationId xmlns:a16="http://schemas.microsoft.com/office/drawing/2014/main" id="{935116A5-2C6F-458A-829D-6B1145BFBDC4}"/>
              </a:ext>
            </a:extLst>
          </p:cNvPr>
          <p:cNvSpPr>
            <a:spLocks noChangeShapeType="1"/>
          </p:cNvSpPr>
          <p:nvPr/>
        </p:nvSpPr>
        <p:spPr bwMode="auto">
          <a:xfrm>
            <a:off x="6334125" y="1481138"/>
            <a:ext cx="0" cy="3343275"/>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rIns="0" anchor="ctr"/>
          <a:lstStyle/>
          <a:p>
            <a:endParaRPr lang="zh-CN" altLang="en-US"/>
          </a:p>
        </p:txBody>
      </p:sp>
      <p:sp>
        <p:nvSpPr>
          <p:cNvPr id="39953" name="Line 18">
            <a:extLst>
              <a:ext uri="{FF2B5EF4-FFF2-40B4-BE49-F238E27FC236}">
                <a16:creationId xmlns:a16="http://schemas.microsoft.com/office/drawing/2014/main" id="{39ACA18B-E67B-410B-9A22-4CDC80FC288E}"/>
              </a:ext>
            </a:extLst>
          </p:cNvPr>
          <p:cNvSpPr>
            <a:spLocks noChangeShapeType="1"/>
          </p:cNvSpPr>
          <p:nvPr/>
        </p:nvSpPr>
        <p:spPr bwMode="auto">
          <a:xfrm>
            <a:off x="7770813" y="1481138"/>
            <a:ext cx="0" cy="3343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rIns="0" anchor="ctr"/>
          <a:lstStyle/>
          <a:p>
            <a:endParaRPr lang="zh-CN" altLang="en-US"/>
          </a:p>
        </p:txBody>
      </p:sp>
      <p:sp>
        <p:nvSpPr>
          <p:cNvPr id="39954" name="Line 19">
            <a:extLst>
              <a:ext uri="{FF2B5EF4-FFF2-40B4-BE49-F238E27FC236}">
                <a16:creationId xmlns:a16="http://schemas.microsoft.com/office/drawing/2014/main" id="{EE0DCD56-0BF4-4883-A8D3-8E5EEE919C82}"/>
              </a:ext>
            </a:extLst>
          </p:cNvPr>
          <p:cNvSpPr>
            <a:spLocks noChangeShapeType="1"/>
          </p:cNvSpPr>
          <p:nvPr/>
        </p:nvSpPr>
        <p:spPr bwMode="auto">
          <a:xfrm>
            <a:off x="8566150" y="1481138"/>
            <a:ext cx="0" cy="3343275"/>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rIns="0" anchor="ctr"/>
          <a:lstStyle/>
          <a:p>
            <a:endParaRPr lang="zh-CN" altLang="en-US"/>
          </a:p>
        </p:txBody>
      </p:sp>
      <p:sp>
        <p:nvSpPr>
          <p:cNvPr id="39955" name="Line 20">
            <a:extLst>
              <a:ext uri="{FF2B5EF4-FFF2-40B4-BE49-F238E27FC236}">
                <a16:creationId xmlns:a16="http://schemas.microsoft.com/office/drawing/2014/main" id="{27DA6145-32D0-4944-B921-2E6020BD8980}"/>
              </a:ext>
            </a:extLst>
          </p:cNvPr>
          <p:cNvSpPr>
            <a:spLocks noChangeShapeType="1"/>
          </p:cNvSpPr>
          <p:nvPr/>
        </p:nvSpPr>
        <p:spPr bwMode="auto">
          <a:xfrm>
            <a:off x="6334125" y="2752725"/>
            <a:ext cx="22320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rIns="0" anchor="ctr"/>
          <a:lstStyle/>
          <a:p>
            <a:endParaRPr lang="zh-CN" altLang="en-US"/>
          </a:p>
        </p:txBody>
      </p:sp>
      <p:sp>
        <p:nvSpPr>
          <p:cNvPr id="39956" name="Line 21">
            <a:extLst>
              <a:ext uri="{FF2B5EF4-FFF2-40B4-BE49-F238E27FC236}">
                <a16:creationId xmlns:a16="http://schemas.microsoft.com/office/drawing/2014/main" id="{0F4DF725-B0A8-4957-A663-E475A840E718}"/>
              </a:ext>
            </a:extLst>
          </p:cNvPr>
          <p:cNvSpPr>
            <a:spLocks noChangeShapeType="1"/>
          </p:cNvSpPr>
          <p:nvPr/>
        </p:nvSpPr>
        <p:spPr bwMode="auto">
          <a:xfrm>
            <a:off x="6334125" y="3443288"/>
            <a:ext cx="22320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rIns="0" anchor="ctr"/>
          <a:lstStyle/>
          <a:p>
            <a:endParaRPr lang="zh-CN" altLang="en-US"/>
          </a:p>
        </p:txBody>
      </p:sp>
      <p:sp>
        <p:nvSpPr>
          <p:cNvPr id="39957" name="Line 22">
            <a:extLst>
              <a:ext uri="{FF2B5EF4-FFF2-40B4-BE49-F238E27FC236}">
                <a16:creationId xmlns:a16="http://schemas.microsoft.com/office/drawing/2014/main" id="{3C09556F-0D48-4B9D-B2DC-AEFE0ED1DAE6}"/>
              </a:ext>
            </a:extLst>
          </p:cNvPr>
          <p:cNvSpPr>
            <a:spLocks noChangeShapeType="1"/>
          </p:cNvSpPr>
          <p:nvPr/>
        </p:nvSpPr>
        <p:spPr bwMode="auto">
          <a:xfrm>
            <a:off x="6334125" y="4133850"/>
            <a:ext cx="22320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rIns="0" anchor="ctr"/>
          <a:lstStyle/>
          <a:p>
            <a:endParaRPr lang="zh-CN" altLang="en-US"/>
          </a:p>
        </p:txBody>
      </p:sp>
      <p:sp>
        <p:nvSpPr>
          <p:cNvPr id="39958" name="Text Box 40">
            <a:extLst>
              <a:ext uri="{FF2B5EF4-FFF2-40B4-BE49-F238E27FC236}">
                <a16:creationId xmlns:a16="http://schemas.microsoft.com/office/drawing/2014/main" id="{DE46B8C2-8CA3-436B-BFD4-F3BF5222723A}"/>
              </a:ext>
            </a:extLst>
          </p:cNvPr>
          <p:cNvSpPr txBox="1">
            <a:spLocks noChangeArrowheads="1"/>
          </p:cNvSpPr>
          <p:nvPr/>
        </p:nvSpPr>
        <p:spPr bwMode="auto">
          <a:xfrm>
            <a:off x="969963" y="1828800"/>
            <a:ext cx="4383087"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50000"/>
              </a:spcBef>
              <a:buClrTx/>
              <a:buFontTx/>
              <a:buNone/>
            </a:pPr>
            <a:r>
              <a:rPr lang="zh-CN" altLang="en-US" b="0">
                <a:latin typeface="Arial" panose="020B0604020202020204" pitchFamily="34" charset="0"/>
              </a:rPr>
              <a:t>根据成本数据画出供给表：</a:t>
            </a:r>
            <a:endParaRPr lang="en-US" altLang="zh-CN" b="0">
              <a:latin typeface="Arial" panose="020B0604020202020204" pitchFamily="34" charset="0"/>
            </a:endParaRPr>
          </a:p>
        </p:txBody>
      </p:sp>
      <p:graphicFrame>
        <p:nvGraphicFramePr>
          <p:cNvPr id="39959" name="Group 23">
            <a:extLst>
              <a:ext uri="{FF2B5EF4-FFF2-40B4-BE49-F238E27FC236}">
                <a16:creationId xmlns:a16="http://schemas.microsoft.com/office/drawing/2014/main" id="{07B05021-5DB6-4CE6-904F-2DD7A5344482}"/>
              </a:ext>
            </a:extLst>
          </p:cNvPr>
          <p:cNvGraphicFramePr>
            <a:graphicFrameLocks noGrp="1"/>
          </p:cNvGraphicFramePr>
          <p:nvPr>
            <p:extLst>
              <p:ext uri="{D42A27DB-BD31-4B8C-83A1-F6EECF244321}">
                <p14:modId xmlns:p14="http://schemas.microsoft.com/office/powerpoint/2010/main" val="723686818"/>
              </p:ext>
            </p:extLst>
          </p:nvPr>
        </p:nvGraphicFramePr>
        <p:xfrm>
          <a:off x="2019300" y="2420938"/>
          <a:ext cx="2436813" cy="2346326"/>
        </p:xfrm>
        <a:graphic>
          <a:graphicData uri="http://schemas.openxmlformats.org/drawingml/2006/table">
            <a:tbl>
              <a:tblPr/>
              <a:tblGrid>
                <a:gridCol w="1389063">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tblGrid>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dirty="0">
                          <a:ln>
                            <a:noFill/>
                          </a:ln>
                          <a:solidFill>
                            <a:schemeClr val="tx1"/>
                          </a:solidFill>
                          <a:effectLst/>
                          <a:latin typeface="Arial" pitchFamily="34" charset="0"/>
                          <a:ea typeface="宋体" pitchFamily="2" charset="-122"/>
                        </a:rPr>
                        <a:t>人名</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a:ln>
                            <a:noFill/>
                          </a:ln>
                          <a:solidFill>
                            <a:schemeClr val="tx1"/>
                          </a:solidFill>
                          <a:effectLst/>
                          <a:latin typeface="Arial" pitchFamily="34" charset="0"/>
                          <a:ea typeface="宋体" pitchFamily="2" charset="-122"/>
                        </a:rPr>
                        <a:t>成本</a:t>
                      </a:r>
                      <a:endParaRPr kumimoji="0" lang="en-US" altLang="zh-CN" sz="2600" b="0" i="0" u="none" strike="noStrike" cap="none" normalizeH="0" baseline="0">
                        <a:ln>
                          <a:noFill/>
                        </a:ln>
                        <a:solidFill>
                          <a:schemeClr val="tx1"/>
                        </a:solidFill>
                        <a:effectLst/>
                        <a:latin typeface="Arial" pitchFamily="34" charset="0"/>
                        <a:ea typeface="宋体"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dirty="0">
                          <a:ln>
                            <a:noFill/>
                          </a:ln>
                          <a:solidFill>
                            <a:schemeClr val="tx1"/>
                          </a:solidFill>
                          <a:effectLst/>
                          <a:latin typeface="Arial" pitchFamily="34" charset="0"/>
                          <a:ea typeface="宋体" pitchFamily="2" charset="-122"/>
                        </a:rPr>
                        <a:t>小海</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2600" b="0" i="0" u="none" strike="noStrike" cap="none" normalizeH="0" baseline="0" dirty="0">
                          <a:ln>
                            <a:noFill/>
                          </a:ln>
                          <a:solidFill>
                            <a:schemeClr val="tx1"/>
                          </a:solidFill>
                          <a:effectLst/>
                          <a:latin typeface="Arial" pitchFamily="34" charset="0"/>
                          <a:ea typeface="宋体" pitchFamily="2" charset="-122"/>
                        </a:rPr>
                        <a:t>10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5873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dirty="0">
                          <a:ln>
                            <a:noFill/>
                          </a:ln>
                          <a:solidFill>
                            <a:schemeClr val="tx1"/>
                          </a:solidFill>
                          <a:effectLst/>
                          <a:latin typeface="Arial" pitchFamily="34" charset="0"/>
                          <a:ea typeface="宋体" pitchFamily="2" charset="-122"/>
                        </a:rPr>
                        <a:t>小肥</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2600" b="0" i="0" u="none" strike="noStrike" cap="none" normalizeH="0" baseline="0">
                          <a:ln>
                            <a:noFill/>
                          </a:ln>
                          <a:solidFill>
                            <a:schemeClr val="tx1"/>
                          </a:solidFill>
                          <a:effectLst/>
                          <a:latin typeface="Arial" pitchFamily="34" charset="0"/>
                          <a:ea typeface="宋体" pitchFamily="2" charset="-122"/>
                        </a:rPr>
                        <a:t>20</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58578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en-US" sz="2600" b="0" i="0" u="none" strike="noStrike" cap="none" normalizeH="0" baseline="0" dirty="0">
                          <a:ln>
                            <a:noFill/>
                          </a:ln>
                          <a:solidFill>
                            <a:schemeClr val="tx1"/>
                          </a:solidFill>
                          <a:effectLst/>
                          <a:latin typeface="Arial" pitchFamily="34" charset="0"/>
                          <a:ea typeface="宋体" pitchFamily="2" charset="-122"/>
                        </a:rPr>
                        <a:t>小东</a:t>
                      </a:r>
                      <a:endParaRPr kumimoji="0" lang="en-US" altLang="zh-CN" sz="2600" b="0" i="0" u="none" strike="noStrike" cap="none" normalizeH="0" baseline="0" dirty="0">
                        <a:ln>
                          <a:noFill/>
                        </a:ln>
                        <a:solidFill>
                          <a:schemeClr val="tx1"/>
                        </a:solidFill>
                        <a:effectLst/>
                        <a:latin typeface="Arial" pitchFamily="34" charset="0"/>
                        <a:ea typeface="宋体" pitchFamily="2" charset="-122"/>
                      </a:endParaRPr>
                    </a:p>
                  </a:txBody>
                  <a:tcPr marL="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2600" b="0" i="0" u="none" strike="noStrike" cap="none" normalizeH="0" baseline="0" dirty="0">
                          <a:ln>
                            <a:noFill/>
                          </a:ln>
                          <a:solidFill>
                            <a:schemeClr val="tx1"/>
                          </a:solidFill>
                          <a:effectLst/>
                          <a:latin typeface="Arial" pitchFamily="34" charset="0"/>
                          <a:ea typeface="宋体" pitchFamily="2" charset="-122"/>
                        </a:rPr>
                        <a:t>35</a:t>
                      </a: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bl>
          </a:graphicData>
        </a:graphic>
      </p:graphicFrame>
      <p:sp>
        <p:nvSpPr>
          <p:cNvPr id="106535" name="Title 1">
            <a:extLst>
              <a:ext uri="{FF2B5EF4-FFF2-40B4-BE49-F238E27FC236}">
                <a16:creationId xmlns:a16="http://schemas.microsoft.com/office/drawing/2014/main" id="{87BDC50A-EA6B-4CA8-BB95-6E659F34C2FE}"/>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成本与供给曲线</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58"/>
                                        </p:tgtEl>
                                        <p:attrNameLst>
                                          <p:attrName>style.visibility</p:attrName>
                                        </p:attrNameLst>
                                      </p:cBhvr>
                                      <p:to>
                                        <p:strVal val="visible"/>
                                      </p:to>
                                    </p:set>
                                    <p:animEffect transition="in" filter="wipe(left)">
                                      <p:cBhvr>
                                        <p:cTn id="7" dur="500"/>
                                        <p:tgtEl>
                                          <p:spTgt spid="39958"/>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9949"/>
                                        </p:tgtEl>
                                        <p:attrNameLst>
                                          <p:attrName>style.visibility</p:attrName>
                                        </p:attrNameLst>
                                      </p:cBhvr>
                                      <p:to>
                                        <p:strVal val="visible"/>
                                      </p:to>
                                    </p:set>
                                    <p:animEffect transition="in" filter="dissolve">
                                      <p:cBhvr>
                                        <p:cTn id="11" dur="500"/>
                                        <p:tgtEl>
                                          <p:spTgt spid="39949"/>
                                        </p:tgtEl>
                                      </p:cBhvr>
                                    </p:animEffect>
                                  </p:childTnLst>
                                </p:cTn>
                              </p:par>
                              <p:par>
                                <p:cTn id="12" presetID="9" presetClass="entr" presetSubtype="0" fill="hold" nodeType="withEffect">
                                  <p:stCondLst>
                                    <p:cond delay="0"/>
                                  </p:stCondLst>
                                  <p:childTnLst>
                                    <p:set>
                                      <p:cBhvr>
                                        <p:cTn id="13" dur="1" fill="hold">
                                          <p:stCondLst>
                                            <p:cond delay="0"/>
                                          </p:stCondLst>
                                        </p:cTn>
                                        <p:tgtEl>
                                          <p:spTgt spid="39950"/>
                                        </p:tgtEl>
                                        <p:attrNameLst>
                                          <p:attrName>style.visibility</p:attrName>
                                        </p:attrNameLst>
                                      </p:cBhvr>
                                      <p:to>
                                        <p:strVal val="visible"/>
                                      </p:to>
                                    </p:set>
                                    <p:animEffect transition="in" filter="dissolve">
                                      <p:cBhvr>
                                        <p:cTn id="14" dur="500"/>
                                        <p:tgtEl>
                                          <p:spTgt spid="39950"/>
                                        </p:tgtEl>
                                      </p:cBhvr>
                                    </p:animEffect>
                                  </p:childTnLst>
                                </p:cTn>
                              </p:par>
                              <p:par>
                                <p:cTn id="15" presetID="9" presetClass="entr" presetSubtype="0" fill="hold" nodeType="withEffect">
                                  <p:stCondLst>
                                    <p:cond delay="0"/>
                                  </p:stCondLst>
                                  <p:childTnLst>
                                    <p:set>
                                      <p:cBhvr>
                                        <p:cTn id="16" dur="1" fill="hold">
                                          <p:stCondLst>
                                            <p:cond delay="0"/>
                                          </p:stCondLst>
                                        </p:cTn>
                                        <p:tgtEl>
                                          <p:spTgt spid="39951"/>
                                        </p:tgtEl>
                                        <p:attrNameLst>
                                          <p:attrName>style.visibility</p:attrName>
                                        </p:attrNameLst>
                                      </p:cBhvr>
                                      <p:to>
                                        <p:strVal val="visible"/>
                                      </p:to>
                                    </p:set>
                                    <p:animEffect transition="in" filter="dissolve">
                                      <p:cBhvr>
                                        <p:cTn id="17" dur="500"/>
                                        <p:tgtEl>
                                          <p:spTgt spid="39951"/>
                                        </p:tgtEl>
                                      </p:cBhvr>
                                    </p:animEffect>
                                  </p:childTnLst>
                                </p:cTn>
                              </p:par>
                              <p:par>
                                <p:cTn id="18" presetID="9" presetClass="entr" presetSubtype="0" fill="hold" nodeType="withEffect">
                                  <p:stCondLst>
                                    <p:cond delay="0"/>
                                  </p:stCondLst>
                                  <p:childTnLst>
                                    <p:set>
                                      <p:cBhvr>
                                        <p:cTn id="19" dur="1" fill="hold">
                                          <p:stCondLst>
                                            <p:cond delay="0"/>
                                          </p:stCondLst>
                                        </p:cTn>
                                        <p:tgtEl>
                                          <p:spTgt spid="39952"/>
                                        </p:tgtEl>
                                        <p:attrNameLst>
                                          <p:attrName>style.visibility</p:attrName>
                                        </p:attrNameLst>
                                      </p:cBhvr>
                                      <p:to>
                                        <p:strVal val="visible"/>
                                      </p:to>
                                    </p:set>
                                    <p:animEffect transition="in" filter="dissolve">
                                      <p:cBhvr>
                                        <p:cTn id="20" dur="500"/>
                                        <p:tgtEl>
                                          <p:spTgt spid="39952"/>
                                        </p:tgtEl>
                                      </p:cBhvr>
                                    </p:animEffect>
                                  </p:childTnLst>
                                </p:cTn>
                              </p:par>
                              <p:par>
                                <p:cTn id="21" presetID="9" presetClass="entr" presetSubtype="0" fill="hold" nodeType="withEffect">
                                  <p:stCondLst>
                                    <p:cond delay="0"/>
                                  </p:stCondLst>
                                  <p:childTnLst>
                                    <p:set>
                                      <p:cBhvr>
                                        <p:cTn id="22" dur="1" fill="hold">
                                          <p:stCondLst>
                                            <p:cond delay="0"/>
                                          </p:stCondLst>
                                        </p:cTn>
                                        <p:tgtEl>
                                          <p:spTgt spid="39953"/>
                                        </p:tgtEl>
                                        <p:attrNameLst>
                                          <p:attrName>style.visibility</p:attrName>
                                        </p:attrNameLst>
                                      </p:cBhvr>
                                      <p:to>
                                        <p:strVal val="visible"/>
                                      </p:to>
                                    </p:set>
                                    <p:animEffect transition="in" filter="dissolve">
                                      <p:cBhvr>
                                        <p:cTn id="23" dur="500"/>
                                        <p:tgtEl>
                                          <p:spTgt spid="39953"/>
                                        </p:tgtEl>
                                      </p:cBhvr>
                                    </p:animEffect>
                                  </p:childTnLst>
                                </p:cTn>
                              </p:par>
                              <p:par>
                                <p:cTn id="24" presetID="9" presetClass="entr" presetSubtype="0" fill="hold" nodeType="withEffect">
                                  <p:stCondLst>
                                    <p:cond delay="0"/>
                                  </p:stCondLst>
                                  <p:childTnLst>
                                    <p:set>
                                      <p:cBhvr>
                                        <p:cTn id="25" dur="1" fill="hold">
                                          <p:stCondLst>
                                            <p:cond delay="0"/>
                                          </p:stCondLst>
                                        </p:cTn>
                                        <p:tgtEl>
                                          <p:spTgt spid="39954"/>
                                        </p:tgtEl>
                                        <p:attrNameLst>
                                          <p:attrName>style.visibility</p:attrName>
                                        </p:attrNameLst>
                                      </p:cBhvr>
                                      <p:to>
                                        <p:strVal val="visible"/>
                                      </p:to>
                                    </p:set>
                                    <p:animEffect transition="in" filter="dissolve">
                                      <p:cBhvr>
                                        <p:cTn id="26" dur="500"/>
                                        <p:tgtEl>
                                          <p:spTgt spid="39954"/>
                                        </p:tgtEl>
                                      </p:cBhvr>
                                    </p:animEffect>
                                  </p:childTnLst>
                                </p:cTn>
                              </p:par>
                              <p:par>
                                <p:cTn id="27" presetID="9" presetClass="entr" presetSubtype="0" fill="hold" nodeType="withEffect">
                                  <p:stCondLst>
                                    <p:cond delay="0"/>
                                  </p:stCondLst>
                                  <p:childTnLst>
                                    <p:set>
                                      <p:cBhvr>
                                        <p:cTn id="28" dur="1" fill="hold">
                                          <p:stCondLst>
                                            <p:cond delay="0"/>
                                          </p:stCondLst>
                                        </p:cTn>
                                        <p:tgtEl>
                                          <p:spTgt spid="39955"/>
                                        </p:tgtEl>
                                        <p:attrNameLst>
                                          <p:attrName>style.visibility</p:attrName>
                                        </p:attrNameLst>
                                      </p:cBhvr>
                                      <p:to>
                                        <p:strVal val="visible"/>
                                      </p:to>
                                    </p:set>
                                    <p:animEffect transition="in" filter="dissolve">
                                      <p:cBhvr>
                                        <p:cTn id="29" dur="500"/>
                                        <p:tgtEl>
                                          <p:spTgt spid="39955"/>
                                        </p:tgtEl>
                                      </p:cBhvr>
                                    </p:animEffect>
                                  </p:childTnLst>
                                </p:cTn>
                              </p:par>
                              <p:par>
                                <p:cTn id="30" presetID="9" presetClass="entr" presetSubtype="0" fill="hold" nodeType="withEffect">
                                  <p:stCondLst>
                                    <p:cond delay="0"/>
                                  </p:stCondLst>
                                  <p:childTnLst>
                                    <p:set>
                                      <p:cBhvr>
                                        <p:cTn id="31" dur="1" fill="hold">
                                          <p:stCondLst>
                                            <p:cond delay="0"/>
                                          </p:stCondLst>
                                        </p:cTn>
                                        <p:tgtEl>
                                          <p:spTgt spid="39956"/>
                                        </p:tgtEl>
                                        <p:attrNameLst>
                                          <p:attrName>style.visibility</p:attrName>
                                        </p:attrNameLst>
                                      </p:cBhvr>
                                      <p:to>
                                        <p:strVal val="visible"/>
                                      </p:to>
                                    </p:set>
                                    <p:animEffect transition="in" filter="dissolve">
                                      <p:cBhvr>
                                        <p:cTn id="32" dur="500"/>
                                        <p:tgtEl>
                                          <p:spTgt spid="39956"/>
                                        </p:tgtEl>
                                      </p:cBhvr>
                                    </p:animEffect>
                                  </p:childTnLst>
                                </p:cTn>
                              </p:par>
                              <p:par>
                                <p:cTn id="33" presetID="9" presetClass="entr" presetSubtype="0" fill="hold" nodeType="withEffect">
                                  <p:stCondLst>
                                    <p:cond delay="0"/>
                                  </p:stCondLst>
                                  <p:childTnLst>
                                    <p:set>
                                      <p:cBhvr>
                                        <p:cTn id="34" dur="1" fill="hold">
                                          <p:stCondLst>
                                            <p:cond delay="0"/>
                                          </p:stCondLst>
                                        </p:cTn>
                                        <p:tgtEl>
                                          <p:spTgt spid="39957"/>
                                        </p:tgtEl>
                                        <p:attrNameLst>
                                          <p:attrName>style.visibility</p:attrName>
                                        </p:attrNameLst>
                                      </p:cBhvr>
                                      <p:to>
                                        <p:strVal val="visible"/>
                                      </p:to>
                                    </p:set>
                                    <p:animEffect transition="in" filter="dissolve">
                                      <p:cBhvr>
                                        <p:cTn id="35" dur="500"/>
                                        <p:tgtEl>
                                          <p:spTgt spid="39957"/>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39948"/>
                                        </p:tgtEl>
                                        <p:attrNameLst>
                                          <p:attrName>style.visibility</p:attrName>
                                        </p:attrNameLst>
                                      </p:cBhvr>
                                      <p:to>
                                        <p:strVal val="visible"/>
                                      </p:to>
                                    </p:set>
                                    <p:animEffect transition="in" filter="dissolve">
                                      <p:cBhvr>
                                        <p:cTn id="38" dur="500"/>
                                        <p:tgtEl>
                                          <p:spTgt spid="39948"/>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39947"/>
                                        </p:tgtEl>
                                        <p:attrNameLst>
                                          <p:attrName>style.visibility</p:attrName>
                                        </p:attrNameLst>
                                      </p:cBhvr>
                                      <p:to>
                                        <p:strVal val="visible"/>
                                      </p:to>
                                    </p:set>
                                    <p:animEffect transition="in" filter="dissolve">
                                      <p:cBhvr>
                                        <p:cTn id="41" dur="500"/>
                                        <p:tgtEl>
                                          <p:spTgt spid="39947"/>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39946"/>
                                        </p:tgtEl>
                                        <p:attrNameLst>
                                          <p:attrName>style.visibility</p:attrName>
                                        </p:attrNameLst>
                                      </p:cBhvr>
                                      <p:to>
                                        <p:strVal val="visible"/>
                                      </p:to>
                                    </p:set>
                                    <p:animEffect transition="in" filter="dissolve">
                                      <p:cBhvr>
                                        <p:cTn id="44" dur="500"/>
                                        <p:tgtEl>
                                          <p:spTgt spid="39946"/>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39944"/>
                                        </p:tgtEl>
                                        <p:attrNameLst>
                                          <p:attrName>style.visibility</p:attrName>
                                        </p:attrNameLst>
                                      </p:cBhvr>
                                      <p:to>
                                        <p:strVal val="visible"/>
                                      </p:to>
                                    </p:set>
                                    <p:animEffect transition="in" filter="dissolve">
                                      <p:cBhvr>
                                        <p:cTn id="47" dur="500"/>
                                        <p:tgtEl>
                                          <p:spTgt spid="39944"/>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39942"/>
                                        </p:tgtEl>
                                        <p:attrNameLst>
                                          <p:attrName>style.visibility</p:attrName>
                                        </p:attrNameLst>
                                      </p:cBhvr>
                                      <p:to>
                                        <p:strVal val="visible"/>
                                      </p:to>
                                    </p:set>
                                    <p:animEffect transition="in" filter="dissolve">
                                      <p:cBhvr>
                                        <p:cTn id="50" dur="500"/>
                                        <p:tgtEl>
                                          <p:spTgt spid="39942"/>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39940"/>
                                        </p:tgtEl>
                                        <p:attrNameLst>
                                          <p:attrName>style.visibility</p:attrName>
                                        </p:attrNameLst>
                                      </p:cBhvr>
                                      <p:to>
                                        <p:strVal val="visible"/>
                                      </p:to>
                                    </p:set>
                                    <p:animEffect transition="in" filter="dissolve">
                                      <p:cBhvr>
                                        <p:cTn id="53" dur="500"/>
                                        <p:tgtEl>
                                          <p:spTgt spid="3994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9945"/>
                                        </p:tgtEl>
                                        <p:attrNameLst>
                                          <p:attrName>style.visibility</p:attrName>
                                        </p:attrNameLst>
                                      </p:cBhvr>
                                      <p:to>
                                        <p:strVal val="visible"/>
                                      </p:to>
                                    </p:set>
                                    <p:animEffect transition="in" filter="wipe(left)">
                                      <p:cBhvr>
                                        <p:cTn id="58" dur="500"/>
                                        <p:tgtEl>
                                          <p:spTgt spid="3994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39943"/>
                                        </p:tgtEl>
                                        <p:attrNameLst>
                                          <p:attrName>style.visibility</p:attrName>
                                        </p:attrNameLst>
                                      </p:cBhvr>
                                      <p:to>
                                        <p:strVal val="visible"/>
                                      </p:to>
                                    </p:set>
                                    <p:animEffect transition="in" filter="wipe(left)">
                                      <p:cBhvr>
                                        <p:cTn id="63" dur="500"/>
                                        <p:tgtEl>
                                          <p:spTgt spid="3994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39941"/>
                                        </p:tgtEl>
                                        <p:attrNameLst>
                                          <p:attrName>style.visibility</p:attrName>
                                        </p:attrNameLst>
                                      </p:cBhvr>
                                      <p:to>
                                        <p:strVal val="visible"/>
                                      </p:to>
                                    </p:set>
                                    <p:animEffect transition="in" filter="wipe(left)">
                                      <p:cBhvr>
                                        <p:cTn id="68" dur="500"/>
                                        <p:tgtEl>
                                          <p:spTgt spid="3994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39939"/>
                                        </p:tgtEl>
                                        <p:attrNameLst>
                                          <p:attrName>style.visibility</p:attrName>
                                        </p:attrNameLst>
                                      </p:cBhvr>
                                      <p:to>
                                        <p:strVal val="visible"/>
                                      </p:to>
                                    </p:set>
                                    <p:animEffect transition="in" filter="wipe(left)">
                                      <p:cBhvr>
                                        <p:cTn id="73" dur="500"/>
                                        <p:tgtEl>
                                          <p:spTgt spid="3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autoUpdateAnimBg="0"/>
      <p:bldP spid="39940" grpId="0" autoUpdateAnimBg="0"/>
      <p:bldP spid="39941" grpId="0" autoUpdateAnimBg="0"/>
      <p:bldP spid="39942" grpId="0" autoUpdateAnimBg="0"/>
      <p:bldP spid="39943" grpId="0" autoUpdateAnimBg="0"/>
      <p:bldP spid="39944" grpId="0" autoUpdateAnimBg="0"/>
      <p:bldP spid="39945" grpId="0" autoUpdateAnimBg="0"/>
      <p:bldP spid="39946" grpId="0" autoUpdateAnimBg="0"/>
      <p:bldP spid="39947" grpId="0" autoUpdateAnimBg="0"/>
      <p:bldP spid="39948" grpId="0" autoUpdateAnimBg="0"/>
      <p:bldP spid="39958"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679D737C-1FA2-49CD-BB98-DA8E0447EA40}"/>
              </a:ext>
            </a:extLst>
          </p:cNvPr>
          <p:cNvGrpSpPr>
            <a:grpSpLocks/>
          </p:cNvGrpSpPr>
          <p:nvPr/>
        </p:nvGrpSpPr>
        <p:grpSpPr bwMode="auto">
          <a:xfrm>
            <a:off x="214313" y="979488"/>
            <a:ext cx="4548187" cy="5254625"/>
            <a:chOff x="0" y="0"/>
            <a:chExt cx="2865" cy="3310"/>
          </a:xfrm>
        </p:grpSpPr>
        <p:graphicFrame>
          <p:nvGraphicFramePr>
            <p:cNvPr id="108584" name="Object 2">
              <a:extLst>
                <a:ext uri="{FF2B5EF4-FFF2-40B4-BE49-F238E27FC236}">
                  <a16:creationId xmlns:a16="http://schemas.microsoft.com/office/drawing/2014/main" id="{AF4606A9-B0D6-4BE1-A350-4C4B76237A9E}"/>
                </a:ext>
              </a:extLst>
            </p:cNvPr>
            <p:cNvGraphicFramePr>
              <a:graphicFrameLocks noChangeAspect="1"/>
            </p:cNvGraphicFramePr>
            <p:nvPr/>
          </p:nvGraphicFramePr>
          <p:xfrm>
            <a:off x="0" y="34"/>
            <a:ext cx="2865" cy="3276"/>
          </p:xfrm>
          <a:graphic>
            <a:graphicData uri="http://schemas.openxmlformats.org/presentationml/2006/ole">
              <mc:AlternateContent xmlns:mc="http://schemas.openxmlformats.org/markup-compatibility/2006">
                <mc:Choice xmlns:v="urn:schemas-microsoft-com:vml" Requires="v">
                  <p:oleObj spid="_x0000_s14359" r:id="rId4" imgW="2402640" imgH="2748240" progId="Excel.Chart.8">
                    <p:embed/>
                  </p:oleObj>
                </mc:Choice>
                <mc:Fallback>
                  <p:oleObj r:id="rId4" imgW="2402640" imgH="2748240" progId="Excel.Chart.8">
                    <p:embed/>
                    <p:pic>
                      <p:nvPicPr>
                        <p:cNvPr id="108584" name="Object 2">
                          <a:extLst>
                            <a:ext uri="{FF2B5EF4-FFF2-40B4-BE49-F238E27FC236}">
                              <a16:creationId xmlns:a16="http://schemas.microsoft.com/office/drawing/2014/main" id="{AF4606A9-B0D6-4BE1-A350-4C4B76237A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4"/>
                          <a:ext cx="2865" cy="3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85" name="Text Box 4">
              <a:extLst>
                <a:ext uri="{FF2B5EF4-FFF2-40B4-BE49-F238E27FC236}">
                  <a16:creationId xmlns:a16="http://schemas.microsoft.com/office/drawing/2014/main" id="{A3630C75-11F8-4F59-9FC8-A63BCBAEBDC0}"/>
                </a:ext>
              </a:extLst>
            </p:cNvPr>
            <p:cNvSpPr txBox="1">
              <a:spLocks noChangeArrowheads="1"/>
            </p:cNvSpPr>
            <p:nvPr/>
          </p:nvSpPr>
          <p:spPr bwMode="auto">
            <a:xfrm>
              <a:off x="600" y="0"/>
              <a:ext cx="254" cy="3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P</a:t>
              </a:r>
            </a:p>
          </p:txBody>
        </p:sp>
        <p:sp>
          <p:nvSpPr>
            <p:cNvPr id="108586" name="Text Box 5">
              <a:extLst>
                <a:ext uri="{FF2B5EF4-FFF2-40B4-BE49-F238E27FC236}">
                  <a16:creationId xmlns:a16="http://schemas.microsoft.com/office/drawing/2014/main" id="{257FBA01-06DB-49EC-8557-B58B3F188AC9}"/>
                </a:ext>
              </a:extLst>
            </p:cNvPr>
            <p:cNvSpPr txBox="1">
              <a:spLocks noChangeArrowheads="1"/>
            </p:cNvSpPr>
            <p:nvPr/>
          </p:nvSpPr>
          <p:spPr bwMode="auto">
            <a:xfrm>
              <a:off x="2559" y="2583"/>
              <a:ext cx="299" cy="3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Q</a:t>
              </a:r>
            </a:p>
          </p:txBody>
        </p:sp>
      </p:grpSp>
      <p:grpSp>
        <p:nvGrpSpPr>
          <p:cNvPr id="3" name="Group 7">
            <a:extLst>
              <a:ext uri="{FF2B5EF4-FFF2-40B4-BE49-F238E27FC236}">
                <a16:creationId xmlns:a16="http://schemas.microsoft.com/office/drawing/2014/main" id="{BFF8F038-7A68-4B67-8913-CF8134CFABA3}"/>
              </a:ext>
            </a:extLst>
          </p:cNvPr>
          <p:cNvGrpSpPr>
            <a:grpSpLocks/>
          </p:cNvGrpSpPr>
          <p:nvPr/>
        </p:nvGrpSpPr>
        <p:grpSpPr bwMode="auto">
          <a:xfrm>
            <a:off x="1341438" y="1497013"/>
            <a:ext cx="2444750" cy="3832225"/>
            <a:chOff x="0" y="0"/>
            <a:chExt cx="1540" cy="2414"/>
          </a:xfrm>
        </p:grpSpPr>
        <p:sp>
          <p:nvSpPr>
            <p:cNvPr id="108577" name="Line 6">
              <a:extLst>
                <a:ext uri="{FF2B5EF4-FFF2-40B4-BE49-F238E27FC236}">
                  <a16:creationId xmlns:a16="http://schemas.microsoft.com/office/drawing/2014/main" id="{5FCA22A5-4893-4692-B71E-0EEA7F088937}"/>
                </a:ext>
              </a:extLst>
            </p:cNvPr>
            <p:cNvSpPr>
              <a:spLocks noChangeShapeType="1"/>
            </p:cNvSpPr>
            <p:nvPr/>
          </p:nvSpPr>
          <p:spPr bwMode="auto">
            <a:xfrm flipV="1">
              <a:off x="527" y="1288"/>
              <a:ext cx="0" cy="58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78" name="Line 7">
              <a:extLst>
                <a:ext uri="{FF2B5EF4-FFF2-40B4-BE49-F238E27FC236}">
                  <a16:creationId xmlns:a16="http://schemas.microsoft.com/office/drawing/2014/main" id="{73E3103D-DCA3-49B7-86EC-0C05DD067E71}"/>
                </a:ext>
              </a:extLst>
            </p:cNvPr>
            <p:cNvSpPr>
              <a:spLocks noChangeShapeType="1"/>
            </p:cNvSpPr>
            <p:nvPr/>
          </p:nvSpPr>
          <p:spPr bwMode="auto">
            <a:xfrm flipV="1">
              <a:off x="1038" y="440"/>
              <a:ext cx="0" cy="861"/>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79" name="Line 8">
              <a:extLst>
                <a:ext uri="{FF2B5EF4-FFF2-40B4-BE49-F238E27FC236}">
                  <a16:creationId xmlns:a16="http://schemas.microsoft.com/office/drawing/2014/main" id="{7814DBC6-4D21-415C-A754-9CCDF2355AE4}"/>
                </a:ext>
              </a:extLst>
            </p:cNvPr>
            <p:cNvSpPr>
              <a:spLocks noChangeShapeType="1"/>
            </p:cNvSpPr>
            <p:nvPr/>
          </p:nvSpPr>
          <p:spPr bwMode="auto">
            <a:xfrm>
              <a:off x="0" y="1850"/>
              <a:ext cx="531"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0" name="Line 9">
              <a:extLst>
                <a:ext uri="{FF2B5EF4-FFF2-40B4-BE49-F238E27FC236}">
                  <a16:creationId xmlns:a16="http://schemas.microsoft.com/office/drawing/2014/main" id="{6F245F44-E95C-4BA6-8D7C-87F1C0F0C536}"/>
                </a:ext>
              </a:extLst>
            </p:cNvPr>
            <p:cNvSpPr>
              <a:spLocks noChangeShapeType="1"/>
            </p:cNvSpPr>
            <p:nvPr/>
          </p:nvSpPr>
          <p:spPr bwMode="auto">
            <a:xfrm flipV="1">
              <a:off x="17" y="1857"/>
              <a:ext cx="0" cy="557"/>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1" name="Line 10">
              <a:extLst>
                <a:ext uri="{FF2B5EF4-FFF2-40B4-BE49-F238E27FC236}">
                  <a16:creationId xmlns:a16="http://schemas.microsoft.com/office/drawing/2014/main" id="{5784CB16-A379-4456-94EE-CA3C3E2D7256}"/>
                </a:ext>
              </a:extLst>
            </p:cNvPr>
            <p:cNvSpPr>
              <a:spLocks noChangeShapeType="1"/>
            </p:cNvSpPr>
            <p:nvPr/>
          </p:nvSpPr>
          <p:spPr bwMode="auto">
            <a:xfrm>
              <a:off x="510" y="1283"/>
              <a:ext cx="531"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2" name="Line 11">
              <a:extLst>
                <a:ext uri="{FF2B5EF4-FFF2-40B4-BE49-F238E27FC236}">
                  <a16:creationId xmlns:a16="http://schemas.microsoft.com/office/drawing/2014/main" id="{2C8F0A5F-CCD7-46E2-A134-58FAC4C450A5}"/>
                </a:ext>
              </a:extLst>
            </p:cNvPr>
            <p:cNvSpPr>
              <a:spLocks noChangeShapeType="1"/>
            </p:cNvSpPr>
            <p:nvPr/>
          </p:nvSpPr>
          <p:spPr bwMode="auto">
            <a:xfrm>
              <a:off x="1021" y="443"/>
              <a:ext cx="519"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3" name="Line 12">
              <a:extLst>
                <a:ext uri="{FF2B5EF4-FFF2-40B4-BE49-F238E27FC236}">
                  <a16:creationId xmlns:a16="http://schemas.microsoft.com/office/drawing/2014/main" id="{80F5E6C3-A224-452E-AD05-74F9A9C3F2F5}"/>
                </a:ext>
              </a:extLst>
            </p:cNvPr>
            <p:cNvSpPr>
              <a:spLocks noChangeShapeType="1"/>
            </p:cNvSpPr>
            <p:nvPr/>
          </p:nvSpPr>
          <p:spPr bwMode="auto">
            <a:xfrm flipV="1">
              <a:off x="1538" y="0"/>
              <a:ext cx="0" cy="461"/>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41999" name="Group 15">
            <a:extLst>
              <a:ext uri="{FF2B5EF4-FFF2-40B4-BE49-F238E27FC236}">
                <a16:creationId xmlns:a16="http://schemas.microsoft.com/office/drawing/2014/main" id="{EFCA3EC4-7B72-41CF-9635-77FD2F539027}"/>
              </a:ext>
            </a:extLst>
          </p:cNvPr>
          <p:cNvGraphicFramePr>
            <a:graphicFrameLocks noGrp="1"/>
          </p:cNvGraphicFramePr>
          <p:nvPr>
            <p:extLst>
              <p:ext uri="{D42A27DB-BD31-4B8C-83A1-F6EECF244321}">
                <p14:modId xmlns:p14="http://schemas.microsoft.com/office/powerpoint/2010/main" val="2063135357"/>
              </p:ext>
            </p:extLst>
          </p:nvPr>
        </p:nvGraphicFramePr>
        <p:xfrm>
          <a:off x="6588125" y="1484313"/>
          <a:ext cx="2232025" cy="3312782"/>
        </p:xfrm>
        <a:graphic>
          <a:graphicData uri="http://schemas.openxmlformats.org/drawingml/2006/table">
            <a:tbl>
              <a:tblPr/>
              <a:tblGrid>
                <a:gridCol w="1436688">
                  <a:extLst>
                    <a:ext uri="{9D8B030D-6E8A-4147-A177-3AD203B41FA5}">
                      <a16:colId xmlns:a16="http://schemas.microsoft.com/office/drawing/2014/main" val="2551187335"/>
                    </a:ext>
                  </a:extLst>
                </a:gridCol>
                <a:gridCol w="795337">
                  <a:extLst>
                    <a:ext uri="{9D8B030D-6E8A-4147-A177-3AD203B41FA5}">
                      <a16:colId xmlns:a16="http://schemas.microsoft.com/office/drawing/2014/main" val="3129899621"/>
                    </a:ext>
                  </a:extLst>
                </a:gridCol>
              </a:tblGrid>
              <a:tr h="581025">
                <a:tc>
                  <a:txBody>
                    <a:bodyPr/>
                    <a:lstStyle>
                      <a:lvl1pPr algn="l" eaLnBrk="0" hangingPunct="0">
                        <a:spcBef>
                          <a:spcPct val="20000"/>
                        </a:spcBef>
                        <a:buClr>
                          <a:schemeClr val="tx1"/>
                        </a:buClr>
                        <a:buFont typeface="Wingdings" panose="05000000000000000000" pitchFamily="2" charset="2"/>
                        <a:defRPr sz="2400" b="1">
                          <a:solidFill>
                            <a:schemeClr val="tx1"/>
                          </a:solidFill>
                          <a:latin typeface="Verdana" panose="020B0604030504040204" pitchFamily="34" charset="0"/>
                        </a:defRPr>
                      </a:lvl1pPr>
                      <a:lvl2pPr marL="742950" indent="-285750" algn="l" eaLnBrk="0" hangingPunct="0">
                        <a:spcBef>
                          <a:spcPct val="20000"/>
                        </a:spcBef>
                        <a:buClr>
                          <a:schemeClr val="tx2"/>
                        </a:buClr>
                        <a:buFont typeface="Wingdings" panose="05000000000000000000" pitchFamily="2" charset="2"/>
                        <a:defRPr sz="2400">
                          <a:solidFill>
                            <a:schemeClr val="tx2"/>
                          </a:solidFill>
                          <a:latin typeface="Arial" panose="020B0604020202020204" pitchFamily="34" charset="0"/>
                        </a:defRPr>
                      </a:lvl2pPr>
                      <a:lvl3pPr marL="1143000" indent="-228600" algn="l" eaLnBrk="0" hangingPunct="0">
                        <a:spcBef>
                          <a:spcPct val="20000"/>
                        </a:spcBef>
                        <a:buClr>
                          <a:schemeClr val="hlink"/>
                        </a:buClr>
                        <a:defRPr sz="2000">
                          <a:solidFill>
                            <a:schemeClr val="tx2"/>
                          </a:solidFill>
                          <a:latin typeface="Arial" panose="020B0604020202020204" pitchFamily="34" charset="0"/>
                        </a:defRPr>
                      </a:lvl3pPr>
                      <a:lvl4pPr marL="1600200" indent="-228600" algn="l" eaLnBrk="0" hangingPunct="0">
                        <a:spcBef>
                          <a:spcPct val="20000"/>
                        </a:spcBef>
                        <a:defRPr>
                          <a:solidFill>
                            <a:schemeClr val="tx2"/>
                          </a:solidFill>
                          <a:latin typeface="Arial" panose="020B0604020202020204" pitchFamily="34" charset="0"/>
                        </a:defRPr>
                      </a:lvl4pPr>
                      <a:lvl5pPr marL="2057400" indent="-228600" algn="l" eaLnBrk="0" hangingPunct="0">
                        <a:spcBef>
                          <a:spcPct val="20000"/>
                        </a:spcBef>
                        <a:defRPr>
                          <a:solidFill>
                            <a:schemeClr val="tx2"/>
                          </a:solidFill>
                          <a:latin typeface="Arial" panose="020B0604020202020204" pitchFamily="34" charset="0"/>
                        </a:defRPr>
                      </a:lvl5pPr>
                      <a:lvl6pPr marL="2514600" indent="-228600" eaLnBrk="0" fontAlgn="base" hangingPunct="0">
                        <a:spcBef>
                          <a:spcPct val="20000"/>
                        </a:spcBef>
                        <a:spcAft>
                          <a:spcPct val="0"/>
                        </a:spcAft>
                        <a:defRPr>
                          <a:solidFill>
                            <a:schemeClr val="tx2"/>
                          </a:solidFill>
                          <a:latin typeface="Arial" panose="020B0604020202020204" pitchFamily="34" charset="0"/>
                        </a:defRPr>
                      </a:lvl6pPr>
                      <a:lvl7pPr marL="2971800" indent="-228600" eaLnBrk="0" fontAlgn="base" hangingPunct="0">
                        <a:spcBef>
                          <a:spcPct val="20000"/>
                        </a:spcBef>
                        <a:spcAft>
                          <a:spcPct val="0"/>
                        </a:spcAft>
                        <a:defRPr>
                          <a:solidFill>
                            <a:schemeClr val="tx2"/>
                          </a:solidFill>
                          <a:latin typeface="Arial" panose="020B0604020202020204" pitchFamily="34" charset="0"/>
                        </a:defRPr>
                      </a:lvl7pPr>
                      <a:lvl8pPr marL="3429000" indent="-228600" eaLnBrk="0" fontAlgn="base" hangingPunct="0">
                        <a:spcBef>
                          <a:spcPct val="20000"/>
                        </a:spcBef>
                        <a:spcAft>
                          <a:spcPct val="0"/>
                        </a:spcAft>
                        <a:defRPr>
                          <a:solidFill>
                            <a:schemeClr val="tx2"/>
                          </a:solidFill>
                          <a:latin typeface="Arial" panose="020B0604020202020204" pitchFamily="34" charset="0"/>
                        </a:defRPr>
                      </a:lvl8pPr>
                      <a:lvl9pPr marL="3886200" indent="-228600" eaLnBrk="0" fontAlgn="base" hangingPunct="0">
                        <a:spcBef>
                          <a:spcPct val="20000"/>
                        </a:spcBef>
                        <a:spcAft>
                          <a:spcPct val="0"/>
                        </a:spcAft>
                        <a:defRPr>
                          <a:solidFill>
                            <a:schemeClr val="tx2"/>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altLang="zh-CN" sz="2500" b="1" i="1" u="none" strike="noStrike" cap="none" normalizeH="0" baseline="0">
                          <a:ln>
                            <a:noFill/>
                          </a:ln>
                          <a:solidFill>
                            <a:schemeClr val="tx1"/>
                          </a:solidFill>
                          <a:effectLst/>
                          <a:latin typeface="Arial" panose="020B0604020202020204" pitchFamily="34" charset="0"/>
                          <a:ea typeface="宋体" panose="02010600030101010101" pitchFamily="2" charset="-122"/>
                        </a:rPr>
                        <a:t>P</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2400" b="1">
                          <a:solidFill>
                            <a:schemeClr val="tx1"/>
                          </a:solidFill>
                          <a:latin typeface="Verdana" panose="020B0604030504040204" pitchFamily="34" charset="0"/>
                        </a:defRPr>
                      </a:lvl1pPr>
                      <a:lvl2pPr marL="742950" indent="-285750" algn="l" eaLnBrk="0" hangingPunct="0">
                        <a:spcBef>
                          <a:spcPct val="20000"/>
                        </a:spcBef>
                        <a:buClr>
                          <a:schemeClr val="tx2"/>
                        </a:buClr>
                        <a:buFont typeface="Wingdings" panose="05000000000000000000" pitchFamily="2" charset="2"/>
                        <a:defRPr sz="2400">
                          <a:solidFill>
                            <a:schemeClr val="tx2"/>
                          </a:solidFill>
                          <a:latin typeface="Arial" panose="020B0604020202020204" pitchFamily="34" charset="0"/>
                        </a:defRPr>
                      </a:lvl2pPr>
                      <a:lvl3pPr marL="1143000" indent="-228600" algn="l" eaLnBrk="0" hangingPunct="0">
                        <a:spcBef>
                          <a:spcPct val="20000"/>
                        </a:spcBef>
                        <a:buClr>
                          <a:schemeClr val="hlink"/>
                        </a:buClr>
                        <a:defRPr sz="2000">
                          <a:solidFill>
                            <a:schemeClr val="tx2"/>
                          </a:solidFill>
                          <a:latin typeface="Arial" panose="020B0604020202020204" pitchFamily="34" charset="0"/>
                        </a:defRPr>
                      </a:lvl3pPr>
                      <a:lvl4pPr marL="1600200" indent="-228600" algn="l" eaLnBrk="0" hangingPunct="0">
                        <a:spcBef>
                          <a:spcPct val="20000"/>
                        </a:spcBef>
                        <a:defRPr>
                          <a:solidFill>
                            <a:schemeClr val="tx2"/>
                          </a:solidFill>
                          <a:latin typeface="Arial" panose="020B0604020202020204" pitchFamily="34" charset="0"/>
                        </a:defRPr>
                      </a:lvl4pPr>
                      <a:lvl5pPr marL="2057400" indent="-228600" algn="l" eaLnBrk="0" hangingPunct="0">
                        <a:spcBef>
                          <a:spcPct val="20000"/>
                        </a:spcBef>
                        <a:defRPr>
                          <a:solidFill>
                            <a:schemeClr val="tx2"/>
                          </a:solidFill>
                          <a:latin typeface="Arial" panose="020B0604020202020204" pitchFamily="34" charset="0"/>
                        </a:defRPr>
                      </a:lvl5pPr>
                      <a:lvl6pPr marL="2514600" indent="-228600" eaLnBrk="0" fontAlgn="base" hangingPunct="0">
                        <a:spcBef>
                          <a:spcPct val="20000"/>
                        </a:spcBef>
                        <a:spcAft>
                          <a:spcPct val="0"/>
                        </a:spcAft>
                        <a:defRPr>
                          <a:solidFill>
                            <a:schemeClr val="tx2"/>
                          </a:solidFill>
                          <a:latin typeface="Arial" panose="020B0604020202020204" pitchFamily="34" charset="0"/>
                        </a:defRPr>
                      </a:lvl6pPr>
                      <a:lvl7pPr marL="2971800" indent="-228600" eaLnBrk="0" fontAlgn="base" hangingPunct="0">
                        <a:spcBef>
                          <a:spcPct val="20000"/>
                        </a:spcBef>
                        <a:spcAft>
                          <a:spcPct val="0"/>
                        </a:spcAft>
                        <a:defRPr>
                          <a:solidFill>
                            <a:schemeClr val="tx2"/>
                          </a:solidFill>
                          <a:latin typeface="Arial" panose="020B0604020202020204" pitchFamily="34" charset="0"/>
                        </a:defRPr>
                      </a:lvl7pPr>
                      <a:lvl8pPr marL="3429000" indent="-228600" eaLnBrk="0" fontAlgn="base" hangingPunct="0">
                        <a:spcBef>
                          <a:spcPct val="20000"/>
                        </a:spcBef>
                        <a:spcAft>
                          <a:spcPct val="0"/>
                        </a:spcAft>
                        <a:defRPr>
                          <a:solidFill>
                            <a:schemeClr val="tx2"/>
                          </a:solidFill>
                          <a:latin typeface="Arial" panose="020B0604020202020204" pitchFamily="34" charset="0"/>
                        </a:defRPr>
                      </a:lvl8pPr>
                      <a:lvl9pPr marL="3886200" indent="-228600" eaLnBrk="0" fontAlgn="base" hangingPunct="0">
                        <a:spcBef>
                          <a:spcPct val="20000"/>
                        </a:spcBef>
                        <a:spcAft>
                          <a:spcPct val="0"/>
                        </a:spcAft>
                        <a:defRPr>
                          <a:solidFill>
                            <a:schemeClr val="tx2"/>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altLang="zh-CN" sz="2500" b="1" i="1" u="none" strike="noStrike" cap="none" normalizeH="0" baseline="0">
                          <a:ln>
                            <a:noFill/>
                          </a:ln>
                          <a:solidFill>
                            <a:schemeClr val="tx1"/>
                          </a:solidFill>
                          <a:effectLst/>
                          <a:latin typeface="Arial" panose="020B0604020202020204" pitchFamily="34" charset="0"/>
                          <a:ea typeface="宋体" panose="02010600030101010101" pitchFamily="2" charset="-122"/>
                        </a:rPr>
                        <a:t>Q</a:t>
                      </a:r>
                      <a:r>
                        <a:rPr kumimoji="0" lang="en-US" altLang="zh-CN" sz="2500" b="1" i="1" u="none" strike="noStrike" cap="none" normalizeH="0" baseline="30000">
                          <a:ln>
                            <a:noFill/>
                          </a:ln>
                          <a:solidFill>
                            <a:schemeClr val="tx1"/>
                          </a:solidFill>
                          <a:effectLst/>
                          <a:latin typeface="Arial" panose="020B0604020202020204" pitchFamily="34" charset="0"/>
                          <a:ea typeface="宋体" panose="02010600030101010101" pitchFamily="2" charset="-122"/>
                        </a:rPr>
                        <a:t>s</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22354250"/>
                  </a:ext>
                </a:extLst>
              </a:tr>
              <a:tr h="690563">
                <a:tc>
                  <a:txBody>
                    <a:bodyPr/>
                    <a:lstStyle>
                      <a:lvl1pPr algn="l" eaLnBrk="0" hangingPunct="0">
                        <a:spcBef>
                          <a:spcPct val="20000"/>
                        </a:spcBef>
                        <a:buClr>
                          <a:schemeClr val="tx1"/>
                        </a:buClr>
                        <a:buFont typeface="Wingdings" panose="05000000000000000000" pitchFamily="2" charset="2"/>
                        <a:defRPr sz="2400" b="1">
                          <a:solidFill>
                            <a:schemeClr val="tx1"/>
                          </a:solidFill>
                          <a:latin typeface="Verdana" panose="020B0604030504040204" pitchFamily="34" charset="0"/>
                        </a:defRPr>
                      </a:lvl1pPr>
                      <a:lvl2pPr marL="742950" indent="-285750" algn="l" eaLnBrk="0" hangingPunct="0">
                        <a:spcBef>
                          <a:spcPct val="20000"/>
                        </a:spcBef>
                        <a:buClr>
                          <a:schemeClr val="tx2"/>
                        </a:buClr>
                        <a:buFont typeface="Wingdings" panose="05000000000000000000" pitchFamily="2" charset="2"/>
                        <a:defRPr sz="2400">
                          <a:solidFill>
                            <a:schemeClr val="tx2"/>
                          </a:solidFill>
                          <a:latin typeface="Arial" panose="020B0604020202020204" pitchFamily="34" charset="0"/>
                        </a:defRPr>
                      </a:lvl2pPr>
                      <a:lvl3pPr marL="1143000" indent="-228600" algn="l" eaLnBrk="0" hangingPunct="0">
                        <a:spcBef>
                          <a:spcPct val="20000"/>
                        </a:spcBef>
                        <a:buClr>
                          <a:schemeClr val="hlink"/>
                        </a:buClr>
                        <a:defRPr sz="2000">
                          <a:solidFill>
                            <a:schemeClr val="tx2"/>
                          </a:solidFill>
                          <a:latin typeface="Arial" panose="020B0604020202020204" pitchFamily="34" charset="0"/>
                        </a:defRPr>
                      </a:lvl3pPr>
                      <a:lvl4pPr marL="1600200" indent="-228600" algn="l" eaLnBrk="0" hangingPunct="0">
                        <a:spcBef>
                          <a:spcPct val="20000"/>
                        </a:spcBef>
                        <a:defRPr>
                          <a:solidFill>
                            <a:schemeClr val="tx2"/>
                          </a:solidFill>
                          <a:latin typeface="Arial" panose="020B0604020202020204" pitchFamily="34" charset="0"/>
                        </a:defRPr>
                      </a:lvl4pPr>
                      <a:lvl5pPr marL="2057400" indent="-228600" algn="l" eaLnBrk="0" hangingPunct="0">
                        <a:spcBef>
                          <a:spcPct val="20000"/>
                        </a:spcBef>
                        <a:defRPr>
                          <a:solidFill>
                            <a:schemeClr val="tx2"/>
                          </a:solidFill>
                          <a:latin typeface="Arial" panose="020B0604020202020204" pitchFamily="34" charset="0"/>
                        </a:defRPr>
                      </a:lvl5pPr>
                      <a:lvl6pPr marL="2514600" indent="-228600" eaLnBrk="0" fontAlgn="base" hangingPunct="0">
                        <a:spcBef>
                          <a:spcPct val="20000"/>
                        </a:spcBef>
                        <a:spcAft>
                          <a:spcPct val="0"/>
                        </a:spcAft>
                        <a:defRPr>
                          <a:solidFill>
                            <a:schemeClr val="tx2"/>
                          </a:solidFill>
                          <a:latin typeface="Arial" panose="020B0604020202020204" pitchFamily="34" charset="0"/>
                        </a:defRPr>
                      </a:lvl6pPr>
                      <a:lvl7pPr marL="2971800" indent="-228600" eaLnBrk="0" fontAlgn="base" hangingPunct="0">
                        <a:spcBef>
                          <a:spcPct val="20000"/>
                        </a:spcBef>
                        <a:spcAft>
                          <a:spcPct val="0"/>
                        </a:spcAft>
                        <a:defRPr>
                          <a:solidFill>
                            <a:schemeClr val="tx2"/>
                          </a:solidFill>
                          <a:latin typeface="Arial" panose="020B0604020202020204" pitchFamily="34" charset="0"/>
                        </a:defRPr>
                      </a:lvl7pPr>
                      <a:lvl8pPr marL="3429000" indent="-228600" eaLnBrk="0" fontAlgn="base" hangingPunct="0">
                        <a:spcBef>
                          <a:spcPct val="20000"/>
                        </a:spcBef>
                        <a:spcAft>
                          <a:spcPct val="0"/>
                        </a:spcAft>
                        <a:defRPr>
                          <a:solidFill>
                            <a:schemeClr val="tx2"/>
                          </a:solidFill>
                          <a:latin typeface="Arial" panose="020B0604020202020204" pitchFamily="34" charset="0"/>
                        </a:defRPr>
                      </a:lvl8pPr>
                      <a:lvl9pPr marL="3886200" indent="-228600" eaLnBrk="0" fontAlgn="base" hangingPunct="0">
                        <a:spcBef>
                          <a:spcPct val="20000"/>
                        </a:spcBef>
                        <a:spcAft>
                          <a:spcPct val="0"/>
                        </a:spcAft>
                        <a:defRPr>
                          <a:solidFill>
                            <a:schemeClr val="tx2"/>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altLang="zh-CN" sz="2500" b="0" i="0" u="none" strike="noStrike" cap="none" normalizeH="0" baseline="0">
                          <a:ln>
                            <a:noFill/>
                          </a:ln>
                          <a:solidFill>
                            <a:schemeClr val="tx1"/>
                          </a:solidFill>
                          <a:effectLst/>
                          <a:latin typeface="Arial" panose="020B0604020202020204" pitchFamily="34" charset="0"/>
                          <a:ea typeface="宋体" panose="02010600030101010101" pitchFamily="2" charset="-122"/>
                        </a:rPr>
                        <a:t>$0 – 9</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2400" b="1">
                          <a:solidFill>
                            <a:schemeClr val="tx1"/>
                          </a:solidFill>
                          <a:latin typeface="Verdana" panose="020B0604030504040204" pitchFamily="34" charset="0"/>
                        </a:defRPr>
                      </a:lvl1pPr>
                      <a:lvl2pPr marL="742950" indent="-285750" algn="l" eaLnBrk="0" hangingPunct="0">
                        <a:spcBef>
                          <a:spcPct val="20000"/>
                        </a:spcBef>
                        <a:buClr>
                          <a:schemeClr val="tx2"/>
                        </a:buClr>
                        <a:buFont typeface="Wingdings" panose="05000000000000000000" pitchFamily="2" charset="2"/>
                        <a:defRPr sz="2400">
                          <a:solidFill>
                            <a:schemeClr val="tx2"/>
                          </a:solidFill>
                          <a:latin typeface="Arial" panose="020B0604020202020204" pitchFamily="34" charset="0"/>
                        </a:defRPr>
                      </a:lvl2pPr>
                      <a:lvl3pPr marL="1143000" indent="-228600" algn="l" eaLnBrk="0" hangingPunct="0">
                        <a:spcBef>
                          <a:spcPct val="20000"/>
                        </a:spcBef>
                        <a:buClr>
                          <a:schemeClr val="hlink"/>
                        </a:buClr>
                        <a:defRPr sz="2000">
                          <a:solidFill>
                            <a:schemeClr val="tx2"/>
                          </a:solidFill>
                          <a:latin typeface="Arial" panose="020B0604020202020204" pitchFamily="34" charset="0"/>
                        </a:defRPr>
                      </a:lvl3pPr>
                      <a:lvl4pPr marL="1600200" indent="-228600" algn="l" eaLnBrk="0" hangingPunct="0">
                        <a:spcBef>
                          <a:spcPct val="20000"/>
                        </a:spcBef>
                        <a:defRPr>
                          <a:solidFill>
                            <a:schemeClr val="tx2"/>
                          </a:solidFill>
                          <a:latin typeface="Arial" panose="020B0604020202020204" pitchFamily="34" charset="0"/>
                        </a:defRPr>
                      </a:lvl4pPr>
                      <a:lvl5pPr marL="2057400" indent="-228600" algn="l" eaLnBrk="0" hangingPunct="0">
                        <a:spcBef>
                          <a:spcPct val="20000"/>
                        </a:spcBef>
                        <a:defRPr>
                          <a:solidFill>
                            <a:schemeClr val="tx2"/>
                          </a:solidFill>
                          <a:latin typeface="Arial" panose="020B0604020202020204" pitchFamily="34" charset="0"/>
                        </a:defRPr>
                      </a:lvl5pPr>
                      <a:lvl6pPr marL="2514600" indent="-228600" eaLnBrk="0" fontAlgn="base" hangingPunct="0">
                        <a:spcBef>
                          <a:spcPct val="20000"/>
                        </a:spcBef>
                        <a:spcAft>
                          <a:spcPct val="0"/>
                        </a:spcAft>
                        <a:defRPr>
                          <a:solidFill>
                            <a:schemeClr val="tx2"/>
                          </a:solidFill>
                          <a:latin typeface="Arial" panose="020B0604020202020204" pitchFamily="34" charset="0"/>
                        </a:defRPr>
                      </a:lvl6pPr>
                      <a:lvl7pPr marL="2971800" indent="-228600" eaLnBrk="0" fontAlgn="base" hangingPunct="0">
                        <a:spcBef>
                          <a:spcPct val="20000"/>
                        </a:spcBef>
                        <a:spcAft>
                          <a:spcPct val="0"/>
                        </a:spcAft>
                        <a:defRPr>
                          <a:solidFill>
                            <a:schemeClr val="tx2"/>
                          </a:solidFill>
                          <a:latin typeface="Arial" panose="020B0604020202020204" pitchFamily="34" charset="0"/>
                        </a:defRPr>
                      </a:lvl7pPr>
                      <a:lvl8pPr marL="3429000" indent="-228600" eaLnBrk="0" fontAlgn="base" hangingPunct="0">
                        <a:spcBef>
                          <a:spcPct val="20000"/>
                        </a:spcBef>
                        <a:spcAft>
                          <a:spcPct val="0"/>
                        </a:spcAft>
                        <a:defRPr>
                          <a:solidFill>
                            <a:schemeClr val="tx2"/>
                          </a:solidFill>
                          <a:latin typeface="Arial" panose="020B0604020202020204" pitchFamily="34" charset="0"/>
                        </a:defRPr>
                      </a:lvl8pPr>
                      <a:lvl9pPr marL="3886200" indent="-228600" eaLnBrk="0" fontAlgn="base" hangingPunct="0">
                        <a:spcBef>
                          <a:spcPct val="20000"/>
                        </a:spcBef>
                        <a:spcAft>
                          <a:spcPct val="0"/>
                        </a:spcAft>
                        <a:defRPr>
                          <a:solidFill>
                            <a:schemeClr val="tx2"/>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altLang="zh-CN" sz="25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05839912"/>
                  </a:ext>
                </a:extLst>
              </a:tr>
              <a:tr h="690563">
                <a:tc>
                  <a:txBody>
                    <a:bodyPr/>
                    <a:lstStyle>
                      <a:lvl1pPr algn="l" eaLnBrk="0" hangingPunct="0">
                        <a:spcBef>
                          <a:spcPct val="20000"/>
                        </a:spcBef>
                        <a:buClr>
                          <a:schemeClr val="tx1"/>
                        </a:buClr>
                        <a:buFont typeface="Wingdings" panose="05000000000000000000" pitchFamily="2" charset="2"/>
                        <a:defRPr sz="2400" b="1">
                          <a:solidFill>
                            <a:schemeClr val="tx1"/>
                          </a:solidFill>
                          <a:latin typeface="Verdana" panose="020B0604030504040204" pitchFamily="34" charset="0"/>
                        </a:defRPr>
                      </a:lvl1pPr>
                      <a:lvl2pPr marL="742950" indent="-285750" algn="l" eaLnBrk="0" hangingPunct="0">
                        <a:spcBef>
                          <a:spcPct val="20000"/>
                        </a:spcBef>
                        <a:buClr>
                          <a:schemeClr val="tx2"/>
                        </a:buClr>
                        <a:buFont typeface="Wingdings" panose="05000000000000000000" pitchFamily="2" charset="2"/>
                        <a:defRPr sz="2400">
                          <a:solidFill>
                            <a:schemeClr val="tx2"/>
                          </a:solidFill>
                          <a:latin typeface="Arial" panose="020B0604020202020204" pitchFamily="34" charset="0"/>
                        </a:defRPr>
                      </a:lvl2pPr>
                      <a:lvl3pPr marL="1143000" indent="-228600" algn="l" eaLnBrk="0" hangingPunct="0">
                        <a:spcBef>
                          <a:spcPct val="20000"/>
                        </a:spcBef>
                        <a:buClr>
                          <a:schemeClr val="hlink"/>
                        </a:buClr>
                        <a:defRPr sz="2000">
                          <a:solidFill>
                            <a:schemeClr val="tx2"/>
                          </a:solidFill>
                          <a:latin typeface="Arial" panose="020B0604020202020204" pitchFamily="34" charset="0"/>
                        </a:defRPr>
                      </a:lvl3pPr>
                      <a:lvl4pPr marL="1600200" indent="-228600" algn="l" eaLnBrk="0" hangingPunct="0">
                        <a:spcBef>
                          <a:spcPct val="20000"/>
                        </a:spcBef>
                        <a:defRPr>
                          <a:solidFill>
                            <a:schemeClr val="tx2"/>
                          </a:solidFill>
                          <a:latin typeface="Arial" panose="020B0604020202020204" pitchFamily="34" charset="0"/>
                        </a:defRPr>
                      </a:lvl4pPr>
                      <a:lvl5pPr marL="2057400" indent="-228600" algn="l" eaLnBrk="0" hangingPunct="0">
                        <a:spcBef>
                          <a:spcPct val="20000"/>
                        </a:spcBef>
                        <a:defRPr>
                          <a:solidFill>
                            <a:schemeClr val="tx2"/>
                          </a:solidFill>
                          <a:latin typeface="Arial" panose="020B0604020202020204" pitchFamily="34" charset="0"/>
                        </a:defRPr>
                      </a:lvl5pPr>
                      <a:lvl6pPr marL="2514600" indent="-228600" eaLnBrk="0" fontAlgn="base" hangingPunct="0">
                        <a:spcBef>
                          <a:spcPct val="20000"/>
                        </a:spcBef>
                        <a:spcAft>
                          <a:spcPct val="0"/>
                        </a:spcAft>
                        <a:defRPr>
                          <a:solidFill>
                            <a:schemeClr val="tx2"/>
                          </a:solidFill>
                          <a:latin typeface="Arial" panose="020B0604020202020204" pitchFamily="34" charset="0"/>
                        </a:defRPr>
                      </a:lvl6pPr>
                      <a:lvl7pPr marL="2971800" indent="-228600" eaLnBrk="0" fontAlgn="base" hangingPunct="0">
                        <a:spcBef>
                          <a:spcPct val="20000"/>
                        </a:spcBef>
                        <a:spcAft>
                          <a:spcPct val="0"/>
                        </a:spcAft>
                        <a:defRPr>
                          <a:solidFill>
                            <a:schemeClr val="tx2"/>
                          </a:solidFill>
                          <a:latin typeface="Arial" panose="020B0604020202020204" pitchFamily="34" charset="0"/>
                        </a:defRPr>
                      </a:lvl7pPr>
                      <a:lvl8pPr marL="3429000" indent="-228600" eaLnBrk="0" fontAlgn="base" hangingPunct="0">
                        <a:spcBef>
                          <a:spcPct val="20000"/>
                        </a:spcBef>
                        <a:spcAft>
                          <a:spcPct val="0"/>
                        </a:spcAft>
                        <a:defRPr>
                          <a:solidFill>
                            <a:schemeClr val="tx2"/>
                          </a:solidFill>
                          <a:latin typeface="Arial" panose="020B0604020202020204" pitchFamily="34" charset="0"/>
                        </a:defRPr>
                      </a:lvl8pPr>
                      <a:lvl9pPr marL="3886200" indent="-228600" eaLnBrk="0" fontAlgn="base" hangingPunct="0">
                        <a:spcBef>
                          <a:spcPct val="20000"/>
                        </a:spcBef>
                        <a:spcAft>
                          <a:spcPct val="0"/>
                        </a:spcAft>
                        <a:defRPr>
                          <a:solidFill>
                            <a:schemeClr val="tx2"/>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altLang="zh-CN" sz="2500" b="0" i="0" u="none" strike="noStrike" cap="none" normalizeH="0" baseline="0">
                          <a:ln>
                            <a:noFill/>
                          </a:ln>
                          <a:solidFill>
                            <a:schemeClr val="tx1"/>
                          </a:solidFill>
                          <a:effectLst/>
                          <a:latin typeface="Arial" panose="020B0604020202020204" pitchFamily="34" charset="0"/>
                          <a:ea typeface="宋体" panose="02010600030101010101" pitchFamily="2" charset="-122"/>
                        </a:rPr>
                        <a:t>10 – 19</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2400" b="1">
                          <a:solidFill>
                            <a:schemeClr val="tx1"/>
                          </a:solidFill>
                          <a:latin typeface="Verdana" panose="020B0604030504040204" pitchFamily="34" charset="0"/>
                        </a:defRPr>
                      </a:lvl1pPr>
                      <a:lvl2pPr marL="742950" indent="-285750" algn="l" eaLnBrk="0" hangingPunct="0">
                        <a:spcBef>
                          <a:spcPct val="20000"/>
                        </a:spcBef>
                        <a:buClr>
                          <a:schemeClr val="tx2"/>
                        </a:buClr>
                        <a:buFont typeface="Wingdings" panose="05000000000000000000" pitchFamily="2" charset="2"/>
                        <a:defRPr sz="2400">
                          <a:solidFill>
                            <a:schemeClr val="tx2"/>
                          </a:solidFill>
                          <a:latin typeface="Arial" panose="020B0604020202020204" pitchFamily="34" charset="0"/>
                        </a:defRPr>
                      </a:lvl2pPr>
                      <a:lvl3pPr marL="1143000" indent="-228600" algn="l" eaLnBrk="0" hangingPunct="0">
                        <a:spcBef>
                          <a:spcPct val="20000"/>
                        </a:spcBef>
                        <a:buClr>
                          <a:schemeClr val="hlink"/>
                        </a:buClr>
                        <a:defRPr sz="2000">
                          <a:solidFill>
                            <a:schemeClr val="tx2"/>
                          </a:solidFill>
                          <a:latin typeface="Arial" panose="020B0604020202020204" pitchFamily="34" charset="0"/>
                        </a:defRPr>
                      </a:lvl3pPr>
                      <a:lvl4pPr marL="1600200" indent="-228600" algn="l" eaLnBrk="0" hangingPunct="0">
                        <a:spcBef>
                          <a:spcPct val="20000"/>
                        </a:spcBef>
                        <a:defRPr>
                          <a:solidFill>
                            <a:schemeClr val="tx2"/>
                          </a:solidFill>
                          <a:latin typeface="Arial" panose="020B0604020202020204" pitchFamily="34" charset="0"/>
                        </a:defRPr>
                      </a:lvl4pPr>
                      <a:lvl5pPr marL="2057400" indent="-228600" algn="l" eaLnBrk="0" hangingPunct="0">
                        <a:spcBef>
                          <a:spcPct val="20000"/>
                        </a:spcBef>
                        <a:defRPr>
                          <a:solidFill>
                            <a:schemeClr val="tx2"/>
                          </a:solidFill>
                          <a:latin typeface="Arial" panose="020B0604020202020204" pitchFamily="34" charset="0"/>
                        </a:defRPr>
                      </a:lvl5pPr>
                      <a:lvl6pPr marL="2514600" indent="-228600" eaLnBrk="0" fontAlgn="base" hangingPunct="0">
                        <a:spcBef>
                          <a:spcPct val="20000"/>
                        </a:spcBef>
                        <a:spcAft>
                          <a:spcPct val="0"/>
                        </a:spcAft>
                        <a:defRPr>
                          <a:solidFill>
                            <a:schemeClr val="tx2"/>
                          </a:solidFill>
                          <a:latin typeface="Arial" panose="020B0604020202020204" pitchFamily="34" charset="0"/>
                        </a:defRPr>
                      </a:lvl6pPr>
                      <a:lvl7pPr marL="2971800" indent="-228600" eaLnBrk="0" fontAlgn="base" hangingPunct="0">
                        <a:spcBef>
                          <a:spcPct val="20000"/>
                        </a:spcBef>
                        <a:spcAft>
                          <a:spcPct val="0"/>
                        </a:spcAft>
                        <a:defRPr>
                          <a:solidFill>
                            <a:schemeClr val="tx2"/>
                          </a:solidFill>
                          <a:latin typeface="Arial" panose="020B0604020202020204" pitchFamily="34" charset="0"/>
                        </a:defRPr>
                      </a:lvl7pPr>
                      <a:lvl8pPr marL="3429000" indent="-228600" eaLnBrk="0" fontAlgn="base" hangingPunct="0">
                        <a:spcBef>
                          <a:spcPct val="20000"/>
                        </a:spcBef>
                        <a:spcAft>
                          <a:spcPct val="0"/>
                        </a:spcAft>
                        <a:defRPr>
                          <a:solidFill>
                            <a:schemeClr val="tx2"/>
                          </a:solidFill>
                          <a:latin typeface="Arial" panose="020B0604020202020204" pitchFamily="34" charset="0"/>
                        </a:defRPr>
                      </a:lvl8pPr>
                      <a:lvl9pPr marL="3886200" indent="-228600" eaLnBrk="0" fontAlgn="base" hangingPunct="0">
                        <a:spcBef>
                          <a:spcPct val="20000"/>
                        </a:spcBef>
                        <a:spcAft>
                          <a:spcPct val="0"/>
                        </a:spcAft>
                        <a:defRPr>
                          <a:solidFill>
                            <a:schemeClr val="tx2"/>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altLang="zh-CN" sz="25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59415363"/>
                  </a:ext>
                </a:extLst>
              </a:tr>
              <a:tr h="690563">
                <a:tc>
                  <a:txBody>
                    <a:bodyPr/>
                    <a:lstStyle>
                      <a:lvl1pPr algn="l" eaLnBrk="0" hangingPunct="0">
                        <a:spcBef>
                          <a:spcPct val="20000"/>
                        </a:spcBef>
                        <a:buClr>
                          <a:schemeClr val="tx1"/>
                        </a:buClr>
                        <a:buFont typeface="Wingdings" panose="05000000000000000000" pitchFamily="2" charset="2"/>
                        <a:defRPr sz="2400" b="1">
                          <a:solidFill>
                            <a:schemeClr val="tx1"/>
                          </a:solidFill>
                          <a:latin typeface="Verdana" panose="020B0604030504040204" pitchFamily="34" charset="0"/>
                        </a:defRPr>
                      </a:lvl1pPr>
                      <a:lvl2pPr marL="742950" indent="-285750" algn="l" eaLnBrk="0" hangingPunct="0">
                        <a:spcBef>
                          <a:spcPct val="20000"/>
                        </a:spcBef>
                        <a:buClr>
                          <a:schemeClr val="tx2"/>
                        </a:buClr>
                        <a:buFont typeface="Wingdings" panose="05000000000000000000" pitchFamily="2" charset="2"/>
                        <a:defRPr sz="2400">
                          <a:solidFill>
                            <a:schemeClr val="tx2"/>
                          </a:solidFill>
                          <a:latin typeface="Arial" panose="020B0604020202020204" pitchFamily="34" charset="0"/>
                        </a:defRPr>
                      </a:lvl2pPr>
                      <a:lvl3pPr marL="1143000" indent="-228600" algn="l" eaLnBrk="0" hangingPunct="0">
                        <a:spcBef>
                          <a:spcPct val="20000"/>
                        </a:spcBef>
                        <a:buClr>
                          <a:schemeClr val="hlink"/>
                        </a:buClr>
                        <a:defRPr sz="2000">
                          <a:solidFill>
                            <a:schemeClr val="tx2"/>
                          </a:solidFill>
                          <a:latin typeface="Arial" panose="020B0604020202020204" pitchFamily="34" charset="0"/>
                        </a:defRPr>
                      </a:lvl3pPr>
                      <a:lvl4pPr marL="1600200" indent="-228600" algn="l" eaLnBrk="0" hangingPunct="0">
                        <a:spcBef>
                          <a:spcPct val="20000"/>
                        </a:spcBef>
                        <a:defRPr>
                          <a:solidFill>
                            <a:schemeClr val="tx2"/>
                          </a:solidFill>
                          <a:latin typeface="Arial" panose="020B0604020202020204" pitchFamily="34" charset="0"/>
                        </a:defRPr>
                      </a:lvl4pPr>
                      <a:lvl5pPr marL="2057400" indent="-228600" algn="l" eaLnBrk="0" hangingPunct="0">
                        <a:spcBef>
                          <a:spcPct val="20000"/>
                        </a:spcBef>
                        <a:defRPr>
                          <a:solidFill>
                            <a:schemeClr val="tx2"/>
                          </a:solidFill>
                          <a:latin typeface="Arial" panose="020B0604020202020204" pitchFamily="34" charset="0"/>
                        </a:defRPr>
                      </a:lvl5pPr>
                      <a:lvl6pPr marL="2514600" indent="-228600" eaLnBrk="0" fontAlgn="base" hangingPunct="0">
                        <a:spcBef>
                          <a:spcPct val="20000"/>
                        </a:spcBef>
                        <a:spcAft>
                          <a:spcPct val="0"/>
                        </a:spcAft>
                        <a:defRPr>
                          <a:solidFill>
                            <a:schemeClr val="tx2"/>
                          </a:solidFill>
                          <a:latin typeface="Arial" panose="020B0604020202020204" pitchFamily="34" charset="0"/>
                        </a:defRPr>
                      </a:lvl6pPr>
                      <a:lvl7pPr marL="2971800" indent="-228600" eaLnBrk="0" fontAlgn="base" hangingPunct="0">
                        <a:spcBef>
                          <a:spcPct val="20000"/>
                        </a:spcBef>
                        <a:spcAft>
                          <a:spcPct val="0"/>
                        </a:spcAft>
                        <a:defRPr>
                          <a:solidFill>
                            <a:schemeClr val="tx2"/>
                          </a:solidFill>
                          <a:latin typeface="Arial" panose="020B0604020202020204" pitchFamily="34" charset="0"/>
                        </a:defRPr>
                      </a:lvl7pPr>
                      <a:lvl8pPr marL="3429000" indent="-228600" eaLnBrk="0" fontAlgn="base" hangingPunct="0">
                        <a:spcBef>
                          <a:spcPct val="20000"/>
                        </a:spcBef>
                        <a:spcAft>
                          <a:spcPct val="0"/>
                        </a:spcAft>
                        <a:defRPr>
                          <a:solidFill>
                            <a:schemeClr val="tx2"/>
                          </a:solidFill>
                          <a:latin typeface="Arial" panose="020B0604020202020204" pitchFamily="34" charset="0"/>
                        </a:defRPr>
                      </a:lvl8pPr>
                      <a:lvl9pPr marL="3886200" indent="-228600" eaLnBrk="0" fontAlgn="base" hangingPunct="0">
                        <a:spcBef>
                          <a:spcPct val="20000"/>
                        </a:spcBef>
                        <a:spcAft>
                          <a:spcPct val="0"/>
                        </a:spcAft>
                        <a:defRPr>
                          <a:solidFill>
                            <a:schemeClr val="tx2"/>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altLang="zh-CN" sz="2500" b="0" i="0" u="none" strike="noStrike" cap="none" normalizeH="0" baseline="0">
                          <a:ln>
                            <a:noFill/>
                          </a:ln>
                          <a:solidFill>
                            <a:schemeClr val="tx1"/>
                          </a:solidFill>
                          <a:effectLst/>
                          <a:latin typeface="Arial" panose="020B0604020202020204" pitchFamily="34" charset="0"/>
                          <a:ea typeface="宋体" panose="02010600030101010101" pitchFamily="2" charset="-122"/>
                        </a:rPr>
                        <a:t>20 – 34</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2400" b="1">
                          <a:solidFill>
                            <a:schemeClr val="tx1"/>
                          </a:solidFill>
                          <a:latin typeface="Verdana" panose="020B0604030504040204" pitchFamily="34" charset="0"/>
                        </a:defRPr>
                      </a:lvl1pPr>
                      <a:lvl2pPr marL="742950" indent="-285750" algn="l" eaLnBrk="0" hangingPunct="0">
                        <a:spcBef>
                          <a:spcPct val="20000"/>
                        </a:spcBef>
                        <a:buClr>
                          <a:schemeClr val="tx2"/>
                        </a:buClr>
                        <a:buFont typeface="Wingdings" panose="05000000000000000000" pitchFamily="2" charset="2"/>
                        <a:defRPr sz="2400">
                          <a:solidFill>
                            <a:schemeClr val="tx2"/>
                          </a:solidFill>
                          <a:latin typeface="Arial" panose="020B0604020202020204" pitchFamily="34" charset="0"/>
                        </a:defRPr>
                      </a:lvl2pPr>
                      <a:lvl3pPr marL="1143000" indent="-228600" algn="l" eaLnBrk="0" hangingPunct="0">
                        <a:spcBef>
                          <a:spcPct val="20000"/>
                        </a:spcBef>
                        <a:buClr>
                          <a:schemeClr val="hlink"/>
                        </a:buClr>
                        <a:defRPr sz="2000">
                          <a:solidFill>
                            <a:schemeClr val="tx2"/>
                          </a:solidFill>
                          <a:latin typeface="Arial" panose="020B0604020202020204" pitchFamily="34" charset="0"/>
                        </a:defRPr>
                      </a:lvl3pPr>
                      <a:lvl4pPr marL="1600200" indent="-228600" algn="l" eaLnBrk="0" hangingPunct="0">
                        <a:spcBef>
                          <a:spcPct val="20000"/>
                        </a:spcBef>
                        <a:defRPr>
                          <a:solidFill>
                            <a:schemeClr val="tx2"/>
                          </a:solidFill>
                          <a:latin typeface="Arial" panose="020B0604020202020204" pitchFamily="34" charset="0"/>
                        </a:defRPr>
                      </a:lvl4pPr>
                      <a:lvl5pPr marL="2057400" indent="-228600" algn="l" eaLnBrk="0" hangingPunct="0">
                        <a:spcBef>
                          <a:spcPct val="20000"/>
                        </a:spcBef>
                        <a:defRPr>
                          <a:solidFill>
                            <a:schemeClr val="tx2"/>
                          </a:solidFill>
                          <a:latin typeface="Arial" panose="020B0604020202020204" pitchFamily="34" charset="0"/>
                        </a:defRPr>
                      </a:lvl5pPr>
                      <a:lvl6pPr marL="2514600" indent="-228600" eaLnBrk="0" fontAlgn="base" hangingPunct="0">
                        <a:spcBef>
                          <a:spcPct val="20000"/>
                        </a:spcBef>
                        <a:spcAft>
                          <a:spcPct val="0"/>
                        </a:spcAft>
                        <a:defRPr>
                          <a:solidFill>
                            <a:schemeClr val="tx2"/>
                          </a:solidFill>
                          <a:latin typeface="Arial" panose="020B0604020202020204" pitchFamily="34" charset="0"/>
                        </a:defRPr>
                      </a:lvl6pPr>
                      <a:lvl7pPr marL="2971800" indent="-228600" eaLnBrk="0" fontAlgn="base" hangingPunct="0">
                        <a:spcBef>
                          <a:spcPct val="20000"/>
                        </a:spcBef>
                        <a:spcAft>
                          <a:spcPct val="0"/>
                        </a:spcAft>
                        <a:defRPr>
                          <a:solidFill>
                            <a:schemeClr val="tx2"/>
                          </a:solidFill>
                          <a:latin typeface="Arial" panose="020B0604020202020204" pitchFamily="34" charset="0"/>
                        </a:defRPr>
                      </a:lvl7pPr>
                      <a:lvl8pPr marL="3429000" indent="-228600" eaLnBrk="0" fontAlgn="base" hangingPunct="0">
                        <a:spcBef>
                          <a:spcPct val="20000"/>
                        </a:spcBef>
                        <a:spcAft>
                          <a:spcPct val="0"/>
                        </a:spcAft>
                        <a:defRPr>
                          <a:solidFill>
                            <a:schemeClr val="tx2"/>
                          </a:solidFill>
                          <a:latin typeface="Arial" panose="020B0604020202020204" pitchFamily="34" charset="0"/>
                        </a:defRPr>
                      </a:lvl8pPr>
                      <a:lvl9pPr marL="3886200" indent="-228600" eaLnBrk="0" fontAlgn="base" hangingPunct="0">
                        <a:spcBef>
                          <a:spcPct val="20000"/>
                        </a:spcBef>
                        <a:spcAft>
                          <a:spcPct val="0"/>
                        </a:spcAft>
                        <a:defRPr>
                          <a:solidFill>
                            <a:schemeClr val="tx2"/>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altLang="zh-CN" sz="25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20975191"/>
                  </a:ext>
                </a:extLst>
              </a:tr>
              <a:tr h="660068">
                <a:tc>
                  <a:txBody>
                    <a:bodyPr/>
                    <a:lstStyle>
                      <a:lvl1pPr algn="l" eaLnBrk="0" hangingPunct="0">
                        <a:spcBef>
                          <a:spcPct val="20000"/>
                        </a:spcBef>
                        <a:buClr>
                          <a:schemeClr val="tx1"/>
                        </a:buClr>
                        <a:buFont typeface="Wingdings" panose="05000000000000000000" pitchFamily="2" charset="2"/>
                        <a:defRPr sz="2400" b="1">
                          <a:solidFill>
                            <a:schemeClr val="tx1"/>
                          </a:solidFill>
                          <a:latin typeface="Verdana" panose="020B0604030504040204" pitchFamily="34" charset="0"/>
                        </a:defRPr>
                      </a:lvl1pPr>
                      <a:lvl2pPr marL="742950" indent="-285750" algn="l" eaLnBrk="0" hangingPunct="0">
                        <a:spcBef>
                          <a:spcPct val="20000"/>
                        </a:spcBef>
                        <a:buClr>
                          <a:schemeClr val="tx2"/>
                        </a:buClr>
                        <a:buFont typeface="Wingdings" panose="05000000000000000000" pitchFamily="2" charset="2"/>
                        <a:defRPr sz="2400">
                          <a:solidFill>
                            <a:schemeClr val="tx2"/>
                          </a:solidFill>
                          <a:latin typeface="Arial" panose="020B0604020202020204" pitchFamily="34" charset="0"/>
                        </a:defRPr>
                      </a:lvl2pPr>
                      <a:lvl3pPr marL="1143000" indent="-228600" algn="l" eaLnBrk="0" hangingPunct="0">
                        <a:spcBef>
                          <a:spcPct val="20000"/>
                        </a:spcBef>
                        <a:buClr>
                          <a:schemeClr val="hlink"/>
                        </a:buClr>
                        <a:defRPr sz="2000">
                          <a:solidFill>
                            <a:schemeClr val="tx2"/>
                          </a:solidFill>
                          <a:latin typeface="Arial" panose="020B0604020202020204" pitchFamily="34" charset="0"/>
                        </a:defRPr>
                      </a:lvl3pPr>
                      <a:lvl4pPr marL="1600200" indent="-228600" algn="l" eaLnBrk="0" hangingPunct="0">
                        <a:spcBef>
                          <a:spcPct val="20000"/>
                        </a:spcBef>
                        <a:defRPr>
                          <a:solidFill>
                            <a:schemeClr val="tx2"/>
                          </a:solidFill>
                          <a:latin typeface="Arial" panose="020B0604020202020204" pitchFamily="34" charset="0"/>
                        </a:defRPr>
                      </a:lvl4pPr>
                      <a:lvl5pPr marL="2057400" indent="-228600" algn="l" eaLnBrk="0" hangingPunct="0">
                        <a:spcBef>
                          <a:spcPct val="20000"/>
                        </a:spcBef>
                        <a:defRPr>
                          <a:solidFill>
                            <a:schemeClr val="tx2"/>
                          </a:solidFill>
                          <a:latin typeface="Arial" panose="020B0604020202020204" pitchFamily="34" charset="0"/>
                        </a:defRPr>
                      </a:lvl5pPr>
                      <a:lvl6pPr marL="2514600" indent="-228600" eaLnBrk="0" fontAlgn="base" hangingPunct="0">
                        <a:spcBef>
                          <a:spcPct val="20000"/>
                        </a:spcBef>
                        <a:spcAft>
                          <a:spcPct val="0"/>
                        </a:spcAft>
                        <a:defRPr>
                          <a:solidFill>
                            <a:schemeClr val="tx2"/>
                          </a:solidFill>
                          <a:latin typeface="Arial" panose="020B0604020202020204" pitchFamily="34" charset="0"/>
                        </a:defRPr>
                      </a:lvl6pPr>
                      <a:lvl7pPr marL="2971800" indent="-228600" eaLnBrk="0" fontAlgn="base" hangingPunct="0">
                        <a:spcBef>
                          <a:spcPct val="20000"/>
                        </a:spcBef>
                        <a:spcAft>
                          <a:spcPct val="0"/>
                        </a:spcAft>
                        <a:defRPr>
                          <a:solidFill>
                            <a:schemeClr val="tx2"/>
                          </a:solidFill>
                          <a:latin typeface="Arial" panose="020B0604020202020204" pitchFamily="34" charset="0"/>
                        </a:defRPr>
                      </a:lvl7pPr>
                      <a:lvl8pPr marL="3429000" indent="-228600" eaLnBrk="0" fontAlgn="base" hangingPunct="0">
                        <a:spcBef>
                          <a:spcPct val="20000"/>
                        </a:spcBef>
                        <a:spcAft>
                          <a:spcPct val="0"/>
                        </a:spcAft>
                        <a:defRPr>
                          <a:solidFill>
                            <a:schemeClr val="tx2"/>
                          </a:solidFill>
                          <a:latin typeface="Arial" panose="020B0604020202020204" pitchFamily="34" charset="0"/>
                        </a:defRPr>
                      </a:lvl8pPr>
                      <a:lvl9pPr marL="3886200" indent="-228600" eaLnBrk="0" fontAlgn="base" hangingPunct="0">
                        <a:spcBef>
                          <a:spcPct val="20000"/>
                        </a:spcBef>
                        <a:spcAft>
                          <a:spcPct val="0"/>
                        </a:spcAft>
                        <a:defRPr>
                          <a:solidFill>
                            <a:schemeClr val="tx2"/>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zh-CN" altLang="en-US" sz="25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zh-CN" sz="2500" b="0" i="0" u="none" strike="noStrike" cap="none" normalizeH="0" baseline="0">
                          <a:ln>
                            <a:noFill/>
                          </a:ln>
                          <a:solidFill>
                            <a:schemeClr val="tx1"/>
                          </a:solidFill>
                          <a:effectLst/>
                          <a:latin typeface="Arial" panose="020B0604020202020204" pitchFamily="34" charset="0"/>
                          <a:ea typeface="宋体" panose="02010600030101010101" pitchFamily="2" charset="-122"/>
                        </a:rPr>
                        <a:t>35</a:t>
                      </a:r>
                    </a:p>
                  </a:txBody>
                  <a:tcPr marR="1371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eaLnBrk="0" hangingPunct="0">
                        <a:spcBef>
                          <a:spcPct val="20000"/>
                        </a:spcBef>
                        <a:buClr>
                          <a:schemeClr val="tx1"/>
                        </a:buClr>
                        <a:buFont typeface="Wingdings" panose="05000000000000000000" pitchFamily="2" charset="2"/>
                        <a:defRPr sz="2400" b="1">
                          <a:solidFill>
                            <a:schemeClr val="tx1"/>
                          </a:solidFill>
                          <a:latin typeface="Verdana" panose="020B0604030504040204" pitchFamily="34" charset="0"/>
                        </a:defRPr>
                      </a:lvl1pPr>
                      <a:lvl2pPr marL="742950" indent="-285750" algn="l" eaLnBrk="0" hangingPunct="0">
                        <a:spcBef>
                          <a:spcPct val="20000"/>
                        </a:spcBef>
                        <a:buClr>
                          <a:schemeClr val="tx2"/>
                        </a:buClr>
                        <a:buFont typeface="Wingdings" panose="05000000000000000000" pitchFamily="2" charset="2"/>
                        <a:defRPr sz="2400">
                          <a:solidFill>
                            <a:schemeClr val="tx2"/>
                          </a:solidFill>
                          <a:latin typeface="Arial" panose="020B0604020202020204" pitchFamily="34" charset="0"/>
                        </a:defRPr>
                      </a:lvl2pPr>
                      <a:lvl3pPr marL="1143000" indent="-228600" algn="l" eaLnBrk="0" hangingPunct="0">
                        <a:spcBef>
                          <a:spcPct val="20000"/>
                        </a:spcBef>
                        <a:buClr>
                          <a:schemeClr val="hlink"/>
                        </a:buClr>
                        <a:defRPr sz="2000">
                          <a:solidFill>
                            <a:schemeClr val="tx2"/>
                          </a:solidFill>
                          <a:latin typeface="Arial" panose="020B0604020202020204" pitchFamily="34" charset="0"/>
                        </a:defRPr>
                      </a:lvl3pPr>
                      <a:lvl4pPr marL="1600200" indent="-228600" algn="l" eaLnBrk="0" hangingPunct="0">
                        <a:spcBef>
                          <a:spcPct val="20000"/>
                        </a:spcBef>
                        <a:defRPr>
                          <a:solidFill>
                            <a:schemeClr val="tx2"/>
                          </a:solidFill>
                          <a:latin typeface="Arial" panose="020B0604020202020204" pitchFamily="34" charset="0"/>
                        </a:defRPr>
                      </a:lvl4pPr>
                      <a:lvl5pPr marL="2057400" indent="-228600" algn="l" eaLnBrk="0" hangingPunct="0">
                        <a:spcBef>
                          <a:spcPct val="20000"/>
                        </a:spcBef>
                        <a:defRPr>
                          <a:solidFill>
                            <a:schemeClr val="tx2"/>
                          </a:solidFill>
                          <a:latin typeface="Arial" panose="020B0604020202020204" pitchFamily="34" charset="0"/>
                        </a:defRPr>
                      </a:lvl5pPr>
                      <a:lvl6pPr marL="2514600" indent="-228600" eaLnBrk="0" fontAlgn="base" hangingPunct="0">
                        <a:spcBef>
                          <a:spcPct val="20000"/>
                        </a:spcBef>
                        <a:spcAft>
                          <a:spcPct val="0"/>
                        </a:spcAft>
                        <a:defRPr>
                          <a:solidFill>
                            <a:schemeClr val="tx2"/>
                          </a:solidFill>
                          <a:latin typeface="Arial" panose="020B0604020202020204" pitchFamily="34" charset="0"/>
                        </a:defRPr>
                      </a:lvl6pPr>
                      <a:lvl7pPr marL="2971800" indent="-228600" eaLnBrk="0" fontAlgn="base" hangingPunct="0">
                        <a:spcBef>
                          <a:spcPct val="20000"/>
                        </a:spcBef>
                        <a:spcAft>
                          <a:spcPct val="0"/>
                        </a:spcAft>
                        <a:defRPr>
                          <a:solidFill>
                            <a:schemeClr val="tx2"/>
                          </a:solidFill>
                          <a:latin typeface="Arial" panose="020B0604020202020204" pitchFamily="34" charset="0"/>
                        </a:defRPr>
                      </a:lvl7pPr>
                      <a:lvl8pPr marL="3429000" indent="-228600" eaLnBrk="0" fontAlgn="base" hangingPunct="0">
                        <a:spcBef>
                          <a:spcPct val="20000"/>
                        </a:spcBef>
                        <a:spcAft>
                          <a:spcPct val="0"/>
                        </a:spcAft>
                        <a:defRPr>
                          <a:solidFill>
                            <a:schemeClr val="tx2"/>
                          </a:solidFill>
                          <a:latin typeface="Arial" panose="020B0604020202020204" pitchFamily="34" charset="0"/>
                        </a:defRPr>
                      </a:lvl8pPr>
                      <a:lvl9pPr marL="3886200" indent="-228600" eaLnBrk="0" fontAlgn="base" hangingPunct="0">
                        <a:spcBef>
                          <a:spcPct val="20000"/>
                        </a:spcBef>
                        <a:spcAft>
                          <a:spcPct val="0"/>
                        </a:spcAft>
                        <a:defRPr>
                          <a:solidFill>
                            <a:schemeClr val="tx2"/>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altLang="zh-CN" sz="25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58850078"/>
                  </a:ext>
                </a:extLst>
              </a:tr>
            </a:tbl>
          </a:graphicData>
        </a:graphic>
      </p:graphicFrame>
      <p:sp>
        <p:nvSpPr>
          <p:cNvPr id="42019" name="AutoShape 44">
            <a:extLst>
              <a:ext uri="{FF2B5EF4-FFF2-40B4-BE49-F238E27FC236}">
                <a16:creationId xmlns:a16="http://schemas.microsoft.com/office/drawing/2014/main" id="{AB60F2C2-C1DD-4F7E-BA9C-3159702E5A41}"/>
              </a:ext>
            </a:extLst>
          </p:cNvPr>
          <p:cNvSpPr>
            <a:spLocks/>
          </p:cNvSpPr>
          <p:nvPr/>
        </p:nvSpPr>
        <p:spPr bwMode="auto">
          <a:xfrm>
            <a:off x="1408113" y="4452938"/>
            <a:ext cx="182562" cy="866775"/>
          </a:xfrm>
          <a:prstGeom prst="rightBrace">
            <a:avLst>
              <a:gd name="adj1" fmla="val 39565"/>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42020" name="Line 45">
            <a:extLst>
              <a:ext uri="{FF2B5EF4-FFF2-40B4-BE49-F238E27FC236}">
                <a16:creationId xmlns:a16="http://schemas.microsoft.com/office/drawing/2014/main" id="{AEB9DDBA-B7C4-47C8-9BFD-5468C2213BA6}"/>
              </a:ext>
            </a:extLst>
          </p:cNvPr>
          <p:cNvSpPr>
            <a:spLocks noChangeShapeType="1"/>
          </p:cNvSpPr>
          <p:nvPr/>
        </p:nvSpPr>
        <p:spPr bwMode="auto">
          <a:xfrm>
            <a:off x="5684838" y="2433638"/>
            <a:ext cx="739775"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42021" name="Line 46">
            <a:extLst>
              <a:ext uri="{FF2B5EF4-FFF2-40B4-BE49-F238E27FC236}">
                <a16:creationId xmlns:a16="http://schemas.microsoft.com/office/drawing/2014/main" id="{8F41ABAC-4934-44EF-8447-C34AB4C311BC}"/>
              </a:ext>
            </a:extLst>
          </p:cNvPr>
          <p:cNvSpPr>
            <a:spLocks noChangeShapeType="1"/>
          </p:cNvSpPr>
          <p:nvPr/>
        </p:nvSpPr>
        <p:spPr bwMode="auto">
          <a:xfrm>
            <a:off x="5686425" y="3108325"/>
            <a:ext cx="739775"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42022" name="Line 47">
            <a:extLst>
              <a:ext uri="{FF2B5EF4-FFF2-40B4-BE49-F238E27FC236}">
                <a16:creationId xmlns:a16="http://schemas.microsoft.com/office/drawing/2014/main" id="{BE6BD2EF-155B-422A-BBC1-9507F88B4551}"/>
              </a:ext>
            </a:extLst>
          </p:cNvPr>
          <p:cNvSpPr>
            <a:spLocks noChangeShapeType="1"/>
          </p:cNvSpPr>
          <p:nvPr/>
        </p:nvSpPr>
        <p:spPr bwMode="auto">
          <a:xfrm>
            <a:off x="5680075" y="3840163"/>
            <a:ext cx="739775"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42023" name="Line 48">
            <a:extLst>
              <a:ext uri="{FF2B5EF4-FFF2-40B4-BE49-F238E27FC236}">
                <a16:creationId xmlns:a16="http://schemas.microsoft.com/office/drawing/2014/main" id="{53D1D7CF-9E95-4AB1-8A4A-8D4A0F8D44D6}"/>
              </a:ext>
            </a:extLst>
          </p:cNvPr>
          <p:cNvSpPr>
            <a:spLocks noChangeShapeType="1"/>
          </p:cNvSpPr>
          <p:nvPr/>
        </p:nvSpPr>
        <p:spPr bwMode="auto">
          <a:xfrm>
            <a:off x="5680075" y="4508500"/>
            <a:ext cx="739775"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42024" name="AutoShape 49">
            <a:extLst>
              <a:ext uri="{FF2B5EF4-FFF2-40B4-BE49-F238E27FC236}">
                <a16:creationId xmlns:a16="http://schemas.microsoft.com/office/drawing/2014/main" id="{1A41D6E2-2B5F-4FD1-A7CB-2CE3E99E3D70}"/>
              </a:ext>
            </a:extLst>
          </p:cNvPr>
          <p:cNvSpPr>
            <a:spLocks/>
          </p:cNvSpPr>
          <p:nvPr/>
        </p:nvSpPr>
        <p:spPr bwMode="auto">
          <a:xfrm>
            <a:off x="2206625" y="3562350"/>
            <a:ext cx="182563" cy="866775"/>
          </a:xfrm>
          <a:prstGeom prst="rightBrace">
            <a:avLst>
              <a:gd name="adj1" fmla="val 39565"/>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42025" name="AutoShape 50">
            <a:extLst>
              <a:ext uri="{FF2B5EF4-FFF2-40B4-BE49-F238E27FC236}">
                <a16:creationId xmlns:a16="http://schemas.microsoft.com/office/drawing/2014/main" id="{508D1A1C-FBEE-47B4-BD0B-3334C9158D91}"/>
              </a:ext>
            </a:extLst>
          </p:cNvPr>
          <p:cNvSpPr>
            <a:spLocks/>
          </p:cNvSpPr>
          <p:nvPr/>
        </p:nvSpPr>
        <p:spPr bwMode="auto">
          <a:xfrm>
            <a:off x="3046413" y="2233613"/>
            <a:ext cx="182562" cy="1303337"/>
          </a:xfrm>
          <a:prstGeom prst="rightBrace">
            <a:avLst>
              <a:gd name="adj1" fmla="val 59493"/>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42026" name="AutoShape 51">
            <a:extLst>
              <a:ext uri="{FF2B5EF4-FFF2-40B4-BE49-F238E27FC236}">
                <a16:creationId xmlns:a16="http://schemas.microsoft.com/office/drawing/2014/main" id="{A56EC7EB-6114-44A5-A8C1-0F878BB1DB87}"/>
              </a:ext>
            </a:extLst>
          </p:cNvPr>
          <p:cNvSpPr>
            <a:spLocks/>
          </p:cNvSpPr>
          <p:nvPr/>
        </p:nvSpPr>
        <p:spPr bwMode="auto">
          <a:xfrm>
            <a:off x="3824288" y="1501775"/>
            <a:ext cx="182562" cy="696913"/>
          </a:xfrm>
          <a:prstGeom prst="rightBrace">
            <a:avLst>
              <a:gd name="adj1" fmla="val 31812"/>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08576" name="Title 1">
            <a:extLst>
              <a:ext uri="{FF2B5EF4-FFF2-40B4-BE49-F238E27FC236}">
                <a16:creationId xmlns:a16="http://schemas.microsoft.com/office/drawing/2014/main" id="{5F35B9BF-13FE-4726-933E-80CDABD1BA3F}"/>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成本与供给曲线</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upRight)">
                                      <p:cBhvr>
                                        <p:cTn id="12" dur="2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2020"/>
                                        </p:tgtEl>
                                        <p:attrNameLst>
                                          <p:attrName>style.visibility</p:attrName>
                                        </p:attrNameLst>
                                      </p:cBhvr>
                                      <p:to>
                                        <p:strVal val="visible"/>
                                      </p:to>
                                    </p:set>
                                    <p:animEffect transition="in" filter="dissolve">
                                      <p:cBhvr>
                                        <p:cTn id="17" dur="500"/>
                                        <p:tgtEl>
                                          <p:spTgt spid="42020"/>
                                        </p:tgtEl>
                                      </p:cBhvr>
                                    </p:animEffect>
                                  </p:childTnLst>
                                </p:cTn>
                              </p:par>
                              <p:par>
                                <p:cTn id="18" presetID="18" presetClass="entr" presetSubtype="12" fill="hold" grpId="0" nodeType="withEffect">
                                  <p:stCondLst>
                                    <p:cond delay="0"/>
                                  </p:stCondLst>
                                  <p:childTnLst>
                                    <p:set>
                                      <p:cBhvr>
                                        <p:cTn id="19" dur="1" fill="hold">
                                          <p:stCondLst>
                                            <p:cond delay="0"/>
                                          </p:stCondLst>
                                        </p:cTn>
                                        <p:tgtEl>
                                          <p:spTgt spid="42019"/>
                                        </p:tgtEl>
                                        <p:attrNameLst>
                                          <p:attrName>style.visibility</p:attrName>
                                        </p:attrNameLst>
                                      </p:cBhvr>
                                      <p:to>
                                        <p:strVal val="visible"/>
                                      </p:to>
                                    </p:set>
                                    <p:animEffect transition="in" filter="strips(downLeft)">
                                      <p:cBhvr>
                                        <p:cTn id="20" dur="500"/>
                                        <p:tgtEl>
                                          <p:spTgt spid="4201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xit" presetSubtype="0" fill="hold" nodeType="clickEffect">
                                  <p:stCondLst>
                                    <p:cond delay="0"/>
                                  </p:stCondLst>
                                  <p:childTnLst>
                                    <p:animEffect transition="out" filter="dissolve">
                                      <p:cBhvr>
                                        <p:cTn id="24" dur="500"/>
                                        <p:tgtEl>
                                          <p:spTgt spid="42020"/>
                                        </p:tgtEl>
                                      </p:cBhvr>
                                    </p:animEffect>
                                    <p:set>
                                      <p:cBhvr>
                                        <p:cTn id="25" dur="1" fill="hold">
                                          <p:stCondLst>
                                            <p:cond delay="499"/>
                                          </p:stCondLst>
                                        </p:cTn>
                                        <p:tgtEl>
                                          <p:spTgt spid="42020"/>
                                        </p:tgtEl>
                                        <p:attrNameLst>
                                          <p:attrName>style.visibility</p:attrName>
                                        </p:attrNameLst>
                                      </p:cBhvr>
                                      <p:to>
                                        <p:strVal val="hidden"/>
                                      </p:to>
                                    </p:set>
                                  </p:childTnLst>
                                </p:cTn>
                              </p:par>
                              <p:par>
                                <p:cTn id="26" presetID="9" presetClass="exit" presetSubtype="0" fill="hold" grpId="1" nodeType="withEffect">
                                  <p:stCondLst>
                                    <p:cond delay="0"/>
                                  </p:stCondLst>
                                  <p:childTnLst>
                                    <p:animEffect transition="out" filter="dissolve">
                                      <p:cBhvr>
                                        <p:cTn id="27" dur="500"/>
                                        <p:tgtEl>
                                          <p:spTgt spid="42019"/>
                                        </p:tgtEl>
                                      </p:cBhvr>
                                    </p:animEffect>
                                    <p:set>
                                      <p:cBhvr>
                                        <p:cTn id="28" dur="1" fill="hold">
                                          <p:stCondLst>
                                            <p:cond delay="499"/>
                                          </p:stCondLst>
                                        </p:cTn>
                                        <p:tgtEl>
                                          <p:spTgt spid="42019"/>
                                        </p:tgtEl>
                                        <p:attrNameLst>
                                          <p:attrName>style.visibility</p:attrName>
                                        </p:attrNameLst>
                                      </p:cBhvr>
                                      <p:to>
                                        <p:strVal val="hidden"/>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42021"/>
                                        </p:tgtEl>
                                        <p:attrNameLst>
                                          <p:attrName>style.visibility</p:attrName>
                                        </p:attrNameLst>
                                      </p:cBhvr>
                                      <p:to>
                                        <p:strVal val="visible"/>
                                      </p:to>
                                    </p:set>
                                    <p:animEffect transition="in" filter="dissolve">
                                      <p:cBhvr>
                                        <p:cTn id="33" dur="500"/>
                                        <p:tgtEl>
                                          <p:spTgt spid="42021"/>
                                        </p:tgtEl>
                                      </p:cBhvr>
                                    </p:animEffect>
                                  </p:childTnLst>
                                </p:cTn>
                              </p:par>
                              <p:par>
                                <p:cTn id="34" presetID="18" presetClass="entr" presetSubtype="12" fill="hold" grpId="0" nodeType="withEffect">
                                  <p:stCondLst>
                                    <p:cond delay="0"/>
                                  </p:stCondLst>
                                  <p:childTnLst>
                                    <p:set>
                                      <p:cBhvr>
                                        <p:cTn id="35" dur="1" fill="hold">
                                          <p:stCondLst>
                                            <p:cond delay="0"/>
                                          </p:stCondLst>
                                        </p:cTn>
                                        <p:tgtEl>
                                          <p:spTgt spid="42024"/>
                                        </p:tgtEl>
                                        <p:attrNameLst>
                                          <p:attrName>style.visibility</p:attrName>
                                        </p:attrNameLst>
                                      </p:cBhvr>
                                      <p:to>
                                        <p:strVal val="visible"/>
                                      </p:to>
                                    </p:set>
                                    <p:animEffect transition="in" filter="strips(downLeft)">
                                      <p:cBhvr>
                                        <p:cTn id="36" dur="500"/>
                                        <p:tgtEl>
                                          <p:spTgt spid="4202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xit" presetSubtype="0" fill="hold" nodeType="clickEffect">
                                  <p:stCondLst>
                                    <p:cond delay="0"/>
                                  </p:stCondLst>
                                  <p:childTnLst>
                                    <p:animEffect transition="out" filter="dissolve">
                                      <p:cBhvr>
                                        <p:cTn id="40" dur="500"/>
                                        <p:tgtEl>
                                          <p:spTgt spid="42021"/>
                                        </p:tgtEl>
                                      </p:cBhvr>
                                    </p:animEffect>
                                    <p:set>
                                      <p:cBhvr>
                                        <p:cTn id="41" dur="1" fill="hold">
                                          <p:stCondLst>
                                            <p:cond delay="499"/>
                                          </p:stCondLst>
                                        </p:cTn>
                                        <p:tgtEl>
                                          <p:spTgt spid="42021"/>
                                        </p:tgtEl>
                                        <p:attrNameLst>
                                          <p:attrName>style.visibility</p:attrName>
                                        </p:attrNameLst>
                                      </p:cBhvr>
                                      <p:to>
                                        <p:strVal val="hidden"/>
                                      </p:to>
                                    </p:set>
                                  </p:childTnLst>
                                </p:cTn>
                              </p:par>
                              <p:par>
                                <p:cTn id="42" presetID="9" presetClass="exit" presetSubtype="0" fill="hold" grpId="1" nodeType="withEffect">
                                  <p:stCondLst>
                                    <p:cond delay="0"/>
                                  </p:stCondLst>
                                  <p:childTnLst>
                                    <p:animEffect transition="out" filter="dissolve">
                                      <p:cBhvr>
                                        <p:cTn id="43" dur="500"/>
                                        <p:tgtEl>
                                          <p:spTgt spid="42024"/>
                                        </p:tgtEl>
                                      </p:cBhvr>
                                    </p:animEffect>
                                    <p:set>
                                      <p:cBhvr>
                                        <p:cTn id="44" dur="1" fill="hold">
                                          <p:stCondLst>
                                            <p:cond delay="499"/>
                                          </p:stCondLst>
                                        </p:cTn>
                                        <p:tgtEl>
                                          <p:spTgt spid="42024"/>
                                        </p:tgtEl>
                                        <p:attrNameLst>
                                          <p:attrName>style.visibility</p:attrName>
                                        </p:attrNameLst>
                                      </p:cBhvr>
                                      <p:to>
                                        <p:strVal val="hidden"/>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42022"/>
                                        </p:tgtEl>
                                        <p:attrNameLst>
                                          <p:attrName>style.visibility</p:attrName>
                                        </p:attrNameLst>
                                      </p:cBhvr>
                                      <p:to>
                                        <p:strVal val="visible"/>
                                      </p:to>
                                    </p:set>
                                    <p:animEffect transition="in" filter="dissolve">
                                      <p:cBhvr>
                                        <p:cTn id="49" dur="500"/>
                                        <p:tgtEl>
                                          <p:spTgt spid="42022"/>
                                        </p:tgtEl>
                                      </p:cBhvr>
                                    </p:animEffect>
                                  </p:childTnLst>
                                </p:cTn>
                              </p:par>
                              <p:par>
                                <p:cTn id="50" presetID="18" presetClass="entr" presetSubtype="12" fill="hold" grpId="0" nodeType="withEffect">
                                  <p:stCondLst>
                                    <p:cond delay="0"/>
                                  </p:stCondLst>
                                  <p:childTnLst>
                                    <p:set>
                                      <p:cBhvr>
                                        <p:cTn id="51" dur="1" fill="hold">
                                          <p:stCondLst>
                                            <p:cond delay="0"/>
                                          </p:stCondLst>
                                        </p:cTn>
                                        <p:tgtEl>
                                          <p:spTgt spid="42025"/>
                                        </p:tgtEl>
                                        <p:attrNameLst>
                                          <p:attrName>style.visibility</p:attrName>
                                        </p:attrNameLst>
                                      </p:cBhvr>
                                      <p:to>
                                        <p:strVal val="visible"/>
                                      </p:to>
                                    </p:set>
                                    <p:animEffect transition="in" filter="strips(downLeft)">
                                      <p:cBhvr>
                                        <p:cTn id="52" dur="500"/>
                                        <p:tgtEl>
                                          <p:spTgt spid="4202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xit" presetSubtype="0" fill="hold" nodeType="clickEffect">
                                  <p:stCondLst>
                                    <p:cond delay="0"/>
                                  </p:stCondLst>
                                  <p:childTnLst>
                                    <p:animEffect transition="out" filter="dissolve">
                                      <p:cBhvr>
                                        <p:cTn id="56" dur="500"/>
                                        <p:tgtEl>
                                          <p:spTgt spid="42022"/>
                                        </p:tgtEl>
                                      </p:cBhvr>
                                    </p:animEffect>
                                    <p:set>
                                      <p:cBhvr>
                                        <p:cTn id="57" dur="1" fill="hold">
                                          <p:stCondLst>
                                            <p:cond delay="499"/>
                                          </p:stCondLst>
                                        </p:cTn>
                                        <p:tgtEl>
                                          <p:spTgt spid="42022"/>
                                        </p:tgtEl>
                                        <p:attrNameLst>
                                          <p:attrName>style.visibility</p:attrName>
                                        </p:attrNameLst>
                                      </p:cBhvr>
                                      <p:to>
                                        <p:strVal val="hidden"/>
                                      </p:to>
                                    </p:set>
                                  </p:childTnLst>
                                </p:cTn>
                              </p:par>
                              <p:par>
                                <p:cTn id="58" presetID="9" presetClass="exit" presetSubtype="0" fill="hold" grpId="1" nodeType="withEffect">
                                  <p:stCondLst>
                                    <p:cond delay="0"/>
                                  </p:stCondLst>
                                  <p:childTnLst>
                                    <p:animEffect transition="out" filter="dissolve">
                                      <p:cBhvr>
                                        <p:cTn id="59" dur="500"/>
                                        <p:tgtEl>
                                          <p:spTgt spid="42025"/>
                                        </p:tgtEl>
                                      </p:cBhvr>
                                    </p:animEffect>
                                    <p:set>
                                      <p:cBhvr>
                                        <p:cTn id="60" dur="1" fill="hold">
                                          <p:stCondLst>
                                            <p:cond delay="499"/>
                                          </p:stCondLst>
                                        </p:cTn>
                                        <p:tgtEl>
                                          <p:spTgt spid="42025"/>
                                        </p:tgtEl>
                                        <p:attrNameLst>
                                          <p:attrName>style.visibility</p:attrName>
                                        </p:attrNameLst>
                                      </p:cBhvr>
                                      <p:to>
                                        <p:strVal val="hidden"/>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nodeType="clickEffect">
                                  <p:stCondLst>
                                    <p:cond delay="0"/>
                                  </p:stCondLst>
                                  <p:childTnLst>
                                    <p:set>
                                      <p:cBhvr>
                                        <p:cTn id="64" dur="1" fill="hold">
                                          <p:stCondLst>
                                            <p:cond delay="0"/>
                                          </p:stCondLst>
                                        </p:cTn>
                                        <p:tgtEl>
                                          <p:spTgt spid="42023"/>
                                        </p:tgtEl>
                                        <p:attrNameLst>
                                          <p:attrName>style.visibility</p:attrName>
                                        </p:attrNameLst>
                                      </p:cBhvr>
                                      <p:to>
                                        <p:strVal val="visible"/>
                                      </p:to>
                                    </p:set>
                                    <p:animEffect transition="in" filter="dissolve">
                                      <p:cBhvr>
                                        <p:cTn id="65" dur="500"/>
                                        <p:tgtEl>
                                          <p:spTgt spid="42023"/>
                                        </p:tgtEl>
                                      </p:cBhvr>
                                    </p:animEffect>
                                  </p:childTnLst>
                                </p:cTn>
                              </p:par>
                              <p:par>
                                <p:cTn id="66" presetID="18" presetClass="entr" presetSubtype="12" fill="hold" grpId="0" nodeType="withEffect">
                                  <p:stCondLst>
                                    <p:cond delay="0"/>
                                  </p:stCondLst>
                                  <p:childTnLst>
                                    <p:set>
                                      <p:cBhvr>
                                        <p:cTn id="67" dur="1" fill="hold">
                                          <p:stCondLst>
                                            <p:cond delay="0"/>
                                          </p:stCondLst>
                                        </p:cTn>
                                        <p:tgtEl>
                                          <p:spTgt spid="42026"/>
                                        </p:tgtEl>
                                        <p:attrNameLst>
                                          <p:attrName>style.visibility</p:attrName>
                                        </p:attrNameLst>
                                      </p:cBhvr>
                                      <p:to>
                                        <p:strVal val="visible"/>
                                      </p:to>
                                    </p:set>
                                    <p:animEffect transition="in" filter="strips(downLeft)">
                                      <p:cBhvr>
                                        <p:cTn id="68" dur="500"/>
                                        <p:tgtEl>
                                          <p:spTgt spid="4202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xit" presetSubtype="0" fill="hold" nodeType="clickEffect">
                                  <p:stCondLst>
                                    <p:cond delay="0"/>
                                  </p:stCondLst>
                                  <p:childTnLst>
                                    <p:animEffect transition="out" filter="dissolve">
                                      <p:cBhvr>
                                        <p:cTn id="72" dur="500"/>
                                        <p:tgtEl>
                                          <p:spTgt spid="42023"/>
                                        </p:tgtEl>
                                      </p:cBhvr>
                                    </p:animEffect>
                                    <p:set>
                                      <p:cBhvr>
                                        <p:cTn id="73" dur="1" fill="hold">
                                          <p:stCondLst>
                                            <p:cond delay="499"/>
                                          </p:stCondLst>
                                        </p:cTn>
                                        <p:tgtEl>
                                          <p:spTgt spid="42023"/>
                                        </p:tgtEl>
                                        <p:attrNameLst>
                                          <p:attrName>style.visibility</p:attrName>
                                        </p:attrNameLst>
                                      </p:cBhvr>
                                      <p:to>
                                        <p:strVal val="hidden"/>
                                      </p:to>
                                    </p:set>
                                  </p:childTnLst>
                                </p:cTn>
                              </p:par>
                              <p:par>
                                <p:cTn id="74" presetID="9" presetClass="exit" presetSubtype="0" fill="hold" grpId="1" nodeType="withEffect">
                                  <p:stCondLst>
                                    <p:cond delay="0"/>
                                  </p:stCondLst>
                                  <p:childTnLst>
                                    <p:animEffect transition="out" filter="dissolve">
                                      <p:cBhvr>
                                        <p:cTn id="75" dur="500"/>
                                        <p:tgtEl>
                                          <p:spTgt spid="42026"/>
                                        </p:tgtEl>
                                      </p:cBhvr>
                                    </p:animEffect>
                                    <p:set>
                                      <p:cBhvr>
                                        <p:cTn id="76" dur="1" fill="hold">
                                          <p:stCondLst>
                                            <p:cond delay="499"/>
                                          </p:stCondLst>
                                        </p:cTn>
                                        <p:tgtEl>
                                          <p:spTgt spid="42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19" grpId="0" animBg="1" autoUpdateAnimBg="0"/>
      <p:bldP spid="42019" grpId="1" animBg="1" autoUpdateAnimBg="0"/>
      <p:bldP spid="42024" grpId="0" animBg="1" autoUpdateAnimBg="0"/>
      <p:bldP spid="42024" grpId="1" animBg="1" autoUpdateAnimBg="0"/>
      <p:bldP spid="42025" grpId="0" animBg="1" autoUpdateAnimBg="0"/>
      <p:bldP spid="42025" grpId="1" animBg="1" autoUpdateAnimBg="0"/>
      <p:bldP spid="42026" grpId="0" animBg="1" autoUpdateAnimBg="0"/>
      <p:bldP spid="42026" grpId="1"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4" name="Object 2">
            <a:extLst>
              <a:ext uri="{FF2B5EF4-FFF2-40B4-BE49-F238E27FC236}">
                <a16:creationId xmlns:a16="http://schemas.microsoft.com/office/drawing/2014/main" id="{85972DD0-2910-4161-868E-EA0D8CFF7B11}"/>
              </a:ext>
            </a:extLst>
          </p:cNvPr>
          <p:cNvGraphicFramePr>
            <a:graphicFrameLocks noChangeAspect="1"/>
          </p:cNvGraphicFramePr>
          <p:nvPr/>
        </p:nvGraphicFramePr>
        <p:xfrm>
          <a:off x="214313" y="1033463"/>
          <a:ext cx="4548187" cy="5200650"/>
        </p:xfrm>
        <a:graphic>
          <a:graphicData uri="http://schemas.openxmlformats.org/presentationml/2006/ole">
            <mc:AlternateContent xmlns:mc="http://schemas.openxmlformats.org/markup-compatibility/2006">
              <mc:Choice xmlns:v="urn:schemas-microsoft-com:vml" Requires="v">
                <p:oleObj spid="_x0000_s15382" r:id="rId4" imgW="2402640" imgH="2748240" progId="Excel.Chart.8">
                  <p:embed/>
                </p:oleObj>
              </mc:Choice>
              <mc:Fallback>
                <p:oleObj r:id="rId4" imgW="2402640" imgH="2748240" progId="Excel.Chart.8">
                  <p:embed/>
                  <p:pic>
                    <p:nvPicPr>
                      <p:cNvPr id="110594" name="Object 2">
                        <a:extLst>
                          <a:ext uri="{FF2B5EF4-FFF2-40B4-BE49-F238E27FC236}">
                            <a16:creationId xmlns:a16="http://schemas.microsoft.com/office/drawing/2014/main" id="{85972DD0-2910-4161-868E-EA0D8CFF7B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13" y="1033463"/>
                        <a:ext cx="4548187" cy="520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0595" name="Text Box 4">
            <a:extLst>
              <a:ext uri="{FF2B5EF4-FFF2-40B4-BE49-F238E27FC236}">
                <a16:creationId xmlns:a16="http://schemas.microsoft.com/office/drawing/2014/main" id="{E642C5D8-17DF-4063-9E78-FFB9E285B9D3}"/>
              </a:ext>
            </a:extLst>
          </p:cNvPr>
          <p:cNvSpPr txBox="1">
            <a:spLocks noChangeArrowheads="1"/>
          </p:cNvSpPr>
          <p:nvPr/>
        </p:nvSpPr>
        <p:spPr bwMode="auto">
          <a:xfrm>
            <a:off x="1166813" y="979488"/>
            <a:ext cx="403225" cy="51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P</a:t>
            </a:r>
          </a:p>
        </p:txBody>
      </p:sp>
      <p:sp>
        <p:nvSpPr>
          <p:cNvPr id="110596" name="Text Box 5">
            <a:extLst>
              <a:ext uri="{FF2B5EF4-FFF2-40B4-BE49-F238E27FC236}">
                <a16:creationId xmlns:a16="http://schemas.microsoft.com/office/drawing/2014/main" id="{552F84C7-3050-426A-A8B8-E958F4DECCC4}"/>
              </a:ext>
            </a:extLst>
          </p:cNvPr>
          <p:cNvSpPr txBox="1">
            <a:spLocks noChangeArrowheads="1"/>
          </p:cNvSpPr>
          <p:nvPr/>
        </p:nvSpPr>
        <p:spPr bwMode="auto">
          <a:xfrm>
            <a:off x="4276725" y="5080000"/>
            <a:ext cx="474663"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Q</a:t>
            </a:r>
          </a:p>
        </p:txBody>
      </p:sp>
      <p:sp>
        <p:nvSpPr>
          <p:cNvPr id="110597" name="Line 6">
            <a:extLst>
              <a:ext uri="{FF2B5EF4-FFF2-40B4-BE49-F238E27FC236}">
                <a16:creationId xmlns:a16="http://schemas.microsoft.com/office/drawing/2014/main" id="{57899598-97BC-4770-B589-0FD26CAEDCA9}"/>
              </a:ext>
            </a:extLst>
          </p:cNvPr>
          <p:cNvSpPr>
            <a:spLocks noChangeShapeType="1"/>
          </p:cNvSpPr>
          <p:nvPr/>
        </p:nvSpPr>
        <p:spPr bwMode="auto">
          <a:xfrm flipV="1">
            <a:off x="2178050" y="3541713"/>
            <a:ext cx="0" cy="92075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598" name="Line 7">
            <a:extLst>
              <a:ext uri="{FF2B5EF4-FFF2-40B4-BE49-F238E27FC236}">
                <a16:creationId xmlns:a16="http://schemas.microsoft.com/office/drawing/2014/main" id="{69F0C951-8236-41CC-B10B-D50A0D0ED7AE}"/>
              </a:ext>
            </a:extLst>
          </p:cNvPr>
          <p:cNvSpPr>
            <a:spLocks noChangeShapeType="1"/>
          </p:cNvSpPr>
          <p:nvPr/>
        </p:nvSpPr>
        <p:spPr bwMode="auto">
          <a:xfrm flipV="1">
            <a:off x="2989263" y="2195513"/>
            <a:ext cx="0" cy="1366837"/>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599" name="Line 8">
            <a:extLst>
              <a:ext uri="{FF2B5EF4-FFF2-40B4-BE49-F238E27FC236}">
                <a16:creationId xmlns:a16="http://schemas.microsoft.com/office/drawing/2014/main" id="{3C2FEE81-CC5C-4452-9D15-5CBAF214379C}"/>
              </a:ext>
            </a:extLst>
          </p:cNvPr>
          <p:cNvSpPr>
            <a:spLocks noChangeShapeType="1"/>
          </p:cNvSpPr>
          <p:nvPr/>
        </p:nvSpPr>
        <p:spPr bwMode="auto">
          <a:xfrm>
            <a:off x="1341438" y="4433888"/>
            <a:ext cx="842962"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00" name="Line 9">
            <a:extLst>
              <a:ext uri="{FF2B5EF4-FFF2-40B4-BE49-F238E27FC236}">
                <a16:creationId xmlns:a16="http://schemas.microsoft.com/office/drawing/2014/main" id="{AF926999-7934-4D55-9148-41DF8C96970F}"/>
              </a:ext>
            </a:extLst>
          </p:cNvPr>
          <p:cNvSpPr>
            <a:spLocks noChangeShapeType="1"/>
          </p:cNvSpPr>
          <p:nvPr/>
        </p:nvSpPr>
        <p:spPr bwMode="auto">
          <a:xfrm flipV="1">
            <a:off x="1368425" y="4445000"/>
            <a:ext cx="0" cy="884238"/>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01" name="Line 10">
            <a:extLst>
              <a:ext uri="{FF2B5EF4-FFF2-40B4-BE49-F238E27FC236}">
                <a16:creationId xmlns:a16="http://schemas.microsoft.com/office/drawing/2014/main" id="{108205E4-92AB-4DA5-B766-DD20DE0F81AC}"/>
              </a:ext>
            </a:extLst>
          </p:cNvPr>
          <p:cNvSpPr>
            <a:spLocks noChangeShapeType="1"/>
          </p:cNvSpPr>
          <p:nvPr/>
        </p:nvSpPr>
        <p:spPr bwMode="auto">
          <a:xfrm>
            <a:off x="2151063" y="3533775"/>
            <a:ext cx="842962"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02" name="Line 11">
            <a:extLst>
              <a:ext uri="{FF2B5EF4-FFF2-40B4-BE49-F238E27FC236}">
                <a16:creationId xmlns:a16="http://schemas.microsoft.com/office/drawing/2014/main" id="{97A855FB-EB5F-416F-AA46-AA6FA6D0D40C}"/>
              </a:ext>
            </a:extLst>
          </p:cNvPr>
          <p:cNvSpPr>
            <a:spLocks noChangeShapeType="1"/>
          </p:cNvSpPr>
          <p:nvPr/>
        </p:nvSpPr>
        <p:spPr bwMode="auto">
          <a:xfrm>
            <a:off x="2962275" y="2200275"/>
            <a:ext cx="823913"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603" name="Line 12">
            <a:extLst>
              <a:ext uri="{FF2B5EF4-FFF2-40B4-BE49-F238E27FC236}">
                <a16:creationId xmlns:a16="http://schemas.microsoft.com/office/drawing/2014/main" id="{9037A1B3-6C49-4224-AA6E-7B333F002BC0}"/>
              </a:ext>
            </a:extLst>
          </p:cNvPr>
          <p:cNvSpPr>
            <a:spLocks noChangeShapeType="1"/>
          </p:cNvSpPr>
          <p:nvPr/>
        </p:nvSpPr>
        <p:spPr bwMode="auto">
          <a:xfrm flipV="1">
            <a:off x="3783013" y="1497013"/>
            <a:ext cx="0" cy="731837"/>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45" name="Text Box 19">
            <a:extLst>
              <a:ext uri="{FF2B5EF4-FFF2-40B4-BE49-F238E27FC236}">
                <a16:creationId xmlns:a16="http://schemas.microsoft.com/office/drawing/2014/main" id="{DDFDD502-7C19-4D8D-BD80-F4D51724B146}"/>
              </a:ext>
            </a:extLst>
          </p:cNvPr>
          <p:cNvSpPr txBox="1">
            <a:spLocks noChangeArrowheads="1"/>
          </p:cNvSpPr>
          <p:nvPr/>
        </p:nvSpPr>
        <p:spPr bwMode="auto">
          <a:xfrm>
            <a:off x="6011863" y="1916113"/>
            <a:ext cx="2759075"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40000"/>
              </a:spcBef>
              <a:buClrTx/>
              <a:buFontTx/>
              <a:buNone/>
            </a:pPr>
            <a:r>
              <a:rPr lang="zh-CN" altLang="en-US" b="0">
                <a:latin typeface="Arial" panose="020B0604020202020204" pitchFamily="34" charset="0"/>
              </a:rPr>
              <a:t>在每个数量，供给曲线的高度是边际卖者的成本</a:t>
            </a:r>
            <a:endParaRPr lang="en-US" altLang="zh-CN" b="0">
              <a:latin typeface="Arial" panose="020B0604020202020204" pitchFamily="34" charset="0"/>
            </a:endParaRPr>
          </a:p>
          <a:p>
            <a:pPr eaLnBrk="1" hangingPunct="1">
              <a:lnSpc>
                <a:spcPct val="105000"/>
              </a:lnSpc>
              <a:spcBef>
                <a:spcPct val="40000"/>
              </a:spcBef>
              <a:buClrTx/>
              <a:buFontTx/>
              <a:buNone/>
            </a:pPr>
            <a:r>
              <a:rPr lang="zh-CN" altLang="en-US">
                <a:solidFill>
                  <a:srgbClr val="0000FF"/>
                </a:solidFill>
                <a:latin typeface="Arial" panose="020B0604020202020204" pitchFamily="34" charset="0"/>
              </a:rPr>
              <a:t>边际卖者</a:t>
            </a:r>
            <a:r>
              <a:rPr lang="zh-CN" altLang="en-US" b="0">
                <a:latin typeface="Arial" panose="020B0604020202020204" pitchFamily="34" charset="0"/>
              </a:rPr>
              <a:t>：如果价格再低一点就首先离开市场的卖者</a:t>
            </a:r>
            <a:endParaRPr lang="en-US" altLang="zh-CN" b="0">
              <a:latin typeface="Arial" panose="020B0604020202020204" pitchFamily="34" charset="0"/>
            </a:endParaRPr>
          </a:p>
        </p:txBody>
      </p:sp>
      <p:grpSp>
        <p:nvGrpSpPr>
          <p:cNvPr id="2" name="Group 14">
            <a:extLst>
              <a:ext uri="{FF2B5EF4-FFF2-40B4-BE49-F238E27FC236}">
                <a16:creationId xmlns:a16="http://schemas.microsoft.com/office/drawing/2014/main" id="{9CC829D7-149A-474D-8D0D-B99DE455801B}"/>
              </a:ext>
            </a:extLst>
          </p:cNvPr>
          <p:cNvGrpSpPr>
            <a:grpSpLocks/>
          </p:cNvGrpSpPr>
          <p:nvPr/>
        </p:nvGrpSpPr>
        <p:grpSpPr bwMode="auto">
          <a:xfrm>
            <a:off x="3883025" y="1762125"/>
            <a:ext cx="2136775" cy="477838"/>
            <a:chOff x="0" y="0"/>
            <a:chExt cx="1346" cy="301"/>
          </a:xfrm>
        </p:grpSpPr>
        <p:sp>
          <p:nvSpPr>
            <p:cNvPr id="110613" name="Line 24">
              <a:extLst>
                <a:ext uri="{FF2B5EF4-FFF2-40B4-BE49-F238E27FC236}">
                  <a16:creationId xmlns:a16="http://schemas.microsoft.com/office/drawing/2014/main" id="{64C8CC80-D1CE-439F-91A5-E686A677D11F}"/>
                </a:ext>
              </a:extLst>
            </p:cNvPr>
            <p:cNvSpPr>
              <a:spLocks noChangeShapeType="1"/>
            </p:cNvSpPr>
            <p:nvPr/>
          </p:nvSpPr>
          <p:spPr bwMode="auto">
            <a:xfrm flipH="1">
              <a:off x="0" y="277"/>
              <a:ext cx="337"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110614" name="Text Box 25">
              <a:extLst>
                <a:ext uri="{FF2B5EF4-FFF2-40B4-BE49-F238E27FC236}">
                  <a16:creationId xmlns:a16="http://schemas.microsoft.com/office/drawing/2014/main" id="{FA28E43A-67E0-43E9-892F-9A3A10A81925}"/>
                </a:ext>
              </a:extLst>
            </p:cNvPr>
            <p:cNvSpPr txBox="1">
              <a:spLocks noChangeArrowheads="1"/>
            </p:cNvSpPr>
            <p:nvPr/>
          </p:nvSpPr>
          <p:spPr bwMode="auto">
            <a:xfrm>
              <a:off x="222" y="0"/>
              <a:ext cx="1124" cy="301"/>
            </a:xfrm>
            <a:prstGeom prst="rect">
              <a:avLst/>
            </a:prstGeom>
            <a:solidFill>
              <a:srgbClr val="CCFFCC"/>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小东的成本</a:t>
              </a:r>
              <a:endParaRPr lang="en-US" altLang="zh-CN" sz="2500" b="0">
                <a:latin typeface="Arial" panose="020B0604020202020204" pitchFamily="34" charset="0"/>
              </a:endParaRPr>
            </a:p>
          </p:txBody>
        </p:sp>
      </p:grpSp>
      <p:grpSp>
        <p:nvGrpSpPr>
          <p:cNvPr id="3" name="Group 17">
            <a:extLst>
              <a:ext uri="{FF2B5EF4-FFF2-40B4-BE49-F238E27FC236}">
                <a16:creationId xmlns:a16="http://schemas.microsoft.com/office/drawing/2014/main" id="{8959B7FF-8CE2-4DBB-B62E-D511CE9E15E4}"/>
              </a:ext>
            </a:extLst>
          </p:cNvPr>
          <p:cNvGrpSpPr>
            <a:grpSpLocks/>
          </p:cNvGrpSpPr>
          <p:nvPr/>
        </p:nvGrpSpPr>
        <p:grpSpPr bwMode="auto">
          <a:xfrm>
            <a:off x="3073400" y="3009900"/>
            <a:ext cx="2260600" cy="522288"/>
            <a:chOff x="0" y="0"/>
            <a:chExt cx="1424" cy="329"/>
          </a:xfrm>
        </p:grpSpPr>
        <p:sp>
          <p:nvSpPr>
            <p:cNvPr id="110611" name="Line 27">
              <a:extLst>
                <a:ext uri="{FF2B5EF4-FFF2-40B4-BE49-F238E27FC236}">
                  <a16:creationId xmlns:a16="http://schemas.microsoft.com/office/drawing/2014/main" id="{BCC508D2-244B-48C9-9F69-AA1292F00EB4}"/>
                </a:ext>
              </a:extLst>
            </p:cNvPr>
            <p:cNvSpPr>
              <a:spLocks noChangeShapeType="1"/>
            </p:cNvSpPr>
            <p:nvPr/>
          </p:nvSpPr>
          <p:spPr bwMode="auto">
            <a:xfrm flipH="1">
              <a:off x="0" y="329"/>
              <a:ext cx="337"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110612" name="Text Box 28">
              <a:extLst>
                <a:ext uri="{FF2B5EF4-FFF2-40B4-BE49-F238E27FC236}">
                  <a16:creationId xmlns:a16="http://schemas.microsoft.com/office/drawing/2014/main" id="{D17DAC78-7617-412A-92E8-FD09335F7667}"/>
                </a:ext>
              </a:extLst>
            </p:cNvPr>
            <p:cNvSpPr txBox="1">
              <a:spLocks noChangeArrowheads="1"/>
            </p:cNvSpPr>
            <p:nvPr/>
          </p:nvSpPr>
          <p:spPr bwMode="auto">
            <a:xfrm>
              <a:off x="269" y="0"/>
              <a:ext cx="1155" cy="301"/>
            </a:xfrm>
            <a:prstGeom prst="rect">
              <a:avLst/>
            </a:prstGeom>
            <a:solidFill>
              <a:srgbClr val="CCFFCC"/>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小肥的成本</a:t>
              </a:r>
              <a:endParaRPr lang="en-US" altLang="zh-CN" sz="2500" b="0">
                <a:latin typeface="Arial" panose="020B0604020202020204" pitchFamily="34" charset="0"/>
              </a:endParaRPr>
            </a:p>
          </p:txBody>
        </p:sp>
      </p:grpSp>
      <p:grpSp>
        <p:nvGrpSpPr>
          <p:cNvPr id="4" name="Group 20">
            <a:extLst>
              <a:ext uri="{FF2B5EF4-FFF2-40B4-BE49-F238E27FC236}">
                <a16:creationId xmlns:a16="http://schemas.microsoft.com/office/drawing/2014/main" id="{63C9C1F4-1F11-4525-ABF6-99F33BE937C0}"/>
              </a:ext>
            </a:extLst>
          </p:cNvPr>
          <p:cNvGrpSpPr>
            <a:grpSpLocks/>
          </p:cNvGrpSpPr>
          <p:nvPr/>
        </p:nvGrpSpPr>
        <p:grpSpPr bwMode="auto">
          <a:xfrm>
            <a:off x="2263775" y="4197350"/>
            <a:ext cx="2232025" cy="482600"/>
            <a:chOff x="0" y="0"/>
            <a:chExt cx="1406" cy="304"/>
          </a:xfrm>
        </p:grpSpPr>
        <p:sp>
          <p:nvSpPr>
            <p:cNvPr id="110609" name="Line 30">
              <a:extLst>
                <a:ext uri="{FF2B5EF4-FFF2-40B4-BE49-F238E27FC236}">
                  <a16:creationId xmlns:a16="http://schemas.microsoft.com/office/drawing/2014/main" id="{9400FEFE-C7DF-431C-840D-A2DB7CBC0B63}"/>
                </a:ext>
              </a:extLst>
            </p:cNvPr>
            <p:cNvSpPr>
              <a:spLocks noChangeShapeType="1"/>
            </p:cNvSpPr>
            <p:nvPr/>
          </p:nvSpPr>
          <p:spPr bwMode="auto">
            <a:xfrm flipH="1">
              <a:off x="0" y="152"/>
              <a:ext cx="337"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110610" name="Text Box 31">
              <a:extLst>
                <a:ext uri="{FF2B5EF4-FFF2-40B4-BE49-F238E27FC236}">
                  <a16:creationId xmlns:a16="http://schemas.microsoft.com/office/drawing/2014/main" id="{499F616F-9E43-4601-8F20-438E5B1F7795}"/>
                </a:ext>
              </a:extLst>
            </p:cNvPr>
            <p:cNvSpPr txBox="1">
              <a:spLocks noChangeArrowheads="1"/>
            </p:cNvSpPr>
            <p:nvPr/>
          </p:nvSpPr>
          <p:spPr bwMode="auto">
            <a:xfrm>
              <a:off x="276" y="0"/>
              <a:ext cx="1130" cy="304"/>
            </a:xfrm>
            <a:prstGeom prst="rect">
              <a:avLst/>
            </a:prstGeom>
            <a:solidFill>
              <a:srgbClr val="CCFFCC"/>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小海的成本</a:t>
              </a:r>
              <a:endParaRPr lang="en-US" altLang="zh-CN" sz="2500" b="0">
                <a:latin typeface="Arial" panose="020B0604020202020204" pitchFamily="34" charset="0"/>
              </a:endParaRPr>
            </a:p>
          </p:txBody>
        </p:sp>
      </p:grpSp>
      <p:sp>
        <p:nvSpPr>
          <p:cNvPr id="110608" name="Title 1">
            <a:extLst>
              <a:ext uri="{FF2B5EF4-FFF2-40B4-BE49-F238E27FC236}">
                <a16:creationId xmlns:a16="http://schemas.microsoft.com/office/drawing/2014/main" id="{E5C4F2B6-D311-4E7A-8CC5-5FFEF986F74B}"/>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成本与供给曲线</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45">
                                            <p:txEl>
                                              <p:pRg st="0" end="0"/>
                                            </p:txEl>
                                          </p:spTgt>
                                        </p:tgtEl>
                                        <p:attrNameLst>
                                          <p:attrName>style.visibility</p:attrName>
                                        </p:attrNameLst>
                                      </p:cBhvr>
                                      <p:to>
                                        <p:strVal val="visible"/>
                                      </p:to>
                                    </p:set>
                                    <p:animEffect transition="in" filter="wipe(left)">
                                      <p:cBhvr>
                                        <p:cTn id="7" dur="500"/>
                                        <p:tgtEl>
                                          <p:spTgt spid="4404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45">
                                            <p:txEl>
                                              <p:pRg st="1" end="1"/>
                                            </p:txEl>
                                          </p:spTgt>
                                        </p:tgtEl>
                                        <p:attrNameLst>
                                          <p:attrName>style.visibility</p:attrName>
                                        </p:attrNameLst>
                                      </p:cBhvr>
                                      <p:to>
                                        <p:strVal val="visible"/>
                                      </p:to>
                                    </p:set>
                                    <p:animEffect transition="in" filter="wipe(left)">
                                      <p:cBhvr>
                                        <p:cTn id="12" dur="500"/>
                                        <p:tgtEl>
                                          <p:spTgt spid="4404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strips(downLeft)">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trips(downLeft)">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1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strips(down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5"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42" name="Object 2">
            <a:extLst>
              <a:ext uri="{FF2B5EF4-FFF2-40B4-BE49-F238E27FC236}">
                <a16:creationId xmlns:a16="http://schemas.microsoft.com/office/drawing/2014/main" id="{69D3FBA8-9D78-4E4B-89AC-28285B59AA8A}"/>
              </a:ext>
            </a:extLst>
          </p:cNvPr>
          <p:cNvGraphicFramePr>
            <a:graphicFrameLocks noChangeAspect="1"/>
          </p:cNvGraphicFramePr>
          <p:nvPr/>
        </p:nvGraphicFramePr>
        <p:xfrm>
          <a:off x="214313" y="1033463"/>
          <a:ext cx="4548187" cy="5200650"/>
        </p:xfrm>
        <a:graphic>
          <a:graphicData uri="http://schemas.openxmlformats.org/presentationml/2006/ole">
            <mc:AlternateContent xmlns:mc="http://schemas.openxmlformats.org/markup-compatibility/2006">
              <mc:Choice xmlns:v="urn:schemas-microsoft-com:vml" Requires="v">
                <p:oleObj spid="_x0000_s16406" r:id="rId3" imgW="2402640" imgH="2748240" progId="Excel.Chart.8">
                  <p:embed/>
                </p:oleObj>
              </mc:Choice>
              <mc:Fallback>
                <p:oleObj r:id="rId3" imgW="2402640" imgH="2748240" progId="Excel.Chart.8">
                  <p:embed/>
                  <p:pic>
                    <p:nvPicPr>
                      <p:cNvPr id="112642" name="Object 2">
                        <a:extLst>
                          <a:ext uri="{FF2B5EF4-FFF2-40B4-BE49-F238E27FC236}">
                            <a16:creationId xmlns:a16="http://schemas.microsoft.com/office/drawing/2014/main" id="{69D3FBA8-9D78-4E4B-89AC-28285B59AA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1033463"/>
                        <a:ext cx="4548187" cy="520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3" name="Text Box 4">
            <a:extLst>
              <a:ext uri="{FF2B5EF4-FFF2-40B4-BE49-F238E27FC236}">
                <a16:creationId xmlns:a16="http://schemas.microsoft.com/office/drawing/2014/main" id="{A8BAA2E1-9E3B-4F1D-8328-3255D4D044DC}"/>
              </a:ext>
            </a:extLst>
          </p:cNvPr>
          <p:cNvSpPr txBox="1">
            <a:spLocks noChangeArrowheads="1"/>
          </p:cNvSpPr>
          <p:nvPr/>
        </p:nvSpPr>
        <p:spPr bwMode="auto">
          <a:xfrm>
            <a:off x="1166813" y="979488"/>
            <a:ext cx="403225" cy="51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P</a:t>
            </a:r>
          </a:p>
        </p:txBody>
      </p:sp>
      <p:sp>
        <p:nvSpPr>
          <p:cNvPr id="112644" name="Text Box 5">
            <a:extLst>
              <a:ext uri="{FF2B5EF4-FFF2-40B4-BE49-F238E27FC236}">
                <a16:creationId xmlns:a16="http://schemas.microsoft.com/office/drawing/2014/main" id="{38EBE419-E519-446D-B77F-D406C8FE959D}"/>
              </a:ext>
            </a:extLst>
          </p:cNvPr>
          <p:cNvSpPr txBox="1">
            <a:spLocks noChangeArrowheads="1"/>
          </p:cNvSpPr>
          <p:nvPr/>
        </p:nvSpPr>
        <p:spPr bwMode="auto">
          <a:xfrm>
            <a:off x="4276725" y="5080000"/>
            <a:ext cx="474663"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Q</a:t>
            </a:r>
          </a:p>
        </p:txBody>
      </p:sp>
      <p:sp>
        <p:nvSpPr>
          <p:cNvPr id="112645" name="Line 6">
            <a:extLst>
              <a:ext uri="{FF2B5EF4-FFF2-40B4-BE49-F238E27FC236}">
                <a16:creationId xmlns:a16="http://schemas.microsoft.com/office/drawing/2014/main" id="{F21CBD49-26C3-4FAD-8619-1DA6B31AD8CF}"/>
              </a:ext>
            </a:extLst>
          </p:cNvPr>
          <p:cNvSpPr>
            <a:spLocks noChangeShapeType="1"/>
          </p:cNvSpPr>
          <p:nvPr/>
        </p:nvSpPr>
        <p:spPr bwMode="auto">
          <a:xfrm flipV="1">
            <a:off x="2178050" y="3541713"/>
            <a:ext cx="0" cy="92075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46" name="Line 7">
            <a:extLst>
              <a:ext uri="{FF2B5EF4-FFF2-40B4-BE49-F238E27FC236}">
                <a16:creationId xmlns:a16="http://schemas.microsoft.com/office/drawing/2014/main" id="{FFE91D0F-8CB3-4DBF-ABE0-93C0B01C7EF1}"/>
              </a:ext>
            </a:extLst>
          </p:cNvPr>
          <p:cNvSpPr>
            <a:spLocks noChangeShapeType="1"/>
          </p:cNvSpPr>
          <p:nvPr/>
        </p:nvSpPr>
        <p:spPr bwMode="auto">
          <a:xfrm flipV="1">
            <a:off x="2989263" y="2195513"/>
            <a:ext cx="0" cy="1366837"/>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47" name="Line 8">
            <a:extLst>
              <a:ext uri="{FF2B5EF4-FFF2-40B4-BE49-F238E27FC236}">
                <a16:creationId xmlns:a16="http://schemas.microsoft.com/office/drawing/2014/main" id="{8BE9D59A-CE62-4567-B77C-4674474229B7}"/>
              </a:ext>
            </a:extLst>
          </p:cNvPr>
          <p:cNvSpPr>
            <a:spLocks noChangeShapeType="1"/>
          </p:cNvSpPr>
          <p:nvPr/>
        </p:nvSpPr>
        <p:spPr bwMode="auto">
          <a:xfrm>
            <a:off x="1341438" y="4433888"/>
            <a:ext cx="842962"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48" name="Line 9">
            <a:extLst>
              <a:ext uri="{FF2B5EF4-FFF2-40B4-BE49-F238E27FC236}">
                <a16:creationId xmlns:a16="http://schemas.microsoft.com/office/drawing/2014/main" id="{7BC5D964-213D-4CFA-81CD-7E02CD41E1D5}"/>
              </a:ext>
            </a:extLst>
          </p:cNvPr>
          <p:cNvSpPr>
            <a:spLocks noChangeShapeType="1"/>
          </p:cNvSpPr>
          <p:nvPr/>
        </p:nvSpPr>
        <p:spPr bwMode="auto">
          <a:xfrm flipV="1">
            <a:off x="1368425" y="4445000"/>
            <a:ext cx="0" cy="884238"/>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49" name="Line 10">
            <a:extLst>
              <a:ext uri="{FF2B5EF4-FFF2-40B4-BE49-F238E27FC236}">
                <a16:creationId xmlns:a16="http://schemas.microsoft.com/office/drawing/2014/main" id="{A9A96821-B4E8-4B0A-AF02-2D176DD8A31F}"/>
              </a:ext>
            </a:extLst>
          </p:cNvPr>
          <p:cNvSpPr>
            <a:spLocks noChangeShapeType="1"/>
          </p:cNvSpPr>
          <p:nvPr/>
        </p:nvSpPr>
        <p:spPr bwMode="auto">
          <a:xfrm>
            <a:off x="2151063" y="3533775"/>
            <a:ext cx="842962"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0" name="Line 11">
            <a:extLst>
              <a:ext uri="{FF2B5EF4-FFF2-40B4-BE49-F238E27FC236}">
                <a16:creationId xmlns:a16="http://schemas.microsoft.com/office/drawing/2014/main" id="{57B84802-CE0B-4BFF-A648-16FF79A9359B}"/>
              </a:ext>
            </a:extLst>
          </p:cNvPr>
          <p:cNvSpPr>
            <a:spLocks noChangeShapeType="1"/>
          </p:cNvSpPr>
          <p:nvPr/>
        </p:nvSpPr>
        <p:spPr bwMode="auto">
          <a:xfrm>
            <a:off x="2962275" y="2200275"/>
            <a:ext cx="823913"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51" name="Line 12">
            <a:extLst>
              <a:ext uri="{FF2B5EF4-FFF2-40B4-BE49-F238E27FC236}">
                <a16:creationId xmlns:a16="http://schemas.microsoft.com/office/drawing/2014/main" id="{8906BFF1-D65F-49A0-9E10-209041CF4856}"/>
              </a:ext>
            </a:extLst>
          </p:cNvPr>
          <p:cNvSpPr>
            <a:spLocks noChangeShapeType="1"/>
          </p:cNvSpPr>
          <p:nvPr/>
        </p:nvSpPr>
        <p:spPr bwMode="auto">
          <a:xfrm flipV="1">
            <a:off x="3783013" y="1497013"/>
            <a:ext cx="0" cy="731837"/>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93" name="Text Box 22">
            <a:extLst>
              <a:ext uri="{FF2B5EF4-FFF2-40B4-BE49-F238E27FC236}">
                <a16:creationId xmlns:a16="http://schemas.microsoft.com/office/drawing/2014/main" id="{C18C13F5-6EBA-4168-A43F-29127A78C577}"/>
              </a:ext>
            </a:extLst>
          </p:cNvPr>
          <p:cNvSpPr txBox="1">
            <a:spLocks noChangeArrowheads="1"/>
          </p:cNvSpPr>
          <p:nvPr/>
        </p:nvSpPr>
        <p:spPr bwMode="auto">
          <a:xfrm>
            <a:off x="4716463" y="2924175"/>
            <a:ext cx="3835400" cy="141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50000"/>
              </a:spcBef>
              <a:buClrTx/>
              <a:buFontTx/>
              <a:buNone/>
            </a:pPr>
            <a:r>
              <a:rPr lang="zh-CN" altLang="en-US">
                <a:solidFill>
                  <a:srgbClr val="CC0000"/>
                </a:solidFill>
                <a:latin typeface="Arial" panose="020B0604020202020204" pitchFamily="34" charset="0"/>
              </a:rPr>
              <a:t>生产者剩余</a:t>
            </a:r>
            <a:r>
              <a:rPr lang="zh-CN" altLang="en-US" b="0">
                <a:latin typeface="Arial" panose="020B0604020202020204" pitchFamily="34" charset="0"/>
              </a:rPr>
              <a:t>：卖者出售一种物品得到的量减去其生产成本</a:t>
            </a:r>
            <a:endParaRPr lang="en-US" altLang="zh-CN" b="0">
              <a:latin typeface="Arial" panose="020B0604020202020204" pitchFamily="34" charset="0"/>
            </a:endParaRPr>
          </a:p>
        </p:txBody>
      </p:sp>
      <p:sp>
        <p:nvSpPr>
          <p:cNvPr id="46094" name="Text Box 23">
            <a:extLst>
              <a:ext uri="{FF2B5EF4-FFF2-40B4-BE49-F238E27FC236}">
                <a16:creationId xmlns:a16="http://schemas.microsoft.com/office/drawing/2014/main" id="{E3313D5F-E280-4E5C-BB9B-7A82C132EB9D}"/>
              </a:ext>
            </a:extLst>
          </p:cNvPr>
          <p:cNvSpPr txBox="1">
            <a:spLocks noChangeArrowheads="1"/>
          </p:cNvSpPr>
          <p:nvPr/>
        </p:nvSpPr>
        <p:spPr bwMode="auto">
          <a:xfrm>
            <a:off x="5076825" y="2060575"/>
            <a:ext cx="3238500" cy="479425"/>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50000"/>
              </a:spcBef>
              <a:buClrTx/>
              <a:buFontTx/>
              <a:buNone/>
            </a:pPr>
            <a:r>
              <a:rPr lang="en-US" altLang="zh-CN" sz="2600" b="0">
                <a:latin typeface="Arial" panose="020B0604020202020204" pitchFamily="34" charset="0"/>
              </a:rPr>
              <a:t>PS = </a:t>
            </a:r>
            <a:r>
              <a:rPr lang="zh-CN" altLang="en-US" sz="2600" b="0">
                <a:latin typeface="Arial" panose="020B0604020202020204" pitchFamily="34" charset="0"/>
              </a:rPr>
              <a:t>价格 </a:t>
            </a:r>
            <a:r>
              <a:rPr lang="zh-CN" altLang="ja-JP" sz="2600" b="0">
                <a:latin typeface="Arial" panose="020B0604020202020204" pitchFamily="34" charset="0"/>
              </a:rPr>
              <a:t>– </a:t>
            </a:r>
            <a:r>
              <a:rPr lang="zh-CN" altLang="en-US" sz="2600" b="0">
                <a:latin typeface="Arial" panose="020B0604020202020204" pitchFamily="34" charset="0"/>
              </a:rPr>
              <a:t>成本</a:t>
            </a:r>
            <a:endParaRPr lang="en-US" altLang="zh-CN" sz="2600" b="0">
              <a:latin typeface="Arial" panose="020B0604020202020204" pitchFamily="34" charset="0"/>
            </a:endParaRPr>
          </a:p>
        </p:txBody>
      </p:sp>
      <p:sp>
        <p:nvSpPr>
          <p:cNvPr id="112654" name="Title 1">
            <a:extLst>
              <a:ext uri="{FF2B5EF4-FFF2-40B4-BE49-F238E27FC236}">
                <a16:creationId xmlns:a16="http://schemas.microsoft.com/office/drawing/2014/main" id="{F1BE45FD-86CF-48E8-8382-7CEEA03BCD61}"/>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生产者剩余</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93"/>
                                        </p:tgtEl>
                                        <p:attrNameLst>
                                          <p:attrName>style.visibility</p:attrName>
                                        </p:attrNameLst>
                                      </p:cBhvr>
                                      <p:to>
                                        <p:strVal val="visible"/>
                                      </p:to>
                                    </p:set>
                                    <p:animEffect transition="in" filter="wipe(left)">
                                      <p:cBhvr>
                                        <p:cTn id="7" dur="500"/>
                                        <p:tgtEl>
                                          <p:spTgt spid="46093"/>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6094"/>
                                        </p:tgtEl>
                                        <p:attrNameLst>
                                          <p:attrName>style.visibility</p:attrName>
                                        </p:attrNameLst>
                                      </p:cBhvr>
                                      <p:to>
                                        <p:strVal val="visible"/>
                                      </p:to>
                                    </p:set>
                                    <p:animEffect transition="in" filter="dissolve">
                                      <p:cBhvr>
                                        <p:cTn id="11" dur="500"/>
                                        <p:tgtEl>
                                          <p:spTgt spid="46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3" grpId="0" autoUpdateAnimBg="0"/>
      <p:bldP spid="46094" grpId="0" bldLvl="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666" name="Object 2">
            <a:extLst>
              <a:ext uri="{FF2B5EF4-FFF2-40B4-BE49-F238E27FC236}">
                <a16:creationId xmlns:a16="http://schemas.microsoft.com/office/drawing/2014/main" id="{98F45CE5-C724-49DC-AEBE-A3BC4E11B0D2}"/>
              </a:ext>
            </a:extLst>
          </p:cNvPr>
          <p:cNvGraphicFramePr>
            <a:graphicFrameLocks noChangeAspect="1"/>
          </p:cNvGraphicFramePr>
          <p:nvPr/>
        </p:nvGraphicFramePr>
        <p:xfrm>
          <a:off x="214313" y="1033463"/>
          <a:ext cx="4548187" cy="5200650"/>
        </p:xfrm>
        <a:graphic>
          <a:graphicData uri="http://schemas.openxmlformats.org/presentationml/2006/ole">
            <mc:AlternateContent xmlns:mc="http://schemas.openxmlformats.org/markup-compatibility/2006">
              <mc:Choice xmlns:v="urn:schemas-microsoft-com:vml" Requires="v">
                <p:oleObj spid="_x0000_s17432" r:id="rId3" imgW="2402640" imgH="2748240" progId="Excel.Chart.8">
                  <p:embed/>
                </p:oleObj>
              </mc:Choice>
              <mc:Fallback>
                <p:oleObj r:id="rId3" imgW="2402640" imgH="2748240" progId="Excel.Chart.8">
                  <p:embed/>
                  <p:pic>
                    <p:nvPicPr>
                      <p:cNvPr id="113666" name="Object 2">
                        <a:extLst>
                          <a:ext uri="{FF2B5EF4-FFF2-40B4-BE49-F238E27FC236}">
                            <a16:creationId xmlns:a16="http://schemas.microsoft.com/office/drawing/2014/main" id="{98F45CE5-C724-49DC-AEBE-A3BC4E11B0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1033463"/>
                        <a:ext cx="4548187" cy="520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07" name="Rectangle 33">
            <a:extLst>
              <a:ext uri="{FF2B5EF4-FFF2-40B4-BE49-F238E27FC236}">
                <a16:creationId xmlns:a16="http://schemas.microsoft.com/office/drawing/2014/main" id="{9DFA14CC-B808-46D8-835F-C4A22F0E967F}"/>
              </a:ext>
            </a:extLst>
          </p:cNvPr>
          <p:cNvSpPr>
            <a:spLocks noChangeArrowheads="1"/>
          </p:cNvSpPr>
          <p:nvPr/>
        </p:nvSpPr>
        <p:spPr bwMode="auto">
          <a:xfrm>
            <a:off x="2174875" y="3097213"/>
            <a:ext cx="811213" cy="42862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47108" name="Rectangle 32">
            <a:extLst>
              <a:ext uri="{FF2B5EF4-FFF2-40B4-BE49-F238E27FC236}">
                <a16:creationId xmlns:a16="http://schemas.microsoft.com/office/drawing/2014/main" id="{7A112442-0CB0-41E9-85C2-C9DF4E0F56BD}"/>
              </a:ext>
            </a:extLst>
          </p:cNvPr>
          <p:cNvSpPr>
            <a:spLocks noChangeArrowheads="1"/>
          </p:cNvSpPr>
          <p:nvPr/>
        </p:nvSpPr>
        <p:spPr bwMode="auto">
          <a:xfrm>
            <a:off x="1370013" y="3097213"/>
            <a:ext cx="806450" cy="131445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13669" name="Text Box 4">
            <a:extLst>
              <a:ext uri="{FF2B5EF4-FFF2-40B4-BE49-F238E27FC236}">
                <a16:creationId xmlns:a16="http://schemas.microsoft.com/office/drawing/2014/main" id="{C52E5158-ED52-49FC-867A-138AF0633E9F}"/>
              </a:ext>
            </a:extLst>
          </p:cNvPr>
          <p:cNvSpPr txBox="1">
            <a:spLocks noChangeArrowheads="1"/>
          </p:cNvSpPr>
          <p:nvPr/>
        </p:nvSpPr>
        <p:spPr bwMode="auto">
          <a:xfrm>
            <a:off x="1166813" y="979488"/>
            <a:ext cx="403225" cy="51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P</a:t>
            </a:r>
          </a:p>
        </p:txBody>
      </p:sp>
      <p:sp>
        <p:nvSpPr>
          <p:cNvPr id="113670" name="Text Box 5">
            <a:extLst>
              <a:ext uri="{FF2B5EF4-FFF2-40B4-BE49-F238E27FC236}">
                <a16:creationId xmlns:a16="http://schemas.microsoft.com/office/drawing/2014/main" id="{5D00D830-F4F4-41E8-BE6C-811FE806FAF2}"/>
              </a:ext>
            </a:extLst>
          </p:cNvPr>
          <p:cNvSpPr txBox="1">
            <a:spLocks noChangeArrowheads="1"/>
          </p:cNvSpPr>
          <p:nvPr/>
        </p:nvSpPr>
        <p:spPr bwMode="auto">
          <a:xfrm>
            <a:off x="4276725" y="5080000"/>
            <a:ext cx="474663"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i="1">
                <a:latin typeface="Arial" panose="020B0604020202020204" pitchFamily="34" charset="0"/>
              </a:rPr>
              <a:t>Q</a:t>
            </a:r>
          </a:p>
        </p:txBody>
      </p:sp>
      <p:sp>
        <p:nvSpPr>
          <p:cNvPr id="113671" name="Line 6">
            <a:extLst>
              <a:ext uri="{FF2B5EF4-FFF2-40B4-BE49-F238E27FC236}">
                <a16:creationId xmlns:a16="http://schemas.microsoft.com/office/drawing/2014/main" id="{DB131B3C-9244-46B7-B8DA-E4B382A4C577}"/>
              </a:ext>
            </a:extLst>
          </p:cNvPr>
          <p:cNvSpPr>
            <a:spLocks noChangeShapeType="1"/>
          </p:cNvSpPr>
          <p:nvPr/>
        </p:nvSpPr>
        <p:spPr bwMode="auto">
          <a:xfrm flipV="1">
            <a:off x="2178050" y="3541713"/>
            <a:ext cx="0" cy="92075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72" name="Line 7">
            <a:extLst>
              <a:ext uri="{FF2B5EF4-FFF2-40B4-BE49-F238E27FC236}">
                <a16:creationId xmlns:a16="http://schemas.microsoft.com/office/drawing/2014/main" id="{92D650CB-31F6-44ED-BBB9-19C88F6D6B46}"/>
              </a:ext>
            </a:extLst>
          </p:cNvPr>
          <p:cNvSpPr>
            <a:spLocks noChangeShapeType="1"/>
          </p:cNvSpPr>
          <p:nvPr/>
        </p:nvSpPr>
        <p:spPr bwMode="auto">
          <a:xfrm flipV="1">
            <a:off x="2989263" y="2195513"/>
            <a:ext cx="0" cy="1366837"/>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73" name="Line 8">
            <a:extLst>
              <a:ext uri="{FF2B5EF4-FFF2-40B4-BE49-F238E27FC236}">
                <a16:creationId xmlns:a16="http://schemas.microsoft.com/office/drawing/2014/main" id="{660E64DA-5C20-45A3-845C-E321FA6F49AA}"/>
              </a:ext>
            </a:extLst>
          </p:cNvPr>
          <p:cNvSpPr>
            <a:spLocks noChangeShapeType="1"/>
          </p:cNvSpPr>
          <p:nvPr/>
        </p:nvSpPr>
        <p:spPr bwMode="auto">
          <a:xfrm>
            <a:off x="1341438" y="4433888"/>
            <a:ext cx="842962"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74" name="Line 9">
            <a:extLst>
              <a:ext uri="{FF2B5EF4-FFF2-40B4-BE49-F238E27FC236}">
                <a16:creationId xmlns:a16="http://schemas.microsoft.com/office/drawing/2014/main" id="{1BE10305-C077-41BE-9119-3FB2A6FEC674}"/>
              </a:ext>
            </a:extLst>
          </p:cNvPr>
          <p:cNvSpPr>
            <a:spLocks noChangeShapeType="1"/>
          </p:cNvSpPr>
          <p:nvPr/>
        </p:nvSpPr>
        <p:spPr bwMode="auto">
          <a:xfrm flipV="1">
            <a:off x="1368425" y="4445000"/>
            <a:ext cx="0" cy="884238"/>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75" name="Line 10">
            <a:extLst>
              <a:ext uri="{FF2B5EF4-FFF2-40B4-BE49-F238E27FC236}">
                <a16:creationId xmlns:a16="http://schemas.microsoft.com/office/drawing/2014/main" id="{018D5014-1204-4945-A09A-678E67FC87A5}"/>
              </a:ext>
            </a:extLst>
          </p:cNvPr>
          <p:cNvSpPr>
            <a:spLocks noChangeShapeType="1"/>
          </p:cNvSpPr>
          <p:nvPr/>
        </p:nvSpPr>
        <p:spPr bwMode="auto">
          <a:xfrm>
            <a:off x="2151063" y="3533775"/>
            <a:ext cx="842962"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76" name="Line 11">
            <a:extLst>
              <a:ext uri="{FF2B5EF4-FFF2-40B4-BE49-F238E27FC236}">
                <a16:creationId xmlns:a16="http://schemas.microsoft.com/office/drawing/2014/main" id="{D9113527-BBDD-4D7C-B133-CFC4F968AA38}"/>
              </a:ext>
            </a:extLst>
          </p:cNvPr>
          <p:cNvSpPr>
            <a:spLocks noChangeShapeType="1"/>
          </p:cNvSpPr>
          <p:nvPr/>
        </p:nvSpPr>
        <p:spPr bwMode="auto">
          <a:xfrm>
            <a:off x="2962275" y="2200275"/>
            <a:ext cx="823913" cy="0"/>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77" name="Line 12">
            <a:extLst>
              <a:ext uri="{FF2B5EF4-FFF2-40B4-BE49-F238E27FC236}">
                <a16:creationId xmlns:a16="http://schemas.microsoft.com/office/drawing/2014/main" id="{37DBA47B-D242-414D-86A2-BA2F0FF3FA8E}"/>
              </a:ext>
            </a:extLst>
          </p:cNvPr>
          <p:cNvSpPr>
            <a:spLocks noChangeShapeType="1"/>
          </p:cNvSpPr>
          <p:nvPr/>
        </p:nvSpPr>
        <p:spPr bwMode="auto">
          <a:xfrm flipV="1">
            <a:off x="3783013" y="1497013"/>
            <a:ext cx="0" cy="731837"/>
          </a:xfrm>
          <a:prstGeom prst="line">
            <a:avLst/>
          </a:prstGeom>
          <a:noFill/>
          <a:ln w="57150">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78" name="Text Box 13">
            <a:extLst>
              <a:ext uri="{FF2B5EF4-FFF2-40B4-BE49-F238E27FC236}">
                <a16:creationId xmlns:a16="http://schemas.microsoft.com/office/drawing/2014/main" id="{544A66D8-6729-4872-8CFE-1EC2E5F58A5E}"/>
              </a:ext>
            </a:extLst>
          </p:cNvPr>
          <p:cNvSpPr txBox="1">
            <a:spLocks noChangeArrowheads="1"/>
          </p:cNvSpPr>
          <p:nvPr/>
        </p:nvSpPr>
        <p:spPr bwMode="auto">
          <a:xfrm>
            <a:off x="5795963" y="1484313"/>
            <a:ext cx="308927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50000"/>
              </a:spcBef>
              <a:buClrTx/>
              <a:buFontTx/>
              <a:buNone/>
            </a:pPr>
            <a:r>
              <a:rPr lang="en-US" altLang="zh-CN" sz="2600" b="0">
                <a:latin typeface="Arial" panose="020B0604020202020204" pitchFamily="34" charset="0"/>
              </a:rPr>
              <a:t>PS = </a:t>
            </a:r>
            <a:r>
              <a:rPr lang="zh-CN" altLang="en-US" sz="2600">
                <a:latin typeface="Arial" panose="020B0604020202020204" pitchFamily="34" charset="0"/>
              </a:rPr>
              <a:t>价格</a:t>
            </a:r>
            <a:r>
              <a:rPr lang="en-US" altLang="zh-CN" sz="2600" b="0">
                <a:latin typeface="Arial" panose="020B0604020202020204" pitchFamily="34" charset="0"/>
              </a:rPr>
              <a:t> </a:t>
            </a:r>
            <a:r>
              <a:rPr lang="zh-CN" altLang="ja-JP" sz="2600" b="0">
                <a:latin typeface="Arial" panose="020B0604020202020204" pitchFamily="34" charset="0"/>
              </a:rPr>
              <a:t>– </a:t>
            </a:r>
            <a:r>
              <a:rPr lang="zh-CN" altLang="en-US" sz="2600" b="0">
                <a:latin typeface="Arial" panose="020B0604020202020204" pitchFamily="34" charset="0"/>
              </a:rPr>
              <a:t>成本</a:t>
            </a:r>
            <a:endParaRPr lang="en-US" altLang="zh-CN" sz="2600" b="0">
              <a:latin typeface="Arial" panose="020B0604020202020204" pitchFamily="34" charset="0"/>
            </a:endParaRPr>
          </a:p>
        </p:txBody>
      </p:sp>
      <p:sp>
        <p:nvSpPr>
          <p:cNvPr id="47120" name="Text Box 14">
            <a:extLst>
              <a:ext uri="{FF2B5EF4-FFF2-40B4-BE49-F238E27FC236}">
                <a16:creationId xmlns:a16="http://schemas.microsoft.com/office/drawing/2014/main" id="{A30D383B-2BD1-4482-A657-1C954DA8FB7E}"/>
              </a:ext>
            </a:extLst>
          </p:cNvPr>
          <p:cNvSpPr txBox="1">
            <a:spLocks noChangeArrowheads="1"/>
          </p:cNvSpPr>
          <p:nvPr/>
        </p:nvSpPr>
        <p:spPr bwMode="auto">
          <a:xfrm>
            <a:off x="5435600" y="1989138"/>
            <a:ext cx="3708400"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50000"/>
              </a:spcBef>
              <a:buClrTx/>
              <a:buFontTx/>
              <a:buNone/>
            </a:pPr>
            <a:r>
              <a:rPr lang="zh-CN" altLang="en-US" sz="2400" b="0">
                <a:latin typeface="Arial" panose="020B0604020202020204" pitchFamily="34" charset="0"/>
              </a:rPr>
              <a:t>如果</a:t>
            </a:r>
            <a:r>
              <a:rPr lang="en-US" altLang="zh-CN" sz="2400" b="0">
                <a:latin typeface="Arial" panose="020B0604020202020204" pitchFamily="34" charset="0"/>
              </a:rPr>
              <a:t> </a:t>
            </a:r>
            <a:r>
              <a:rPr lang="zh-CN" altLang="ja-JP" sz="2400" i="1">
                <a:latin typeface="Arial" panose="020B0604020202020204" pitchFamily="34" charset="0"/>
              </a:rPr>
              <a:t>P</a:t>
            </a:r>
            <a:r>
              <a:rPr lang="zh-CN" altLang="ja-JP" sz="2400" b="0">
                <a:latin typeface="Arial" panose="020B0604020202020204" pitchFamily="34" charset="0"/>
              </a:rPr>
              <a:t> = 25</a:t>
            </a:r>
          </a:p>
          <a:p>
            <a:pPr algn="r" eaLnBrk="1" hangingPunct="1">
              <a:lnSpc>
                <a:spcPct val="105000"/>
              </a:lnSpc>
              <a:spcBef>
                <a:spcPct val="50000"/>
              </a:spcBef>
              <a:buClrTx/>
              <a:buFontTx/>
              <a:buNone/>
            </a:pPr>
            <a:r>
              <a:rPr lang="zh-CN" altLang="en-US" sz="2400" b="0">
                <a:latin typeface="Arial" panose="020B0604020202020204" pitchFamily="34" charset="0"/>
              </a:rPr>
              <a:t>小海的</a:t>
            </a:r>
            <a:r>
              <a:rPr lang="en-US" altLang="zh-CN" sz="2400" b="0">
                <a:latin typeface="Arial" panose="020B0604020202020204" pitchFamily="34" charset="0"/>
              </a:rPr>
              <a:t> </a:t>
            </a:r>
            <a:r>
              <a:rPr lang="zh-CN" altLang="ja-JP" sz="2400" b="0">
                <a:latin typeface="Arial" panose="020B0604020202020204" pitchFamily="34" charset="0"/>
              </a:rPr>
              <a:t>PS = 15</a:t>
            </a:r>
          </a:p>
          <a:p>
            <a:pPr algn="r" eaLnBrk="1" hangingPunct="1">
              <a:lnSpc>
                <a:spcPct val="105000"/>
              </a:lnSpc>
              <a:spcBef>
                <a:spcPct val="50000"/>
              </a:spcBef>
              <a:buClrTx/>
              <a:buFontTx/>
              <a:buNone/>
            </a:pPr>
            <a:r>
              <a:rPr lang="zh-CN" altLang="en-US" sz="2400" b="0">
                <a:latin typeface="Arial" panose="020B0604020202020204" pitchFamily="34" charset="0"/>
              </a:rPr>
              <a:t>小肥的</a:t>
            </a:r>
            <a:r>
              <a:rPr lang="zh-CN" altLang="ja-JP" sz="2400" b="0">
                <a:latin typeface="Arial" panose="020B0604020202020204" pitchFamily="34" charset="0"/>
              </a:rPr>
              <a:t>PS = 5</a:t>
            </a:r>
          </a:p>
          <a:p>
            <a:pPr algn="r" eaLnBrk="1" hangingPunct="1">
              <a:lnSpc>
                <a:spcPct val="105000"/>
              </a:lnSpc>
              <a:spcBef>
                <a:spcPct val="50000"/>
              </a:spcBef>
              <a:buClrTx/>
              <a:buFontTx/>
              <a:buNone/>
            </a:pPr>
            <a:r>
              <a:rPr lang="zh-CN" altLang="en-US" sz="2400" b="0">
                <a:latin typeface="Arial" panose="020B0604020202020204" pitchFamily="34" charset="0"/>
              </a:rPr>
              <a:t>小东的</a:t>
            </a:r>
            <a:r>
              <a:rPr lang="zh-CN" altLang="ja-JP" sz="2400" b="0">
                <a:latin typeface="Arial" panose="020B0604020202020204" pitchFamily="34" charset="0"/>
              </a:rPr>
              <a:t>PS = 0</a:t>
            </a:r>
          </a:p>
          <a:p>
            <a:pPr algn="r" eaLnBrk="1" hangingPunct="1">
              <a:lnSpc>
                <a:spcPct val="105000"/>
              </a:lnSpc>
              <a:spcBef>
                <a:spcPct val="50000"/>
              </a:spcBef>
              <a:buClrTx/>
              <a:buFontTx/>
              <a:buNone/>
            </a:pPr>
            <a:r>
              <a:rPr lang="zh-CN" altLang="en-US" sz="2400" b="0">
                <a:latin typeface="Arial" panose="020B0604020202020204" pitchFamily="34" charset="0"/>
              </a:rPr>
              <a:t>总生产者剩余</a:t>
            </a:r>
            <a:r>
              <a:rPr lang="en-US" altLang="zh-CN" sz="2400" b="0">
                <a:latin typeface="Arial" panose="020B0604020202020204" pitchFamily="34" charset="0"/>
              </a:rPr>
              <a:t> </a:t>
            </a:r>
            <a:r>
              <a:rPr lang="zh-CN" altLang="ja-JP" sz="2400" b="0">
                <a:latin typeface="Arial" panose="020B0604020202020204" pitchFamily="34" charset="0"/>
              </a:rPr>
              <a:t>= 20</a:t>
            </a:r>
            <a:endParaRPr lang="en-US" altLang="zh-CN" sz="2400" b="0">
              <a:latin typeface="Arial" panose="020B0604020202020204" pitchFamily="34" charset="0"/>
            </a:endParaRPr>
          </a:p>
        </p:txBody>
      </p:sp>
      <p:grpSp>
        <p:nvGrpSpPr>
          <p:cNvPr id="2" name="Group 17">
            <a:extLst>
              <a:ext uri="{FF2B5EF4-FFF2-40B4-BE49-F238E27FC236}">
                <a16:creationId xmlns:a16="http://schemas.microsoft.com/office/drawing/2014/main" id="{5AD71A7F-2A28-4AD6-8C69-16588B3A5A70}"/>
              </a:ext>
            </a:extLst>
          </p:cNvPr>
          <p:cNvGrpSpPr>
            <a:grpSpLocks/>
          </p:cNvGrpSpPr>
          <p:nvPr/>
        </p:nvGrpSpPr>
        <p:grpSpPr bwMode="auto">
          <a:xfrm>
            <a:off x="509588" y="3094038"/>
            <a:ext cx="2454275" cy="0"/>
            <a:chOff x="0" y="0"/>
            <a:chExt cx="1546" cy="0"/>
          </a:xfrm>
        </p:grpSpPr>
        <p:sp>
          <p:nvSpPr>
            <p:cNvPr id="113692" name="Line 29">
              <a:extLst>
                <a:ext uri="{FF2B5EF4-FFF2-40B4-BE49-F238E27FC236}">
                  <a16:creationId xmlns:a16="http://schemas.microsoft.com/office/drawing/2014/main" id="{71190B7C-85CB-4200-892F-9D6347A45776}"/>
                </a:ext>
              </a:extLst>
            </p:cNvPr>
            <p:cNvSpPr>
              <a:spLocks noChangeShapeType="1"/>
            </p:cNvSpPr>
            <p:nvPr/>
          </p:nvSpPr>
          <p:spPr bwMode="auto">
            <a:xfrm>
              <a:off x="0" y="0"/>
              <a:ext cx="520" cy="0"/>
            </a:xfrm>
            <a:prstGeom prst="line">
              <a:avLst/>
            </a:prstGeom>
            <a:noFill/>
            <a:ln w="38100">
              <a:solidFill>
                <a:srgbClr val="3333FF"/>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113693" name="Line 30">
              <a:extLst>
                <a:ext uri="{FF2B5EF4-FFF2-40B4-BE49-F238E27FC236}">
                  <a16:creationId xmlns:a16="http://schemas.microsoft.com/office/drawing/2014/main" id="{1E49AD1A-90A0-4186-B0ED-DACFE79F8386}"/>
                </a:ext>
              </a:extLst>
            </p:cNvPr>
            <p:cNvSpPr>
              <a:spLocks noChangeShapeType="1"/>
            </p:cNvSpPr>
            <p:nvPr/>
          </p:nvSpPr>
          <p:spPr bwMode="auto">
            <a:xfrm>
              <a:off x="538" y="0"/>
              <a:ext cx="1008" cy="0"/>
            </a:xfrm>
            <a:prstGeom prst="line">
              <a:avLst/>
            </a:prstGeom>
            <a:noFill/>
            <a:ln w="12700">
              <a:solidFill>
                <a:srgbClr val="3333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3681" name="Group 20">
            <a:extLst>
              <a:ext uri="{FF2B5EF4-FFF2-40B4-BE49-F238E27FC236}">
                <a16:creationId xmlns:a16="http://schemas.microsoft.com/office/drawing/2014/main" id="{0C70B07A-BCAF-4184-B79A-D729DD92B4C2}"/>
              </a:ext>
            </a:extLst>
          </p:cNvPr>
          <p:cNvGrpSpPr>
            <a:grpSpLocks/>
          </p:cNvGrpSpPr>
          <p:nvPr/>
        </p:nvGrpSpPr>
        <p:grpSpPr bwMode="auto">
          <a:xfrm>
            <a:off x="3073400" y="3009900"/>
            <a:ext cx="2260600" cy="522288"/>
            <a:chOff x="0" y="0"/>
            <a:chExt cx="1424" cy="329"/>
          </a:xfrm>
        </p:grpSpPr>
        <p:sp>
          <p:nvSpPr>
            <p:cNvPr id="113690" name="Line 20">
              <a:extLst>
                <a:ext uri="{FF2B5EF4-FFF2-40B4-BE49-F238E27FC236}">
                  <a16:creationId xmlns:a16="http://schemas.microsoft.com/office/drawing/2014/main" id="{B30177E4-AB51-486D-9F51-13B951FB5C72}"/>
                </a:ext>
              </a:extLst>
            </p:cNvPr>
            <p:cNvSpPr>
              <a:spLocks noChangeShapeType="1"/>
            </p:cNvSpPr>
            <p:nvPr/>
          </p:nvSpPr>
          <p:spPr bwMode="auto">
            <a:xfrm flipH="1">
              <a:off x="0" y="329"/>
              <a:ext cx="337"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113691" name="Text Box 19">
              <a:extLst>
                <a:ext uri="{FF2B5EF4-FFF2-40B4-BE49-F238E27FC236}">
                  <a16:creationId xmlns:a16="http://schemas.microsoft.com/office/drawing/2014/main" id="{BF1298C1-5ACE-4641-AFCD-64222E2CD271}"/>
                </a:ext>
              </a:extLst>
            </p:cNvPr>
            <p:cNvSpPr txBox="1">
              <a:spLocks noChangeArrowheads="1"/>
            </p:cNvSpPr>
            <p:nvPr/>
          </p:nvSpPr>
          <p:spPr bwMode="auto">
            <a:xfrm>
              <a:off x="269" y="0"/>
              <a:ext cx="1155" cy="301"/>
            </a:xfrm>
            <a:prstGeom prst="rect">
              <a:avLst/>
            </a:prstGeom>
            <a:solidFill>
              <a:srgbClr val="CCFFCC"/>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小肥的成本</a:t>
              </a:r>
              <a:endParaRPr lang="en-US" altLang="zh-CN" sz="2500" b="0">
                <a:latin typeface="Arial" panose="020B0604020202020204" pitchFamily="34" charset="0"/>
              </a:endParaRPr>
            </a:p>
          </p:txBody>
        </p:sp>
      </p:grpSp>
      <p:grpSp>
        <p:nvGrpSpPr>
          <p:cNvPr id="113682" name="Group 23">
            <a:extLst>
              <a:ext uri="{FF2B5EF4-FFF2-40B4-BE49-F238E27FC236}">
                <a16:creationId xmlns:a16="http://schemas.microsoft.com/office/drawing/2014/main" id="{ACAD959B-A274-460F-AC89-EE1F89D0BE7A}"/>
              </a:ext>
            </a:extLst>
          </p:cNvPr>
          <p:cNvGrpSpPr>
            <a:grpSpLocks/>
          </p:cNvGrpSpPr>
          <p:nvPr/>
        </p:nvGrpSpPr>
        <p:grpSpPr bwMode="auto">
          <a:xfrm>
            <a:off x="2263775" y="4197350"/>
            <a:ext cx="2232025" cy="482600"/>
            <a:chOff x="0" y="0"/>
            <a:chExt cx="1406" cy="304"/>
          </a:xfrm>
        </p:grpSpPr>
        <p:sp>
          <p:nvSpPr>
            <p:cNvPr id="113688" name="Line 17">
              <a:extLst>
                <a:ext uri="{FF2B5EF4-FFF2-40B4-BE49-F238E27FC236}">
                  <a16:creationId xmlns:a16="http://schemas.microsoft.com/office/drawing/2014/main" id="{84E368F2-45CC-43FE-960C-7FBA2F17093C}"/>
                </a:ext>
              </a:extLst>
            </p:cNvPr>
            <p:cNvSpPr>
              <a:spLocks noChangeShapeType="1"/>
            </p:cNvSpPr>
            <p:nvPr/>
          </p:nvSpPr>
          <p:spPr bwMode="auto">
            <a:xfrm flipH="1">
              <a:off x="0" y="152"/>
              <a:ext cx="337"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113689" name="Text Box 16">
              <a:extLst>
                <a:ext uri="{FF2B5EF4-FFF2-40B4-BE49-F238E27FC236}">
                  <a16:creationId xmlns:a16="http://schemas.microsoft.com/office/drawing/2014/main" id="{D6351B12-507F-4A95-9F0C-94543847A97C}"/>
                </a:ext>
              </a:extLst>
            </p:cNvPr>
            <p:cNvSpPr txBox="1">
              <a:spLocks noChangeArrowheads="1"/>
            </p:cNvSpPr>
            <p:nvPr/>
          </p:nvSpPr>
          <p:spPr bwMode="auto">
            <a:xfrm>
              <a:off x="276" y="0"/>
              <a:ext cx="1130" cy="304"/>
            </a:xfrm>
            <a:prstGeom prst="rect">
              <a:avLst/>
            </a:prstGeom>
            <a:solidFill>
              <a:srgbClr val="CCFFCC"/>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小海的成本</a:t>
              </a:r>
              <a:endParaRPr lang="en-US" altLang="zh-CN" sz="2500" b="0">
                <a:latin typeface="Arial" panose="020B0604020202020204" pitchFamily="34" charset="0"/>
              </a:endParaRPr>
            </a:p>
          </p:txBody>
        </p:sp>
      </p:grpSp>
      <p:sp>
        <p:nvSpPr>
          <p:cNvPr id="47130" name="Rectangle 37">
            <a:extLst>
              <a:ext uri="{FF2B5EF4-FFF2-40B4-BE49-F238E27FC236}">
                <a16:creationId xmlns:a16="http://schemas.microsoft.com/office/drawing/2014/main" id="{FCF40FC3-2CCF-4CFC-8F7C-50BCE255B4B8}"/>
              </a:ext>
            </a:extLst>
          </p:cNvPr>
          <p:cNvSpPr>
            <a:spLocks noChangeArrowheads="1"/>
          </p:cNvSpPr>
          <p:nvPr/>
        </p:nvSpPr>
        <p:spPr bwMode="auto">
          <a:xfrm>
            <a:off x="5076825" y="5013325"/>
            <a:ext cx="3887480" cy="863845"/>
          </a:xfrm>
          <a:prstGeom prst="rect">
            <a:avLst/>
          </a:prstGeom>
          <a:solidFill>
            <a:srgbClr val="FFFF99"/>
          </a:solidFill>
          <a:ln w="19050">
            <a:solidFill>
              <a:srgbClr val="FFFF00"/>
            </a:solidFill>
            <a:miter lim="800000"/>
            <a:headEnd/>
            <a:tailEnd/>
          </a:ln>
          <a:effectLst>
            <a:outerShdw dist="71842" dir="2700000" algn="ctr" rotWithShape="0">
              <a:srgbClr val="808080"/>
            </a:outerShdw>
          </a:effec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buClr>
                <a:srgbClr val="00B85C"/>
              </a:buClr>
              <a:buSzPct val="120000"/>
              <a:buFont typeface="Wingdings" panose="05000000000000000000" pitchFamily="2" charset="2"/>
              <a:buNone/>
            </a:pPr>
            <a:r>
              <a:rPr lang="zh-CN" altLang="en-US" sz="2400" b="0" dirty="0">
                <a:latin typeface="Arial" panose="020B0604020202020204" pitchFamily="34" charset="0"/>
              </a:rPr>
              <a:t>市场总生产者剩余等于价格以下和供给曲线以上的面积</a:t>
            </a:r>
            <a:endParaRPr lang="en-US" altLang="zh-CN" sz="2400" b="0" dirty="0">
              <a:latin typeface="Arial" panose="020B0604020202020204" pitchFamily="34" charset="0"/>
            </a:endParaRPr>
          </a:p>
        </p:txBody>
      </p:sp>
      <p:grpSp>
        <p:nvGrpSpPr>
          <p:cNvPr id="113684" name="Group 27">
            <a:extLst>
              <a:ext uri="{FF2B5EF4-FFF2-40B4-BE49-F238E27FC236}">
                <a16:creationId xmlns:a16="http://schemas.microsoft.com/office/drawing/2014/main" id="{634E5A64-6131-40A8-9DDF-99F23DD6ABFE}"/>
              </a:ext>
            </a:extLst>
          </p:cNvPr>
          <p:cNvGrpSpPr>
            <a:grpSpLocks/>
          </p:cNvGrpSpPr>
          <p:nvPr/>
        </p:nvGrpSpPr>
        <p:grpSpPr bwMode="auto">
          <a:xfrm>
            <a:off x="3883025" y="1762125"/>
            <a:ext cx="2136775" cy="477838"/>
            <a:chOff x="0" y="0"/>
            <a:chExt cx="1346" cy="301"/>
          </a:xfrm>
        </p:grpSpPr>
        <p:sp>
          <p:nvSpPr>
            <p:cNvPr id="113686" name="Line 24">
              <a:extLst>
                <a:ext uri="{FF2B5EF4-FFF2-40B4-BE49-F238E27FC236}">
                  <a16:creationId xmlns:a16="http://schemas.microsoft.com/office/drawing/2014/main" id="{515FAF86-5716-4552-829D-3005195EC3A4}"/>
                </a:ext>
              </a:extLst>
            </p:cNvPr>
            <p:cNvSpPr>
              <a:spLocks noChangeShapeType="1"/>
            </p:cNvSpPr>
            <p:nvPr/>
          </p:nvSpPr>
          <p:spPr bwMode="auto">
            <a:xfrm flipH="1">
              <a:off x="0" y="277"/>
              <a:ext cx="337" cy="0"/>
            </a:xfrm>
            <a:prstGeom prst="line">
              <a:avLst/>
            </a:prstGeom>
            <a:noFill/>
            <a:ln w="381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113687" name="Text Box 25">
              <a:extLst>
                <a:ext uri="{FF2B5EF4-FFF2-40B4-BE49-F238E27FC236}">
                  <a16:creationId xmlns:a16="http://schemas.microsoft.com/office/drawing/2014/main" id="{BB2AB1EF-0396-462F-85EB-A90B9315A279}"/>
                </a:ext>
              </a:extLst>
            </p:cNvPr>
            <p:cNvSpPr txBox="1">
              <a:spLocks noChangeArrowheads="1"/>
            </p:cNvSpPr>
            <p:nvPr/>
          </p:nvSpPr>
          <p:spPr bwMode="auto">
            <a:xfrm>
              <a:off x="222" y="0"/>
              <a:ext cx="1124" cy="301"/>
            </a:xfrm>
            <a:prstGeom prst="rect">
              <a:avLst/>
            </a:prstGeom>
            <a:solidFill>
              <a:srgbClr val="CCFFCC"/>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小东的成本</a:t>
              </a:r>
              <a:endParaRPr lang="en-US" altLang="zh-CN" sz="2500" b="0">
                <a:latin typeface="Arial" panose="020B0604020202020204" pitchFamily="34" charset="0"/>
              </a:endParaRPr>
            </a:p>
          </p:txBody>
        </p:sp>
      </p:grpSp>
      <p:sp>
        <p:nvSpPr>
          <p:cNvPr id="113685" name="Title 1">
            <a:extLst>
              <a:ext uri="{FF2B5EF4-FFF2-40B4-BE49-F238E27FC236}">
                <a16:creationId xmlns:a16="http://schemas.microsoft.com/office/drawing/2014/main" id="{99AFE7C1-7C49-472B-912F-A4C9A14901EB}"/>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生产者剩余和供给曲线</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20">
                                            <p:txEl>
                                              <p:pRg st="0" end="0"/>
                                            </p:txEl>
                                          </p:spTgt>
                                        </p:tgtEl>
                                        <p:attrNameLst>
                                          <p:attrName>style.visibility</p:attrName>
                                        </p:attrNameLst>
                                      </p:cBhvr>
                                      <p:to>
                                        <p:strVal val="visible"/>
                                      </p:to>
                                    </p:set>
                                    <p:animEffect transition="in" filter="wipe(left)">
                                      <p:cBhvr>
                                        <p:cTn id="7" dur="500"/>
                                        <p:tgtEl>
                                          <p:spTgt spid="47120">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7120">
                                            <p:txEl>
                                              <p:pRg st="1" end="1"/>
                                            </p:txEl>
                                          </p:spTgt>
                                        </p:tgtEl>
                                        <p:attrNameLst>
                                          <p:attrName>style.visibility</p:attrName>
                                        </p:attrNameLst>
                                      </p:cBhvr>
                                      <p:to>
                                        <p:strVal val="visible"/>
                                      </p:to>
                                    </p:set>
                                    <p:animEffect transition="in" filter="wipe(left)">
                                      <p:cBhvr>
                                        <p:cTn id="16" dur="500"/>
                                        <p:tgtEl>
                                          <p:spTgt spid="47120">
                                            <p:txEl>
                                              <p:pRg st="1" end="1"/>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47108"/>
                                        </p:tgtEl>
                                        <p:attrNameLst>
                                          <p:attrName>style.visibility</p:attrName>
                                        </p:attrNameLst>
                                      </p:cBhvr>
                                      <p:to>
                                        <p:strVal val="visible"/>
                                      </p:to>
                                    </p:set>
                                    <p:animEffect transition="in" filter="dissolve">
                                      <p:cBhvr>
                                        <p:cTn id="19" dur="500"/>
                                        <p:tgtEl>
                                          <p:spTgt spid="4710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xit" presetSubtype="0" fill="hold" grpId="1" nodeType="clickEffect">
                                  <p:stCondLst>
                                    <p:cond delay="0"/>
                                  </p:stCondLst>
                                  <p:childTnLst>
                                    <p:animEffect transition="out" filter="dissolve">
                                      <p:cBhvr>
                                        <p:cTn id="23" dur="500"/>
                                        <p:tgtEl>
                                          <p:spTgt spid="47108"/>
                                        </p:tgtEl>
                                      </p:cBhvr>
                                    </p:animEffect>
                                    <p:set>
                                      <p:cBhvr>
                                        <p:cTn id="24" dur="1" fill="hold">
                                          <p:stCondLst>
                                            <p:cond delay="499"/>
                                          </p:stCondLst>
                                        </p:cTn>
                                        <p:tgtEl>
                                          <p:spTgt spid="47108"/>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7120">
                                            <p:txEl>
                                              <p:pRg st="2" end="2"/>
                                            </p:txEl>
                                          </p:spTgt>
                                        </p:tgtEl>
                                        <p:attrNameLst>
                                          <p:attrName>style.visibility</p:attrName>
                                        </p:attrNameLst>
                                      </p:cBhvr>
                                      <p:to>
                                        <p:strVal val="visible"/>
                                      </p:to>
                                    </p:set>
                                    <p:animEffect transition="in" filter="wipe(left)">
                                      <p:cBhvr>
                                        <p:cTn id="29" dur="500"/>
                                        <p:tgtEl>
                                          <p:spTgt spid="47120">
                                            <p:txEl>
                                              <p:pRg st="2" end="2"/>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47107"/>
                                        </p:tgtEl>
                                        <p:attrNameLst>
                                          <p:attrName>style.visibility</p:attrName>
                                        </p:attrNameLst>
                                      </p:cBhvr>
                                      <p:to>
                                        <p:strVal val="visible"/>
                                      </p:to>
                                    </p:set>
                                    <p:animEffect transition="in" filter="dissolve">
                                      <p:cBhvr>
                                        <p:cTn id="32" dur="500"/>
                                        <p:tgtEl>
                                          <p:spTgt spid="471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xit" presetSubtype="0" fill="hold" grpId="1" nodeType="clickEffect">
                                  <p:stCondLst>
                                    <p:cond delay="0"/>
                                  </p:stCondLst>
                                  <p:childTnLst>
                                    <p:animEffect transition="out" filter="dissolve">
                                      <p:cBhvr>
                                        <p:cTn id="36" dur="500"/>
                                        <p:tgtEl>
                                          <p:spTgt spid="47107"/>
                                        </p:tgtEl>
                                      </p:cBhvr>
                                    </p:animEffect>
                                    <p:set>
                                      <p:cBhvr>
                                        <p:cTn id="37" dur="1" fill="hold">
                                          <p:stCondLst>
                                            <p:cond delay="499"/>
                                          </p:stCondLst>
                                        </p:cTn>
                                        <p:tgtEl>
                                          <p:spTgt spid="47107"/>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7120">
                                            <p:txEl>
                                              <p:pRg st="3" end="3"/>
                                            </p:txEl>
                                          </p:spTgt>
                                        </p:tgtEl>
                                        <p:attrNameLst>
                                          <p:attrName>style.visibility</p:attrName>
                                        </p:attrNameLst>
                                      </p:cBhvr>
                                      <p:to>
                                        <p:strVal val="visible"/>
                                      </p:to>
                                    </p:set>
                                    <p:animEffect transition="in" filter="wipe(left)">
                                      <p:cBhvr>
                                        <p:cTn id="42" dur="500"/>
                                        <p:tgtEl>
                                          <p:spTgt spid="47120">
                                            <p:txEl>
                                              <p:pRg st="3" end="3"/>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7120">
                                            <p:txEl>
                                              <p:pRg st="4" end="4"/>
                                            </p:txEl>
                                          </p:spTgt>
                                        </p:tgtEl>
                                        <p:attrNameLst>
                                          <p:attrName>style.visibility</p:attrName>
                                        </p:attrNameLst>
                                      </p:cBhvr>
                                      <p:to>
                                        <p:strVal val="visible"/>
                                      </p:to>
                                    </p:set>
                                    <p:animEffect transition="in" filter="wipe(left)">
                                      <p:cBhvr>
                                        <p:cTn id="47" dur="500"/>
                                        <p:tgtEl>
                                          <p:spTgt spid="47120">
                                            <p:txEl>
                                              <p:pRg st="4" end="4"/>
                                            </p:txEl>
                                          </p:spTgt>
                                        </p:tgtEl>
                                      </p:cBhvr>
                                    </p:animEffect>
                                  </p:childTnLst>
                                </p:cTn>
                              </p:par>
                              <p:par>
                                <p:cTn id="48" presetID="9" presetClass="entr" presetSubtype="0" fill="hold" grpId="2" nodeType="withEffect">
                                  <p:stCondLst>
                                    <p:cond delay="0"/>
                                  </p:stCondLst>
                                  <p:childTnLst>
                                    <p:set>
                                      <p:cBhvr>
                                        <p:cTn id="49" dur="1" fill="hold">
                                          <p:stCondLst>
                                            <p:cond delay="0"/>
                                          </p:stCondLst>
                                        </p:cTn>
                                        <p:tgtEl>
                                          <p:spTgt spid="47107"/>
                                        </p:tgtEl>
                                        <p:attrNameLst>
                                          <p:attrName>style.visibility</p:attrName>
                                        </p:attrNameLst>
                                      </p:cBhvr>
                                      <p:to>
                                        <p:strVal val="visible"/>
                                      </p:to>
                                    </p:set>
                                    <p:animEffect transition="in" filter="dissolve">
                                      <p:cBhvr>
                                        <p:cTn id="50" dur="500"/>
                                        <p:tgtEl>
                                          <p:spTgt spid="47107"/>
                                        </p:tgtEl>
                                      </p:cBhvr>
                                    </p:animEffect>
                                  </p:childTnLst>
                                </p:cTn>
                              </p:par>
                              <p:par>
                                <p:cTn id="51" presetID="9" presetClass="entr" presetSubtype="0" fill="hold" grpId="2" nodeType="withEffect">
                                  <p:stCondLst>
                                    <p:cond delay="0"/>
                                  </p:stCondLst>
                                  <p:childTnLst>
                                    <p:set>
                                      <p:cBhvr>
                                        <p:cTn id="52" dur="1" fill="hold">
                                          <p:stCondLst>
                                            <p:cond delay="0"/>
                                          </p:stCondLst>
                                        </p:cTn>
                                        <p:tgtEl>
                                          <p:spTgt spid="47108"/>
                                        </p:tgtEl>
                                        <p:attrNameLst>
                                          <p:attrName>style.visibility</p:attrName>
                                        </p:attrNameLst>
                                      </p:cBhvr>
                                      <p:to>
                                        <p:strVal val="visible"/>
                                      </p:to>
                                    </p:set>
                                    <p:animEffect transition="in" filter="dissolve">
                                      <p:cBhvr>
                                        <p:cTn id="53" dur="500"/>
                                        <p:tgtEl>
                                          <p:spTgt spid="4710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47130"/>
                                        </p:tgtEl>
                                        <p:attrNameLst>
                                          <p:attrName>style.visibility</p:attrName>
                                        </p:attrNameLst>
                                      </p:cBhvr>
                                      <p:to>
                                        <p:strVal val="visible"/>
                                      </p:to>
                                    </p:set>
                                    <p:animEffect transition="in" filter="dissolve">
                                      <p:cBhvr>
                                        <p:cTn id="58" dur="500"/>
                                        <p:tgtEl>
                                          <p:spTgt spid="47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animBg="1" autoUpdateAnimBg="0"/>
      <p:bldP spid="47107" grpId="1" animBg="1" autoUpdateAnimBg="0"/>
      <p:bldP spid="47107" grpId="2" animBg="1" autoUpdateAnimBg="0"/>
      <p:bldP spid="47108" grpId="0" animBg="1" autoUpdateAnimBg="0"/>
      <p:bldP spid="47108" grpId="1" animBg="1" autoUpdateAnimBg="0"/>
      <p:bldP spid="47108" grpId="2" animBg="1" autoUpdateAnimBg="0"/>
      <p:bldP spid="47120" grpId="0" build="p" autoUpdateAnimBg="0"/>
      <p:bldP spid="47130" grpId="0" bldLvl="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4690" name="Group 2">
            <a:extLst>
              <a:ext uri="{FF2B5EF4-FFF2-40B4-BE49-F238E27FC236}">
                <a16:creationId xmlns:a16="http://schemas.microsoft.com/office/drawing/2014/main" id="{35997B29-49E3-4B9F-A476-FABD275B3914}"/>
              </a:ext>
            </a:extLst>
          </p:cNvPr>
          <p:cNvGrpSpPr>
            <a:grpSpLocks/>
          </p:cNvGrpSpPr>
          <p:nvPr/>
        </p:nvGrpSpPr>
        <p:grpSpPr bwMode="auto">
          <a:xfrm>
            <a:off x="3787775" y="1009650"/>
            <a:ext cx="4979988" cy="5295900"/>
            <a:chOff x="0" y="0"/>
            <a:chExt cx="3137" cy="3336"/>
          </a:xfrm>
        </p:grpSpPr>
        <p:graphicFrame>
          <p:nvGraphicFramePr>
            <p:cNvPr id="114709" name="Object 3">
              <a:extLst>
                <a:ext uri="{FF2B5EF4-FFF2-40B4-BE49-F238E27FC236}">
                  <a16:creationId xmlns:a16="http://schemas.microsoft.com/office/drawing/2014/main" id="{22A797A7-1438-4A74-9119-F6B7EFC35C05}"/>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18454" r:id="rId3" imgW="3061080" imgH="3274920" progId="Excel.Chart.8">
                    <p:embed/>
                  </p:oleObj>
                </mc:Choice>
                <mc:Fallback>
                  <p:oleObj r:id="rId3" imgW="3061080" imgH="3274920" progId="Excel.Chart.8">
                    <p:embed/>
                    <p:pic>
                      <p:nvPicPr>
                        <p:cNvPr id="114709" name="Object 3">
                          <a:extLst>
                            <a:ext uri="{FF2B5EF4-FFF2-40B4-BE49-F238E27FC236}">
                              <a16:creationId xmlns:a16="http://schemas.microsoft.com/office/drawing/2014/main" id="{22A797A7-1438-4A74-9119-F6B7EFC35C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4710" name="Rectangle 4">
              <a:extLst>
                <a:ext uri="{FF2B5EF4-FFF2-40B4-BE49-F238E27FC236}">
                  <a16:creationId xmlns:a16="http://schemas.microsoft.com/office/drawing/2014/main" id="{CCEFDD5B-9202-40B4-B205-4061F6608175}"/>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14711" name="Rectangle 5">
              <a:extLst>
                <a:ext uri="{FF2B5EF4-FFF2-40B4-BE49-F238E27FC236}">
                  <a16:creationId xmlns:a16="http://schemas.microsoft.com/office/drawing/2014/main" id="{4F004AC1-F73E-4C3C-870C-62EA8080ADE5}"/>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sp>
        <p:nvSpPr>
          <p:cNvPr id="114691" name="Text Box 7">
            <a:extLst>
              <a:ext uri="{FF2B5EF4-FFF2-40B4-BE49-F238E27FC236}">
                <a16:creationId xmlns:a16="http://schemas.microsoft.com/office/drawing/2014/main" id="{20DA8D9C-B798-44F5-8B7B-C2B502250C99}"/>
              </a:ext>
            </a:extLst>
          </p:cNvPr>
          <p:cNvSpPr txBox="1">
            <a:spLocks noChangeArrowheads="1"/>
          </p:cNvSpPr>
          <p:nvPr/>
        </p:nvSpPr>
        <p:spPr bwMode="auto">
          <a:xfrm>
            <a:off x="5076825" y="1700213"/>
            <a:ext cx="3470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b="0">
                <a:latin typeface="Arial" panose="020B0604020202020204" pitchFamily="34" charset="0"/>
              </a:rPr>
              <a:t>鞋的供给</a:t>
            </a:r>
            <a:endParaRPr lang="en-US" altLang="zh-CN" b="0">
              <a:latin typeface="Arial" panose="020B0604020202020204" pitchFamily="34" charset="0"/>
            </a:endParaRPr>
          </a:p>
        </p:txBody>
      </p:sp>
      <p:grpSp>
        <p:nvGrpSpPr>
          <p:cNvPr id="114692" name="Group 8">
            <a:extLst>
              <a:ext uri="{FF2B5EF4-FFF2-40B4-BE49-F238E27FC236}">
                <a16:creationId xmlns:a16="http://schemas.microsoft.com/office/drawing/2014/main" id="{3738E3FF-187B-46EF-9118-350D219FDF84}"/>
              </a:ext>
            </a:extLst>
          </p:cNvPr>
          <p:cNvGrpSpPr>
            <a:grpSpLocks/>
          </p:cNvGrpSpPr>
          <p:nvPr/>
        </p:nvGrpSpPr>
        <p:grpSpPr bwMode="auto">
          <a:xfrm>
            <a:off x="4586288" y="2178050"/>
            <a:ext cx="4219575" cy="2386013"/>
            <a:chOff x="0" y="0"/>
            <a:chExt cx="2658" cy="1503"/>
          </a:xfrm>
        </p:grpSpPr>
        <p:sp>
          <p:nvSpPr>
            <p:cNvPr id="114707" name="Line 9">
              <a:extLst>
                <a:ext uri="{FF2B5EF4-FFF2-40B4-BE49-F238E27FC236}">
                  <a16:creationId xmlns:a16="http://schemas.microsoft.com/office/drawing/2014/main" id="{96023318-3889-4FE7-A6FC-3D56BF8BA663}"/>
                </a:ext>
              </a:extLst>
            </p:cNvPr>
            <p:cNvSpPr>
              <a:spLocks noChangeShapeType="1"/>
            </p:cNvSpPr>
            <p:nvPr/>
          </p:nvSpPr>
          <p:spPr bwMode="auto">
            <a:xfrm flipV="1">
              <a:off x="0" y="242"/>
              <a:ext cx="2401" cy="1261"/>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8" name="Rectangle 10">
              <a:extLst>
                <a:ext uri="{FF2B5EF4-FFF2-40B4-BE49-F238E27FC236}">
                  <a16:creationId xmlns:a16="http://schemas.microsoft.com/office/drawing/2014/main" id="{AABABDEE-F143-47A6-ABA8-4521B64CA345}"/>
                </a:ext>
              </a:extLst>
            </p:cNvPr>
            <p:cNvSpPr>
              <a:spLocks noChangeArrowheads="1"/>
            </p:cNvSpPr>
            <p:nvPr/>
          </p:nvSpPr>
          <p:spPr bwMode="auto">
            <a:xfrm>
              <a:off x="2353" y="0"/>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S</a:t>
              </a:r>
            </a:p>
          </p:txBody>
        </p:sp>
      </p:grpSp>
      <p:grpSp>
        <p:nvGrpSpPr>
          <p:cNvPr id="4" name="Group 11">
            <a:extLst>
              <a:ext uri="{FF2B5EF4-FFF2-40B4-BE49-F238E27FC236}">
                <a16:creationId xmlns:a16="http://schemas.microsoft.com/office/drawing/2014/main" id="{B215510F-755C-482B-B951-A893C1B6C9DE}"/>
              </a:ext>
            </a:extLst>
          </p:cNvPr>
          <p:cNvGrpSpPr>
            <a:grpSpLocks/>
          </p:cNvGrpSpPr>
          <p:nvPr/>
        </p:nvGrpSpPr>
        <p:grpSpPr bwMode="auto">
          <a:xfrm>
            <a:off x="6875463" y="4076700"/>
            <a:ext cx="1995487" cy="1173163"/>
            <a:chOff x="0" y="0"/>
            <a:chExt cx="1408" cy="975"/>
          </a:xfrm>
        </p:grpSpPr>
        <p:sp>
          <p:nvSpPr>
            <p:cNvPr id="114705" name="Text Box 12">
              <a:extLst>
                <a:ext uri="{FF2B5EF4-FFF2-40B4-BE49-F238E27FC236}">
                  <a16:creationId xmlns:a16="http://schemas.microsoft.com/office/drawing/2014/main" id="{7172253D-9152-4ED6-9D77-BD65E62896CE}"/>
                </a:ext>
              </a:extLst>
            </p:cNvPr>
            <p:cNvSpPr txBox="1">
              <a:spLocks noChangeArrowheads="1"/>
            </p:cNvSpPr>
            <p:nvPr/>
          </p:nvSpPr>
          <p:spPr bwMode="auto">
            <a:xfrm>
              <a:off x="0" y="0"/>
              <a:ext cx="1408" cy="401"/>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千双</a:t>
              </a:r>
              <a:endParaRPr lang="en-US" altLang="zh-CN" sz="2500" b="0">
                <a:latin typeface="Arial" panose="020B0604020202020204" pitchFamily="34" charset="0"/>
              </a:endParaRPr>
            </a:p>
          </p:txBody>
        </p:sp>
        <p:sp>
          <p:nvSpPr>
            <p:cNvPr id="114706" name="Line 13">
              <a:extLst>
                <a:ext uri="{FF2B5EF4-FFF2-40B4-BE49-F238E27FC236}">
                  <a16:creationId xmlns:a16="http://schemas.microsoft.com/office/drawing/2014/main" id="{3C8CAA54-34F1-40FD-982F-FCE8E652898C}"/>
                </a:ext>
              </a:extLst>
            </p:cNvPr>
            <p:cNvSpPr>
              <a:spLocks noChangeShapeType="1"/>
            </p:cNvSpPr>
            <p:nvPr/>
          </p:nvSpPr>
          <p:spPr bwMode="auto">
            <a:xfrm>
              <a:off x="906" y="541"/>
              <a:ext cx="299" cy="434"/>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14">
            <a:extLst>
              <a:ext uri="{FF2B5EF4-FFF2-40B4-BE49-F238E27FC236}">
                <a16:creationId xmlns:a16="http://schemas.microsoft.com/office/drawing/2014/main" id="{6C0D74A1-083D-4B51-959E-52E4AD77C3C3}"/>
              </a:ext>
            </a:extLst>
          </p:cNvPr>
          <p:cNvGrpSpPr>
            <a:grpSpLocks/>
          </p:cNvGrpSpPr>
          <p:nvPr/>
        </p:nvGrpSpPr>
        <p:grpSpPr bwMode="auto">
          <a:xfrm>
            <a:off x="2051050" y="1393825"/>
            <a:ext cx="2373313" cy="954088"/>
            <a:chOff x="-231" y="204"/>
            <a:chExt cx="1495" cy="601"/>
          </a:xfrm>
        </p:grpSpPr>
        <p:sp>
          <p:nvSpPr>
            <p:cNvPr id="114703" name="Line 15">
              <a:extLst>
                <a:ext uri="{FF2B5EF4-FFF2-40B4-BE49-F238E27FC236}">
                  <a16:creationId xmlns:a16="http://schemas.microsoft.com/office/drawing/2014/main" id="{14A4E6C3-5309-4A6E-9ACE-2DF1977FD8D3}"/>
                </a:ext>
              </a:extLst>
            </p:cNvPr>
            <p:cNvSpPr>
              <a:spLocks noChangeShapeType="1"/>
            </p:cNvSpPr>
            <p:nvPr/>
          </p:nvSpPr>
          <p:spPr bwMode="auto">
            <a:xfrm flipV="1">
              <a:off x="711" y="204"/>
              <a:ext cx="553" cy="105"/>
            </a:xfrm>
            <a:prstGeom prst="line">
              <a:avLst/>
            </a:prstGeom>
            <a:noFill/>
            <a:ln w="38100">
              <a:solidFill>
                <a:srgbClr val="FF66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114704" name="Text Box 16">
              <a:extLst>
                <a:ext uri="{FF2B5EF4-FFF2-40B4-BE49-F238E27FC236}">
                  <a16:creationId xmlns:a16="http://schemas.microsoft.com/office/drawing/2014/main" id="{1DDC961C-7795-4407-AFD1-B91CA7245717}"/>
                </a:ext>
              </a:extLst>
            </p:cNvPr>
            <p:cNvSpPr txBox="1">
              <a:spLocks noChangeArrowheads="1"/>
            </p:cNvSpPr>
            <p:nvPr/>
          </p:nvSpPr>
          <p:spPr bwMode="auto">
            <a:xfrm>
              <a:off x="-231" y="261"/>
              <a:ext cx="899" cy="544"/>
            </a:xfrm>
            <a:prstGeom prst="rect">
              <a:avLst/>
            </a:prstGeom>
            <a:solidFill>
              <a:srgbClr val="FFCC99"/>
            </a:solidFill>
            <a:ln w="9525">
              <a:solidFill>
                <a:schemeClr val="tx1"/>
              </a:solidFill>
              <a:miter lim="800000"/>
              <a:headEnd/>
              <a:tailEnd/>
            </a:ln>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500" b="0">
                  <a:latin typeface="Arial" panose="020B0604020202020204" pitchFamily="34" charset="0"/>
                </a:rPr>
                <a:t>每双鞋的价格</a:t>
              </a:r>
              <a:endParaRPr lang="en-US" altLang="zh-CN" sz="2500" b="0">
                <a:latin typeface="Arial" panose="020B0604020202020204" pitchFamily="34" charset="0"/>
              </a:endParaRPr>
            </a:p>
          </p:txBody>
        </p:sp>
      </p:grpSp>
      <p:sp>
        <p:nvSpPr>
          <p:cNvPr id="48145" name="Rectangle 17">
            <a:extLst>
              <a:ext uri="{FF2B5EF4-FFF2-40B4-BE49-F238E27FC236}">
                <a16:creationId xmlns:a16="http://schemas.microsoft.com/office/drawing/2014/main" id="{78364FBD-943C-42F1-B383-BC916AEA78D0}"/>
              </a:ext>
            </a:extLst>
          </p:cNvPr>
          <p:cNvSpPr>
            <a:spLocks noGrp="1" noChangeArrowheads="1"/>
          </p:cNvSpPr>
          <p:nvPr>
            <p:ph type="body" idx="4294967295"/>
          </p:nvPr>
        </p:nvSpPr>
        <p:spPr>
          <a:xfrm>
            <a:off x="914400" y="2852738"/>
            <a:ext cx="2792413" cy="3014662"/>
          </a:xfrm>
          <a:noFill/>
        </p:spPr>
        <p:txBody>
          <a:bodyPr/>
          <a:lstStyle/>
          <a:p>
            <a:pPr marL="0" indent="0">
              <a:lnSpc>
                <a:spcPct val="85000"/>
              </a:lnSpc>
              <a:buFont typeface="Wingdings" panose="05000000000000000000" pitchFamily="2" charset="2"/>
              <a:buNone/>
            </a:pPr>
            <a:r>
              <a:rPr lang="zh-CN" altLang="en-US">
                <a:ea typeface="宋体" panose="02010600030101010101" pitchFamily="2" charset="-122"/>
              </a:rPr>
              <a:t>如果</a:t>
            </a:r>
            <a:r>
              <a:rPr lang="en-US" altLang="zh-CN">
                <a:ea typeface="宋体" panose="02010600030101010101" pitchFamily="2" charset="-122"/>
              </a:rPr>
              <a:t> </a:t>
            </a:r>
            <a:r>
              <a:rPr lang="zh-CN" altLang="ja-JP" i="1">
                <a:ea typeface="宋体" panose="02010600030101010101" pitchFamily="2" charset="-122"/>
              </a:rPr>
              <a:t>P</a:t>
            </a:r>
            <a:r>
              <a:rPr lang="zh-CN" altLang="ja-JP">
                <a:ea typeface="宋体" panose="02010600030101010101" pitchFamily="2" charset="-122"/>
              </a:rPr>
              <a:t> = 40</a:t>
            </a:r>
          </a:p>
          <a:p>
            <a:pPr marL="0" indent="0">
              <a:lnSpc>
                <a:spcPct val="85000"/>
              </a:lnSpc>
              <a:buFont typeface="Wingdings" panose="05000000000000000000" pitchFamily="2" charset="2"/>
              <a:buNone/>
            </a:pPr>
            <a:r>
              <a:rPr lang="zh-CN" altLang="en-US">
                <a:ea typeface="宋体" panose="02010600030101010101" pitchFamily="2" charset="-122"/>
              </a:rPr>
              <a:t>在</a:t>
            </a:r>
            <a:r>
              <a:rPr lang="zh-CN" altLang="ja-JP" i="1">
                <a:ea typeface="宋体" panose="02010600030101010101" pitchFamily="2" charset="-122"/>
              </a:rPr>
              <a:t>Q</a:t>
            </a:r>
            <a:r>
              <a:rPr lang="zh-CN" altLang="ja-JP">
                <a:ea typeface="宋体" panose="02010600030101010101" pitchFamily="2" charset="-122"/>
              </a:rPr>
              <a:t> = 15(</a:t>
            </a:r>
            <a:r>
              <a:rPr lang="zh-CN" altLang="en-US">
                <a:ea typeface="宋体" panose="02010600030101010101" pitchFamily="2" charset="-122"/>
              </a:rPr>
              <a:t>千双</a:t>
            </a:r>
            <a:r>
              <a:rPr lang="zh-CN" altLang="ja-JP">
                <a:ea typeface="宋体" panose="02010600030101010101" pitchFamily="2" charset="-122"/>
              </a:rPr>
              <a:t>), </a:t>
            </a:r>
            <a:r>
              <a:rPr lang="zh-CN" altLang="en-US">
                <a:ea typeface="宋体" panose="02010600030101010101" pitchFamily="2" charset="-122"/>
              </a:rPr>
              <a:t>边际卖者的成本是</a:t>
            </a:r>
            <a:r>
              <a:rPr lang="zh-CN" altLang="ja-JP">
                <a:ea typeface="宋体" panose="02010600030101010101" pitchFamily="2" charset="-122"/>
              </a:rPr>
              <a:t>30</a:t>
            </a:r>
            <a:r>
              <a:rPr lang="zh-CN" altLang="en-US">
                <a:ea typeface="宋体" panose="02010600030101010101" pitchFamily="2" charset="-122"/>
              </a:rPr>
              <a:t>，</a:t>
            </a:r>
            <a:endParaRPr lang="en-US" altLang="zh-CN">
              <a:ea typeface="宋体" panose="02010600030101010101" pitchFamily="2" charset="-122"/>
            </a:endParaRPr>
          </a:p>
          <a:p>
            <a:pPr marL="0" indent="0">
              <a:lnSpc>
                <a:spcPct val="85000"/>
              </a:lnSpc>
              <a:buFont typeface="Wingdings" panose="05000000000000000000" pitchFamily="2" charset="2"/>
              <a:buNone/>
            </a:pPr>
            <a:r>
              <a:rPr lang="zh-CN" altLang="en-US">
                <a:ea typeface="宋体" panose="02010600030101010101" pitchFamily="2" charset="-122"/>
              </a:rPr>
              <a:t>她的生产者剩余为</a:t>
            </a:r>
            <a:r>
              <a:rPr lang="zh-CN" altLang="ja-JP">
                <a:ea typeface="宋体" panose="02010600030101010101" pitchFamily="2" charset="-122"/>
              </a:rPr>
              <a:t>10</a:t>
            </a:r>
            <a:endParaRPr lang="en-US" altLang="zh-CN">
              <a:ea typeface="宋体" panose="02010600030101010101" pitchFamily="2" charset="-122"/>
            </a:endParaRPr>
          </a:p>
        </p:txBody>
      </p:sp>
      <p:grpSp>
        <p:nvGrpSpPr>
          <p:cNvPr id="6" name="Group 18">
            <a:extLst>
              <a:ext uri="{FF2B5EF4-FFF2-40B4-BE49-F238E27FC236}">
                <a16:creationId xmlns:a16="http://schemas.microsoft.com/office/drawing/2014/main" id="{865487FF-9261-4BAC-AB66-DA7242F22B23}"/>
              </a:ext>
            </a:extLst>
          </p:cNvPr>
          <p:cNvGrpSpPr>
            <a:grpSpLocks/>
          </p:cNvGrpSpPr>
          <p:nvPr/>
        </p:nvGrpSpPr>
        <p:grpSpPr bwMode="auto">
          <a:xfrm>
            <a:off x="3881438" y="2882900"/>
            <a:ext cx="3544887" cy="393700"/>
            <a:chOff x="0" y="0"/>
            <a:chExt cx="2233" cy="248"/>
          </a:xfrm>
        </p:grpSpPr>
        <p:sp>
          <p:nvSpPr>
            <p:cNvPr id="114701" name="Line 21">
              <a:extLst>
                <a:ext uri="{FF2B5EF4-FFF2-40B4-BE49-F238E27FC236}">
                  <a16:creationId xmlns:a16="http://schemas.microsoft.com/office/drawing/2014/main" id="{D2D20277-C1AC-4A44-9AF2-26193C71C34C}"/>
                </a:ext>
              </a:extLst>
            </p:cNvPr>
            <p:cNvSpPr>
              <a:spLocks noChangeShapeType="1"/>
            </p:cNvSpPr>
            <p:nvPr/>
          </p:nvSpPr>
          <p:spPr bwMode="auto">
            <a:xfrm>
              <a:off x="326" y="122"/>
              <a:ext cx="1907"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2" name="Rectangle 22">
              <a:extLst>
                <a:ext uri="{FF2B5EF4-FFF2-40B4-BE49-F238E27FC236}">
                  <a16:creationId xmlns:a16="http://schemas.microsoft.com/office/drawing/2014/main" id="{1A9CCCAF-9329-4007-80ED-9B1D65FB7BEA}"/>
                </a:ext>
              </a:extLst>
            </p:cNvPr>
            <p:cNvSpPr>
              <a:spLocks noChangeArrowheads="1"/>
            </p:cNvSpPr>
            <p:nvPr/>
          </p:nvSpPr>
          <p:spPr bwMode="auto">
            <a:xfrm>
              <a:off x="0" y="0"/>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sp>
        <p:nvSpPr>
          <p:cNvPr id="48149" name="Line 19">
            <a:extLst>
              <a:ext uri="{FF2B5EF4-FFF2-40B4-BE49-F238E27FC236}">
                <a16:creationId xmlns:a16="http://schemas.microsoft.com/office/drawing/2014/main" id="{82F4336D-B19E-4DC5-AE55-E75D94EA1885}"/>
              </a:ext>
            </a:extLst>
          </p:cNvPr>
          <p:cNvSpPr>
            <a:spLocks noChangeShapeType="1"/>
          </p:cNvSpPr>
          <p:nvPr/>
        </p:nvSpPr>
        <p:spPr bwMode="auto">
          <a:xfrm flipV="1">
            <a:off x="6281738" y="3073400"/>
            <a:ext cx="0" cy="592138"/>
          </a:xfrm>
          <a:prstGeom prst="line">
            <a:avLst/>
          </a:prstGeom>
          <a:noFill/>
          <a:ln w="38100">
            <a:solidFill>
              <a:srgbClr val="FF0000"/>
            </a:solidFill>
            <a:round/>
            <a:headEnd type="triangle" w="lg" len="me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48150" name="Line 18">
            <a:extLst>
              <a:ext uri="{FF2B5EF4-FFF2-40B4-BE49-F238E27FC236}">
                <a16:creationId xmlns:a16="http://schemas.microsoft.com/office/drawing/2014/main" id="{1ADAD9D9-1B87-4517-9CF0-2F04B56EFC3F}"/>
              </a:ext>
            </a:extLst>
          </p:cNvPr>
          <p:cNvSpPr>
            <a:spLocks noChangeShapeType="1"/>
          </p:cNvSpPr>
          <p:nvPr/>
        </p:nvSpPr>
        <p:spPr bwMode="auto">
          <a:xfrm flipH="1" flipV="1">
            <a:off x="6283325" y="3675063"/>
            <a:ext cx="7938" cy="1770062"/>
          </a:xfrm>
          <a:prstGeom prst="line">
            <a:avLst/>
          </a:prstGeom>
          <a:noFill/>
          <a:ln w="38100">
            <a:solidFill>
              <a:srgbClr val="00CC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48151" name="Line 38">
            <a:extLst>
              <a:ext uri="{FF2B5EF4-FFF2-40B4-BE49-F238E27FC236}">
                <a16:creationId xmlns:a16="http://schemas.microsoft.com/office/drawing/2014/main" id="{AAABA636-1A45-4F95-8CEC-D1F5C6D74942}"/>
              </a:ext>
            </a:extLst>
          </p:cNvPr>
          <p:cNvSpPr>
            <a:spLocks noChangeShapeType="1"/>
          </p:cNvSpPr>
          <p:nvPr/>
        </p:nvSpPr>
        <p:spPr bwMode="auto">
          <a:xfrm>
            <a:off x="4586288" y="3670300"/>
            <a:ext cx="1697037" cy="0"/>
          </a:xfrm>
          <a:prstGeom prst="line">
            <a:avLst/>
          </a:prstGeom>
          <a:noFill/>
          <a:ln w="12700">
            <a:solidFill>
              <a:srgbClr val="3333FF"/>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700" name="Title 1">
            <a:extLst>
              <a:ext uri="{FF2B5EF4-FFF2-40B4-BE49-F238E27FC236}">
                <a16:creationId xmlns:a16="http://schemas.microsoft.com/office/drawing/2014/main" id="{71D31ECF-DBF1-48D8-A1D5-33A525FC22DD}"/>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生产者剩余和供给曲线</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8145">
                                            <p:txEl>
                                              <p:pRg st="0" end="0"/>
                                            </p:txEl>
                                          </p:spTgt>
                                        </p:tgtEl>
                                        <p:attrNameLst>
                                          <p:attrName>style.visibility</p:attrName>
                                        </p:attrNameLst>
                                      </p:cBhvr>
                                      <p:to>
                                        <p:strVal val="visible"/>
                                      </p:to>
                                    </p:set>
                                    <p:animEffect transition="in" filter="wipe(left)">
                                      <p:cBhvr>
                                        <p:cTn id="15" dur="500"/>
                                        <p:tgtEl>
                                          <p:spTgt spid="48145">
                                            <p:txEl>
                                              <p:pRg st="0" end="0"/>
                                            </p:txEl>
                                          </p:spTgt>
                                        </p:tgtEl>
                                      </p:cBhvr>
                                    </p:animEffect>
                                  </p:childTnLst>
                                </p:cTn>
                              </p:par>
                            </p:childTnLst>
                          </p:cTn>
                        </p:par>
                        <p:par>
                          <p:cTn id="16" fill="hold" nodeType="afterGroup">
                            <p:stCondLst>
                              <p:cond delay="500"/>
                            </p:stCondLst>
                            <p:childTnLst>
                              <p:par>
                                <p:cTn id="17" presetID="18" presetClass="entr" presetSubtype="6"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strips(downRight)">
                                      <p:cBhvr>
                                        <p:cTn id="19" dur="5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8145">
                                            <p:txEl>
                                              <p:pRg st="1" end="1"/>
                                            </p:txEl>
                                          </p:spTgt>
                                        </p:tgtEl>
                                        <p:attrNameLst>
                                          <p:attrName>style.visibility</p:attrName>
                                        </p:attrNameLst>
                                      </p:cBhvr>
                                      <p:to>
                                        <p:strVal val="visible"/>
                                      </p:to>
                                    </p:set>
                                    <p:animEffect transition="in" filter="wipe(left)">
                                      <p:cBhvr>
                                        <p:cTn id="24" dur="500"/>
                                        <p:tgtEl>
                                          <p:spTgt spid="48145">
                                            <p:txEl>
                                              <p:pRg st="1" end="1"/>
                                            </p:txEl>
                                          </p:spTgt>
                                        </p:tgtEl>
                                      </p:cBhvr>
                                    </p:animEffect>
                                  </p:childTnLst>
                                </p:cTn>
                              </p:par>
                            </p:childTnLst>
                          </p:cTn>
                        </p:par>
                        <p:par>
                          <p:cTn id="25" fill="hold" nodeType="afterGroup">
                            <p:stCondLst>
                              <p:cond delay="500"/>
                            </p:stCondLst>
                            <p:childTnLst>
                              <p:par>
                                <p:cTn id="26" presetID="22" presetClass="entr" presetSubtype="4" fill="hold" nodeType="afterEffect">
                                  <p:stCondLst>
                                    <p:cond delay="0"/>
                                  </p:stCondLst>
                                  <p:childTnLst>
                                    <p:set>
                                      <p:cBhvr>
                                        <p:cTn id="27" dur="1" fill="hold">
                                          <p:stCondLst>
                                            <p:cond delay="0"/>
                                          </p:stCondLst>
                                        </p:cTn>
                                        <p:tgtEl>
                                          <p:spTgt spid="48150"/>
                                        </p:tgtEl>
                                        <p:attrNameLst>
                                          <p:attrName>style.visibility</p:attrName>
                                        </p:attrNameLst>
                                      </p:cBhvr>
                                      <p:to>
                                        <p:strVal val="visible"/>
                                      </p:to>
                                    </p:set>
                                    <p:animEffect transition="in" filter="wipe(down)">
                                      <p:cBhvr>
                                        <p:cTn id="28" dur="500"/>
                                        <p:tgtEl>
                                          <p:spTgt spid="48150"/>
                                        </p:tgtEl>
                                      </p:cBhvr>
                                    </p:animEffect>
                                  </p:childTnLst>
                                </p:cTn>
                              </p:par>
                            </p:childTnLst>
                          </p:cTn>
                        </p:par>
                        <p:par>
                          <p:cTn id="29" fill="hold" nodeType="afterGroup">
                            <p:stCondLst>
                              <p:cond delay="1000"/>
                            </p:stCondLst>
                            <p:childTnLst>
                              <p:par>
                                <p:cTn id="30" presetID="22" presetClass="entr" presetSubtype="2" fill="hold" nodeType="afterEffect">
                                  <p:stCondLst>
                                    <p:cond delay="0"/>
                                  </p:stCondLst>
                                  <p:childTnLst>
                                    <p:set>
                                      <p:cBhvr>
                                        <p:cTn id="31" dur="1" fill="hold">
                                          <p:stCondLst>
                                            <p:cond delay="0"/>
                                          </p:stCondLst>
                                        </p:cTn>
                                        <p:tgtEl>
                                          <p:spTgt spid="48151"/>
                                        </p:tgtEl>
                                        <p:attrNameLst>
                                          <p:attrName>style.visibility</p:attrName>
                                        </p:attrNameLst>
                                      </p:cBhvr>
                                      <p:to>
                                        <p:strVal val="visible"/>
                                      </p:to>
                                    </p:set>
                                    <p:animEffect transition="in" filter="wipe(right)">
                                      <p:cBhvr>
                                        <p:cTn id="32" dur="500"/>
                                        <p:tgtEl>
                                          <p:spTgt spid="481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8145">
                                            <p:txEl>
                                              <p:pRg st="2" end="2"/>
                                            </p:txEl>
                                          </p:spTgt>
                                        </p:tgtEl>
                                        <p:attrNameLst>
                                          <p:attrName>style.visibility</p:attrName>
                                        </p:attrNameLst>
                                      </p:cBhvr>
                                      <p:to>
                                        <p:strVal val="visible"/>
                                      </p:to>
                                    </p:set>
                                    <p:animEffect transition="in" filter="wipe(left)">
                                      <p:cBhvr>
                                        <p:cTn id="37" dur="500"/>
                                        <p:tgtEl>
                                          <p:spTgt spid="48145">
                                            <p:txEl>
                                              <p:pRg st="2" end="2"/>
                                            </p:txEl>
                                          </p:spTgt>
                                        </p:tgtEl>
                                      </p:cBhvr>
                                    </p:animEffect>
                                  </p:childTnLst>
                                </p:cTn>
                              </p:par>
                            </p:childTnLst>
                          </p:cTn>
                        </p:par>
                        <p:par>
                          <p:cTn id="38" fill="hold" nodeType="afterGroup">
                            <p:stCondLst>
                              <p:cond delay="500"/>
                            </p:stCondLst>
                            <p:childTnLst>
                              <p:par>
                                <p:cTn id="39" presetID="4" presetClass="entr" presetSubtype="32" fill="hold" nodeType="afterEffect">
                                  <p:stCondLst>
                                    <p:cond delay="0"/>
                                  </p:stCondLst>
                                  <p:childTnLst>
                                    <p:set>
                                      <p:cBhvr>
                                        <p:cTn id="40" dur="1" fill="hold">
                                          <p:stCondLst>
                                            <p:cond delay="0"/>
                                          </p:stCondLst>
                                        </p:cTn>
                                        <p:tgtEl>
                                          <p:spTgt spid="48149"/>
                                        </p:tgtEl>
                                        <p:attrNameLst>
                                          <p:attrName>style.visibility</p:attrName>
                                        </p:attrNameLst>
                                      </p:cBhvr>
                                      <p:to>
                                        <p:strVal val="visible"/>
                                      </p:to>
                                    </p:set>
                                    <p:animEffect transition="in" filter="box(out)">
                                      <p:cBhvr>
                                        <p:cTn id="41" dur="500"/>
                                        <p:tgtEl>
                                          <p:spTgt spid="48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45" grpId="0" build="p" bldLvl="5"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5714" name="Group 2">
            <a:extLst>
              <a:ext uri="{FF2B5EF4-FFF2-40B4-BE49-F238E27FC236}">
                <a16:creationId xmlns:a16="http://schemas.microsoft.com/office/drawing/2014/main" id="{686EC1F2-F496-4DA9-9243-9D641B4FB015}"/>
              </a:ext>
            </a:extLst>
          </p:cNvPr>
          <p:cNvGrpSpPr>
            <a:grpSpLocks/>
          </p:cNvGrpSpPr>
          <p:nvPr/>
        </p:nvGrpSpPr>
        <p:grpSpPr bwMode="auto">
          <a:xfrm>
            <a:off x="3787775" y="1009650"/>
            <a:ext cx="4979988" cy="5295900"/>
            <a:chOff x="0" y="0"/>
            <a:chExt cx="3137" cy="3336"/>
          </a:xfrm>
        </p:grpSpPr>
        <p:graphicFrame>
          <p:nvGraphicFramePr>
            <p:cNvPr id="115730" name="Object 3">
              <a:extLst>
                <a:ext uri="{FF2B5EF4-FFF2-40B4-BE49-F238E27FC236}">
                  <a16:creationId xmlns:a16="http://schemas.microsoft.com/office/drawing/2014/main" id="{6A844B37-2FB7-4BA3-BAC9-A6DCDC21016C}"/>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19478" r:id="rId3" imgW="3061080" imgH="3274920" progId="Excel.Chart.8">
                    <p:embed/>
                  </p:oleObj>
                </mc:Choice>
                <mc:Fallback>
                  <p:oleObj r:id="rId3" imgW="3061080" imgH="3274920" progId="Excel.Chart.8">
                    <p:embed/>
                    <p:pic>
                      <p:nvPicPr>
                        <p:cNvPr id="115730" name="Object 3">
                          <a:extLst>
                            <a:ext uri="{FF2B5EF4-FFF2-40B4-BE49-F238E27FC236}">
                              <a16:creationId xmlns:a16="http://schemas.microsoft.com/office/drawing/2014/main" id="{6A844B37-2FB7-4BA3-BAC9-A6DCDC2101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5731" name="Rectangle 4">
              <a:extLst>
                <a:ext uri="{FF2B5EF4-FFF2-40B4-BE49-F238E27FC236}">
                  <a16:creationId xmlns:a16="http://schemas.microsoft.com/office/drawing/2014/main" id="{3679D833-528E-458E-B5BF-C3E5850A7EE2}"/>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15732" name="Rectangle 5">
              <a:extLst>
                <a:ext uri="{FF2B5EF4-FFF2-40B4-BE49-F238E27FC236}">
                  <a16:creationId xmlns:a16="http://schemas.microsoft.com/office/drawing/2014/main" id="{74DACB53-2511-486A-A75B-35562143CC58}"/>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sp>
        <p:nvSpPr>
          <p:cNvPr id="49158" name="AutoShape 27">
            <a:extLst>
              <a:ext uri="{FF2B5EF4-FFF2-40B4-BE49-F238E27FC236}">
                <a16:creationId xmlns:a16="http://schemas.microsoft.com/office/drawing/2014/main" id="{2190A288-0E21-44B6-B1BD-F2430B79CAFD}"/>
              </a:ext>
            </a:extLst>
          </p:cNvPr>
          <p:cNvSpPr>
            <a:spLocks noChangeArrowheads="1"/>
          </p:cNvSpPr>
          <p:nvPr/>
        </p:nvSpPr>
        <p:spPr bwMode="auto">
          <a:xfrm flipV="1">
            <a:off x="4594225" y="3082925"/>
            <a:ext cx="2800350" cy="1455738"/>
          </a:xfrm>
          <a:prstGeom prst="rtTriangle">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15716" name="Text Box 7">
            <a:extLst>
              <a:ext uri="{FF2B5EF4-FFF2-40B4-BE49-F238E27FC236}">
                <a16:creationId xmlns:a16="http://schemas.microsoft.com/office/drawing/2014/main" id="{DF832E54-2059-4ABC-AB55-76CBFCCF830C}"/>
              </a:ext>
            </a:extLst>
          </p:cNvPr>
          <p:cNvSpPr txBox="1">
            <a:spLocks noChangeArrowheads="1"/>
          </p:cNvSpPr>
          <p:nvPr/>
        </p:nvSpPr>
        <p:spPr bwMode="auto">
          <a:xfrm>
            <a:off x="5148263" y="1628775"/>
            <a:ext cx="3470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b="0">
                <a:latin typeface="Arial" panose="020B0604020202020204" pitchFamily="34" charset="0"/>
              </a:rPr>
              <a:t>鞋的供给</a:t>
            </a:r>
            <a:endParaRPr lang="en-US" altLang="zh-CN" b="0">
              <a:latin typeface="Arial" panose="020B0604020202020204" pitchFamily="34" charset="0"/>
            </a:endParaRPr>
          </a:p>
        </p:txBody>
      </p:sp>
      <p:grpSp>
        <p:nvGrpSpPr>
          <p:cNvPr id="115717" name="Group 9">
            <a:extLst>
              <a:ext uri="{FF2B5EF4-FFF2-40B4-BE49-F238E27FC236}">
                <a16:creationId xmlns:a16="http://schemas.microsoft.com/office/drawing/2014/main" id="{37F2D48A-2E28-42FF-9CD5-69A1330AB2D7}"/>
              </a:ext>
            </a:extLst>
          </p:cNvPr>
          <p:cNvGrpSpPr>
            <a:grpSpLocks/>
          </p:cNvGrpSpPr>
          <p:nvPr/>
        </p:nvGrpSpPr>
        <p:grpSpPr bwMode="auto">
          <a:xfrm>
            <a:off x="4586288" y="2178050"/>
            <a:ext cx="4219575" cy="2386013"/>
            <a:chOff x="0" y="0"/>
            <a:chExt cx="2658" cy="1503"/>
          </a:xfrm>
        </p:grpSpPr>
        <p:sp>
          <p:nvSpPr>
            <p:cNvPr id="115728" name="Line 9">
              <a:extLst>
                <a:ext uri="{FF2B5EF4-FFF2-40B4-BE49-F238E27FC236}">
                  <a16:creationId xmlns:a16="http://schemas.microsoft.com/office/drawing/2014/main" id="{F317C5AD-3415-48F0-A68E-CC117E77C961}"/>
                </a:ext>
              </a:extLst>
            </p:cNvPr>
            <p:cNvSpPr>
              <a:spLocks noChangeShapeType="1"/>
            </p:cNvSpPr>
            <p:nvPr/>
          </p:nvSpPr>
          <p:spPr bwMode="auto">
            <a:xfrm flipV="1">
              <a:off x="0" y="242"/>
              <a:ext cx="2401" cy="1261"/>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9" name="Rectangle 10">
              <a:extLst>
                <a:ext uri="{FF2B5EF4-FFF2-40B4-BE49-F238E27FC236}">
                  <a16:creationId xmlns:a16="http://schemas.microsoft.com/office/drawing/2014/main" id="{CA3D6390-9F3C-4C1A-A72A-017F2055D48B}"/>
                </a:ext>
              </a:extLst>
            </p:cNvPr>
            <p:cNvSpPr>
              <a:spLocks noChangeArrowheads="1"/>
            </p:cNvSpPr>
            <p:nvPr/>
          </p:nvSpPr>
          <p:spPr bwMode="auto">
            <a:xfrm>
              <a:off x="2353" y="0"/>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S</a:t>
              </a:r>
            </a:p>
          </p:txBody>
        </p:sp>
      </p:grpSp>
      <p:sp>
        <p:nvSpPr>
          <p:cNvPr id="49164" name="Rectangle 17">
            <a:extLst>
              <a:ext uri="{FF2B5EF4-FFF2-40B4-BE49-F238E27FC236}">
                <a16:creationId xmlns:a16="http://schemas.microsoft.com/office/drawing/2014/main" id="{6C5796CD-9CF0-4613-B754-7F66FB11E4FE}"/>
              </a:ext>
            </a:extLst>
          </p:cNvPr>
          <p:cNvSpPr>
            <a:spLocks noGrp="1" noChangeArrowheads="1"/>
          </p:cNvSpPr>
          <p:nvPr>
            <p:ph type="body" idx="4294967295"/>
          </p:nvPr>
        </p:nvSpPr>
        <p:spPr>
          <a:xfrm>
            <a:off x="1219200" y="2276475"/>
            <a:ext cx="2409825" cy="2665413"/>
          </a:xfrm>
          <a:noFill/>
        </p:spPr>
        <p:txBody>
          <a:bodyPr/>
          <a:lstStyle/>
          <a:p>
            <a:pPr marL="0" indent="0">
              <a:spcBef>
                <a:spcPct val="0"/>
              </a:spcBef>
              <a:buClrTx/>
              <a:buFontTx/>
              <a:buNone/>
            </a:pPr>
            <a:r>
              <a:rPr lang="zh-CN" altLang="en-US" sz="2600">
                <a:ea typeface="宋体" panose="02010600030101010101" pitchFamily="2" charset="-122"/>
              </a:rPr>
              <a:t>生产者剩余是价格以下和供给曲线以上的面积</a:t>
            </a:r>
            <a:endParaRPr lang="en-US" altLang="zh-CN" sz="2600">
              <a:ea typeface="宋体" panose="02010600030101010101" pitchFamily="2" charset="-122"/>
            </a:endParaRPr>
          </a:p>
          <a:p>
            <a:pPr marL="0" indent="0">
              <a:spcBef>
                <a:spcPct val="50000"/>
              </a:spcBef>
              <a:buClrTx/>
              <a:buFontTx/>
              <a:buNone/>
            </a:pPr>
            <a:r>
              <a:rPr lang="zh-CN" altLang="en-US" sz="2600">
                <a:ea typeface="宋体" panose="02010600030101010101" pitchFamily="2" charset="-122"/>
              </a:rPr>
              <a:t>这个三角形面积</a:t>
            </a:r>
            <a:r>
              <a:rPr lang="en-US" altLang="zh-CN" sz="2600">
                <a:ea typeface="宋体" panose="02010600030101010101" pitchFamily="2" charset="-122"/>
              </a:rPr>
              <a:t> </a:t>
            </a:r>
            <a:r>
              <a:rPr lang="zh-CN" altLang="ja-JP" sz="2600">
                <a:ea typeface="宋体" panose="02010600030101010101" pitchFamily="2" charset="-122"/>
              </a:rPr>
              <a:t>= </a:t>
            </a:r>
            <a:r>
              <a:rPr lang="zh-CN" altLang="ja-JP" sz="2600" u="sng">
                <a:ea typeface="宋体" panose="02010600030101010101" pitchFamily="2" charset="-122"/>
              </a:rPr>
              <a:t>312.50</a:t>
            </a:r>
          </a:p>
          <a:p>
            <a:pPr marL="0" indent="0">
              <a:spcBef>
                <a:spcPct val="0"/>
              </a:spcBef>
              <a:buClrTx/>
              <a:buFontTx/>
              <a:buNone/>
            </a:pPr>
            <a:endParaRPr lang="en-US" altLang="zh-CN" sz="2600">
              <a:ea typeface="宋体" panose="02010600030101010101" pitchFamily="2" charset="-122"/>
            </a:endParaRPr>
          </a:p>
        </p:txBody>
      </p:sp>
      <p:grpSp>
        <p:nvGrpSpPr>
          <p:cNvPr id="115719" name="Group 13">
            <a:extLst>
              <a:ext uri="{FF2B5EF4-FFF2-40B4-BE49-F238E27FC236}">
                <a16:creationId xmlns:a16="http://schemas.microsoft.com/office/drawing/2014/main" id="{7F8F7411-5CF2-4CE1-9A3C-3B55AA8B9E0D}"/>
              </a:ext>
            </a:extLst>
          </p:cNvPr>
          <p:cNvGrpSpPr>
            <a:grpSpLocks/>
          </p:cNvGrpSpPr>
          <p:nvPr/>
        </p:nvGrpSpPr>
        <p:grpSpPr bwMode="auto">
          <a:xfrm>
            <a:off x="3881438" y="2882900"/>
            <a:ext cx="3544887" cy="393700"/>
            <a:chOff x="0" y="0"/>
            <a:chExt cx="2233" cy="248"/>
          </a:xfrm>
        </p:grpSpPr>
        <p:sp>
          <p:nvSpPr>
            <p:cNvPr id="115726" name="Line 19">
              <a:extLst>
                <a:ext uri="{FF2B5EF4-FFF2-40B4-BE49-F238E27FC236}">
                  <a16:creationId xmlns:a16="http://schemas.microsoft.com/office/drawing/2014/main" id="{8194B911-46C1-40ED-950B-B22E5291F769}"/>
                </a:ext>
              </a:extLst>
            </p:cNvPr>
            <p:cNvSpPr>
              <a:spLocks noChangeShapeType="1"/>
            </p:cNvSpPr>
            <p:nvPr/>
          </p:nvSpPr>
          <p:spPr bwMode="auto">
            <a:xfrm>
              <a:off x="326" y="122"/>
              <a:ext cx="1907"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7" name="Rectangle 20">
              <a:extLst>
                <a:ext uri="{FF2B5EF4-FFF2-40B4-BE49-F238E27FC236}">
                  <a16:creationId xmlns:a16="http://schemas.microsoft.com/office/drawing/2014/main" id="{75D2B474-2206-439A-BB28-DF50FB473A5E}"/>
                </a:ext>
              </a:extLst>
            </p:cNvPr>
            <p:cNvSpPr>
              <a:spLocks noChangeArrowheads="1"/>
            </p:cNvSpPr>
            <p:nvPr/>
          </p:nvSpPr>
          <p:spPr bwMode="auto">
            <a:xfrm>
              <a:off x="0" y="0"/>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sp>
        <p:nvSpPr>
          <p:cNvPr id="115720" name="Line 25">
            <a:extLst>
              <a:ext uri="{FF2B5EF4-FFF2-40B4-BE49-F238E27FC236}">
                <a16:creationId xmlns:a16="http://schemas.microsoft.com/office/drawing/2014/main" id="{8F00F075-0B69-4773-9856-1BE7699A3CDC}"/>
              </a:ext>
            </a:extLst>
          </p:cNvPr>
          <p:cNvSpPr>
            <a:spLocks noChangeShapeType="1"/>
          </p:cNvSpPr>
          <p:nvPr/>
        </p:nvSpPr>
        <p:spPr bwMode="auto">
          <a:xfrm rot="5400000">
            <a:off x="6082506" y="4418807"/>
            <a:ext cx="2681287"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1" name="Rectangle 26">
            <a:extLst>
              <a:ext uri="{FF2B5EF4-FFF2-40B4-BE49-F238E27FC236}">
                <a16:creationId xmlns:a16="http://schemas.microsoft.com/office/drawing/2014/main" id="{640629E0-57A7-4065-97A0-12B86AA6320F}"/>
              </a:ext>
            </a:extLst>
          </p:cNvPr>
          <p:cNvSpPr>
            <a:spLocks noChangeArrowheads="1"/>
          </p:cNvSpPr>
          <p:nvPr/>
        </p:nvSpPr>
        <p:spPr bwMode="auto">
          <a:xfrm>
            <a:off x="7161213" y="5764213"/>
            <a:ext cx="522287" cy="393700"/>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5" name="Group 18">
            <a:extLst>
              <a:ext uri="{FF2B5EF4-FFF2-40B4-BE49-F238E27FC236}">
                <a16:creationId xmlns:a16="http://schemas.microsoft.com/office/drawing/2014/main" id="{0E777176-9093-4B43-BF72-27E8969E064C}"/>
              </a:ext>
            </a:extLst>
          </p:cNvPr>
          <p:cNvGrpSpPr>
            <a:grpSpLocks/>
          </p:cNvGrpSpPr>
          <p:nvPr/>
        </p:nvGrpSpPr>
        <p:grpSpPr bwMode="auto">
          <a:xfrm>
            <a:off x="3803650" y="3086100"/>
            <a:ext cx="739775" cy="1477963"/>
            <a:chOff x="0" y="0"/>
            <a:chExt cx="466" cy="931"/>
          </a:xfrm>
        </p:grpSpPr>
        <p:sp>
          <p:nvSpPr>
            <p:cNvPr id="115724" name="AutoShape 28">
              <a:extLst>
                <a:ext uri="{FF2B5EF4-FFF2-40B4-BE49-F238E27FC236}">
                  <a16:creationId xmlns:a16="http://schemas.microsoft.com/office/drawing/2014/main" id="{4910FCA8-898C-4FA4-9641-56D1B9DBBACB}"/>
                </a:ext>
              </a:extLst>
            </p:cNvPr>
            <p:cNvSpPr>
              <a:spLocks/>
            </p:cNvSpPr>
            <p:nvPr/>
          </p:nvSpPr>
          <p:spPr bwMode="auto">
            <a:xfrm>
              <a:off x="263" y="0"/>
              <a:ext cx="203" cy="931"/>
            </a:xfrm>
            <a:prstGeom prst="leftBrace">
              <a:avLst>
                <a:gd name="adj1" fmla="val 62572"/>
                <a:gd name="adj2" fmla="val 58968"/>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15725" name="Text Box 29">
              <a:extLst>
                <a:ext uri="{FF2B5EF4-FFF2-40B4-BE49-F238E27FC236}">
                  <a16:creationId xmlns:a16="http://schemas.microsoft.com/office/drawing/2014/main" id="{63575273-55CC-4B3E-B688-CA101379621E}"/>
                </a:ext>
              </a:extLst>
            </p:cNvPr>
            <p:cNvSpPr txBox="1">
              <a:spLocks noChangeArrowheads="1"/>
            </p:cNvSpPr>
            <p:nvPr/>
          </p:nvSpPr>
          <p:spPr bwMode="auto">
            <a:xfrm>
              <a:off x="0" y="392"/>
              <a:ext cx="231"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600" b="0" i="1">
                  <a:solidFill>
                    <a:srgbClr val="FF0000"/>
                  </a:solidFill>
                  <a:latin typeface="Arial" panose="020B0604020202020204" pitchFamily="34" charset="0"/>
                </a:rPr>
                <a:t>h</a:t>
              </a:r>
            </a:p>
          </p:txBody>
        </p:sp>
      </p:grpSp>
      <p:sp>
        <p:nvSpPr>
          <p:cNvPr id="115723" name="Title 1">
            <a:extLst>
              <a:ext uri="{FF2B5EF4-FFF2-40B4-BE49-F238E27FC236}">
                <a16:creationId xmlns:a16="http://schemas.microsoft.com/office/drawing/2014/main" id="{73BDE9DB-F0C1-4606-ABF1-D561AE1C4136}"/>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生产者剩余和供给曲线</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64">
                                            <p:txEl>
                                              <p:pRg st="0" end="0"/>
                                            </p:txEl>
                                          </p:spTgt>
                                        </p:tgtEl>
                                        <p:attrNameLst>
                                          <p:attrName>style.visibility</p:attrName>
                                        </p:attrNameLst>
                                      </p:cBhvr>
                                      <p:to>
                                        <p:strVal val="visible"/>
                                      </p:to>
                                    </p:set>
                                    <p:animEffect transition="in" filter="wipe(left)">
                                      <p:cBhvr>
                                        <p:cTn id="7" dur="500"/>
                                        <p:tgtEl>
                                          <p:spTgt spid="49164">
                                            <p:txEl>
                                              <p:pRg st="0" end="0"/>
                                            </p:txEl>
                                          </p:spTgt>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9158"/>
                                        </p:tgtEl>
                                        <p:attrNameLst>
                                          <p:attrName>style.visibility</p:attrName>
                                        </p:attrNameLst>
                                      </p:cBhvr>
                                      <p:to>
                                        <p:strVal val="visible"/>
                                      </p:to>
                                    </p:set>
                                    <p:animEffect transition="in" filter="dissolve">
                                      <p:cBhvr>
                                        <p:cTn id="11" dur="500"/>
                                        <p:tgtEl>
                                          <p:spTgt spid="4915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9164">
                                            <p:txEl>
                                              <p:pRg st="1" end="1"/>
                                            </p:txEl>
                                          </p:spTgt>
                                        </p:tgtEl>
                                        <p:attrNameLst>
                                          <p:attrName>style.visibility</p:attrName>
                                        </p:attrNameLst>
                                      </p:cBhvr>
                                      <p:to>
                                        <p:strVal val="visible"/>
                                      </p:to>
                                    </p:set>
                                    <p:animEffect transition="in" filter="wipe(left)">
                                      <p:cBhvr>
                                        <p:cTn id="16" dur="500"/>
                                        <p:tgtEl>
                                          <p:spTgt spid="49164">
                                            <p:txEl>
                                              <p:pRg st="1" end="1"/>
                                            </p:txEl>
                                          </p:spTgt>
                                        </p:tgtEl>
                                      </p:cBhvr>
                                    </p:animEffect>
                                  </p:childTnLst>
                                </p:cTn>
                              </p:par>
                            </p:childTnLst>
                          </p:cTn>
                        </p:par>
                        <p:par>
                          <p:cTn id="17" fill="hold" nodeType="afterGroup">
                            <p:stCondLst>
                              <p:cond delay="500"/>
                            </p:stCondLst>
                            <p:childTnLst>
                              <p:par>
                                <p:cTn id="18" presetID="18" presetClass="entr" presetSubtype="12"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trips(downLeft)">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8" grpId="0" animBg="1" autoUpdateAnimBg="0"/>
      <p:bldP spid="49164" grpId="0" build="p" bldLvl="5"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16738" name="Group 2">
            <a:extLst>
              <a:ext uri="{FF2B5EF4-FFF2-40B4-BE49-F238E27FC236}">
                <a16:creationId xmlns:a16="http://schemas.microsoft.com/office/drawing/2014/main" id="{50098048-2811-418C-85DA-2320D5C31A62}"/>
              </a:ext>
            </a:extLst>
          </p:cNvPr>
          <p:cNvGrpSpPr>
            <a:grpSpLocks/>
          </p:cNvGrpSpPr>
          <p:nvPr/>
        </p:nvGrpSpPr>
        <p:grpSpPr bwMode="auto">
          <a:xfrm>
            <a:off x="3787775" y="1009650"/>
            <a:ext cx="4979988" cy="5295900"/>
            <a:chOff x="0" y="0"/>
            <a:chExt cx="3137" cy="3336"/>
          </a:xfrm>
        </p:grpSpPr>
        <p:graphicFrame>
          <p:nvGraphicFramePr>
            <p:cNvPr id="116762" name="Object 3">
              <a:extLst>
                <a:ext uri="{FF2B5EF4-FFF2-40B4-BE49-F238E27FC236}">
                  <a16:creationId xmlns:a16="http://schemas.microsoft.com/office/drawing/2014/main" id="{5919D27A-E1BD-4E77-91FC-13BF7A7B8CE0}"/>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20503" r:id="rId3" imgW="3061080" imgH="3274920" progId="Excel.Chart.8">
                    <p:embed/>
                  </p:oleObj>
                </mc:Choice>
                <mc:Fallback>
                  <p:oleObj r:id="rId3" imgW="3061080" imgH="3274920" progId="Excel.Chart.8">
                    <p:embed/>
                    <p:pic>
                      <p:nvPicPr>
                        <p:cNvPr id="116762" name="Object 3">
                          <a:extLst>
                            <a:ext uri="{FF2B5EF4-FFF2-40B4-BE49-F238E27FC236}">
                              <a16:creationId xmlns:a16="http://schemas.microsoft.com/office/drawing/2014/main" id="{5919D27A-E1BD-4E77-91FC-13BF7A7B8C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6763" name="Rectangle 4">
              <a:extLst>
                <a:ext uri="{FF2B5EF4-FFF2-40B4-BE49-F238E27FC236}">
                  <a16:creationId xmlns:a16="http://schemas.microsoft.com/office/drawing/2014/main" id="{3ACAAA4D-7EF1-4AE6-BA31-22F9B4242D74}"/>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16764" name="Rectangle 5">
              <a:extLst>
                <a:ext uri="{FF2B5EF4-FFF2-40B4-BE49-F238E27FC236}">
                  <a16:creationId xmlns:a16="http://schemas.microsoft.com/office/drawing/2014/main" id="{B22953F8-4C97-4D77-AB23-F26E9793A6C8}"/>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sp>
        <p:nvSpPr>
          <p:cNvPr id="116739" name="AutoShape 6">
            <a:extLst>
              <a:ext uri="{FF2B5EF4-FFF2-40B4-BE49-F238E27FC236}">
                <a16:creationId xmlns:a16="http://schemas.microsoft.com/office/drawing/2014/main" id="{22C83B23-4F01-4115-8C40-08F53841FC44}"/>
              </a:ext>
            </a:extLst>
          </p:cNvPr>
          <p:cNvSpPr>
            <a:spLocks noChangeArrowheads="1"/>
          </p:cNvSpPr>
          <p:nvPr/>
        </p:nvSpPr>
        <p:spPr bwMode="auto">
          <a:xfrm flipV="1">
            <a:off x="4594225" y="3082925"/>
            <a:ext cx="2800350" cy="1455738"/>
          </a:xfrm>
          <a:prstGeom prst="rtTriangle">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50184" name="Rectangle 12">
            <a:extLst>
              <a:ext uri="{FF2B5EF4-FFF2-40B4-BE49-F238E27FC236}">
                <a16:creationId xmlns:a16="http://schemas.microsoft.com/office/drawing/2014/main" id="{F06936B1-29B3-4FE2-BAAB-97C9D66DE1A3}"/>
              </a:ext>
            </a:extLst>
          </p:cNvPr>
          <p:cNvSpPr>
            <a:spLocks noGrp="1" noChangeArrowheads="1"/>
          </p:cNvSpPr>
          <p:nvPr>
            <p:ph type="body" idx="4294967295"/>
          </p:nvPr>
        </p:nvSpPr>
        <p:spPr>
          <a:xfrm>
            <a:off x="403225" y="1557338"/>
            <a:ext cx="3348038" cy="2176462"/>
          </a:xfrm>
          <a:noFill/>
        </p:spPr>
        <p:txBody>
          <a:bodyPr/>
          <a:lstStyle/>
          <a:p>
            <a:pPr marL="0" indent="0">
              <a:spcBef>
                <a:spcPct val="0"/>
              </a:spcBef>
              <a:buClrTx/>
              <a:buFontTx/>
              <a:buNone/>
            </a:pPr>
            <a:r>
              <a:rPr lang="zh-CN" altLang="en-US">
                <a:ea typeface="宋体" panose="02010600030101010101" pitchFamily="2" charset="-122"/>
              </a:rPr>
              <a:t>如果价格降到</a:t>
            </a:r>
            <a:r>
              <a:rPr lang="zh-CN" altLang="ja-JP">
                <a:ea typeface="宋体" panose="02010600030101010101" pitchFamily="2" charset="-122"/>
              </a:rPr>
              <a:t>30,</a:t>
            </a:r>
          </a:p>
          <a:p>
            <a:pPr marL="0" indent="0">
              <a:spcBef>
                <a:spcPct val="30000"/>
              </a:spcBef>
              <a:buFont typeface="Wingdings" panose="05000000000000000000" pitchFamily="2" charset="2"/>
              <a:buNone/>
            </a:pPr>
            <a:r>
              <a:rPr lang="en-US" altLang="zh-CN">
                <a:ea typeface="宋体" panose="02010600030101010101" pitchFamily="2" charset="-122"/>
              </a:rPr>
              <a:t>PS = </a:t>
            </a:r>
            <a:r>
              <a:rPr lang="en-US" altLang="zh-CN" u="sng">
                <a:ea typeface="宋体" panose="02010600030101010101" pitchFamily="2" charset="-122"/>
              </a:rPr>
              <a:t>112.50</a:t>
            </a:r>
          </a:p>
          <a:p>
            <a:pPr marL="0" indent="0">
              <a:spcBef>
                <a:spcPct val="40000"/>
              </a:spcBef>
              <a:buFont typeface="Wingdings" panose="05000000000000000000" pitchFamily="2" charset="2"/>
              <a:buNone/>
            </a:pPr>
            <a:r>
              <a:rPr lang="zh-CN" altLang="en-US">
                <a:ea typeface="宋体" panose="02010600030101010101" pitchFamily="2" charset="-122"/>
              </a:rPr>
              <a:t>生产者剩余减少的原因两个原因：</a:t>
            </a:r>
            <a:endParaRPr lang="en-US" altLang="zh-CN">
              <a:ea typeface="宋体" panose="02010600030101010101" pitchFamily="2" charset="-122"/>
            </a:endParaRPr>
          </a:p>
        </p:txBody>
      </p:sp>
      <p:sp>
        <p:nvSpPr>
          <p:cNvPr id="116741" name="Line 14">
            <a:extLst>
              <a:ext uri="{FF2B5EF4-FFF2-40B4-BE49-F238E27FC236}">
                <a16:creationId xmlns:a16="http://schemas.microsoft.com/office/drawing/2014/main" id="{0FC3FF17-5373-4910-9511-35A5B5DA1FCC}"/>
              </a:ext>
            </a:extLst>
          </p:cNvPr>
          <p:cNvSpPr>
            <a:spLocks noChangeShapeType="1"/>
          </p:cNvSpPr>
          <p:nvPr/>
        </p:nvSpPr>
        <p:spPr bwMode="auto">
          <a:xfrm>
            <a:off x="4586288" y="3076575"/>
            <a:ext cx="2835275"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6" name="AutoShape 24">
            <a:extLst>
              <a:ext uri="{FF2B5EF4-FFF2-40B4-BE49-F238E27FC236}">
                <a16:creationId xmlns:a16="http://schemas.microsoft.com/office/drawing/2014/main" id="{0FDB63F5-B31B-4F34-916D-125C94E71758}"/>
              </a:ext>
            </a:extLst>
          </p:cNvPr>
          <p:cNvSpPr>
            <a:spLocks noChangeArrowheads="1"/>
          </p:cNvSpPr>
          <p:nvPr/>
        </p:nvSpPr>
        <p:spPr bwMode="auto">
          <a:xfrm flipV="1">
            <a:off x="4592638" y="3675063"/>
            <a:ext cx="1665287" cy="876300"/>
          </a:xfrm>
          <a:prstGeom prst="rtTriangle">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116743" name="Group 11">
            <a:extLst>
              <a:ext uri="{FF2B5EF4-FFF2-40B4-BE49-F238E27FC236}">
                <a16:creationId xmlns:a16="http://schemas.microsoft.com/office/drawing/2014/main" id="{2F5EFADD-E794-412F-83CB-287136661711}"/>
              </a:ext>
            </a:extLst>
          </p:cNvPr>
          <p:cNvGrpSpPr>
            <a:grpSpLocks/>
          </p:cNvGrpSpPr>
          <p:nvPr/>
        </p:nvGrpSpPr>
        <p:grpSpPr bwMode="auto">
          <a:xfrm>
            <a:off x="4586288" y="2178050"/>
            <a:ext cx="4219575" cy="2386013"/>
            <a:chOff x="0" y="0"/>
            <a:chExt cx="2658" cy="1503"/>
          </a:xfrm>
        </p:grpSpPr>
        <p:sp>
          <p:nvSpPr>
            <p:cNvPr id="116760" name="Line 10">
              <a:extLst>
                <a:ext uri="{FF2B5EF4-FFF2-40B4-BE49-F238E27FC236}">
                  <a16:creationId xmlns:a16="http://schemas.microsoft.com/office/drawing/2014/main" id="{7783A6C0-AB37-4B92-A892-E83A5811FCA3}"/>
                </a:ext>
              </a:extLst>
            </p:cNvPr>
            <p:cNvSpPr>
              <a:spLocks noChangeShapeType="1"/>
            </p:cNvSpPr>
            <p:nvPr/>
          </p:nvSpPr>
          <p:spPr bwMode="auto">
            <a:xfrm flipV="1">
              <a:off x="0" y="242"/>
              <a:ext cx="2401" cy="1261"/>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61" name="Rectangle 11">
              <a:extLst>
                <a:ext uri="{FF2B5EF4-FFF2-40B4-BE49-F238E27FC236}">
                  <a16:creationId xmlns:a16="http://schemas.microsoft.com/office/drawing/2014/main" id="{D405D521-7548-429D-9CB9-ECF05F251976}"/>
                </a:ext>
              </a:extLst>
            </p:cNvPr>
            <p:cNvSpPr>
              <a:spLocks noChangeArrowheads="1"/>
            </p:cNvSpPr>
            <p:nvPr/>
          </p:nvSpPr>
          <p:spPr bwMode="auto">
            <a:xfrm>
              <a:off x="2353" y="0"/>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S</a:t>
              </a:r>
            </a:p>
          </p:txBody>
        </p:sp>
      </p:grpSp>
      <p:grpSp>
        <p:nvGrpSpPr>
          <p:cNvPr id="4" name="Group 14">
            <a:extLst>
              <a:ext uri="{FF2B5EF4-FFF2-40B4-BE49-F238E27FC236}">
                <a16:creationId xmlns:a16="http://schemas.microsoft.com/office/drawing/2014/main" id="{0DFF8F48-6DE3-41E1-B03E-A821B3A5E750}"/>
              </a:ext>
            </a:extLst>
          </p:cNvPr>
          <p:cNvGrpSpPr>
            <a:grpSpLocks/>
          </p:cNvGrpSpPr>
          <p:nvPr/>
        </p:nvGrpSpPr>
        <p:grpSpPr bwMode="auto">
          <a:xfrm>
            <a:off x="3886200" y="3476625"/>
            <a:ext cx="2674938" cy="2676525"/>
            <a:chOff x="0" y="0"/>
            <a:chExt cx="1685" cy="1686"/>
          </a:xfrm>
        </p:grpSpPr>
        <p:grpSp>
          <p:nvGrpSpPr>
            <p:cNvPr id="116754" name="Group 15">
              <a:extLst>
                <a:ext uri="{FF2B5EF4-FFF2-40B4-BE49-F238E27FC236}">
                  <a16:creationId xmlns:a16="http://schemas.microsoft.com/office/drawing/2014/main" id="{A0D3734E-0E5A-41AC-933F-E865F644B345}"/>
                </a:ext>
              </a:extLst>
            </p:cNvPr>
            <p:cNvGrpSpPr>
              <a:grpSpLocks/>
            </p:cNvGrpSpPr>
            <p:nvPr/>
          </p:nvGrpSpPr>
          <p:grpSpPr bwMode="auto">
            <a:xfrm>
              <a:off x="1356" y="112"/>
              <a:ext cx="329" cy="1574"/>
              <a:chOff x="0" y="0"/>
              <a:chExt cx="329" cy="1574"/>
            </a:xfrm>
          </p:grpSpPr>
          <p:sp>
            <p:nvSpPr>
              <p:cNvPr id="116758" name="Line 16">
                <a:extLst>
                  <a:ext uri="{FF2B5EF4-FFF2-40B4-BE49-F238E27FC236}">
                    <a16:creationId xmlns:a16="http://schemas.microsoft.com/office/drawing/2014/main" id="{8CE249E1-F8FE-4A71-ADFF-817135554602}"/>
                  </a:ext>
                </a:extLst>
              </p:cNvPr>
              <p:cNvSpPr>
                <a:spLocks noChangeShapeType="1"/>
              </p:cNvSpPr>
              <p:nvPr/>
            </p:nvSpPr>
            <p:spPr bwMode="auto">
              <a:xfrm rot="5400000">
                <a:off x="-505" y="663"/>
                <a:ext cx="1326"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9" name="Rectangle 17">
                <a:extLst>
                  <a:ext uri="{FF2B5EF4-FFF2-40B4-BE49-F238E27FC236}">
                    <a16:creationId xmlns:a16="http://schemas.microsoft.com/office/drawing/2014/main" id="{16C1EE8A-B13D-4E43-8C8C-F7AC6EF9322C}"/>
                  </a:ext>
                </a:extLst>
              </p:cNvPr>
              <p:cNvSpPr>
                <a:spLocks noChangeArrowheads="1"/>
              </p:cNvSpPr>
              <p:nvPr/>
            </p:nvSpPr>
            <p:spPr bwMode="auto">
              <a:xfrm>
                <a:off x="0" y="1326"/>
                <a:ext cx="329" cy="24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116755" name="Group 18">
              <a:extLst>
                <a:ext uri="{FF2B5EF4-FFF2-40B4-BE49-F238E27FC236}">
                  <a16:creationId xmlns:a16="http://schemas.microsoft.com/office/drawing/2014/main" id="{14B59DC7-DD1D-453E-B2C3-DAE7E00C2C8B}"/>
                </a:ext>
              </a:extLst>
            </p:cNvPr>
            <p:cNvGrpSpPr>
              <a:grpSpLocks/>
            </p:cNvGrpSpPr>
            <p:nvPr/>
          </p:nvGrpSpPr>
          <p:grpSpPr bwMode="auto">
            <a:xfrm>
              <a:off x="0" y="0"/>
              <a:ext cx="1517" cy="248"/>
              <a:chOff x="0" y="0"/>
              <a:chExt cx="1517" cy="248"/>
            </a:xfrm>
          </p:grpSpPr>
          <p:sp>
            <p:nvSpPr>
              <p:cNvPr id="116756" name="Line 19">
                <a:extLst>
                  <a:ext uri="{FF2B5EF4-FFF2-40B4-BE49-F238E27FC236}">
                    <a16:creationId xmlns:a16="http://schemas.microsoft.com/office/drawing/2014/main" id="{BAFBDC7C-7A37-4329-8DD1-0F3ABDF5C65F}"/>
                  </a:ext>
                </a:extLst>
              </p:cNvPr>
              <p:cNvSpPr>
                <a:spLocks noChangeShapeType="1"/>
              </p:cNvSpPr>
              <p:nvPr/>
            </p:nvSpPr>
            <p:spPr bwMode="auto">
              <a:xfrm>
                <a:off x="326" y="122"/>
                <a:ext cx="1191"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7" name="Rectangle 20">
                <a:extLst>
                  <a:ext uri="{FF2B5EF4-FFF2-40B4-BE49-F238E27FC236}">
                    <a16:creationId xmlns:a16="http://schemas.microsoft.com/office/drawing/2014/main" id="{245241E7-18F5-4BF6-9914-4344035A2EEF}"/>
                  </a:ext>
                </a:extLst>
              </p:cNvPr>
              <p:cNvSpPr>
                <a:spLocks noChangeArrowheads="1"/>
              </p:cNvSpPr>
              <p:nvPr/>
            </p:nvSpPr>
            <p:spPr bwMode="auto">
              <a:xfrm>
                <a:off x="0" y="0"/>
                <a:ext cx="329" cy="24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sp>
        <p:nvSpPr>
          <p:cNvPr id="50197" name="AutoShape 25">
            <a:extLst>
              <a:ext uri="{FF2B5EF4-FFF2-40B4-BE49-F238E27FC236}">
                <a16:creationId xmlns:a16="http://schemas.microsoft.com/office/drawing/2014/main" id="{52CF98DE-93BB-4E06-ACCB-DB60FC616C7C}"/>
              </a:ext>
            </a:extLst>
          </p:cNvPr>
          <p:cNvSpPr>
            <a:spLocks noChangeArrowheads="1"/>
          </p:cNvSpPr>
          <p:nvPr/>
        </p:nvSpPr>
        <p:spPr bwMode="auto">
          <a:xfrm flipV="1">
            <a:off x="6292850" y="3086100"/>
            <a:ext cx="1068388" cy="552450"/>
          </a:xfrm>
          <a:prstGeom prst="rtTriangle">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50198" name="Rectangle 26">
            <a:extLst>
              <a:ext uri="{FF2B5EF4-FFF2-40B4-BE49-F238E27FC236}">
                <a16:creationId xmlns:a16="http://schemas.microsoft.com/office/drawing/2014/main" id="{E2BB4B14-098C-4B86-B389-CF262044DA22}"/>
              </a:ext>
            </a:extLst>
          </p:cNvPr>
          <p:cNvSpPr>
            <a:spLocks noChangeArrowheads="1"/>
          </p:cNvSpPr>
          <p:nvPr/>
        </p:nvSpPr>
        <p:spPr bwMode="auto">
          <a:xfrm>
            <a:off x="4594225" y="3084513"/>
            <a:ext cx="1692275" cy="568325"/>
          </a:xfrm>
          <a:prstGeom prst="rect">
            <a:avLst/>
          </a:prstGeom>
          <a:blipFill dpi="0" rotWithShape="0">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7" name="Group 23">
            <a:extLst>
              <a:ext uri="{FF2B5EF4-FFF2-40B4-BE49-F238E27FC236}">
                <a16:creationId xmlns:a16="http://schemas.microsoft.com/office/drawing/2014/main" id="{A433E091-8B58-4156-A965-205B895CCBE7}"/>
              </a:ext>
            </a:extLst>
          </p:cNvPr>
          <p:cNvGrpSpPr>
            <a:grpSpLocks/>
          </p:cNvGrpSpPr>
          <p:nvPr/>
        </p:nvGrpSpPr>
        <p:grpSpPr bwMode="auto">
          <a:xfrm>
            <a:off x="5353050" y="1350963"/>
            <a:ext cx="2630488" cy="1893887"/>
            <a:chOff x="0" y="0"/>
            <a:chExt cx="1657" cy="1193"/>
          </a:xfrm>
        </p:grpSpPr>
        <p:sp>
          <p:nvSpPr>
            <p:cNvPr id="116752" name="Line 28">
              <a:extLst>
                <a:ext uri="{FF2B5EF4-FFF2-40B4-BE49-F238E27FC236}">
                  <a16:creationId xmlns:a16="http://schemas.microsoft.com/office/drawing/2014/main" id="{1A195BFB-9DB6-47DE-A8D5-7C120B495718}"/>
                </a:ext>
              </a:extLst>
            </p:cNvPr>
            <p:cNvSpPr>
              <a:spLocks noChangeShapeType="1"/>
            </p:cNvSpPr>
            <p:nvPr/>
          </p:nvSpPr>
          <p:spPr bwMode="auto">
            <a:xfrm flipH="1" flipV="1">
              <a:off x="800" y="700"/>
              <a:ext cx="52" cy="493"/>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3" name="Text Box 29">
              <a:extLst>
                <a:ext uri="{FF2B5EF4-FFF2-40B4-BE49-F238E27FC236}">
                  <a16:creationId xmlns:a16="http://schemas.microsoft.com/office/drawing/2014/main" id="{37880509-CA9B-4704-9E44-574CC51025F0}"/>
                </a:ext>
              </a:extLst>
            </p:cNvPr>
            <p:cNvSpPr txBox="1">
              <a:spLocks noChangeArrowheads="1"/>
            </p:cNvSpPr>
            <p:nvPr/>
          </p:nvSpPr>
          <p:spPr bwMode="auto">
            <a:xfrm>
              <a:off x="0" y="0"/>
              <a:ext cx="1657" cy="754"/>
            </a:xfrm>
            <a:prstGeom prst="rect">
              <a:avLst/>
            </a:prstGeom>
            <a:solidFill>
              <a:srgbClr val="FFFFCC"/>
            </a:solidFill>
            <a:ln w="9525">
              <a:solidFill>
                <a:srgbClr val="3333FF"/>
              </a:solidFill>
              <a:miter lim="800000"/>
              <a:headEnd/>
              <a:tailEnd/>
            </a:ln>
          </p:spPr>
          <p:txBody>
            <a:bodyPr>
              <a:spAutoFit/>
            </a:bodyPr>
            <a:lstStyle>
              <a:lvl1pPr marL="403225" indent="-403225">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FontTx/>
                <a:buNone/>
              </a:pPr>
              <a:r>
                <a:rPr lang="en-US" altLang="zh-CN" sz="2400" b="0" dirty="0">
                  <a:latin typeface="Arial" panose="020B0604020202020204" pitchFamily="34" charset="0"/>
                </a:rPr>
                <a:t>1.</a:t>
              </a:r>
              <a:r>
                <a:rPr lang="zh-CN" altLang="en-US" sz="2400" b="0" dirty="0">
                  <a:latin typeface="Arial" panose="020B0604020202020204" pitchFamily="34" charset="0"/>
                </a:rPr>
                <a:t>卖者离开市场减少的生产者剩余</a:t>
              </a:r>
              <a:endParaRPr lang="en-US" altLang="zh-CN" sz="2400" b="0" dirty="0">
                <a:latin typeface="Arial" panose="020B0604020202020204" pitchFamily="34" charset="0"/>
              </a:endParaRPr>
            </a:p>
          </p:txBody>
        </p:sp>
      </p:grpSp>
      <p:grpSp>
        <p:nvGrpSpPr>
          <p:cNvPr id="8" name="Group 26">
            <a:extLst>
              <a:ext uri="{FF2B5EF4-FFF2-40B4-BE49-F238E27FC236}">
                <a16:creationId xmlns:a16="http://schemas.microsoft.com/office/drawing/2014/main" id="{BACA3E74-4DCF-4568-9E6E-D0DFFBA606F9}"/>
              </a:ext>
            </a:extLst>
          </p:cNvPr>
          <p:cNvGrpSpPr>
            <a:grpSpLocks/>
          </p:cNvGrpSpPr>
          <p:nvPr/>
        </p:nvGrpSpPr>
        <p:grpSpPr bwMode="auto">
          <a:xfrm>
            <a:off x="790575" y="3454400"/>
            <a:ext cx="4398963" cy="2247900"/>
            <a:chOff x="128" y="0"/>
            <a:chExt cx="2771" cy="1416"/>
          </a:xfrm>
        </p:grpSpPr>
        <p:sp>
          <p:nvSpPr>
            <p:cNvPr id="116750" name="Line 31">
              <a:extLst>
                <a:ext uri="{FF2B5EF4-FFF2-40B4-BE49-F238E27FC236}">
                  <a16:creationId xmlns:a16="http://schemas.microsoft.com/office/drawing/2014/main" id="{911E2EF4-38CA-4139-B89B-4E5E8D7AD444}"/>
                </a:ext>
              </a:extLst>
            </p:cNvPr>
            <p:cNvSpPr>
              <a:spLocks noChangeShapeType="1"/>
            </p:cNvSpPr>
            <p:nvPr/>
          </p:nvSpPr>
          <p:spPr bwMode="auto">
            <a:xfrm flipV="1">
              <a:off x="1672" y="0"/>
              <a:ext cx="1227" cy="688"/>
            </a:xfrm>
            <a:prstGeom prst="line">
              <a:avLst/>
            </a:prstGeom>
            <a:noFill/>
            <a:ln w="12700">
              <a:solidFill>
                <a:srgbClr val="00CC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51" name="Text Box 32">
              <a:extLst>
                <a:ext uri="{FF2B5EF4-FFF2-40B4-BE49-F238E27FC236}">
                  <a16:creationId xmlns:a16="http://schemas.microsoft.com/office/drawing/2014/main" id="{1A126413-7F10-4AE9-88D9-27EA21211D82}"/>
                </a:ext>
              </a:extLst>
            </p:cNvPr>
            <p:cNvSpPr txBox="1">
              <a:spLocks noChangeArrowheads="1"/>
            </p:cNvSpPr>
            <p:nvPr/>
          </p:nvSpPr>
          <p:spPr bwMode="auto">
            <a:xfrm>
              <a:off x="128" y="432"/>
              <a:ext cx="1739" cy="984"/>
            </a:xfrm>
            <a:prstGeom prst="rect">
              <a:avLst/>
            </a:prstGeom>
            <a:solidFill>
              <a:srgbClr val="FFFFCC"/>
            </a:solidFill>
            <a:ln w="9525">
              <a:solidFill>
                <a:srgbClr val="00CC00"/>
              </a:solidFill>
              <a:miter lim="800000"/>
              <a:headEnd/>
              <a:tailEnd/>
            </a:ln>
          </p:spPr>
          <p:txBody>
            <a:bodyPr wrap="square">
              <a:spAutoFit/>
            </a:bodyPr>
            <a:lstStyle>
              <a:lvl1pPr marL="403225" indent="-403225">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FontTx/>
                <a:buNone/>
              </a:pPr>
              <a:r>
                <a:rPr lang="en-US" altLang="zh-CN" sz="2400" b="0" dirty="0">
                  <a:latin typeface="Arial" panose="020B0604020202020204" pitchFamily="34" charset="0"/>
                </a:rPr>
                <a:t>2.</a:t>
              </a:r>
              <a:r>
                <a:rPr lang="zh-CN" altLang="en-US" sz="2400" b="0" dirty="0">
                  <a:latin typeface="Arial" panose="020B0604020202020204" pitchFamily="34" charset="0"/>
                </a:rPr>
                <a:t>仍留在市场的卖者只能得到更低的价格所引起生产者剩余的减少</a:t>
              </a:r>
              <a:endParaRPr lang="en-US" altLang="zh-CN" sz="2400" i="1" dirty="0">
                <a:latin typeface="Arial" panose="020B0604020202020204" pitchFamily="34" charset="0"/>
              </a:endParaRPr>
            </a:p>
          </p:txBody>
        </p:sp>
      </p:grpSp>
      <p:sp>
        <p:nvSpPr>
          <p:cNvPr id="116749" name="Title 1">
            <a:extLst>
              <a:ext uri="{FF2B5EF4-FFF2-40B4-BE49-F238E27FC236}">
                <a16:creationId xmlns:a16="http://schemas.microsoft.com/office/drawing/2014/main" id="{88B55574-6B7C-415A-AC1A-F85886E1F952}"/>
              </a:ext>
            </a:extLst>
          </p:cNvPr>
          <p:cNvSpPr txBox="1">
            <a:spLocks/>
          </p:cNvSpPr>
          <p:nvPr/>
        </p:nvSpPr>
        <p:spPr bwMode="auto">
          <a:xfrm>
            <a:off x="2362200" y="228600"/>
            <a:ext cx="4297363"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生产者剩余和供给曲线</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184">
                                            <p:txEl>
                                              <p:pRg st="0" end="0"/>
                                            </p:txEl>
                                          </p:spTgt>
                                        </p:tgtEl>
                                        <p:attrNameLst>
                                          <p:attrName>style.visibility</p:attrName>
                                        </p:attrNameLst>
                                      </p:cBhvr>
                                      <p:to>
                                        <p:strVal val="visible"/>
                                      </p:to>
                                    </p:set>
                                    <p:animEffect transition="in" filter="wipe(left)">
                                      <p:cBhvr>
                                        <p:cTn id="7" dur="500"/>
                                        <p:tgtEl>
                                          <p:spTgt spid="50184">
                                            <p:txEl>
                                              <p:pRg st="0" end="0"/>
                                            </p:txEl>
                                          </p:spTgt>
                                        </p:tgtEl>
                                      </p:cBhvr>
                                    </p:animEffect>
                                  </p:childTnLst>
                                </p:cTn>
                              </p:par>
                            </p:childTnLst>
                          </p:cTn>
                        </p:par>
                        <p:par>
                          <p:cTn id="8" fill="hold" nodeType="after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0184">
                                            <p:txEl>
                                              <p:pRg st="1" end="1"/>
                                            </p:txEl>
                                          </p:spTgt>
                                        </p:tgtEl>
                                        <p:attrNameLst>
                                          <p:attrName>style.visibility</p:attrName>
                                        </p:attrNameLst>
                                      </p:cBhvr>
                                      <p:to>
                                        <p:strVal val="visible"/>
                                      </p:to>
                                    </p:set>
                                    <p:animEffect transition="in" filter="wipe(left)">
                                      <p:cBhvr>
                                        <p:cTn id="16" dur="500"/>
                                        <p:tgtEl>
                                          <p:spTgt spid="50184">
                                            <p:txEl>
                                              <p:pRg st="1" end="1"/>
                                            </p:txEl>
                                          </p:spTgt>
                                        </p:tgtEl>
                                      </p:cBhvr>
                                    </p:animEffect>
                                  </p:childTnLst>
                                </p:cTn>
                              </p:par>
                            </p:childTnLst>
                          </p:cTn>
                        </p:par>
                        <p:par>
                          <p:cTn id="17" fill="hold" nodeType="afterGroup">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50186"/>
                                        </p:tgtEl>
                                        <p:attrNameLst>
                                          <p:attrName>style.visibility</p:attrName>
                                        </p:attrNameLst>
                                      </p:cBhvr>
                                      <p:to>
                                        <p:strVal val="visible"/>
                                      </p:to>
                                    </p:set>
                                    <p:animEffect transition="in" filter="dissolve">
                                      <p:cBhvr>
                                        <p:cTn id="20" dur="500"/>
                                        <p:tgtEl>
                                          <p:spTgt spid="5018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0184">
                                            <p:txEl>
                                              <p:pRg st="2" end="2"/>
                                            </p:txEl>
                                          </p:spTgt>
                                        </p:tgtEl>
                                        <p:attrNameLst>
                                          <p:attrName>style.visibility</p:attrName>
                                        </p:attrNameLst>
                                      </p:cBhvr>
                                      <p:to>
                                        <p:strVal val="visible"/>
                                      </p:to>
                                    </p:set>
                                    <p:animEffect transition="in" filter="wipe(left)">
                                      <p:cBhvr>
                                        <p:cTn id="25" dur="500"/>
                                        <p:tgtEl>
                                          <p:spTgt spid="50184">
                                            <p:txEl>
                                              <p:pRg st="2" end="2"/>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dissolve">
                                      <p:cBhvr>
                                        <p:cTn id="30" dur="500"/>
                                        <p:tgtEl>
                                          <p:spTgt spid="7"/>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50197"/>
                                        </p:tgtEl>
                                        <p:attrNameLst>
                                          <p:attrName>style.visibility</p:attrName>
                                        </p:attrNameLst>
                                      </p:cBhvr>
                                      <p:to>
                                        <p:strVal val="visible"/>
                                      </p:to>
                                    </p:set>
                                    <p:animEffect transition="in" filter="dissolve">
                                      <p:cBhvr>
                                        <p:cTn id="33" dur="500"/>
                                        <p:tgtEl>
                                          <p:spTgt spid="5019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dissolve">
                                      <p:cBhvr>
                                        <p:cTn id="38" dur="500"/>
                                        <p:tgtEl>
                                          <p:spTgt spid="8"/>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0198"/>
                                        </p:tgtEl>
                                        <p:attrNameLst>
                                          <p:attrName>style.visibility</p:attrName>
                                        </p:attrNameLst>
                                      </p:cBhvr>
                                      <p:to>
                                        <p:strVal val="visible"/>
                                      </p:to>
                                    </p:set>
                                    <p:animEffect transition="in" filter="dissolve">
                                      <p:cBhvr>
                                        <p:cTn id="41" dur="500"/>
                                        <p:tgtEl>
                                          <p:spTgt spid="50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 grpId="0" build="p" autoUpdateAnimBg="0"/>
      <p:bldP spid="50186" grpId="0" animBg="1" autoUpdateAnimBg="0"/>
      <p:bldP spid="50197" grpId="0" animBg="1" autoUpdateAnimBg="0"/>
      <p:bldP spid="50198" grpId="0" animBg="1"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1" name="Rectangle 6">
            <a:extLst>
              <a:ext uri="{FF2B5EF4-FFF2-40B4-BE49-F238E27FC236}">
                <a16:creationId xmlns:a16="http://schemas.microsoft.com/office/drawing/2014/main" id="{CE3B7CF0-EC00-41F0-B303-D0D9DA22B2F5}"/>
              </a:ext>
            </a:extLst>
          </p:cNvPr>
          <p:cNvSpPr>
            <a:spLocks noGrp="1" noChangeArrowheads="1"/>
          </p:cNvSpPr>
          <p:nvPr>
            <p:ph type="body" idx="4294967295"/>
          </p:nvPr>
        </p:nvSpPr>
        <p:spPr>
          <a:xfrm>
            <a:off x="899746" y="1412875"/>
            <a:ext cx="8037880" cy="4824320"/>
          </a:xfrm>
          <a:noFill/>
        </p:spPr>
        <p:txBody>
          <a:bodyPr/>
          <a:lstStyle/>
          <a:p>
            <a:pPr marL="685800" indent="-685800">
              <a:buFont typeface="Wingdings" panose="05000000000000000000" pitchFamily="2" charset="2"/>
              <a:buNone/>
            </a:pPr>
            <a:r>
              <a:rPr lang="en-US" altLang="zh-CN" dirty="0">
                <a:solidFill>
                  <a:schemeClr val="accent5">
                    <a:lumMod val="25000"/>
                  </a:schemeClr>
                </a:solidFill>
                <a:ea typeface="宋体" panose="02010600030101010101" pitchFamily="2" charset="-122"/>
              </a:rPr>
              <a:t>CS  = </a:t>
            </a:r>
            <a:r>
              <a:rPr lang="zh-CN" altLang="en-US" dirty="0">
                <a:solidFill>
                  <a:schemeClr val="accent5">
                    <a:lumMod val="25000"/>
                  </a:schemeClr>
                </a:solidFill>
                <a:ea typeface="宋体" panose="02010600030101010101" pitchFamily="2" charset="-122"/>
              </a:rPr>
              <a:t>买者的评价</a:t>
            </a:r>
            <a:r>
              <a:rPr lang="zh-CN" altLang="ja-JP" dirty="0">
                <a:solidFill>
                  <a:schemeClr val="accent5">
                    <a:lumMod val="25000"/>
                  </a:schemeClr>
                </a:solidFill>
                <a:ea typeface="宋体" panose="02010600030101010101" pitchFamily="2" charset="-122"/>
              </a:rPr>
              <a:t> – </a:t>
            </a:r>
            <a:r>
              <a:rPr lang="zh-CN" altLang="en-US" dirty="0">
                <a:solidFill>
                  <a:schemeClr val="accent5">
                    <a:lumMod val="25000"/>
                  </a:schemeClr>
                </a:solidFill>
                <a:ea typeface="宋体" panose="02010600030101010101" pitchFamily="2" charset="-122"/>
              </a:rPr>
              <a:t>买者支付的金额</a:t>
            </a:r>
            <a:endParaRPr lang="zh-CN" altLang="ja-JP" dirty="0">
              <a:solidFill>
                <a:schemeClr val="accent5">
                  <a:lumMod val="25000"/>
                </a:schemeClr>
              </a:solidFill>
              <a:ea typeface="宋体" panose="02010600030101010101" pitchFamily="2" charset="-122"/>
            </a:endParaRPr>
          </a:p>
          <a:p>
            <a:pPr marL="685800" indent="-685800">
              <a:spcBef>
                <a:spcPct val="25000"/>
              </a:spcBef>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买者参与市场得到的收益</a:t>
            </a:r>
            <a:endParaRPr lang="en-US" altLang="zh-CN" dirty="0">
              <a:solidFill>
                <a:schemeClr val="accent5">
                  <a:lumMod val="25000"/>
                </a:schemeClr>
              </a:solidFill>
              <a:ea typeface="宋体" panose="02010600030101010101" pitchFamily="2" charset="-122"/>
            </a:endParaRPr>
          </a:p>
          <a:p>
            <a:pPr marL="685800" indent="-685800">
              <a:spcBef>
                <a:spcPct val="70000"/>
              </a:spcBef>
              <a:buFont typeface="Wingdings" panose="05000000000000000000" pitchFamily="2" charset="2"/>
              <a:buNone/>
            </a:pPr>
            <a:r>
              <a:rPr lang="en-US" altLang="zh-CN" dirty="0">
                <a:solidFill>
                  <a:schemeClr val="accent5">
                    <a:lumMod val="25000"/>
                  </a:schemeClr>
                </a:solidFill>
                <a:ea typeface="宋体" panose="02010600030101010101" pitchFamily="2" charset="-122"/>
              </a:rPr>
              <a:t>PS  = </a:t>
            </a:r>
            <a:r>
              <a:rPr lang="zh-CN" altLang="en-US" dirty="0">
                <a:solidFill>
                  <a:schemeClr val="accent5">
                    <a:lumMod val="25000"/>
                  </a:schemeClr>
                </a:solidFill>
                <a:ea typeface="宋体" panose="02010600030101010101" pitchFamily="2" charset="-122"/>
              </a:rPr>
              <a:t>卖者得到的金额</a:t>
            </a:r>
            <a:r>
              <a:rPr lang="zh-CN" altLang="ja-JP" dirty="0">
                <a:solidFill>
                  <a:schemeClr val="accent5">
                    <a:lumMod val="25000"/>
                  </a:schemeClr>
                </a:solidFill>
                <a:ea typeface="宋体" panose="02010600030101010101" pitchFamily="2" charset="-122"/>
              </a:rPr>
              <a:t> – </a:t>
            </a:r>
            <a:r>
              <a:rPr lang="zh-CN" altLang="en-US" dirty="0">
                <a:solidFill>
                  <a:schemeClr val="accent5">
                    <a:lumMod val="25000"/>
                  </a:schemeClr>
                </a:solidFill>
                <a:ea typeface="宋体" panose="02010600030101010101" pitchFamily="2" charset="-122"/>
              </a:rPr>
              <a:t>卖者的成本</a:t>
            </a:r>
            <a:endParaRPr lang="zh-CN" altLang="ja-JP" dirty="0">
              <a:solidFill>
                <a:schemeClr val="accent5">
                  <a:lumMod val="25000"/>
                </a:schemeClr>
              </a:solidFill>
              <a:ea typeface="宋体" panose="02010600030101010101" pitchFamily="2" charset="-122"/>
            </a:endParaRPr>
          </a:p>
          <a:p>
            <a:pPr marL="685800" indent="-685800">
              <a:spcBef>
                <a:spcPct val="25000"/>
              </a:spcBef>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卖者参与市场得到的收益</a:t>
            </a:r>
            <a:endParaRPr lang="en-US" altLang="zh-CN" dirty="0">
              <a:solidFill>
                <a:schemeClr val="accent5">
                  <a:lumMod val="25000"/>
                </a:schemeClr>
              </a:solidFill>
              <a:ea typeface="宋体" panose="02010600030101010101" pitchFamily="2" charset="-122"/>
            </a:endParaRPr>
          </a:p>
          <a:p>
            <a:pPr marL="685800" indent="-685800">
              <a:spcBef>
                <a:spcPct val="70000"/>
              </a:spcBef>
              <a:buFont typeface="Wingdings" panose="05000000000000000000" pitchFamily="2" charset="2"/>
              <a:buNone/>
            </a:pPr>
            <a:r>
              <a:rPr lang="zh-CN" altLang="en-US" dirty="0">
                <a:solidFill>
                  <a:schemeClr val="accent5">
                    <a:lumMod val="25000"/>
                  </a:schemeClr>
                </a:solidFill>
                <a:ea typeface="宋体" panose="02010600030101010101" pitchFamily="2" charset="-122"/>
              </a:rPr>
              <a:t>社会总福利</a:t>
            </a:r>
            <a:r>
              <a:rPr lang="zh-CN" altLang="ja-JP" dirty="0">
                <a:solidFill>
                  <a:schemeClr val="accent5">
                    <a:lumMod val="25000"/>
                  </a:schemeClr>
                </a:solidFill>
                <a:ea typeface="宋体" panose="02010600030101010101" pitchFamily="2" charset="-122"/>
              </a:rPr>
              <a:t>= CS + PS</a:t>
            </a:r>
          </a:p>
          <a:p>
            <a:pPr marL="685800" indent="-685800">
              <a:spcBef>
                <a:spcPct val="25000"/>
              </a:spcBef>
              <a:buFont typeface="Wingdings" panose="05000000000000000000" pitchFamily="2" charset="2"/>
              <a:buNone/>
            </a:pPr>
            <a:r>
              <a:rPr lang="en-US" altLang="zh-CN" dirty="0">
                <a:solidFill>
                  <a:schemeClr val="accent5">
                    <a:lumMod val="25000"/>
                  </a:schemeClr>
                </a:solidFill>
                <a:ea typeface="宋体" panose="02010600030101010101" pitchFamily="2" charset="-122"/>
              </a:rPr>
              <a:t>	= </a:t>
            </a:r>
            <a:r>
              <a:rPr lang="zh-CN" altLang="en-US" dirty="0">
                <a:solidFill>
                  <a:schemeClr val="accent5">
                    <a:lumMod val="25000"/>
                  </a:schemeClr>
                </a:solidFill>
                <a:ea typeface="宋体" panose="02010600030101010101" pitchFamily="2" charset="-122"/>
              </a:rPr>
              <a:t>参与市场交易得到的总收益</a:t>
            </a:r>
            <a:endParaRPr lang="en-US" altLang="zh-CN" dirty="0">
              <a:solidFill>
                <a:schemeClr val="accent5">
                  <a:lumMod val="25000"/>
                </a:schemeClr>
              </a:solidFill>
              <a:ea typeface="宋体" panose="02010600030101010101" pitchFamily="2" charset="-122"/>
            </a:endParaRPr>
          </a:p>
          <a:p>
            <a:pPr marL="685800" indent="-685800">
              <a:spcBef>
                <a:spcPct val="25000"/>
              </a:spcBef>
              <a:buFont typeface="Wingdings" panose="05000000000000000000" pitchFamily="2" charset="2"/>
              <a:buNone/>
            </a:pPr>
            <a:r>
              <a:rPr lang="en-US" altLang="zh-CN" dirty="0">
                <a:solidFill>
                  <a:schemeClr val="accent5">
                    <a:lumMod val="25000"/>
                  </a:schemeClr>
                </a:solidFill>
                <a:ea typeface="宋体" panose="02010600030101010101" pitchFamily="2" charset="-122"/>
              </a:rPr>
              <a:t>	= </a:t>
            </a:r>
            <a:r>
              <a:rPr lang="zh-CN" altLang="en-US" dirty="0">
                <a:solidFill>
                  <a:schemeClr val="accent5">
                    <a:lumMod val="25000"/>
                  </a:schemeClr>
                </a:solidFill>
                <a:ea typeface="宋体" panose="02010600030101010101" pitchFamily="2" charset="-122"/>
              </a:rPr>
              <a:t>买者的评价</a:t>
            </a:r>
            <a:r>
              <a:rPr lang="zh-CN" altLang="ja-JP" dirty="0">
                <a:solidFill>
                  <a:schemeClr val="accent5">
                    <a:lumMod val="25000"/>
                  </a:schemeClr>
                </a:solidFill>
                <a:ea typeface="宋体" panose="02010600030101010101" pitchFamily="2" charset="-122"/>
              </a:rPr>
              <a:t> – </a:t>
            </a:r>
            <a:r>
              <a:rPr lang="zh-CN" altLang="en-US" dirty="0">
                <a:solidFill>
                  <a:schemeClr val="accent5">
                    <a:lumMod val="25000"/>
                  </a:schemeClr>
                </a:solidFill>
                <a:ea typeface="宋体" panose="02010600030101010101" pitchFamily="2" charset="-122"/>
              </a:rPr>
              <a:t>卖者的成本</a:t>
            </a:r>
            <a:endParaRPr lang="en-US" altLang="zh-CN" dirty="0">
              <a:solidFill>
                <a:schemeClr val="accent5">
                  <a:lumMod val="25000"/>
                </a:schemeClr>
              </a:solidFill>
              <a:ea typeface="宋体" panose="02010600030101010101" pitchFamily="2" charset="-122"/>
            </a:endParaRPr>
          </a:p>
        </p:txBody>
      </p:sp>
      <p:sp>
        <p:nvSpPr>
          <p:cNvPr id="117763" name="Title 1">
            <a:extLst>
              <a:ext uri="{FF2B5EF4-FFF2-40B4-BE49-F238E27FC236}">
                <a16:creationId xmlns:a16="http://schemas.microsoft.com/office/drawing/2014/main" id="{CE238939-A481-42B7-80AA-90B4057B3604}"/>
              </a:ext>
            </a:extLst>
          </p:cNvPr>
          <p:cNvSpPr txBox="1">
            <a:spLocks/>
          </p:cNvSpPr>
          <p:nvPr/>
        </p:nvSpPr>
        <p:spPr bwMode="auto">
          <a:xfrm>
            <a:off x="1171523" y="476795"/>
            <a:ext cx="5967412"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dirty="0">
                <a:latin typeface="Arial" panose="020B0604020202020204" pitchFamily="34" charset="0"/>
              </a:rPr>
              <a:t>社会总福利</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wipe(left)">
                                      <p:cBhvr>
                                        <p:cTn id="7" dur="500"/>
                                        <p:tgtEl>
                                          <p:spTgt spid="532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1">
                                            <p:txEl>
                                              <p:pRg st="1" end="1"/>
                                            </p:txEl>
                                          </p:spTgt>
                                        </p:tgtEl>
                                        <p:attrNameLst>
                                          <p:attrName>style.visibility</p:attrName>
                                        </p:attrNameLst>
                                      </p:cBhvr>
                                      <p:to>
                                        <p:strVal val="visible"/>
                                      </p:to>
                                    </p:set>
                                    <p:animEffect transition="in" filter="wipe(left)">
                                      <p:cBhvr>
                                        <p:cTn id="12" dur="500"/>
                                        <p:tgtEl>
                                          <p:spTgt spid="532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251">
                                            <p:txEl>
                                              <p:pRg st="2" end="2"/>
                                            </p:txEl>
                                          </p:spTgt>
                                        </p:tgtEl>
                                        <p:attrNameLst>
                                          <p:attrName>style.visibility</p:attrName>
                                        </p:attrNameLst>
                                      </p:cBhvr>
                                      <p:to>
                                        <p:strVal val="visible"/>
                                      </p:to>
                                    </p:set>
                                    <p:animEffect transition="in" filter="wipe(left)">
                                      <p:cBhvr>
                                        <p:cTn id="17" dur="500"/>
                                        <p:tgtEl>
                                          <p:spTgt spid="532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251">
                                            <p:txEl>
                                              <p:pRg st="3" end="3"/>
                                            </p:txEl>
                                          </p:spTgt>
                                        </p:tgtEl>
                                        <p:attrNameLst>
                                          <p:attrName>style.visibility</p:attrName>
                                        </p:attrNameLst>
                                      </p:cBhvr>
                                      <p:to>
                                        <p:strVal val="visible"/>
                                      </p:to>
                                    </p:set>
                                    <p:animEffect transition="in" filter="wipe(left)">
                                      <p:cBhvr>
                                        <p:cTn id="22" dur="500"/>
                                        <p:tgtEl>
                                          <p:spTgt spid="532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251">
                                            <p:txEl>
                                              <p:pRg st="4" end="4"/>
                                            </p:txEl>
                                          </p:spTgt>
                                        </p:tgtEl>
                                        <p:attrNameLst>
                                          <p:attrName>style.visibility</p:attrName>
                                        </p:attrNameLst>
                                      </p:cBhvr>
                                      <p:to>
                                        <p:strVal val="visible"/>
                                      </p:to>
                                    </p:set>
                                    <p:animEffect transition="in" filter="wipe(left)">
                                      <p:cBhvr>
                                        <p:cTn id="27" dur="500"/>
                                        <p:tgtEl>
                                          <p:spTgt spid="5325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251">
                                            <p:txEl>
                                              <p:pRg st="5" end="5"/>
                                            </p:txEl>
                                          </p:spTgt>
                                        </p:tgtEl>
                                        <p:attrNameLst>
                                          <p:attrName>style.visibility</p:attrName>
                                        </p:attrNameLst>
                                      </p:cBhvr>
                                      <p:to>
                                        <p:strVal val="visible"/>
                                      </p:to>
                                    </p:set>
                                    <p:animEffect transition="in" filter="wipe(left)">
                                      <p:cBhvr>
                                        <p:cTn id="32" dur="500"/>
                                        <p:tgtEl>
                                          <p:spTgt spid="5325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3251">
                                            <p:txEl>
                                              <p:pRg st="6" end="6"/>
                                            </p:txEl>
                                          </p:spTgt>
                                        </p:tgtEl>
                                        <p:attrNameLst>
                                          <p:attrName>style.visibility</p:attrName>
                                        </p:attrNameLst>
                                      </p:cBhvr>
                                      <p:to>
                                        <p:strVal val="visible"/>
                                      </p:to>
                                    </p:set>
                                    <p:animEffect transition="in" filter="wipe(left)">
                                      <p:cBhvr>
                                        <p:cTn id="37" dur="500"/>
                                        <p:tgtEl>
                                          <p:spTgt spid="532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bldLvl="5"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3">
            <a:extLst>
              <a:ext uri="{FF2B5EF4-FFF2-40B4-BE49-F238E27FC236}">
                <a16:creationId xmlns:a16="http://schemas.microsoft.com/office/drawing/2014/main" id="{99A3935B-D3CB-4B7A-8880-0FAA597ED584}"/>
              </a:ext>
            </a:extLst>
          </p:cNvPr>
          <p:cNvSpPr>
            <a:spLocks noGrp="1" noChangeArrowheads="1"/>
          </p:cNvSpPr>
          <p:nvPr>
            <p:ph type="body" idx="4294967295"/>
          </p:nvPr>
        </p:nvSpPr>
        <p:spPr>
          <a:xfrm>
            <a:off x="1143000" y="1412875"/>
            <a:ext cx="7654925" cy="4392613"/>
          </a:xfrm>
        </p:spPr>
        <p:txBody>
          <a:bodyPr>
            <a:normAutofit fontScale="92500" lnSpcReduction="20000"/>
          </a:bodyPr>
          <a:lstStyle/>
          <a:p>
            <a:pPr marL="346075" indent="-346075">
              <a:lnSpc>
                <a:spcPct val="150000"/>
              </a:lnSpc>
            </a:pPr>
            <a:r>
              <a:rPr lang="zh-CN" altLang="en-US" dirty="0">
                <a:solidFill>
                  <a:srgbClr val="0070C0"/>
                </a:solidFill>
                <a:ea typeface="宋体" panose="02010600030101010101" pitchFamily="2" charset="-122"/>
              </a:rPr>
              <a:t>市场经济中，资源的配置是由许多分散自利的买者与卖者相互作用决定的</a:t>
            </a:r>
            <a:endParaRPr lang="en-US" altLang="zh-CN" dirty="0">
              <a:solidFill>
                <a:srgbClr val="0070C0"/>
              </a:solidFill>
              <a:ea typeface="宋体" panose="02010600030101010101" pitchFamily="2" charset="-122"/>
            </a:endParaRPr>
          </a:p>
          <a:p>
            <a:pPr marL="346075" indent="-346075">
              <a:lnSpc>
                <a:spcPct val="150000"/>
              </a:lnSpc>
            </a:pPr>
            <a:r>
              <a:rPr lang="zh-CN" altLang="en-US" dirty="0">
                <a:solidFill>
                  <a:srgbClr val="0070C0"/>
                </a:solidFill>
                <a:ea typeface="宋体" panose="02010600030101010101" pitchFamily="2" charset="-122"/>
              </a:rPr>
              <a:t>市场对资源的配置是合意的吗？还存在另一个不同的配置方法能使社会更好吗？</a:t>
            </a:r>
            <a:r>
              <a:rPr lang="en-US" altLang="zh-CN" dirty="0">
                <a:solidFill>
                  <a:srgbClr val="0070C0"/>
                </a:solidFill>
                <a:ea typeface="宋体" panose="02010600030101010101" pitchFamily="2" charset="-122"/>
              </a:rPr>
              <a:t>  </a:t>
            </a:r>
          </a:p>
          <a:p>
            <a:pPr marL="346075" indent="-346075">
              <a:lnSpc>
                <a:spcPct val="150000"/>
              </a:lnSpc>
            </a:pPr>
            <a:r>
              <a:rPr lang="zh-CN" altLang="en-US" dirty="0">
                <a:solidFill>
                  <a:srgbClr val="0070C0"/>
                </a:solidFill>
                <a:ea typeface="宋体" panose="02010600030101010101" pitchFamily="2" charset="-122"/>
              </a:rPr>
              <a:t>为回答这个问题，我们使用总剩余作为衡量社会福利的指标，我们也考虑市场配置是否有效率</a:t>
            </a:r>
            <a:r>
              <a:rPr lang="en-US" altLang="zh-CN" dirty="0">
                <a:solidFill>
                  <a:srgbClr val="0070C0"/>
                </a:solidFill>
                <a:ea typeface="宋体" panose="02010600030101010101" pitchFamily="2" charset="-122"/>
              </a:rPr>
              <a:t> </a:t>
            </a:r>
            <a:r>
              <a:rPr lang="en-US" altLang="zh-CN" dirty="0">
                <a:ea typeface="宋体" panose="02010600030101010101" pitchFamily="2" charset="-122"/>
              </a:rPr>
              <a:t> </a:t>
            </a:r>
          </a:p>
        </p:txBody>
      </p:sp>
      <p:sp>
        <p:nvSpPr>
          <p:cNvPr id="119811" name="Title 1">
            <a:extLst>
              <a:ext uri="{FF2B5EF4-FFF2-40B4-BE49-F238E27FC236}">
                <a16:creationId xmlns:a16="http://schemas.microsoft.com/office/drawing/2014/main" id="{DB8FAD61-8168-4C17-B670-A9D14BF96C9A}"/>
              </a:ext>
            </a:extLst>
          </p:cNvPr>
          <p:cNvSpPr txBox="1">
            <a:spLocks/>
          </p:cNvSpPr>
          <p:nvPr/>
        </p:nvSpPr>
        <p:spPr bwMode="auto">
          <a:xfrm>
            <a:off x="3581400" y="228600"/>
            <a:ext cx="30781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资源的市场配置</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0114">
                                            <p:txEl>
                                              <p:pRg st="0" end="0"/>
                                            </p:txEl>
                                          </p:spTgt>
                                        </p:tgtEl>
                                        <p:attrNameLst>
                                          <p:attrName>style.visibility</p:attrName>
                                        </p:attrNameLst>
                                      </p:cBhvr>
                                      <p:to>
                                        <p:strVal val="visible"/>
                                      </p:to>
                                    </p:set>
                                    <p:animEffect transition="in" filter="blinds(horizontal)">
                                      <p:cBhvr>
                                        <p:cTn id="7" dur="500"/>
                                        <p:tgtEl>
                                          <p:spTgt spid="901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0114">
                                            <p:txEl>
                                              <p:pRg st="1" end="1"/>
                                            </p:txEl>
                                          </p:spTgt>
                                        </p:tgtEl>
                                        <p:attrNameLst>
                                          <p:attrName>style.visibility</p:attrName>
                                        </p:attrNameLst>
                                      </p:cBhvr>
                                      <p:to>
                                        <p:strVal val="visible"/>
                                      </p:to>
                                    </p:set>
                                    <p:animEffect transition="in" filter="blinds(horizontal)">
                                      <p:cBhvr>
                                        <p:cTn id="12" dur="500"/>
                                        <p:tgtEl>
                                          <p:spTgt spid="9011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0114">
                                            <p:txEl>
                                              <p:pRg st="2" end="2"/>
                                            </p:txEl>
                                          </p:spTgt>
                                        </p:tgtEl>
                                        <p:attrNameLst>
                                          <p:attrName>style.visibility</p:attrName>
                                        </p:attrNameLst>
                                      </p:cBhvr>
                                      <p:to>
                                        <p:strVal val="visible"/>
                                      </p:to>
                                    </p:set>
                                    <p:animEffect transition="in" filter="blinds(horizontal)">
                                      <p:cBhvr>
                                        <p:cTn id="17" dur="500"/>
                                        <p:tgtEl>
                                          <p:spTgt spid="901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uild="p"/>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3">
            <a:extLst>
              <a:ext uri="{FF2B5EF4-FFF2-40B4-BE49-F238E27FC236}">
                <a16:creationId xmlns:a16="http://schemas.microsoft.com/office/drawing/2014/main" id="{BA29651F-582F-49B8-8031-B6B9CE068E74}"/>
              </a:ext>
            </a:extLst>
          </p:cNvPr>
          <p:cNvSpPr>
            <a:spLocks noGrp="1" noChangeArrowheads="1"/>
          </p:cNvSpPr>
          <p:nvPr>
            <p:ph type="body" idx="4294967295"/>
          </p:nvPr>
        </p:nvSpPr>
        <p:spPr>
          <a:xfrm>
            <a:off x="1066800" y="2133600"/>
            <a:ext cx="7772400" cy="4031590"/>
          </a:xfrm>
        </p:spPr>
        <p:txBody>
          <a:bodyPr/>
          <a:lstStyle/>
          <a:p>
            <a:pPr marL="0" indent="0">
              <a:lnSpc>
                <a:spcPct val="150000"/>
              </a:lnSpc>
              <a:buFont typeface="Wingdings" panose="05000000000000000000" pitchFamily="2" charset="2"/>
              <a:buNone/>
            </a:pPr>
            <a:r>
              <a:rPr lang="zh-CN" altLang="en-US" sz="2700" dirty="0">
                <a:ea typeface="宋体" panose="02010600030101010101" pitchFamily="2" charset="-122"/>
              </a:rPr>
              <a:t>如果资源配置使社会福利最大化，那我们可以说，这种配置表现出效率。效率意味着：</a:t>
            </a:r>
            <a:endParaRPr lang="en-US" altLang="zh-CN" sz="2700" dirty="0">
              <a:ea typeface="宋体" panose="02010600030101010101" pitchFamily="2" charset="-122"/>
            </a:endParaRPr>
          </a:p>
          <a:p>
            <a:pPr marL="460375" lvl="1">
              <a:lnSpc>
                <a:spcPct val="150000"/>
              </a:lnSpc>
              <a:spcBef>
                <a:spcPct val="25000"/>
              </a:spcBef>
            </a:pPr>
            <a:r>
              <a:rPr lang="zh-CN" altLang="en-US" sz="2700" dirty="0">
                <a:solidFill>
                  <a:srgbClr val="0070C0"/>
                </a:solidFill>
                <a:ea typeface="宋体" panose="02010600030101010101" pitchFamily="2" charset="-122"/>
              </a:rPr>
              <a:t>物品是由对这种物品评价最高的买者消费</a:t>
            </a:r>
            <a:endParaRPr lang="en-US" altLang="zh-CN" sz="2700" dirty="0">
              <a:solidFill>
                <a:srgbClr val="0070C0"/>
              </a:solidFill>
              <a:ea typeface="宋体" panose="02010600030101010101" pitchFamily="2" charset="-122"/>
            </a:endParaRPr>
          </a:p>
          <a:p>
            <a:pPr marL="460375" lvl="1">
              <a:lnSpc>
                <a:spcPct val="150000"/>
              </a:lnSpc>
              <a:spcBef>
                <a:spcPct val="25000"/>
              </a:spcBef>
            </a:pPr>
            <a:r>
              <a:rPr lang="zh-CN" altLang="en-US" sz="2700" dirty="0">
                <a:solidFill>
                  <a:srgbClr val="0070C0"/>
                </a:solidFill>
                <a:ea typeface="宋体" panose="02010600030101010101" pitchFamily="2" charset="-122"/>
              </a:rPr>
              <a:t>物品是由生产这种物品成本最低的卖者生产</a:t>
            </a:r>
            <a:endParaRPr lang="en-US" altLang="zh-CN" sz="2700" dirty="0">
              <a:solidFill>
                <a:srgbClr val="0070C0"/>
              </a:solidFill>
              <a:ea typeface="宋体" panose="02010600030101010101" pitchFamily="2" charset="-122"/>
            </a:endParaRPr>
          </a:p>
          <a:p>
            <a:pPr marL="460375" lvl="1">
              <a:lnSpc>
                <a:spcPct val="150000"/>
              </a:lnSpc>
              <a:spcBef>
                <a:spcPct val="25000"/>
              </a:spcBef>
            </a:pPr>
            <a:r>
              <a:rPr lang="zh-CN" altLang="en-US" sz="2700" dirty="0">
                <a:solidFill>
                  <a:srgbClr val="0070C0"/>
                </a:solidFill>
                <a:ea typeface="宋体" panose="02010600030101010101" pitchFamily="2" charset="-122"/>
              </a:rPr>
              <a:t>增加或减少这种物品的数量并不会使社会福利增加</a:t>
            </a:r>
            <a:endParaRPr lang="en-US" altLang="zh-CN" sz="2700" dirty="0">
              <a:solidFill>
                <a:srgbClr val="0070C0"/>
              </a:solidFill>
              <a:ea typeface="宋体" panose="02010600030101010101" pitchFamily="2" charset="-122"/>
            </a:endParaRPr>
          </a:p>
        </p:txBody>
      </p:sp>
      <p:sp>
        <p:nvSpPr>
          <p:cNvPr id="121859" name="Rectangle 4">
            <a:extLst>
              <a:ext uri="{FF2B5EF4-FFF2-40B4-BE49-F238E27FC236}">
                <a16:creationId xmlns:a16="http://schemas.microsoft.com/office/drawing/2014/main" id="{D5AC13DC-85BC-4F88-BEDE-63E4828E51DF}"/>
              </a:ext>
            </a:extLst>
          </p:cNvPr>
          <p:cNvSpPr>
            <a:spLocks noChangeArrowheads="1"/>
          </p:cNvSpPr>
          <p:nvPr/>
        </p:nvSpPr>
        <p:spPr bwMode="auto">
          <a:xfrm>
            <a:off x="1676400" y="1371600"/>
            <a:ext cx="5840413"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lnSpc>
                <a:spcPct val="120000"/>
              </a:lnSpc>
              <a:spcBef>
                <a:spcPct val="45000"/>
              </a:spcBef>
              <a:buClr>
                <a:srgbClr val="00B85C"/>
              </a:buClr>
              <a:buSzPct val="120000"/>
              <a:buFont typeface="Wingdings" panose="05000000000000000000" pitchFamily="2" charset="2"/>
              <a:buNone/>
            </a:pPr>
            <a:r>
              <a:rPr lang="zh-CN" altLang="en-US" sz="2700" b="0">
                <a:latin typeface="Arial" panose="020B0604020202020204" pitchFamily="34" charset="0"/>
              </a:rPr>
              <a:t>社会福利</a:t>
            </a:r>
            <a:r>
              <a:rPr lang="en-US" altLang="zh-CN" sz="2700" b="0">
                <a:latin typeface="Arial" panose="020B0604020202020204" pitchFamily="34" charset="0"/>
              </a:rPr>
              <a:t>=  </a:t>
            </a:r>
            <a:r>
              <a:rPr lang="zh-CN" altLang="en-US" sz="2700" b="0">
                <a:latin typeface="Arial" panose="020B0604020202020204" pitchFamily="34" charset="0"/>
              </a:rPr>
              <a:t>买者的评价</a:t>
            </a:r>
            <a:r>
              <a:rPr lang="zh-CN" altLang="ja-JP" sz="2700" b="0">
                <a:latin typeface="Arial" panose="020B0604020202020204" pitchFamily="34" charset="0"/>
              </a:rPr>
              <a:t> – </a:t>
            </a:r>
            <a:r>
              <a:rPr lang="zh-CN" altLang="en-US" sz="2700" b="0">
                <a:latin typeface="Arial" panose="020B0604020202020204" pitchFamily="34" charset="0"/>
              </a:rPr>
              <a:t>卖者的成本</a:t>
            </a:r>
            <a:endParaRPr lang="en-US" altLang="zh-CN" sz="2700" b="0">
              <a:latin typeface="Arial" panose="020B0604020202020204" pitchFamily="34" charset="0"/>
            </a:endParaRPr>
          </a:p>
        </p:txBody>
      </p:sp>
      <p:sp>
        <p:nvSpPr>
          <p:cNvPr id="121860" name="Title 1">
            <a:extLst>
              <a:ext uri="{FF2B5EF4-FFF2-40B4-BE49-F238E27FC236}">
                <a16:creationId xmlns:a16="http://schemas.microsoft.com/office/drawing/2014/main" id="{43E80490-A5EE-41DF-81DC-6B9963C676AF}"/>
              </a:ext>
            </a:extLst>
          </p:cNvPr>
          <p:cNvSpPr txBox="1">
            <a:spLocks/>
          </p:cNvSpPr>
          <p:nvPr/>
        </p:nvSpPr>
        <p:spPr bwMode="auto">
          <a:xfrm>
            <a:off x="1470025"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效率</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38">
                                            <p:txEl>
                                              <p:pRg st="0" end="0"/>
                                            </p:txEl>
                                          </p:spTgt>
                                        </p:tgtEl>
                                        <p:attrNameLst>
                                          <p:attrName>style.visibility</p:attrName>
                                        </p:attrNameLst>
                                      </p:cBhvr>
                                      <p:to>
                                        <p:strVal val="visible"/>
                                      </p:to>
                                    </p:set>
                                    <p:animEffect transition="in" filter="blinds(horizontal)">
                                      <p:cBhvr>
                                        <p:cTn id="7" dur="500"/>
                                        <p:tgtEl>
                                          <p:spTgt spid="911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1138">
                                            <p:txEl>
                                              <p:pRg st="1" end="1"/>
                                            </p:txEl>
                                          </p:spTgt>
                                        </p:tgtEl>
                                        <p:attrNameLst>
                                          <p:attrName>style.visibility</p:attrName>
                                        </p:attrNameLst>
                                      </p:cBhvr>
                                      <p:to>
                                        <p:strVal val="visible"/>
                                      </p:to>
                                    </p:set>
                                    <p:animEffect transition="in" filter="blinds(horizontal)">
                                      <p:cBhvr>
                                        <p:cTn id="12" dur="500"/>
                                        <p:tgtEl>
                                          <p:spTgt spid="9113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1138">
                                            <p:txEl>
                                              <p:pRg st="2" end="2"/>
                                            </p:txEl>
                                          </p:spTgt>
                                        </p:tgtEl>
                                        <p:attrNameLst>
                                          <p:attrName>style.visibility</p:attrName>
                                        </p:attrNameLst>
                                      </p:cBhvr>
                                      <p:to>
                                        <p:strVal val="visible"/>
                                      </p:to>
                                    </p:set>
                                    <p:animEffect transition="in" filter="blinds(horizontal)">
                                      <p:cBhvr>
                                        <p:cTn id="17" dur="500"/>
                                        <p:tgtEl>
                                          <p:spTgt spid="9113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1138">
                                            <p:txEl>
                                              <p:pRg st="3" end="3"/>
                                            </p:txEl>
                                          </p:spTgt>
                                        </p:tgtEl>
                                        <p:attrNameLst>
                                          <p:attrName>style.visibility</p:attrName>
                                        </p:attrNameLst>
                                      </p:cBhvr>
                                      <p:to>
                                        <p:strVal val="visible"/>
                                      </p:to>
                                    </p:set>
                                    <p:animEffect transition="in" filter="blinds(horizontal)">
                                      <p:cBhvr>
                                        <p:cTn id="22" dur="500"/>
                                        <p:tgtEl>
                                          <p:spTgt spid="911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8" grpId="0" build="p"/>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1" name="Rectangle 3">
            <a:extLst>
              <a:ext uri="{FF2B5EF4-FFF2-40B4-BE49-F238E27FC236}">
                <a16:creationId xmlns:a16="http://schemas.microsoft.com/office/drawing/2014/main" id="{864AA0EC-D47B-4DF2-98D1-5C8E926630CA}"/>
              </a:ext>
            </a:extLst>
          </p:cNvPr>
          <p:cNvSpPr>
            <a:spLocks noGrp="1" noChangeArrowheads="1"/>
          </p:cNvSpPr>
          <p:nvPr>
            <p:ph type="body" idx="4294967295"/>
          </p:nvPr>
        </p:nvSpPr>
        <p:spPr>
          <a:xfrm>
            <a:off x="914400" y="1628775"/>
            <a:ext cx="2757488" cy="3816350"/>
          </a:xfrm>
        </p:spPr>
        <p:txBody>
          <a:bodyPr/>
          <a:lstStyle/>
          <a:p>
            <a:pPr marL="0" indent="0">
              <a:buFont typeface="Wingdings" panose="05000000000000000000" pitchFamily="2" charset="2"/>
              <a:buNone/>
            </a:pPr>
            <a:r>
              <a:rPr lang="zh-CN" altLang="en-US">
                <a:ea typeface="宋体" panose="02010600030101010101" pitchFamily="2" charset="-122"/>
              </a:rPr>
              <a:t>市场均衡：</a:t>
            </a:r>
            <a:br>
              <a:rPr lang="en-US" altLang="zh-CN">
                <a:ea typeface="宋体" panose="02010600030101010101" pitchFamily="2" charset="-122"/>
              </a:rPr>
            </a:br>
            <a:r>
              <a:rPr lang="en-US" altLang="zh-CN">
                <a:ea typeface="宋体" panose="02010600030101010101" pitchFamily="2" charset="-122"/>
              </a:rPr>
              <a:t>  </a:t>
            </a:r>
            <a:r>
              <a:rPr lang="zh-CN" altLang="ja-JP" i="1">
                <a:ea typeface="宋体" panose="02010600030101010101" pitchFamily="2" charset="-122"/>
              </a:rPr>
              <a:t>P</a:t>
            </a:r>
            <a:r>
              <a:rPr lang="zh-CN" altLang="ja-JP">
                <a:ea typeface="宋体" panose="02010600030101010101" pitchFamily="2" charset="-122"/>
              </a:rPr>
              <a:t> = 30 </a:t>
            </a:r>
            <a:br>
              <a:rPr lang="zh-CN" altLang="ja-JP">
                <a:ea typeface="宋体" panose="02010600030101010101" pitchFamily="2" charset="-122"/>
              </a:rPr>
            </a:br>
            <a:r>
              <a:rPr lang="zh-CN" altLang="ja-JP">
                <a:ea typeface="宋体" panose="02010600030101010101" pitchFamily="2" charset="-122"/>
              </a:rPr>
              <a:t>  </a:t>
            </a:r>
            <a:r>
              <a:rPr lang="zh-CN" altLang="ja-JP" i="1">
                <a:ea typeface="宋体" panose="02010600030101010101" pitchFamily="2" charset="-122"/>
              </a:rPr>
              <a:t>Q</a:t>
            </a:r>
            <a:r>
              <a:rPr lang="zh-CN" altLang="ja-JP">
                <a:ea typeface="宋体" panose="02010600030101010101" pitchFamily="2" charset="-122"/>
              </a:rPr>
              <a:t> = 15</a:t>
            </a:r>
          </a:p>
          <a:p>
            <a:pPr marL="0" indent="0">
              <a:buFont typeface="Wingdings" panose="05000000000000000000" pitchFamily="2" charset="2"/>
              <a:buNone/>
            </a:pPr>
            <a:r>
              <a:rPr lang="zh-CN" altLang="en-US">
                <a:ea typeface="宋体" panose="02010600030101010101" pitchFamily="2" charset="-122"/>
              </a:rPr>
              <a:t>总剩余</a:t>
            </a:r>
            <a:br>
              <a:rPr lang="en-US" altLang="zh-CN">
                <a:ea typeface="宋体" panose="02010600030101010101" pitchFamily="2" charset="-122"/>
              </a:rPr>
            </a:br>
            <a:r>
              <a:rPr lang="en-US" altLang="zh-CN">
                <a:ea typeface="宋体" panose="02010600030101010101" pitchFamily="2" charset="-122"/>
              </a:rPr>
              <a:t>   </a:t>
            </a:r>
            <a:r>
              <a:rPr lang="zh-CN" altLang="ja-JP">
                <a:ea typeface="宋体" panose="02010600030101010101" pitchFamily="2" charset="-122"/>
              </a:rPr>
              <a:t>=  CS + PS</a:t>
            </a:r>
          </a:p>
          <a:p>
            <a:pPr marL="0" indent="0">
              <a:buFont typeface="Wingdings" panose="05000000000000000000" pitchFamily="2" charset="2"/>
              <a:buNone/>
            </a:pPr>
            <a:r>
              <a:rPr lang="zh-CN" altLang="en-US">
                <a:ea typeface="宋体" panose="02010600030101010101" pitchFamily="2" charset="-122"/>
              </a:rPr>
              <a:t>市场均衡有效率的</a:t>
            </a:r>
            <a:r>
              <a:rPr lang="zh-CN" altLang="ja-JP">
                <a:ea typeface="宋体" panose="02010600030101010101" pitchFamily="2" charset="-122"/>
              </a:rPr>
              <a:t>?</a:t>
            </a:r>
          </a:p>
          <a:p>
            <a:pPr marL="0" indent="0">
              <a:buFont typeface="Wingdings" panose="05000000000000000000" pitchFamily="2" charset="2"/>
              <a:buNone/>
            </a:pPr>
            <a:endParaRPr lang="en-US" altLang="zh-CN" sz="2600">
              <a:ea typeface="宋体" panose="02010600030101010101" pitchFamily="2" charset="-122"/>
            </a:endParaRPr>
          </a:p>
        </p:txBody>
      </p:sp>
      <p:grpSp>
        <p:nvGrpSpPr>
          <p:cNvPr id="122883" name="Group 4">
            <a:extLst>
              <a:ext uri="{FF2B5EF4-FFF2-40B4-BE49-F238E27FC236}">
                <a16:creationId xmlns:a16="http://schemas.microsoft.com/office/drawing/2014/main" id="{E8B87F68-F06F-4184-BFDF-9F9A4A291DB0}"/>
              </a:ext>
            </a:extLst>
          </p:cNvPr>
          <p:cNvGrpSpPr>
            <a:grpSpLocks/>
          </p:cNvGrpSpPr>
          <p:nvPr/>
        </p:nvGrpSpPr>
        <p:grpSpPr bwMode="auto">
          <a:xfrm>
            <a:off x="3787775" y="1009650"/>
            <a:ext cx="4979988" cy="5295900"/>
            <a:chOff x="0" y="0"/>
            <a:chExt cx="3137" cy="3336"/>
          </a:xfrm>
        </p:grpSpPr>
        <p:graphicFrame>
          <p:nvGraphicFramePr>
            <p:cNvPr id="122905" name="Object 5">
              <a:extLst>
                <a:ext uri="{FF2B5EF4-FFF2-40B4-BE49-F238E27FC236}">
                  <a16:creationId xmlns:a16="http://schemas.microsoft.com/office/drawing/2014/main" id="{D29A0D9C-7C6C-49CA-9380-833E3E433A11}"/>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21528" r:id="rId3" imgW="3061080" imgH="3274920" progId="Excel.Chart.8">
                    <p:embed/>
                  </p:oleObj>
                </mc:Choice>
                <mc:Fallback>
                  <p:oleObj r:id="rId3" imgW="3061080" imgH="3274920" progId="Excel.Chart.8">
                    <p:embed/>
                    <p:pic>
                      <p:nvPicPr>
                        <p:cNvPr id="122905" name="Object 5">
                          <a:extLst>
                            <a:ext uri="{FF2B5EF4-FFF2-40B4-BE49-F238E27FC236}">
                              <a16:creationId xmlns:a16="http://schemas.microsoft.com/office/drawing/2014/main" id="{D29A0D9C-7C6C-49CA-9380-833E3E433A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06" name="Rectangle 6">
              <a:extLst>
                <a:ext uri="{FF2B5EF4-FFF2-40B4-BE49-F238E27FC236}">
                  <a16:creationId xmlns:a16="http://schemas.microsoft.com/office/drawing/2014/main" id="{9F156A73-BA7F-4FE1-9C22-E355AC031A11}"/>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22907" name="Rectangle 7">
              <a:extLst>
                <a:ext uri="{FF2B5EF4-FFF2-40B4-BE49-F238E27FC236}">
                  <a16:creationId xmlns:a16="http://schemas.microsoft.com/office/drawing/2014/main" id="{A940C593-4D6C-4955-8851-52140D075DD5}"/>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grpSp>
        <p:nvGrpSpPr>
          <p:cNvPr id="122884" name="Group 8">
            <a:extLst>
              <a:ext uri="{FF2B5EF4-FFF2-40B4-BE49-F238E27FC236}">
                <a16:creationId xmlns:a16="http://schemas.microsoft.com/office/drawing/2014/main" id="{F5931441-D49C-4527-90F7-78F61358D674}"/>
              </a:ext>
            </a:extLst>
          </p:cNvPr>
          <p:cNvGrpSpPr>
            <a:grpSpLocks/>
          </p:cNvGrpSpPr>
          <p:nvPr/>
        </p:nvGrpSpPr>
        <p:grpSpPr bwMode="auto">
          <a:xfrm>
            <a:off x="4586288" y="2178050"/>
            <a:ext cx="4219575" cy="2386013"/>
            <a:chOff x="0" y="0"/>
            <a:chExt cx="2658" cy="1503"/>
          </a:xfrm>
        </p:grpSpPr>
        <p:sp>
          <p:nvSpPr>
            <p:cNvPr id="122903" name="Line 10">
              <a:extLst>
                <a:ext uri="{FF2B5EF4-FFF2-40B4-BE49-F238E27FC236}">
                  <a16:creationId xmlns:a16="http://schemas.microsoft.com/office/drawing/2014/main" id="{59930B83-6D71-4A03-BCEE-41E79BB27FFF}"/>
                </a:ext>
              </a:extLst>
            </p:cNvPr>
            <p:cNvSpPr>
              <a:spLocks noChangeShapeType="1"/>
            </p:cNvSpPr>
            <p:nvPr/>
          </p:nvSpPr>
          <p:spPr bwMode="auto">
            <a:xfrm flipV="1">
              <a:off x="0" y="242"/>
              <a:ext cx="2401" cy="1261"/>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04" name="Rectangle 11">
              <a:extLst>
                <a:ext uri="{FF2B5EF4-FFF2-40B4-BE49-F238E27FC236}">
                  <a16:creationId xmlns:a16="http://schemas.microsoft.com/office/drawing/2014/main" id="{5A35E9CB-FD1E-4709-8EF1-86A9B3786229}"/>
                </a:ext>
              </a:extLst>
            </p:cNvPr>
            <p:cNvSpPr>
              <a:spLocks noChangeArrowheads="1"/>
            </p:cNvSpPr>
            <p:nvPr/>
          </p:nvSpPr>
          <p:spPr bwMode="auto">
            <a:xfrm>
              <a:off x="2353" y="0"/>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S</a:t>
              </a:r>
            </a:p>
          </p:txBody>
        </p:sp>
      </p:grpSp>
      <p:grpSp>
        <p:nvGrpSpPr>
          <p:cNvPr id="122885" name="Group 11">
            <a:extLst>
              <a:ext uri="{FF2B5EF4-FFF2-40B4-BE49-F238E27FC236}">
                <a16:creationId xmlns:a16="http://schemas.microsoft.com/office/drawing/2014/main" id="{5E4AE3CD-9E03-4743-ADA2-B01A1CC7D029}"/>
              </a:ext>
            </a:extLst>
          </p:cNvPr>
          <p:cNvGrpSpPr>
            <a:grpSpLocks/>
          </p:cNvGrpSpPr>
          <p:nvPr/>
        </p:nvGrpSpPr>
        <p:grpSpPr bwMode="auto">
          <a:xfrm>
            <a:off x="4583113" y="1887538"/>
            <a:ext cx="3438525" cy="3495675"/>
            <a:chOff x="0" y="0"/>
            <a:chExt cx="2166" cy="2202"/>
          </a:xfrm>
        </p:grpSpPr>
        <p:sp>
          <p:nvSpPr>
            <p:cNvPr id="122901" name="Line 13">
              <a:extLst>
                <a:ext uri="{FF2B5EF4-FFF2-40B4-BE49-F238E27FC236}">
                  <a16:creationId xmlns:a16="http://schemas.microsoft.com/office/drawing/2014/main" id="{3425E021-C345-4DF7-A0DA-DCF13997211A}"/>
                </a:ext>
              </a:extLst>
            </p:cNvPr>
            <p:cNvSpPr>
              <a:spLocks noChangeShapeType="1"/>
            </p:cNvSpPr>
            <p:nvPr/>
          </p:nvSpPr>
          <p:spPr bwMode="auto">
            <a:xfrm>
              <a:off x="0" y="0"/>
              <a:ext cx="1901" cy="1990"/>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02" name="Rectangle 14">
              <a:extLst>
                <a:ext uri="{FF2B5EF4-FFF2-40B4-BE49-F238E27FC236}">
                  <a16:creationId xmlns:a16="http://schemas.microsoft.com/office/drawing/2014/main" id="{912B5467-7F80-4021-8DDD-7C7D4DDBC1EF}"/>
                </a:ext>
              </a:extLst>
            </p:cNvPr>
            <p:cNvSpPr>
              <a:spLocks noChangeArrowheads="1"/>
            </p:cNvSpPr>
            <p:nvPr/>
          </p:nvSpPr>
          <p:spPr bwMode="auto">
            <a:xfrm>
              <a:off x="1861" y="1885"/>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D</a:t>
              </a:r>
            </a:p>
          </p:txBody>
        </p:sp>
      </p:grpSp>
      <p:grpSp>
        <p:nvGrpSpPr>
          <p:cNvPr id="5" name="Group 14">
            <a:extLst>
              <a:ext uri="{FF2B5EF4-FFF2-40B4-BE49-F238E27FC236}">
                <a16:creationId xmlns:a16="http://schemas.microsoft.com/office/drawing/2014/main" id="{0DD0862E-AADD-4027-A6C7-7A9F0167861D}"/>
              </a:ext>
            </a:extLst>
          </p:cNvPr>
          <p:cNvGrpSpPr>
            <a:grpSpLocks/>
          </p:cNvGrpSpPr>
          <p:nvPr/>
        </p:nvGrpSpPr>
        <p:grpSpPr bwMode="auto">
          <a:xfrm>
            <a:off x="3886200" y="3476625"/>
            <a:ext cx="2674938" cy="2676525"/>
            <a:chOff x="0" y="0"/>
            <a:chExt cx="1685" cy="1686"/>
          </a:xfrm>
        </p:grpSpPr>
        <p:grpSp>
          <p:nvGrpSpPr>
            <p:cNvPr id="122895" name="Group 15">
              <a:extLst>
                <a:ext uri="{FF2B5EF4-FFF2-40B4-BE49-F238E27FC236}">
                  <a16:creationId xmlns:a16="http://schemas.microsoft.com/office/drawing/2014/main" id="{B0C2238F-6E48-4B3D-BB75-FE3B6B989225}"/>
                </a:ext>
              </a:extLst>
            </p:cNvPr>
            <p:cNvGrpSpPr>
              <a:grpSpLocks/>
            </p:cNvGrpSpPr>
            <p:nvPr/>
          </p:nvGrpSpPr>
          <p:grpSpPr bwMode="auto">
            <a:xfrm>
              <a:off x="1356" y="112"/>
              <a:ext cx="329" cy="1574"/>
              <a:chOff x="0" y="0"/>
              <a:chExt cx="329" cy="1574"/>
            </a:xfrm>
          </p:grpSpPr>
          <p:sp>
            <p:nvSpPr>
              <p:cNvPr id="122899" name="Line 21">
                <a:extLst>
                  <a:ext uri="{FF2B5EF4-FFF2-40B4-BE49-F238E27FC236}">
                    <a16:creationId xmlns:a16="http://schemas.microsoft.com/office/drawing/2014/main" id="{E24DE322-2C16-4383-B155-3BE6B596822B}"/>
                  </a:ext>
                </a:extLst>
              </p:cNvPr>
              <p:cNvSpPr>
                <a:spLocks noChangeShapeType="1"/>
              </p:cNvSpPr>
              <p:nvPr/>
            </p:nvSpPr>
            <p:spPr bwMode="auto">
              <a:xfrm rot="5400000">
                <a:off x="-505" y="663"/>
                <a:ext cx="1326"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900" name="Rectangle 22">
                <a:extLst>
                  <a:ext uri="{FF2B5EF4-FFF2-40B4-BE49-F238E27FC236}">
                    <a16:creationId xmlns:a16="http://schemas.microsoft.com/office/drawing/2014/main" id="{E7DABB7F-C940-439E-B15D-2D9CF5091F10}"/>
                  </a:ext>
                </a:extLst>
              </p:cNvPr>
              <p:cNvSpPr>
                <a:spLocks noChangeArrowheads="1"/>
              </p:cNvSpPr>
              <p:nvPr/>
            </p:nvSpPr>
            <p:spPr bwMode="auto">
              <a:xfrm>
                <a:off x="0" y="1326"/>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122896" name="Group 18">
              <a:extLst>
                <a:ext uri="{FF2B5EF4-FFF2-40B4-BE49-F238E27FC236}">
                  <a16:creationId xmlns:a16="http://schemas.microsoft.com/office/drawing/2014/main" id="{B2CFB9B7-CB43-4D73-B8B0-99B59D3CA13B}"/>
                </a:ext>
              </a:extLst>
            </p:cNvPr>
            <p:cNvGrpSpPr>
              <a:grpSpLocks/>
            </p:cNvGrpSpPr>
            <p:nvPr/>
          </p:nvGrpSpPr>
          <p:grpSpPr bwMode="auto">
            <a:xfrm>
              <a:off x="0" y="0"/>
              <a:ext cx="1517" cy="248"/>
              <a:chOff x="0" y="0"/>
              <a:chExt cx="1517" cy="248"/>
            </a:xfrm>
          </p:grpSpPr>
          <p:sp>
            <p:nvSpPr>
              <p:cNvPr id="122897" name="Line 24">
                <a:extLst>
                  <a:ext uri="{FF2B5EF4-FFF2-40B4-BE49-F238E27FC236}">
                    <a16:creationId xmlns:a16="http://schemas.microsoft.com/office/drawing/2014/main" id="{3B77DCC7-E68A-4455-B8F8-1403E39658E4}"/>
                  </a:ext>
                </a:extLst>
              </p:cNvPr>
              <p:cNvSpPr>
                <a:spLocks noChangeShapeType="1"/>
              </p:cNvSpPr>
              <p:nvPr/>
            </p:nvSpPr>
            <p:spPr bwMode="auto">
              <a:xfrm>
                <a:off x="326" y="122"/>
                <a:ext cx="1191"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98" name="Rectangle 25">
                <a:extLst>
                  <a:ext uri="{FF2B5EF4-FFF2-40B4-BE49-F238E27FC236}">
                    <a16:creationId xmlns:a16="http://schemas.microsoft.com/office/drawing/2014/main" id="{6E5BFA3D-D170-4A40-90F6-39D3AF968743}"/>
                  </a:ext>
                </a:extLst>
              </p:cNvPr>
              <p:cNvSpPr>
                <a:spLocks noChangeArrowheads="1"/>
              </p:cNvSpPr>
              <p:nvPr/>
            </p:nvSpPr>
            <p:spPr bwMode="auto">
              <a:xfrm>
                <a:off x="0" y="0"/>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grpSp>
        <p:nvGrpSpPr>
          <p:cNvPr id="8" name="Group 21">
            <a:extLst>
              <a:ext uri="{FF2B5EF4-FFF2-40B4-BE49-F238E27FC236}">
                <a16:creationId xmlns:a16="http://schemas.microsoft.com/office/drawing/2014/main" id="{F61DD008-4EEB-438D-8D06-858440AC4A9B}"/>
              </a:ext>
            </a:extLst>
          </p:cNvPr>
          <p:cNvGrpSpPr>
            <a:grpSpLocks/>
          </p:cNvGrpSpPr>
          <p:nvPr/>
        </p:nvGrpSpPr>
        <p:grpSpPr bwMode="auto">
          <a:xfrm>
            <a:off x="4597400" y="1930400"/>
            <a:ext cx="1657350" cy="1733550"/>
            <a:chOff x="0" y="0"/>
            <a:chExt cx="1044" cy="1092"/>
          </a:xfrm>
        </p:grpSpPr>
        <p:sp>
          <p:nvSpPr>
            <p:cNvPr id="122893" name="AutoShape 15">
              <a:extLst>
                <a:ext uri="{FF2B5EF4-FFF2-40B4-BE49-F238E27FC236}">
                  <a16:creationId xmlns:a16="http://schemas.microsoft.com/office/drawing/2014/main" id="{14669577-136E-4F1A-824A-828C3F5A8722}"/>
                </a:ext>
              </a:extLst>
            </p:cNvPr>
            <p:cNvSpPr>
              <a:spLocks noChangeArrowheads="1"/>
            </p:cNvSpPr>
            <p:nvPr/>
          </p:nvSpPr>
          <p:spPr bwMode="auto">
            <a:xfrm>
              <a:off x="0" y="0"/>
              <a:ext cx="1044" cy="1092"/>
            </a:xfrm>
            <a:prstGeom prst="rtTriangle">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dirty="0">
                <a:latin typeface="Arial" panose="020B0604020202020204" pitchFamily="34" charset="0"/>
              </a:endParaRPr>
            </a:p>
          </p:txBody>
        </p:sp>
        <p:sp>
          <p:nvSpPr>
            <p:cNvPr id="122894" name="Text Box 27">
              <a:extLst>
                <a:ext uri="{FF2B5EF4-FFF2-40B4-BE49-F238E27FC236}">
                  <a16:creationId xmlns:a16="http://schemas.microsoft.com/office/drawing/2014/main" id="{8CF8C771-586C-4E0D-A975-BFCB62323C73}"/>
                </a:ext>
              </a:extLst>
            </p:cNvPr>
            <p:cNvSpPr txBox="1">
              <a:spLocks noChangeArrowheads="1"/>
            </p:cNvSpPr>
            <p:nvPr/>
          </p:nvSpPr>
          <p:spPr bwMode="auto">
            <a:xfrm>
              <a:off x="105" y="660"/>
              <a:ext cx="44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600" dirty="0">
                  <a:latin typeface="Arial" panose="020B0604020202020204" pitchFamily="34" charset="0"/>
                </a:rPr>
                <a:t>CS</a:t>
              </a:r>
            </a:p>
          </p:txBody>
        </p:sp>
      </p:grpSp>
      <p:grpSp>
        <p:nvGrpSpPr>
          <p:cNvPr id="9" name="Group 24">
            <a:extLst>
              <a:ext uri="{FF2B5EF4-FFF2-40B4-BE49-F238E27FC236}">
                <a16:creationId xmlns:a16="http://schemas.microsoft.com/office/drawing/2014/main" id="{69943CC9-0978-46D9-AF6D-3497CCAD9ECD}"/>
              </a:ext>
            </a:extLst>
          </p:cNvPr>
          <p:cNvGrpSpPr>
            <a:grpSpLocks/>
          </p:cNvGrpSpPr>
          <p:nvPr/>
        </p:nvGrpSpPr>
        <p:grpSpPr bwMode="auto">
          <a:xfrm>
            <a:off x="4592638" y="3675063"/>
            <a:ext cx="1665287" cy="876300"/>
            <a:chOff x="0" y="0"/>
            <a:chExt cx="1049" cy="552"/>
          </a:xfrm>
        </p:grpSpPr>
        <p:sp>
          <p:nvSpPr>
            <p:cNvPr id="122891" name="AutoShape 26">
              <a:extLst>
                <a:ext uri="{FF2B5EF4-FFF2-40B4-BE49-F238E27FC236}">
                  <a16:creationId xmlns:a16="http://schemas.microsoft.com/office/drawing/2014/main" id="{27806336-579D-46AF-BA24-9D8EF1C246B5}"/>
                </a:ext>
              </a:extLst>
            </p:cNvPr>
            <p:cNvSpPr>
              <a:spLocks noChangeArrowheads="1"/>
            </p:cNvSpPr>
            <p:nvPr/>
          </p:nvSpPr>
          <p:spPr bwMode="auto">
            <a:xfrm flipV="1">
              <a:off x="0" y="0"/>
              <a:ext cx="1049" cy="552"/>
            </a:xfrm>
            <a:prstGeom prst="rtTriangle">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22892" name="Text Box 28">
              <a:extLst>
                <a:ext uri="{FF2B5EF4-FFF2-40B4-BE49-F238E27FC236}">
                  <a16:creationId xmlns:a16="http://schemas.microsoft.com/office/drawing/2014/main" id="{285610A6-DA57-4072-B566-19E6F37AA84B}"/>
                </a:ext>
              </a:extLst>
            </p:cNvPr>
            <p:cNvSpPr txBox="1">
              <a:spLocks noChangeArrowheads="1"/>
            </p:cNvSpPr>
            <p:nvPr/>
          </p:nvSpPr>
          <p:spPr bwMode="auto">
            <a:xfrm>
              <a:off x="102" y="30"/>
              <a:ext cx="39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600">
                  <a:latin typeface="Arial" panose="020B0604020202020204" pitchFamily="34" charset="0"/>
                </a:rPr>
                <a:t>PS</a:t>
              </a:r>
            </a:p>
          </p:txBody>
        </p:sp>
      </p:grpSp>
      <p:sp>
        <p:nvSpPr>
          <p:cNvPr id="58395" name="AutoShape 32">
            <a:extLst>
              <a:ext uri="{FF2B5EF4-FFF2-40B4-BE49-F238E27FC236}">
                <a16:creationId xmlns:a16="http://schemas.microsoft.com/office/drawing/2014/main" id="{6EBB7DC6-4FCE-4286-9215-962E2F77EDF0}"/>
              </a:ext>
            </a:extLst>
          </p:cNvPr>
          <p:cNvSpPr>
            <a:spLocks noChangeArrowheads="1"/>
          </p:cNvSpPr>
          <p:nvPr/>
        </p:nvSpPr>
        <p:spPr bwMode="auto">
          <a:xfrm rot="5400000">
            <a:off x="4144962" y="2436813"/>
            <a:ext cx="2549525" cy="1619250"/>
          </a:xfrm>
          <a:prstGeom prst="triangle">
            <a:avLst>
              <a:gd name="adj" fmla="val 66435"/>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22890" name="Title 1">
            <a:extLst>
              <a:ext uri="{FF2B5EF4-FFF2-40B4-BE49-F238E27FC236}">
                <a16:creationId xmlns:a16="http://schemas.microsoft.com/office/drawing/2014/main" id="{33834C51-0478-499F-9955-C4F9ACD5B5BE}"/>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dirty="0">
                <a:latin typeface="Arial" panose="020B0604020202020204" pitchFamily="34" charset="0"/>
              </a:rPr>
              <a:t>市场均衡的评价</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wipe(left)">
                                      <p:cBhvr>
                                        <p:cTn id="7" dur="500"/>
                                        <p:tgtEl>
                                          <p:spTgt spid="58371">
                                            <p:txEl>
                                              <p:pRg st="0" end="0"/>
                                            </p:txEl>
                                          </p:spTgt>
                                        </p:tgtEl>
                                      </p:cBhvr>
                                    </p:animEffect>
                                  </p:childTnLst>
                                </p:cTn>
                              </p:par>
                            </p:childTnLst>
                          </p:cTn>
                        </p:par>
                        <p:par>
                          <p:cTn id="8" fill="hold" nodeType="after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downRight)">
                                      <p:cBhvr>
                                        <p:cTn id="11" dur="500"/>
                                        <p:tgtEl>
                                          <p:spTgt spid="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8371">
                                            <p:txEl>
                                              <p:pRg st="1" end="1"/>
                                            </p:txEl>
                                          </p:spTgt>
                                        </p:tgtEl>
                                        <p:attrNameLst>
                                          <p:attrName>style.visibility</p:attrName>
                                        </p:attrNameLst>
                                      </p:cBhvr>
                                      <p:to>
                                        <p:strVal val="visible"/>
                                      </p:to>
                                    </p:set>
                                    <p:animEffect transition="in" filter="wipe(left)">
                                      <p:cBhvr>
                                        <p:cTn id="26" dur="500"/>
                                        <p:tgtEl>
                                          <p:spTgt spid="58371">
                                            <p:txEl>
                                              <p:pRg st="1" end="1"/>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58395"/>
                                        </p:tgtEl>
                                        <p:attrNameLst>
                                          <p:attrName>style.visibility</p:attrName>
                                        </p:attrNameLst>
                                      </p:cBhvr>
                                      <p:to>
                                        <p:strVal val="visible"/>
                                      </p:to>
                                    </p:set>
                                    <p:animEffect transition="in" filter="dissolve">
                                      <p:cBhvr>
                                        <p:cTn id="29" dur="500"/>
                                        <p:tgtEl>
                                          <p:spTgt spid="5839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8371">
                                            <p:txEl>
                                              <p:pRg st="2" end="2"/>
                                            </p:txEl>
                                          </p:spTgt>
                                        </p:tgtEl>
                                        <p:attrNameLst>
                                          <p:attrName>style.visibility</p:attrName>
                                        </p:attrNameLst>
                                      </p:cBhvr>
                                      <p:to>
                                        <p:strVal val="visible"/>
                                      </p:to>
                                    </p:set>
                                    <p:animEffect transition="in" filter="wipe(left)">
                                      <p:cBhvr>
                                        <p:cTn id="34" dur="500"/>
                                        <p:tgtEl>
                                          <p:spTgt spid="583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bldLvl="5" autoUpdateAnimBg="0"/>
      <p:bldP spid="58395"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23906" name="Group 3">
            <a:extLst>
              <a:ext uri="{FF2B5EF4-FFF2-40B4-BE49-F238E27FC236}">
                <a16:creationId xmlns:a16="http://schemas.microsoft.com/office/drawing/2014/main" id="{3F2C95E9-476F-4853-BE7D-503AB967F0E5}"/>
              </a:ext>
            </a:extLst>
          </p:cNvPr>
          <p:cNvGrpSpPr>
            <a:grpSpLocks/>
          </p:cNvGrpSpPr>
          <p:nvPr/>
        </p:nvGrpSpPr>
        <p:grpSpPr bwMode="auto">
          <a:xfrm>
            <a:off x="3787775" y="1009650"/>
            <a:ext cx="4979988" cy="5295900"/>
            <a:chOff x="0" y="0"/>
            <a:chExt cx="3137" cy="3336"/>
          </a:xfrm>
        </p:grpSpPr>
        <p:graphicFrame>
          <p:nvGraphicFramePr>
            <p:cNvPr id="123924" name="Object 5">
              <a:extLst>
                <a:ext uri="{FF2B5EF4-FFF2-40B4-BE49-F238E27FC236}">
                  <a16:creationId xmlns:a16="http://schemas.microsoft.com/office/drawing/2014/main" id="{68970EE4-B879-40E0-96F9-C85AC347BBC9}"/>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22551" r:id="rId4" imgW="3061080" imgH="3274920" progId="Excel.Chart.8">
                    <p:embed/>
                  </p:oleObj>
                </mc:Choice>
                <mc:Fallback>
                  <p:oleObj r:id="rId4" imgW="3061080" imgH="3274920" progId="Excel.Chart.8">
                    <p:embed/>
                    <p:pic>
                      <p:nvPicPr>
                        <p:cNvPr id="123924" name="Object 5">
                          <a:extLst>
                            <a:ext uri="{FF2B5EF4-FFF2-40B4-BE49-F238E27FC236}">
                              <a16:creationId xmlns:a16="http://schemas.microsoft.com/office/drawing/2014/main" id="{68970EE4-B879-40E0-96F9-C85AC347BB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3925" name="Rectangle 6">
              <a:extLst>
                <a:ext uri="{FF2B5EF4-FFF2-40B4-BE49-F238E27FC236}">
                  <a16:creationId xmlns:a16="http://schemas.microsoft.com/office/drawing/2014/main" id="{090DD8B2-AA14-4D8E-A1A8-808E3DA9D930}"/>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23926" name="Rectangle 7">
              <a:extLst>
                <a:ext uri="{FF2B5EF4-FFF2-40B4-BE49-F238E27FC236}">
                  <a16:creationId xmlns:a16="http://schemas.microsoft.com/office/drawing/2014/main" id="{CD23C1BF-E7E0-4BDA-9DD2-80F3577D8CB4}"/>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grpSp>
        <p:nvGrpSpPr>
          <p:cNvPr id="123907" name="Group 7">
            <a:extLst>
              <a:ext uri="{FF2B5EF4-FFF2-40B4-BE49-F238E27FC236}">
                <a16:creationId xmlns:a16="http://schemas.microsoft.com/office/drawing/2014/main" id="{1101860F-3347-4A70-AC8E-99E38CE0522B}"/>
              </a:ext>
            </a:extLst>
          </p:cNvPr>
          <p:cNvGrpSpPr>
            <a:grpSpLocks/>
          </p:cNvGrpSpPr>
          <p:nvPr/>
        </p:nvGrpSpPr>
        <p:grpSpPr bwMode="auto">
          <a:xfrm>
            <a:off x="4586288" y="2178050"/>
            <a:ext cx="4219575" cy="2386013"/>
            <a:chOff x="0" y="0"/>
            <a:chExt cx="2658" cy="1503"/>
          </a:xfrm>
        </p:grpSpPr>
        <p:sp>
          <p:nvSpPr>
            <p:cNvPr id="123922" name="Line 9">
              <a:extLst>
                <a:ext uri="{FF2B5EF4-FFF2-40B4-BE49-F238E27FC236}">
                  <a16:creationId xmlns:a16="http://schemas.microsoft.com/office/drawing/2014/main" id="{BADA4328-230A-4E92-9451-47276F7C9B45}"/>
                </a:ext>
              </a:extLst>
            </p:cNvPr>
            <p:cNvSpPr>
              <a:spLocks noChangeShapeType="1"/>
            </p:cNvSpPr>
            <p:nvPr/>
          </p:nvSpPr>
          <p:spPr bwMode="auto">
            <a:xfrm flipV="1">
              <a:off x="0" y="242"/>
              <a:ext cx="2401" cy="1261"/>
            </a:xfrm>
            <a:prstGeom prst="line">
              <a:avLst/>
            </a:prstGeom>
            <a:noFill/>
            <a:ln w="4445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3" name="Rectangle 10">
              <a:extLst>
                <a:ext uri="{FF2B5EF4-FFF2-40B4-BE49-F238E27FC236}">
                  <a16:creationId xmlns:a16="http://schemas.microsoft.com/office/drawing/2014/main" id="{475A79D4-967E-4089-A820-615519078CAF}"/>
                </a:ext>
              </a:extLst>
            </p:cNvPr>
            <p:cNvSpPr>
              <a:spLocks noChangeArrowheads="1"/>
            </p:cNvSpPr>
            <p:nvPr/>
          </p:nvSpPr>
          <p:spPr bwMode="auto">
            <a:xfrm>
              <a:off x="2353" y="0"/>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solidFill>
                    <a:srgbClr val="C0C0C0"/>
                  </a:solidFill>
                  <a:latin typeface="Arial" panose="020B0604020202020204" pitchFamily="34" charset="0"/>
                </a:rPr>
                <a:t>S</a:t>
              </a:r>
            </a:p>
          </p:txBody>
        </p:sp>
      </p:grpSp>
      <p:grpSp>
        <p:nvGrpSpPr>
          <p:cNvPr id="123908" name="Group 10">
            <a:extLst>
              <a:ext uri="{FF2B5EF4-FFF2-40B4-BE49-F238E27FC236}">
                <a16:creationId xmlns:a16="http://schemas.microsoft.com/office/drawing/2014/main" id="{41A2263B-DD9A-4EBF-B4CF-3465DFC5AFCD}"/>
              </a:ext>
            </a:extLst>
          </p:cNvPr>
          <p:cNvGrpSpPr>
            <a:grpSpLocks/>
          </p:cNvGrpSpPr>
          <p:nvPr/>
        </p:nvGrpSpPr>
        <p:grpSpPr bwMode="auto">
          <a:xfrm>
            <a:off x="4583113" y="1887538"/>
            <a:ext cx="3438525" cy="3495675"/>
            <a:chOff x="0" y="0"/>
            <a:chExt cx="2166" cy="2202"/>
          </a:xfrm>
        </p:grpSpPr>
        <p:sp>
          <p:nvSpPr>
            <p:cNvPr id="123920" name="Line 12">
              <a:extLst>
                <a:ext uri="{FF2B5EF4-FFF2-40B4-BE49-F238E27FC236}">
                  <a16:creationId xmlns:a16="http://schemas.microsoft.com/office/drawing/2014/main" id="{19B7CAB9-3249-408C-A4CB-02A3208FB843}"/>
                </a:ext>
              </a:extLst>
            </p:cNvPr>
            <p:cNvSpPr>
              <a:spLocks noChangeShapeType="1"/>
            </p:cNvSpPr>
            <p:nvPr/>
          </p:nvSpPr>
          <p:spPr bwMode="auto">
            <a:xfrm>
              <a:off x="0" y="0"/>
              <a:ext cx="1901" cy="1990"/>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21" name="Rectangle 13">
              <a:extLst>
                <a:ext uri="{FF2B5EF4-FFF2-40B4-BE49-F238E27FC236}">
                  <a16:creationId xmlns:a16="http://schemas.microsoft.com/office/drawing/2014/main" id="{776A7721-9D7F-4E4F-9DF5-777428F2923F}"/>
                </a:ext>
              </a:extLst>
            </p:cNvPr>
            <p:cNvSpPr>
              <a:spLocks noChangeArrowheads="1"/>
            </p:cNvSpPr>
            <p:nvPr/>
          </p:nvSpPr>
          <p:spPr bwMode="auto">
            <a:xfrm>
              <a:off x="1861" y="1885"/>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D</a:t>
              </a:r>
            </a:p>
          </p:txBody>
        </p:sp>
      </p:grpSp>
      <p:grpSp>
        <p:nvGrpSpPr>
          <p:cNvPr id="123909" name="Group 13">
            <a:extLst>
              <a:ext uri="{FF2B5EF4-FFF2-40B4-BE49-F238E27FC236}">
                <a16:creationId xmlns:a16="http://schemas.microsoft.com/office/drawing/2014/main" id="{889C9845-2BD3-4880-B0A9-E14F5FF9559D}"/>
              </a:ext>
            </a:extLst>
          </p:cNvPr>
          <p:cNvGrpSpPr>
            <a:grpSpLocks/>
          </p:cNvGrpSpPr>
          <p:nvPr/>
        </p:nvGrpSpPr>
        <p:grpSpPr bwMode="auto">
          <a:xfrm>
            <a:off x="3886200" y="3476625"/>
            <a:ext cx="2674938" cy="2676525"/>
            <a:chOff x="0" y="0"/>
            <a:chExt cx="1685" cy="1686"/>
          </a:xfrm>
        </p:grpSpPr>
        <p:grpSp>
          <p:nvGrpSpPr>
            <p:cNvPr id="123914" name="Group 14">
              <a:extLst>
                <a:ext uri="{FF2B5EF4-FFF2-40B4-BE49-F238E27FC236}">
                  <a16:creationId xmlns:a16="http://schemas.microsoft.com/office/drawing/2014/main" id="{C0884D3A-BCBC-4A75-B92C-C9DF1A5C1D9A}"/>
                </a:ext>
              </a:extLst>
            </p:cNvPr>
            <p:cNvGrpSpPr>
              <a:grpSpLocks/>
            </p:cNvGrpSpPr>
            <p:nvPr/>
          </p:nvGrpSpPr>
          <p:grpSpPr bwMode="auto">
            <a:xfrm>
              <a:off x="1356" y="112"/>
              <a:ext cx="329" cy="1574"/>
              <a:chOff x="0" y="0"/>
              <a:chExt cx="329" cy="1574"/>
            </a:xfrm>
          </p:grpSpPr>
          <p:sp>
            <p:nvSpPr>
              <p:cNvPr id="123918" name="Line 16">
                <a:extLst>
                  <a:ext uri="{FF2B5EF4-FFF2-40B4-BE49-F238E27FC236}">
                    <a16:creationId xmlns:a16="http://schemas.microsoft.com/office/drawing/2014/main" id="{CA88DF57-DA65-4F24-AF04-59EA5FF07D3F}"/>
                  </a:ext>
                </a:extLst>
              </p:cNvPr>
              <p:cNvSpPr>
                <a:spLocks noChangeShapeType="1"/>
              </p:cNvSpPr>
              <p:nvPr/>
            </p:nvSpPr>
            <p:spPr bwMode="auto">
              <a:xfrm rot="5400000">
                <a:off x="-505" y="663"/>
                <a:ext cx="1326"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19" name="Rectangle 17">
                <a:extLst>
                  <a:ext uri="{FF2B5EF4-FFF2-40B4-BE49-F238E27FC236}">
                    <a16:creationId xmlns:a16="http://schemas.microsoft.com/office/drawing/2014/main" id="{A1EB6964-48AB-4160-BE49-4F0204E16002}"/>
                  </a:ext>
                </a:extLst>
              </p:cNvPr>
              <p:cNvSpPr>
                <a:spLocks noChangeArrowheads="1"/>
              </p:cNvSpPr>
              <p:nvPr/>
            </p:nvSpPr>
            <p:spPr bwMode="auto">
              <a:xfrm>
                <a:off x="0" y="1326"/>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123915" name="Group 17">
              <a:extLst>
                <a:ext uri="{FF2B5EF4-FFF2-40B4-BE49-F238E27FC236}">
                  <a16:creationId xmlns:a16="http://schemas.microsoft.com/office/drawing/2014/main" id="{3F7C0AE1-111F-489F-8B4A-82B2B6E502B8}"/>
                </a:ext>
              </a:extLst>
            </p:cNvPr>
            <p:cNvGrpSpPr>
              <a:grpSpLocks/>
            </p:cNvGrpSpPr>
            <p:nvPr/>
          </p:nvGrpSpPr>
          <p:grpSpPr bwMode="auto">
            <a:xfrm>
              <a:off x="0" y="0"/>
              <a:ext cx="1517" cy="248"/>
              <a:chOff x="0" y="0"/>
              <a:chExt cx="1517" cy="248"/>
            </a:xfrm>
          </p:grpSpPr>
          <p:sp>
            <p:nvSpPr>
              <p:cNvPr id="123916" name="Line 19">
                <a:extLst>
                  <a:ext uri="{FF2B5EF4-FFF2-40B4-BE49-F238E27FC236}">
                    <a16:creationId xmlns:a16="http://schemas.microsoft.com/office/drawing/2014/main" id="{F466569D-70A2-4832-9641-27F3F2F11A38}"/>
                  </a:ext>
                </a:extLst>
              </p:cNvPr>
              <p:cNvSpPr>
                <a:spLocks noChangeShapeType="1"/>
              </p:cNvSpPr>
              <p:nvPr/>
            </p:nvSpPr>
            <p:spPr bwMode="auto">
              <a:xfrm>
                <a:off x="326" y="122"/>
                <a:ext cx="1191"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17" name="Rectangle 20">
                <a:extLst>
                  <a:ext uri="{FF2B5EF4-FFF2-40B4-BE49-F238E27FC236}">
                    <a16:creationId xmlns:a16="http://schemas.microsoft.com/office/drawing/2014/main" id="{3AFFC15D-8097-4FD4-82AF-C06F8ABF31EC}"/>
                  </a:ext>
                </a:extLst>
              </p:cNvPr>
              <p:cNvSpPr>
                <a:spLocks noChangeArrowheads="1"/>
              </p:cNvSpPr>
              <p:nvPr/>
            </p:nvSpPr>
            <p:spPr bwMode="auto">
              <a:xfrm>
                <a:off x="0" y="0"/>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sp>
        <p:nvSpPr>
          <p:cNvPr id="59412" name="Rectangle 29">
            <a:extLst>
              <a:ext uri="{FF2B5EF4-FFF2-40B4-BE49-F238E27FC236}">
                <a16:creationId xmlns:a16="http://schemas.microsoft.com/office/drawing/2014/main" id="{472B41EE-B99B-462F-9CA6-B4DDEA5E5BBD}"/>
              </a:ext>
            </a:extLst>
          </p:cNvPr>
          <p:cNvSpPr>
            <a:spLocks noGrp="1" noChangeArrowheads="1"/>
          </p:cNvSpPr>
          <p:nvPr>
            <p:ph type="body" idx="4294967295"/>
          </p:nvPr>
        </p:nvSpPr>
        <p:spPr>
          <a:xfrm>
            <a:off x="430213" y="1844675"/>
            <a:ext cx="3178175" cy="4032250"/>
          </a:xfrm>
        </p:spPr>
        <p:txBody>
          <a:bodyPr/>
          <a:lstStyle/>
          <a:p>
            <a:pPr marL="0" indent="0">
              <a:spcBef>
                <a:spcPct val="60000"/>
              </a:spcBef>
              <a:buFont typeface="Wingdings" panose="05000000000000000000" pitchFamily="2" charset="2"/>
              <a:buNone/>
            </a:pPr>
            <a:r>
              <a:rPr lang="zh-CN" altLang="en-US">
                <a:ea typeface="宋体" panose="02010600030101010101" pitchFamily="2" charset="-122"/>
              </a:rPr>
              <a:t>支付意愿</a:t>
            </a:r>
            <a:r>
              <a:rPr lang="en-US" altLang="zh-CN">
                <a:ea typeface="宋体" panose="02010600030101010101" pitchFamily="2" charset="-122"/>
              </a:rPr>
              <a:t>≥ </a:t>
            </a:r>
            <a:r>
              <a:rPr lang="zh-CN" altLang="ja-JP">
                <a:ea typeface="宋体" panose="02010600030101010101" pitchFamily="2" charset="-122"/>
              </a:rPr>
              <a:t>30</a:t>
            </a:r>
            <a:r>
              <a:rPr lang="zh-CN" altLang="en-US">
                <a:ea typeface="宋体" panose="02010600030101010101" pitchFamily="2" charset="-122"/>
              </a:rPr>
              <a:t>的买者会购买</a:t>
            </a:r>
            <a:r>
              <a:rPr lang="en-US" altLang="zh-CN">
                <a:ea typeface="宋体" panose="02010600030101010101" pitchFamily="2" charset="-122"/>
              </a:rPr>
              <a:t> </a:t>
            </a:r>
          </a:p>
          <a:p>
            <a:pPr marL="0" indent="0">
              <a:spcBef>
                <a:spcPct val="60000"/>
              </a:spcBef>
              <a:buFont typeface="Wingdings" panose="05000000000000000000" pitchFamily="2" charset="2"/>
              <a:buNone/>
            </a:pPr>
            <a:r>
              <a:rPr lang="zh-CN" altLang="en-US">
                <a:ea typeface="宋体" panose="02010600030101010101" pitchFamily="2" charset="-122"/>
              </a:rPr>
              <a:t>支付意愿</a:t>
            </a:r>
            <a:r>
              <a:rPr lang="zh-CN" altLang="ja-JP">
                <a:ea typeface="宋体" panose="02010600030101010101" pitchFamily="2" charset="-122"/>
              </a:rPr>
              <a:t>&lt; 30 </a:t>
            </a:r>
            <a:r>
              <a:rPr lang="zh-CN" altLang="en-US">
                <a:ea typeface="宋体" panose="02010600030101010101" pitchFamily="2" charset="-122"/>
              </a:rPr>
              <a:t>的买者不会买</a:t>
            </a:r>
            <a:r>
              <a:rPr lang="en-US" altLang="zh-CN">
                <a:ea typeface="宋体" panose="02010600030101010101" pitchFamily="2" charset="-122"/>
              </a:rPr>
              <a:t>  </a:t>
            </a:r>
          </a:p>
          <a:p>
            <a:pPr marL="0" indent="0">
              <a:spcBef>
                <a:spcPct val="60000"/>
              </a:spcBef>
              <a:buFont typeface="Wingdings" panose="05000000000000000000" pitchFamily="2" charset="2"/>
              <a:buNone/>
            </a:pPr>
            <a:r>
              <a:rPr lang="zh-CN" altLang="en-US">
                <a:ea typeface="宋体" panose="02010600030101010101" pitchFamily="2" charset="-122"/>
              </a:rPr>
              <a:t>因此</a:t>
            </a:r>
            <a:r>
              <a:rPr lang="zh-CN" altLang="ja-JP">
                <a:ea typeface="宋体" panose="02010600030101010101" pitchFamily="2" charset="-122"/>
              </a:rPr>
              <a:t>, </a:t>
            </a:r>
            <a:r>
              <a:rPr lang="zh-CN" altLang="en-US">
                <a:ea typeface="宋体" panose="02010600030101010101" pitchFamily="2" charset="-122"/>
              </a:rPr>
              <a:t>对物品评价最高的买者就是最终消费物品的人</a:t>
            </a:r>
            <a:endParaRPr lang="en-US" altLang="zh-CN">
              <a:solidFill>
                <a:srgbClr val="FF0000"/>
              </a:solidFill>
              <a:ea typeface="宋体" panose="02010600030101010101" pitchFamily="2" charset="-122"/>
            </a:endParaRPr>
          </a:p>
        </p:txBody>
      </p:sp>
      <p:sp>
        <p:nvSpPr>
          <p:cNvPr id="59413" name="AutoShape 30">
            <a:extLst>
              <a:ext uri="{FF2B5EF4-FFF2-40B4-BE49-F238E27FC236}">
                <a16:creationId xmlns:a16="http://schemas.microsoft.com/office/drawing/2014/main" id="{71203E3C-EEF6-4977-BBE9-B5C09B0382AB}"/>
              </a:ext>
            </a:extLst>
          </p:cNvPr>
          <p:cNvSpPr>
            <a:spLocks/>
          </p:cNvSpPr>
          <p:nvPr/>
        </p:nvSpPr>
        <p:spPr bwMode="auto">
          <a:xfrm rot="-2625674">
            <a:off x="5422900" y="1408113"/>
            <a:ext cx="280988" cy="2478087"/>
          </a:xfrm>
          <a:prstGeom prst="rightBrace">
            <a:avLst>
              <a:gd name="adj1" fmla="val 73493"/>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59414" name="AutoShape 31">
            <a:extLst>
              <a:ext uri="{FF2B5EF4-FFF2-40B4-BE49-F238E27FC236}">
                <a16:creationId xmlns:a16="http://schemas.microsoft.com/office/drawing/2014/main" id="{4ACB4A4A-4FCF-4316-834F-EC2AC00B669D}"/>
              </a:ext>
            </a:extLst>
          </p:cNvPr>
          <p:cNvSpPr>
            <a:spLocks/>
          </p:cNvSpPr>
          <p:nvPr/>
        </p:nvSpPr>
        <p:spPr bwMode="auto">
          <a:xfrm rot="-2625674">
            <a:off x="6938963" y="3302000"/>
            <a:ext cx="280987" cy="1858963"/>
          </a:xfrm>
          <a:prstGeom prst="rightBrace">
            <a:avLst>
              <a:gd name="adj1" fmla="val 55132"/>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23913" name="Title 1">
            <a:extLst>
              <a:ext uri="{FF2B5EF4-FFF2-40B4-BE49-F238E27FC236}">
                <a16:creationId xmlns:a16="http://schemas.microsoft.com/office/drawing/2014/main" id="{883586F8-7401-4C3D-9E64-E0B8410C21A4}"/>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dirty="0">
                <a:latin typeface="Arial" panose="020B0604020202020204" pitchFamily="34" charset="0"/>
              </a:rPr>
              <a:t>市场均衡的评价</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412">
                                            <p:txEl>
                                              <p:pRg st="0" end="0"/>
                                            </p:txEl>
                                          </p:spTgt>
                                        </p:tgtEl>
                                        <p:attrNameLst>
                                          <p:attrName>style.visibility</p:attrName>
                                        </p:attrNameLst>
                                      </p:cBhvr>
                                      <p:to>
                                        <p:strVal val="visible"/>
                                      </p:to>
                                    </p:set>
                                    <p:animEffect transition="in" filter="wipe(left)">
                                      <p:cBhvr>
                                        <p:cTn id="7" dur="500"/>
                                        <p:tgtEl>
                                          <p:spTgt spid="59412">
                                            <p:txEl>
                                              <p:pRg st="0" end="0"/>
                                            </p:txEl>
                                          </p:spTgt>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59413"/>
                                        </p:tgtEl>
                                        <p:attrNameLst>
                                          <p:attrName>style.visibility</p:attrName>
                                        </p:attrNameLst>
                                      </p:cBhvr>
                                      <p:to>
                                        <p:strVal val="visible"/>
                                      </p:to>
                                    </p:set>
                                    <p:animEffect transition="in" filter="strips(downRight)">
                                      <p:cBhvr>
                                        <p:cTn id="10" dur="500"/>
                                        <p:tgtEl>
                                          <p:spTgt spid="5941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9413"/>
                                        </p:tgtEl>
                                        <p:attrNameLst>
                                          <p:attrName>style.visibility</p:attrName>
                                        </p:attrNameLst>
                                      </p:cBhvr>
                                      <p:to>
                                        <p:strVal val="hidden"/>
                                      </p:to>
                                    </p:set>
                                  </p:childTnLst>
                                </p:cTn>
                              </p:par>
                              <p:par>
                                <p:cTn id="15" presetID="22" presetClass="entr" presetSubtype="8" fill="hold" grpId="0" nodeType="withEffect">
                                  <p:stCondLst>
                                    <p:cond delay="0"/>
                                  </p:stCondLst>
                                  <p:childTnLst>
                                    <p:set>
                                      <p:cBhvr>
                                        <p:cTn id="16" dur="1" fill="hold">
                                          <p:stCondLst>
                                            <p:cond delay="0"/>
                                          </p:stCondLst>
                                        </p:cTn>
                                        <p:tgtEl>
                                          <p:spTgt spid="59412">
                                            <p:txEl>
                                              <p:pRg st="1" end="1"/>
                                            </p:txEl>
                                          </p:spTgt>
                                        </p:tgtEl>
                                        <p:attrNameLst>
                                          <p:attrName>style.visibility</p:attrName>
                                        </p:attrNameLst>
                                      </p:cBhvr>
                                      <p:to>
                                        <p:strVal val="visible"/>
                                      </p:to>
                                    </p:set>
                                    <p:animEffect transition="in" filter="wipe(left)">
                                      <p:cBhvr>
                                        <p:cTn id="17" dur="500"/>
                                        <p:tgtEl>
                                          <p:spTgt spid="59412">
                                            <p:txEl>
                                              <p:pRg st="1" end="1"/>
                                            </p:txEl>
                                          </p:spTgt>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59414"/>
                                        </p:tgtEl>
                                        <p:attrNameLst>
                                          <p:attrName>style.visibility</p:attrName>
                                        </p:attrNameLst>
                                      </p:cBhvr>
                                      <p:to>
                                        <p:strVal val="visible"/>
                                      </p:to>
                                    </p:set>
                                    <p:animEffect transition="in" filter="strips(downRight)">
                                      <p:cBhvr>
                                        <p:cTn id="20" dur="500"/>
                                        <p:tgtEl>
                                          <p:spTgt spid="5941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59414"/>
                                        </p:tgtEl>
                                        <p:attrNameLst>
                                          <p:attrName>style.visibility</p:attrName>
                                        </p:attrNameLst>
                                      </p:cBhvr>
                                      <p:to>
                                        <p:strVal val="hidden"/>
                                      </p:to>
                                    </p:set>
                                  </p:childTnLst>
                                </p:cTn>
                              </p:par>
                              <p:par>
                                <p:cTn id="25" presetID="22" presetClass="entr" presetSubtype="8" fill="hold" grpId="0" nodeType="withEffect">
                                  <p:stCondLst>
                                    <p:cond delay="0"/>
                                  </p:stCondLst>
                                  <p:childTnLst>
                                    <p:set>
                                      <p:cBhvr>
                                        <p:cTn id="26" dur="1" fill="hold">
                                          <p:stCondLst>
                                            <p:cond delay="0"/>
                                          </p:stCondLst>
                                        </p:cTn>
                                        <p:tgtEl>
                                          <p:spTgt spid="59412">
                                            <p:txEl>
                                              <p:pRg st="2" end="2"/>
                                            </p:txEl>
                                          </p:spTgt>
                                        </p:tgtEl>
                                        <p:attrNameLst>
                                          <p:attrName>style.visibility</p:attrName>
                                        </p:attrNameLst>
                                      </p:cBhvr>
                                      <p:to>
                                        <p:strVal val="visible"/>
                                      </p:to>
                                    </p:set>
                                    <p:animEffect transition="in" filter="wipe(left)">
                                      <p:cBhvr>
                                        <p:cTn id="27" dur="500"/>
                                        <p:tgtEl>
                                          <p:spTgt spid="594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12" grpId="0" build="p" bldLvl="5" autoUpdateAnimBg="0"/>
      <p:bldP spid="59413" grpId="0" animBg="1" autoUpdateAnimBg="0"/>
      <p:bldP spid="59413" grpId="1" animBg="1" autoUpdateAnimBg="0"/>
      <p:bldP spid="59414" grpId="0" animBg="1" autoUpdateAnimBg="0"/>
      <p:bldP spid="59414" grpId="1"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25954" name="Group 3">
            <a:extLst>
              <a:ext uri="{FF2B5EF4-FFF2-40B4-BE49-F238E27FC236}">
                <a16:creationId xmlns:a16="http://schemas.microsoft.com/office/drawing/2014/main" id="{2D81878D-C99E-4CDD-9132-C13584418645}"/>
              </a:ext>
            </a:extLst>
          </p:cNvPr>
          <p:cNvGrpSpPr>
            <a:grpSpLocks/>
          </p:cNvGrpSpPr>
          <p:nvPr/>
        </p:nvGrpSpPr>
        <p:grpSpPr bwMode="auto">
          <a:xfrm>
            <a:off x="3787775" y="1009650"/>
            <a:ext cx="4979988" cy="5295900"/>
            <a:chOff x="0" y="0"/>
            <a:chExt cx="3137" cy="3336"/>
          </a:xfrm>
        </p:grpSpPr>
        <p:graphicFrame>
          <p:nvGraphicFramePr>
            <p:cNvPr id="125972" name="Object 4">
              <a:extLst>
                <a:ext uri="{FF2B5EF4-FFF2-40B4-BE49-F238E27FC236}">
                  <a16:creationId xmlns:a16="http://schemas.microsoft.com/office/drawing/2014/main" id="{F9B7444B-F60D-41D1-A733-B6F58071297F}"/>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23575" r:id="rId4" imgW="3061080" imgH="3274920" progId="Excel.Chart.8">
                    <p:embed/>
                  </p:oleObj>
                </mc:Choice>
                <mc:Fallback>
                  <p:oleObj r:id="rId4" imgW="3061080" imgH="3274920" progId="Excel.Chart.8">
                    <p:embed/>
                    <p:pic>
                      <p:nvPicPr>
                        <p:cNvPr id="125972" name="Object 4">
                          <a:extLst>
                            <a:ext uri="{FF2B5EF4-FFF2-40B4-BE49-F238E27FC236}">
                              <a16:creationId xmlns:a16="http://schemas.microsoft.com/office/drawing/2014/main" id="{F9B7444B-F60D-41D1-A733-B6F5807129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5973" name="Rectangle 5">
              <a:extLst>
                <a:ext uri="{FF2B5EF4-FFF2-40B4-BE49-F238E27FC236}">
                  <a16:creationId xmlns:a16="http://schemas.microsoft.com/office/drawing/2014/main" id="{8A81AF76-7D1E-4313-AA99-E5FDF4304956}"/>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25974" name="Rectangle 6">
              <a:extLst>
                <a:ext uri="{FF2B5EF4-FFF2-40B4-BE49-F238E27FC236}">
                  <a16:creationId xmlns:a16="http://schemas.microsoft.com/office/drawing/2014/main" id="{246B6CA5-6CDD-4170-82D7-B7B9191287BF}"/>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grpSp>
        <p:nvGrpSpPr>
          <p:cNvPr id="125955" name="Group 7">
            <a:extLst>
              <a:ext uri="{FF2B5EF4-FFF2-40B4-BE49-F238E27FC236}">
                <a16:creationId xmlns:a16="http://schemas.microsoft.com/office/drawing/2014/main" id="{D65F1652-C999-41FA-BE67-D62CE06CE795}"/>
              </a:ext>
            </a:extLst>
          </p:cNvPr>
          <p:cNvGrpSpPr>
            <a:grpSpLocks/>
          </p:cNvGrpSpPr>
          <p:nvPr/>
        </p:nvGrpSpPr>
        <p:grpSpPr bwMode="auto">
          <a:xfrm>
            <a:off x="4586288" y="2178050"/>
            <a:ext cx="4219575" cy="2386013"/>
            <a:chOff x="0" y="0"/>
            <a:chExt cx="2658" cy="1503"/>
          </a:xfrm>
        </p:grpSpPr>
        <p:sp>
          <p:nvSpPr>
            <p:cNvPr id="125970" name="Line 8">
              <a:extLst>
                <a:ext uri="{FF2B5EF4-FFF2-40B4-BE49-F238E27FC236}">
                  <a16:creationId xmlns:a16="http://schemas.microsoft.com/office/drawing/2014/main" id="{A8592F63-69BB-4476-A6BA-9B58C3BA0842}"/>
                </a:ext>
              </a:extLst>
            </p:cNvPr>
            <p:cNvSpPr>
              <a:spLocks noChangeShapeType="1"/>
            </p:cNvSpPr>
            <p:nvPr/>
          </p:nvSpPr>
          <p:spPr bwMode="auto">
            <a:xfrm flipV="1">
              <a:off x="0" y="242"/>
              <a:ext cx="2401" cy="1261"/>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71" name="Rectangle 9">
              <a:extLst>
                <a:ext uri="{FF2B5EF4-FFF2-40B4-BE49-F238E27FC236}">
                  <a16:creationId xmlns:a16="http://schemas.microsoft.com/office/drawing/2014/main" id="{4DE49DD5-242D-46AB-A32C-BF6C1EBA6B61}"/>
                </a:ext>
              </a:extLst>
            </p:cNvPr>
            <p:cNvSpPr>
              <a:spLocks noChangeArrowheads="1"/>
            </p:cNvSpPr>
            <p:nvPr/>
          </p:nvSpPr>
          <p:spPr bwMode="auto">
            <a:xfrm>
              <a:off x="2353" y="0"/>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S</a:t>
              </a:r>
            </a:p>
          </p:txBody>
        </p:sp>
      </p:grpSp>
      <p:grpSp>
        <p:nvGrpSpPr>
          <p:cNvPr id="125956" name="Group 10">
            <a:extLst>
              <a:ext uri="{FF2B5EF4-FFF2-40B4-BE49-F238E27FC236}">
                <a16:creationId xmlns:a16="http://schemas.microsoft.com/office/drawing/2014/main" id="{EEBF2A86-1EE8-4936-8130-778D99AD7016}"/>
              </a:ext>
            </a:extLst>
          </p:cNvPr>
          <p:cNvGrpSpPr>
            <a:grpSpLocks/>
          </p:cNvGrpSpPr>
          <p:nvPr/>
        </p:nvGrpSpPr>
        <p:grpSpPr bwMode="auto">
          <a:xfrm>
            <a:off x="4583113" y="1887538"/>
            <a:ext cx="3438525" cy="3495675"/>
            <a:chOff x="0" y="0"/>
            <a:chExt cx="2166" cy="2202"/>
          </a:xfrm>
        </p:grpSpPr>
        <p:sp>
          <p:nvSpPr>
            <p:cNvPr id="125968" name="Line 11">
              <a:extLst>
                <a:ext uri="{FF2B5EF4-FFF2-40B4-BE49-F238E27FC236}">
                  <a16:creationId xmlns:a16="http://schemas.microsoft.com/office/drawing/2014/main" id="{2761DC6B-D3D6-404C-B04F-361A3B290BA9}"/>
                </a:ext>
              </a:extLst>
            </p:cNvPr>
            <p:cNvSpPr>
              <a:spLocks noChangeShapeType="1"/>
            </p:cNvSpPr>
            <p:nvPr/>
          </p:nvSpPr>
          <p:spPr bwMode="auto">
            <a:xfrm>
              <a:off x="0" y="0"/>
              <a:ext cx="1901" cy="1990"/>
            </a:xfrm>
            <a:prstGeom prst="line">
              <a:avLst/>
            </a:prstGeom>
            <a:noFill/>
            <a:ln w="44450">
              <a:solidFill>
                <a:srgbClr val="C0C0C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69" name="Rectangle 12">
              <a:extLst>
                <a:ext uri="{FF2B5EF4-FFF2-40B4-BE49-F238E27FC236}">
                  <a16:creationId xmlns:a16="http://schemas.microsoft.com/office/drawing/2014/main" id="{195D591B-7BC6-4D74-B827-56F243424A42}"/>
                </a:ext>
              </a:extLst>
            </p:cNvPr>
            <p:cNvSpPr>
              <a:spLocks noChangeArrowheads="1"/>
            </p:cNvSpPr>
            <p:nvPr/>
          </p:nvSpPr>
          <p:spPr bwMode="auto">
            <a:xfrm>
              <a:off x="1861" y="1885"/>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solidFill>
                    <a:srgbClr val="C0C0C0"/>
                  </a:solidFill>
                  <a:latin typeface="Arial" panose="020B0604020202020204" pitchFamily="34" charset="0"/>
                </a:rPr>
                <a:t>D</a:t>
              </a:r>
            </a:p>
          </p:txBody>
        </p:sp>
      </p:grpSp>
      <p:grpSp>
        <p:nvGrpSpPr>
          <p:cNvPr id="125957" name="Group 13">
            <a:extLst>
              <a:ext uri="{FF2B5EF4-FFF2-40B4-BE49-F238E27FC236}">
                <a16:creationId xmlns:a16="http://schemas.microsoft.com/office/drawing/2014/main" id="{C0F72D42-665B-4AF3-AE91-712A2C7C690B}"/>
              </a:ext>
            </a:extLst>
          </p:cNvPr>
          <p:cNvGrpSpPr>
            <a:grpSpLocks/>
          </p:cNvGrpSpPr>
          <p:nvPr/>
        </p:nvGrpSpPr>
        <p:grpSpPr bwMode="auto">
          <a:xfrm>
            <a:off x="3886200" y="3476625"/>
            <a:ext cx="2674938" cy="2676525"/>
            <a:chOff x="0" y="0"/>
            <a:chExt cx="1685" cy="1686"/>
          </a:xfrm>
        </p:grpSpPr>
        <p:grpSp>
          <p:nvGrpSpPr>
            <p:cNvPr id="125962" name="Group 14">
              <a:extLst>
                <a:ext uri="{FF2B5EF4-FFF2-40B4-BE49-F238E27FC236}">
                  <a16:creationId xmlns:a16="http://schemas.microsoft.com/office/drawing/2014/main" id="{7ED7CFFC-A2E4-4760-8315-81CC38B37211}"/>
                </a:ext>
              </a:extLst>
            </p:cNvPr>
            <p:cNvGrpSpPr>
              <a:grpSpLocks/>
            </p:cNvGrpSpPr>
            <p:nvPr/>
          </p:nvGrpSpPr>
          <p:grpSpPr bwMode="auto">
            <a:xfrm>
              <a:off x="1356" y="112"/>
              <a:ext cx="329" cy="1574"/>
              <a:chOff x="0" y="0"/>
              <a:chExt cx="329" cy="1574"/>
            </a:xfrm>
          </p:grpSpPr>
          <p:sp>
            <p:nvSpPr>
              <p:cNvPr id="125966" name="Line 15">
                <a:extLst>
                  <a:ext uri="{FF2B5EF4-FFF2-40B4-BE49-F238E27FC236}">
                    <a16:creationId xmlns:a16="http://schemas.microsoft.com/office/drawing/2014/main" id="{3E610768-E74A-49EE-8649-FE80C2F92F82}"/>
                  </a:ext>
                </a:extLst>
              </p:cNvPr>
              <p:cNvSpPr>
                <a:spLocks noChangeShapeType="1"/>
              </p:cNvSpPr>
              <p:nvPr/>
            </p:nvSpPr>
            <p:spPr bwMode="auto">
              <a:xfrm rot="5400000">
                <a:off x="-505" y="663"/>
                <a:ext cx="1326"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67" name="Rectangle 16">
                <a:extLst>
                  <a:ext uri="{FF2B5EF4-FFF2-40B4-BE49-F238E27FC236}">
                    <a16:creationId xmlns:a16="http://schemas.microsoft.com/office/drawing/2014/main" id="{38151BE5-8C9A-4FFC-9A66-398FEB7253A7}"/>
                  </a:ext>
                </a:extLst>
              </p:cNvPr>
              <p:cNvSpPr>
                <a:spLocks noChangeArrowheads="1"/>
              </p:cNvSpPr>
              <p:nvPr/>
            </p:nvSpPr>
            <p:spPr bwMode="auto">
              <a:xfrm>
                <a:off x="0" y="1326"/>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125963" name="Group 17">
              <a:extLst>
                <a:ext uri="{FF2B5EF4-FFF2-40B4-BE49-F238E27FC236}">
                  <a16:creationId xmlns:a16="http://schemas.microsoft.com/office/drawing/2014/main" id="{BC31D6FC-68E6-4902-8FC4-5ED3D1AF7945}"/>
                </a:ext>
              </a:extLst>
            </p:cNvPr>
            <p:cNvGrpSpPr>
              <a:grpSpLocks/>
            </p:cNvGrpSpPr>
            <p:nvPr/>
          </p:nvGrpSpPr>
          <p:grpSpPr bwMode="auto">
            <a:xfrm>
              <a:off x="0" y="0"/>
              <a:ext cx="1517" cy="248"/>
              <a:chOff x="0" y="0"/>
              <a:chExt cx="1517" cy="248"/>
            </a:xfrm>
          </p:grpSpPr>
          <p:sp>
            <p:nvSpPr>
              <p:cNvPr id="125964" name="Line 18">
                <a:extLst>
                  <a:ext uri="{FF2B5EF4-FFF2-40B4-BE49-F238E27FC236}">
                    <a16:creationId xmlns:a16="http://schemas.microsoft.com/office/drawing/2014/main" id="{F61A1B0D-1003-4A0A-BCD5-1DEA8D85D6FC}"/>
                  </a:ext>
                </a:extLst>
              </p:cNvPr>
              <p:cNvSpPr>
                <a:spLocks noChangeShapeType="1"/>
              </p:cNvSpPr>
              <p:nvPr/>
            </p:nvSpPr>
            <p:spPr bwMode="auto">
              <a:xfrm>
                <a:off x="326" y="122"/>
                <a:ext cx="1191"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5965" name="Rectangle 19">
                <a:extLst>
                  <a:ext uri="{FF2B5EF4-FFF2-40B4-BE49-F238E27FC236}">
                    <a16:creationId xmlns:a16="http://schemas.microsoft.com/office/drawing/2014/main" id="{64D82EEE-8F26-41DC-A19A-CC29956A468E}"/>
                  </a:ext>
                </a:extLst>
              </p:cNvPr>
              <p:cNvSpPr>
                <a:spLocks noChangeArrowheads="1"/>
              </p:cNvSpPr>
              <p:nvPr/>
            </p:nvSpPr>
            <p:spPr bwMode="auto">
              <a:xfrm>
                <a:off x="0" y="0"/>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sp>
        <p:nvSpPr>
          <p:cNvPr id="61460" name="Rectangle 20">
            <a:extLst>
              <a:ext uri="{FF2B5EF4-FFF2-40B4-BE49-F238E27FC236}">
                <a16:creationId xmlns:a16="http://schemas.microsoft.com/office/drawing/2014/main" id="{E890D8B1-B817-46E5-B963-D86C3F195956}"/>
              </a:ext>
            </a:extLst>
          </p:cNvPr>
          <p:cNvSpPr>
            <a:spLocks noGrp="1" noChangeArrowheads="1"/>
          </p:cNvSpPr>
          <p:nvPr>
            <p:ph type="body" idx="4294967295"/>
          </p:nvPr>
        </p:nvSpPr>
        <p:spPr>
          <a:xfrm>
            <a:off x="990600" y="1989138"/>
            <a:ext cx="2743200" cy="3725862"/>
          </a:xfrm>
        </p:spPr>
        <p:txBody>
          <a:bodyPr/>
          <a:lstStyle/>
          <a:p>
            <a:pPr marL="0" indent="0">
              <a:buFont typeface="Wingdings" panose="05000000000000000000" pitchFamily="2" charset="2"/>
              <a:buNone/>
            </a:pPr>
            <a:r>
              <a:rPr lang="zh-CN" altLang="en-US">
                <a:ea typeface="宋体" panose="02010600030101010101" pitchFamily="2" charset="-122"/>
              </a:rPr>
              <a:t>成本</a:t>
            </a:r>
            <a:r>
              <a:rPr lang="en-US" altLang="zh-CN">
                <a:ea typeface="宋体" panose="02010600030101010101" pitchFamily="2" charset="-122"/>
              </a:rPr>
              <a:t>≤ </a:t>
            </a:r>
            <a:r>
              <a:rPr lang="zh-CN" altLang="ja-JP">
                <a:ea typeface="宋体" panose="02010600030101010101" pitchFamily="2" charset="-122"/>
              </a:rPr>
              <a:t>30</a:t>
            </a:r>
            <a:r>
              <a:rPr lang="zh-CN" altLang="en-US">
                <a:ea typeface="宋体" panose="02010600030101010101" pitchFamily="2" charset="-122"/>
              </a:rPr>
              <a:t>的卖者会生产物品</a:t>
            </a:r>
            <a:r>
              <a:rPr lang="en-US" altLang="zh-CN">
                <a:ea typeface="宋体" panose="02010600030101010101" pitchFamily="2" charset="-122"/>
              </a:rPr>
              <a:t> </a:t>
            </a:r>
          </a:p>
          <a:p>
            <a:pPr marL="0" indent="0">
              <a:buFont typeface="Wingdings" panose="05000000000000000000" pitchFamily="2" charset="2"/>
              <a:buNone/>
            </a:pPr>
            <a:r>
              <a:rPr lang="zh-CN" altLang="en-US">
                <a:ea typeface="宋体" panose="02010600030101010101" pitchFamily="2" charset="-122"/>
              </a:rPr>
              <a:t>成本</a:t>
            </a:r>
            <a:r>
              <a:rPr lang="zh-CN" altLang="ja-JP">
                <a:ea typeface="宋体" panose="02010600030101010101" pitchFamily="2" charset="-122"/>
              </a:rPr>
              <a:t>&gt; 30</a:t>
            </a:r>
            <a:r>
              <a:rPr lang="zh-CN" altLang="en-US">
                <a:ea typeface="宋体" panose="02010600030101010101" pitchFamily="2" charset="-122"/>
              </a:rPr>
              <a:t>的卖者不会生产物品</a:t>
            </a:r>
            <a:r>
              <a:rPr lang="en-US" altLang="zh-CN">
                <a:ea typeface="宋体" panose="02010600030101010101" pitchFamily="2" charset="-122"/>
              </a:rPr>
              <a:t>  </a:t>
            </a:r>
          </a:p>
          <a:p>
            <a:pPr marL="0" indent="0">
              <a:buFont typeface="Wingdings" panose="05000000000000000000" pitchFamily="2" charset="2"/>
              <a:buNone/>
            </a:pPr>
            <a:r>
              <a:rPr lang="zh-CN" altLang="en-US">
                <a:ea typeface="宋体" panose="02010600030101010101" pitchFamily="2" charset="-122"/>
              </a:rPr>
              <a:t>因此</a:t>
            </a:r>
            <a:r>
              <a:rPr lang="zh-CN" altLang="ja-JP">
                <a:ea typeface="宋体" panose="02010600030101010101" pitchFamily="2" charset="-122"/>
              </a:rPr>
              <a:t>,</a:t>
            </a:r>
            <a:r>
              <a:rPr lang="zh-CN" altLang="en-US">
                <a:ea typeface="宋体" panose="02010600030101010101" pitchFamily="2" charset="-122"/>
              </a:rPr>
              <a:t>具有最低生产物品成本的卖者会生产物品</a:t>
            </a:r>
            <a:endParaRPr lang="en-US" altLang="zh-CN" i="1">
              <a:solidFill>
                <a:srgbClr val="FF0000"/>
              </a:solidFill>
              <a:ea typeface="宋体" panose="02010600030101010101" pitchFamily="2" charset="-122"/>
            </a:endParaRPr>
          </a:p>
        </p:txBody>
      </p:sp>
      <p:sp>
        <p:nvSpPr>
          <p:cNvPr id="61461" name="AutoShape 21">
            <a:extLst>
              <a:ext uri="{FF2B5EF4-FFF2-40B4-BE49-F238E27FC236}">
                <a16:creationId xmlns:a16="http://schemas.microsoft.com/office/drawing/2014/main" id="{9E6107D9-217E-4AEA-B310-CD97B15FD2F2}"/>
              </a:ext>
            </a:extLst>
          </p:cNvPr>
          <p:cNvSpPr>
            <a:spLocks/>
          </p:cNvSpPr>
          <p:nvPr/>
        </p:nvSpPr>
        <p:spPr bwMode="auto">
          <a:xfrm rot="3720000">
            <a:off x="7295356" y="2093119"/>
            <a:ext cx="280988" cy="2355850"/>
          </a:xfrm>
          <a:prstGeom prst="rightBrace">
            <a:avLst>
              <a:gd name="adj1" fmla="val 69868"/>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61462" name="AutoShape 22">
            <a:extLst>
              <a:ext uri="{FF2B5EF4-FFF2-40B4-BE49-F238E27FC236}">
                <a16:creationId xmlns:a16="http://schemas.microsoft.com/office/drawing/2014/main" id="{E292BEBB-AF56-4A3D-B704-78A9866744DE}"/>
              </a:ext>
            </a:extLst>
          </p:cNvPr>
          <p:cNvSpPr>
            <a:spLocks/>
          </p:cNvSpPr>
          <p:nvPr/>
        </p:nvSpPr>
        <p:spPr bwMode="auto">
          <a:xfrm rot="3720000">
            <a:off x="5375275" y="3348038"/>
            <a:ext cx="280987" cy="1893888"/>
          </a:xfrm>
          <a:prstGeom prst="rightBrace">
            <a:avLst>
              <a:gd name="adj1" fmla="val 56168"/>
              <a:gd name="adj2" fmla="val 50000"/>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25961" name="Title 1">
            <a:extLst>
              <a:ext uri="{FF2B5EF4-FFF2-40B4-BE49-F238E27FC236}">
                <a16:creationId xmlns:a16="http://schemas.microsoft.com/office/drawing/2014/main" id="{B8A136E3-08B3-4CAA-ADB5-7FF19E13CDEC}"/>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dirty="0">
                <a:latin typeface="Arial" panose="020B0604020202020204" pitchFamily="34" charset="0"/>
              </a:rPr>
              <a:t>市场均衡的评价</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60">
                                            <p:txEl>
                                              <p:pRg st="0" end="0"/>
                                            </p:txEl>
                                          </p:spTgt>
                                        </p:tgtEl>
                                        <p:attrNameLst>
                                          <p:attrName>style.visibility</p:attrName>
                                        </p:attrNameLst>
                                      </p:cBhvr>
                                      <p:to>
                                        <p:strVal val="visible"/>
                                      </p:to>
                                    </p:set>
                                    <p:animEffect transition="in" filter="wipe(left)">
                                      <p:cBhvr>
                                        <p:cTn id="7" dur="500"/>
                                        <p:tgtEl>
                                          <p:spTgt spid="61460">
                                            <p:txEl>
                                              <p:pRg st="0" end="0"/>
                                            </p:txEl>
                                          </p:spTgt>
                                        </p:tgtEl>
                                      </p:cBhvr>
                                    </p:animEffect>
                                  </p:childTnLst>
                                </p:cTn>
                              </p:par>
                              <p:par>
                                <p:cTn id="8" presetID="18" presetClass="entr" presetSubtype="3" fill="hold" grpId="0" nodeType="withEffect">
                                  <p:stCondLst>
                                    <p:cond delay="0"/>
                                  </p:stCondLst>
                                  <p:childTnLst>
                                    <p:set>
                                      <p:cBhvr>
                                        <p:cTn id="9" dur="1" fill="hold">
                                          <p:stCondLst>
                                            <p:cond delay="0"/>
                                          </p:stCondLst>
                                        </p:cTn>
                                        <p:tgtEl>
                                          <p:spTgt spid="61462"/>
                                        </p:tgtEl>
                                        <p:attrNameLst>
                                          <p:attrName>style.visibility</p:attrName>
                                        </p:attrNameLst>
                                      </p:cBhvr>
                                      <p:to>
                                        <p:strVal val="visible"/>
                                      </p:to>
                                    </p:set>
                                    <p:animEffect transition="in" filter="strips(upRight)">
                                      <p:cBhvr>
                                        <p:cTn id="10" dur="500"/>
                                        <p:tgtEl>
                                          <p:spTgt spid="6146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61462"/>
                                        </p:tgtEl>
                                        <p:attrNameLst>
                                          <p:attrName>style.visibility</p:attrName>
                                        </p:attrNameLst>
                                      </p:cBhvr>
                                      <p:to>
                                        <p:strVal val="hidden"/>
                                      </p:to>
                                    </p:set>
                                  </p:childTnLst>
                                </p:cTn>
                              </p:par>
                              <p:par>
                                <p:cTn id="15" presetID="22" presetClass="entr" presetSubtype="8" fill="hold" grpId="0" nodeType="withEffect">
                                  <p:stCondLst>
                                    <p:cond delay="0"/>
                                  </p:stCondLst>
                                  <p:childTnLst>
                                    <p:set>
                                      <p:cBhvr>
                                        <p:cTn id="16" dur="1" fill="hold">
                                          <p:stCondLst>
                                            <p:cond delay="0"/>
                                          </p:stCondLst>
                                        </p:cTn>
                                        <p:tgtEl>
                                          <p:spTgt spid="61460">
                                            <p:txEl>
                                              <p:pRg st="1" end="1"/>
                                            </p:txEl>
                                          </p:spTgt>
                                        </p:tgtEl>
                                        <p:attrNameLst>
                                          <p:attrName>style.visibility</p:attrName>
                                        </p:attrNameLst>
                                      </p:cBhvr>
                                      <p:to>
                                        <p:strVal val="visible"/>
                                      </p:to>
                                    </p:set>
                                    <p:animEffect transition="in" filter="wipe(left)">
                                      <p:cBhvr>
                                        <p:cTn id="17" dur="500"/>
                                        <p:tgtEl>
                                          <p:spTgt spid="61460">
                                            <p:txEl>
                                              <p:pRg st="1" end="1"/>
                                            </p:txEl>
                                          </p:spTgt>
                                        </p:tgtEl>
                                      </p:cBhvr>
                                    </p:animEffect>
                                  </p:childTnLst>
                                </p:cTn>
                              </p:par>
                              <p:par>
                                <p:cTn id="18" presetID="18" presetClass="entr" presetSubtype="3" fill="hold" grpId="0" nodeType="withEffect">
                                  <p:stCondLst>
                                    <p:cond delay="0"/>
                                  </p:stCondLst>
                                  <p:childTnLst>
                                    <p:set>
                                      <p:cBhvr>
                                        <p:cTn id="19" dur="1" fill="hold">
                                          <p:stCondLst>
                                            <p:cond delay="0"/>
                                          </p:stCondLst>
                                        </p:cTn>
                                        <p:tgtEl>
                                          <p:spTgt spid="61461"/>
                                        </p:tgtEl>
                                        <p:attrNameLst>
                                          <p:attrName>style.visibility</p:attrName>
                                        </p:attrNameLst>
                                      </p:cBhvr>
                                      <p:to>
                                        <p:strVal val="visible"/>
                                      </p:to>
                                    </p:set>
                                    <p:animEffect transition="in" filter="strips(upRight)">
                                      <p:cBhvr>
                                        <p:cTn id="20" dur="500"/>
                                        <p:tgtEl>
                                          <p:spTgt spid="6146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61461"/>
                                        </p:tgtEl>
                                        <p:attrNameLst>
                                          <p:attrName>style.visibility</p:attrName>
                                        </p:attrNameLst>
                                      </p:cBhvr>
                                      <p:to>
                                        <p:strVal val="hidden"/>
                                      </p:to>
                                    </p:set>
                                  </p:childTnLst>
                                </p:cTn>
                              </p:par>
                              <p:par>
                                <p:cTn id="25" presetID="22" presetClass="entr" presetSubtype="8" fill="hold" grpId="0" nodeType="withEffect">
                                  <p:stCondLst>
                                    <p:cond delay="0"/>
                                  </p:stCondLst>
                                  <p:childTnLst>
                                    <p:set>
                                      <p:cBhvr>
                                        <p:cTn id="26" dur="1" fill="hold">
                                          <p:stCondLst>
                                            <p:cond delay="0"/>
                                          </p:stCondLst>
                                        </p:cTn>
                                        <p:tgtEl>
                                          <p:spTgt spid="61460">
                                            <p:txEl>
                                              <p:pRg st="2" end="2"/>
                                            </p:txEl>
                                          </p:spTgt>
                                        </p:tgtEl>
                                        <p:attrNameLst>
                                          <p:attrName>style.visibility</p:attrName>
                                        </p:attrNameLst>
                                      </p:cBhvr>
                                      <p:to>
                                        <p:strVal val="visible"/>
                                      </p:to>
                                    </p:set>
                                    <p:animEffect transition="in" filter="wipe(left)">
                                      <p:cBhvr>
                                        <p:cTn id="27" dur="500"/>
                                        <p:tgtEl>
                                          <p:spTgt spid="6146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0" grpId="0" build="p" bldLvl="5" autoUpdateAnimBg="0"/>
      <p:bldP spid="61461" grpId="0" animBg="1" autoUpdateAnimBg="0"/>
      <p:bldP spid="61461" grpId="1" animBg="1" autoUpdateAnimBg="0"/>
      <p:bldP spid="61462" grpId="0" animBg="1" autoUpdateAnimBg="0"/>
      <p:bldP spid="61462" grpId="1"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28002" name="Group 3">
            <a:extLst>
              <a:ext uri="{FF2B5EF4-FFF2-40B4-BE49-F238E27FC236}">
                <a16:creationId xmlns:a16="http://schemas.microsoft.com/office/drawing/2014/main" id="{3DCC9FC7-7263-4EE7-A470-FB8D42570570}"/>
              </a:ext>
            </a:extLst>
          </p:cNvPr>
          <p:cNvGrpSpPr>
            <a:grpSpLocks/>
          </p:cNvGrpSpPr>
          <p:nvPr/>
        </p:nvGrpSpPr>
        <p:grpSpPr bwMode="auto">
          <a:xfrm>
            <a:off x="3773488" y="1009650"/>
            <a:ext cx="4979987" cy="5295900"/>
            <a:chOff x="0" y="0"/>
            <a:chExt cx="3137" cy="3336"/>
          </a:xfrm>
        </p:grpSpPr>
        <p:graphicFrame>
          <p:nvGraphicFramePr>
            <p:cNvPr id="128019" name="Object 4">
              <a:extLst>
                <a:ext uri="{FF2B5EF4-FFF2-40B4-BE49-F238E27FC236}">
                  <a16:creationId xmlns:a16="http://schemas.microsoft.com/office/drawing/2014/main" id="{DCEF5346-19B6-4856-AF60-764FD39DCD38}"/>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24599" r:id="rId4" imgW="3061080" imgH="3274920" progId="Excel.Chart.8">
                    <p:embed/>
                  </p:oleObj>
                </mc:Choice>
                <mc:Fallback>
                  <p:oleObj r:id="rId4" imgW="3061080" imgH="3274920" progId="Excel.Chart.8">
                    <p:embed/>
                    <p:pic>
                      <p:nvPicPr>
                        <p:cNvPr id="128019" name="Object 4">
                          <a:extLst>
                            <a:ext uri="{FF2B5EF4-FFF2-40B4-BE49-F238E27FC236}">
                              <a16:creationId xmlns:a16="http://schemas.microsoft.com/office/drawing/2014/main" id="{DCEF5346-19B6-4856-AF60-764FD39DCD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8020" name="Rectangle 5">
              <a:extLst>
                <a:ext uri="{FF2B5EF4-FFF2-40B4-BE49-F238E27FC236}">
                  <a16:creationId xmlns:a16="http://schemas.microsoft.com/office/drawing/2014/main" id="{47F7CC11-F3BA-4D22-8220-0EE7FE5BA04F}"/>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28021" name="Rectangle 6">
              <a:extLst>
                <a:ext uri="{FF2B5EF4-FFF2-40B4-BE49-F238E27FC236}">
                  <a16:creationId xmlns:a16="http://schemas.microsoft.com/office/drawing/2014/main" id="{8CB08C48-75A2-4817-99D5-AA7ABDAD3FAB}"/>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grpSp>
        <p:nvGrpSpPr>
          <p:cNvPr id="128003" name="Group 7">
            <a:extLst>
              <a:ext uri="{FF2B5EF4-FFF2-40B4-BE49-F238E27FC236}">
                <a16:creationId xmlns:a16="http://schemas.microsoft.com/office/drawing/2014/main" id="{6ACDDEC1-E6F9-42DE-BBB5-3A46D8A7745E}"/>
              </a:ext>
            </a:extLst>
          </p:cNvPr>
          <p:cNvGrpSpPr>
            <a:grpSpLocks/>
          </p:cNvGrpSpPr>
          <p:nvPr/>
        </p:nvGrpSpPr>
        <p:grpSpPr bwMode="auto">
          <a:xfrm>
            <a:off x="4586288" y="2178050"/>
            <a:ext cx="4219575" cy="2386013"/>
            <a:chOff x="0" y="0"/>
            <a:chExt cx="2658" cy="1503"/>
          </a:xfrm>
        </p:grpSpPr>
        <p:sp>
          <p:nvSpPr>
            <p:cNvPr id="128017" name="Line 8">
              <a:extLst>
                <a:ext uri="{FF2B5EF4-FFF2-40B4-BE49-F238E27FC236}">
                  <a16:creationId xmlns:a16="http://schemas.microsoft.com/office/drawing/2014/main" id="{B162956B-0A32-4B4B-A9E4-FAB212311AC2}"/>
                </a:ext>
              </a:extLst>
            </p:cNvPr>
            <p:cNvSpPr>
              <a:spLocks noChangeShapeType="1"/>
            </p:cNvSpPr>
            <p:nvPr/>
          </p:nvSpPr>
          <p:spPr bwMode="auto">
            <a:xfrm flipV="1">
              <a:off x="0" y="242"/>
              <a:ext cx="2401" cy="1261"/>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18" name="Rectangle 9">
              <a:extLst>
                <a:ext uri="{FF2B5EF4-FFF2-40B4-BE49-F238E27FC236}">
                  <a16:creationId xmlns:a16="http://schemas.microsoft.com/office/drawing/2014/main" id="{15AF1B40-D4BD-41A0-A7CB-5663E77C3085}"/>
                </a:ext>
              </a:extLst>
            </p:cNvPr>
            <p:cNvSpPr>
              <a:spLocks noChangeArrowheads="1"/>
            </p:cNvSpPr>
            <p:nvPr/>
          </p:nvSpPr>
          <p:spPr bwMode="auto">
            <a:xfrm>
              <a:off x="2353" y="0"/>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S</a:t>
              </a:r>
            </a:p>
          </p:txBody>
        </p:sp>
      </p:grpSp>
      <p:grpSp>
        <p:nvGrpSpPr>
          <p:cNvPr id="128004" name="Group 10">
            <a:extLst>
              <a:ext uri="{FF2B5EF4-FFF2-40B4-BE49-F238E27FC236}">
                <a16:creationId xmlns:a16="http://schemas.microsoft.com/office/drawing/2014/main" id="{FF5C5FB6-5346-4CBC-B0AE-5866151E57F6}"/>
              </a:ext>
            </a:extLst>
          </p:cNvPr>
          <p:cNvGrpSpPr>
            <a:grpSpLocks/>
          </p:cNvGrpSpPr>
          <p:nvPr/>
        </p:nvGrpSpPr>
        <p:grpSpPr bwMode="auto">
          <a:xfrm>
            <a:off x="4583113" y="1887538"/>
            <a:ext cx="3438525" cy="3495675"/>
            <a:chOff x="0" y="0"/>
            <a:chExt cx="2166" cy="2202"/>
          </a:xfrm>
        </p:grpSpPr>
        <p:sp>
          <p:nvSpPr>
            <p:cNvPr id="128015" name="Line 11">
              <a:extLst>
                <a:ext uri="{FF2B5EF4-FFF2-40B4-BE49-F238E27FC236}">
                  <a16:creationId xmlns:a16="http://schemas.microsoft.com/office/drawing/2014/main" id="{EF11C8E2-F94B-405D-BBEA-187AC6A14D42}"/>
                </a:ext>
              </a:extLst>
            </p:cNvPr>
            <p:cNvSpPr>
              <a:spLocks noChangeShapeType="1"/>
            </p:cNvSpPr>
            <p:nvPr/>
          </p:nvSpPr>
          <p:spPr bwMode="auto">
            <a:xfrm>
              <a:off x="0" y="0"/>
              <a:ext cx="1901" cy="1990"/>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16" name="Rectangle 12">
              <a:extLst>
                <a:ext uri="{FF2B5EF4-FFF2-40B4-BE49-F238E27FC236}">
                  <a16:creationId xmlns:a16="http://schemas.microsoft.com/office/drawing/2014/main" id="{25AA5529-BF8B-49BB-AEE7-AB156FBE309D}"/>
                </a:ext>
              </a:extLst>
            </p:cNvPr>
            <p:cNvSpPr>
              <a:spLocks noChangeArrowheads="1"/>
            </p:cNvSpPr>
            <p:nvPr/>
          </p:nvSpPr>
          <p:spPr bwMode="auto">
            <a:xfrm>
              <a:off x="1861" y="1885"/>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D</a:t>
              </a:r>
            </a:p>
          </p:txBody>
        </p:sp>
      </p:grpSp>
      <p:grpSp>
        <p:nvGrpSpPr>
          <p:cNvPr id="128005" name="Group 13">
            <a:extLst>
              <a:ext uri="{FF2B5EF4-FFF2-40B4-BE49-F238E27FC236}">
                <a16:creationId xmlns:a16="http://schemas.microsoft.com/office/drawing/2014/main" id="{F1A1813F-D37C-4A57-B886-79F07373DF38}"/>
              </a:ext>
            </a:extLst>
          </p:cNvPr>
          <p:cNvGrpSpPr>
            <a:grpSpLocks/>
          </p:cNvGrpSpPr>
          <p:nvPr/>
        </p:nvGrpSpPr>
        <p:grpSpPr bwMode="auto">
          <a:xfrm>
            <a:off x="6038850" y="3654425"/>
            <a:ext cx="522288" cy="2498725"/>
            <a:chOff x="0" y="0"/>
            <a:chExt cx="329" cy="1574"/>
          </a:xfrm>
        </p:grpSpPr>
        <p:sp>
          <p:nvSpPr>
            <p:cNvPr id="128013" name="Line 15">
              <a:extLst>
                <a:ext uri="{FF2B5EF4-FFF2-40B4-BE49-F238E27FC236}">
                  <a16:creationId xmlns:a16="http://schemas.microsoft.com/office/drawing/2014/main" id="{5FC7836B-7427-4D00-A168-ACF16A2504BF}"/>
                </a:ext>
              </a:extLst>
            </p:cNvPr>
            <p:cNvSpPr>
              <a:spLocks noChangeShapeType="1"/>
            </p:cNvSpPr>
            <p:nvPr/>
          </p:nvSpPr>
          <p:spPr bwMode="auto">
            <a:xfrm rot="5400000">
              <a:off x="-505" y="663"/>
              <a:ext cx="1326"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14" name="Rectangle 16">
              <a:extLst>
                <a:ext uri="{FF2B5EF4-FFF2-40B4-BE49-F238E27FC236}">
                  <a16:creationId xmlns:a16="http://schemas.microsoft.com/office/drawing/2014/main" id="{954FF089-19E0-4A9D-9749-B4EFD2FC4868}"/>
                </a:ext>
              </a:extLst>
            </p:cNvPr>
            <p:cNvSpPr>
              <a:spLocks noChangeArrowheads="1"/>
            </p:cNvSpPr>
            <p:nvPr/>
          </p:nvSpPr>
          <p:spPr bwMode="auto">
            <a:xfrm>
              <a:off x="0" y="1326"/>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sp>
        <p:nvSpPr>
          <p:cNvPr id="63504" name="Rectangle 20">
            <a:extLst>
              <a:ext uri="{FF2B5EF4-FFF2-40B4-BE49-F238E27FC236}">
                <a16:creationId xmlns:a16="http://schemas.microsoft.com/office/drawing/2014/main" id="{37333314-D7CE-4BA8-94BF-B6D4EF0BB820}"/>
              </a:ext>
            </a:extLst>
          </p:cNvPr>
          <p:cNvSpPr>
            <a:spLocks noGrp="1" noChangeArrowheads="1"/>
          </p:cNvSpPr>
          <p:nvPr>
            <p:ph type="body" idx="4294967295"/>
          </p:nvPr>
        </p:nvSpPr>
        <p:spPr>
          <a:xfrm>
            <a:off x="914400" y="1219200"/>
            <a:ext cx="2825750" cy="5676900"/>
          </a:xfrm>
        </p:spPr>
        <p:txBody>
          <a:bodyPr>
            <a:normAutofit fontScale="92500" lnSpcReduction="10000"/>
          </a:bodyPr>
          <a:lstStyle/>
          <a:p>
            <a:pPr marL="0" indent="0">
              <a:lnSpc>
                <a:spcPct val="150000"/>
              </a:lnSpc>
              <a:spcBef>
                <a:spcPct val="25000"/>
              </a:spcBef>
              <a:buFont typeface="Wingdings" panose="05000000000000000000" pitchFamily="2" charset="2"/>
              <a:buNone/>
            </a:pPr>
            <a:r>
              <a:rPr lang="zh-CN" altLang="en-US" sz="2600" dirty="0">
                <a:ea typeface="宋体" panose="02010600030101010101" pitchFamily="2" charset="-122"/>
              </a:rPr>
              <a:t>在</a:t>
            </a:r>
            <a:r>
              <a:rPr lang="zh-CN" altLang="ja-JP" sz="2600" i="1" dirty="0">
                <a:ea typeface="宋体" panose="02010600030101010101" pitchFamily="2" charset="-122"/>
              </a:rPr>
              <a:t>Q</a:t>
            </a:r>
            <a:r>
              <a:rPr lang="zh-CN" altLang="ja-JP" sz="2600" dirty="0">
                <a:ea typeface="宋体" panose="02010600030101010101" pitchFamily="2" charset="-122"/>
              </a:rPr>
              <a:t> = 20,</a:t>
            </a:r>
            <a:r>
              <a:rPr lang="zh-CN" altLang="en-US" sz="2600" dirty="0">
                <a:ea typeface="宋体" panose="02010600030101010101" pitchFamily="2" charset="-122"/>
              </a:rPr>
              <a:t>生产物品的边际成本是</a:t>
            </a:r>
            <a:r>
              <a:rPr lang="zh-CN" altLang="ja-JP" sz="2600" dirty="0">
                <a:ea typeface="宋体" panose="02010600030101010101" pitchFamily="2" charset="-122"/>
              </a:rPr>
              <a:t>35 </a:t>
            </a:r>
          </a:p>
          <a:p>
            <a:pPr marL="0" indent="0">
              <a:lnSpc>
                <a:spcPct val="150000"/>
              </a:lnSpc>
              <a:spcBef>
                <a:spcPct val="25000"/>
              </a:spcBef>
              <a:buFont typeface="Wingdings" panose="05000000000000000000" pitchFamily="2" charset="2"/>
              <a:buNone/>
            </a:pPr>
            <a:r>
              <a:rPr lang="zh-CN" altLang="en-US" sz="2600" dirty="0">
                <a:ea typeface="宋体" panose="02010600030101010101" pitchFamily="2" charset="-122"/>
              </a:rPr>
              <a:t>消费者对物品的边际评价是</a:t>
            </a:r>
            <a:r>
              <a:rPr lang="zh-CN" altLang="ja-JP" sz="2600" dirty="0">
                <a:ea typeface="宋体" panose="02010600030101010101" pitchFamily="2" charset="-122"/>
              </a:rPr>
              <a:t>20</a:t>
            </a:r>
          </a:p>
          <a:p>
            <a:pPr marL="0" indent="0">
              <a:lnSpc>
                <a:spcPct val="150000"/>
              </a:lnSpc>
              <a:spcBef>
                <a:spcPct val="25000"/>
              </a:spcBef>
              <a:buFont typeface="Wingdings" panose="05000000000000000000" pitchFamily="2" charset="2"/>
              <a:buNone/>
            </a:pPr>
            <a:r>
              <a:rPr lang="zh-CN" altLang="en-US" sz="2600" dirty="0">
                <a:ea typeface="宋体" panose="02010600030101010101" pitchFamily="2" charset="-122"/>
              </a:rPr>
              <a:t>因此，只要生产物品的数量大于</a:t>
            </a:r>
            <a:r>
              <a:rPr lang="zh-CN" altLang="ja-JP" sz="2600" dirty="0">
                <a:ea typeface="宋体" panose="02010600030101010101" pitchFamily="2" charset="-122"/>
              </a:rPr>
              <a:t>15</a:t>
            </a:r>
            <a:r>
              <a:rPr lang="zh-CN" altLang="en-US" sz="2600" dirty="0">
                <a:ea typeface="宋体" panose="02010600030101010101" pitchFamily="2" charset="-122"/>
              </a:rPr>
              <a:t>，降低产量就能增加总剩余。（均衡时的总剩余减去对角三角形）</a:t>
            </a:r>
            <a:endParaRPr lang="zh-CN" altLang="ja-JP" sz="2600" dirty="0">
              <a:ea typeface="宋体" panose="02010600030101010101" pitchFamily="2" charset="-122"/>
            </a:endParaRPr>
          </a:p>
          <a:p>
            <a:pPr marL="0" indent="0">
              <a:spcBef>
                <a:spcPct val="35000"/>
              </a:spcBef>
              <a:buFont typeface="Wingdings" panose="05000000000000000000" pitchFamily="2" charset="2"/>
              <a:buNone/>
            </a:pPr>
            <a:endParaRPr lang="en-US" altLang="zh-CN" sz="2900" i="1" dirty="0">
              <a:solidFill>
                <a:srgbClr val="FF0000"/>
              </a:solidFill>
              <a:ea typeface="宋体" panose="02010600030101010101" pitchFamily="2" charset="-122"/>
            </a:endParaRPr>
          </a:p>
        </p:txBody>
      </p:sp>
      <p:sp>
        <p:nvSpPr>
          <p:cNvPr id="63505" name="Line 21">
            <a:extLst>
              <a:ext uri="{FF2B5EF4-FFF2-40B4-BE49-F238E27FC236}">
                <a16:creationId xmlns:a16="http://schemas.microsoft.com/office/drawing/2014/main" id="{EE119B9E-8002-4A6E-B530-08D5A98446EC}"/>
              </a:ext>
            </a:extLst>
          </p:cNvPr>
          <p:cNvSpPr>
            <a:spLocks noChangeShapeType="1"/>
          </p:cNvSpPr>
          <p:nvPr/>
        </p:nvSpPr>
        <p:spPr bwMode="auto">
          <a:xfrm flipH="1" flipV="1">
            <a:off x="6851650" y="3351213"/>
            <a:ext cx="12700" cy="2098675"/>
          </a:xfrm>
          <a:prstGeom prst="line">
            <a:avLst/>
          </a:prstGeom>
          <a:noFill/>
          <a:ln w="38100">
            <a:solidFill>
              <a:srgbClr val="CC00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3506" name="Line 22">
            <a:extLst>
              <a:ext uri="{FF2B5EF4-FFF2-40B4-BE49-F238E27FC236}">
                <a16:creationId xmlns:a16="http://schemas.microsoft.com/office/drawing/2014/main" id="{E6AF543F-8227-4E96-B647-D9C89D057235}"/>
              </a:ext>
            </a:extLst>
          </p:cNvPr>
          <p:cNvSpPr>
            <a:spLocks noChangeShapeType="1"/>
          </p:cNvSpPr>
          <p:nvPr/>
        </p:nvSpPr>
        <p:spPr bwMode="auto">
          <a:xfrm flipH="1" flipV="1">
            <a:off x="6878638" y="4279900"/>
            <a:ext cx="7937" cy="1169988"/>
          </a:xfrm>
          <a:prstGeom prst="line">
            <a:avLst/>
          </a:prstGeom>
          <a:noFill/>
          <a:ln w="38100">
            <a:solidFill>
              <a:srgbClr val="00CC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3507" name="Line 23">
            <a:extLst>
              <a:ext uri="{FF2B5EF4-FFF2-40B4-BE49-F238E27FC236}">
                <a16:creationId xmlns:a16="http://schemas.microsoft.com/office/drawing/2014/main" id="{61EB1179-5222-4D69-9CE7-BEDFF414F538}"/>
              </a:ext>
            </a:extLst>
          </p:cNvPr>
          <p:cNvSpPr>
            <a:spLocks noChangeShapeType="1"/>
          </p:cNvSpPr>
          <p:nvPr/>
        </p:nvSpPr>
        <p:spPr bwMode="auto">
          <a:xfrm>
            <a:off x="4586288" y="3357563"/>
            <a:ext cx="2257425" cy="0"/>
          </a:xfrm>
          <a:prstGeom prst="line">
            <a:avLst/>
          </a:prstGeom>
          <a:noFill/>
          <a:ln w="12700">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8" name="Line 24">
            <a:extLst>
              <a:ext uri="{FF2B5EF4-FFF2-40B4-BE49-F238E27FC236}">
                <a16:creationId xmlns:a16="http://schemas.microsoft.com/office/drawing/2014/main" id="{B489E8DA-E622-442F-B383-275EED5ADF7B}"/>
              </a:ext>
            </a:extLst>
          </p:cNvPr>
          <p:cNvSpPr>
            <a:spLocks noChangeShapeType="1"/>
          </p:cNvSpPr>
          <p:nvPr/>
        </p:nvSpPr>
        <p:spPr bwMode="auto">
          <a:xfrm>
            <a:off x="4587875" y="4270375"/>
            <a:ext cx="2286000" cy="0"/>
          </a:xfrm>
          <a:prstGeom prst="line">
            <a:avLst/>
          </a:prstGeom>
          <a:noFill/>
          <a:ln w="12700">
            <a:solidFill>
              <a:srgbClr val="00CC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9" name="Line 25">
            <a:extLst>
              <a:ext uri="{FF2B5EF4-FFF2-40B4-BE49-F238E27FC236}">
                <a16:creationId xmlns:a16="http://schemas.microsoft.com/office/drawing/2014/main" id="{C83767AB-9A6E-4A77-B6C8-B208079D4D79}"/>
              </a:ext>
            </a:extLst>
          </p:cNvPr>
          <p:cNvSpPr>
            <a:spLocks noChangeShapeType="1"/>
          </p:cNvSpPr>
          <p:nvPr/>
        </p:nvSpPr>
        <p:spPr bwMode="auto">
          <a:xfrm flipH="1">
            <a:off x="6457950" y="5448300"/>
            <a:ext cx="400050" cy="0"/>
          </a:xfrm>
          <a:prstGeom prst="line">
            <a:avLst/>
          </a:prstGeom>
          <a:noFill/>
          <a:ln w="38100">
            <a:solidFill>
              <a:srgbClr val="0000FF"/>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128012" name="Title 1">
            <a:extLst>
              <a:ext uri="{FF2B5EF4-FFF2-40B4-BE49-F238E27FC236}">
                <a16:creationId xmlns:a16="http://schemas.microsoft.com/office/drawing/2014/main" id="{71DAC083-DCCA-4D5B-AFA1-55A14E3D040D}"/>
              </a:ext>
            </a:extLst>
          </p:cNvPr>
          <p:cNvSpPr txBox="1">
            <a:spLocks/>
          </p:cNvSpPr>
          <p:nvPr/>
        </p:nvSpPr>
        <p:spPr bwMode="auto">
          <a:xfrm>
            <a:off x="1042988"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dirty="0">
                <a:latin typeface="Arial" panose="020B0604020202020204" pitchFamily="34" charset="0"/>
              </a:rPr>
              <a:t>市场均衡的评价</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504">
                                            <p:txEl>
                                              <p:pRg st="0" end="0"/>
                                            </p:txEl>
                                          </p:spTgt>
                                        </p:tgtEl>
                                        <p:attrNameLst>
                                          <p:attrName>style.visibility</p:attrName>
                                        </p:attrNameLst>
                                      </p:cBhvr>
                                      <p:to>
                                        <p:strVal val="visible"/>
                                      </p:to>
                                    </p:set>
                                    <p:animEffect transition="in" filter="wipe(left)">
                                      <p:cBhvr>
                                        <p:cTn id="7" dur="500"/>
                                        <p:tgtEl>
                                          <p:spTgt spid="63504">
                                            <p:txEl>
                                              <p:pRg st="0" end="0"/>
                                            </p:txEl>
                                          </p:spTgt>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63505"/>
                                        </p:tgtEl>
                                        <p:attrNameLst>
                                          <p:attrName>style.visibility</p:attrName>
                                        </p:attrNameLst>
                                      </p:cBhvr>
                                      <p:to>
                                        <p:strVal val="visible"/>
                                      </p:to>
                                    </p:set>
                                    <p:animEffect transition="in" filter="wipe(down)">
                                      <p:cBhvr>
                                        <p:cTn id="11" dur="500"/>
                                        <p:tgtEl>
                                          <p:spTgt spid="63505"/>
                                        </p:tgtEl>
                                      </p:cBhvr>
                                    </p:animEffect>
                                  </p:childTnLst>
                                </p:cTn>
                              </p:par>
                            </p:childTnLst>
                          </p:cTn>
                        </p:par>
                        <p:par>
                          <p:cTn id="12" fill="hold" nodeType="afterGroup">
                            <p:stCondLst>
                              <p:cond delay="1000"/>
                            </p:stCondLst>
                            <p:childTnLst>
                              <p:par>
                                <p:cTn id="13" presetID="22" presetClass="entr" presetSubtype="2" fill="hold" nodeType="afterEffect">
                                  <p:stCondLst>
                                    <p:cond delay="0"/>
                                  </p:stCondLst>
                                  <p:childTnLst>
                                    <p:set>
                                      <p:cBhvr>
                                        <p:cTn id="14" dur="1" fill="hold">
                                          <p:stCondLst>
                                            <p:cond delay="0"/>
                                          </p:stCondLst>
                                        </p:cTn>
                                        <p:tgtEl>
                                          <p:spTgt spid="63507"/>
                                        </p:tgtEl>
                                        <p:attrNameLst>
                                          <p:attrName>style.visibility</p:attrName>
                                        </p:attrNameLst>
                                      </p:cBhvr>
                                      <p:to>
                                        <p:strVal val="visible"/>
                                      </p:to>
                                    </p:set>
                                    <p:animEffect transition="in" filter="wipe(right)">
                                      <p:cBhvr>
                                        <p:cTn id="15" dur="500"/>
                                        <p:tgtEl>
                                          <p:spTgt spid="6350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3504">
                                            <p:txEl>
                                              <p:pRg st="1" end="1"/>
                                            </p:txEl>
                                          </p:spTgt>
                                        </p:tgtEl>
                                        <p:attrNameLst>
                                          <p:attrName>style.visibility</p:attrName>
                                        </p:attrNameLst>
                                      </p:cBhvr>
                                      <p:to>
                                        <p:strVal val="visible"/>
                                      </p:to>
                                    </p:set>
                                    <p:animEffect transition="in" filter="wipe(left)">
                                      <p:cBhvr>
                                        <p:cTn id="20" dur="500"/>
                                        <p:tgtEl>
                                          <p:spTgt spid="63504">
                                            <p:txEl>
                                              <p:pRg st="1" end="1"/>
                                            </p:txEl>
                                          </p:spTgt>
                                        </p:tgtEl>
                                      </p:cBhvr>
                                    </p:animEffect>
                                  </p:childTnLst>
                                </p:cTn>
                              </p:par>
                            </p:childTnLst>
                          </p:cTn>
                        </p:par>
                        <p:par>
                          <p:cTn id="21" fill="hold" nodeType="afterGroup">
                            <p:stCondLst>
                              <p:cond delay="500"/>
                            </p:stCondLst>
                            <p:childTnLst>
                              <p:par>
                                <p:cTn id="22" presetID="22" presetClass="entr" presetSubtype="4" fill="hold" nodeType="afterEffect">
                                  <p:stCondLst>
                                    <p:cond delay="0"/>
                                  </p:stCondLst>
                                  <p:childTnLst>
                                    <p:set>
                                      <p:cBhvr>
                                        <p:cTn id="23" dur="1" fill="hold">
                                          <p:stCondLst>
                                            <p:cond delay="0"/>
                                          </p:stCondLst>
                                        </p:cTn>
                                        <p:tgtEl>
                                          <p:spTgt spid="63506"/>
                                        </p:tgtEl>
                                        <p:attrNameLst>
                                          <p:attrName>style.visibility</p:attrName>
                                        </p:attrNameLst>
                                      </p:cBhvr>
                                      <p:to>
                                        <p:strVal val="visible"/>
                                      </p:to>
                                    </p:set>
                                    <p:animEffect transition="in" filter="wipe(down)">
                                      <p:cBhvr>
                                        <p:cTn id="24" dur="500"/>
                                        <p:tgtEl>
                                          <p:spTgt spid="63506"/>
                                        </p:tgtEl>
                                      </p:cBhvr>
                                    </p:animEffect>
                                  </p:childTnLst>
                                </p:cTn>
                              </p:par>
                            </p:childTnLst>
                          </p:cTn>
                        </p:par>
                        <p:par>
                          <p:cTn id="25" fill="hold" nodeType="afterGroup">
                            <p:stCondLst>
                              <p:cond delay="1000"/>
                            </p:stCondLst>
                            <p:childTnLst>
                              <p:par>
                                <p:cTn id="26" presetID="22" presetClass="entr" presetSubtype="2" fill="hold" nodeType="afterEffect">
                                  <p:stCondLst>
                                    <p:cond delay="0"/>
                                  </p:stCondLst>
                                  <p:childTnLst>
                                    <p:set>
                                      <p:cBhvr>
                                        <p:cTn id="27" dur="1" fill="hold">
                                          <p:stCondLst>
                                            <p:cond delay="0"/>
                                          </p:stCondLst>
                                        </p:cTn>
                                        <p:tgtEl>
                                          <p:spTgt spid="63508"/>
                                        </p:tgtEl>
                                        <p:attrNameLst>
                                          <p:attrName>style.visibility</p:attrName>
                                        </p:attrNameLst>
                                      </p:cBhvr>
                                      <p:to>
                                        <p:strVal val="visible"/>
                                      </p:to>
                                    </p:set>
                                    <p:animEffect transition="in" filter="wipe(right)">
                                      <p:cBhvr>
                                        <p:cTn id="28" dur="500"/>
                                        <p:tgtEl>
                                          <p:spTgt spid="6350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3504">
                                            <p:txEl>
                                              <p:pRg st="2" end="2"/>
                                            </p:txEl>
                                          </p:spTgt>
                                        </p:tgtEl>
                                        <p:attrNameLst>
                                          <p:attrName>style.visibility</p:attrName>
                                        </p:attrNameLst>
                                      </p:cBhvr>
                                      <p:to>
                                        <p:strVal val="visible"/>
                                      </p:to>
                                    </p:set>
                                    <p:animEffect transition="in" filter="wipe(left)">
                                      <p:cBhvr>
                                        <p:cTn id="33" dur="500"/>
                                        <p:tgtEl>
                                          <p:spTgt spid="63504">
                                            <p:txEl>
                                              <p:pRg st="2" end="2"/>
                                            </p:txEl>
                                          </p:spTgt>
                                        </p:tgtEl>
                                      </p:cBhvr>
                                    </p:animEffect>
                                  </p:childTnLst>
                                </p:cTn>
                              </p:par>
                            </p:childTnLst>
                          </p:cTn>
                        </p:par>
                        <p:par>
                          <p:cTn id="34" fill="hold" nodeType="afterGroup">
                            <p:stCondLst>
                              <p:cond delay="500"/>
                            </p:stCondLst>
                            <p:childTnLst>
                              <p:par>
                                <p:cTn id="35" presetID="22" presetClass="entr" presetSubtype="2" fill="hold" nodeType="afterEffect">
                                  <p:stCondLst>
                                    <p:cond delay="0"/>
                                  </p:stCondLst>
                                  <p:childTnLst>
                                    <p:set>
                                      <p:cBhvr>
                                        <p:cTn id="36" dur="1" fill="hold">
                                          <p:stCondLst>
                                            <p:cond delay="0"/>
                                          </p:stCondLst>
                                        </p:cTn>
                                        <p:tgtEl>
                                          <p:spTgt spid="63509"/>
                                        </p:tgtEl>
                                        <p:attrNameLst>
                                          <p:attrName>style.visibility</p:attrName>
                                        </p:attrNameLst>
                                      </p:cBhvr>
                                      <p:to>
                                        <p:strVal val="visible"/>
                                      </p:to>
                                    </p:set>
                                    <p:animEffect transition="in" filter="wipe(right)">
                                      <p:cBhvr>
                                        <p:cTn id="37" dur="500"/>
                                        <p:tgtEl>
                                          <p:spTgt spid="63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4" grpId="0" build="p" bldLvl="5"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050" name="直接箭头连接符 2">
            <a:extLst>
              <a:ext uri="{FF2B5EF4-FFF2-40B4-BE49-F238E27FC236}">
                <a16:creationId xmlns:a16="http://schemas.microsoft.com/office/drawing/2014/main" id="{762A142C-B223-489F-B4CC-8AA219CC9A8F}"/>
              </a:ext>
            </a:extLst>
          </p:cNvPr>
          <p:cNvCxnSpPr>
            <a:cxnSpLocks noChangeShapeType="1"/>
          </p:cNvCxnSpPr>
          <p:nvPr/>
        </p:nvCxnSpPr>
        <p:spPr bwMode="auto">
          <a:xfrm flipV="1">
            <a:off x="1066800" y="1905000"/>
            <a:ext cx="0" cy="28194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0051" name="直接箭头连接符 4">
            <a:extLst>
              <a:ext uri="{FF2B5EF4-FFF2-40B4-BE49-F238E27FC236}">
                <a16:creationId xmlns:a16="http://schemas.microsoft.com/office/drawing/2014/main" id="{CDD0561C-6CFD-4675-8C35-0882A3F2928A}"/>
              </a:ext>
            </a:extLst>
          </p:cNvPr>
          <p:cNvCxnSpPr>
            <a:cxnSpLocks noChangeShapeType="1"/>
          </p:cNvCxnSpPr>
          <p:nvPr/>
        </p:nvCxnSpPr>
        <p:spPr bwMode="auto">
          <a:xfrm>
            <a:off x="1066800" y="4724400"/>
            <a:ext cx="2971800"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30052" name="标题 5">
            <a:extLst>
              <a:ext uri="{FF2B5EF4-FFF2-40B4-BE49-F238E27FC236}">
                <a16:creationId xmlns:a16="http://schemas.microsoft.com/office/drawing/2014/main" id="{CDB93BAB-1C78-4855-AB83-799510BADE5F}"/>
              </a:ext>
            </a:extLst>
          </p:cNvPr>
          <p:cNvSpPr>
            <a:spLocks noGrp="1" noChangeArrowheads="1"/>
          </p:cNvSpPr>
          <p:nvPr>
            <p:ph type="title"/>
          </p:nvPr>
        </p:nvSpPr>
        <p:spPr/>
        <p:txBody>
          <a:bodyPr/>
          <a:lstStyle/>
          <a:p>
            <a:r>
              <a:rPr lang="zh-CN" altLang="en-US" dirty="0">
                <a:ea typeface="宋体" panose="02010600030101010101" pitchFamily="2" charset="-122"/>
              </a:rPr>
              <a:t>对上一页的详细说明</a:t>
            </a:r>
          </a:p>
        </p:txBody>
      </p:sp>
      <p:sp>
        <p:nvSpPr>
          <p:cNvPr id="130053" name="内容占位符 6">
            <a:extLst>
              <a:ext uri="{FF2B5EF4-FFF2-40B4-BE49-F238E27FC236}">
                <a16:creationId xmlns:a16="http://schemas.microsoft.com/office/drawing/2014/main" id="{4A9809B2-32CC-49C9-AB38-49F6A903B065}"/>
              </a:ext>
            </a:extLst>
          </p:cNvPr>
          <p:cNvSpPr>
            <a:spLocks noGrp="1" noChangeArrowheads="1"/>
          </p:cNvSpPr>
          <p:nvPr>
            <p:ph idx="1"/>
          </p:nvPr>
        </p:nvSpPr>
        <p:spPr>
          <a:xfrm>
            <a:off x="4724400" y="1219200"/>
            <a:ext cx="4114800" cy="4081929"/>
          </a:xfrm>
        </p:spPr>
        <p:txBody>
          <a:bodyPr/>
          <a:lstStyle/>
          <a:p>
            <a:pPr>
              <a:lnSpc>
                <a:spcPct val="150000"/>
              </a:lnSpc>
            </a:pPr>
            <a:r>
              <a:rPr lang="zh-CN" altLang="en-US" sz="1500" b="0" dirty="0">
                <a:solidFill>
                  <a:schemeClr val="accent2">
                    <a:lumMod val="75000"/>
                  </a:schemeClr>
                </a:solidFill>
                <a:ea typeface="宋体" panose="02010600030101010101" pitchFamily="2" charset="-122"/>
              </a:rPr>
              <a:t>当厂商在</a:t>
            </a:r>
            <a:r>
              <a:rPr lang="en-US" altLang="zh-CN" sz="1500" b="0" dirty="0">
                <a:solidFill>
                  <a:schemeClr val="accent2">
                    <a:lumMod val="75000"/>
                  </a:schemeClr>
                </a:solidFill>
                <a:ea typeface="宋体" panose="02010600030101010101" pitchFamily="2" charset="-122"/>
              </a:rPr>
              <a:t>B</a:t>
            </a:r>
            <a:r>
              <a:rPr lang="zh-CN" altLang="en-US" sz="1500" b="0" dirty="0">
                <a:solidFill>
                  <a:schemeClr val="accent2">
                    <a:lumMod val="75000"/>
                  </a:schemeClr>
                </a:solidFill>
                <a:ea typeface="宋体" panose="02010600030101010101" pitchFamily="2" charset="-122"/>
              </a:rPr>
              <a:t>点生产时，此时供给量与需求量相等，市场达到均衡，均衡产量是</a:t>
            </a:r>
            <a:r>
              <a:rPr lang="en-US" altLang="zh-CN" sz="1500" b="0" dirty="0">
                <a:solidFill>
                  <a:schemeClr val="accent2">
                    <a:lumMod val="75000"/>
                  </a:schemeClr>
                </a:solidFill>
                <a:ea typeface="宋体" panose="02010600030101010101" pitchFamily="2" charset="-122"/>
              </a:rPr>
              <a:t>Q</a:t>
            </a:r>
            <a:r>
              <a:rPr lang="en-US" altLang="zh-CN" sz="1500" b="0" baseline="-25000" dirty="0">
                <a:solidFill>
                  <a:schemeClr val="accent2">
                    <a:lumMod val="75000"/>
                  </a:schemeClr>
                </a:solidFill>
                <a:ea typeface="宋体" panose="02010600030101010101" pitchFamily="2" charset="-122"/>
              </a:rPr>
              <a:t>0</a:t>
            </a:r>
            <a:r>
              <a:rPr lang="zh-CN" altLang="en-US" sz="1500" b="0" dirty="0">
                <a:solidFill>
                  <a:schemeClr val="accent2">
                    <a:lumMod val="75000"/>
                  </a:schemeClr>
                </a:solidFill>
                <a:ea typeface="宋体" panose="02010600030101010101" pitchFamily="2" charset="-122"/>
              </a:rPr>
              <a:t>，均衡价格是</a:t>
            </a:r>
            <a:r>
              <a:rPr lang="en-US" altLang="zh-CN" sz="1500" b="0" dirty="0">
                <a:solidFill>
                  <a:schemeClr val="accent2">
                    <a:lumMod val="75000"/>
                  </a:schemeClr>
                </a:solidFill>
                <a:ea typeface="宋体" panose="02010600030101010101" pitchFamily="2" charset="-122"/>
              </a:rPr>
              <a:t>P</a:t>
            </a:r>
            <a:r>
              <a:rPr lang="en-US" altLang="zh-CN" sz="1500" b="0" baseline="-25000" dirty="0">
                <a:solidFill>
                  <a:schemeClr val="accent2">
                    <a:lumMod val="75000"/>
                  </a:schemeClr>
                </a:solidFill>
                <a:ea typeface="宋体" panose="02010600030101010101" pitchFamily="2" charset="-122"/>
              </a:rPr>
              <a:t>0</a:t>
            </a:r>
            <a:r>
              <a:rPr lang="zh-CN" altLang="en-US" sz="1500" b="0" dirty="0">
                <a:solidFill>
                  <a:schemeClr val="accent2">
                    <a:lumMod val="75000"/>
                  </a:schemeClr>
                </a:solidFill>
                <a:ea typeface="宋体" panose="02010600030101010101" pitchFamily="2" charset="-122"/>
              </a:rPr>
              <a:t>，此时消费者剩余</a:t>
            </a:r>
            <a:r>
              <a:rPr lang="en-US" altLang="zh-CN" sz="1500" b="0" dirty="0">
                <a:solidFill>
                  <a:schemeClr val="accent2">
                    <a:lumMod val="75000"/>
                  </a:schemeClr>
                </a:solidFill>
                <a:ea typeface="宋体" panose="02010600030101010101" pitchFamily="2" charset="-122"/>
              </a:rPr>
              <a:t>CS=S</a:t>
            </a:r>
            <a:r>
              <a:rPr lang="en-US" altLang="zh-CN" sz="1500" b="0" baseline="-25000" dirty="0">
                <a:solidFill>
                  <a:schemeClr val="accent2">
                    <a:lumMod val="75000"/>
                  </a:schemeClr>
                </a:solidFill>
                <a:ea typeface="宋体" panose="02010600030101010101" pitchFamily="2" charset="-122"/>
              </a:rPr>
              <a:t>ABP</a:t>
            </a:r>
            <a:r>
              <a:rPr lang="en-US" altLang="zh-CN" sz="1500" b="0" baseline="-45000" dirty="0">
                <a:solidFill>
                  <a:schemeClr val="accent2">
                    <a:lumMod val="75000"/>
                  </a:schemeClr>
                </a:solidFill>
                <a:ea typeface="宋体" panose="02010600030101010101" pitchFamily="2" charset="-122"/>
              </a:rPr>
              <a:t>0</a:t>
            </a:r>
            <a:r>
              <a:rPr lang="zh-CN" altLang="en-US" sz="1500" b="0" dirty="0">
                <a:solidFill>
                  <a:schemeClr val="accent2">
                    <a:lumMod val="75000"/>
                  </a:schemeClr>
                </a:solidFill>
                <a:ea typeface="宋体" panose="02010600030101010101" pitchFamily="2" charset="-122"/>
              </a:rPr>
              <a:t>，生产者剩余</a:t>
            </a:r>
            <a:r>
              <a:rPr lang="en-US" altLang="zh-CN" sz="1500" b="0" dirty="0">
                <a:solidFill>
                  <a:schemeClr val="accent2">
                    <a:lumMod val="75000"/>
                  </a:schemeClr>
                </a:solidFill>
                <a:ea typeface="宋体" panose="02010600030101010101" pitchFamily="2" charset="-122"/>
              </a:rPr>
              <a:t>PS=S</a:t>
            </a:r>
            <a:r>
              <a:rPr lang="en-US" altLang="zh-CN" sz="1500" b="0" baseline="-25000" dirty="0">
                <a:solidFill>
                  <a:schemeClr val="accent2">
                    <a:lumMod val="75000"/>
                  </a:schemeClr>
                </a:solidFill>
                <a:ea typeface="宋体" panose="02010600030101010101" pitchFamily="2" charset="-122"/>
              </a:rPr>
              <a:t>P</a:t>
            </a:r>
            <a:r>
              <a:rPr lang="en-US" altLang="zh-CN" sz="1500" b="0" baseline="-45000" dirty="0">
                <a:solidFill>
                  <a:schemeClr val="accent2">
                    <a:lumMod val="75000"/>
                  </a:schemeClr>
                </a:solidFill>
                <a:ea typeface="宋体" panose="02010600030101010101" pitchFamily="2" charset="-122"/>
              </a:rPr>
              <a:t>0</a:t>
            </a:r>
            <a:r>
              <a:rPr lang="en-US" altLang="zh-CN" sz="1500" b="0" baseline="-25000" dirty="0">
                <a:solidFill>
                  <a:schemeClr val="accent2">
                    <a:lumMod val="75000"/>
                  </a:schemeClr>
                </a:solidFill>
                <a:ea typeface="宋体" panose="02010600030101010101" pitchFamily="2" charset="-122"/>
              </a:rPr>
              <a:t>BC</a:t>
            </a:r>
            <a:r>
              <a:rPr lang="zh-CN" altLang="en-US" sz="1500" b="0" dirty="0">
                <a:solidFill>
                  <a:schemeClr val="accent2">
                    <a:lumMod val="75000"/>
                  </a:schemeClr>
                </a:solidFill>
                <a:ea typeface="宋体" panose="02010600030101010101" pitchFamily="2" charset="-122"/>
              </a:rPr>
              <a:t>，社会总剩余</a:t>
            </a:r>
            <a:r>
              <a:rPr lang="en-US" altLang="zh-CN" sz="1500" b="0" dirty="0">
                <a:solidFill>
                  <a:schemeClr val="accent2">
                    <a:lumMod val="75000"/>
                  </a:schemeClr>
                </a:solidFill>
                <a:ea typeface="宋体" panose="02010600030101010101" pitchFamily="2" charset="-122"/>
              </a:rPr>
              <a:t>=S</a:t>
            </a:r>
            <a:r>
              <a:rPr lang="en-US" altLang="zh-CN" sz="1500" b="0" baseline="-25000" dirty="0">
                <a:solidFill>
                  <a:schemeClr val="accent2">
                    <a:lumMod val="75000"/>
                  </a:schemeClr>
                </a:solidFill>
                <a:ea typeface="宋体" panose="02010600030101010101" pitchFamily="2" charset="-122"/>
              </a:rPr>
              <a:t>ABC</a:t>
            </a:r>
          </a:p>
          <a:p>
            <a:pPr>
              <a:lnSpc>
                <a:spcPct val="150000"/>
              </a:lnSpc>
            </a:pPr>
            <a:r>
              <a:rPr lang="zh-CN" altLang="en-US" sz="1500" b="0" dirty="0">
                <a:solidFill>
                  <a:schemeClr val="accent2">
                    <a:lumMod val="75000"/>
                  </a:schemeClr>
                </a:solidFill>
                <a:ea typeface="宋体" panose="02010600030101010101" pitchFamily="2" charset="-122"/>
              </a:rPr>
              <a:t>当厂商在</a:t>
            </a:r>
            <a:r>
              <a:rPr lang="en-US" altLang="zh-CN" sz="1500" b="0" dirty="0">
                <a:solidFill>
                  <a:schemeClr val="accent2">
                    <a:lumMod val="75000"/>
                  </a:schemeClr>
                </a:solidFill>
                <a:ea typeface="宋体" panose="02010600030101010101" pitchFamily="2" charset="-122"/>
              </a:rPr>
              <a:t>F</a:t>
            </a:r>
            <a:r>
              <a:rPr lang="zh-CN" altLang="en-US" sz="1500" b="0" dirty="0">
                <a:solidFill>
                  <a:schemeClr val="accent2">
                    <a:lumMod val="75000"/>
                  </a:schemeClr>
                </a:solidFill>
                <a:ea typeface="宋体" panose="02010600030101010101" pitchFamily="2" charset="-122"/>
              </a:rPr>
              <a:t>点生产时，供给量是</a:t>
            </a:r>
            <a:r>
              <a:rPr lang="en-US" altLang="zh-CN" sz="1500" b="0" dirty="0">
                <a:solidFill>
                  <a:schemeClr val="accent2">
                    <a:lumMod val="75000"/>
                  </a:schemeClr>
                </a:solidFill>
                <a:ea typeface="宋体" panose="02010600030101010101" pitchFamily="2" charset="-122"/>
              </a:rPr>
              <a:t>Q</a:t>
            </a:r>
            <a:r>
              <a:rPr lang="en-US" altLang="zh-CN" sz="1500" b="0" baseline="-25000" dirty="0">
                <a:solidFill>
                  <a:schemeClr val="accent2">
                    <a:lumMod val="75000"/>
                  </a:schemeClr>
                </a:solidFill>
                <a:ea typeface="宋体" panose="02010600030101010101" pitchFamily="2" charset="-122"/>
              </a:rPr>
              <a:t>1</a:t>
            </a:r>
            <a:r>
              <a:rPr lang="zh-CN" altLang="en-US" sz="1500" b="0" dirty="0">
                <a:solidFill>
                  <a:schemeClr val="accent2">
                    <a:lumMod val="75000"/>
                  </a:schemeClr>
                </a:solidFill>
                <a:ea typeface="宋体" panose="02010600030101010101" pitchFamily="2" charset="-122"/>
              </a:rPr>
              <a:t>，此时供过于求，为了出清过剩库存，只能降价到</a:t>
            </a:r>
            <a:r>
              <a:rPr lang="en-US" altLang="zh-CN" sz="1500" b="0" dirty="0">
                <a:solidFill>
                  <a:schemeClr val="accent2">
                    <a:lumMod val="75000"/>
                  </a:schemeClr>
                </a:solidFill>
                <a:ea typeface="宋体" panose="02010600030101010101" pitchFamily="2" charset="-122"/>
              </a:rPr>
              <a:t>P</a:t>
            </a:r>
            <a:r>
              <a:rPr lang="en-US" altLang="zh-CN" sz="1500" b="0" baseline="-25000" dirty="0">
                <a:solidFill>
                  <a:schemeClr val="accent2">
                    <a:lumMod val="75000"/>
                  </a:schemeClr>
                </a:solidFill>
                <a:ea typeface="宋体" panose="02010600030101010101" pitchFamily="2" charset="-122"/>
              </a:rPr>
              <a:t>1</a:t>
            </a:r>
            <a:r>
              <a:rPr lang="zh-CN" altLang="en-US" sz="1500" b="0" dirty="0">
                <a:solidFill>
                  <a:schemeClr val="accent2">
                    <a:lumMod val="75000"/>
                  </a:schemeClr>
                </a:solidFill>
                <a:ea typeface="宋体" panose="02010600030101010101" pitchFamily="2" charset="-122"/>
              </a:rPr>
              <a:t>。此时消费者剩余</a:t>
            </a:r>
            <a:r>
              <a:rPr lang="en-US" altLang="zh-CN" sz="1500" b="0" dirty="0">
                <a:solidFill>
                  <a:schemeClr val="accent2">
                    <a:lumMod val="75000"/>
                  </a:schemeClr>
                </a:solidFill>
                <a:ea typeface="宋体" panose="02010600030101010101" pitchFamily="2" charset="-122"/>
              </a:rPr>
              <a:t>CS=S</a:t>
            </a:r>
            <a:r>
              <a:rPr lang="en-US" altLang="zh-CN" sz="1500" b="0" baseline="-25000" dirty="0">
                <a:solidFill>
                  <a:schemeClr val="accent2">
                    <a:lumMod val="75000"/>
                  </a:schemeClr>
                </a:solidFill>
                <a:ea typeface="宋体" panose="02010600030101010101" pitchFamily="2" charset="-122"/>
              </a:rPr>
              <a:t>AGP</a:t>
            </a:r>
            <a:r>
              <a:rPr lang="en-US" altLang="zh-CN" sz="1500" b="0" baseline="-45000" dirty="0">
                <a:solidFill>
                  <a:schemeClr val="accent2">
                    <a:lumMod val="75000"/>
                  </a:schemeClr>
                </a:solidFill>
                <a:ea typeface="宋体" panose="02010600030101010101" pitchFamily="2" charset="-122"/>
              </a:rPr>
              <a:t>1</a:t>
            </a:r>
            <a:r>
              <a:rPr lang="zh-CN" altLang="en-US" sz="1500" b="0" dirty="0">
                <a:solidFill>
                  <a:schemeClr val="accent2">
                    <a:lumMod val="75000"/>
                  </a:schemeClr>
                </a:solidFill>
                <a:ea typeface="宋体" panose="02010600030101010101" pitchFamily="2" charset="-122"/>
              </a:rPr>
              <a:t>，此时生产者剩余</a:t>
            </a:r>
            <a:r>
              <a:rPr lang="en-US" altLang="zh-CN" sz="1500" b="0" dirty="0">
                <a:solidFill>
                  <a:schemeClr val="accent2">
                    <a:lumMod val="75000"/>
                  </a:schemeClr>
                </a:solidFill>
                <a:ea typeface="宋体" panose="02010600030101010101" pitchFamily="2" charset="-122"/>
              </a:rPr>
              <a:t>PS=S</a:t>
            </a:r>
            <a:r>
              <a:rPr lang="en-US" altLang="zh-CN" sz="1500" b="0" baseline="-25000" dirty="0">
                <a:solidFill>
                  <a:schemeClr val="accent2">
                    <a:lumMod val="75000"/>
                  </a:schemeClr>
                </a:solidFill>
                <a:ea typeface="宋体" panose="02010600030101010101" pitchFamily="2" charset="-122"/>
              </a:rPr>
              <a:t>P</a:t>
            </a:r>
            <a:r>
              <a:rPr lang="en-US" altLang="zh-CN" sz="1500" b="0" baseline="-45000" dirty="0">
                <a:solidFill>
                  <a:schemeClr val="accent2">
                    <a:lumMod val="75000"/>
                  </a:schemeClr>
                </a:solidFill>
                <a:ea typeface="宋体" panose="02010600030101010101" pitchFamily="2" charset="-122"/>
              </a:rPr>
              <a:t>1</a:t>
            </a:r>
            <a:r>
              <a:rPr lang="en-US" altLang="zh-CN" sz="1500" b="0" baseline="-25000" dirty="0">
                <a:solidFill>
                  <a:schemeClr val="accent2">
                    <a:lumMod val="75000"/>
                  </a:schemeClr>
                </a:solidFill>
                <a:ea typeface="宋体" panose="02010600030101010101" pitchFamily="2" charset="-122"/>
              </a:rPr>
              <a:t>CH</a:t>
            </a:r>
            <a:r>
              <a:rPr lang="en-US" altLang="zh-CN" sz="1500" b="0" dirty="0">
                <a:solidFill>
                  <a:schemeClr val="accent2">
                    <a:lumMod val="75000"/>
                  </a:schemeClr>
                </a:solidFill>
                <a:ea typeface="宋体" panose="02010600030101010101" pitchFamily="2" charset="-122"/>
              </a:rPr>
              <a:t>-S</a:t>
            </a:r>
            <a:r>
              <a:rPr lang="en-US" altLang="zh-CN" sz="1500" b="0" baseline="-25000" dirty="0">
                <a:solidFill>
                  <a:schemeClr val="accent2">
                    <a:lumMod val="75000"/>
                  </a:schemeClr>
                </a:solidFill>
                <a:ea typeface="宋体" panose="02010600030101010101" pitchFamily="2" charset="-122"/>
              </a:rPr>
              <a:t>HFG</a:t>
            </a:r>
            <a:r>
              <a:rPr lang="zh-CN" altLang="en-US" sz="1500" b="0" dirty="0">
                <a:solidFill>
                  <a:schemeClr val="accent2">
                    <a:lumMod val="75000"/>
                  </a:schemeClr>
                </a:solidFill>
                <a:ea typeface="宋体" panose="02010600030101010101" pitchFamily="2" charset="-122"/>
              </a:rPr>
              <a:t>，注意这里</a:t>
            </a:r>
            <a:r>
              <a:rPr lang="en-US" altLang="zh-CN" sz="1500" b="0" dirty="0">
                <a:solidFill>
                  <a:schemeClr val="accent2">
                    <a:lumMod val="75000"/>
                  </a:schemeClr>
                </a:solidFill>
                <a:ea typeface="宋体" panose="02010600030101010101" pitchFamily="2" charset="-122"/>
              </a:rPr>
              <a:t>S</a:t>
            </a:r>
            <a:r>
              <a:rPr lang="en-US" altLang="zh-CN" sz="1500" b="0" baseline="-25000" dirty="0">
                <a:solidFill>
                  <a:schemeClr val="accent2">
                    <a:lumMod val="75000"/>
                  </a:schemeClr>
                </a:solidFill>
                <a:ea typeface="宋体" panose="02010600030101010101" pitchFamily="2" charset="-122"/>
              </a:rPr>
              <a:t>HFG</a:t>
            </a:r>
            <a:r>
              <a:rPr lang="zh-CN" altLang="en-US" sz="1500" b="0" dirty="0">
                <a:solidFill>
                  <a:schemeClr val="accent2">
                    <a:lumMod val="75000"/>
                  </a:schemeClr>
                </a:solidFill>
                <a:ea typeface="宋体" panose="02010600030101010101" pitchFamily="2" charset="-122"/>
              </a:rPr>
              <a:t>前是负号，是因为此时的价格</a:t>
            </a:r>
            <a:r>
              <a:rPr lang="en-US" altLang="zh-CN" sz="1500" b="0" dirty="0">
                <a:solidFill>
                  <a:schemeClr val="accent2">
                    <a:lumMod val="75000"/>
                  </a:schemeClr>
                </a:solidFill>
                <a:ea typeface="宋体" panose="02010600030101010101" pitchFamily="2" charset="-122"/>
              </a:rPr>
              <a:t>P</a:t>
            </a:r>
            <a:r>
              <a:rPr lang="en-US" altLang="zh-CN" sz="1500" b="0" baseline="-25000" dirty="0">
                <a:solidFill>
                  <a:schemeClr val="accent2">
                    <a:lumMod val="75000"/>
                  </a:schemeClr>
                </a:solidFill>
                <a:ea typeface="宋体" panose="02010600030101010101" pitchFamily="2" charset="-122"/>
              </a:rPr>
              <a:t>1</a:t>
            </a:r>
            <a:r>
              <a:rPr lang="zh-CN" altLang="en-US" sz="1500" b="0" dirty="0">
                <a:solidFill>
                  <a:schemeClr val="accent2">
                    <a:lumMod val="75000"/>
                  </a:schemeClr>
                </a:solidFill>
                <a:ea typeface="宋体" panose="02010600030101010101" pitchFamily="2" charset="-122"/>
              </a:rPr>
              <a:t>是低于厂商成本</a:t>
            </a:r>
            <a:r>
              <a:rPr lang="en-US" altLang="zh-CN" sz="1500" b="0" dirty="0">
                <a:solidFill>
                  <a:schemeClr val="accent2">
                    <a:lumMod val="75000"/>
                  </a:schemeClr>
                </a:solidFill>
                <a:ea typeface="宋体" panose="02010600030101010101" pitchFamily="2" charset="-122"/>
              </a:rPr>
              <a:t>HF</a:t>
            </a:r>
            <a:r>
              <a:rPr lang="zh-CN" altLang="en-US" sz="1500" b="0" dirty="0">
                <a:solidFill>
                  <a:schemeClr val="accent2">
                    <a:lumMod val="75000"/>
                  </a:schemeClr>
                </a:solidFill>
                <a:ea typeface="宋体" panose="02010600030101010101" pitchFamily="2" charset="-122"/>
              </a:rPr>
              <a:t>线的。那么社会总剩余</a:t>
            </a:r>
            <a:r>
              <a:rPr lang="en-US" altLang="zh-CN" sz="1500" b="0" dirty="0">
                <a:solidFill>
                  <a:schemeClr val="accent2">
                    <a:lumMod val="75000"/>
                  </a:schemeClr>
                </a:solidFill>
                <a:ea typeface="宋体" panose="02010600030101010101" pitchFamily="2" charset="-122"/>
              </a:rPr>
              <a:t>=S</a:t>
            </a:r>
            <a:r>
              <a:rPr lang="en-US" altLang="zh-CN" sz="1500" b="0" baseline="-25000" dirty="0">
                <a:solidFill>
                  <a:schemeClr val="accent2">
                    <a:lumMod val="75000"/>
                  </a:schemeClr>
                </a:solidFill>
                <a:ea typeface="宋体" panose="02010600030101010101" pitchFamily="2" charset="-122"/>
              </a:rPr>
              <a:t>AGP</a:t>
            </a:r>
            <a:r>
              <a:rPr lang="en-US" altLang="zh-CN" sz="1500" b="0" baseline="-45000" dirty="0">
                <a:solidFill>
                  <a:schemeClr val="accent2">
                    <a:lumMod val="75000"/>
                  </a:schemeClr>
                </a:solidFill>
                <a:ea typeface="宋体" panose="02010600030101010101" pitchFamily="2" charset="-122"/>
              </a:rPr>
              <a:t>1</a:t>
            </a:r>
            <a:r>
              <a:rPr lang="en-US" altLang="zh-CN" sz="1500" b="0" dirty="0">
                <a:solidFill>
                  <a:schemeClr val="accent2">
                    <a:lumMod val="75000"/>
                  </a:schemeClr>
                </a:solidFill>
                <a:ea typeface="宋体" panose="02010600030101010101" pitchFamily="2" charset="-122"/>
              </a:rPr>
              <a:t>+S</a:t>
            </a:r>
            <a:r>
              <a:rPr lang="en-US" altLang="zh-CN" sz="1500" b="0" baseline="-25000" dirty="0">
                <a:solidFill>
                  <a:schemeClr val="accent2">
                    <a:lumMod val="75000"/>
                  </a:schemeClr>
                </a:solidFill>
                <a:ea typeface="宋体" panose="02010600030101010101" pitchFamily="2" charset="-122"/>
              </a:rPr>
              <a:t>P</a:t>
            </a:r>
            <a:r>
              <a:rPr lang="en-US" altLang="zh-CN" sz="1500" b="0" baseline="-45000" dirty="0">
                <a:solidFill>
                  <a:schemeClr val="accent2">
                    <a:lumMod val="75000"/>
                  </a:schemeClr>
                </a:solidFill>
                <a:ea typeface="宋体" panose="02010600030101010101" pitchFamily="2" charset="-122"/>
              </a:rPr>
              <a:t>1</a:t>
            </a:r>
            <a:r>
              <a:rPr lang="en-US" altLang="zh-CN" sz="1500" b="0" baseline="-25000" dirty="0">
                <a:solidFill>
                  <a:schemeClr val="accent2">
                    <a:lumMod val="75000"/>
                  </a:schemeClr>
                </a:solidFill>
                <a:ea typeface="宋体" panose="02010600030101010101" pitchFamily="2" charset="-122"/>
              </a:rPr>
              <a:t>CH</a:t>
            </a:r>
            <a:r>
              <a:rPr lang="en-US" altLang="zh-CN" sz="1500" b="0" dirty="0">
                <a:solidFill>
                  <a:schemeClr val="accent2">
                    <a:lumMod val="75000"/>
                  </a:schemeClr>
                </a:solidFill>
                <a:ea typeface="宋体" panose="02010600030101010101" pitchFamily="2" charset="-122"/>
              </a:rPr>
              <a:t>-S</a:t>
            </a:r>
            <a:r>
              <a:rPr lang="en-US" altLang="zh-CN" sz="1500" b="0" baseline="-25000" dirty="0">
                <a:solidFill>
                  <a:schemeClr val="accent2">
                    <a:lumMod val="75000"/>
                  </a:schemeClr>
                </a:solidFill>
                <a:ea typeface="宋体" panose="02010600030101010101" pitchFamily="2" charset="-122"/>
              </a:rPr>
              <a:t>HFG</a:t>
            </a:r>
            <a:r>
              <a:rPr lang="en-US" altLang="zh-CN" sz="1500" b="0" dirty="0">
                <a:solidFill>
                  <a:schemeClr val="accent2">
                    <a:lumMod val="75000"/>
                  </a:schemeClr>
                </a:solidFill>
                <a:ea typeface="宋体" panose="02010600030101010101" pitchFamily="2" charset="-122"/>
              </a:rPr>
              <a:t>=S</a:t>
            </a:r>
            <a:r>
              <a:rPr lang="en-US" altLang="zh-CN" sz="1500" b="0" baseline="-25000" dirty="0">
                <a:solidFill>
                  <a:schemeClr val="accent2">
                    <a:lumMod val="75000"/>
                  </a:schemeClr>
                </a:solidFill>
                <a:ea typeface="宋体" panose="02010600030101010101" pitchFamily="2" charset="-122"/>
              </a:rPr>
              <a:t>ABC</a:t>
            </a:r>
            <a:r>
              <a:rPr lang="en-US" altLang="zh-CN" sz="1500" b="0" dirty="0">
                <a:solidFill>
                  <a:schemeClr val="accent2">
                    <a:lumMod val="75000"/>
                  </a:schemeClr>
                </a:solidFill>
                <a:ea typeface="宋体" panose="02010600030101010101" pitchFamily="2" charset="-122"/>
              </a:rPr>
              <a:t>-S</a:t>
            </a:r>
            <a:r>
              <a:rPr lang="en-US" altLang="zh-CN" sz="1500" b="0" baseline="-25000" dirty="0">
                <a:solidFill>
                  <a:schemeClr val="accent2">
                    <a:lumMod val="75000"/>
                  </a:schemeClr>
                </a:solidFill>
                <a:ea typeface="宋体" panose="02010600030101010101" pitchFamily="2" charset="-122"/>
              </a:rPr>
              <a:t>BFG</a:t>
            </a:r>
            <a:endParaRPr lang="zh-CN" altLang="en-US" sz="1500" b="0" baseline="-25000" dirty="0">
              <a:solidFill>
                <a:schemeClr val="accent2">
                  <a:lumMod val="75000"/>
                </a:schemeClr>
              </a:solidFill>
              <a:ea typeface="宋体" panose="02010600030101010101" pitchFamily="2" charset="-122"/>
            </a:endParaRPr>
          </a:p>
        </p:txBody>
      </p:sp>
      <p:cxnSp>
        <p:nvCxnSpPr>
          <p:cNvPr id="130054" name="直接连接符 8">
            <a:extLst>
              <a:ext uri="{FF2B5EF4-FFF2-40B4-BE49-F238E27FC236}">
                <a16:creationId xmlns:a16="http://schemas.microsoft.com/office/drawing/2014/main" id="{2EE1B253-2C55-4B0C-80DD-F47A6C91951A}"/>
              </a:ext>
            </a:extLst>
          </p:cNvPr>
          <p:cNvCxnSpPr>
            <a:cxnSpLocks noChangeShapeType="1"/>
          </p:cNvCxnSpPr>
          <p:nvPr/>
        </p:nvCxnSpPr>
        <p:spPr bwMode="auto">
          <a:xfrm>
            <a:off x="1066800" y="2362200"/>
            <a:ext cx="2514600" cy="2362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055" name="直接连接符 10">
            <a:extLst>
              <a:ext uri="{FF2B5EF4-FFF2-40B4-BE49-F238E27FC236}">
                <a16:creationId xmlns:a16="http://schemas.microsoft.com/office/drawing/2014/main" id="{F7E983B6-7458-4DCD-8546-2ACD4A3CF70B}"/>
              </a:ext>
            </a:extLst>
          </p:cNvPr>
          <p:cNvCxnSpPr>
            <a:cxnSpLocks noChangeShapeType="1"/>
          </p:cNvCxnSpPr>
          <p:nvPr/>
        </p:nvCxnSpPr>
        <p:spPr bwMode="auto">
          <a:xfrm flipV="1">
            <a:off x="1066800" y="2857500"/>
            <a:ext cx="2590800" cy="1676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056" name="直接连接符 12">
            <a:extLst>
              <a:ext uri="{FF2B5EF4-FFF2-40B4-BE49-F238E27FC236}">
                <a16:creationId xmlns:a16="http://schemas.microsoft.com/office/drawing/2014/main" id="{D9DA7D52-5594-4BBC-B1E0-11BDC676225A}"/>
              </a:ext>
            </a:extLst>
          </p:cNvPr>
          <p:cNvCxnSpPr>
            <a:cxnSpLocks noChangeShapeType="1"/>
          </p:cNvCxnSpPr>
          <p:nvPr/>
        </p:nvCxnSpPr>
        <p:spPr bwMode="auto">
          <a:xfrm>
            <a:off x="2971800" y="3292475"/>
            <a:ext cx="0" cy="1427163"/>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30057" name="直接连接符 18">
            <a:extLst>
              <a:ext uri="{FF2B5EF4-FFF2-40B4-BE49-F238E27FC236}">
                <a16:creationId xmlns:a16="http://schemas.microsoft.com/office/drawing/2014/main" id="{97149E93-5634-4895-B30C-504BFECECEF5}"/>
              </a:ext>
            </a:extLst>
          </p:cNvPr>
          <p:cNvCxnSpPr>
            <a:cxnSpLocks noChangeShapeType="1"/>
          </p:cNvCxnSpPr>
          <p:nvPr/>
        </p:nvCxnSpPr>
        <p:spPr bwMode="auto">
          <a:xfrm flipH="1">
            <a:off x="1066800" y="4168775"/>
            <a:ext cx="19050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058" name="直接连接符 20">
            <a:extLst>
              <a:ext uri="{FF2B5EF4-FFF2-40B4-BE49-F238E27FC236}">
                <a16:creationId xmlns:a16="http://schemas.microsoft.com/office/drawing/2014/main" id="{73E6C2F2-D6CC-4C8D-A37A-0B4CD0E710BC}"/>
              </a:ext>
            </a:extLst>
          </p:cNvPr>
          <p:cNvCxnSpPr>
            <a:cxnSpLocks noChangeShapeType="1"/>
          </p:cNvCxnSpPr>
          <p:nvPr/>
        </p:nvCxnSpPr>
        <p:spPr bwMode="auto">
          <a:xfrm flipH="1">
            <a:off x="1058863" y="3646488"/>
            <a:ext cx="1371600" cy="0"/>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sp>
        <p:nvSpPr>
          <p:cNvPr id="130059" name="文本框 21">
            <a:extLst>
              <a:ext uri="{FF2B5EF4-FFF2-40B4-BE49-F238E27FC236}">
                <a16:creationId xmlns:a16="http://schemas.microsoft.com/office/drawing/2014/main" id="{EE9D6684-B194-4118-94F3-7BD9C221F9AC}"/>
              </a:ext>
            </a:extLst>
          </p:cNvPr>
          <p:cNvSpPr txBox="1">
            <a:spLocks noChangeArrowheads="1"/>
          </p:cNvSpPr>
          <p:nvPr/>
        </p:nvSpPr>
        <p:spPr bwMode="auto">
          <a:xfrm>
            <a:off x="819150" y="4721225"/>
            <a:ext cx="323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O</a:t>
            </a:r>
            <a:endParaRPr lang="zh-CN" altLang="en-US" sz="1400" b="0">
              <a:latin typeface="Arial" panose="020B0604020202020204" pitchFamily="34" charset="0"/>
            </a:endParaRPr>
          </a:p>
        </p:txBody>
      </p:sp>
      <p:sp>
        <p:nvSpPr>
          <p:cNvPr id="130060" name="文本框 22">
            <a:extLst>
              <a:ext uri="{FF2B5EF4-FFF2-40B4-BE49-F238E27FC236}">
                <a16:creationId xmlns:a16="http://schemas.microsoft.com/office/drawing/2014/main" id="{50721EAD-C081-49CA-BB12-889967915D09}"/>
              </a:ext>
            </a:extLst>
          </p:cNvPr>
          <p:cNvSpPr txBox="1">
            <a:spLocks noChangeArrowheads="1"/>
          </p:cNvSpPr>
          <p:nvPr/>
        </p:nvSpPr>
        <p:spPr bwMode="auto">
          <a:xfrm>
            <a:off x="801688" y="4411663"/>
            <a:ext cx="314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C</a:t>
            </a:r>
            <a:endParaRPr lang="zh-CN" altLang="en-US" sz="1400" b="0">
              <a:latin typeface="Arial" panose="020B0604020202020204" pitchFamily="34" charset="0"/>
            </a:endParaRPr>
          </a:p>
        </p:txBody>
      </p:sp>
      <p:sp>
        <p:nvSpPr>
          <p:cNvPr id="130061" name="文本框 23">
            <a:extLst>
              <a:ext uri="{FF2B5EF4-FFF2-40B4-BE49-F238E27FC236}">
                <a16:creationId xmlns:a16="http://schemas.microsoft.com/office/drawing/2014/main" id="{F0DCC304-1A0B-4D69-9631-C52337F250A8}"/>
              </a:ext>
            </a:extLst>
          </p:cNvPr>
          <p:cNvSpPr txBox="1">
            <a:spLocks noChangeArrowheads="1"/>
          </p:cNvSpPr>
          <p:nvPr/>
        </p:nvSpPr>
        <p:spPr bwMode="auto">
          <a:xfrm>
            <a:off x="738188" y="3505200"/>
            <a:ext cx="4048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P</a:t>
            </a:r>
            <a:r>
              <a:rPr lang="en-US" altLang="zh-CN" sz="1400" b="0" baseline="-25000">
                <a:latin typeface="Arial" panose="020B0604020202020204" pitchFamily="34" charset="0"/>
              </a:rPr>
              <a:t>0</a:t>
            </a:r>
            <a:endParaRPr lang="zh-CN" altLang="en-US" sz="1400" b="0" baseline="-25000">
              <a:latin typeface="Arial" panose="020B0604020202020204" pitchFamily="34" charset="0"/>
            </a:endParaRPr>
          </a:p>
        </p:txBody>
      </p:sp>
      <p:sp>
        <p:nvSpPr>
          <p:cNvPr id="130062" name="文本框 24">
            <a:extLst>
              <a:ext uri="{FF2B5EF4-FFF2-40B4-BE49-F238E27FC236}">
                <a16:creationId xmlns:a16="http://schemas.microsoft.com/office/drawing/2014/main" id="{8F14345E-8109-401C-A213-B2A46D0DD489}"/>
              </a:ext>
            </a:extLst>
          </p:cNvPr>
          <p:cNvSpPr txBox="1">
            <a:spLocks noChangeArrowheads="1"/>
          </p:cNvSpPr>
          <p:nvPr/>
        </p:nvSpPr>
        <p:spPr bwMode="auto">
          <a:xfrm>
            <a:off x="735013" y="4038600"/>
            <a:ext cx="373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P</a:t>
            </a:r>
            <a:r>
              <a:rPr lang="en-US" altLang="zh-CN" sz="1400" b="0" baseline="-25000">
                <a:latin typeface="Arial" panose="020B0604020202020204" pitchFamily="34" charset="0"/>
              </a:rPr>
              <a:t>1</a:t>
            </a:r>
            <a:endParaRPr lang="zh-CN" altLang="en-US" sz="1400" b="0" baseline="-25000">
              <a:latin typeface="Arial" panose="020B0604020202020204" pitchFamily="34" charset="0"/>
            </a:endParaRPr>
          </a:p>
        </p:txBody>
      </p:sp>
      <p:sp>
        <p:nvSpPr>
          <p:cNvPr id="130063" name="文本框 25">
            <a:extLst>
              <a:ext uri="{FF2B5EF4-FFF2-40B4-BE49-F238E27FC236}">
                <a16:creationId xmlns:a16="http://schemas.microsoft.com/office/drawing/2014/main" id="{AAE0B827-C2FD-4960-8DD1-740A19D1B884}"/>
              </a:ext>
            </a:extLst>
          </p:cNvPr>
          <p:cNvSpPr txBox="1">
            <a:spLocks noChangeArrowheads="1"/>
          </p:cNvSpPr>
          <p:nvPr/>
        </p:nvSpPr>
        <p:spPr bwMode="auto">
          <a:xfrm>
            <a:off x="827088" y="2209800"/>
            <a:ext cx="304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A</a:t>
            </a:r>
            <a:endParaRPr lang="zh-CN" altLang="en-US" sz="1400" b="0">
              <a:latin typeface="Arial" panose="020B0604020202020204" pitchFamily="34" charset="0"/>
            </a:endParaRPr>
          </a:p>
        </p:txBody>
      </p:sp>
      <p:sp>
        <p:nvSpPr>
          <p:cNvPr id="130064" name="文本框 26">
            <a:extLst>
              <a:ext uri="{FF2B5EF4-FFF2-40B4-BE49-F238E27FC236}">
                <a16:creationId xmlns:a16="http://schemas.microsoft.com/office/drawing/2014/main" id="{0619E368-01A8-4CC0-BFB4-8B5A5EA7AF51}"/>
              </a:ext>
            </a:extLst>
          </p:cNvPr>
          <p:cNvSpPr txBox="1">
            <a:spLocks noChangeArrowheads="1"/>
          </p:cNvSpPr>
          <p:nvPr/>
        </p:nvSpPr>
        <p:spPr bwMode="auto">
          <a:xfrm>
            <a:off x="2286000" y="3368675"/>
            <a:ext cx="304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B</a:t>
            </a:r>
            <a:endParaRPr lang="zh-CN" altLang="en-US" sz="1400" b="0">
              <a:latin typeface="Arial" panose="020B0604020202020204" pitchFamily="34" charset="0"/>
            </a:endParaRPr>
          </a:p>
        </p:txBody>
      </p:sp>
      <p:sp>
        <p:nvSpPr>
          <p:cNvPr id="130065" name="文本框 27">
            <a:extLst>
              <a:ext uri="{FF2B5EF4-FFF2-40B4-BE49-F238E27FC236}">
                <a16:creationId xmlns:a16="http://schemas.microsoft.com/office/drawing/2014/main" id="{256051A4-E484-49AA-A052-A3BC31E08144}"/>
              </a:ext>
            </a:extLst>
          </p:cNvPr>
          <p:cNvSpPr txBox="1">
            <a:spLocks noChangeArrowheads="1"/>
          </p:cNvSpPr>
          <p:nvPr/>
        </p:nvSpPr>
        <p:spPr bwMode="auto">
          <a:xfrm>
            <a:off x="2936875" y="3216275"/>
            <a:ext cx="293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F</a:t>
            </a:r>
            <a:endParaRPr lang="zh-CN" altLang="en-US" sz="1400" b="0">
              <a:latin typeface="Arial" panose="020B0604020202020204" pitchFamily="34" charset="0"/>
            </a:endParaRPr>
          </a:p>
        </p:txBody>
      </p:sp>
      <p:sp>
        <p:nvSpPr>
          <p:cNvPr id="130066" name="文本框 28">
            <a:extLst>
              <a:ext uri="{FF2B5EF4-FFF2-40B4-BE49-F238E27FC236}">
                <a16:creationId xmlns:a16="http://schemas.microsoft.com/office/drawing/2014/main" id="{E7AD91C4-C35E-4629-9B4D-0F80E512DB9F}"/>
              </a:ext>
            </a:extLst>
          </p:cNvPr>
          <p:cNvSpPr txBox="1">
            <a:spLocks noChangeArrowheads="1"/>
          </p:cNvSpPr>
          <p:nvPr/>
        </p:nvSpPr>
        <p:spPr bwMode="auto">
          <a:xfrm>
            <a:off x="2921000" y="3962400"/>
            <a:ext cx="323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G</a:t>
            </a:r>
            <a:endParaRPr lang="zh-CN" altLang="en-US" sz="1400" b="0">
              <a:latin typeface="Arial" panose="020B0604020202020204" pitchFamily="34" charset="0"/>
            </a:endParaRPr>
          </a:p>
        </p:txBody>
      </p:sp>
      <p:cxnSp>
        <p:nvCxnSpPr>
          <p:cNvPr id="130067" name="直接连接符 31">
            <a:extLst>
              <a:ext uri="{FF2B5EF4-FFF2-40B4-BE49-F238E27FC236}">
                <a16:creationId xmlns:a16="http://schemas.microsoft.com/office/drawing/2014/main" id="{B2541BCF-3889-4C96-803E-69CACF0AB3A0}"/>
              </a:ext>
            </a:extLst>
          </p:cNvPr>
          <p:cNvCxnSpPr>
            <a:cxnSpLocks noChangeShapeType="1"/>
            <a:stCxn id="130064" idx="2"/>
          </p:cNvCxnSpPr>
          <p:nvPr/>
        </p:nvCxnSpPr>
        <p:spPr bwMode="auto">
          <a:xfrm flipH="1">
            <a:off x="2430463" y="3676650"/>
            <a:ext cx="7937" cy="1042988"/>
          </a:xfrm>
          <a:prstGeom prst="line">
            <a:avLst/>
          </a:prstGeom>
          <a:noFill/>
          <a:ln w="9525" algn="ctr">
            <a:solidFill>
              <a:schemeClr val="tx1"/>
            </a:solidFill>
            <a:prstDash val="lgDash"/>
            <a:round/>
            <a:headEnd/>
            <a:tailEnd/>
          </a:ln>
          <a:extLst>
            <a:ext uri="{909E8E84-426E-40DD-AFC4-6F175D3DCCD1}">
              <a14:hiddenFill xmlns:a14="http://schemas.microsoft.com/office/drawing/2010/main">
                <a:noFill/>
              </a14:hiddenFill>
            </a:ext>
          </a:extLst>
        </p:spPr>
      </p:cxnSp>
      <p:sp>
        <p:nvSpPr>
          <p:cNvPr id="130068" name="文本框 32">
            <a:extLst>
              <a:ext uri="{FF2B5EF4-FFF2-40B4-BE49-F238E27FC236}">
                <a16:creationId xmlns:a16="http://schemas.microsoft.com/office/drawing/2014/main" id="{2283A510-4681-4F3F-A6AD-1E2421142601}"/>
              </a:ext>
            </a:extLst>
          </p:cNvPr>
          <p:cNvSpPr txBox="1">
            <a:spLocks noChangeArrowheads="1"/>
          </p:cNvSpPr>
          <p:nvPr/>
        </p:nvSpPr>
        <p:spPr bwMode="auto">
          <a:xfrm>
            <a:off x="2209800" y="4683125"/>
            <a:ext cx="3921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Q</a:t>
            </a:r>
            <a:r>
              <a:rPr lang="en-US" altLang="zh-CN" sz="1400" b="0" baseline="-25000">
                <a:latin typeface="Arial" panose="020B0604020202020204" pitchFamily="34" charset="0"/>
              </a:rPr>
              <a:t>0</a:t>
            </a:r>
            <a:endParaRPr lang="zh-CN" altLang="en-US" sz="1400" b="0" baseline="-25000">
              <a:latin typeface="Arial" panose="020B0604020202020204" pitchFamily="34" charset="0"/>
            </a:endParaRPr>
          </a:p>
        </p:txBody>
      </p:sp>
      <p:sp>
        <p:nvSpPr>
          <p:cNvPr id="130069" name="文本框 33">
            <a:extLst>
              <a:ext uri="{FF2B5EF4-FFF2-40B4-BE49-F238E27FC236}">
                <a16:creationId xmlns:a16="http://schemas.microsoft.com/office/drawing/2014/main" id="{3D78927C-E179-4462-B839-C7F668601D96}"/>
              </a:ext>
            </a:extLst>
          </p:cNvPr>
          <p:cNvSpPr txBox="1">
            <a:spLocks noChangeArrowheads="1"/>
          </p:cNvSpPr>
          <p:nvPr/>
        </p:nvSpPr>
        <p:spPr bwMode="auto">
          <a:xfrm>
            <a:off x="2784475" y="4664075"/>
            <a:ext cx="3921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Q</a:t>
            </a:r>
            <a:r>
              <a:rPr lang="en-US" altLang="zh-CN" sz="1400" b="0" baseline="-25000">
                <a:latin typeface="Arial" panose="020B0604020202020204" pitchFamily="34" charset="0"/>
              </a:rPr>
              <a:t>1</a:t>
            </a:r>
            <a:endParaRPr lang="zh-CN" altLang="en-US" sz="1400" b="0" baseline="-25000">
              <a:latin typeface="Arial" panose="020B0604020202020204" pitchFamily="34" charset="0"/>
            </a:endParaRPr>
          </a:p>
        </p:txBody>
      </p:sp>
      <p:sp>
        <p:nvSpPr>
          <p:cNvPr id="130070" name="文本框 34">
            <a:extLst>
              <a:ext uri="{FF2B5EF4-FFF2-40B4-BE49-F238E27FC236}">
                <a16:creationId xmlns:a16="http://schemas.microsoft.com/office/drawing/2014/main" id="{715251CB-59BD-4CF8-9202-ADB2A4D642FB}"/>
              </a:ext>
            </a:extLst>
          </p:cNvPr>
          <p:cNvSpPr txBox="1">
            <a:spLocks noChangeArrowheads="1"/>
          </p:cNvSpPr>
          <p:nvPr/>
        </p:nvSpPr>
        <p:spPr bwMode="auto">
          <a:xfrm>
            <a:off x="1447800" y="3886200"/>
            <a:ext cx="314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en-US" altLang="zh-CN" sz="1400" b="0">
                <a:latin typeface="Arial" panose="020B0604020202020204" pitchFamily="34" charset="0"/>
              </a:rPr>
              <a:t>H</a:t>
            </a:r>
            <a:endParaRPr lang="zh-CN" altLang="en-US" sz="1400" b="0">
              <a:latin typeface="Arial" panose="020B060402020202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1074" name="Group 3">
            <a:extLst>
              <a:ext uri="{FF2B5EF4-FFF2-40B4-BE49-F238E27FC236}">
                <a16:creationId xmlns:a16="http://schemas.microsoft.com/office/drawing/2014/main" id="{AD90B1B3-F6AA-4580-ACB8-A8D270C72DFA}"/>
              </a:ext>
            </a:extLst>
          </p:cNvPr>
          <p:cNvGrpSpPr>
            <a:grpSpLocks/>
          </p:cNvGrpSpPr>
          <p:nvPr/>
        </p:nvGrpSpPr>
        <p:grpSpPr bwMode="auto">
          <a:xfrm>
            <a:off x="3787775" y="1009650"/>
            <a:ext cx="4979988" cy="5295900"/>
            <a:chOff x="0" y="0"/>
            <a:chExt cx="3137" cy="3336"/>
          </a:xfrm>
        </p:grpSpPr>
        <p:graphicFrame>
          <p:nvGraphicFramePr>
            <p:cNvPr id="131091" name="Object 4">
              <a:extLst>
                <a:ext uri="{FF2B5EF4-FFF2-40B4-BE49-F238E27FC236}">
                  <a16:creationId xmlns:a16="http://schemas.microsoft.com/office/drawing/2014/main" id="{ABECB443-8A18-46AE-AE5B-AFB8FE9B7357}"/>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25624" r:id="rId4" imgW="3061080" imgH="3274920" progId="Excel.Chart.8">
                    <p:embed/>
                  </p:oleObj>
                </mc:Choice>
                <mc:Fallback>
                  <p:oleObj r:id="rId4" imgW="3061080" imgH="3274920" progId="Excel.Chart.8">
                    <p:embed/>
                    <p:pic>
                      <p:nvPicPr>
                        <p:cNvPr id="131091" name="Object 4">
                          <a:extLst>
                            <a:ext uri="{FF2B5EF4-FFF2-40B4-BE49-F238E27FC236}">
                              <a16:creationId xmlns:a16="http://schemas.microsoft.com/office/drawing/2014/main" id="{ABECB443-8A18-46AE-AE5B-AFB8FE9B73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1092" name="Rectangle 5">
              <a:extLst>
                <a:ext uri="{FF2B5EF4-FFF2-40B4-BE49-F238E27FC236}">
                  <a16:creationId xmlns:a16="http://schemas.microsoft.com/office/drawing/2014/main" id="{6FFFFE9D-40D3-40B5-9570-0261292BB535}"/>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31093" name="Rectangle 6">
              <a:extLst>
                <a:ext uri="{FF2B5EF4-FFF2-40B4-BE49-F238E27FC236}">
                  <a16:creationId xmlns:a16="http://schemas.microsoft.com/office/drawing/2014/main" id="{001F26A1-9F52-4350-97E2-FF55C1BB398E}"/>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grpSp>
        <p:nvGrpSpPr>
          <p:cNvPr id="131075" name="Group 7">
            <a:extLst>
              <a:ext uri="{FF2B5EF4-FFF2-40B4-BE49-F238E27FC236}">
                <a16:creationId xmlns:a16="http://schemas.microsoft.com/office/drawing/2014/main" id="{143963E7-7736-4568-868A-91590B41E733}"/>
              </a:ext>
            </a:extLst>
          </p:cNvPr>
          <p:cNvGrpSpPr>
            <a:grpSpLocks/>
          </p:cNvGrpSpPr>
          <p:nvPr/>
        </p:nvGrpSpPr>
        <p:grpSpPr bwMode="auto">
          <a:xfrm>
            <a:off x="4586288" y="2178050"/>
            <a:ext cx="4219575" cy="2386013"/>
            <a:chOff x="0" y="0"/>
            <a:chExt cx="2658" cy="1503"/>
          </a:xfrm>
        </p:grpSpPr>
        <p:sp>
          <p:nvSpPr>
            <p:cNvPr id="131089" name="Line 8">
              <a:extLst>
                <a:ext uri="{FF2B5EF4-FFF2-40B4-BE49-F238E27FC236}">
                  <a16:creationId xmlns:a16="http://schemas.microsoft.com/office/drawing/2014/main" id="{57C08D2C-3672-4DF1-AF35-B9EFE8F69B88}"/>
                </a:ext>
              </a:extLst>
            </p:cNvPr>
            <p:cNvSpPr>
              <a:spLocks noChangeShapeType="1"/>
            </p:cNvSpPr>
            <p:nvPr/>
          </p:nvSpPr>
          <p:spPr bwMode="auto">
            <a:xfrm flipV="1">
              <a:off x="0" y="242"/>
              <a:ext cx="2401" cy="1261"/>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90" name="Rectangle 9">
              <a:extLst>
                <a:ext uri="{FF2B5EF4-FFF2-40B4-BE49-F238E27FC236}">
                  <a16:creationId xmlns:a16="http://schemas.microsoft.com/office/drawing/2014/main" id="{1193BD86-A935-4551-82A2-CC3B2F8C336F}"/>
                </a:ext>
              </a:extLst>
            </p:cNvPr>
            <p:cNvSpPr>
              <a:spLocks noChangeArrowheads="1"/>
            </p:cNvSpPr>
            <p:nvPr/>
          </p:nvSpPr>
          <p:spPr bwMode="auto">
            <a:xfrm>
              <a:off x="2353" y="0"/>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S</a:t>
              </a:r>
            </a:p>
          </p:txBody>
        </p:sp>
      </p:grpSp>
      <p:grpSp>
        <p:nvGrpSpPr>
          <p:cNvPr id="131076" name="Group 10">
            <a:extLst>
              <a:ext uri="{FF2B5EF4-FFF2-40B4-BE49-F238E27FC236}">
                <a16:creationId xmlns:a16="http://schemas.microsoft.com/office/drawing/2014/main" id="{34771350-27EF-4F5F-99B8-DFA61A2B01A8}"/>
              </a:ext>
            </a:extLst>
          </p:cNvPr>
          <p:cNvGrpSpPr>
            <a:grpSpLocks/>
          </p:cNvGrpSpPr>
          <p:nvPr/>
        </p:nvGrpSpPr>
        <p:grpSpPr bwMode="auto">
          <a:xfrm>
            <a:off x="4583113" y="1887538"/>
            <a:ext cx="3438525" cy="3495675"/>
            <a:chOff x="0" y="0"/>
            <a:chExt cx="2166" cy="2202"/>
          </a:xfrm>
        </p:grpSpPr>
        <p:sp>
          <p:nvSpPr>
            <p:cNvPr id="131087" name="Line 11">
              <a:extLst>
                <a:ext uri="{FF2B5EF4-FFF2-40B4-BE49-F238E27FC236}">
                  <a16:creationId xmlns:a16="http://schemas.microsoft.com/office/drawing/2014/main" id="{69022785-BD96-40F0-9448-5598519EC7B8}"/>
                </a:ext>
              </a:extLst>
            </p:cNvPr>
            <p:cNvSpPr>
              <a:spLocks noChangeShapeType="1"/>
            </p:cNvSpPr>
            <p:nvPr/>
          </p:nvSpPr>
          <p:spPr bwMode="auto">
            <a:xfrm>
              <a:off x="0" y="0"/>
              <a:ext cx="1901" cy="1990"/>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8" name="Rectangle 12">
              <a:extLst>
                <a:ext uri="{FF2B5EF4-FFF2-40B4-BE49-F238E27FC236}">
                  <a16:creationId xmlns:a16="http://schemas.microsoft.com/office/drawing/2014/main" id="{BB006F20-8196-4877-94D2-4373F5106C2E}"/>
                </a:ext>
              </a:extLst>
            </p:cNvPr>
            <p:cNvSpPr>
              <a:spLocks noChangeArrowheads="1"/>
            </p:cNvSpPr>
            <p:nvPr/>
          </p:nvSpPr>
          <p:spPr bwMode="auto">
            <a:xfrm>
              <a:off x="1861" y="1885"/>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D</a:t>
              </a:r>
            </a:p>
          </p:txBody>
        </p:sp>
      </p:grpSp>
      <p:grpSp>
        <p:nvGrpSpPr>
          <p:cNvPr id="131077" name="Group 13">
            <a:extLst>
              <a:ext uri="{FF2B5EF4-FFF2-40B4-BE49-F238E27FC236}">
                <a16:creationId xmlns:a16="http://schemas.microsoft.com/office/drawing/2014/main" id="{99C2D603-C74C-4CC1-8DE6-2B621C599A1F}"/>
              </a:ext>
            </a:extLst>
          </p:cNvPr>
          <p:cNvGrpSpPr>
            <a:grpSpLocks/>
          </p:cNvGrpSpPr>
          <p:nvPr/>
        </p:nvGrpSpPr>
        <p:grpSpPr bwMode="auto">
          <a:xfrm>
            <a:off x="6038850" y="3654425"/>
            <a:ext cx="522288" cy="2498725"/>
            <a:chOff x="0" y="0"/>
            <a:chExt cx="329" cy="1574"/>
          </a:xfrm>
        </p:grpSpPr>
        <p:sp>
          <p:nvSpPr>
            <p:cNvPr id="131085" name="Line 15">
              <a:extLst>
                <a:ext uri="{FF2B5EF4-FFF2-40B4-BE49-F238E27FC236}">
                  <a16:creationId xmlns:a16="http://schemas.microsoft.com/office/drawing/2014/main" id="{B6956562-1F2D-4512-85C0-3B8B4F025BD7}"/>
                </a:ext>
              </a:extLst>
            </p:cNvPr>
            <p:cNvSpPr>
              <a:spLocks noChangeShapeType="1"/>
            </p:cNvSpPr>
            <p:nvPr/>
          </p:nvSpPr>
          <p:spPr bwMode="auto">
            <a:xfrm rot="5400000">
              <a:off x="-505" y="663"/>
              <a:ext cx="1326"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6" name="Rectangle 16">
              <a:extLst>
                <a:ext uri="{FF2B5EF4-FFF2-40B4-BE49-F238E27FC236}">
                  <a16:creationId xmlns:a16="http://schemas.microsoft.com/office/drawing/2014/main" id="{EE33F9D6-9BDA-42BB-88E5-0711BD476071}"/>
                </a:ext>
              </a:extLst>
            </p:cNvPr>
            <p:cNvSpPr>
              <a:spLocks noChangeArrowheads="1"/>
            </p:cNvSpPr>
            <p:nvPr/>
          </p:nvSpPr>
          <p:spPr bwMode="auto">
            <a:xfrm>
              <a:off x="0" y="1326"/>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sp>
        <p:nvSpPr>
          <p:cNvPr id="65552" name="Rectangle 20">
            <a:extLst>
              <a:ext uri="{FF2B5EF4-FFF2-40B4-BE49-F238E27FC236}">
                <a16:creationId xmlns:a16="http://schemas.microsoft.com/office/drawing/2014/main" id="{1846CCA1-C90A-4E04-A855-60210CB27E5A}"/>
              </a:ext>
            </a:extLst>
          </p:cNvPr>
          <p:cNvSpPr>
            <a:spLocks noGrp="1" noChangeArrowheads="1"/>
          </p:cNvSpPr>
          <p:nvPr>
            <p:ph type="body" idx="4294967295"/>
          </p:nvPr>
        </p:nvSpPr>
        <p:spPr>
          <a:xfrm>
            <a:off x="611725" y="1557338"/>
            <a:ext cx="3168113" cy="4319832"/>
          </a:xfrm>
        </p:spPr>
        <p:txBody>
          <a:bodyPr>
            <a:normAutofit lnSpcReduction="10000"/>
          </a:bodyPr>
          <a:lstStyle/>
          <a:p>
            <a:pPr marL="0" indent="0">
              <a:spcBef>
                <a:spcPct val="25000"/>
              </a:spcBef>
              <a:buFont typeface="Wingdings" panose="05000000000000000000" pitchFamily="2" charset="2"/>
              <a:buNone/>
            </a:pPr>
            <a:r>
              <a:rPr lang="zh-CN" altLang="en-US" dirty="0">
                <a:ea typeface="宋体" panose="02010600030101010101" pitchFamily="2" charset="-122"/>
              </a:rPr>
              <a:t>在</a:t>
            </a:r>
            <a:r>
              <a:rPr lang="zh-CN" altLang="ja-JP" i="1" dirty="0">
                <a:ea typeface="宋体" panose="02010600030101010101" pitchFamily="2" charset="-122"/>
              </a:rPr>
              <a:t>Q</a:t>
            </a:r>
            <a:r>
              <a:rPr lang="zh-CN" altLang="ja-JP" dirty="0">
                <a:ea typeface="宋体" panose="02010600030101010101" pitchFamily="2" charset="-122"/>
              </a:rPr>
              <a:t> = 10, </a:t>
            </a:r>
            <a:br>
              <a:rPr lang="zh-CN" altLang="ja-JP" dirty="0">
                <a:ea typeface="宋体" panose="02010600030101010101" pitchFamily="2" charset="-122"/>
              </a:rPr>
            </a:br>
            <a:r>
              <a:rPr lang="zh-CN" altLang="en-US" dirty="0">
                <a:ea typeface="宋体" panose="02010600030101010101" pitchFamily="2" charset="-122"/>
              </a:rPr>
              <a:t>生产物品的边际成本是</a:t>
            </a:r>
            <a:r>
              <a:rPr lang="zh-CN" altLang="ja-JP" dirty="0">
                <a:ea typeface="宋体" panose="02010600030101010101" pitchFamily="2" charset="-122"/>
              </a:rPr>
              <a:t>25 </a:t>
            </a:r>
          </a:p>
          <a:p>
            <a:pPr marL="0" indent="0">
              <a:spcBef>
                <a:spcPct val="25000"/>
              </a:spcBef>
              <a:buFont typeface="Wingdings" panose="05000000000000000000" pitchFamily="2" charset="2"/>
              <a:buNone/>
            </a:pPr>
            <a:r>
              <a:rPr lang="zh-CN" altLang="en-US" dirty="0">
                <a:ea typeface="宋体" panose="02010600030101010101" pitchFamily="2" charset="-122"/>
              </a:rPr>
              <a:t>消费者对物品的边际评价是</a:t>
            </a:r>
            <a:r>
              <a:rPr lang="zh-CN" altLang="ja-JP" dirty="0">
                <a:ea typeface="宋体" panose="02010600030101010101" pitchFamily="2" charset="-122"/>
              </a:rPr>
              <a:t>40</a:t>
            </a:r>
          </a:p>
          <a:p>
            <a:pPr marL="0" indent="0">
              <a:spcBef>
                <a:spcPct val="25000"/>
              </a:spcBef>
              <a:buFont typeface="Wingdings" panose="05000000000000000000" pitchFamily="2" charset="2"/>
              <a:buNone/>
            </a:pPr>
            <a:r>
              <a:rPr lang="zh-CN" altLang="en-US" dirty="0">
                <a:ea typeface="宋体" panose="02010600030101010101" pitchFamily="2" charset="-122"/>
              </a:rPr>
              <a:t>因此，只要生产物品的数量小于</a:t>
            </a:r>
            <a:r>
              <a:rPr lang="zh-CN" altLang="ja-JP" dirty="0">
                <a:ea typeface="宋体" panose="02010600030101010101" pitchFamily="2" charset="-122"/>
              </a:rPr>
              <a:t>15</a:t>
            </a:r>
            <a:r>
              <a:rPr lang="zh-CN" altLang="en-US" dirty="0">
                <a:ea typeface="宋体" panose="02010600030101010101" pitchFamily="2" charset="-122"/>
              </a:rPr>
              <a:t>，增加产量能增大总剩余</a:t>
            </a:r>
            <a:endParaRPr lang="en-US" altLang="zh-CN" sz="2900" i="1" dirty="0">
              <a:solidFill>
                <a:srgbClr val="FF0000"/>
              </a:solidFill>
              <a:ea typeface="宋体" panose="02010600030101010101" pitchFamily="2" charset="-122"/>
            </a:endParaRPr>
          </a:p>
        </p:txBody>
      </p:sp>
      <p:sp>
        <p:nvSpPr>
          <p:cNvPr id="65553" name="Line 21">
            <a:extLst>
              <a:ext uri="{FF2B5EF4-FFF2-40B4-BE49-F238E27FC236}">
                <a16:creationId xmlns:a16="http://schemas.microsoft.com/office/drawing/2014/main" id="{92FAE61D-C896-452E-BBA4-6789EB2CEEC5}"/>
              </a:ext>
            </a:extLst>
          </p:cNvPr>
          <p:cNvSpPr>
            <a:spLocks noChangeShapeType="1"/>
          </p:cNvSpPr>
          <p:nvPr/>
        </p:nvSpPr>
        <p:spPr bwMode="auto">
          <a:xfrm flipH="1" flipV="1">
            <a:off x="5702300" y="3970338"/>
            <a:ext cx="12700" cy="1479550"/>
          </a:xfrm>
          <a:prstGeom prst="line">
            <a:avLst/>
          </a:prstGeom>
          <a:noFill/>
          <a:ln w="38100">
            <a:solidFill>
              <a:srgbClr val="CC00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5554" name="Line 22">
            <a:extLst>
              <a:ext uri="{FF2B5EF4-FFF2-40B4-BE49-F238E27FC236}">
                <a16:creationId xmlns:a16="http://schemas.microsoft.com/office/drawing/2014/main" id="{E586D588-1631-4D28-BAFB-B4AFDDC9AFE1}"/>
              </a:ext>
            </a:extLst>
          </p:cNvPr>
          <p:cNvSpPr>
            <a:spLocks noChangeShapeType="1"/>
          </p:cNvSpPr>
          <p:nvPr/>
        </p:nvSpPr>
        <p:spPr bwMode="auto">
          <a:xfrm flipH="1" flipV="1">
            <a:off x="5715000" y="3065463"/>
            <a:ext cx="22225" cy="2384425"/>
          </a:xfrm>
          <a:prstGeom prst="line">
            <a:avLst/>
          </a:prstGeom>
          <a:noFill/>
          <a:ln w="38100">
            <a:solidFill>
              <a:srgbClr val="00CC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5555" name="Line 25">
            <a:extLst>
              <a:ext uri="{FF2B5EF4-FFF2-40B4-BE49-F238E27FC236}">
                <a16:creationId xmlns:a16="http://schemas.microsoft.com/office/drawing/2014/main" id="{63B69AC8-07FD-466D-B647-0210520206B2}"/>
              </a:ext>
            </a:extLst>
          </p:cNvPr>
          <p:cNvSpPr>
            <a:spLocks noChangeShapeType="1"/>
          </p:cNvSpPr>
          <p:nvPr/>
        </p:nvSpPr>
        <p:spPr bwMode="auto">
          <a:xfrm rot="10800000" flipH="1">
            <a:off x="5713413" y="5448300"/>
            <a:ext cx="400050" cy="0"/>
          </a:xfrm>
          <a:prstGeom prst="line">
            <a:avLst/>
          </a:prstGeom>
          <a:noFill/>
          <a:ln w="38100">
            <a:solidFill>
              <a:srgbClr val="0000FF"/>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a:p>
        </p:txBody>
      </p:sp>
      <p:sp>
        <p:nvSpPr>
          <p:cNvPr id="65556" name="Line 26">
            <a:extLst>
              <a:ext uri="{FF2B5EF4-FFF2-40B4-BE49-F238E27FC236}">
                <a16:creationId xmlns:a16="http://schemas.microsoft.com/office/drawing/2014/main" id="{FBC33077-4843-43F3-A073-DA9E93C3F714}"/>
              </a:ext>
            </a:extLst>
          </p:cNvPr>
          <p:cNvSpPr>
            <a:spLocks noChangeShapeType="1"/>
          </p:cNvSpPr>
          <p:nvPr/>
        </p:nvSpPr>
        <p:spPr bwMode="auto">
          <a:xfrm>
            <a:off x="4586288" y="3071813"/>
            <a:ext cx="1128712" cy="0"/>
          </a:xfrm>
          <a:prstGeom prst="line">
            <a:avLst/>
          </a:prstGeom>
          <a:noFill/>
          <a:ln w="12700">
            <a:solidFill>
              <a:srgbClr val="00CC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57" name="Line 27">
            <a:extLst>
              <a:ext uri="{FF2B5EF4-FFF2-40B4-BE49-F238E27FC236}">
                <a16:creationId xmlns:a16="http://schemas.microsoft.com/office/drawing/2014/main" id="{CA1B47D4-0D20-4065-8DA1-B6BFB25CDFB8}"/>
              </a:ext>
            </a:extLst>
          </p:cNvPr>
          <p:cNvSpPr>
            <a:spLocks noChangeShapeType="1"/>
          </p:cNvSpPr>
          <p:nvPr/>
        </p:nvSpPr>
        <p:spPr bwMode="auto">
          <a:xfrm>
            <a:off x="4587875" y="3973513"/>
            <a:ext cx="1128713" cy="0"/>
          </a:xfrm>
          <a:prstGeom prst="line">
            <a:avLst/>
          </a:prstGeom>
          <a:noFill/>
          <a:ln w="12700">
            <a:solidFill>
              <a:srgbClr val="CC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1084" name="Title 1">
            <a:extLst>
              <a:ext uri="{FF2B5EF4-FFF2-40B4-BE49-F238E27FC236}">
                <a16:creationId xmlns:a16="http://schemas.microsoft.com/office/drawing/2014/main" id="{52D56066-62DF-4172-A5F8-547281D9A39A}"/>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dirty="0">
                <a:latin typeface="Arial" panose="020B0604020202020204" pitchFamily="34" charset="0"/>
              </a:rPr>
              <a:t>市场均衡的评价</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52">
                                            <p:txEl>
                                              <p:pRg st="0" end="0"/>
                                            </p:txEl>
                                          </p:spTgt>
                                        </p:tgtEl>
                                        <p:attrNameLst>
                                          <p:attrName>style.visibility</p:attrName>
                                        </p:attrNameLst>
                                      </p:cBhvr>
                                      <p:to>
                                        <p:strVal val="visible"/>
                                      </p:to>
                                    </p:set>
                                    <p:animEffect transition="in" filter="wipe(left)">
                                      <p:cBhvr>
                                        <p:cTn id="7" dur="500"/>
                                        <p:tgtEl>
                                          <p:spTgt spid="65552">
                                            <p:txEl>
                                              <p:pRg st="0" end="0"/>
                                            </p:txEl>
                                          </p:spTgt>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65553"/>
                                        </p:tgtEl>
                                        <p:attrNameLst>
                                          <p:attrName>style.visibility</p:attrName>
                                        </p:attrNameLst>
                                      </p:cBhvr>
                                      <p:to>
                                        <p:strVal val="visible"/>
                                      </p:to>
                                    </p:set>
                                    <p:animEffect transition="in" filter="wipe(down)">
                                      <p:cBhvr>
                                        <p:cTn id="11" dur="500"/>
                                        <p:tgtEl>
                                          <p:spTgt spid="65553"/>
                                        </p:tgtEl>
                                      </p:cBhvr>
                                    </p:animEffect>
                                  </p:childTnLst>
                                </p:cTn>
                              </p:par>
                            </p:childTnLst>
                          </p:cTn>
                        </p:par>
                        <p:par>
                          <p:cTn id="12" fill="hold" nodeType="afterGroup">
                            <p:stCondLst>
                              <p:cond delay="1000"/>
                            </p:stCondLst>
                            <p:childTnLst>
                              <p:par>
                                <p:cTn id="13" presetID="22" presetClass="entr" presetSubtype="2" fill="hold" nodeType="afterEffect">
                                  <p:stCondLst>
                                    <p:cond delay="0"/>
                                  </p:stCondLst>
                                  <p:childTnLst>
                                    <p:set>
                                      <p:cBhvr>
                                        <p:cTn id="14" dur="1" fill="hold">
                                          <p:stCondLst>
                                            <p:cond delay="0"/>
                                          </p:stCondLst>
                                        </p:cTn>
                                        <p:tgtEl>
                                          <p:spTgt spid="65557"/>
                                        </p:tgtEl>
                                        <p:attrNameLst>
                                          <p:attrName>style.visibility</p:attrName>
                                        </p:attrNameLst>
                                      </p:cBhvr>
                                      <p:to>
                                        <p:strVal val="visible"/>
                                      </p:to>
                                    </p:set>
                                    <p:animEffect transition="in" filter="wipe(right)">
                                      <p:cBhvr>
                                        <p:cTn id="15" dur="500"/>
                                        <p:tgtEl>
                                          <p:spTgt spid="6555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5552">
                                            <p:txEl>
                                              <p:pRg st="1" end="1"/>
                                            </p:txEl>
                                          </p:spTgt>
                                        </p:tgtEl>
                                        <p:attrNameLst>
                                          <p:attrName>style.visibility</p:attrName>
                                        </p:attrNameLst>
                                      </p:cBhvr>
                                      <p:to>
                                        <p:strVal val="visible"/>
                                      </p:to>
                                    </p:set>
                                    <p:animEffect transition="in" filter="wipe(left)">
                                      <p:cBhvr>
                                        <p:cTn id="20" dur="500"/>
                                        <p:tgtEl>
                                          <p:spTgt spid="65552">
                                            <p:txEl>
                                              <p:pRg st="1" end="1"/>
                                            </p:txEl>
                                          </p:spTgt>
                                        </p:tgtEl>
                                      </p:cBhvr>
                                    </p:animEffect>
                                  </p:childTnLst>
                                </p:cTn>
                              </p:par>
                            </p:childTnLst>
                          </p:cTn>
                        </p:par>
                        <p:par>
                          <p:cTn id="21" fill="hold" nodeType="afterGroup">
                            <p:stCondLst>
                              <p:cond delay="500"/>
                            </p:stCondLst>
                            <p:childTnLst>
                              <p:par>
                                <p:cTn id="22" presetID="22" presetClass="entr" presetSubtype="4" fill="hold" nodeType="afterEffect">
                                  <p:stCondLst>
                                    <p:cond delay="0"/>
                                  </p:stCondLst>
                                  <p:childTnLst>
                                    <p:set>
                                      <p:cBhvr>
                                        <p:cTn id="23" dur="1" fill="hold">
                                          <p:stCondLst>
                                            <p:cond delay="0"/>
                                          </p:stCondLst>
                                        </p:cTn>
                                        <p:tgtEl>
                                          <p:spTgt spid="65554"/>
                                        </p:tgtEl>
                                        <p:attrNameLst>
                                          <p:attrName>style.visibility</p:attrName>
                                        </p:attrNameLst>
                                      </p:cBhvr>
                                      <p:to>
                                        <p:strVal val="visible"/>
                                      </p:to>
                                    </p:set>
                                    <p:animEffect transition="in" filter="wipe(down)">
                                      <p:cBhvr>
                                        <p:cTn id="24" dur="500"/>
                                        <p:tgtEl>
                                          <p:spTgt spid="65554"/>
                                        </p:tgtEl>
                                      </p:cBhvr>
                                    </p:animEffect>
                                  </p:childTnLst>
                                </p:cTn>
                              </p:par>
                            </p:childTnLst>
                          </p:cTn>
                        </p:par>
                        <p:par>
                          <p:cTn id="25" fill="hold" nodeType="afterGroup">
                            <p:stCondLst>
                              <p:cond delay="1000"/>
                            </p:stCondLst>
                            <p:childTnLst>
                              <p:par>
                                <p:cTn id="26" presetID="22" presetClass="entr" presetSubtype="2" fill="hold" nodeType="afterEffect">
                                  <p:stCondLst>
                                    <p:cond delay="0"/>
                                  </p:stCondLst>
                                  <p:childTnLst>
                                    <p:set>
                                      <p:cBhvr>
                                        <p:cTn id="27" dur="1" fill="hold">
                                          <p:stCondLst>
                                            <p:cond delay="0"/>
                                          </p:stCondLst>
                                        </p:cTn>
                                        <p:tgtEl>
                                          <p:spTgt spid="65556"/>
                                        </p:tgtEl>
                                        <p:attrNameLst>
                                          <p:attrName>style.visibility</p:attrName>
                                        </p:attrNameLst>
                                      </p:cBhvr>
                                      <p:to>
                                        <p:strVal val="visible"/>
                                      </p:to>
                                    </p:set>
                                    <p:animEffect transition="in" filter="wipe(right)">
                                      <p:cBhvr>
                                        <p:cTn id="28" dur="500"/>
                                        <p:tgtEl>
                                          <p:spTgt spid="6555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5552">
                                            <p:txEl>
                                              <p:pRg st="2" end="2"/>
                                            </p:txEl>
                                          </p:spTgt>
                                        </p:tgtEl>
                                        <p:attrNameLst>
                                          <p:attrName>style.visibility</p:attrName>
                                        </p:attrNameLst>
                                      </p:cBhvr>
                                      <p:to>
                                        <p:strVal val="visible"/>
                                      </p:to>
                                    </p:set>
                                    <p:animEffect transition="in" filter="wipe(left)">
                                      <p:cBhvr>
                                        <p:cTn id="33" dur="500"/>
                                        <p:tgtEl>
                                          <p:spTgt spid="65552">
                                            <p:txEl>
                                              <p:pRg st="2" end="2"/>
                                            </p:txEl>
                                          </p:spTgt>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65555"/>
                                        </p:tgtEl>
                                        <p:attrNameLst>
                                          <p:attrName>style.visibility</p:attrName>
                                        </p:attrNameLst>
                                      </p:cBhvr>
                                      <p:to>
                                        <p:strVal val="visible"/>
                                      </p:to>
                                    </p:set>
                                    <p:animEffect transition="in" filter="wipe(left)">
                                      <p:cBhvr>
                                        <p:cTn id="37" dur="500"/>
                                        <p:tgtEl>
                                          <p:spTgt spid="65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52" grpId="0" build="p" bldLvl="5"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122" name="Group 3">
            <a:extLst>
              <a:ext uri="{FF2B5EF4-FFF2-40B4-BE49-F238E27FC236}">
                <a16:creationId xmlns:a16="http://schemas.microsoft.com/office/drawing/2014/main" id="{96956D8B-FAEC-4E57-948B-8EC35646C152}"/>
              </a:ext>
            </a:extLst>
          </p:cNvPr>
          <p:cNvGrpSpPr>
            <a:grpSpLocks/>
          </p:cNvGrpSpPr>
          <p:nvPr/>
        </p:nvGrpSpPr>
        <p:grpSpPr bwMode="auto">
          <a:xfrm>
            <a:off x="3787775" y="1009650"/>
            <a:ext cx="4979988" cy="5295900"/>
            <a:chOff x="0" y="0"/>
            <a:chExt cx="3137" cy="3336"/>
          </a:xfrm>
        </p:grpSpPr>
        <p:graphicFrame>
          <p:nvGraphicFramePr>
            <p:cNvPr id="133134" name="Object 4">
              <a:extLst>
                <a:ext uri="{FF2B5EF4-FFF2-40B4-BE49-F238E27FC236}">
                  <a16:creationId xmlns:a16="http://schemas.microsoft.com/office/drawing/2014/main" id="{5A6D3E17-3D5B-4A4E-BFC1-1E48A51EE965}"/>
                </a:ext>
              </a:extLst>
            </p:cNvPr>
            <p:cNvGraphicFramePr>
              <a:graphicFrameLocks noChangeAspect="1"/>
            </p:cNvGraphicFramePr>
            <p:nvPr/>
          </p:nvGraphicFramePr>
          <p:xfrm>
            <a:off x="0" y="0"/>
            <a:ext cx="3120" cy="3336"/>
          </p:xfrm>
          <a:graphic>
            <a:graphicData uri="http://schemas.openxmlformats.org/presentationml/2006/ole">
              <mc:AlternateContent xmlns:mc="http://schemas.openxmlformats.org/markup-compatibility/2006">
                <mc:Choice xmlns:v="urn:schemas-microsoft-com:vml" Requires="v">
                  <p:oleObj spid="_x0000_s26649" r:id="rId4" imgW="3061080" imgH="3274920" progId="Excel.Chart.8">
                    <p:embed/>
                  </p:oleObj>
                </mc:Choice>
                <mc:Fallback>
                  <p:oleObj r:id="rId4" imgW="3061080" imgH="3274920" progId="Excel.Chart.8">
                    <p:embed/>
                    <p:pic>
                      <p:nvPicPr>
                        <p:cNvPr id="133134" name="Object 4">
                          <a:extLst>
                            <a:ext uri="{FF2B5EF4-FFF2-40B4-BE49-F238E27FC236}">
                              <a16:creationId xmlns:a16="http://schemas.microsoft.com/office/drawing/2014/main" id="{5A6D3E17-3D5B-4A4E-BFC1-1E48A51EE9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3120" cy="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35" name="Rectangle 5">
              <a:extLst>
                <a:ext uri="{FF2B5EF4-FFF2-40B4-BE49-F238E27FC236}">
                  <a16:creationId xmlns:a16="http://schemas.microsoft.com/office/drawing/2014/main" id="{D157D2C1-4D51-469F-881A-9A942A1E841E}"/>
                </a:ext>
              </a:extLst>
            </p:cNvPr>
            <p:cNvSpPr>
              <a:spLocks noChangeArrowheads="1"/>
            </p:cNvSpPr>
            <p:nvPr/>
          </p:nvSpPr>
          <p:spPr bwMode="auto">
            <a:xfrm>
              <a:off x="331" y="95"/>
              <a:ext cx="260"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P</a:t>
              </a:r>
            </a:p>
          </p:txBody>
        </p:sp>
        <p:sp>
          <p:nvSpPr>
            <p:cNvPr id="133136" name="Rectangle 6">
              <a:extLst>
                <a:ext uri="{FF2B5EF4-FFF2-40B4-BE49-F238E27FC236}">
                  <a16:creationId xmlns:a16="http://schemas.microsoft.com/office/drawing/2014/main" id="{7909CEB6-EDC8-4892-9B4E-61CF11A0E321}"/>
                </a:ext>
              </a:extLst>
            </p:cNvPr>
            <p:cNvSpPr>
              <a:spLocks noChangeArrowheads="1"/>
            </p:cNvSpPr>
            <p:nvPr/>
          </p:nvSpPr>
          <p:spPr bwMode="auto">
            <a:xfrm>
              <a:off x="2832" y="2643"/>
              <a:ext cx="305" cy="3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Q</a:t>
              </a:r>
            </a:p>
          </p:txBody>
        </p:sp>
      </p:grpSp>
      <p:grpSp>
        <p:nvGrpSpPr>
          <p:cNvPr id="133123" name="Group 7">
            <a:extLst>
              <a:ext uri="{FF2B5EF4-FFF2-40B4-BE49-F238E27FC236}">
                <a16:creationId xmlns:a16="http://schemas.microsoft.com/office/drawing/2014/main" id="{BEB29EC2-5D80-45AF-BF89-841EEA22709D}"/>
              </a:ext>
            </a:extLst>
          </p:cNvPr>
          <p:cNvGrpSpPr>
            <a:grpSpLocks/>
          </p:cNvGrpSpPr>
          <p:nvPr/>
        </p:nvGrpSpPr>
        <p:grpSpPr bwMode="auto">
          <a:xfrm>
            <a:off x="4586288" y="2178050"/>
            <a:ext cx="4219575" cy="2386013"/>
            <a:chOff x="0" y="0"/>
            <a:chExt cx="2658" cy="1503"/>
          </a:xfrm>
        </p:grpSpPr>
        <p:sp>
          <p:nvSpPr>
            <p:cNvPr id="133132" name="Line 8">
              <a:extLst>
                <a:ext uri="{FF2B5EF4-FFF2-40B4-BE49-F238E27FC236}">
                  <a16:creationId xmlns:a16="http://schemas.microsoft.com/office/drawing/2014/main" id="{FC34F0F3-831B-4751-B1BA-CAED75303078}"/>
                </a:ext>
              </a:extLst>
            </p:cNvPr>
            <p:cNvSpPr>
              <a:spLocks noChangeShapeType="1"/>
            </p:cNvSpPr>
            <p:nvPr/>
          </p:nvSpPr>
          <p:spPr bwMode="auto">
            <a:xfrm flipV="1">
              <a:off x="0" y="242"/>
              <a:ext cx="2401" cy="1261"/>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3" name="Rectangle 9">
              <a:extLst>
                <a:ext uri="{FF2B5EF4-FFF2-40B4-BE49-F238E27FC236}">
                  <a16:creationId xmlns:a16="http://schemas.microsoft.com/office/drawing/2014/main" id="{37D0C41B-C98C-4FE9-B811-D4A2F8B25096}"/>
                </a:ext>
              </a:extLst>
            </p:cNvPr>
            <p:cNvSpPr>
              <a:spLocks noChangeArrowheads="1"/>
            </p:cNvSpPr>
            <p:nvPr/>
          </p:nvSpPr>
          <p:spPr bwMode="auto">
            <a:xfrm>
              <a:off x="2353" y="0"/>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S</a:t>
              </a:r>
            </a:p>
          </p:txBody>
        </p:sp>
      </p:grpSp>
      <p:grpSp>
        <p:nvGrpSpPr>
          <p:cNvPr id="133124" name="Group 10">
            <a:extLst>
              <a:ext uri="{FF2B5EF4-FFF2-40B4-BE49-F238E27FC236}">
                <a16:creationId xmlns:a16="http://schemas.microsoft.com/office/drawing/2014/main" id="{6522D79B-44B2-4988-BCFF-829B698F67B4}"/>
              </a:ext>
            </a:extLst>
          </p:cNvPr>
          <p:cNvGrpSpPr>
            <a:grpSpLocks/>
          </p:cNvGrpSpPr>
          <p:nvPr/>
        </p:nvGrpSpPr>
        <p:grpSpPr bwMode="auto">
          <a:xfrm>
            <a:off x="4583113" y="1887538"/>
            <a:ext cx="3438525" cy="3495675"/>
            <a:chOff x="0" y="0"/>
            <a:chExt cx="2166" cy="2202"/>
          </a:xfrm>
        </p:grpSpPr>
        <p:sp>
          <p:nvSpPr>
            <p:cNvPr id="133130" name="Line 11">
              <a:extLst>
                <a:ext uri="{FF2B5EF4-FFF2-40B4-BE49-F238E27FC236}">
                  <a16:creationId xmlns:a16="http://schemas.microsoft.com/office/drawing/2014/main" id="{50A969F8-B49D-4FCD-97F4-EC158B7AF308}"/>
                </a:ext>
              </a:extLst>
            </p:cNvPr>
            <p:cNvSpPr>
              <a:spLocks noChangeShapeType="1"/>
            </p:cNvSpPr>
            <p:nvPr/>
          </p:nvSpPr>
          <p:spPr bwMode="auto">
            <a:xfrm>
              <a:off x="0" y="0"/>
              <a:ext cx="1901" cy="1990"/>
            </a:xfrm>
            <a:prstGeom prst="line">
              <a:avLst/>
            </a:prstGeom>
            <a:noFill/>
            <a:ln w="4445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31" name="Rectangle 12">
              <a:extLst>
                <a:ext uri="{FF2B5EF4-FFF2-40B4-BE49-F238E27FC236}">
                  <a16:creationId xmlns:a16="http://schemas.microsoft.com/office/drawing/2014/main" id="{21E7C74A-4018-413B-92B8-121B05302028}"/>
                </a:ext>
              </a:extLst>
            </p:cNvPr>
            <p:cNvSpPr>
              <a:spLocks noChangeArrowheads="1"/>
            </p:cNvSpPr>
            <p:nvPr/>
          </p:nvSpPr>
          <p:spPr bwMode="auto">
            <a:xfrm>
              <a:off x="1861" y="1885"/>
              <a:ext cx="305"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r>
                <a:rPr lang="en-US" altLang="zh-CN" sz="2700" i="1">
                  <a:latin typeface="Arial" panose="020B0604020202020204" pitchFamily="34" charset="0"/>
                </a:rPr>
                <a:t>D</a:t>
              </a:r>
            </a:p>
          </p:txBody>
        </p:sp>
      </p:grpSp>
      <p:grpSp>
        <p:nvGrpSpPr>
          <p:cNvPr id="133125" name="Group 13">
            <a:extLst>
              <a:ext uri="{FF2B5EF4-FFF2-40B4-BE49-F238E27FC236}">
                <a16:creationId xmlns:a16="http://schemas.microsoft.com/office/drawing/2014/main" id="{78E93F48-F576-4B8D-A569-2DAB819D0405}"/>
              </a:ext>
            </a:extLst>
          </p:cNvPr>
          <p:cNvGrpSpPr>
            <a:grpSpLocks/>
          </p:cNvGrpSpPr>
          <p:nvPr/>
        </p:nvGrpSpPr>
        <p:grpSpPr bwMode="auto">
          <a:xfrm>
            <a:off x="6038850" y="3654425"/>
            <a:ext cx="522288" cy="2498725"/>
            <a:chOff x="0" y="0"/>
            <a:chExt cx="329" cy="1574"/>
          </a:xfrm>
        </p:grpSpPr>
        <p:sp>
          <p:nvSpPr>
            <p:cNvPr id="133128" name="Line 15">
              <a:extLst>
                <a:ext uri="{FF2B5EF4-FFF2-40B4-BE49-F238E27FC236}">
                  <a16:creationId xmlns:a16="http://schemas.microsoft.com/office/drawing/2014/main" id="{02B7C5CE-8B4A-481C-9F40-D1B42B5A6A32}"/>
                </a:ext>
              </a:extLst>
            </p:cNvPr>
            <p:cNvSpPr>
              <a:spLocks noChangeShapeType="1"/>
            </p:cNvSpPr>
            <p:nvPr/>
          </p:nvSpPr>
          <p:spPr bwMode="auto">
            <a:xfrm rot="5400000">
              <a:off x="-505" y="663"/>
              <a:ext cx="1326" cy="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9" name="Rectangle 16">
              <a:extLst>
                <a:ext uri="{FF2B5EF4-FFF2-40B4-BE49-F238E27FC236}">
                  <a16:creationId xmlns:a16="http://schemas.microsoft.com/office/drawing/2014/main" id="{906DA7A1-5F61-4F99-8845-CE66D2A47D35}"/>
                </a:ext>
              </a:extLst>
            </p:cNvPr>
            <p:cNvSpPr>
              <a:spLocks noChangeArrowheads="1"/>
            </p:cNvSpPr>
            <p:nvPr/>
          </p:nvSpPr>
          <p:spPr bwMode="auto">
            <a:xfrm>
              <a:off x="0" y="1326"/>
              <a:ext cx="329" cy="248"/>
            </a:xfrm>
            <a:prstGeom prst="rect">
              <a:avLst/>
            </a:prstGeom>
            <a:noFill/>
            <a:ln w="127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sp>
        <p:nvSpPr>
          <p:cNvPr id="67600" name="Rectangle 20">
            <a:extLst>
              <a:ext uri="{FF2B5EF4-FFF2-40B4-BE49-F238E27FC236}">
                <a16:creationId xmlns:a16="http://schemas.microsoft.com/office/drawing/2014/main" id="{C575539B-D388-4DBC-8808-B26EE1A24CA1}"/>
              </a:ext>
            </a:extLst>
          </p:cNvPr>
          <p:cNvSpPr>
            <a:spLocks noGrp="1" noChangeArrowheads="1"/>
          </p:cNvSpPr>
          <p:nvPr>
            <p:ph type="body" idx="4294967295"/>
          </p:nvPr>
        </p:nvSpPr>
        <p:spPr>
          <a:xfrm>
            <a:off x="683731" y="1792288"/>
            <a:ext cx="3126269" cy="3652852"/>
          </a:xfrm>
        </p:spPr>
        <p:txBody>
          <a:bodyPr/>
          <a:lstStyle/>
          <a:p>
            <a:pPr marL="0" indent="0">
              <a:spcBef>
                <a:spcPct val="25000"/>
              </a:spcBef>
              <a:buFont typeface="Wingdings" panose="05000000000000000000" pitchFamily="2" charset="2"/>
              <a:buNone/>
            </a:pPr>
            <a:r>
              <a:rPr lang="zh-CN" altLang="en-US" dirty="0">
                <a:solidFill>
                  <a:srgbClr val="FF9966"/>
                </a:solidFill>
                <a:ea typeface="宋体" panose="02010600030101010101" pitchFamily="2" charset="-122"/>
              </a:rPr>
              <a:t>说明：</a:t>
            </a:r>
            <a:endParaRPr lang="en-US" altLang="zh-CN" dirty="0">
              <a:solidFill>
                <a:srgbClr val="FF9966"/>
              </a:solidFill>
              <a:ea typeface="宋体" panose="02010600030101010101" pitchFamily="2" charset="-122"/>
            </a:endParaRPr>
          </a:p>
          <a:p>
            <a:pPr marL="0" indent="0">
              <a:spcBef>
                <a:spcPct val="25000"/>
              </a:spcBef>
              <a:buFont typeface="Wingdings" panose="05000000000000000000" pitchFamily="2" charset="2"/>
              <a:buNone/>
            </a:pPr>
            <a:r>
              <a:rPr lang="zh-CN" altLang="en-US" dirty="0">
                <a:solidFill>
                  <a:schemeClr val="tx1"/>
                </a:solidFill>
                <a:highlight>
                  <a:srgbClr val="FF9966"/>
                </a:highlight>
                <a:ea typeface="宋体" panose="02010600030101010101" pitchFamily="2" charset="-122"/>
              </a:rPr>
              <a:t>市场均衡产量使总剩余最大</a:t>
            </a:r>
            <a:r>
              <a:rPr lang="zh-CN" altLang="en-US" dirty="0">
                <a:solidFill>
                  <a:srgbClr val="FF9966"/>
                </a:solidFill>
                <a:ea typeface="宋体" panose="02010600030101010101" pitchFamily="2" charset="-122"/>
              </a:rPr>
              <a:t>，在其他任何产量条件，向市场均衡产量移动都能使总剩余增加。</a:t>
            </a:r>
            <a:endParaRPr lang="en-US" altLang="zh-CN" dirty="0">
              <a:solidFill>
                <a:srgbClr val="FF9966"/>
              </a:solidFill>
              <a:ea typeface="宋体" panose="02010600030101010101" pitchFamily="2" charset="-122"/>
            </a:endParaRPr>
          </a:p>
        </p:txBody>
      </p:sp>
      <p:sp>
        <p:nvSpPr>
          <p:cNvPr id="133127" name="Title 1">
            <a:extLst>
              <a:ext uri="{FF2B5EF4-FFF2-40B4-BE49-F238E27FC236}">
                <a16:creationId xmlns:a16="http://schemas.microsoft.com/office/drawing/2014/main" id="{8FB64989-C361-4E41-82F0-3AD322EF6168}"/>
              </a:ext>
            </a:extLst>
          </p:cNvPr>
          <p:cNvSpPr txBox="1">
            <a:spLocks/>
          </p:cNvSpPr>
          <p:nvPr/>
        </p:nvSpPr>
        <p:spPr bwMode="auto">
          <a:xfrm>
            <a:off x="1042988"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dirty="0">
                <a:latin typeface="Arial" panose="020B0604020202020204" pitchFamily="34" charset="0"/>
              </a:rPr>
              <a:t>市场均衡的评价</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600">
                                            <p:txEl>
                                              <p:pRg st="0" end="0"/>
                                            </p:txEl>
                                          </p:spTgt>
                                        </p:tgtEl>
                                        <p:attrNameLst>
                                          <p:attrName>style.visibility</p:attrName>
                                        </p:attrNameLst>
                                      </p:cBhvr>
                                      <p:to>
                                        <p:strVal val="visible"/>
                                      </p:to>
                                    </p:set>
                                    <p:animEffect transition="in" filter="wipe(left)">
                                      <p:cBhvr>
                                        <p:cTn id="7" dur="500"/>
                                        <p:tgtEl>
                                          <p:spTgt spid="676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600">
                                            <p:txEl>
                                              <p:pRg st="1" end="1"/>
                                            </p:txEl>
                                          </p:spTgt>
                                        </p:tgtEl>
                                        <p:attrNameLst>
                                          <p:attrName>style.visibility</p:attrName>
                                        </p:attrNameLst>
                                      </p:cBhvr>
                                      <p:to>
                                        <p:strVal val="visible"/>
                                      </p:to>
                                    </p:set>
                                    <p:animEffect transition="in" filter="wipe(left)">
                                      <p:cBhvr>
                                        <p:cTn id="12" dur="500"/>
                                        <p:tgtEl>
                                          <p:spTgt spid="676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00" grpId="0" build="p" bldLvl="5"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a:extLst>
              <a:ext uri="{FF2B5EF4-FFF2-40B4-BE49-F238E27FC236}">
                <a16:creationId xmlns:a16="http://schemas.microsoft.com/office/drawing/2014/main" id="{49B1B5DA-DB09-45C0-8D62-976F2A11D3BE}"/>
              </a:ext>
            </a:extLst>
          </p:cNvPr>
          <p:cNvSpPr>
            <a:spLocks noGrp="1" noChangeArrowheads="1"/>
          </p:cNvSpPr>
          <p:nvPr>
            <p:ph type="title"/>
          </p:nvPr>
        </p:nvSpPr>
        <p:spPr>
          <a:xfrm>
            <a:off x="457200" y="548800"/>
            <a:ext cx="8382000" cy="563563"/>
          </a:xfrm>
        </p:spPr>
        <p:txBody>
          <a:bodyPr/>
          <a:lstStyle/>
          <a:p>
            <a:r>
              <a:rPr lang="zh-CN" altLang="en-US" dirty="0">
                <a:ea typeface="宋体" panose="02010600030101010101" pitchFamily="2" charset="-122"/>
              </a:rPr>
              <a:t>社会总剩余分析的应用之一：价格管制</a:t>
            </a:r>
          </a:p>
        </p:txBody>
      </p:sp>
      <p:sp>
        <p:nvSpPr>
          <p:cNvPr id="135171" name="Content Placeholder 2">
            <a:extLst>
              <a:ext uri="{FF2B5EF4-FFF2-40B4-BE49-F238E27FC236}">
                <a16:creationId xmlns:a16="http://schemas.microsoft.com/office/drawing/2014/main" id="{9537FD49-0C98-4DC6-A279-638E863223B6}"/>
              </a:ext>
            </a:extLst>
          </p:cNvPr>
          <p:cNvSpPr>
            <a:spLocks noGrp="1" noChangeArrowheads="1"/>
          </p:cNvSpPr>
          <p:nvPr>
            <p:ph idx="1"/>
          </p:nvPr>
        </p:nvSpPr>
        <p:spPr/>
        <p:txBody>
          <a:bodyPr/>
          <a:lstStyle/>
          <a:p>
            <a:r>
              <a:rPr lang="zh-CN" altLang="en-US" dirty="0">
                <a:ea typeface="宋体" panose="02010600030101010101" pitchFamily="2" charset="-122"/>
              </a:rPr>
              <a:t>价格管制</a:t>
            </a:r>
          </a:p>
          <a:p>
            <a:pPr lvl="1"/>
            <a:r>
              <a:rPr lang="zh-CN" altLang="en-US" b="0" dirty="0">
                <a:latin typeface="微软雅黑" panose="020B0503020204020204" pitchFamily="34" charset="-122"/>
                <a:ea typeface="微软雅黑" panose="020B0503020204020204" pitchFamily="34" charset="-122"/>
              </a:rPr>
              <a:t>价格上限：出售一种物品或服务的法定最高价格   比如：租金控制</a:t>
            </a:r>
          </a:p>
          <a:p>
            <a:pPr lvl="1"/>
            <a:r>
              <a:rPr lang="zh-CN" altLang="en-US" b="0" dirty="0">
                <a:latin typeface="微软雅黑" panose="020B0503020204020204" pitchFamily="34" charset="-122"/>
                <a:ea typeface="微软雅黑" panose="020B0503020204020204" pitchFamily="34" charset="-122"/>
              </a:rPr>
              <a:t>价格下限：出售一种物品或服务的法定最低价格 比如：最低工资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3">
            <a:extLst>
              <a:ext uri="{FF2B5EF4-FFF2-40B4-BE49-F238E27FC236}">
                <a16:creationId xmlns:a16="http://schemas.microsoft.com/office/drawing/2014/main" id="{416618C9-24F5-43D1-A3AA-CE900BAEE7F9}"/>
              </a:ext>
            </a:extLst>
          </p:cNvPr>
          <p:cNvSpPr>
            <a:spLocks noGrp="1" noChangeArrowheads="1"/>
          </p:cNvSpPr>
          <p:nvPr>
            <p:ph type="body" idx="4294967295"/>
          </p:nvPr>
        </p:nvSpPr>
        <p:spPr>
          <a:xfrm>
            <a:off x="798513" y="3103563"/>
            <a:ext cx="2017712" cy="1373187"/>
          </a:xfrm>
          <a:solidFill>
            <a:srgbClr val="FFCCCC"/>
          </a:solidFill>
          <a:effectLst>
            <a:outerShdw dist="71842" dir="2700000" algn="ctr" rotWithShape="0">
              <a:schemeClr val="bg2"/>
            </a:outerShdw>
          </a:effectLst>
        </p:spPr>
        <p:txBody>
          <a:bodyPr/>
          <a:lstStyle/>
          <a:p>
            <a:pPr marL="0" indent="0" algn="ctr">
              <a:buFont typeface="Wingdings" panose="05000000000000000000" pitchFamily="2" charset="2"/>
              <a:buNone/>
            </a:pPr>
            <a:r>
              <a:rPr lang="zh-CN" altLang="en-US" sz="2600">
                <a:ea typeface="宋体" panose="02010600030101010101" pitchFamily="2" charset="-122"/>
              </a:rPr>
              <a:t>没有价格控制的均衡</a:t>
            </a:r>
            <a:endParaRPr lang="en-US" altLang="zh-CN" sz="2600">
              <a:ea typeface="宋体" panose="02010600030101010101" pitchFamily="2" charset="-122"/>
            </a:endParaRPr>
          </a:p>
        </p:txBody>
      </p:sp>
      <p:grpSp>
        <p:nvGrpSpPr>
          <p:cNvPr id="2" name="Group 4">
            <a:extLst>
              <a:ext uri="{FF2B5EF4-FFF2-40B4-BE49-F238E27FC236}">
                <a16:creationId xmlns:a16="http://schemas.microsoft.com/office/drawing/2014/main" id="{93528034-9AA1-4778-A7D7-8530600ADF0C}"/>
              </a:ext>
            </a:extLst>
          </p:cNvPr>
          <p:cNvGrpSpPr>
            <a:grpSpLocks/>
          </p:cNvGrpSpPr>
          <p:nvPr/>
        </p:nvGrpSpPr>
        <p:grpSpPr bwMode="auto">
          <a:xfrm>
            <a:off x="4094163" y="1235075"/>
            <a:ext cx="4422775" cy="3871913"/>
            <a:chOff x="0" y="0"/>
            <a:chExt cx="2786" cy="2439"/>
          </a:xfrm>
        </p:grpSpPr>
        <p:grpSp>
          <p:nvGrpSpPr>
            <p:cNvPr id="136216" name="Group 5">
              <a:extLst>
                <a:ext uri="{FF2B5EF4-FFF2-40B4-BE49-F238E27FC236}">
                  <a16:creationId xmlns:a16="http://schemas.microsoft.com/office/drawing/2014/main" id="{63879E45-F29C-48DC-BE26-F736D9BF4927}"/>
                </a:ext>
              </a:extLst>
            </p:cNvPr>
            <p:cNvGrpSpPr>
              <a:grpSpLocks/>
            </p:cNvGrpSpPr>
            <p:nvPr/>
          </p:nvGrpSpPr>
          <p:grpSpPr bwMode="auto">
            <a:xfrm>
              <a:off x="118" y="252"/>
              <a:ext cx="2409" cy="2049"/>
              <a:chOff x="0" y="0"/>
              <a:chExt cx="2116" cy="2027"/>
            </a:xfrm>
          </p:grpSpPr>
          <p:sp>
            <p:nvSpPr>
              <p:cNvPr id="136219" name="Line 6">
                <a:extLst>
                  <a:ext uri="{FF2B5EF4-FFF2-40B4-BE49-F238E27FC236}">
                    <a16:creationId xmlns:a16="http://schemas.microsoft.com/office/drawing/2014/main" id="{7AE84371-AD38-4152-9CB7-7AAB2A5286A0}"/>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20" name="Line 7">
                <a:extLst>
                  <a:ext uri="{FF2B5EF4-FFF2-40B4-BE49-F238E27FC236}">
                    <a16:creationId xmlns:a16="http://schemas.microsoft.com/office/drawing/2014/main" id="{84CD3FCF-C9CF-44F6-AB5F-44E809F1FFBC}"/>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6217" name="Text Box 8">
              <a:extLst>
                <a:ext uri="{FF2B5EF4-FFF2-40B4-BE49-F238E27FC236}">
                  <a16:creationId xmlns:a16="http://schemas.microsoft.com/office/drawing/2014/main" id="{7508CBFB-CE92-4E99-B047-6E95B2B4F978}"/>
                </a:ext>
              </a:extLst>
            </p:cNvPr>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p>
          </p:txBody>
        </p:sp>
        <p:sp>
          <p:nvSpPr>
            <p:cNvPr id="136218" name="Text Box 9">
              <a:extLst>
                <a:ext uri="{FF2B5EF4-FFF2-40B4-BE49-F238E27FC236}">
                  <a16:creationId xmlns:a16="http://schemas.microsoft.com/office/drawing/2014/main" id="{78FC4D5D-718E-4069-B24B-1B3439C3E53A}"/>
                </a:ext>
              </a:extLst>
            </p:cNvPr>
            <p:cNvSpPr txBox="1">
              <a:spLocks noChangeArrowheads="1"/>
            </p:cNvSpPr>
            <p:nvPr/>
          </p:nvSpPr>
          <p:spPr bwMode="auto">
            <a:xfrm>
              <a:off x="2496"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Q</a:t>
              </a:r>
            </a:p>
          </p:txBody>
        </p:sp>
      </p:grpSp>
      <p:grpSp>
        <p:nvGrpSpPr>
          <p:cNvPr id="4" name="Group 10">
            <a:extLst>
              <a:ext uri="{FF2B5EF4-FFF2-40B4-BE49-F238E27FC236}">
                <a16:creationId xmlns:a16="http://schemas.microsoft.com/office/drawing/2014/main" id="{BB90167B-7FD0-4EC1-BF6F-6B2B931F4277}"/>
              </a:ext>
            </a:extLst>
          </p:cNvPr>
          <p:cNvGrpSpPr>
            <a:grpSpLocks/>
          </p:cNvGrpSpPr>
          <p:nvPr/>
        </p:nvGrpSpPr>
        <p:grpSpPr bwMode="auto">
          <a:xfrm>
            <a:off x="5143500" y="1689100"/>
            <a:ext cx="2617788" cy="3203575"/>
            <a:chOff x="0" y="0"/>
            <a:chExt cx="1649" cy="2018"/>
          </a:xfrm>
        </p:grpSpPr>
        <p:sp>
          <p:nvSpPr>
            <p:cNvPr id="136214" name="Line 11">
              <a:extLst>
                <a:ext uri="{FF2B5EF4-FFF2-40B4-BE49-F238E27FC236}">
                  <a16:creationId xmlns:a16="http://schemas.microsoft.com/office/drawing/2014/main" id="{183A0E5E-61A4-4B67-8DDE-578984EADEA3}"/>
                </a:ext>
              </a:extLst>
            </p:cNvPr>
            <p:cNvSpPr>
              <a:spLocks noChangeShapeType="1"/>
            </p:cNvSpPr>
            <p:nvPr/>
          </p:nvSpPr>
          <p:spPr bwMode="auto">
            <a:xfrm>
              <a:off x="0" y="0"/>
              <a:ext cx="1417" cy="184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15" name="Text Box 12">
              <a:extLst>
                <a:ext uri="{FF2B5EF4-FFF2-40B4-BE49-F238E27FC236}">
                  <a16:creationId xmlns:a16="http://schemas.microsoft.com/office/drawing/2014/main" id="{D29CADC6-925D-4796-8502-485CD5932DE6}"/>
                </a:ext>
              </a:extLst>
            </p:cNvPr>
            <p:cNvSpPr txBox="1">
              <a:spLocks noChangeArrowheads="1"/>
            </p:cNvSpPr>
            <p:nvPr/>
          </p:nvSpPr>
          <p:spPr bwMode="auto">
            <a:xfrm>
              <a:off x="1329" y="173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p>
          </p:txBody>
        </p:sp>
      </p:grpSp>
      <p:grpSp>
        <p:nvGrpSpPr>
          <p:cNvPr id="5" name="Group 13">
            <a:extLst>
              <a:ext uri="{FF2B5EF4-FFF2-40B4-BE49-F238E27FC236}">
                <a16:creationId xmlns:a16="http://schemas.microsoft.com/office/drawing/2014/main" id="{0907F6C0-63DA-44EB-86B1-39E7C39262A7}"/>
              </a:ext>
            </a:extLst>
          </p:cNvPr>
          <p:cNvGrpSpPr>
            <a:grpSpLocks/>
          </p:cNvGrpSpPr>
          <p:nvPr/>
        </p:nvGrpSpPr>
        <p:grpSpPr bwMode="auto">
          <a:xfrm>
            <a:off x="5283200" y="1360488"/>
            <a:ext cx="1703388" cy="3362325"/>
            <a:chOff x="0" y="0"/>
            <a:chExt cx="1073" cy="2118"/>
          </a:xfrm>
        </p:grpSpPr>
        <p:sp>
          <p:nvSpPr>
            <p:cNvPr id="136212" name="Line 14">
              <a:extLst>
                <a:ext uri="{FF2B5EF4-FFF2-40B4-BE49-F238E27FC236}">
                  <a16:creationId xmlns:a16="http://schemas.microsoft.com/office/drawing/2014/main" id="{70276513-D81E-4646-ADDF-91BFC5C24E50}"/>
                </a:ext>
              </a:extLst>
            </p:cNvPr>
            <p:cNvSpPr>
              <a:spLocks noChangeShapeType="1"/>
            </p:cNvSpPr>
            <p:nvPr/>
          </p:nvSpPr>
          <p:spPr bwMode="auto">
            <a:xfrm flipV="1">
              <a:off x="0" y="232"/>
              <a:ext cx="872" cy="188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13" name="Text Box 15">
              <a:extLst>
                <a:ext uri="{FF2B5EF4-FFF2-40B4-BE49-F238E27FC236}">
                  <a16:creationId xmlns:a16="http://schemas.microsoft.com/office/drawing/2014/main" id="{C7DF3CFF-E8DA-4E32-AA5A-C5BD7ED3AAEB}"/>
                </a:ext>
              </a:extLst>
            </p:cNvPr>
            <p:cNvSpPr txBox="1">
              <a:spLocks noChangeArrowheads="1"/>
            </p:cNvSpPr>
            <p:nvPr/>
          </p:nvSpPr>
          <p:spPr bwMode="auto">
            <a:xfrm>
              <a:off x="753" y="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p>
          </p:txBody>
        </p:sp>
      </p:grpSp>
      <p:grpSp>
        <p:nvGrpSpPr>
          <p:cNvPr id="6" name="Group 16">
            <a:extLst>
              <a:ext uri="{FF2B5EF4-FFF2-40B4-BE49-F238E27FC236}">
                <a16:creationId xmlns:a16="http://schemas.microsoft.com/office/drawing/2014/main" id="{0CE4FFDC-0998-4C96-8F32-60EB88313E41}"/>
              </a:ext>
            </a:extLst>
          </p:cNvPr>
          <p:cNvGrpSpPr>
            <a:grpSpLocks/>
          </p:cNvGrpSpPr>
          <p:nvPr/>
        </p:nvGrpSpPr>
        <p:grpSpPr bwMode="auto">
          <a:xfrm>
            <a:off x="2316163" y="1377950"/>
            <a:ext cx="1828800" cy="822325"/>
            <a:chOff x="0" y="0"/>
            <a:chExt cx="1152" cy="518"/>
          </a:xfrm>
        </p:grpSpPr>
        <p:sp>
          <p:nvSpPr>
            <p:cNvPr id="136210" name="Line 23">
              <a:extLst>
                <a:ext uri="{FF2B5EF4-FFF2-40B4-BE49-F238E27FC236}">
                  <a16:creationId xmlns:a16="http://schemas.microsoft.com/office/drawing/2014/main" id="{B9F776DD-1BA8-4EB6-A002-5E6F71A093D1}"/>
                </a:ext>
              </a:extLst>
            </p:cNvPr>
            <p:cNvSpPr>
              <a:spLocks noChangeShapeType="1"/>
            </p:cNvSpPr>
            <p:nvPr/>
          </p:nvSpPr>
          <p:spPr bwMode="auto">
            <a:xfrm flipV="1">
              <a:off x="740" y="97"/>
              <a:ext cx="412" cy="1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11" name="Text Box 22">
              <a:extLst>
                <a:ext uri="{FF2B5EF4-FFF2-40B4-BE49-F238E27FC236}">
                  <a16:creationId xmlns:a16="http://schemas.microsoft.com/office/drawing/2014/main" id="{B01EEF8D-AC6C-499C-9AFC-AC12A950280C}"/>
                </a:ext>
              </a:extLst>
            </p:cNvPr>
            <p:cNvSpPr txBox="1">
              <a:spLocks noChangeArrowheads="1"/>
            </p:cNvSpPr>
            <p:nvPr/>
          </p:nvSpPr>
          <p:spPr bwMode="auto">
            <a:xfrm>
              <a:off x="0" y="0"/>
              <a:ext cx="763" cy="51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公寓的租金</a:t>
              </a:r>
              <a:endParaRPr lang="en-US" altLang="zh-CN" sz="2400" b="0">
                <a:latin typeface="Arial" panose="020B0604020202020204" pitchFamily="34" charset="0"/>
              </a:endParaRPr>
            </a:p>
          </p:txBody>
        </p:sp>
      </p:grpSp>
      <p:grpSp>
        <p:nvGrpSpPr>
          <p:cNvPr id="7" name="Group 19">
            <a:extLst>
              <a:ext uri="{FF2B5EF4-FFF2-40B4-BE49-F238E27FC236}">
                <a16:creationId xmlns:a16="http://schemas.microsoft.com/office/drawing/2014/main" id="{90797999-0B66-4043-B775-D9AD86BD66C0}"/>
              </a:ext>
            </a:extLst>
          </p:cNvPr>
          <p:cNvGrpSpPr>
            <a:grpSpLocks/>
          </p:cNvGrpSpPr>
          <p:nvPr/>
        </p:nvGrpSpPr>
        <p:grpSpPr bwMode="auto">
          <a:xfrm>
            <a:off x="3255963" y="2765425"/>
            <a:ext cx="3295650" cy="2559050"/>
            <a:chOff x="0" y="0"/>
            <a:chExt cx="2076" cy="1612"/>
          </a:xfrm>
        </p:grpSpPr>
        <p:grpSp>
          <p:nvGrpSpPr>
            <p:cNvPr id="136204" name="Group 20">
              <a:extLst>
                <a:ext uri="{FF2B5EF4-FFF2-40B4-BE49-F238E27FC236}">
                  <a16:creationId xmlns:a16="http://schemas.microsoft.com/office/drawing/2014/main" id="{8674EBBD-A29B-4036-8877-1B4EF2D8D466}"/>
                </a:ext>
              </a:extLst>
            </p:cNvPr>
            <p:cNvGrpSpPr>
              <a:grpSpLocks/>
            </p:cNvGrpSpPr>
            <p:nvPr/>
          </p:nvGrpSpPr>
          <p:grpSpPr bwMode="auto">
            <a:xfrm>
              <a:off x="651" y="118"/>
              <a:ext cx="1146" cy="1225"/>
              <a:chOff x="0" y="0"/>
              <a:chExt cx="795" cy="646"/>
            </a:xfrm>
          </p:grpSpPr>
          <p:sp>
            <p:nvSpPr>
              <p:cNvPr id="136208" name="Line 17">
                <a:extLst>
                  <a:ext uri="{FF2B5EF4-FFF2-40B4-BE49-F238E27FC236}">
                    <a16:creationId xmlns:a16="http://schemas.microsoft.com/office/drawing/2014/main" id="{7FD40C6F-95B9-4DD4-B82F-14E49A23A517}"/>
                  </a:ext>
                </a:extLst>
              </p:cNvPr>
              <p:cNvSpPr>
                <a:spLocks noChangeShapeType="1"/>
              </p:cNvSpPr>
              <p:nvPr/>
            </p:nvSpPr>
            <p:spPr bwMode="auto">
              <a:xfrm>
                <a:off x="0" y="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09" name="Line 18">
                <a:extLst>
                  <a:ext uri="{FF2B5EF4-FFF2-40B4-BE49-F238E27FC236}">
                    <a16:creationId xmlns:a16="http://schemas.microsoft.com/office/drawing/2014/main" id="{C13B09C5-817A-4A75-9213-C129B2226210}"/>
                  </a:ext>
                </a:extLst>
              </p:cNvPr>
              <p:cNvSpPr>
                <a:spLocks noChangeShapeType="1"/>
              </p:cNvSpPr>
              <p:nvPr/>
            </p:nvSpPr>
            <p:spPr bwMode="auto">
              <a:xfrm>
                <a:off x="795"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6205" name="Oval 19">
              <a:extLst>
                <a:ext uri="{FF2B5EF4-FFF2-40B4-BE49-F238E27FC236}">
                  <a16:creationId xmlns:a16="http://schemas.microsoft.com/office/drawing/2014/main" id="{4E958F33-FBC1-4EF8-84DF-1F9622388238}"/>
                </a:ext>
              </a:extLst>
            </p:cNvPr>
            <p:cNvSpPr>
              <a:spLocks noChangeArrowheads="1"/>
            </p:cNvSpPr>
            <p:nvPr/>
          </p:nvSpPr>
          <p:spPr bwMode="auto">
            <a:xfrm>
              <a:off x="1752"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36206" name="Text Box 25">
              <a:extLst>
                <a:ext uri="{FF2B5EF4-FFF2-40B4-BE49-F238E27FC236}">
                  <a16:creationId xmlns:a16="http://schemas.microsoft.com/office/drawing/2014/main" id="{AEF57A19-AA16-4646-A88A-709DCC118581}"/>
                </a:ext>
              </a:extLst>
            </p:cNvPr>
            <p:cNvSpPr txBox="1">
              <a:spLocks noChangeArrowheads="1"/>
            </p:cNvSpPr>
            <p:nvPr/>
          </p:nvSpPr>
          <p:spPr bwMode="auto">
            <a:xfrm>
              <a:off x="0" y="0"/>
              <a:ext cx="58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$800</a:t>
              </a:r>
            </a:p>
          </p:txBody>
        </p:sp>
        <p:sp>
          <p:nvSpPr>
            <p:cNvPr id="136207" name="Text Box 26">
              <a:extLst>
                <a:ext uri="{FF2B5EF4-FFF2-40B4-BE49-F238E27FC236}">
                  <a16:creationId xmlns:a16="http://schemas.microsoft.com/office/drawing/2014/main" id="{0389617A-44FF-4A62-A7C8-35AC4E43F270}"/>
                </a:ext>
              </a:extLst>
            </p:cNvPr>
            <p:cNvSpPr txBox="1">
              <a:spLocks noChangeArrowheads="1"/>
            </p:cNvSpPr>
            <p:nvPr/>
          </p:nvSpPr>
          <p:spPr bwMode="auto">
            <a:xfrm>
              <a:off x="1524" y="1382"/>
              <a:ext cx="5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300</a:t>
              </a:r>
            </a:p>
          </p:txBody>
        </p:sp>
      </p:grpSp>
      <p:grpSp>
        <p:nvGrpSpPr>
          <p:cNvPr id="9" name="Group 26">
            <a:extLst>
              <a:ext uri="{FF2B5EF4-FFF2-40B4-BE49-F238E27FC236}">
                <a16:creationId xmlns:a16="http://schemas.microsoft.com/office/drawing/2014/main" id="{6C887CCD-3F29-40E2-B9E1-C720D7A74DF9}"/>
              </a:ext>
            </a:extLst>
          </p:cNvPr>
          <p:cNvGrpSpPr>
            <a:grpSpLocks/>
          </p:cNvGrpSpPr>
          <p:nvPr/>
        </p:nvGrpSpPr>
        <p:grpSpPr bwMode="auto">
          <a:xfrm>
            <a:off x="6746875" y="5026025"/>
            <a:ext cx="1870075" cy="785813"/>
            <a:chOff x="0" y="0"/>
            <a:chExt cx="1178" cy="495"/>
          </a:xfrm>
        </p:grpSpPr>
        <p:sp>
          <p:nvSpPr>
            <p:cNvPr id="136202" name="Line 30">
              <a:extLst>
                <a:ext uri="{FF2B5EF4-FFF2-40B4-BE49-F238E27FC236}">
                  <a16:creationId xmlns:a16="http://schemas.microsoft.com/office/drawing/2014/main" id="{FF88CF5B-99F5-49C0-AB77-79F5211038F1}"/>
                </a:ext>
              </a:extLst>
            </p:cNvPr>
            <p:cNvSpPr>
              <a:spLocks noChangeShapeType="1"/>
            </p:cNvSpPr>
            <p:nvPr/>
          </p:nvSpPr>
          <p:spPr bwMode="auto">
            <a:xfrm flipV="1">
              <a:off x="690" y="0"/>
              <a:ext cx="206" cy="3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6203" name="Text Box 31">
              <a:extLst>
                <a:ext uri="{FF2B5EF4-FFF2-40B4-BE49-F238E27FC236}">
                  <a16:creationId xmlns:a16="http://schemas.microsoft.com/office/drawing/2014/main" id="{C46ACD82-A388-43C2-A929-33DE9FB0F5A9}"/>
                </a:ext>
              </a:extLst>
            </p:cNvPr>
            <p:cNvSpPr txBox="1">
              <a:spLocks noChangeArrowheads="1"/>
            </p:cNvSpPr>
            <p:nvPr/>
          </p:nvSpPr>
          <p:spPr bwMode="auto">
            <a:xfrm>
              <a:off x="0" y="207"/>
              <a:ext cx="1178" cy="2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公寓的数量</a:t>
              </a:r>
              <a:endParaRPr lang="en-US" altLang="zh-CN" sz="2400" b="0">
                <a:latin typeface="Arial" panose="020B0604020202020204" pitchFamily="34" charset="0"/>
              </a:endParaRPr>
            </a:p>
          </p:txBody>
        </p:sp>
      </p:grpSp>
      <p:sp>
        <p:nvSpPr>
          <p:cNvPr id="136201" name="Title 1">
            <a:extLst>
              <a:ext uri="{FF2B5EF4-FFF2-40B4-BE49-F238E27FC236}">
                <a16:creationId xmlns:a16="http://schemas.microsoft.com/office/drawing/2014/main" id="{6823576D-7AE9-4A87-BBDE-93A22C1047EE}"/>
              </a:ext>
            </a:extLst>
          </p:cNvPr>
          <p:cNvSpPr txBox="1">
            <a:spLocks/>
          </p:cNvSpPr>
          <p:nvPr/>
        </p:nvSpPr>
        <p:spPr bwMode="auto">
          <a:xfrm>
            <a:off x="1042988"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价格上限：公寓市场</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par>
                                <p:cTn id="23" presetID="9" presetClass="exit" presetSubtype="0" fill="hold" nodeType="withEffect">
                                  <p:stCondLst>
                                    <p:cond delay="0"/>
                                  </p:stCondLst>
                                  <p:childTnLst>
                                    <p:animEffect transition="out" filter="dissolve">
                                      <p:cBhvr>
                                        <p:cTn id="24" dur="500"/>
                                        <p:tgtEl>
                                          <p:spTgt spid="9"/>
                                        </p:tgtEl>
                                      </p:cBhvr>
                                    </p:animEffect>
                                    <p:set>
                                      <p:cBhvr>
                                        <p:cTn id="25" dur="1" fill="hold">
                                          <p:stCondLst>
                                            <p:cond delay="499"/>
                                          </p:stCondLst>
                                        </p:cTn>
                                        <p:tgtEl>
                                          <p:spTgt spid="9"/>
                                        </p:tgtEl>
                                        <p:attrNameLst>
                                          <p:attrName>style.visibility</p:attrName>
                                        </p:attrNameLst>
                                      </p:cBhvr>
                                      <p:to>
                                        <p:strVal val="hidden"/>
                                      </p:to>
                                    </p:set>
                                  </p:childTnLst>
                                </p:cTn>
                              </p:par>
                              <p:par>
                                <p:cTn id="26" presetID="18" presetClass="entr" presetSubtype="6"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strips(downRight)">
                                      <p:cBhvr>
                                        <p:cTn id="28" dur="5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3"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strips(upRight)">
                                      <p:cBhvr>
                                        <p:cTn id="33" dur="500"/>
                                        <p:tgtEl>
                                          <p:spTgt spid="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6"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strips(downRight)">
                                      <p:cBhvr>
                                        <p:cTn id="38" dur="500"/>
                                        <p:tgtEl>
                                          <p:spTgt spid="7"/>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3315">
                                            <p:bg/>
                                          </p:spTgt>
                                        </p:tgtEl>
                                        <p:attrNameLst>
                                          <p:attrName>style.visibility</p:attrName>
                                        </p:attrNameLst>
                                      </p:cBhvr>
                                      <p:to>
                                        <p:strVal val="visible"/>
                                      </p:to>
                                    </p:set>
                                    <p:animEffect transition="in" filter="dissolve">
                                      <p:cBhvr>
                                        <p:cTn id="41" dur="500"/>
                                        <p:tgtEl>
                                          <p:spTgt spid="13315">
                                            <p:bg/>
                                          </p:spTgt>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13315">
                                            <p:txEl>
                                              <p:pRg st="0" end="0"/>
                                            </p:txEl>
                                          </p:spTgt>
                                        </p:tgtEl>
                                        <p:attrNameLst>
                                          <p:attrName>style.visibility</p:attrName>
                                        </p:attrNameLst>
                                      </p:cBhvr>
                                      <p:to>
                                        <p:strVal val="visible"/>
                                      </p:to>
                                    </p:set>
                                    <p:animEffect transition="in" filter="dissolve">
                                      <p:cBhvr>
                                        <p:cTn id="44" dur="500"/>
                                        <p:tgtEl>
                                          <p:spTgt spid="133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2E1091B4-AF52-47E5-82BB-5126A1E35393}"/>
              </a:ext>
            </a:extLst>
          </p:cNvPr>
          <p:cNvSpPr>
            <a:spLocks noGrp="1" noChangeArrowheads="1"/>
          </p:cNvSpPr>
          <p:nvPr>
            <p:ph type="body" idx="4294967295"/>
          </p:nvPr>
        </p:nvSpPr>
        <p:spPr>
          <a:xfrm>
            <a:off x="914400" y="1143000"/>
            <a:ext cx="2667000" cy="4191000"/>
          </a:xfrm>
        </p:spPr>
        <p:txBody>
          <a:bodyPr/>
          <a:lstStyle/>
          <a:p>
            <a:pPr marL="0" indent="0">
              <a:buFont typeface="Wingdings" panose="05000000000000000000" pitchFamily="2" charset="2"/>
              <a:buNone/>
            </a:pPr>
            <a:r>
              <a:rPr lang="zh-CN" altLang="en-US">
                <a:ea typeface="宋体" panose="02010600030101010101" pitchFamily="2" charset="-122"/>
              </a:rPr>
              <a:t>假设政府设定租金上限为</a:t>
            </a:r>
            <a:r>
              <a:rPr lang="en-US" altLang="zh-CN">
                <a:ea typeface="宋体" panose="02010600030101010101" pitchFamily="2" charset="-122"/>
              </a:rPr>
              <a:t>500</a:t>
            </a:r>
            <a:r>
              <a:rPr lang="zh-CN" altLang="en-US">
                <a:ea typeface="宋体" panose="02010600030101010101" pitchFamily="2" charset="-122"/>
              </a:rPr>
              <a:t>，均衡价格</a:t>
            </a:r>
            <a:r>
              <a:rPr lang="zh-CN" altLang="ja-JP">
                <a:ea typeface="宋体" panose="02010600030101010101" pitchFamily="2" charset="-122"/>
              </a:rPr>
              <a:t>800</a:t>
            </a:r>
            <a:r>
              <a:rPr lang="zh-CN" altLang="en-US">
                <a:ea typeface="宋体" panose="02010600030101010101" pitchFamily="2" charset="-122"/>
              </a:rPr>
              <a:t>高于价格上限，因此是违法的</a:t>
            </a:r>
            <a:endParaRPr lang="en-US" altLang="zh-CN">
              <a:ea typeface="宋体" panose="02010600030101010101" pitchFamily="2" charset="-122"/>
            </a:endParaRPr>
          </a:p>
          <a:p>
            <a:pPr marL="0" indent="0">
              <a:buFont typeface="Wingdings" panose="05000000000000000000" pitchFamily="2" charset="2"/>
              <a:buNone/>
            </a:pPr>
            <a:r>
              <a:rPr lang="zh-CN" altLang="en-US">
                <a:ea typeface="宋体" panose="02010600030101010101" pitchFamily="2" charset="-122"/>
              </a:rPr>
              <a:t>价格上限是一种限制性约束，这导致了短缺</a:t>
            </a:r>
            <a:endParaRPr lang="en-US" altLang="zh-CN">
              <a:ea typeface="宋体" panose="02010600030101010101" pitchFamily="2" charset="-122"/>
            </a:endParaRPr>
          </a:p>
        </p:txBody>
      </p:sp>
      <p:grpSp>
        <p:nvGrpSpPr>
          <p:cNvPr id="138243" name="Group 4">
            <a:extLst>
              <a:ext uri="{FF2B5EF4-FFF2-40B4-BE49-F238E27FC236}">
                <a16:creationId xmlns:a16="http://schemas.microsoft.com/office/drawing/2014/main" id="{012627D9-7EFD-44FD-8537-CB053A89706A}"/>
              </a:ext>
            </a:extLst>
          </p:cNvPr>
          <p:cNvGrpSpPr>
            <a:grpSpLocks/>
          </p:cNvGrpSpPr>
          <p:nvPr/>
        </p:nvGrpSpPr>
        <p:grpSpPr bwMode="auto">
          <a:xfrm>
            <a:off x="4094163" y="1235075"/>
            <a:ext cx="4422775" cy="3871913"/>
            <a:chOff x="0" y="0"/>
            <a:chExt cx="2786" cy="2439"/>
          </a:xfrm>
        </p:grpSpPr>
        <p:grpSp>
          <p:nvGrpSpPr>
            <p:cNvPr id="138270" name="Group 5">
              <a:extLst>
                <a:ext uri="{FF2B5EF4-FFF2-40B4-BE49-F238E27FC236}">
                  <a16:creationId xmlns:a16="http://schemas.microsoft.com/office/drawing/2014/main" id="{7CF86FAD-1642-4D41-B787-0FA6B30E448C}"/>
                </a:ext>
              </a:extLst>
            </p:cNvPr>
            <p:cNvGrpSpPr>
              <a:grpSpLocks/>
            </p:cNvGrpSpPr>
            <p:nvPr/>
          </p:nvGrpSpPr>
          <p:grpSpPr bwMode="auto">
            <a:xfrm>
              <a:off x="118" y="252"/>
              <a:ext cx="2409" cy="2049"/>
              <a:chOff x="0" y="0"/>
              <a:chExt cx="2116" cy="2027"/>
            </a:xfrm>
          </p:grpSpPr>
          <p:sp>
            <p:nvSpPr>
              <p:cNvPr id="138273" name="Line 6">
                <a:extLst>
                  <a:ext uri="{FF2B5EF4-FFF2-40B4-BE49-F238E27FC236}">
                    <a16:creationId xmlns:a16="http://schemas.microsoft.com/office/drawing/2014/main" id="{C61F497A-C8D3-43B4-8036-EAF69D7E2B52}"/>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74" name="Line 7">
                <a:extLst>
                  <a:ext uri="{FF2B5EF4-FFF2-40B4-BE49-F238E27FC236}">
                    <a16:creationId xmlns:a16="http://schemas.microsoft.com/office/drawing/2014/main" id="{C941632B-6144-4EF8-8BF7-27DE36292986}"/>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8271" name="Text Box 8">
              <a:extLst>
                <a:ext uri="{FF2B5EF4-FFF2-40B4-BE49-F238E27FC236}">
                  <a16:creationId xmlns:a16="http://schemas.microsoft.com/office/drawing/2014/main" id="{90580FEF-8C6C-4E91-8B89-FBA1CE39EBB1}"/>
                </a:ext>
              </a:extLst>
            </p:cNvPr>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p>
          </p:txBody>
        </p:sp>
        <p:sp>
          <p:nvSpPr>
            <p:cNvPr id="138272" name="Text Box 9">
              <a:extLst>
                <a:ext uri="{FF2B5EF4-FFF2-40B4-BE49-F238E27FC236}">
                  <a16:creationId xmlns:a16="http://schemas.microsoft.com/office/drawing/2014/main" id="{DAF9E1A2-73A4-40E9-AFA9-C7AC377D3292}"/>
                </a:ext>
              </a:extLst>
            </p:cNvPr>
            <p:cNvSpPr txBox="1">
              <a:spLocks noChangeArrowheads="1"/>
            </p:cNvSpPr>
            <p:nvPr/>
          </p:nvSpPr>
          <p:spPr bwMode="auto">
            <a:xfrm>
              <a:off x="2496"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Q</a:t>
              </a:r>
            </a:p>
          </p:txBody>
        </p:sp>
      </p:grpSp>
      <p:grpSp>
        <p:nvGrpSpPr>
          <p:cNvPr id="138244" name="Group 10">
            <a:extLst>
              <a:ext uri="{FF2B5EF4-FFF2-40B4-BE49-F238E27FC236}">
                <a16:creationId xmlns:a16="http://schemas.microsoft.com/office/drawing/2014/main" id="{7BECFD3E-AEF5-46E9-BABB-C4B72BA21FBE}"/>
              </a:ext>
            </a:extLst>
          </p:cNvPr>
          <p:cNvGrpSpPr>
            <a:grpSpLocks/>
          </p:cNvGrpSpPr>
          <p:nvPr/>
        </p:nvGrpSpPr>
        <p:grpSpPr bwMode="auto">
          <a:xfrm>
            <a:off x="4267200" y="2133600"/>
            <a:ext cx="3494088" cy="2759075"/>
            <a:chOff x="-552" y="280"/>
            <a:chExt cx="2201" cy="1738"/>
          </a:xfrm>
        </p:grpSpPr>
        <p:sp>
          <p:nvSpPr>
            <p:cNvPr id="138268" name="Line 11">
              <a:extLst>
                <a:ext uri="{FF2B5EF4-FFF2-40B4-BE49-F238E27FC236}">
                  <a16:creationId xmlns:a16="http://schemas.microsoft.com/office/drawing/2014/main" id="{4EAF4CDA-947C-4C69-A9F2-CB8130BC3B8F}"/>
                </a:ext>
              </a:extLst>
            </p:cNvPr>
            <p:cNvSpPr>
              <a:spLocks noChangeShapeType="1"/>
            </p:cNvSpPr>
            <p:nvPr/>
          </p:nvSpPr>
          <p:spPr bwMode="auto">
            <a:xfrm>
              <a:off x="-552" y="280"/>
              <a:ext cx="1969" cy="156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69" name="Text Box 12">
              <a:extLst>
                <a:ext uri="{FF2B5EF4-FFF2-40B4-BE49-F238E27FC236}">
                  <a16:creationId xmlns:a16="http://schemas.microsoft.com/office/drawing/2014/main" id="{58D95D83-541A-4885-A75A-74D9D0099920}"/>
                </a:ext>
              </a:extLst>
            </p:cNvPr>
            <p:cNvSpPr txBox="1">
              <a:spLocks noChangeArrowheads="1"/>
            </p:cNvSpPr>
            <p:nvPr/>
          </p:nvSpPr>
          <p:spPr bwMode="auto">
            <a:xfrm>
              <a:off x="1329" y="173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p>
          </p:txBody>
        </p:sp>
      </p:grpSp>
      <p:grpSp>
        <p:nvGrpSpPr>
          <p:cNvPr id="138245" name="Group 13">
            <a:extLst>
              <a:ext uri="{FF2B5EF4-FFF2-40B4-BE49-F238E27FC236}">
                <a16:creationId xmlns:a16="http://schemas.microsoft.com/office/drawing/2014/main" id="{E61DAC59-C43B-447F-94E3-414EF9BB47B9}"/>
              </a:ext>
            </a:extLst>
          </p:cNvPr>
          <p:cNvGrpSpPr>
            <a:grpSpLocks/>
          </p:cNvGrpSpPr>
          <p:nvPr/>
        </p:nvGrpSpPr>
        <p:grpSpPr bwMode="auto">
          <a:xfrm>
            <a:off x="4267200" y="1360488"/>
            <a:ext cx="2719388" cy="3211512"/>
            <a:chOff x="-640" y="0"/>
            <a:chExt cx="1713" cy="2023"/>
          </a:xfrm>
        </p:grpSpPr>
        <p:sp>
          <p:nvSpPr>
            <p:cNvPr id="138266" name="Line 14">
              <a:extLst>
                <a:ext uri="{FF2B5EF4-FFF2-40B4-BE49-F238E27FC236}">
                  <a16:creationId xmlns:a16="http://schemas.microsoft.com/office/drawing/2014/main" id="{20B29C00-B9ED-4A71-9A90-D9B98453756E}"/>
                </a:ext>
              </a:extLst>
            </p:cNvPr>
            <p:cNvSpPr>
              <a:spLocks noChangeShapeType="1"/>
            </p:cNvSpPr>
            <p:nvPr/>
          </p:nvSpPr>
          <p:spPr bwMode="auto">
            <a:xfrm flipV="1">
              <a:off x="-640" y="232"/>
              <a:ext cx="1512" cy="1791"/>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67" name="Text Box 15">
              <a:extLst>
                <a:ext uri="{FF2B5EF4-FFF2-40B4-BE49-F238E27FC236}">
                  <a16:creationId xmlns:a16="http://schemas.microsoft.com/office/drawing/2014/main" id="{0ED96256-3CAD-45AE-9903-55BD38031D54}"/>
                </a:ext>
              </a:extLst>
            </p:cNvPr>
            <p:cNvSpPr txBox="1">
              <a:spLocks noChangeArrowheads="1"/>
            </p:cNvSpPr>
            <p:nvPr/>
          </p:nvSpPr>
          <p:spPr bwMode="auto">
            <a:xfrm>
              <a:off x="753" y="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p>
          </p:txBody>
        </p:sp>
      </p:grpSp>
      <p:sp>
        <p:nvSpPr>
          <p:cNvPr id="138246" name="Line 18">
            <a:extLst>
              <a:ext uri="{FF2B5EF4-FFF2-40B4-BE49-F238E27FC236}">
                <a16:creationId xmlns:a16="http://schemas.microsoft.com/office/drawing/2014/main" id="{AA2D82D8-2220-414C-96FF-6E7BF0287C24}"/>
              </a:ext>
            </a:extLst>
          </p:cNvPr>
          <p:cNvSpPr>
            <a:spLocks noChangeShapeType="1"/>
          </p:cNvSpPr>
          <p:nvPr/>
        </p:nvSpPr>
        <p:spPr bwMode="auto">
          <a:xfrm>
            <a:off x="4289425" y="3124200"/>
            <a:ext cx="119697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47" name="Oval 20">
            <a:extLst>
              <a:ext uri="{FF2B5EF4-FFF2-40B4-BE49-F238E27FC236}">
                <a16:creationId xmlns:a16="http://schemas.microsoft.com/office/drawing/2014/main" id="{6C27FB0C-2E8F-4E50-ACA4-8E64A7BF7DAC}"/>
              </a:ext>
            </a:extLst>
          </p:cNvPr>
          <p:cNvSpPr>
            <a:spLocks noChangeArrowheads="1"/>
          </p:cNvSpPr>
          <p:nvPr/>
        </p:nvSpPr>
        <p:spPr bwMode="auto">
          <a:xfrm>
            <a:off x="5410200" y="3062288"/>
            <a:ext cx="139700" cy="13811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38248" name="Text Box 21">
            <a:extLst>
              <a:ext uri="{FF2B5EF4-FFF2-40B4-BE49-F238E27FC236}">
                <a16:creationId xmlns:a16="http://schemas.microsoft.com/office/drawing/2014/main" id="{86CFB2C6-5CA5-4696-A67B-615D1E7CF064}"/>
              </a:ext>
            </a:extLst>
          </p:cNvPr>
          <p:cNvSpPr txBox="1">
            <a:spLocks noChangeArrowheads="1"/>
          </p:cNvSpPr>
          <p:nvPr/>
        </p:nvSpPr>
        <p:spPr bwMode="auto">
          <a:xfrm>
            <a:off x="3255963" y="2765425"/>
            <a:ext cx="9350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$800</a:t>
            </a:r>
          </a:p>
        </p:txBody>
      </p:sp>
      <p:grpSp>
        <p:nvGrpSpPr>
          <p:cNvPr id="6" name="Group 19">
            <a:extLst>
              <a:ext uri="{FF2B5EF4-FFF2-40B4-BE49-F238E27FC236}">
                <a16:creationId xmlns:a16="http://schemas.microsoft.com/office/drawing/2014/main" id="{2B6C6C08-4026-4BC2-BBE0-D79AA4861679}"/>
              </a:ext>
            </a:extLst>
          </p:cNvPr>
          <p:cNvGrpSpPr>
            <a:grpSpLocks/>
          </p:cNvGrpSpPr>
          <p:nvPr/>
        </p:nvGrpSpPr>
        <p:grpSpPr bwMode="auto">
          <a:xfrm>
            <a:off x="3263900" y="3349625"/>
            <a:ext cx="5251450" cy="830263"/>
            <a:chOff x="0" y="0"/>
            <a:chExt cx="3308" cy="523"/>
          </a:xfrm>
        </p:grpSpPr>
        <p:sp>
          <p:nvSpPr>
            <p:cNvPr id="138262" name="Line 24">
              <a:extLst>
                <a:ext uri="{FF2B5EF4-FFF2-40B4-BE49-F238E27FC236}">
                  <a16:creationId xmlns:a16="http://schemas.microsoft.com/office/drawing/2014/main" id="{009FCD5C-EB81-47F0-BBCA-11AE729D4D86}"/>
                </a:ext>
              </a:extLst>
            </p:cNvPr>
            <p:cNvSpPr>
              <a:spLocks noChangeShapeType="1"/>
            </p:cNvSpPr>
            <p:nvPr/>
          </p:nvSpPr>
          <p:spPr bwMode="auto">
            <a:xfrm>
              <a:off x="644" y="265"/>
              <a:ext cx="1888" cy="0"/>
            </a:xfrm>
            <a:prstGeom prst="line">
              <a:avLst/>
            </a:prstGeom>
            <a:noFill/>
            <a:ln w="28575">
              <a:solidFill>
                <a:srgbClr val="DE84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63" name="Text Box 25">
              <a:extLst>
                <a:ext uri="{FF2B5EF4-FFF2-40B4-BE49-F238E27FC236}">
                  <a16:creationId xmlns:a16="http://schemas.microsoft.com/office/drawing/2014/main" id="{F140C659-ACED-40E2-9006-1D5A2A33599C}"/>
                </a:ext>
              </a:extLst>
            </p:cNvPr>
            <p:cNvSpPr txBox="1">
              <a:spLocks noChangeArrowheads="1"/>
            </p:cNvSpPr>
            <p:nvPr/>
          </p:nvSpPr>
          <p:spPr bwMode="auto">
            <a:xfrm>
              <a:off x="2701" y="0"/>
              <a:ext cx="607"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价格上限</a:t>
              </a:r>
              <a:endParaRPr lang="en-US" altLang="zh-CN" sz="2400" b="0">
                <a:latin typeface="Arial" panose="020B0604020202020204" pitchFamily="34" charset="0"/>
              </a:endParaRPr>
            </a:p>
          </p:txBody>
        </p:sp>
        <p:sp>
          <p:nvSpPr>
            <p:cNvPr id="138264" name="AutoShape 26">
              <a:extLst>
                <a:ext uri="{FF2B5EF4-FFF2-40B4-BE49-F238E27FC236}">
                  <a16:creationId xmlns:a16="http://schemas.microsoft.com/office/drawing/2014/main" id="{07A07BE9-B4FC-40E8-B4E5-B7AE6E44DB09}"/>
                </a:ext>
              </a:extLst>
            </p:cNvPr>
            <p:cNvSpPr>
              <a:spLocks/>
            </p:cNvSpPr>
            <p:nvPr/>
          </p:nvSpPr>
          <p:spPr bwMode="auto">
            <a:xfrm>
              <a:off x="2589" y="37"/>
              <a:ext cx="156" cy="453"/>
            </a:xfrm>
            <a:prstGeom prst="leftBrace">
              <a:avLst>
                <a:gd name="adj1" fmla="val 38597"/>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38265" name="Text Box 27">
              <a:extLst>
                <a:ext uri="{FF2B5EF4-FFF2-40B4-BE49-F238E27FC236}">
                  <a16:creationId xmlns:a16="http://schemas.microsoft.com/office/drawing/2014/main" id="{0052C2B7-D4B8-4132-BAE7-31EAADC0078A}"/>
                </a:ext>
              </a:extLst>
            </p:cNvPr>
            <p:cNvSpPr txBox="1">
              <a:spLocks noChangeArrowheads="1"/>
            </p:cNvSpPr>
            <p:nvPr/>
          </p:nvSpPr>
          <p:spPr bwMode="auto">
            <a:xfrm>
              <a:off x="0" y="148"/>
              <a:ext cx="58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$500</a:t>
              </a:r>
            </a:p>
          </p:txBody>
        </p:sp>
      </p:grpSp>
      <p:grpSp>
        <p:nvGrpSpPr>
          <p:cNvPr id="7" name="Group 24">
            <a:extLst>
              <a:ext uri="{FF2B5EF4-FFF2-40B4-BE49-F238E27FC236}">
                <a16:creationId xmlns:a16="http://schemas.microsoft.com/office/drawing/2014/main" id="{F2841F46-D2D3-470E-B6D8-6758BD161AE1}"/>
              </a:ext>
            </a:extLst>
          </p:cNvPr>
          <p:cNvGrpSpPr>
            <a:grpSpLocks/>
          </p:cNvGrpSpPr>
          <p:nvPr/>
        </p:nvGrpSpPr>
        <p:grpSpPr bwMode="auto">
          <a:xfrm>
            <a:off x="4495800" y="3700463"/>
            <a:ext cx="876300" cy="1587500"/>
            <a:chOff x="-495" y="0"/>
            <a:chExt cx="552" cy="1000"/>
          </a:xfrm>
        </p:grpSpPr>
        <p:sp>
          <p:nvSpPr>
            <p:cNvPr id="138259" name="Line 19">
              <a:extLst>
                <a:ext uri="{FF2B5EF4-FFF2-40B4-BE49-F238E27FC236}">
                  <a16:creationId xmlns:a16="http://schemas.microsoft.com/office/drawing/2014/main" id="{850E7537-86AF-4BCD-99F6-E25BD0D441AA}"/>
                </a:ext>
              </a:extLst>
            </p:cNvPr>
            <p:cNvSpPr>
              <a:spLocks noChangeShapeType="1"/>
            </p:cNvSpPr>
            <p:nvPr/>
          </p:nvSpPr>
          <p:spPr bwMode="auto">
            <a:xfrm>
              <a:off x="-207" y="42"/>
              <a:ext cx="0" cy="70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60" name="Text Box 22">
              <a:extLst>
                <a:ext uri="{FF2B5EF4-FFF2-40B4-BE49-F238E27FC236}">
                  <a16:creationId xmlns:a16="http://schemas.microsoft.com/office/drawing/2014/main" id="{0BEBF24A-D1EE-4B6F-BCC8-30CBEA0EBC61}"/>
                </a:ext>
              </a:extLst>
            </p:cNvPr>
            <p:cNvSpPr txBox="1">
              <a:spLocks noChangeArrowheads="1"/>
            </p:cNvSpPr>
            <p:nvPr/>
          </p:nvSpPr>
          <p:spPr bwMode="auto">
            <a:xfrm>
              <a:off x="-495" y="767"/>
              <a:ext cx="5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150</a:t>
              </a:r>
            </a:p>
          </p:txBody>
        </p:sp>
        <p:sp>
          <p:nvSpPr>
            <p:cNvPr id="138261" name="Oval 33">
              <a:extLst>
                <a:ext uri="{FF2B5EF4-FFF2-40B4-BE49-F238E27FC236}">
                  <a16:creationId xmlns:a16="http://schemas.microsoft.com/office/drawing/2014/main" id="{BBAB7FD5-7D29-4E70-8803-06FA0B41B490}"/>
                </a:ext>
              </a:extLst>
            </p:cNvPr>
            <p:cNvSpPr>
              <a:spLocks noChangeArrowheads="1"/>
            </p:cNvSpPr>
            <p:nvPr/>
          </p:nvSpPr>
          <p:spPr bwMode="auto">
            <a:xfrm>
              <a:off x="-255"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8" name="Group 28">
            <a:extLst>
              <a:ext uri="{FF2B5EF4-FFF2-40B4-BE49-F238E27FC236}">
                <a16:creationId xmlns:a16="http://schemas.microsoft.com/office/drawing/2014/main" id="{BAC8BFDB-2120-46E9-A46B-2D0A86CE5136}"/>
              </a:ext>
            </a:extLst>
          </p:cNvPr>
          <p:cNvGrpSpPr>
            <a:grpSpLocks/>
          </p:cNvGrpSpPr>
          <p:nvPr/>
        </p:nvGrpSpPr>
        <p:grpSpPr bwMode="auto">
          <a:xfrm>
            <a:off x="5867400" y="3700463"/>
            <a:ext cx="876300" cy="1585912"/>
            <a:chOff x="-275" y="0"/>
            <a:chExt cx="552" cy="999"/>
          </a:xfrm>
        </p:grpSpPr>
        <p:sp>
          <p:nvSpPr>
            <p:cNvPr id="138256" name="Text Box 28">
              <a:extLst>
                <a:ext uri="{FF2B5EF4-FFF2-40B4-BE49-F238E27FC236}">
                  <a16:creationId xmlns:a16="http://schemas.microsoft.com/office/drawing/2014/main" id="{CA061157-8BE0-42D0-BDE5-F7460A3DA799}"/>
                </a:ext>
              </a:extLst>
            </p:cNvPr>
            <p:cNvSpPr txBox="1">
              <a:spLocks noChangeArrowheads="1"/>
            </p:cNvSpPr>
            <p:nvPr/>
          </p:nvSpPr>
          <p:spPr bwMode="auto">
            <a:xfrm>
              <a:off x="-275" y="766"/>
              <a:ext cx="5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450</a:t>
              </a:r>
            </a:p>
          </p:txBody>
        </p:sp>
        <p:sp>
          <p:nvSpPr>
            <p:cNvPr id="138257" name="Line 31">
              <a:extLst>
                <a:ext uri="{FF2B5EF4-FFF2-40B4-BE49-F238E27FC236}">
                  <a16:creationId xmlns:a16="http://schemas.microsoft.com/office/drawing/2014/main" id="{2F19263D-91E4-42C8-B984-8EBF3A5489EE}"/>
                </a:ext>
              </a:extLst>
            </p:cNvPr>
            <p:cNvSpPr>
              <a:spLocks noChangeShapeType="1"/>
            </p:cNvSpPr>
            <p:nvPr/>
          </p:nvSpPr>
          <p:spPr bwMode="auto">
            <a:xfrm>
              <a:off x="13" y="42"/>
              <a:ext cx="0" cy="70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8258" name="Oval 34">
              <a:extLst>
                <a:ext uri="{FF2B5EF4-FFF2-40B4-BE49-F238E27FC236}">
                  <a16:creationId xmlns:a16="http://schemas.microsoft.com/office/drawing/2014/main" id="{A2DAA689-AE88-4373-BAFB-F60DE4AFEC2F}"/>
                </a:ext>
              </a:extLst>
            </p:cNvPr>
            <p:cNvSpPr>
              <a:spLocks noChangeArrowheads="1"/>
            </p:cNvSpPr>
            <p:nvPr/>
          </p:nvSpPr>
          <p:spPr bwMode="auto">
            <a:xfrm>
              <a:off x="-35"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9" name="Group 32">
            <a:extLst>
              <a:ext uri="{FF2B5EF4-FFF2-40B4-BE49-F238E27FC236}">
                <a16:creationId xmlns:a16="http://schemas.microsoft.com/office/drawing/2014/main" id="{A535C3CA-BC41-4CE4-B50F-CBB84EC924F1}"/>
              </a:ext>
            </a:extLst>
          </p:cNvPr>
          <p:cNvGrpSpPr>
            <a:grpSpLocks/>
          </p:cNvGrpSpPr>
          <p:nvPr/>
        </p:nvGrpSpPr>
        <p:grpSpPr bwMode="auto">
          <a:xfrm>
            <a:off x="4954588" y="3808413"/>
            <a:ext cx="1371600" cy="712787"/>
            <a:chOff x="-433" y="-18"/>
            <a:chExt cx="864" cy="449"/>
          </a:xfrm>
        </p:grpSpPr>
        <p:sp>
          <p:nvSpPr>
            <p:cNvPr id="138254" name="AutoShape 32">
              <a:extLst>
                <a:ext uri="{FF2B5EF4-FFF2-40B4-BE49-F238E27FC236}">
                  <a16:creationId xmlns:a16="http://schemas.microsoft.com/office/drawing/2014/main" id="{42C609F3-184D-4C46-A3D0-70A7A9A48F34}"/>
                </a:ext>
              </a:extLst>
            </p:cNvPr>
            <p:cNvSpPr>
              <a:spLocks/>
            </p:cNvSpPr>
            <p:nvPr/>
          </p:nvSpPr>
          <p:spPr bwMode="auto">
            <a:xfrm rot="-5400000">
              <a:off x="-104" y="-347"/>
              <a:ext cx="205" cy="864"/>
            </a:xfrm>
            <a:prstGeom prst="leftBrace">
              <a:avLst>
                <a:gd name="adj1" fmla="val 59415"/>
                <a:gd name="adj2" fmla="val 50000"/>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38255" name="Text Box 35">
              <a:extLst>
                <a:ext uri="{FF2B5EF4-FFF2-40B4-BE49-F238E27FC236}">
                  <a16:creationId xmlns:a16="http://schemas.microsoft.com/office/drawing/2014/main" id="{C450B2D5-27E9-44C5-9EC4-0DDF9AB24524}"/>
                </a:ext>
              </a:extLst>
            </p:cNvPr>
            <p:cNvSpPr txBox="1">
              <a:spLocks noChangeArrowheads="1"/>
            </p:cNvSpPr>
            <p:nvPr/>
          </p:nvSpPr>
          <p:spPr bwMode="auto">
            <a:xfrm>
              <a:off x="-386" y="201"/>
              <a:ext cx="778" cy="230"/>
            </a:xfrm>
            <a:prstGeom prst="rect">
              <a:avLst/>
            </a:prstGeom>
            <a:solidFill>
              <a:schemeClr val="bg1">
                <a:alpha val="7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00FF"/>
                  </a:solidFill>
                  <a:latin typeface="Arial" panose="020B0604020202020204" pitchFamily="34" charset="0"/>
                </a:rPr>
                <a:t>短缺</a:t>
              </a:r>
              <a:endParaRPr lang="en-US" altLang="zh-CN" sz="2400" b="0">
                <a:solidFill>
                  <a:srgbClr val="0000FF"/>
                </a:solidFill>
                <a:latin typeface="Arial" panose="020B0604020202020204" pitchFamily="34" charset="0"/>
              </a:endParaRPr>
            </a:p>
          </p:txBody>
        </p:sp>
      </p:grpSp>
      <p:sp>
        <p:nvSpPr>
          <p:cNvPr id="138253" name="Title 1">
            <a:extLst>
              <a:ext uri="{FF2B5EF4-FFF2-40B4-BE49-F238E27FC236}">
                <a16:creationId xmlns:a16="http://schemas.microsoft.com/office/drawing/2014/main" id="{24A3D4B5-BC54-4706-81A9-FDE5C7068BA4}"/>
              </a:ext>
            </a:extLst>
          </p:cNvPr>
          <p:cNvSpPr txBox="1">
            <a:spLocks/>
          </p:cNvSpPr>
          <p:nvPr/>
        </p:nvSpPr>
        <p:spPr bwMode="auto">
          <a:xfrm>
            <a:off x="1050925" y="212725"/>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价格上限：公寓市场</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1">
                                            <p:txEl>
                                              <p:pRg st="0" end="0"/>
                                            </p:txEl>
                                          </p:spTgt>
                                        </p:tgtEl>
                                        <p:attrNameLst>
                                          <p:attrName>style.visibility</p:attrName>
                                        </p:attrNameLst>
                                      </p:cBhvr>
                                      <p:to>
                                        <p:strVal val="visible"/>
                                      </p:to>
                                    </p:set>
                                    <p:animEffect transition="in" filter="wipe(left)">
                                      <p:cBhvr>
                                        <p:cTn id="12" dur="500"/>
                                        <p:tgtEl>
                                          <p:spTgt spid="174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1">
                                            <p:txEl>
                                              <p:pRg st="1" end="1"/>
                                            </p:txEl>
                                          </p:spTgt>
                                        </p:tgtEl>
                                        <p:attrNameLst>
                                          <p:attrName>style.visibility</p:attrName>
                                        </p:attrNameLst>
                                      </p:cBhvr>
                                      <p:to>
                                        <p:strVal val="visible"/>
                                      </p:to>
                                    </p:set>
                                    <p:animEffect transition="in" filter="wipe(left)">
                                      <p:cBhvr>
                                        <p:cTn id="17" dur="500"/>
                                        <p:tgtEl>
                                          <p:spTgt spid="1741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par>
                          <p:cTn id="23" fill="hold" nodeType="afterGroup">
                            <p:stCondLst>
                              <p:cond delay="500"/>
                            </p:stCondLst>
                            <p:childTnLst>
                              <p:par>
                                <p:cTn id="24" presetID="22" presetClass="entr" presetSubtype="1"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nodeType="afterGroup">
                            <p:stCondLst>
                              <p:cond delay="1000"/>
                            </p:stCondLst>
                            <p:childTnLst>
                              <p:par>
                                <p:cTn id="28" presetID="18" presetClass="entr" presetSubtype="6"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strips(downRight)">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bldLvl="5"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DB3987F2-AFC4-47CC-BFE1-22E6EE90CF4E}"/>
              </a:ext>
            </a:extLst>
          </p:cNvPr>
          <p:cNvSpPr>
            <a:spLocks noGrp="1" noChangeArrowheads="1"/>
          </p:cNvSpPr>
          <p:nvPr>
            <p:ph type="body" idx="4294967295"/>
          </p:nvPr>
        </p:nvSpPr>
        <p:spPr>
          <a:xfrm>
            <a:off x="627062" y="1676400"/>
            <a:ext cx="3030538" cy="4038600"/>
          </a:xfrm>
        </p:spPr>
        <p:txBody>
          <a:bodyPr>
            <a:normAutofit fontScale="92500" lnSpcReduction="10000"/>
          </a:bodyPr>
          <a:lstStyle/>
          <a:p>
            <a:pPr marL="0" indent="0">
              <a:buFont typeface="Wingdings" panose="05000000000000000000" pitchFamily="2" charset="2"/>
              <a:buNone/>
            </a:pPr>
            <a:r>
              <a:rPr lang="zh-CN" altLang="en-US" dirty="0">
                <a:solidFill>
                  <a:srgbClr val="C00000"/>
                </a:solidFill>
                <a:ea typeface="宋体" panose="02010600030101010101" pitchFamily="2" charset="-122"/>
              </a:rPr>
              <a:t>社会总福利从</a:t>
            </a:r>
            <a:r>
              <a:rPr lang="en-US" altLang="zh-CN" dirty="0">
                <a:solidFill>
                  <a:srgbClr val="C00000"/>
                </a:solidFill>
                <a:ea typeface="宋体" panose="02010600030101010101" pitchFamily="2" charset="-122"/>
              </a:rPr>
              <a:t>ABC</a:t>
            </a:r>
            <a:r>
              <a:rPr lang="zh-CN" altLang="en-US" dirty="0">
                <a:solidFill>
                  <a:srgbClr val="C00000"/>
                </a:solidFill>
                <a:ea typeface="宋体" panose="02010600030101010101" pitchFamily="2" charset="-122"/>
              </a:rPr>
              <a:t>减少到</a:t>
            </a:r>
            <a:r>
              <a:rPr lang="en-US" altLang="zh-CN" dirty="0">
                <a:solidFill>
                  <a:srgbClr val="C00000"/>
                </a:solidFill>
                <a:ea typeface="宋体" panose="02010600030101010101" pitchFamily="2" charset="-122"/>
              </a:rPr>
              <a:t>ADEC</a:t>
            </a:r>
            <a:r>
              <a:rPr lang="zh-CN" altLang="en-US" dirty="0">
                <a:solidFill>
                  <a:srgbClr val="C00000"/>
                </a:solidFill>
                <a:ea typeface="宋体" panose="02010600030101010101" pitchFamily="2" charset="-122"/>
              </a:rPr>
              <a:t>，其中</a:t>
            </a:r>
            <a:r>
              <a:rPr lang="en-US" altLang="zh-CN" dirty="0">
                <a:solidFill>
                  <a:srgbClr val="C00000"/>
                </a:solidFill>
                <a:ea typeface="宋体" panose="02010600030101010101" pitchFamily="2" charset="-122"/>
              </a:rPr>
              <a:t>BDE</a:t>
            </a:r>
            <a:r>
              <a:rPr lang="zh-CN" altLang="en-US" dirty="0">
                <a:solidFill>
                  <a:srgbClr val="C00000"/>
                </a:solidFill>
                <a:ea typeface="宋体" panose="02010600030101010101" pitchFamily="2" charset="-122"/>
              </a:rPr>
              <a:t>这个部分既没有给消费者获得，也没有给生产者获得，这部分就被称为社会净损失</a:t>
            </a:r>
            <a:endParaRPr lang="en-US" altLang="zh-CN" dirty="0">
              <a:solidFill>
                <a:srgbClr val="C00000"/>
              </a:solidFill>
              <a:ea typeface="宋体" panose="02010600030101010101" pitchFamily="2" charset="-122"/>
            </a:endParaRPr>
          </a:p>
        </p:txBody>
      </p:sp>
      <p:grpSp>
        <p:nvGrpSpPr>
          <p:cNvPr id="140291" name="Group 4">
            <a:extLst>
              <a:ext uri="{FF2B5EF4-FFF2-40B4-BE49-F238E27FC236}">
                <a16:creationId xmlns:a16="http://schemas.microsoft.com/office/drawing/2014/main" id="{F42AA1D2-C712-466F-80E8-A797978B7017}"/>
              </a:ext>
            </a:extLst>
          </p:cNvPr>
          <p:cNvGrpSpPr>
            <a:grpSpLocks/>
          </p:cNvGrpSpPr>
          <p:nvPr/>
        </p:nvGrpSpPr>
        <p:grpSpPr bwMode="auto">
          <a:xfrm>
            <a:off x="4094163" y="1235075"/>
            <a:ext cx="4422775" cy="3871913"/>
            <a:chOff x="0" y="0"/>
            <a:chExt cx="2786" cy="2439"/>
          </a:xfrm>
        </p:grpSpPr>
        <p:grpSp>
          <p:nvGrpSpPr>
            <p:cNvPr id="140321" name="Group 5">
              <a:extLst>
                <a:ext uri="{FF2B5EF4-FFF2-40B4-BE49-F238E27FC236}">
                  <a16:creationId xmlns:a16="http://schemas.microsoft.com/office/drawing/2014/main" id="{2C87250E-A952-42ED-93E4-4C71F106157E}"/>
                </a:ext>
              </a:extLst>
            </p:cNvPr>
            <p:cNvGrpSpPr>
              <a:grpSpLocks/>
            </p:cNvGrpSpPr>
            <p:nvPr/>
          </p:nvGrpSpPr>
          <p:grpSpPr bwMode="auto">
            <a:xfrm>
              <a:off x="118" y="252"/>
              <a:ext cx="2409" cy="2049"/>
              <a:chOff x="0" y="0"/>
              <a:chExt cx="2116" cy="2027"/>
            </a:xfrm>
          </p:grpSpPr>
          <p:sp>
            <p:nvSpPr>
              <p:cNvPr id="140324" name="Line 6">
                <a:extLst>
                  <a:ext uri="{FF2B5EF4-FFF2-40B4-BE49-F238E27FC236}">
                    <a16:creationId xmlns:a16="http://schemas.microsoft.com/office/drawing/2014/main" id="{66399D11-FA29-46E1-AB73-AE18C04833E4}"/>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25" name="Line 7">
                <a:extLst>
                  <a:ext uri="{FF2B5EF4-FFF2-40B4-BE49-F238E27FC236}">
                    <a16:creationId xmlns:a16="http://schemas.microsoft.com/office/drawing/2014/main" id="{6708CF02-77C0-42FC-8CC9-368E30AAD7CC}"/>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0322" name="Text Box 8">
              <a:extLst>
                <a:ext uri="{FF2B5EF4-FFF2-40B4-BE49-F238E27FC236}">
                  <a16:creationId xmlns:a16="http://schemas.microsoft.com/office/drawing/2014/main" id="{A5ACE0EC-E36B-4C36-A6B6-AAA8CEE21183}"/>
                </a:ext>
              </a:extLst>
            </p:cNvPr>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P</a:t>
              </a:r>
            </a:p>
          </p:txBody>
        </p:sp>
        <p:sp>
          <p:nvSpPr>
            <p:cNvPr id="140323" name="Text Box 9">
              <a:extLst>
                <a:ext uri="{FF2B5EF4-FFF2-40B4-BE49-F238E27FC236}">
                  <a16:creationId xmlns:a16="http://schemas.microsoft.com/office/drawing/2014/main" id="{A186E153-5DDD-43E3-8BFB-5010F097ACC2}"/>
                </a:ext>
              </a:extLst>
            </p:cNvPr>
            <p:cNvSpPr txBox="1">
              <a:spLocks noChangeArrowheads="1"/>
            </p:cNvSpPr>
            <p:nvPr/>
          </p:nvSpPr>
          <p:spPr bwMode="auto">
            <a:xfrm>
              <a:off x="2496"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Q</a:t>
              </a:r>
            </a:p>
          </p:txBody>
        </p:sp>
      </p:grpSp>
      <p:grpSp>
        <p:nvGrpSpPr>
          <p:cNvPr id="140292" name="Group 10">
            <a:extLst>
              <a:ext uri="{FF2B5EF4-FFF2-40B4-BE49-F238E27FC236}">
                <a16:creationId xmlns:a16="http://schemas.microsoft.com/office/drawing/2014/main" id="{25E81FA2-CBC3-4DE9-B83F-617B5EFA870B}"/>
              </a:ext>
            </a:extLst>
          </p:cNvPr>
          <p:cNvGrpSpPr>
            <a:grpSpLocks/>
          </p:cNvGrpSpPr>
          <p:nvPr/>
        </p:nvGrpSpPr>
        <p:grpSpPr bwMode="auto">
          <a:xfrm>
            <a:off x="4267200" y="2133600"/>
            <a:ext cx="3494088" cy="2759075"/>
            <a:chOff x="-552" y="280"/>
            <a:chExt cx="2201" cy="1738"/>
          </a:xfrm>
        </p:grpSpPr>
        <p:sp>
          <p:nvSpPr>
            <p:cNvPr id="140319" name="Line 11">
              <a:extLst>
                <a:ext uri="{FF2B5EF4-FFF2-40B4-BE49-F238E27FC236}">
                  <a16:creationId xmlns:a16="http://schemas.microsoft.com/office/drawing/2014/main" id="{4E832A57-D0E2-4F9B-B2DA-00D6133340E2}"/>
                </a:ext>
              </a:extLst>
            </p:cNvPr>
            <p:cNvSpPr>
              <a:spLocks noChangeShapeType="1"/>
            </p:cNvSpPr>
            <p:nvPr/>
          </p:nvSpPr>
          <p:spPr bwMode="auto">
            <a:xfrm>
              <a:off x="-552" y="280"/>
              <a:ext cx="1969" cy="156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20" name="Text Box 12">
              <a:extLst>
                <a:ext uri="{FF2B5EF4-FFF2-40B4-BE49-F238E27FC236}">
                  <a16:creationId xmlns:a16="http://schemas.microsoft.com/office/drawing/2014/main" id="{16BFEA2C-D427-4357-839A-26ED03502416}"/>
                </a:ext>
              </a:extLst>
            </p:cNvPr>
            <p:cNvSpPr txBox="1">
              <a:spLocks noChangeArrowheads="1"/>
            </p:cNvSpPr>
            <p:nvPr/>
          </p:nvSpPr>
          <p:spPr bwMode="auto">
            <a:xfrm>
              <a:off x="1329" y="173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p>
          </p:txBody>
        </p:sp>
      </p:grpSp>
      <p:grpSp>
        <p:nvGrpSpPr>
          <p:cNvPr id="140293" name="Group 13">
            <a:extLst>
              <a:ext uri="{FF2B5EF4-FFF2-40B4-BE49-F238E27FC236}">
                <a16:creationId xmlns:a16="http://schemas.microsoft.com/office/drawing/2014/main" id="{FD607E8A-4B42-4C8E-A0E3-78ECCC9ED667}"/>
              </a:ext>
            </a:extLst>
          </p:cNvPr>
          <p:cNvGrpSpPr>
            <a:grpSpLocks/>
          </p:cNvGrpSpPr>
          <p:nvPr/>
        </p:nvGrpSpPr>
        <p:grpSpPr bwMode="auto">
          <a:xfrm>
            <a:off x="4267200" y="1360488"/>
            <a:ext cx="2719388" cy="3211512"/>
            <a:chOff x="-640" y="0"/>
            <a:chExt cx="1713" cy="2023"/>
          </a:xfrm>
        </p:grpSpPr>
        <p:sp>
          <p:nvSpPr>
            <p:cNvPr id="140317" name="Line 14">
              <a:extLst>
                <a:ext uri="{FF2B5EF4-FFF2-40B4-BE49-F238E27FC236}">
                  <a16:creationId xmlns:a16="http://schemas.microsoft.com/office/drawing/2014/main" id="{B2C8895F-62DE-4E33-BE93-A9CA9F093544}"/>
                </a:ext>
              </a:extLst>
            </p:cNvPr>
            <p:cNvSpPr>
              <a:spLocks noChangeShapeType="1"/>
            </p:cNvSpPr>
            <p:nvPr/>
          </p:nvSpPr>
          <p:spPr bwMode="auto">
            <a:xfrm flipV="1">
              <a:off x="-640" y="232"/>
              <a:ext cx="1512" cy="1791"/>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18" name="Text Box 15">
              <a:extLst>
                <a:ext uri="{FF2B5EF4-FFF2-40B4-BE49-F238E27FC236}">
                  <a16:creationId xmlns:a16="http://schemas.microsoft.com/office/drawing/2014/main" id="{147F6E10-7C03-45E1-AC46-B4F9F411A3E9}"/>
                </a:ext>
              </a:extLst>
            </p:cNvPr>
            <p:cNvSpPr txBox="1">
              <a:spLocks noChangeArrowheads="1"/>
            </p:cNvSpPr>
            <p:nvPr/>
          </p:nvSpPr>
          <p:spPr bwMode="auto">
            <a:xfrm>
              <a:off x="753" y="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p>
          </p:txBody>
        </p:sp>
      </p:grpSp>
      <p:sp>
        <p:nvSpPr>
          <p:cNvPr id="140294" name="Line 18">
            <a:extLst>
              <a:ext uri="{FF2B5EF4-FFF2-40B4-BE49-F238E27FC236}">
                <a16:creationId xmlns:a16="http://schemas.microsoft.com/office/drawing/2014/main" id="{5C939C6A-C196-4B8A-A044-48C035822BFB}"/>
              </a:ext>
            </a:extLst>
          </p:cNvPr>
          <p:cNvSpPr>
            <a:spLocks noChangeShapeType="1"/>
          </p:cNvSpPr>
          <p:nvPr/>
        </p:nvSpPr>
        <p:spPr bwMode="auto">
          <a:xfrm>
            <a:off x="4289425" y="3124200"/>
            <a:ext cx="119697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295" name="Oval 20">
            <a:extLst>
              <a:ext uri="{FF2B5EF4-FFF2-40B4-BE49-F238E27FC236}">
                <a16:creationId xmlns:a16="http://schemas.microsoft.com/office/drawing/2014/main" id="{70864DCD-F670-42C4-B7E5-FFA45CFC9EC4}"/>
              </a:ext>
            </a:extLst>
          </p:cNvPr>
          <p:cNvSpPr>
            <a:spLocks noChangeArrowheads="1"/>
          </p:cNvSpPr>
          <p:nvPr/>
        </p:nvSpPr>
        <p:spPr bwMode="auto">
          <a:xfrm>
            <a:off x="5410200" y="3062288"/>
            <a:ext cx="139700" cy="13811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0296" name="Text Box 21">
            <a:extLst>
              <a:ext uri="{FF2B5EF4-FFF2-40B4-BE49-F238E27FC236}">
                <a16:creationId xmlns:a16="http://schemas.microsoft.com/office/drawing/2014/main" id="{578E4171-F0AF-4719-A3B3-B7BAA78C1E8F}"/>
              </a:ext>
            </a:extLst>
          </p:cNvPr>
          <p:cNvSpPr txBox="1">
            <a:spLocks noChangeArrowheads="1"/>
          </p:cNvSpPr>
          <p:nvPr/>
        </p:nvSpPr>
        <p:spPr bwMode="auto">
          <a:xfrm>
            <a:off x="3255963" y="2765425"/>
            <a:ext cx="9350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$800</a:t>
            </a:r>
          </a:p>
        </p:txBody>
      </p:sp>
      <p:grpSp>
        <p:nvGrpSpPr>
          <p:cNvPr id="6" name="Group 19">
            <a:extLst>
              <a:ext uri="{FF2B5EF4-FFF2-40B4-BE49-F238E27FC236}">
                <a16:creationId xmlns:a16="http://schemas.microsoft.com/office/drawing/2014/main" id="{93841C16-408C-4FA6-9D50-1275728B8E02}"/>
              </a:ext>
            </a:extLst>
          </p:cNvPr>
          <p:cNvGrpSpPr>
            <a:grpSpLocks/>
          </p:cNvGrpSpPr>
          <p:nvPr/>
        </p:nvGrpSpPr>
        <p:grpSpPr bwMode="auto">
          <a:xfrm>
            <a:off x="3263900" y="3349625"/>
            <a:ext cx="5068888" cy="830263"/>
            <a:chOff x="0" y="0"/>
            <a:chExt cx="3193" cy="523"/>
          </a:xfrm>
        </p:grpSpPr>
        <p:sp>
          <p:nvSpPr>
            <p:cNvPr id="140313" name="Line 24">
              <a:extLst>
                <a:ext uri="{FF2B5EF4-FFF2-40B4-BE49-F238E27FC236}">
                  <a16:creationId xmlns:a16="http://schemas.microsoft.com/office/drawing/2014/main" id="{627A2D93-EAC0-4339-95E6-20449FBFD020}"/>
                </a:ext>
              </a:extLst>
            </p:cNvPr>
            <p:cNvSpPr>
              <a:spLocks noChangeShapeType="1"/>
            </p:cNvSpPr>
            <p:nvPr/>
          </p:nvSpPr>
          <p:spPr bwMode="auto">
            <a:xfrm>
              <a:off x="644" y="265"/>
              <a:ext cx="1888" cy="0"/>
            </a:xfrm>
            <a:prstGeom prst="line">
              <a:avLst/>
            </a:prstGeom>
            <a:noFill/>
            <a:ln w="28575">
              <a:solidFill>
                <a:srgbClr val="DE84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14" name="Text Box 25">
              <a:extLst>
                <a:ext uri="{FF2B5EF4-FFF2-40B4-BE49-F238E27FC236}">
                  <a16:creationId xmlns:a16="http://schemas.microsoft.com/office/drawing/2014/main" id="{A517E934-8FE9-4B6A-B4BD-25DA28A9B824}"/>
                </a:ext>
              </a:extLst>
            </p:cNvPr>
            <p:cNvSpPr txBox="1">
              <a:spLocks noChangeArrowheads="1"/>
            </p:cNvSpPr>
            <p:nvPr/>
          </p:nvSpPr>
          <p:spPr bwMode="auto">
            <a:xfrm>
              <a:off x="2567" y="0"/>
              <a:ext cx="62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dirty="0">
                  <a:latin typeface="Arial" panose="020B0604020202020204" pitchFamily="34" charset="0"/>
                </a:rPr>
                <a:t>价格上限</a:t>
              </a:r>
              <a:endParaRPr lang="en-US" altLang="zh-CN" sz="2400" b="0" dirty="0">
                <a:latin typeface="Arial" panose="020B0604020202020204" pitchFamily="34" charset="0"/>
              </a:endParaRPr>
            </a:p>
          </p:txBody>
        </p:sp>
        <p:sp>
          <p:nvSpPr>
            <p:cNvPr id="140315" name="AutoShape 26">
              <a:extLst>
                <a:ext uri="{FF2B5EF4-FFF2-40B4-BE49-F238E27FC236}">
                  <a16:creationId xmlns:a16="http://schemas.microsoft.com/office/drawing/2014/main" id="{ADD0A4DE-8165-4EF6-A479-43A9EA8D8F40}"/>
                </a:ext>
              </a:extLst>
            </p:cNvPr>
            <p:cNvSpPr>
              <a:spLocks/>
            </p:cNvSpPr>
            <p:nvPr/>
          </p:nvSpPr>
          <p:spPr bwMode="auto">
            <a:xfrm>
              <a:off x="2589" y="37"/>
              <a:ext cx="156" cy="453"/>
            </a:xfrm>
            <a:prstGeom prst="leftBrace">
              <a:avLst>
                <a:gd name="adj1" fmla="val 38597"/>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0316" name="Text Box 27">
              <a:extLst>
                <a:ext uri="{FF2B5EF4-FFF2-40B4-BE49-F238E27FC236}">
                  <a16:creationId xmlns:a16="http://schemas.microsoft.com/office/drawing/2014/main" id="{D9930750-A344-4095-9546-87E4A7C14D1C}"/>
                </a:ext>
              </a:extLst>
            </p:cNvPr>
            <p:cNvSpPr txBox="1">
              <a:spLocks noChangeArrowheads="1"/>
            </p:cNvSpPr>
            <p:nvPr/>
          </p:nvSpPr>
          <p:spPr bwMode="auto">
            <a:xfrm>
              <a:off x="0" y="148"/>
              <a:ext cx="58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$500</a:t>
              </a:r>
            </a:p>
          </p:txBody>
        </p:sp>
      </p:grpSp>
      <p:grpSp>
        <p:nvGrpSpPr>
          <p:cNvPr id="7" name="Group 24">
            <a:extLst>
              <a:ext uri="{FF2B5EF4-FFF2-40B4-BE49-F238E27FC236}">
                <a16:creationId xmlns:a16="http://schemas.microsoft.com/office/drawing/2014/main" id="{8D085251-AA25-46AC-9171-CBFE8D7841DB}"/>
              </a:ext>
            </a:extLst>
          </p:cNvPr>
          <p:cNvGrpSpPr>
            <a:grpSpLocks/>
          </p:cNvGrpSpPr>
          <p:nvPr/>
        </p:nvGrpSpPr>
        <p:grpSpPr bwMode="auto">
          <a:xfrm>
            <a:off x="4495800" y="2667000"/>
            <a:ext cx="876300" cy="2620963"/>
            <a:chOff x="-495" y="-651"/>
            <a:chExt cx="552" cy="1651"/>
          </a:xfrm>
        </p:grpSpPr>
        <p:sp>
          <p:nvSpPr>
            <p:cNvPr id="140310" name="Line 19">
              <a:extLst>
                <a:ext uri="{FF2B5EF4-FFF2-40B4-BE49-F238E27FC236}">
                  <a16:creationId xmlns:a16="http://schemas.microsoft.com/office/drawing/2014/main" id="{A75DB173-0B4D-4EFB-B2EB-5D9A09DD0F01}"/>
                </a:ext>
              </a:extLst>
            </p:cNvPr>
            <p:cNvSpPr>
              <a:spLocks noChangeShapeType="1"/>
            </p:cNvSpPr>
            <p:nvPr/>
          </p:nvSpPr>
          <p:spPr bwMode="auto">
            <a:xfrm>
              <a:off x="-207" y="-651"/>
              <a:ext cx="0" cy="1398"/>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11" name="Text Box 22">
              <a:extLst>
                <a:ext uri="{FF2B5EF4-FFF2-40B4-BE49-F238E27FC236}">
                  <a16:creationId xmlns:a16="http://schemas.microsoft.com/office/drawing/2014/main" id="{17F4BF88-E5D4-40B3-BB8D-CAF603E1E52F}"/>
                </a:ext>
              </a:extLst>
            </p:cNvPr>
            <p:cNvSpPr txBox="1">
              <a:spLocks noChangeArrowheads="1"/>
            </p:cNvSpPr>
            <p:nvPr/>
          </p:nvSpPr>
          <p:spPr bwMode="auto">
            <a:xfrm>
              <a:off x="-495" y="767"/>
              <a:ext cx="5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150</a:t>
              </a:r>
            </a:p>
          </p:txBody>
        </p:sp>
        <p:sp>
          <p:nvSpPr>
            <p:cNvPr id="140312" name="Oval 33">
              <a:extLst>
                <a:ext uri="{FF2B5EF4-FFF2-40B4-BE49-F238E27FC236}">
                  <a16:creationId xmlns:a16="http://schemas.microsoft.com/office/drawing/2014/main" id="{3AB69FA3-1852-45B5-8138-DB4AFDD6EB35}"/>
                </a:ext>
              </a:extLst>
            </p:cNvPr>
            <p:cNvSpPr>
              <a:spLocks noChangeArrowheads="1"/>
            </p:cNvSpPr>
            <p:nvPr/>
          </p:nvSpPr>
          <p:spPr bwMode="auto">
            <a:xfrm>
              <a:off x="-255"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8" name="Group 28">
            <a:extLst>
              <a:ext uri="{FF2B5EF4-FFF2-40B4-BE49-F238E27FC236}">
                <a16:creationId xmlns:a16="http://schemas.microsoft.com/office/drawing/2014/main" id="{C0A2DFE4-7311-47EA-A2BE-C069F2F3F3EF}"/>
              </a:ext>
            </a:extLst>
          </p:cNvPr>
          <p:cNvGrpSpPr>
            <a:grpSpLocks/>
          </p:cNvGrpSpPr>
          <p:nvPr/>
        </p:nvGrpSpPr>
        <p:grpSpPr bwMode="auto">
          <a:xfrm>
            <a:off x="5867400" y="3700463"/>
            <a:ext cx="876300" cy="1585912"/>
            <a:chOff x="-275" y="0"/>
            <a:chExt cx="552" cy="999"/>
          </a:xfrm>
        </p:grpSpPr>
        <p:sp>
          <p:nvSpPr>
            <p:cNvPr id="140307" name="Text Box 28">
              <a:extLst>
                <a:ext uri="{FF2B5EF4-FFF2-40B4-BE49-F238E27FC236}">
                  <a16:creationId xmlns:a16="http://schemas.microsoft.com/office/drawing/2014/main" id="{FEB065A2-3BEA-46D0-80FE-8889D0228EC9}"/>
                </a:ext>
              </a:extLst>
            </p:cNvPr>
            <p:cNvSpPr txBox="1">
              <a:spLocks noChangeArrowheads="1"/>
            </p:cNvSpPr>
            <p:nvPr/>
          </p:nvSpPr>
          <p:spPr bwMode="auto">
            <a:xfrm>
              <a:off x="-275" y="766"/>
              <a:ext cx="5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450</a:t>
              </a:r>
            </a:p>
          </p:txBody>
        </p:sp>
        <p:sp>
          <p:nvSpPr>
            <p:cNvPr id="140308" name="Line 31">
              <a:extLst>
                <a:ext uri="{FF2B5EF4-FFF2-40B4-BE49-F238E27FC236}">
                  <a16:creationId xmlns:a16="http://schemas.microsoft.com/office/drawing/2014/main" id="{77ACA241-598C-49B8-AB67-95928FE904F1}"/>
                </a:ext>
              </a:extLst>
            </p:cNvPr>
            <p:cNvSpPr>
              <a:spLocks noChangeShapeType="1"/>
            </p:cNvSpPr>
            <p:nvPr/>
          </p:nvSpPr>
          <p:spPr bwMode="auto">
            <a:xfrm>
              <a:off x="13" y="42"/>
              <a:ext cx="0" cy="70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0309" name="Oval 34">
              <a:extLst>
                <a:ext uri="{FF2B5EF4-FFF2-40B4-BE49-F238E27FC236}">
                  <a16:creationId xmlns:a16="http://schemas.microsoft.com/office/drawing/2014/main" id="{2876D7D5-3BA9-4232-ADF1-E061EFCF6307}"/>
                </a:ext>
              </a:extLst>
            </p:cNvPr>
            <p:cNvSpPr>
              <a:spLocks noChangeArrowheads="1"/>
            </p:cNvSpPr>
            <p:nvPr/>
          </p:nvSpPr>
          <p:spPr bwMode="auto">
            <a:xfrm>
              <a:off x="-35" y="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sp>
        <p:nvSpPr>
          <p:cNvPr id="140300" name="Title 1">
            <a:extLst>
              <a:ext uri="{FF2B5EF4-FFF2-40B4-BE49-F238E27FC236}">
                <a16:creationId xmlns:a16="http://schemas.microsoft.com/office/drawing/2014/main" id="{C1C3EE65-813D-47BD-9F22-CCDAE81363BA}"/>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价格上限：公寓市场</a:t>
            </a:r>
          </a:p>
        </p:txBody>
      </p:sp>
      <p:sp>
        <p:nvSpPr>
          <p:cNvPr id="140301" name="Text Box 28">
            <a:extLst>
              <a:ext uri="{FF2B5EF4-FFF2-40B4-BE49-F238E27FC236}">
                <a16:creationId xmlns:a16="http://schemas.microsoft.com/office/drawing/2014/main" id="{A7B8E01A-E69F-4C9B-8C1A-9D9A2369E915}"/>
              </a:ext>
            </a:extLst>
          </p:cNvPr>
          <p:cNvSpPr txBox="1">
            <a:spLocks noChangeArrowheads="1"/>
          </p:cNvSpPr>
          <p:nvPr/>
        </p:nvSpPr>
        <p:spPr bwMode="auto">
          <a:xfrm>
            <a:off x="3619500" y="4343400"/>
            <a:ext cx="876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A</a:t>
            </a:r>
          </a:p>
        </p:txBody>
      </p:sp>
      <p:sp>
        <p:nvSpPr>
          <p:cNvPr id="140302" name="Text Box 28">
            <a:extLst>
              <a:ext uri="{FF2B5EF4-FFF2-40B4-BE49-F238E27FC236}">
                <a16:creationId xmlns:a16="http://schemas.microsoft.com/office/drawing/2014/main" id="{53F4C0DB-37C4-4490-B0E0-1E4DBBFB7034}"/>
              </a:ext>
            </a:extLst>
          </p:cNvPr>
          <p:cNvSpPr txBox="1">
            <a:spLocks noChangeArrowheads="1"/>
          </p:cNvSpPr>
          <p:nvPr/>
        </p:nvSpPr>
        <p:spPr bwMode="auto">
          <a:xfrm>
            <a:off x="5372100" y="2819400"/>
            <a:ext cx="571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B</a:t>
            </a:r>
          </a:p>
        </p:txBody>
      </p:sp>
      <p:sp>
        <p:nvSpPr>
          <p:cNvPr id="140303" name="Text Box 28">
            <a:extLst>
              <a:ext uri="{FF2B5EF4-FFF2-40B4-BE49-F238E27FC236}">
                <a16:creationId xmlns:a16="http://schemas.microsoft.com/office/drawing/2014/main" id="{0B2AADD4-F192-4A32-9FCD-74620CF999B0}"/>
              </a:ext>
            </a:extLst>
          </p:cNvPr>
          <p:cNvSpPr txBox="1">
            <a:spLocks noChangeArrowheads="1"/>
          </p:cNvSpPr>
          <p:nvPr/>
        </p:nvSpPr>
        <p:spPr bwMode="auto">
          <a:xfrm>
            <a:off x="3619500" y="1905000"/>
            <a:ext cx="876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C</a:t>
            </a:r>
          </a:p>
        </p:txBody>
      </p:sp>
      <p:sp>
        <p:nvSpPr>
          <p:cNvPr id="140304" name="Text Box 28">
            <a:extLst>
              <a:ext uri="{FF2B5EF4-FFF2-40B4-BE49-F238E27FC236}">
                <a16:creationId xmlns:a16="http://schemas.microsoft.com/office/drawing/2014/main" id="{E2EB6CF5-1B24-45D8-8A06-04026AC3F399}"/>
              </a:ext>
            </a:extLst>
          </p:cNvPr>
          <p:cNvSpPr txBox="1">
            <a:spLocks noChangeArrowheads="1"/>
          </p:cNvSpPr>
          <p:nvPr/>
        </p:nvSpPr>
        <p:spPr bwMode="auto">
          <a:xfrm>
            <a:off x="4686300" y="3744913"/>
            <a:ext cx="588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D</a:t>
            </a:r>
          </a:p>
        </p:txBody>
      </p:sp>
      <p:sp>
        <p:nvSpPr>
          <p:cNvPr id="140305" name="Text Box 28">
            <a:extLst>
              <a:ext uri="{FF2B5EF4-FFF2-40B4-BE49-F238E27FC236}">
                <a16:creationId xmlns:a16="http://schemas.microsoft.com/office/drawing/2014/main" id="{1AB52504-0A05-456B-B290-79108B1F2C62}"/>
              </a:ext>
            </a:extLst>
          </p:cNvPr>
          <p:cNvSpPr txBox="1">
            <a:spLocks noChangeArrowheads="1"/>
          </p:cNvSpPr>
          <p:nvPr/>
        </p:nvSpPr>
        <p:spPr bwMode="auto">
          <a:xfrm>
            <a:off x="4533900" y="2209800"/>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E</a:t>
            </a:r>
          </a:p>
        </p:txBody>
      </p:sp>
      <p:sp>
        <p:nvSpPr>
          <p:cNvPr id="140306" name="Oval 19">
            <a:extLst>
              <a:ext uri="{FF2B5EF4-FFF2-40B4-BE49-F238E27FC236}">
                <a16:creationId xmlns:a16="http://schemas.microsoft.com/office/drawing/2014/main" id="{BAD4016A-898F-47E3-9DAA-9FC827BB622F}"/>
              </a:ext>
            </a:extLst>
          </p:cNvPr>
          <p:cNvSpPr>
            <a:spLocks noChangeArrowheads="1"/>
          </p:cNvSpPr>
          <p:nvPr/>
        </p:nvSpPr>
        <p:spPr bwMode="auto">
          <a:xfrm>
            <a:off x="4876800" y="2590800"/>
            <a:ext cx="139700" cy="1381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1">
                                            <p:txEl>
                                              <p:pRg st="0" end="0"/>
                                            </p:txEl>
                                          </p:spTgt>
                                        </p:tgtEl>
                                        <p:attrNameLst>
                                          <p:attrName>style.visibility</p:attrName>
                                        </p:attrNameLst>
                                      </p:cBhvr>
                                      <p:to>
                                        <p:strVal val="visible"/>
                                      </p:to>
                                    </p:set>
                                    <p:animEffect transition="in" filter="wipe(left)">
                                      <p:cBhvr>
                                        <p:cTn id="12" dur="500"/>
                                        <p:tgtEl>
                                          <p:spTgt spid="1741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bldLvl="5"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3">
            <a:extLst>
              <a:ext uri="{FF2B5EF4-FFF2-40B4-BE49-F238E27FC236}">
                <a16:creationId xmlns:a16="http://schemas.microsoft.com/office/drawing/2014/main" id="{0BC3C3F1-3FA0-4C7E-AFA6-9F3F926E1E2F}"/>
              </a:ext>
            </a:extLst>
          </p:cNvPr>
          <p:cNvSpPr>
            <a:spLocks noGrp="1" noChangeArrowheads="1"/>
          </p:cNvSpPr>
          <p:nvPr>
            <p:ph type="body" idx="4294967295"/>
          </p:nvPr>
        </p:nvSpPr>
        <p:spPr>
          <a:xfrm>
            <a:off x="1143000" y="990600"/>
            <a:ext cx="7626350" cy="5638800"/>
          </a:xfrm>
        </p:spPr>
        <p:txBody>
          <a:bodyPr>
            <a:normAutofit fontScale="92500" lnSpcReduction="10000"/>
          </a:bodyPr>
          <a:lstStyle/>
          <a:p>
            <a:pPr>
              <a:spcBef>
                <a:spcPct val="40000"/>
              </a:spcBef>
            </a:pPr>
            <a:r>
              <a:rPr lang="zh-CN" altLang="en-US" dirty="0">
                <a:ea typeface="宋体" panose="02010600030101010101" pitchFamily="2" charset="-122"/>
              </a:rPr>
              <a:t>面临短缺时，卖者必须在买者之间配给稀缺物品</a:t>
            </a:r>
            <a:r>
              <a:rPr lang="en-US" altLang="zh-CN" dirty="0">
                <a:ea typeface="宋体" panose="02010600030101010101" pitchFamily="2" charset="-122"/>
              </a:rPr>
              <a:t> </a:t>
            </a:r>
          </a:p>
          <a:p>
            <a:pPr>
              <a:spcBef>
                <a:spcPct val="40000"/>
              </a:spcBef>
            </a:pPr>
            <a:r>
              <a:rPr lang="zh-CN" altLang="en-US" dirty="0">
                <a:ea typeface="宋体" panose="02010600030101010101" pitchFamily="2" charset="-122"/>
              </a:rPr>
              <a:t>配给机制：</a:t>
            </a:r>
            <a:endParaRPr lang="en-US" altLang="zh-CN" dirty="0">
              <a:ea typeface="宋体" panose="02010600030101010101" pitchFamily="2" charset="-122"/>
            </a:endParaRPr>
          </a:p>
          <a:p>
            <a:pPr lvl="1">
              <a:spcBef>
                <a:spcPct val="40000"/>
              </a:spcBef>
            </a:pPr>
            <a:r>
              <a:rPr lang="zh-CN" altLang="en-US" dirty="0">
                <a:latin typeface="Arial" panose="020B0604020202020204" pitchFamily="34" charset="0"/>
                <a:ea typeface="宋体" panose="02010600030101010101" pitchFamily="2" charset="-122"/>
              </a:rPr>
              <a:t>排队（先到先得）</a:t>
            </a:r>
            <a:endParaRPr lang="en-US" altLang="zh-CN" dirty="0">
              <a:latin typeface="Arial" panose="020B0604020202020204" pitchFamily="34" charset="0"/>
              <a:ea typeface="宋体" panose="02010600030101010101" pitchFamily="2" charset="-122"/>
            </a:endParaRPr>
          </a:p>
          <a:p>
            <a:pPr lvl="1">
              <a:spcBef>
                <a:spcPct val="40000"/>
              </a:spcBef>
            </a:pPr>
            <a:r>
              <a:rPr lang="zh-CN" altLang="en-US" dirty="0">
                <a:latin typeface="Arial" panose="020B0604020202020204" pitchFamily="34" charset="0"/>
                <a:ea typeface="宋体" panose="02010600030101010101" pitchFamily="2" charset="-122"/>
              </a:rPr>
              <a:t>抽签（公平但没有效率）</a:t>
            </a:r>
            <a:endParaRPr lang="en-US" altLang="zh-CN" dirty="0">
              <a:latin typeface="Arial" panose="020B0604020202020204" pitchFamily="34" charset="0"/>
              <a:ea typeface="宋体" panose="02010600030101010101" pitchFamily="2" charset="-122"/>
            </a:endParaRPr>
          </a:p>
          <a:p>
            <a:pPr>
              <a:spcBef>
                <a:spcPct val="40000"/>
              </a:spcBef>
            </a:pPr>
            <a:r>
              <a:rPr lang="zh-CN" altLang="en-US" dirty="0">
                <a:ea typeface="宋体" panose="02010600030101010101" pitchFamily="2" charset="-122"/>
              </a:rPr>
              <a:t>这些配给机制可能是不公平的或是无效率的：因为物品并不一定会卖给对它评价最高的买者</a:t>
            </a:r>
            <a:endParaRPr lang="en-US" altLang="zh-CN" dirty="0">
              <a:ea typeface="宋体" panose="02010600030101010101" pitchFamily="2" charset="-122"/>
            </a:endParaRPr>
          </a:p>
          <a:p>
            <a:pPr>
              <a:spcBef>
                <a:spcPct val="40000"/>
              </a:spcBef>
            </a:pPr>
            <a:r>
              <a:rPr lang="zh-CN" altLang="en-US" dirty="0">
                <a:ea typeface="宋体" panose="02010600030101010101" pitchFamily="2" charset="-122"/>
              </a:rPr>
              <a:t>与此相比，一个竞争市场中的价格配给机制可以实现效率（物品卖给对它评价最高的买者）。</a:t>
            </a:r>
            <a:endParaRPr lang="en-US" altLang="zh-CN" dirty="0">
              <a:ea typeface="宋体" panose="02010600030101010101" pitchFamily="2" charset="-122"/>
            </a:endParaRPr>
          </a:p>
        </p:txBody>
      </p:sp>
      <p:sp>
        <p:nvSpPr>
          <p:cNvPr id="142339" name="Title 1">
            <a:extLst>
              <a:ext uri="{FF2B5EF4-FFF2-40B4-BE49-F238E27FC236}">
                <a16:creationId xmlns:a16="http://schemas.microsoft.com/office/drawing/2014/main" id="{2332B738-2B9B-467A-85B4-2B2AE7F46A53}"/>
              </a:ext>
            </a:extLst>
          </p:cNvPr>
          <p:cNvSpPr txBox="1">
            <a:spLocks/>
          </p:cNvSpPr>
          <p:nvPr/>
        </p:nvSpPr>
        <p:spPr bwMode="auto">
          <a:xfrm>
            <a:off x="1042988"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短缺与配给</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258">
                                            <p:txEl>
                                              <p:pRg st="0" end="0"/>
                                            </p:txEl>
                                          </p:spTgt>
                                        </p:tgtEl>
                                        <p:attrNameLst>
                                          <p:attrName>style.visibility</p:attrName>
                                        </p:attrNameLst>
                                      </p:cBhvr>
                                      <p:to>
                                        <p:strVal val="visible"/>
                                      </p:to>
                                    </p:set>
                                    <p:animEffect transition="in" filter="blinds(horizontal)">
                                      <p:cBhvr>
                                        <p:cTn id="7" dur="500"/>
                                        <p:tgtEl>
                                          <p:spTgt spid="9625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6258">
                                            <p:txEl>
                                              <p:pRg st="1" end="1"/>
                                            </p:txEl>
                                          </p:spTgt>
                                        </p:tgtEl>
                                        <p:attrNameLst>
                                          <p:attrName>style.visibility</p:attrName>
                                        </p:attrNameLst>
                                      </p:cBhvr>
                                      <p:to>
                                        <p:strVal val="visible"/>
                                      </p:to>
                                    </p:set>
                                    <p:animEffect transition="in" filter="blinds(horizontal)">
                                      <p:cBhvr>
                                        <p:cTn id="12" dur="500"/>
                                        <p:tgtEl>
                                          <p:spTgt spid="9625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6258">
                                            <p:txEl>
                                              <p:pRg st="2" end="2"/>
                                            </p:txEl>
                                          </p:spTgt>
                                        </p:tgtEl>
                                        <p:attrNameLst>
                                          <p:attrName>style.visibility</p:attrName>
                                        </p:attrNameLst>
                                      </p:cBhvr>
                                      <p:to>
                                        <p:strVal val="visible"/>
                                      </p:to>
                                    </p:set>
                                    <p:animEffect transition="in" filter="blinds(horizontal)">
                                      <p:cBhvr>
                                        <p:cTn id="17" dur="500"/>
                                        <p:tgtEl>
                                          <p:spTgt spid="9625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6258">
                                            <p:txEl>
                                              <p:pRg st="3" end="3"/>
                                            </p:txEl>
                                          </p:spTgt>
                                        </p:tgtEl>
                                        <p:attrNameLst>
                                          <p:attrName>style.visibility</p:attrName>
                                        </p:attrNameLst>
                                      </p:cBhvr>
                                      <p:to>
                                        <p:strVal val="visible"/>
                                      </p:to>
                                    </p:set>
                                    <p:animEffect transition="in" filter="blinds(horizontal)">
                                      <p:cBhvr>
                                        <p:cTn id="22" dur="500"/>
                                        <p:tgtEl>
                                          <p:spTgt spid="9625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6258">
                                            <p:txEl>
                                              <p:pRg st="4" end="4"/>
                                            </p:txEl>
                                          </p:spTgt>
                                        </p:tgtEl>
                                        <p:attrNameLst>
                                          <p:attrName>style.visibility</p:attrName>
                                        </p:attrNameLst>
                                      </p:cBhvr>
                                      <p:to>
                                        <p:strVal val="visible"/>
                                      </p:to>
                                    </p:set>
                                    <p:animEffect transition="in" filter="blinds(horizontal)">
                                      <p:cBhvr>
                                        <p:cTn id="27" dur="500"/>
                                        <p:tgtEl>
                                          <p:spTgt spid="9625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6258">
                                            <p:txEl>
                                              <p:pRg st="5" end="5"/>
                                            </p:txEl>
                                          </p:spTgt>
                                        </p:tgtEl>
                                        <p:attrNameLst>
                                          <p:attrName>style.visibility</p:attrName>
                                        </p:attrNameLst>
                                      </p:cBhvr>
                                      <p:to>
                                        <p:strVal val="visible"/>
                                      </p:to>
                                    </p:set>
                                    <p:animEffect transition="in" filter="blinds(horizontal)">
                                      <p:cBhvr>
                                        <p:cTn id="32" dur="500"/>
                                        <p:tgtEl>
                                          <p:spTgt spid="9625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build="p"/>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069CC9F0-C079-46A3-85EF-AF716FA46E9E}"/>
              </a:ext>
            </a:extLst>
          </p:cNvPr>
          <p:cNvSpPr>
            <a:spLocks noGrp="1" noChangeArrowheads="1"/>
          </p:cNvSpPr>
          <p:nvPr>
            <p:ph type="body" idx="4294967295"/>
          </p:nvPr>
        </p:nvSpPr>
        <p:spPr>
          <a:xfrm>
            <a:off x="798513" y="3303588"/>
            <a:ext cx="2017712" cy="1373187"/>
          </a:xfrm>
          <a:solidFill>
            <a:srgbClr val="FFCCCC"/>
          </a:solidFill>
          <a:effectLst>
            <a:outerShdw dist="71842" dir="2700000" algn="ctr" rotWithShape="0">
              <a:schemeClr val="bg2"/>
            </a:outerShdw>
          </a:effectLst>
        </p:spPr>
        <p:txBody>
          <a:bodyPr/>
          <a:lstStyle/>
          <a:p>
            <a:pPr marL="0" indent="0" algn="ctr">
              <a:buFont typeface="Wingdings" panose="05000000000000000000" pitchFamily="2" charset="2"/>
              <a:buNone/>
            </a:pPr>
            <a:r>
              <a:rPr lang="zh-CN" altLang="en-US" sz="2600">
                <a:ea typeface="宋体" panose="02010600030101010101" pitchFamily="2" charset="-122"/>
              </a:rPr>
              <a:t>没有最低工资下限时的均衡</a:t>
            </a:r>
            <a:endParaRPr lang="en-US" altLang="zh-CN" sz="2600">
              <a:ea typeface="宋体" panose="02010600030101010101" pitchFamily="2" charset="-122"/>
            </a:endParaRPr>
          </a:p>
        </p:txBody>
      </p:sp>
      <p:grpSp>
        <p:nvGrpSpPr>
          <p:cNvPr id="2" name="Group 4">
            <a:extLst>
              <a:ext uri="{FF2B5EF4-FFF2-40B4-BE49-F238E27FC236}">
                <a16:creationId xmlns:a16="http://schemas.microsoft.com/office/drawing/2014/main" id="{CADBAB67-68E4-4149-9A5D-B62EF345DDDF}"/>
              </a:ext>
            </a:extLst>
          </p:cNvPr>
          <p:cNvGrpSpPr>
            <a:grpSpLocks/>
          </p:cNvGrpSpPr>
          <p:nvPr/>
        </p:nvGrpSpPr>
        <p:grpSpPr bwMode="auto">
          <a:xfrm>
            <a:off x="4060825" y="1235075"/>
            <a:ext cx="4456113" cy="3871913"/>
            <a:chOff x="0" y="0"/>
            <a:chExt cx="2807" cy="2439"/>
          </a:xfrm>
        </p:grpSpPr>
        <p:grpSp>
          <p:nvGrpSpPr>
            <p:cNvPr id="144408" name="Group 5">
              <a:extLst>
                <a:ext uri="{FF2B5EF4-FFF2-40B4-BE49-F238E27FC236}">
                  <a16:creationId xmlns:a16="http://schemas.microsoft.com/office/drawing/2014/main" id="{6C736F53-091F-4190-8239-46478E071C8C}"/>
                </a:ext>
              </a:extLst>
            </p:cNvPr>
            <p:cNvGrpSpPr>
              <a:grpSpLocks/>
            </p:cNvGrpSpPr>
            <p:nvPr/>
          </p:nvGrpSpPr>
          <p:grpSpPr bwMode="auto">
            <a:xfrm>
              <a:off x="139" y="252"/>
              <a:ext cx="2409" cy="2049"/>
              <a:chOff x="0" y="0"/>
              <a:chExt cx="2116" cy="2027"/>
            </a:xfrm>
          </p:grpSpPr>
          <p:sp>
            <p:nvSpPr>
              <p:cNvPr id="144411" name="Line 6">
                <a:extLst>
                  <a:ext uri="{FF2B5EF4-FFF2-40B4-BE49-F238E27FC236}">
                    <a16:creationId xmlns:a16="http://schemas.microsoft.com/office/drawing/2014/main" id="{7FF0C0E9-2D1F-46A7-BB35-F00A395413A6}"/>
                  </a:ext>
                </a:extLst>
              </p:cNvPr>
              <p:cNvSpPr>
                <a:spLocks noChangeShapeType="1"/>
              </p:cNvSpPr>
              <p:nvPr/>
            </p:nvSpPr>
            <p:spPr bwMode="auto">
              <a:xfrm>
                <a:off x="4" y="0"/>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12" name="Line 7">
                <a:extLst>
                  <a:ext uri="{FF2B5EF4-FFF2-40B4-BE49-F238E27FC236}">
                    <a16:creationId xmlns:a16="http://schemas.microsoft.com/office/drawing/2014/main" id="{D5D8E8DA-C778-48FF-94EF-4228AFDFE501}"/>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4409" name="Text Box 8">
              <a:extLst>
                <a:ext uri="{FF2B5EF4-FFF2-40B4-BE49-F238E27FC236}">
                  <a16:creationId xmlns:a16="http://schemas.microsoft.com/office/drawing/2014/main" id="{0E82D161-DB0C-4617-9D26-419D9AB2AB40}"/>
                </a:ext>
              </a:extLst>
            </p:cNvPr>
            <p:cNvSpPr txBox="1">
              <a:spLocks noChangeArrowheads="1"/>
            </p:cNvSpPr>
            <p:nvPr/>
          </p:nvSpPr>
          <p:spPr bwMode="auto">
            <a:xfrm>
              <a:off x="0" y="0"/>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W</a:t>
              </a:r>
            </a:p>
          </p:txBody>
        </p:sp>
        <p:sp>
          <p:nvSpPr>
            <p:cNvPr id="144410" name="Text Box 9">
              <a:extLst>
                <a:ext uri="{FF2B5EF4-FFF2-40B4-BE49-F238E27FC236}">
                  <a16:creationId xmlns:a16="http://schemas.microsoft.com/office/drawing/2014/main" id="{2B4C6AD5-499C-426A-9B75-C964A79079BD}"/>
                </a:ext>
              </a:extLst>
            </p:cNvPr>
            <p:cNvSpPr txBox="1">
              <a:spLocks noChangeArrowheads="1"/>
            </p:cNvSpPr>
            <p:nvPr/>
          </p:nvSpPr>
          <p:spPr bwMode="auto">
            <a:xfrm>
              <a:off x="2517"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L</a:t>
              </a:r>
            </a:p>
          </p:txBody>
        </p:sp>
      </p:grpSp>
      <p:grpSp>
        <p:nvGrpSpPr>
          <p:cNvPr id="4" name="Group 10">
            <a:extLst>
              <a:ext uri="{FF2B5EF4-FFF2-40B4-BE49-F238E27FC236}">
                <a16:creationId xmlns:a16="http://schemas.microsoft.com/office/drawing/2014/main" id="{45E91D31-B73B-423C-94A4-0BFFFA644B7A}"/>
              </a:ext>
            </a:extLst>
          </p:cNvPr>
          <p:cNvGrpSpPr>
            <a:grpSpLocks/>
          </p:cNvGrpSpPr>
          <p:nvPr/>
        </p:nvGrpSpPr>
        <p:grpSpPr bwMode="auto">
          <a:xfrm>
            <a:off x="4267200" y="1905000"/>
            <a:ext cx="3494088" cy="2987675"/>
            <a:chOff x="-552" y="136"/>
            <a:chExt cx="2201" cy="1882"/>
          </a:xfrm>
        </p:grpSpPr>
        <p:sp>
          <p:nvSpPr>
            <p:cNvPr id="144406" name="Line 11">
              <a:extLst>
                <a:ext uri="{FF2B5EF4-FFF2-40B4-BE49-F238E27FC236}">
                  <a16:creationId xmlns:a16="http://schemas.microsoft.com/office/drawing/2014/main" id="{444B7990-6161-4D1C-981C-82434EF6072D}"/>
                </a:ext>
              </a:extLst>
            </p:cNvPr>
            <p:cNvSpPr>
              <a:spLocks noChangeShapeType="1"/>
            </p:cNvSpPr>
            <p:nvPr/>
          </p:nvSpPr>
          <p:spPr bwMode="auto">
            <a:xfrm>
              <a:off x="-552" y="136"/>
              <a:ext cx="1969" cy="1710"/>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7" name="Text Box 12">
              <a:extLst>
                <a:ext uri="{FF2B5EF4-FFF2-40B4-BE49-F238E27FC236}">
                  <a16:creationId xmlns:a16="http://schemas.microsoft.com/office/drawing/2014/main" id="{1FC314CE-65BB-4A4F-8DB5-9CC4D6A01CED}"/>
                </a:ext>
              </a:extLst>
            </p:cNvPr>
            <p:cNvSpPr txBox="1">
              <a:spLocks noChangeArrowheads="1"/>
            </p:cNvSpPr>
            <p:nvPr/>
          </p:nvSpPr>
          <p:spPr bwMode="auto">
            <a:xfrm>
              <a:off x="1329" y="173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p>
          </p:txBody>
        </p:sp>
      </p:grpSp>
      <p:grpSp>
        <p:nvGrpSpPr>
          <p:cNvPr id="5" name="Group 13">
            <a:extLst>
              <a:ext uri="{FF2B5EF4-FFF2-40B4-BE49-F238E27FC236}">
                <a16:creationId xmlns:a16="http://schemas.microsoft.com/office/drawing/2014/main" id="{F317E2A0-8262-42D7-9F6B-84E10EDEBEEE}"/>
              </a:ext>
            </a:extLst>
          </p:cNvPr>
          <p:cNvGrpSpPr>
            <a:grpSpLocks/>
          </p:cNvGrpSpPr>
          <p:nvPr/>
        </p:nvGrpSpPr>
        <p:grpSpPr bwMode="auto">
          <a:xfrm>
            <a:off x="4267200" y="1360488"/>
            <a:ext cx="2719388" cy="3135312"/>
            <a:chOff x="-640" y="0"/>
            <a:chExt cx="1713" cy="1975"/>
          </a:xfrm>
        </p:grpSpPr>
        <p:sp>
          <p:nvSpPr>
            <p:cNvPr id="144404" name="Line 14">
              <a:extLst>
                <a:ext uri="{FF2B5EF4-FFF2-40B4-BE49-F238E27FC236}">
                  <a16:creationId xmlns:a16="http://schemas.microsoft.com/office/drawing/2014/main" id="{E2772F2D-8594-4F90-B245-2290AE30923B}"/>
                </a:ext>
              </a:extLst>
            </p:cNvPr>
            <p:cNvSpPr>
              <a:spLocks noChangeShapeType="1"/>
            </p:cNvSpPr>
            <p:nvPr/>
          </p:nvSpPr>
          <p:spPr bwMode="auto">
            <a:xfrm flipV="1">
              <a:off x="-640" y="232"/>
              <a:ext cx="1512" cy="1743"/>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5" name="Text Box 15">
              <a:extLst>
                <a:ext uri="{FF2B5EF4-FFF2-40B4-BE49-F238E27FC236}">
                  <a16:creationId xmlns:a16="http://schemas.microsoft.com/office/drawing/2014/main" id="{731CB791-8C02-4868-88C5-B29CCEEA6313}"/>
                </a:ext>
              </a:extLst>
            </p:cNvPr>
            <p:cNvSpPr txBox="1">
              <a:spLocks noChangeArrowheads="1"/>
            </p:cNvSpPr>
            <p:nvPr/>
          </p:nvSpPr>
          <p:spPr bwMode="auto">
            <a:xfrm>
              <a:off x="753" y="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p>
          </p:txBody>
        </p:sp>
      </p:grpSp>
      <p:grpSp>
        <p:nvGrpSpPr>
          <p:cNvPr id="6" name="Group 16">
            <a:extLst>
              <a:ext uri="{FF2B5EF4-FFF2-40B4-BE49-F238E27FC236}">
                <a16:creationId xmlns:a16="http://schemas.microsoft.com/office/drawing/2014/main" id="{89648995-2728-4E94-97FD-3CBAFDF34FB6}"/>
              </a:ext>
            </a:extLst>
          </p:cNvPr>
          <p:cNvGrpSpPr>
            <a:grpSpLocks/>
          </p:cNvGrpSpPr>
          <p:nvPr/>
        </p:nvGrpSpPr>
        <p:grpSpPr bwMode="auto">
          <a:xfrm>
            <a:off x="1989138" y="1525588"/>
            <a:ext cx="2122487" cy="531812"/>
            <a:chOff x="27" y="97"/>
            <a:chExt cx="1125" cy="335"/>
          </a:xfrm>
        </p:grpSpPr>
        <p:sp>
          <p:nvSpPr>
            <p:cNvPr id="144402" name="Line 17">
              <a:extLst>
                <a:ext uri="{FF2B5EF4-FFF2-40B4-BE49-F238E27FC236}">
                  <a16:creationId xmlns:a16="http://schemas.microsoft.com/office/drawing/2014/main" id="{CD10E163-37B9-4E92-A57D-E27E72FC2D8C}"/>
                </a:ext>
              </a:extLst>
            </p:cNvPr>
            <p:cNvSpPr>
              <a:spLocks noChangeShapeType="1"/>
            </p:cNvSpPr>
            <p:nvPr/>
          </p:nvSpPr>
          <p:spPr bwMode="auto">
            <a:xfrm flipV="1">
              <a:off x="740" y="97"/>
              <a:ext cx="412" cy="1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3" name="Text Box 18">
              <a:extLst>
                <a:ext uri="{FF2B5EF4-FFF2-40B4-BE49-F238E27FC236}">
                  <a16:creationId xmlns:a16="http://schemas.microsoft.com/office/drawing/2014/main" id="{3762FC85-EAE1-43A5-8911-1CC99BB3A77A}"/>
                </a:ext>
              </a:extLst>
            </p:cNvPr>
            <p:cNvSpPr txBox="1">
              <a:spLocks noChangeArrowheads="1"/>
            </p:cNvSpPr>
            <p:nvPr/>
          </p:nvSpPr>
          <p:spPr bwMode="auto">
            <a:xfrm>
              <a:off x="27" y="141"/>
              <a:ext cx="763" cy="29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工资</a:t>
              </a:r>
              <a:endParaRPr lang="en-US" altLang="zh-CN" sz="2400" b="0">
                <a:latin typeface="Arial" panose="020B0604020202020204" pitchFamily="34" charset="0"/>
              </a:endParaRPr>
            </a:p>
          </p:txBody>
        </p:sp>
      </p:grpSp>
      <p:grpSp>
        <p:nvGrpSpPr>
          <p:cNvPr id="7" name="Group 19">
            <a:extLst>
              <a:ext uri="{FF2B5EF4-FFF2-40B4-BE49-F238E27FC236}">
                <a16:creationId xmlns:a16="http://schemas.microsoft.com/office/drawing/2014/main" id="{42ACE1E3-B48C-4B89-A6A0-D8B93A124F7D}"/>
              </a:ext>
            </a:extLst>
          </p:cNvPr>
          <p:cNvGrpSpPr>
            <a:grpSpLocks/>
          </p:cNvGrpSpPr>
          <p:nvPr/>
        </p:nvGrpSpPr>
        <p:grpSpPr bwMode="auto">
          <a:xfrm>
            <a:off x="3255963" y="2765425"/>
            <a:ext cx="2801937" cy="2559050"/>
            <a:chOff x="0" y="0"/>
            <a:chExt cx="1765" cy="1612"/>
          </a:xfrm>
        </p:grpSpPr>
        <p:grpSp>
          <p:nvGrpSpPr>
            <p:cNvPr id="144396" name="Group 20">
              <a:extLst>
                <a:ext uri="{FF2B5EF4-FFF2-40B4-BE49-F238E27FC236}">
                  <a16:creationId xmlns:a16="http://schemas.microsoft.com/office/drawing/2014/main" id="{78E2652B-3292-46E8-A161-86B4D5897ACB}"/>
                </a:ext>
              </a:extLst>
            </p:cNvPr>
            <p:cNvGrpSpPr>
              <a:grpSpLocks/>
            </p:cNvGrpSpPr>
            <p:nvPr/>
          </p:nvGrpSpPr>
          <p:grpSpPr bwMode="auto">
            <a:xfrm>
              <a:off x="651" y="120"/>
              <a:ext cx="802" cy="1223"/>
              <a:chOff x="0" y="1"/>
              <a:chExt cx="557" cy="645"/>
            </a:xfrm>
          </p:grpSpPr>
          <p:sp>
            <p:nvSpPr>
              <p:cNvPr id="144400" name="Line 21">
                <a:extLst>
                  <a:ext uri="{FF2B5EF4-FFF2-40B4-BE49-F238E27FC236}">
                    <a16:creationId xmlns:a16="http://schemas.microsoft.com/office/drawing/2014/main" id="{C2EE38AE-38D3-48A6-BAA0-07922E2EB234}"/>
                  </a:ext>
                </a:extLst>
              </p:cNvPr>
              <p:cNvSpPr>
                <a:spLocks noChangeShapeType="1"/>
              </p:cNvSpPr>
              <p:nvPr/>
            </p:nvSpPr>
            <p:spPr bwMode="auto">
              <a:xfrm>
                <a:off x="0" y="6"/>
                <a:ext cx="556"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401" name="Line 22">
                <a:extLst>
                  <a:ext uri="{FF2B5EF4-FFF2-40B4-BE49-F238E27FC236}">
                    <a16:creationId xmlns:a16="http://schemas.microsoft.com/office/drawing/2014/main" id="{4E8DA4A6-C82D-4D1A-9D4E-4AC5F61AF204}"/>
                  </a:ext>
                </a:extLst>
              </p:cNvPr>
              <p:cNvSpPr>
                <a:spLocks noChangeShapeType="1"/>
              </p:cNvSpPr>
              <p:nvPr/>
            </p:nvSpPr>
            <p:spPr bwMode="auto">
              <a:xfrm>
                <a:off x="557" y="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4397" name="Oval 23">
              <a:extLst>
                <a:ext uri="{FF2B5EF4-FFF2-40B4-BE49-F238E27FC236}">
                  <a16:creationId xmlns:a16="http://schemas.microsoft.com/office/drawing/2014/main" id="{82BA2452-F608-49FD-A38B-58EA7CD020F5}"/>
                </a:ext>
              </a:extLst>
            </p:cNvPr>
            <p:cNvSpPr>
              <a:spLocks noChangeArrowheads="1"/>
            </p:cNvSpPr>
            <p:nvPr/>
          </p:nvSpPr>
          <p:spPr bwMode="auto">
            <a:xfrm>
              <a:off x="1405" y="91"/>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4398" name="Text Box 24">
              <a:extLst>
                <a:ext uri="{FF2B5EF4-FFF2-40B4-BE49-F238E27FC236}">
                  <a16:creationId xmlns:a16="http://schemas.microsoft.com/office/drawing/2014/main" id="{E2585AFF-EC18-468A-A344-013AD380243A}"/>
                </a:ext>
              </a:extLst>
            </p:cNvPr>
            <p:cNvSpPr txBox="1">
              <a:spLocks noChangeArrowheads="1"/>
            </p:cNvSpPr>
            <p:nvPr/>
          </p:nvSpPr>
          <p:spPr bwMode="auto">
            <a:xfrm>
              <a:off x="0" y="0"/>
              <a:ext cx="58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a:t>
              </a:r>
            </a:p>
          </p:txBody>
        </p:sp>
        <p:sp>
          <p:nvSpPr>
            <p:cNvPr id="144399" name="Text Box 25">
              <a:extLst>
                <a:ext uri="{FF2B5EF4-FFF2-40B4-BE49-F238E27FC236}">
                  <a16:creationId xmlns:a16="http://schemas.microsoft.com/office/drawing/2014/main" id="{27E11B63-B251-4686-B1AE-BA4DBF498B65}"/>
                </a:ext>
              </a:extLst>
            </p:cNvPr>
            <p:cNvSpPr txBox="1">
              <a:spLocks noChangeArrowheads="1"/>
            </p:cNvSpPr>
            <p:nvPr/>
          </p:nvSpPr>
          <p:spPr bwMode="auto">
            <a:xfrm>
              <a:off x="1213" y="1382"/>
              <a:ext cx="5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500</a:t>
              </a:r>
            </a:p>
          </p:txBody>
        </p:sp>
      </p:grpSp>
      <p:grpSp>
        <p:nvGrpSpPr>
          <p:cNvPr id="9" name="Group 26">
            <a:extLst>
              <a:ext uri="{FF2B5EF4-FFF2-40B4-BE49-F238E27FC236}">
                <a16:creationId xmlns:a16="http://schemas.microsoft.com/office/drawing/2014/main" id="{69EACEE4-871B-4F1B-AC10-52316D07041A}"/>
              </a:ext>
            </a:extLst>
          </p:cNvPr>
          <p:cNvGrpSpPr>
            <a:grpSpLocks/>
          </p:cNvGrpSpPr>
          <p:nvPr/>
        </p:nvGrpSpPr>
        <p:grpSpPr bwMode="auto">
          <a:xfrm>
            <a:off x="5780088" y="5048250"/>
            <a:ext cx="2581275" cy="798513"/>
            <a:chOff x="0" y="0"/>
            <a:chExt cx="1626" cy="503"/>
          </a:xfrm>
        </p:grpSpPr>
        <p:sp>
          <p:nvSpPr>
            <p:cNvPr id="144394" name="Line 28">
              <a:extLst>
                <a:ext uri="{FF2B5EF4-FFF2-40B4-BE49-F238E27FC236}">
                  <a16:creationId xmlns:a16="http://schemas.microsoft.com/office/drawing/2014/main" id="{19E8C660-C8AF-4FCC-9CD8-F5AAFBE845ED}"/>
                </a:ext>
              </a:extLst>
            </p:cNvPr>
            <p:cNvSpPr>
              <a:spLocks noChangeShapeType="1"/>
            </p:cNvSpPr>
            <p:nvPr/>
          </p:nvSpPr>
          <p:spPr bwMode="auto">
            <a:xfrm flipV="1">
              <a:off x="1306" y="0"/>
              <a:ext cx="206" cy="3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395" name="Text Box 29">
              <a:extLst>
                <a:ext uri="{FF2B5EF4-FFF2-40B4-BE49-F238E27FC236}">
                  <a16:creationId xmlns:a16="http://schemas.microsoft.com/office/drawing/2014/main" id="{E1399183-D47D-4721-9C4C-40A6D2EC36CA}"/>
                </a:ext>
              </a:extLst>
            </p:cNvPr>
            <p:cNvSpPr txBox="1">
              <a:spLocks noChangeArrowheads="1"/>
            </p:cNvSpPr>
            <p:nvPr/>
          </p:nvSpPr>
          <p:spPr bwMode="auto">
            <a:xfrm>
              <a:off x="0" y="212"/>
              <a:ext cx="1626" cy="29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劳动力的数量</a:t>
              </a:r>
              <a:endParaRPr lang="en-US" altLang="zh-CN" sz="2400" b="0">
                <a:latin typeface="Arial" panose="020B0604020202020204" pitchFamily="34" charset="0"/>
              </a:endParaRPr>
            </a:p>
          </p:txBody>
        </p:sp>
      </p:grpSp>
      <p:sp>
        <p:nvSpPr>
          <p:cNvPr id="144393" name="Title 1">
            <a:extLst>
              <a:ext uri="{FF2B5EF4-FFF2-40B4-BE49-F238E27FC236}">
                <a16:creationId xmlns:a16="http://schemas.microsoft.com/office/drawing/2014/main" id="{F1CCB504-7DCE-42E1-8B95-69CD8DD61218}"/>
              </a:ext>
            </a:extLst>
          </p:cNvPr>
          <p:cNvSpPr txBox="1">
            <a:spLocks/>
          </p:cNvSpPr>
          <p:nvPr/>
        </p:nvSpPr>
        <p:spPr bwMode="auto">
          <a:xfrm>
            <a:off x="1042988"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价格下限：劳动力市场</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trips(downRight)">
                                      <p:cBhvr>
                                        <p:cTn id="22" dur="500"/>
                                        <p:tgtEl>
                                          <p:spTgt spid="4"/>
                                        </p:tgtEl>
                                      </p:cBhvr>
                                    </p:animEffect>
                                  </p:childTnLst>
                                </p:cTn>
                              </p:par>
                              <p:par>
                                <p:cTn id="23" presetID="9" presetClass="exit" presetSubtype="0" fill="hold" nodeType="withEffect">
                                  <p:stCondLst>
                                    <p:cond delay="0"/>
                                  </p:stCondLst>
                                  <p:childTnLst>
                                    <p:animEffect transition="out" filter="dissolve">
                                      <p:cBhvr>
                                        <p:cTn id="24" dur="500"/>
                                        <p:tgtEl>
                                          <p:spTgt spid="6"/>
                                        </p:tgtEl>
                                      </p:cBhvr>
                                    </p:animEffect>
                                    <p:set>
                                      <p:cBhvr>
                                        <p:cTn id="25" dur="1" fill="hold">
                                          <p:stCondLst>
                                            <p:cond delay="499"/>
                                          </p:stCondLst>
                                        </p:cTn>
                                        <p:tgtEl>
                                          <p:spTgt spid="6"/>
                                        </p:tgtEl>
                                        <p:attrNameLst>
                                          <p:attrName>style.visibility</p:attrName>
                                        </p:attrNameLst>
                                      </p:cBhvr>
                                      <p:to>
                                        <p:strVal val="hidden"/>
                                      </p:to>
                                    </p:set>
                                  </p:childTnLst>
                                </p:cTn>
                              </p:par>
                              <p:par>
                                <p:cTn id="26" presetID="9" presetClass="exit" presetSubtype="0" fill="hold" nodeType="withEffect">
                                  <p:stCondLst>
                                    <p:cond delay="0"/>
                                  </p:stCondLst>
                                  <p:childTnLst>
                                    <p:animEffect transition="out" filter="dissolve">
                                      <p:cBhvr>
                                        <p:cTn id="27" dur="500"/>
                                        <p:tgtEl>
                                          <p:spTgt spid="9"/>
                                        </p:tgtEl>
                                      </p:cBhvr>
                                    </p:animEffect>
                                    <p:set>
                                      <p:cBhvr>
                                        <p:cTn id="28" dur="1" fill="hold">
                                          <p:stCondLst>
                                            <p:cond delay="499"/>
                                          </p:stCondLst>
                                        </p:cTn>
                                        <p:tgtEl>
                                          <p:spTgt spid="9"/>
                                        </p:tgtEl>
                                        <p:attrNameLst>
                                          <p:attrName>style.visibility</p:attrName>
                                        </p:attrNameLst>
                                      </p:cBhvr>
                                      <p:to>
                                        <p:strVal val="hidden"/>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3"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strips(upRight)">
                                      <p:cBhvr>
                                        <p:cTn id="33" dur="500"/>
                                        <p:tgtEl>
                                          <p:spTgt spid="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6"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strips(downRight)">
                                      <p:cBhvr>
                                        <p:cTn id="38" dur="500"/>
                                        <p:tgtEl>
                                          <p:spTgt spid="7"/>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23555">
                                            <p:bg/>
                                          </p:spTgt>
                                        </p:tgtEl>
                                        <p:attrNameLst>
                                          <p:attrName>style.visibility</p:attrName>
                                        </p:attrNameLst>
                                      </p:cBhvr>
                                      <p:to>
                                        <p:strVal val="visible"/>
                                      </p:to>
                                    </p:set>
                                    <p:animEffect transition="in" filter="dissolve">
                                      <p:cBhvr>
                                        <p:cTn id="41" dur="500"/>
                                        <p:tgtEl>
                                          <p:spTgt spid="23555">
                                            <p:bg/>
                                          </p:spTgt>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23555">
                                            <p:txEl>
                                              <p:pRg st="0" end="0"/>
                                            </p:txEl>
                                          </p:spTgt>
                                        </p:tgtEl>
                                        <p:attrNameLst>
                                          <p:attrName>style.visibility</p:attrName>
                                        </p:attrNameLst>
                                      </p:cBhvr>
                                      <p:to>
                                        <p:strVal val="visible"/>
                                      </p:to>
                                    </p:set>
                                    <p:animEffect transition="in" filter="dissolve">
                                      <p:cBhvr>
                                        <p:cTn id="44" dur="500"/>
                                        <p:tgtEl>
                                          <p:spTgt spid="235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nimBg="1"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46434" name="Group 3">
            <a:extLst>
              <a:ext uri="{FF2B5EF4-FFF2-40B4-BE49-F238E27FC236}">
                <a16:creationId xmlns:a16="http://schemas.microsoft.com/office/drawing/2014/main" id="{C3211C11-1897-42AB-8F2F-A9EB08C11FAF}"/>
              </a:ext>
            </a:extLst>
          </p:cNvPr>
          <p:cNvGrpSpPr>
            <a:grpSpLocks/>
          </p:cNvGrpSpPr>
          <p:nvPr/>
        </p:nvGrpSpPr>
        <p:grpSpPr bwMode="auto">
          <a:xfrm>
            <a:off x="3962400" y="1447800"/>
            <a:ext cx="4554538" cy="4238625"/>
            <a:chOff x="-62" y="-231"/>
            <a:chExt cx="2869" cy="2670"/>
          </a:xfrm>
        </p:grpSpPr>
        <p:grpSp>
          <p:nvGrpSpPr>
            <p:cNvPr id="146464" name="Group 4">
              <a:extLst>
                <a:ext uri="{FF2B5EF4-FFF2-40B4-BE49-F238E27FC236}">
                  <a16:creationId xmlns:a16="http://schemas.microsoft.com/office/drawing/2014/main" id="{9328185E-C073-4811-B3F6-CD4BE2623FE2}"/>
                </a:ext>
              </a:extLst>
            </p:cNvPr>
            <p:cNvGrpSpPr>
              <a:grpSpLocks/>
            </p:cNvGrpSpPr>
            <p:nvPr/>
          </p:nvGrpSpPr>
          <p:grpSpPr bwMode="auto">
            <a:xfrm>
              <a:off x="130" y="9"/>
              <a:ext cx="2418" cy="2292"/>
              <a:chOff x="-8" y="-240"/>
              <a:chExt cx="2124" cy="2267"/>
            </a:xfrm>
          </p:grpSpPr>
          <p:sp>
            <p:nvSpPr>
              <p:cNvPr id="146467" name="Line 5">
                <a:extLst>
                  <a:ext uri="{FF2B5EF4-FFF2-40B4-BE49-F238E27FC236}">
                    <a16:creationId xmlns:a16="http://schemas.microsoft.com/office/drawing/2014/main" id="{C48817E5-1B83-42D9-83AD-B70FD99ADF3B}"/>
                  </a:ext>
                </a:extLst>
              </p:cNvPr>
              <p:cNvSpPr>
                <a:spLocks noChangeShapeType="1"/>
              </p:cNvSpPr>
              <p:nvPr/>
            </p:nvSpPr>
            <p:spPr bwMode="auto">
              <a:xfrm>
                <a:off x="-8" y="-240"/>
                <a:ext cx="12" cy="226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468" name="Line 6">
                <a:extLst>
                  <a:ext uri="{FF2B5EF4-FFF2-40B4-BE49-F238E27FC236}">
                    <a16:creationId xmlns:a16="http://schemas.microsoft.com/office/drawing/2014/main" id="{F93AF0CE-3F4F-41C5-BADD-5AE62878AE66}"/>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6465" name="Text Box 7">
              <a:extLst>
                <a:ext uri="{FF2B5EF4-FFF2-40B4-BE49-F238E27FC236}">
                  <a16:creationId xmlns:a16="http://schemas.microsoft.com/office/drawing/2014/main" id="{981DEFD1-063C-4F58-B30D-DB4A8AB96EC5}"/>
                </a:ext>
              </a:extLst>
            </p:cNvPr>
            <p:cNvSpPr txBox="1">
              <a:spLocks noChangeArrowheads="1"/>
            </p:cNvSpPr>
            <p:nvPr/>
          </p:nvSpPr>
          <p:spPr bwMode="auto">
            <a:xfrm>
              <a:off x="-62" y="-231"/>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W</a:t>
              </a:r>
            </a:p>
          </p:txBody>
        </p:sp>
        <p:sp>
          <p:nvSpPr>
            <p:cNvPr id="146466" name="Text Box 8">
              <a:extLst>
                <a:ext uri="{FF2B5EF4-FFF2-40B4-BE49-F238E27FC236}">
                  <a16:creationId xmlns:a16="http://schemas.microsoft.com/office/drawing/2014/main" id="{88CD896E-269F-44EA-9203-EB23530B984A}"/>
                </a:ext>
              </a:extLst>
            </p:cNvPr>
            <p:cNvSpPr txBox="1">
              <a:spLocks noChangeArrowheads="1"/>
            </p:cNvSpPr>
            <p:nvPr/>
          </p:nvSpPr>
          <p:spPr bwMode="auto">
            <a:xfrm>
              <a:off x="2517"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L</a:t>
              </a:r>
            </a:p>
          </p:txBody>
        </p:sp>
      </p:grpSp>
      <p:grpSp>
        <p:nvGrpSpPr>
          <p:cNvPr id="146435" name="Group 9">
            <a:extLst>
              <a:ext uri="{FF2B5EF4-FFF2-40B4-BE49-F238E27FC236}">
                <a16:creationId xmlns:a16="http://schemas.microsoft.com/office/drawing/2014/main" id="{C9A191F4-1F6F-4C1C-B7B4-BBFE42E09224}"/>
              </a:ext>
            </a:extLst>
          </p:cNvPr>
          <p:cNvGrpSpPr>
            <a:grpSpLocks/>
          </p:cNvGrpSpPr>
          <p:nvPr/>
        </p:nvGrpSpPr>
        <p:grpSpPr bwMode="auto">
          <a:xfrm>
            <a:off x="4267200" y="2362200"/>
            <a:ext cx="3494088" cy="3109913"/>
            <a:chOff x="-552" y="59"/>
            <a:chExt cx="2201" cy="1959"/>
          </a:xfrm>
        </p:grpSpPr>
        <p:sp>
          <p:nvSpPr>
            <p:cNvPr id="146462" name="Line 10">
              <a:extLst>
                <a:ext uri="{FF2B5EF4-FFF2-40B4-BE49-F238E27FC236}">
                  <a16:creationId xmlns:a16="http://schemas.microsoft.com/office/drawing/2014/main" id="{D8219963-6F47-4C38-8719-73874233D666}"/>
                </a:ext>
              </a:extLst>
            </p:cNvPr>
            <p:cNvSpPr>
              <a:spLocks noChangeShapeType="1"/>
            </p:cNvSpPr>
            <p:nvPr/>
          </p:nvSpPr>
          <p:spPr bwMode="auto">
            <a:xfrm>
              <a:off x="-552" y="59"/>
              <a:ext cx="1969" cy="17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463" name="Text Box 11">
              <a:extLst>
                <a:ext uri="{FF2B5EF4-FFF2-40B4-BE49-F238E27FC236}">
                  <a16:creationId xmlns:a16="http://schemas.microsoft.com/office/drawing/2014/main" id="{40BAFDC8-71D4-4C26-ACDD-8BA7599DC641}"/>
                </a:ext>
              </a:extLst>
            </p:cNvPr>
            <p:cNvSpPr txBox="1">
              <a:spLocks noChangeArrowheads="1"/>
            </p:cNvSpPr>
            <p:nvPr/>
          </p:nvSpPr>
          <p:spPr bwMode="auto">
            <a:xfrm>
              <a:off x="1329" y="173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p>
          </p:txBody>
        </p:sp>
      </p:grpSp>
      <p:grpSp>
        <p:nvGrpSpPr>
          <p:cNvPr id="146436" name="Group 12">
            <a:extLst>
              <a:ext uri="{FF2B5EF4-FFF2-40B4-BE49-F238E27FC236}">
                <a16:creationId xmlns:a16="http://schemas.microsoft.com/office/drawing/2014/main" id="{3CF11C56-64E3-442D-B32F-5320C98E8C4C}"/>
              </a:ext>
            </a:extLst>
          </p:cNvPr>
          <p:cNvGrpSpPr>
            <a:grpSpLocks/>
          </p:cNvGrpSpPr>
          <p:nvPr/>
        </p:nvGrpSpPr>
        <p:grpSpPr bwMode="auto">
          <a:xfrm>
            <a:off x="4267200" y="1828800"/>
            <a:ext cx="2895600" cy="3124200"/>
            <a:chOff x="-640" y="-70"/>
            <a:chExt cx="1824" cy="1968"/>
          </a:xfrm>
        </p:grpSpPr>
        <p:sp>
          <p:nvSpPr>
            <p:cNvPr id="146460" name="Line 13">
              <a:extLst>
                <a:ext uri="{FF2B5EF4-FFF2-40B4-BE49-F238E27FC236}">
                  <a16:creationId xmlns:a16="http://schemas.microsoft.com/office/drawing/2014/main" id="{DA53199F-86A2-43A5-A457-D835D6B6BEA2}"/>
                </a:ext>
              </a:extLst>
            </p:cNvPr>
            <p:cNvSpPr>
              <a:spLocks noChangeShapeType="1"/>
            </p:cNvSpPr>
            <p:nvPr/>
          </p:nvSpPr>
          <p:spPr bwMode="auto">
            <a:xfrm flipV="1">
              <a:off x="-640" y="232"/>
              <a:ext cx="1512" cy="166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461" name="Text Box 14">
              <a:extLst>
                <a:ext uri="{FF2B5EF4-FFF2-40B4-BE49-F238E27FC236}">
                  <a16:creationId xmlns:a16="http://schemas.microsoft.com/office/drawing/2014/main" id="{A7122CA0-BD46-4A82-983A-3B3677906F58}"/>
                </a:ext>
              </a:extLst>
            </p:cNvPr>
            <p:cNvSpPr txBox="1">
              <a:spLocks noChangeArrowheads="1"/>
            </p:cNvSpPr>
            <p:nvPr/>
          </p:nvSpPr>
          <p:spPr bwMode="auto">
            <a:xfrm>
              <a:off x="864" y="-7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p>
          </p:txBody>
        </p:sp>
      </p:grpSp>
      <p:grpSp>
        <p:nvGrpSpPr>
          <p:cNvPr id="146437" name="Group 15">
            <a:extLst>
              <a:ext uri="{FF2B5EF4-FFF2-40B4-BE49-F238E27FC236}">
                <a16:creationId xmlns:a16="http://schemas.microsoft.com/office/drawing/2014/main" id="{7CBB1861-67BD-4A69-A9F2-3048B2D1BA45}"/>
              </a:ext>
            </a:extLst>
          </p:cNvPr>
          <p:cNvGrpSpPr>
            <a:grpSpLocks/>
          </p:cNvGrpSpPr>
          <p:nvPr/>
        </p:nvGrpSpPr>
        <p:grpSpPr bwMode="auto">
          <a:xfrm>
            <a:off x="3255963" y="3344863"/>
            <a:ext cx="2370137" cy="365125"/>
            <a:chOff x="0" y="0"/>
            <a:chExt cx="1493" cy="230"/>
          </a:xfrm>
        </p:grpSpPr>
        <p:sp>
          <p:nvSpPr>
            <p:cNvPr id="146457" name="Line 17">
              <a:extLst>
                <a:ext uri="{FF2B5EF4-FFF2-40B4-BE49-F238E27FC236}">
                  <a16:creationId xmlns:a16="http://schemas.microsoft.com/office/drawing/2014/main" id="{CB1D387B-27B7-4B8E-AF14-54162081BB6C}"/>
                </a:ext>
              </a:extLst>
            </p:cNvPr>
            <p:cNvSpPr>
              <a:spLocks noChangeShapeType="1"/>
            </p:cNvSpPr>
            <p:nvPr/>
          </p:nvSpPr>
          <p:spPr bwMode="auto">
            <a:xfrm flipV="1">
              <a:off x="651" y="101"/>
              <a:ext cx="754" cy="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458" name="Oval 19">
              <a:extLst>
                <a:ext uri="{FF2B5EF4-FFF2-40B4-BE49-F238E27FC236}">
                  <a16:creationId xmlns:a16="http://schemas.microsoft.com/office/drawing/2014/main" id="{F5736B6E-CF82-48A6-A8C1-D0AE64481B32}"/>
                </a:ext>
              </a:extLst>
            </p:cNvPr>
            <p:cNvSpPr>
              <a:spLocks noChangeArrowheads="1"/>
            </p:cNvSpPr>
            <p:nvPr/>
          </p:nvSpPr>
          <p:spPr bwMode="auto">
            <a:xfrm>
              <a:off x="1405"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6459" name="Text Box 20">
              <a:extLst>
                <a:ext uri="{FF2B5EF4-FFF2-40B4-BE49-F238E27FC236}">
                  <a16:creationId xmlns:a16="http://schemas.microsoft.com/office/drawing/2014/main" id="{7A3D0170-5455-4BAD-948D-145142227B22}"/>
                </a:ext>
              </a:extLst>
            </p:cNvPr>
            <p:cNvSpPr txBox="1">
              <a:spLocks noChangeArrowheads="1"/>
            </p:cNvSpPr>
            <p:nvPr/>
          </p:nvSpPr>
          <p:spPr bwMode="auto">
            <a:xfrm>
              <a:off x="0" y="0"/>
              <a:ext cx="58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a:t>
              </a:r>
            </a:p>
          </p:txBody>
        </p:sp>
      </p:grpSp>
      <p:grpSp>
        <p:nvGrpSpPr>
          <p:cNvPr id="7" name="Group 19">
            <a:extLst>
              <a:ext uri="{FF2B5EF4-FFF2-40B4-BE49-F238E27FC236}">
                <a16:creationId xmlns:a16="http://schemas.microsoft.com/office/drawing/2014/main" id="{47BF2E80-C103-409B-BD39-24F6872F3E28}"/>
              </a:ext>
            </a:extLst>
          </p:cNvPr>
          <p:cNvGrpSpPr>
            <a:grpSpLocks/>
          </p:cNvGrpSpPr>
          <p:nvPr/>
        </p:nvGrpSpPr>
        <p:grpSpPr bwMode="auto">
          <a:xfrm>
            <a:off x="3263900" y="2633663"/>
            <a:ext cx="5719763" cy="719137"/>
            <a:chOff x="0" y="269"/>
            <a:chExt cx="3603" cy="453"/>
          </a:xfrm>
        </p:grpSpPr>
        <p:sp>
          <p:nvSpPr>
            <p:cNvPr id="146453" name="Line 23">
              <a:extLst>
                <a:ext uri="{FF2B5EF4-FFF2-40B4-BE49-F238E27FC236}">
                  <a16:creationId xmlns:a16="http://schemas.microsoft.com/office/drawing/2014/main" id="{D69E1E4C-8525-4A63-B77D-98A6E513473F}"/>
                </a:ext>
              </a:extLst>
            </p:cNvPr>
            <p:cNvSpPr>
              <a:spLocks noChangeShapeType="1"/>
            </p:cNvSpPr>
            <p:nvPr/>
          </p:nvSpPr>
          <p:spPr bwMode="auto">
            <a:xfrm>
              <a:off x="644" y="482"/>
              <a:ext cx="1888" cy="0"/>
            </a:xfrm>
            <a:prstGeom prst="line">
              <a:avLst/>
            </a:prstGeom>
            <a:noFill/>
            <a:ln w="28575">
              <a:solidFill>
                <a:srgbClr val="DE84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454" name="Text Box 24">
              <a:extLst>
                <a:ext uri="{FF2B5EF4-FFF2-40B4-BE49-F238E27FC236}">
                  <a16:creationId xmlns:a16="http://schemas.microsoft.com/office/drawing/2014/main" id="{8CD9B03C-A576-4D1C-940B-01D284978D77}"/>
                </a:ext>
              </a:extLst>
            </p:cNvPr>
            <p:cNvSpPr txBox="1">
              <a:spLocks noChangeArrowheads="1"/>
            </p:cNvSpPr>
            <p:nvPr/>
          </p:nvSpPr>
          <p:spPr bwMode="auto">
            <a:xfrm>
              <a:off x="2600" y="335"/>
              <a:ext cx="100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最低工资</a:t>
              </a:r>
              <a:endParaRPr lang="en-US" altLang="zh-CN" sz="2400" b="0">
                <a:latin typeface="Arial" panose="020B0604020202020204" pitchFamily="34" charset="0"/>
              </a:endParaRPr>
            </a:p>
          </p:txBody>
        </p:sp>
        <p:sp>
          <p:nvSpPr>
            <p:cNvPr id="146455" name="AutoShape 25">
              <a:extLst>
                <a:ext uri="{FF2B5EF4-FFF2-40B4-BE49-F238E27FC236}">
                  <a16:creationId xmlns:a16="http://schemas.microsoft.com/office/drawing/2014/main" id="{0E7F2138-F55B-4901-9926-29BA4A5CE2BA}"/>
                </a:ext>
              </a:extLst>
            </p:cNvPr>
            <p:cNvSpPr>
              <a:spLocks/>
            </p:cNvSpPr>
            <p:nvPr/>
          </p:nvSpPr>
          <p:spPr bwMode="auto">
            <a:xfrm>
              <a:off x="2589" y="269"/>
              <a:ext cx="156" cy="453"/>
            </a:xfrm>
            <a:prstGeom prst="leftBrace">
              <a:avLst>
                <a:gd name="adj1" fmla="val 38597"/>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6456" name="Text Box 26">
              <a:extLst>
                <a:ext uri="{FF2B5EF4-FFF2-40B4-BE49-F238E27FC236}">
                  <a16:creationId xmlns:a16="http://schemas.microsoft.com/office/drawing/2014/main" id="{0B257100-8640-4E28-8221-D21EA72122F8}"/>
                </a:ext>
              </a:extLst>
            </p:cNvPr>
            <p:cNvSpPr txBox="1">
              <a:spLocks noChangeArrowheads="1"/>
            </p:cNvSpPr>
            <p:nvPr/>
          </p:nvSpPr>
          <p:spPr bwMode="auto">
            <a:xfrm>
              <a:off x="0" y="348"/>
              <a:ext cx="58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a:t>
              </a:r>
            </a:p>
          </p:txBody>
        </p:sp>
      </p:grpSp>
      <p:sp>
        <p:nvSpPr>
          <p:cNvPr id="27672" name="Rectangle 30">
            <a:extLst>
              <a:ext uri="{FF2B5EF4-FFF2-40B4-BE49-F238E27FC236}">
                <a16:creationId xmlns:a16="http://schemas.microsoft.com/office/drawing/2014/main" id="{CF0C98F0-7998-4C1D-AC6F-DBCD759AF2BD}"/>
              </a:ext>
            </a:extLst>
          </p:cNvPr>
          <p:cNvSpPr>
            <a:spLocks noGrp="1" noChangeArrowheads="1"/>
          </p:cNvSpPr>
          <p:nvPr>
            <p:ph type="body" idx="4294967295"/>
          </p:nvPr>
        </p:nvSpPr>
        <p:spPr>
          <a:xfrm>
            <a:off x="990600" y="1752600"/>
            <a:ext cx="2943225" cy="4297363"/>
          </a:xfrm>
          <a:noFill/>
        </p:spPr>
        <p:txBody>
          <a:bodyPr/>
          <a:lstStyle/>
          <a:p>
            <a:pPr marL="0" indent="0">
              <a:buFont typeface="Wingdings" panose="05000000000000000000" pitchFamily="2" charset="2"/>
              <a:buNone/>
            </a:pPr>
            <a:r>
              <a:rPr lang="zh-CN" altLang="en-US">
                <a:ea typeface="宋体" panose="02010600030101010101" pitchFamily="2" charset="-122"/>
              </a:rPr>
              <a:t>均衡价格</a:t>
            </a:r>
            <a:r>
              <a:rPr lang="en-US" altLang="zh-CN">
                <a:ea typeface="宋体" panose="02010600030101010101" pitchFamily="2" charset="-122"/>
              </a:rPr>
              <a:t>4</a:t>
            </a:r>
            <a:r>
              <a:rPr lang="zh-CN" altLang="en-US">
                <a:ea typeface="宋体" panose="02010600030101010101" pitchFamily="2" charset="-122"/>
              </a:rPr>
              <a:t>低于价格下限，因此是违法的</a:t>
            </a:r>
            <a:endParaRPr lang="en-US" altLang="zh-CN">
              <a:ea typeface="宋体" panose="02010600030101010101" pitchFamily="2" charset="-122"/>
            </a:endParaRPr>
          </a:p>
          <a:p>
            <a:pPr marL="0" indent="0">
              <a:buFont typeface="Wingdings" panose="05000000000000000000" pitchFamily="2" charset="2"/>
              <a:buNone/>
            </a:pPr>
            <a:r>
              <a:rPr lang="zh-CN" altLang="en-US">
                <a:ea typeface="宋体" panose="02010600030101010101" pitchFamily="2" charset="-122"/>
              </a:rPr>
              <a:t>价格下限是一种限制性约束，引起了过剩（也就是失业）</a:t>
            </a:r>
            <a:endParaRPr lang="en-US" altLang="zh-CN">
              <a:ea typeface="宋体" panose="02010600030101010101" pitchFamily="2" charset="-122"/>
            </a:endParaRPr>
          </a:p>
        </p:txBody>
      </p:sp>
      <p:grpSp>
        <p:nvGrpSpPr>
          <p:cNvPr id="8" name="Group 25">
            <a:extLst>
              <a:ext uri="{FF2B5EF4-FFF2-40B4-BE49-F238E27FC236}">
                <a16:creationId xmlns:a16="http://schemas.microsoft.com/office/drawing/2014/main" id="{FD3C6F89-4F32-4697-A3D9-653474950DBC}"/>
              </a:ext>
            </a:extLst>
          </p:cNvPr>
          <p:cNvGrpSpPr>
            <a:grpSpLocks/>
          </p:cNvGrpSpPr>
          <p:nvPr/>
        </p:nvGrpSpPr>
        <p:grpSpPr bwMode="auto">
          <a:xfrm>
            <a:off x="4495800" y="2895600"/>
            <a:ext cx="698500" cy="2997200"/>
            <a:chOff x="-360" y="216"/>
            <a:chExt cx="440" cy="1888"/>
          </a:xfrm>
        </p:grpSpPr>
        <p:sp>
          <p:nvSpPr>
            <p:cNvPr id="146450" name="Line 18">
              <a:extLst>
                <a:ext uri="{FF2B5EF4-FFF2-40B4-BE49-F238E27FC236}">
                  <a16:creationId xmlns:a16="http://schemas.microsoft.com/office/drawing/2014/main" id="{AD2857D6-369E-44A8-8358-21830A1007B8}"/>
                </a:ext>
              </a:extLst>
            </p:cNvPr>
            <p:cNvSpPr>
              <a:spLocks noChangeShapeType="1"/>
            </p:cNvSpPr>
            <p:nvPr/>
          </p:nvSpPr>
          <p:spPr bwMode="auto">
            <a:xfrm>
              <a:off x="-120" y="216"/>
              <a:ext cx="0" cy="1618"/>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451" name="Text Box 32">
              <a:extLst>
                <a:ext uri="{FF2B5EF4-FFF2-40B4-BE49-F238E27FC236}">
                  <a16:creationId xmlns:a16="http://schemas.microsoft.com/office/drawing/2014/main" id="{97323A84-3CA0-45F5-A574-26845146A4C8}"/>
                </a:ext>
              </a:extLst>
            </p:cNvPr>
            <p:cNvSpPr txBox="1">
              <a:spLocks noChangeArrowheads="1"/>
            </p:cNvSpPr>
            <p:nvPr/>
          </p:nvSpPr>
          <p:spPr bwMode="auto">
            <a:xfrm>
              <a:off x="-360" y="1874"/>
              <a:ext cx="44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400</a:t>
              </a:r>
            </a:p>
          </p:txBody>
        </p:sp>
        <p:sp>
          <p:nvSpPr>
            <p:cNvPr id="146452" name="Oval 33">
              <a:extLst>
                <a:ext uri="{FF2B5EF4-FFF2-40B4-BE49-F238E27FC236}">
                  <a16:creationId xmlns:a16="http://schemas.microsoft.com/office/drawing/2014/main" id="{AA63C166-9AB6-404A-A0DE-8E838F6F8C8C}"/>
                </a:ext>
              </a:extLst>
            </p:cNvPr>
            <p:cNvSpPr>
              <a:spLocks noChangeArrowheads="1"/>
            </p:cNvSpPr>
            <p:nvPr/>
          </p:nvSpPr>
          <p:spPr bwMode="auto">
            <a:xfrm>
              <a:off x="-160" y="22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9" name="Group 29">
            <a:extLst>
              <a:ext uri="{FF2B5EF4-FFF2-40B4-BE49-F238E27FC236}">
                <a16:creationId xmlns:a16="http://schemas.microsoft.com/office/drawing/2014/main" id="{69021D82-0191-419B-838C-4DA2895AE439}"/>
              </a:ext>
            </a:extLst>
          </p:cNvPr>
          <p:cNvGrpSpPr>
            <a:grpSpLocks/>
          </p:cNvGrpSpPr>
          <p:nvPr/>
        </p:nvGrpSpPr>
        <p:grpSpPr bwMode="auto">
          <a:xfrm>
            <a:off x="5791200" y="2909888"/>
            <a:ext cx="698500" cy="2982912"/>
            <a:chOff x="-48" y="223"/>
            <a:chExt cx="440" cy="1879"/>
          </a:xfrm>
        </p:grpSpPr>
        <p:sp>
          <p:nvSpPr>
            <p:cNvPr id="146447" name="Text Box 21">
              <a:extLst>
                <a:ext uri="{FF2B5EF4-FFF2-40B4-BE49-F238E27FC236}">
                  <a16:creationId xmlns:a16="http://schemas.microsoft.com/office/drawing/2014/main" id="{7143214D-8B88-4A9E-A060-17E913B70254}"/>
                </a:ext>
              </a:extLst>
            </p:cNvPr>
            <p:cNvSpPr txBox="1">
              <a:spLocks noChangeArrowheads="1"/>
            </p:cNvSpPr>
            <p:nvPr/>
          </p:nvSpPr>
          <p:spPr bwMode="auto">
            <a:xfrm>
              <a:off x="-48" y="1872"/>
              <a:ext cx="44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550</a:t>
              </a:r>
            </a:p>
          </p:txBody>
        </p:sp>
        <p:sp>
          <p:nvSpPr>
            <p:cNvPr id="146448" name="Oval 34">
              <a:extLst>
                <a:ext uri="{FF2B5EF4-FFF2-40B4-BE49-F238E27FC236}">
                  <a16:creationId xmlns:a16="http://schemas.microsoft.com/office/drawing/2014/main" id="{5DDDB5AF-2130-4A68-9A98-47CAC280D528}"/>
                </a:ext>
              </a:extLst>
            </p:cNvPr>
            <p:cNvSpPr>
              <a:spLocks noChangeArrowheads="1"/>
            </p:cNvSpPr>
            <p:nvPr/>
          </p:nvSpPr>
          <p:spPr bwMode="auto">
            <a:xfrm>
              <a:off x="96"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6449" name="Line 35">
              <a:extLst>
                <a:ext uri="{FF2B5EF4-FFF2-40B4-BE49-F238E27FC236}">
                  <a16:creationId xmlns:a16="http://schemas.microsoft.com/office/drawing/2014/main" id="{9CC50D18-1ABB-47CD-B057-4946BA7C6A93}"/>
                </a:ext>
              </a:extLst>
            </p:cNvPr>
            <p:cNvSpPr>
              <a:spLocks noChangeShapeType="1"/>
            </p:cNvSpPr>
            <p:nvPr/>
          </p:nvSpPr>
          <p:spPr bwMode="auto">
            <a:xfrm>
              <a:off x="144" y="262"/>
              <a:ext cx="0" cy="1584"/>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33">
            <a:extLst>
              <a:ext uri="{FF2B5EF4-FFF2-40B4-BE49-F238E27FC236}">
                <a16:creationId xmlns:a16="http://schemas.microsoft.com/office/drawing/2014/main" id="{BA66E97B-6369-4BF5-861C-4D9DCA231B8D}"/>
              </a:ext>
            </a:extLst>
          </p:cNvPr>
          <p:cNvGrpSpPr>
            <a:grpSpLocks/>
          </p:cNvGrpSpPr>
          <p:nvPr/>
        </p:nvGrpSpPr>
        <p:grpSpPr bwMode="auto">
          <a:xfrm>
            <a:off x="4724400" y="2144713"/>
            <a:ext cx="1562100" cy="750887"/>
            <a:chOff x="-360" y="390"/>
            <a:chExt cx="984" cy="473"/>
          </a:xfrm>
        </p:grpSpPr>
        <p:sp>
          <p:nvSpPr>
            <p:cNvPr id="146445" name="AutoShape 39">
              <a:extLst>
                <a:ext uri="{FF2B5EF4-FFF2-40B4-BE49-F238E27FC236}">
                  <a16:creationId xmlns:a16="http://schemas.microsoft.com/office/drawing/2014/main" id="{7569BC82-E829-4959-BBE3-0C9C2104DB5B}"/>
                </a:ext>
              </a:extLst>
            </p:cNvPr>
            <p:cNvSpPr>
              <a:spLocks/>
            </p:cNvSpPr>
            <p:nvPr/>
          </p:nvSpPr>
          <p:spPr bwMode="auto">
            <a:xfrm rot="5400000">
              <a:off x="13" y="420"/>
              <a:ext cx="196" cy="689"/>
            </a:xfrm>
            <a:prstGeom prst="leftBrace">
              <a:avLst>
                <a:gd name="adj1" fmla="val 61648"/>
                <a:gd name="adj2" fmla="val 50000"/>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6446" name="Text Box 40">
              <a:extLst>
                <a:ext uri="{FF2B5EF4-FFF2-40B4-BE49-F238E27FC236}">
                  <a16:creationId xmlns:a16="http://schemas.microsoft.com/office/drawing/2014/main" id="{76057B1E-502C-4DEB-A4B3-D9FC4887FE16}"/>
                </a:ext>
              </a:extLst>
            </p:cNvPr>
            <p:cNvSpPr txBox="1">
              <a:spLocks noChangeArrowheads="1"/>
            </p:cNvSpPr>
            <p:nvPr/>
          </p:nvSpPr>
          <p:spPr bwMode="auto">
            <a:xfrm>
              <a:off x="-360" y="390"/>
              <a:ext cx="9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00FF"/>
                  </a:solidFill>
                  <a:latin typeface="Arial" panose="020B0604020202020204" pitchFamily="34" charset="0"/>
                </a:rPr>
                <a:t>劳动力过剩</a:t>
              </a:r>
              <a:endParaRPr lang="en-US" altLang="zh-CN" sz="2400" b="0">
                <a:solidFill>
                  <a:srgbClr val="0000FF"/>
                </a:solidFill>
                <a:latin typeface="Arial" panose="020B0604020202020204" pitchFamily="34" charset="0"/>
              </a:endParaRPr>
            </a:p>
          </p:txBody>
        </p:sp>
      </p:grpSp>
      <p:sp>
        <p:nvSpPr>
          <p:cNvPr id="146443" name="Title 1">
            <a:extLst>
              <a:ext uri="{FF2B5EF4-FFF2-40B4-BE49-F238E27FC236}">
                <a16:creationId xmlns:a16="http://schemas.microsoft.com/office/drawing/2014/main" id="{BB0BD2F5-757D-4274-965B-112416D6FD4F}"/>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价格下限：劳动力市场</a:t>
            </a:r>
          </a:p>
        </p:txBody>
      </p:sp>
      <p:sp>
        <p:nvSpPr>
          <p:cNvPr id="146444" name="Oval 19">
            <a:extLst>
              <a:ext uri="{FF2B5EF4-FFF2-40B4-BE49-F238E27FC236}">
                <a16:creationId xmlns:a16="http://schemas.microsoft.com/office/drawing/2014/main" id="{4F8D9260-DA63-4137-9420-FB399CEE6735}"/>
              </a:ext>
            </a:extLst>
          </p:cNvPr>
          <p:cNvSpPr>
            <a:spLocks noChangeArrowheads="1"/>
          </p:cNvSpPr>
          <p:nvPr/>
        </p:nvSpPr>
        <p:spPr bwMode="auto">
          <a:xfrm>
            <a:off x="4800600" y="4205288"/>
            <a:ext cx="139700" cy="13811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72">
                                            <p:txEl>
                                              <p:pRg st="0" end="0"/>
                                            </p:txEl>
                                          </p:spTgt>
                                        </p:tgtEl>
                                        <p:attrNameLst>
                                          <p:attrName>style.visibility</p:attrName>
                                        </p:attrNameLst>
                                      </p:cBhvr>
                                      <p:to>
                                        <p:strVal val="visible"/>
                                      </p:to>
                                    </p:set>
                                    <p:animEffect transition="in" filter="wipe(left)">
                                      <p:cBhvr>
                                        <p:cTn id="12" dur="500"/>
                                        <p:tgtEl>
                                          <p:spTgt spid="2767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3"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trips(upRight)">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672">
                                            <p:txEl>
                                              <p:pRg st="1" end="1"/>
                                            </p:txEl>
                                          </p:spTgt>
                                        </p:tgtEl>
                                        <p:attrNameLst>
                                          <p:attrName>style.visibility</p:attrName>
                                        </p:attrNameLst>
                                      </p:cBhvr>
                                      <p:to>
                                        <p:strVal val="visible"/>
                                      </p:to>
                                    </p:set>
                                    <p:animEffect transition="in" filter="wipe(left)">
                                      <p:cBhvr>
                                        <p:cTn id="32" dur="500"/>
                                        <p:tgtEl>
                                          <p:spTgt spid="276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2" grpId="0" build="p" bldLvl="5"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48482" name="Group 3">
            <a:extLst>
              <a:ext uri="{FF2B5EF4-FFF2-40B4-BE49-F238E27FC236}">
                <a16:creationId xmlns:a16="http://schemas.microsoft.com/office/drawing/2014/main" id="{8DA5EB9F-4C10-41BE-9137-95518CDAEEEF}"/>
              </a:ext>
            </a:extLst>
          </p:cNvPr>
          <p:cNvGrpSpPr>
            <a:grpSpLocks/>
          </p:cNvGrpSpPr>
          <p:nvPr/>
        </p:nvGrpSpPr>
        <p:grpSpPr bwMode="auto">
          <a:xfrm>
            <a:off x="3962400" y="1447800"/>
            <a:ext cx="4554538" cy="4238625"/>
            <a:chOff x="-62" y="-231"/>
            <a:chExt cx="2869" cy="2670"/>
          </a:xfrm>
        </p:grpSpPr>
        <p:grpSp>
          <p:nvGrpSpPr>
            <p:cNvPr id="148517" name="Group 4">
              <a:extLst>
                <a:ext uri="{FF2B5EF4-FFF2-40B4-BE49-F238E27FC236}">
                  <a16:creationId xmlns:a16="http://schemas.microsoft.com/office/drawing/2014/main" id="{92770660-83D6-4878-92AF-AFBCDB635BDD}"/>
                </a:ext>
              </a:extLst>
            </p:cNvPr>
            <p:cNvGrpSpPr>
              <a:grpSpLocks/>
            </p:cNvGrpSpPr>
            <p:nvPr/>
          </p:nvGrpSpPr>
          <p:grpSpPr bwMode="auto">
            <a:xfrm>
              <a:off x="130" y="9"/>
              <a:ext cx="2418" cy="2292"/>
              <a:chOff x="-8" y="-240"/>
              <a:chExt cx="2124" cy="2267"/>
            </a:xfrm>
          </p:grpSpPr>
          <p:sp>
            <p:nvSpPr>
              <p:cNvPr id="148520" name="Line 5">
                <a:extLst>
                  <a:ext uri="{FF2B5EF4-FFF2-40B4-BE49-F238E27FC236}">
                    <a16:creationId xmlns:a16="http://schemas.microsoft.com/office/drawing/2014/main" id="{1BE01F57-3C1F-4944-B9EB-7CEBD9E068D1}"/>
                  </a:ext>
                </a:extLst>
              </p:cNvPr>
              <p:cNvSpPr>
                <a:spLocks noChangeShapeType="1"/>
              </p:cNvSpPr>
              <p:nvPr/>
            </p:nvSpPr>
            <p:spPr bwMode="auto">
              <a:xfrm>
                <a:off x="-8" y="-240"/>
                <a:ext cx="12" cy="226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521" name="Line 6">
                <a:extLst>
                  <a:ext uri="{FF2B5EF4-FFF2-40B4-BE49-F238E27FC236}">
                    <a16:creationId xmlns:a16="http://schemas.microsoft.com/office/drawing/2014/main" id="{4C87C07E-5BAF-414C-B6BB-3154C142F421}"/>
                  </a:ext>
                </a:extLst>
              </p:cNvPr>
              <p:cNvSpPr>
                <a:spLocks noChangeShapeType="1"/>
              </p:cNvSpPr>
              <p:nvPr/>
            </p:nvSpPr>
            <p:spPr bwMode="auto">
              <a:xfrm>
                <a:off x="0" y="2027"/>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8518" name="Text Box 7">
              <a:extLst>
                <a:ext uri="{FF2B5EF4-FFF2-40B4-BE49-F238E27FC236}">
                  <a16:creationId xmlns:a16="http://schemas.microsoft.com/office/drawing/2014/main" id="{E25C2289-DB6B-45B3-BF28-35065898B584}"/>
                </a:ext>
              </a:extLst>
            </p:cNvPr>
            <p:cNvSpPr txBox="1">
              <a:spLocks noChangeArrowheads="1"/>
            </p:cNvSpPr>
            <p:nvPr/>
          </p:nvSpPr>
          <p:spPr bwMode="auto">
            <a:xfrm>
              <a:off x="-62" y="-231"/>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W</a:t>
              </a:r>
            </a:p>
          </p:txBody>
        </p:sp>
        <p:sp>
          <p:nvSpPr>
            <p:cNvPr id="148519" name="Text Box 8">
              <a:extLst>
                <a:ext uri="{FF2B5EF4-FFF2-40B4-BE49-F238E27FC236}">
                  <a16:creationId xmlns:a16="http://schemas.microsoft.com/office/drawing/2014/main" id="{E6BAAAE1-71A5-4A95-AB3C-D9EAF02743C3}"/>
                </a:ext>
              </a:extLst>
            </p:cNvPr>
            <p:cNvSpPr txBox="1">
              <a:spLocks noChangeArrowheads="1"/>
            </p:cNvSpPr>
            <p:nvPr/>
          </p:nvSpPr>
          <p:spPr bwMode="auto">
            <a:xfrm>
              <a:off x="2517" y="2151"/>
              <a:ext cx="2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L</a:t>
              </a:r>
            </a:p>
          </p:txBody>
        </p:sp>
      </p:grpSp>
      <p:grpSp>
        <p:nvGrpSpPr>
          <p:cNvPr id="148483" name="Group 9">
            <a:extLst>
              <a:ext uri="{FF2B5EF4-FFF2-40B4-BE49-F238E27FC236}">
                <a16:creationId xmlns:a16="http://schemas.microsoft.com/office/drawing/2014/main" id="{97D0A41C-2FB5-4667-999E-8267BCAD2E30}"/>
              </a:ext>
            </a:extLst>
          </p:cNvPr>
          <p:cNvGrpSpPr>
            <a:grpSpLocks/>
          </p:cNvGrpSpPr>
          <p:nvPr/>
        </p:nvGrpSpPr>
        <p:grpSpPr bwMode="auto">
          <a:xfrm>
            <a:off x="4267200" y="2362200"/>
            <a:ext cx="3494088" cy="3109913"/>
            <a:chOff x="-552" y="59"/>
            <a:chExt cx="2201" cy="1959"/>
          </a:xfrm>
        </p:grpSpPr>
        <p:sp>
          <p:nvSpPr>
            <p:cNvPr id="148515" name="Line 10">
              <a:extLst>
                <a:ext uri="{FF2B5EF4-FFF2-40B4-BE49-F238E27FC236}">
                  <a16:creationId xmlns:a16="http://schemas.microsoft.com/office/drawing/2014/main" id="{904ADD09-2F74-4B8E-988A-0C2929BC6337}"/>
                </a:ext>
              </a:extLst>
            </p:cNvPr>
            <p:cNvSpPr>
              <a:spLocks noChangeShapeType="1"/>
            </p:cNvSpPr>
            <p:nvPr/>
          </p:nvSpPr>
          <p:spPr bwMode="auto">
            <a:xfrm>
              <a:off x="-552" y="59"/>
              <a:ext cx="1969" cy="17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516" name="Text Box 11">
              <a:extLst>
                <a:ext uri="{FF2B5EF4-FFF2-40B4-BE49-F238E27FC236}">
                  <a16:creationId xmlns:a16="http://schemas.microsoft.com/office/drawing/2014/main" id="{6B405DDF-B84C-47B2-AED9-934F90450582}"/>
                </a:ext>
              </a:extLst>
            </p:cNvPr>
            <p:cNvSpPr txBox="1">
              <a:spLocks noChangeArrowheads="1"/>
            </p:cNvSpPr>
            <p:nvPr/>
          </p:nvSpPr>
          <p:spPr bwMode="auto">
            <a:xfrm>
              <a:off x="1329" y="173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D</a:t>
              </a:r>
            </a:p>
          </p:txBody>
        </p:sp>
      </p:grpSp>
      <p:grpSp>
        <p:nvGrpSpPr>
          <p:cNvPr id="148484" name="Group 12">
            <a:extLst>
              <a:ext uri="{FF2B5EF4-FFF2-40B4-BE49-F238E27FC236}">
                <a16:creationId xmlns:a16="http://schemas.microsoft.com/office/drawing/2014/main" id="{0303FB82-17F8-4373-906F-899B1022A8C1}"/>
              </a:ext>
            </a:extLst>
          </p:cNvPr>
          <p:cNvGrpSpPr>
            <a:grpSpLocks/>
          </p:cNvGrpSpPr>
          <p:nvPr/>
        </p:nvGrpSpPr>
        <p:grpSpPr bwMode="auto">
          <a:xfrm>
            <a:off x="4267200" y="1828800"/>
            <a:ext cx="2895600" cy="3124200"/>
            <a:chOff x="-640" y="-70"/>
            <a:chExt cx="1824" cy="1968"/>
          </a:xfrm>
        </p:grpSpPr>
        <p:sp>
          <p:nvSpPr>
            <p:cNvPr id="148513" name="Line 13">
              <a:extLst>
                <a:ext uri="{FF2B5EF4-FFF2-40B4-BE49-F238E27FC236}">
                  <a16:creationId xmlns:a16="http://schemas.microsoft.com/office/drawing/2014/main" id="{268BBA9A-93A1-4F30-A6AD-2E58ABDDC86B}"/>
                </a:ext>
              </a:extLst>
            </p:cNvPr>
            <p:cNvSpPr>
              <a:spLocks noChangeShapeType="1"/>
            </p:cNvSpPr>
            <p:nvPr/>
          </p:nvSpPr>
          <p:spPr bwMode="auto">
            <a:xfrm flipV="1">
              <a:off x="-640" y="232"/>
              <a:ext cx="1512" cy="1666"/>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514" name="Text Box 14">
              <a:extLst>
                <a:ext uri="{FF2B5EF4-FFF2-40B4-BE49-F238E27FC236}">
                  <a16:creationId xmlns:a16="http://schemas.microsoft.com/office/drawing/2014/main" id="{B019A335-FEEA-43E7-BAF0-0448E9ED022D}"/>
                </a:ext>
              </a:extLst>
            </p:cNvPr>
            <p:cNvSpPr txBox="1">
              <a:spLocks noChangeArrowheads="1"/>
            </p:cNvSpPr>
            <p:nvPr/>
          </p:nvSpPr>
          <p:spPr bwMode="auto">
            <a:xfrm>
              <a:off x="864" y="-70"/>
              <a:ext cx="3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i="1">
                  <a:latin typeface="Arial" panose="020B0604020202020204" pitchFamily="34" charset="0"/>
                </a:rPr>
                <a:t>S</a:t>
              </a:r>
            </a:p>
          </p:txBody>
        </p:sp>
      </p:grpSp>
      <p:grpSp>
        <p:nvGrpSpPr>
          <p:cNvPr id="148485" name="Group 15">
            <a:extLst>
              <a:ext uri="{FF2B5EF4-FFF2-40B4-BE49-F238E27FC236}">
                <a16:creationId xmlns:a16="http://schemas.microsoft.com/office/drawing/2014/main" id="{47A5853B-A782-4D1D-8884-F20B26204EFA}"/>
              </a:ext>
            </a:extLst>
          </p:cNvPr>
          <p:cNvGrpSpPr>
            <a:grpSpLocks/>
          </p:cNvGrpSpPr>
          <p:nvPr/>
        </p:nvGrpSpPr>
        <p:grpSpPr bwMode="auto">
          <a:xfrm>
            <a:off x="3255963" y="3344863"/>
            <a:ext cx="2370137" cy="365125"/>
            <a:chOff x="0" y="0"/>
            <a:chExt cx="1493" cy="230"/>
          </a:xfrm>
        </p:grpSpPr>
        <p:sp>
          <p:nvSpPr>
            <p:cNvPr id="148510" name="Line 17">
              <a:extLst>
                <a:ext uri="{FF2B5EF4-FFF2-40B4-BE49-F238E27FC236}">
                  <a16:creationId xmlns:a16="http://schemas.microsoft.com/office/drawing/2014/main" id="{C5A5EEE7-F027-48E2-A0D7-7563ADB83A80}"/>
                </a:ext>
              </a:extLst>
            </p:cNvPr>
            <p:cNvSpPr>
              <a:spLocks noChangeShapeType="1"/>
            </p:cNvSpPr>
            <p:nvPr/>
          </p:nvSpPr>
          <p:spPr bwMode="auto">
            <a:xfrm flipV="1">
              <a:off x="651" y="101"/>
              <a:ext cx="754" cy="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511" name="Oval 19">
              <a:extLst>
                <a:ext uri="{FF2B5EF4-FFF2-40B4-BE49-F238E27FC236}">
                  <a16:creationId xmlns:a16="http://schemas.microsoft.com/office/drawing/2014/main" id="{29B03A0E-A67E-4678-8FFC-EE7C22D4AB7C}"/>
                </a:ext>
              </a:extLst>
            </p:cNvPr>
            <p:cNvSpPr>
              <a:spLocks noChangeArrowheads="1"/>
            </p:cNvSpPr>
            <p:nvPr/>
          </p:nvSpPr>
          <p:spPr bwMode="auto">
            <a:xfrm>
              <a:off x="1405" y="7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8512" name="Text Box 20">
              <a:extLst>
                <a:ext uri="{FF2B5EF4-FFF2-40B4-BE49-F238E27FC236}">
                  <a16:creationId xmlns:a16="http://schemas.microsoft.com/office/drawing/2014/main" id="{8105A6F2-F633-4DD6-B2F5-BA982EFFC0EC}"/>
                </a:ext>
              </a:extLst>
            </p:cNvPr>
            <p:cNvSpPr txBox="1">
              <a:spLocks noChangeArrowheads="1"/>
            </p:cNvSpPr>
            <p:nvPr/>
          </p:nvSpPr>
          <p:spPr bwMode="auto">
            <a:xfrm>
              <a:off x="0" y="0"/>
              <a:ext cx="58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a:t>
              </a:r>
            </a:p>
          </p:txBody>
        </p:sp>
      </p:grpSp>
      <p:grpSp>
        <p:nvGrpSpPr>
          <p:cNvPr id="7" name="Group 19">
            <a:extLst>
              <a:ext uri="{FF2B5EF4-FFF2-40B4-BE49-F238E27FC236}">
                <a16:creationId xmlns:a16="http://schemas.microsoft.com/office/drawing/2014/main" id="{1DCB67AF-4EB5-46AA-AF7E-2C7E90EA4D5D}"/>
              </a:ext>
            </a:extLst>
          </p:cNvPr>
          <p:cNvGrpSpPr>
            <a:grpSpLocks/>
          </p:cNvGrpSpPr>
          <p:nvPr/>
        </p:nvGrpSpPr>
        <p:grpSpPr bwMode="auto">
          <a:xfrm>
            <a:off x="3263900" y="2633663"/>
            <a:ext cx="5719763" cy="719137"/>
            <a:chOff x="0" y="269"/>
            <a:chExt cx="3603" cy="453"/>
          </a:xfrm>
        </p:grpSpPr>
        <p:sp>
          <p:nvSpPr>
            <p:cNvPr id="148506" name="Line 23">
              <a:extLst>
                <a:ext uri="{FF2B5EF4-FFF2-40B4-BE49-F238E27FC236}">
                  <a16:creationId xmlns:a16="http://schemas.microsoft.com/office/drawing/2014/main" id="{FCF008B8-4CB7-4E86-B5C9-B6020FF9B037}"/>
                </a:ext>
              </a:extLst>
            </p:cNvPr>
            <p:cNvSpPr>
              <a:spLocks noChangeShapeType="1"/>
            </p:cNvSpPr>
            <p:nvPr/>
          </p:nvSpPr>
          <p:spPr bwMode="auto">
            <a:xfrm>
              <a:off x="644" y="482"/>
              <a:ext cx="1888" cy="0"/>
            </a:xfrm>
            <a:prstGeom prst="line">
              <a:avLst/>
            </a:prstGeom>
            <a:noFill/>
            <a:ln w="28575">
              <a:solidFill>
                <a:srgbClr val="DE84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507" name="Text Box 24">
              <a:extLst>
                <a:ext uri="{FF2B5EF4-FFF2-40B4-BE49-F238E27FC236}">
                  <a16:creationId xmlns:a16="http://schemas.microsoft.com/office/drawing/2014/main" id="{E2842C67-AD0A-4920-929B-BD505B6B7582}"/>
                </a:ext>
              </a:extLst>
            </p:cNvPr>
            <p:cNvSpPr txBox="1">
              <a:spLocks noChangeArrowheads="1"/>
            </p:cNvSpPr>
            <p:nvPr/>
          </p:nvSpPr>
          <p:spPr bwMode="auto">
            <a:xfrm>
              <a:off x="2600" y="335"/>
              <a:ext cx="100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最低工资</a:t>
              </a:r>
              <a:endParaRPr lang="en-US" altLang="zh-CN" sz="2400" b="0">
                <a:latin typeface="Arial" panose="020B0604020202020204" pitchFamily="34" charset="0"/>
              </a:endParaRPr>
            </a:p>
          </p:txBody>
        </p:sp>
        <p:sp>
          <p:nvSpPr>
            <p:cNvPr id="148508" name="AutoShape 25">
              <a:extLst>
                <a:ext uri="{FF2B5EF4-FFF2-40B4-BE49-F238E27FC236}">
                  <a16:creationId xmlns:a16="http://schemas.microsoft.com/office/drawing/2014/main" id="{DDB43EFB-A7D7-4B95-9203-ED6A9A121784}"/>
                </a:ext>
              </a:extLst>
            </p:cNvPr>
            <p:cNvSpPr>
              <a:spLocks/>
            </p:cNvSpPr>
            <p:nvPr/>
          </p:nvSpPr>
          <p:spPr bwMode="auto">
            <a:xfrm>
              <a:off x="2589" y="269"/>
              <a:ext cx="156" cy="453"/>
            </a:xfrm>
            <a:prstGeom prst="leftBrace">
              <a:avLst>
                <a:gd name="adj1" fmla="val 38597"/>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8509" name="Text Box 26">
              <a:extLst>
                <a:ext uri="{FF2B5EF4-FFF2-40B4-BE49-F238E27FC236}">
                  <a16:creationId xmlns:a16="http://schemas.microsoft.com/office/drawing/2014/main" id="{1B2BB485-C761-4EA6-B298-7F59B891BDC1}"/>
                </a:ext>
              </a:extLst>
            </p:cNvPr>
            <p:cNvSpPr txBox="1">
              <a:spLocks noChangeArrowheads="1"/>
            </p:cNvSpPr>
            <p:nvPr/>
          </p:nvSpPr>
          <p:spPr bwMode="auto">
            <a:xfrm>
              <a:off x="0" y="348"/>
              <a:ext cx="58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a:t>
              </a:r>
            </a:p>
          </p:txBody>
        </p:sp>
      </p:grpSp>
      <p:sp>
        <p:nvSpPr>
          <p:cNvPr id="27672" name="Rectangle 30">
            <a:extLst>
              <a:ext uri="{FF2B5EF4-FFF2-40B4-BE49-F238E27FC236}">
                <a16:creationId xmlns:a16="http://schemas.microsoft.com/office/drawing/2014/main" id="{75D34B35-56A8-465F-AFDA-8850F8463417}"/>
              </a:ext>
            </a:extLst>
          </p:cNvPr>
          <p:cNvSpPr>
            <a:spLocks noGrp="1" noChangeArrowheads="1"/>
          </p:cNvSpPr>
          <p:nvPr>
            <p:ph type="body" idx="4294967295"/>
          </p:nvPr>
        </p:nvSpPr>
        <p:spPr>
          <a:xfrm>
            <a:off x="914400" y="1752600"/>
            <a:ext cx="2819400" cy="3505200"/>
          </a:xfrm>
          <a:noFill/>
        </p:spPr>
        <p:txBody>
          <a:bodyPr/>
          <a:lstStyle/>
          <a:p>
            <a:pPr marL="0" indent="0">
              <a:buFont typeface="Wingdings" panose="05000000000000000000" pitchFamily="2" charset="2"/>
              <a:buNone/>
            </a:pPr>
            <a:r>
              <a:rPr lang="zh-CN" altLang="en-US">
                <a:ea typeface="宋体" panose="02010600030101010101" pitchFamily="2" charset="-122"/>
              </a:rPr>
              <a:t>最低工资导致了社会福利从原先的</a:t>
            </a:r>
            <a:r>
              <a:rPr lang="en-US" altLang="zh-CN">
                <a:ea typeface="宋体" panose="02010600030101010101" pitchFamily="2" charset="-122"/>
              </a:rPr>
              <a:t>ABC</a:t>
            </a:r>
            <a:r>
              <a:rPr lang="zh-CN" altLang="en-US">
                <a:ea typeface="宋体" panose="02010600030101010101" pitchFamily="2" charset="-122"/>
              </a:rPr>
              <a:t>减少至</a:t>
            </a:r>
            <a:r>
              <a:rPr lang="en-US" altLang="zh-CN">
                <a:ea typeface="宋体" panose="02010600030101010101" pitchFamily="2" charset="-122"/>
              </a:rPr>
              <a:t>AEDB</a:t>
            </a:r>
            <a:r>
              <a:rPr lang="zh-CN" altLang="en-US">
                <a:ea typeface="宋体" panose="02010600030101010101" pitchFamily="2" charset="-122"/>
              </a:rPr>
              <a:t>，也就是说造成了</a:t>
            </a:r>
            <a:r>
              <a:rPr lang="en-US" altLang="zh-CN">
                <a:ea typeface="宋体" panose="02010600030101010101" pitchFamily="2" charset="-122"/>
              </a:rPr>
              <a:t>CDE</a:t>
            </a:r>
            <a:r>
              <a:rPr lang="zh-CN" altLang="en-US">
                <a:ea typeface="宋体" panose="02010600030101010101" pitchFamily="2" charset="-122"/>
              </a:rPr>
              <a:t>这么多的社会净损失。</a:t>
            </a:r>
            <a:endParaRPr lang="en-US" altLang="zh-CN">
              <a:ea typeface="宋体" panose="02010600030101010101" pitchFamily="2" charset="-122"/>
            </a:endParaRPr>
          </a:p>
        </p:txBody>
      </p:sp>
      <p:grpSp>
        <p:nvGrpSpPr>
          <p:cNvPr id="8" name="Group 25">
            <a:extLst>
              <a:ext uri="{FF2B5EF4-FFF2-40B4-BE49-F238E27FC236}">
                <a16:creationId xmlns:a16="http://schemas.microsoft.com/office/drawing/2014/main" id="{2F0EC9BA-4CCD-462F-9A3D-7D95E7E88A10}"/>
              </a:ext>
            </a:extLst>
          </p:cNvPr>
          <p:cNvGrpSpPr>
            <a:grpSpLocks/>
          </p:cNvGrpSpPr>
          <p:nvPr/>
        </p:nvGrpSpPr>
        <p:grpSpPr bwMode="auto">
          <a:xfrm>
            <a:off x="4495800" y="2895600"/>
            <a:ext cx="698500" cy="2997200"/>
            <a:chOff x="-360" y="216"/>
            <a:chExt cx="440" cy="1888"/>
          </a:xfrm>
        </p:grpSpPr>
        <p:sp>
          <p:nvSpPr>
            <p:cNvPr id="148503" name="Line 18">
              <a:extLst>
                <a:ext uri="{FF2B5EF4-FFF2-40B4-BE49-F238E27FC236}">
                  <a16:creationId xmlns:a16="http://schemas.microsoft.com/office/drawing/2014/main" id="{21EDAC7D-578F-462B-9876-251F64B4B45E}"/>
                </a:ext>
              </a:extLst>
            </p:cNvPr>
            <p:cNvSpPr>
              <a:spLocks noChangeShapeType="1"/>
            </p:cNvSpPr>
            <p:nvPr/>
          </p:nvSpPr>
          <p:spPr bwMode="auto">
            <a:xfrm>
              <a:off x="-120" y="216"/>
              <a:ext cx="0" cy="1618"/>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8504" name="Text Box 32">
              <a:extLst>
                <a:ext uri="{FF2B5EF4-FFF2-40B4-BE49-F238E27FC236}">
                  <a16:creationId xmlns:a16="http://schemas.microsoft.com/office/drawing/2014/main" id="{C8C907E3-4F01-4986-8FB1-84BF489CA126}"/>
                </a:ext>
              </a:extLst>
            </p:cNvPr>
            <p:cNvSpPr txBox="1">
              <a:spLocks noChangeArrowheads="1"/>
            </p:cNvSpPr>
            <p:nvPr/>
          </p:nvSpPr>
          <p:spPr bwMode="auto">
            <a:xfrm>
              <a:off x="-360" y="1874"/>
              <a:ext cx="44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400</a:t>
              </a:r>
            </a:p>
          </p:txBody>
        </p:sp>
        <p:sp>
          <p:nvSpPr>
            <p:cNvPr id="148505" name="Oval 33">
              <a:extLst>
                <a:ext uri="{FF2B5EF4-FFF2-40B4-BE49-F238E27FC236}">
                  <a16:creationId xmlns:a16="http://schemas.microsoft.com/office/drawing/2014/main" id="{548D5E7D-6B82-4B94-B1D9-0FC905C74AA0}"/>
                </a:ext>
              </a:extLst>
            </p:cNvPr>
            <p:cNvSpPr>
              <a:spLocks noChangeArrowheads="1"/>
            </p:cNvSpPr>
            <p:nvPr/>
          </p:nvSpPr>
          <p:spPr bwMode="auto">
            <a:xfrm>
              <a:off x="-160" y="22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9" name="Group 29">
            <a:extLst>
              <a:ext uri="{FF2B5EF4-FFF2-40B4-BE49-F238E27FC236}">
                <a16:creationId xmlns:a16="http://schemas.microsoft.com/office/drawing/2014/main" id="{534A0D43-19E7-4CE9-A838-56BA39B885BD}"/>
              </a:ext>
            </a:extLst>
          </p:cNvPr>
          <p:cNvGrpSpPr>
            <a:grpSpLocks/>
          </p:cNvGrpSpPr>
          <p:nvPr/>
        </p:nvGrpSpPr>
        <p:grpSpPr bwMode="auto">
          <a:xfrm>
            <a:off x="5791200" y="2909888"/>
            <a:ext cx="698500" cy="2982912"/>
            <a:chOff x="-48" y="223"/>
            <a:chExt cx="440" cy="1879"/>
          </a:xfrm>
        </p:grpSpPr>
        <p:sp>
          <p:nvSpPr>
            <p:cNvPr id="148500" name="Text Box 21">
              <a:extLst>
                <a:ext uri="{FF2B5EF4-FFF2-40B4-BE49-F238E27FC236}">
                  <a16:creationId xmlns:a16="http://schemas.microsoft.com/office/drawing/2014/main" id="{CEDB8BA2-5600-4EA8-ADDF-7763C4EA2318}"/>
                </a:ext>
              </a:extLst>
            </p:cNvPr>
            <p:cNvSpPr txBox="1">
              <a:spLocks noChangeArrowheads="1"/>
            </p:cNvSpPr>
            <p:nvPr/>
          </p:nvSpPr>
          <p:spPr bwMode="auto">
            <a:xfrm>
              <a:off x="-48" y="1872"/>
              <a:ext cx="44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550</a:t>
              </a:r>
            </a:p>
          </p:txBody>
        </p:sp>
        <p:sp>
          <p:nvSpPr>
            <p:cNvPr id="148501" name="Oval 34">
              <a:extLst>
                <a:ext uri="{FF2B5EF4-FFF2-40B4-BE49-F238E27FC236}">
                  <a16:creationId xmlns:a16="http://schemas.microsoft.com/office/drawing/2014/main" id="{7C28CCDC-98A3-4F1F-B65E-B7A707DC30CA}"/>
                </a:ext>
              </a:extLst>
            </p:cNvPr>
            <p:cNvSpPr>
              <a:spLocks noChangeArrowheads="1"/>
            </p:cNvSpPr>
            <p:nvPr/>
          </p:nvSpPr>
          <p:spPr bwMode="auto">
            <a:xfrm>
              <a:off x="96" y="22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8502" name="Line 35">
              <a:extLst>
                <a:ext uri="{FF2B5EF4-FFF2-40B4-BE49-F238E27FC236}">
                  <a16:creationId xmlns:a16="http://schemas.microsoft.com/office/drawing/2014/main" id="{C161869E-E31E-4D74-BDF1-48885B8BAECF}"/>
                </a:ext>
              </a:extLst>
            </p:cNvPr>
            <p:cNvSpPr>
              <a:spLocks noChangeShapeType="1"/>
            </p:cNvSpPr>
            <p:nvPr/>
          </p:nvSpPr>
          <p:spPr bwMode="auto">
            <a:xfrm>
              <a:off x="144" y="262"/>
              <a:ext cx="0" cy="1584"/>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33">
            <a:extLst>
              <a:ext uri="{FF2B5EF4-FFF2-40B4-BE49-F238E27FC236}">
                <a16:creationId xmlns:a16="http://schemas.microsoft.com/office/drawing/2014/main" id="{27B24B15-B1CD-42B8-B892-14EF6D75909B}"/>
              </a:ext>
            </a:extLst>
          </p:cNvPr>
          <p:cNvGrpSpPr>
            <a:grpSpLocks/>
          </p:cNvGrpSpPr>
          <p:nvPr/>
        </p:nvGrpSpPr>
        <p:grpSpPr bwMode="auto">
          <a:xfrm>
            <a:off x="4724400" y="2144713"/>
            <a:ext cx="1562100" cy="750887"/>
            <a:chOff x="-360" y="390"/>
            <a:chExt cx="984" cy="473"/>
          </a:xfrm>
        </p:grpSpPr>
        <p:sp>
          <p:nvSpPr>
            <p:cNvPr id="148498" name="AutoShape 39">
              <a:extLst>
                <a:ext uri="{FF2B5EF4-FFF2-40B4-BE49-F238E27FC236}">
                  <a16:creationId xmlns:a16="http://schemas.microsoft.com/office/drawing/2014/main" id="{4D1E6196-3F4F-402C-84C0-938792A71FB1}"/>
                </a:ext>
              </a:extLst>
            </p:cNvPr>
            <p:cNvSpPr>
              <a:spLocks/>
            </p:cNvSpPr>
            <p:nvPr/>
          </p:nvSpPr>
          <p:spPr bwMode="auto">
            <a:xfrm rot="5400000">
              <a:off x="13" y="420"/>
              <a:ext cx="196" cy="689"/>
            </a:xfrm>
            <a:prstGeom prst="leftBrace">
              <a:avLst>
                <a:gd name="adj1" fmla="val 61648"/>
                <a:gd name="adj2" fmla="val 50000"/>
              </a:avLst>
            </a:pr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8499" name="Text Box 40">
              <a:extLst>
                <a:ext uri="{FF2B5EF4-FFF2-40B4-BE49-F238E27FC236}">
                  <a16:creationId xmlns:a16="http://schemas.microsoft.com/office/drawing/2014/main" id="{0DB49E5C-8B6D-41FD-9F3B-D063B395402C}"/>
                </a:ext>
              </a:extLst>
            </p:cNvPr>
            <p:cNvSpPr txBox="1">
              <a:spLocks noChangeArrowheads="1"/>
            </p:cNvSpPr>
            <p:nvPr/>
          </p:nvSpPr>
          <p:spPr bwMode="auto">
            <a:xfrm>
              <a:off x="-360" y="390"/>
              <a:ext cx="9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solidFill>
                    <a:srgbClr val="0000FF"/>
                  </a:solidFill>
                  <a:latin typeface="Arial" panose="020B0604020202020204" pitchFamily="34" charset="0"/>
                </a:rPr>
                <a:t>劳动力过剩</a:t>
              </a:r>
              <a:endParaRPr lang="en-US" altLang="zh-CN" sz="2400" b="0">
                <a:solidFill>
                  <a:srgbClr val="0000FF"/>
                </a:solidFill>
                <a:latin typeface="Arial" panose="020B0604020202020204" pitchFamily="34" charset="0"/>
              </a:endParaRPr>
            </a:p>
          </p:txBody>
        </p:sp>
      </p:grpSp>
      <p:sp>
        <p:nvSpPr>
          <p:cNvPr id="148491" name="Title 1">
            <a:extLst>
              <a:ext uri="{FF2B5EF4-FFF2-40B4-BE49-F238E27FC236}">
                <a16:creationId xmlns:a16="http://schemas.microsoft.com/office/drawing/2014/main" id="{4912435F-111A-417A-8865-EA39396E55B4}"/>
              </a:ext>
            </a:extLst>
          </p:cNvPr>
          <p:cNvSpPr txBox="1">
            <a:spLocks/>
          </p:cNvSpPr>
          <p:nvPr/>
        </p:nvSpPr>
        <p:spPr bwMode="auto">
          <a:xfrm>
            <a:off x="1042988"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价格下限：劳动力市场</a:t>
            </a:r>
          </a:p>
        </p:txBody>
      </p:sp>
      <p:sp>
        <p:nvSpPr>
          <p:cNvPr id="148492" name="Text Box 26">
            <a:extLst>
              <a:ext uri="{FF2B5EF4-FFF2-40B4-BE49-F238E27FC236}">
                <a16:creationId xmlns:a16="http://schemas.microsoft.com/office/drawing/2014/main" id="{75515066-B505-42FD-AA7F-88E815625C83}"/>
              </a:ext>
            </a:extLst>
          </p:cNvPr>
          <p:cNvSpPr txBox="1">
            <a:spLocks noChangeArrowheads="1"/>
          </p:cNvSpPr>
          <p:nvPr/>
        </p:nvSpPr>
        <p:spPr bwMode="auto">
          <a:xfrm>
            <a:off x="3200400" y="2133600"/>
            <a:ext cx="935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B</a:t>
            </a:r>
          </a:p>
        </p:txBody>
      </p:sp>
      <p:sp>
        <p:nvSpPr>
          <p:cNvPr id="148493" name="Text Box 26">
            <a:extLst>
              <a:ext uri="{FF2B5EF4-FFF2-40B4-BE49-F238E27FC236}">
                <a16:creationId xmlns:a16="http://schemas.microsoft.com/office/drawing/2014/main" id="{8833E44D-6D39-46CA-BEE1-9EF36D607E41}"/>
              </a:ext>
            </a:extLst>
          </p:cNvPr>
          <p:cNvSpPr txBox="1">
            <a:spLocks noChangeArrowheads="1"/>
          </p:cNvSpPr>
          <p:nvPr/>
        </p:nvSpPr>
        <p:spPr bwMode="auto">
          <a:xfrm>
            <a:off x="3200400" y="4740275"/>
            <a:ext cx="935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A</a:t>
            </a:r>
          </a:p>
        </p:txBody>
      </p:sp>
      <p:sp>
        <p:nvSpPr>
          <p:cNvPr id="148494" name="Text Box 26">
            <a:extLst>
              <a:ext uri="{FF2B5EF4-FFF2-40B4-BE49-F238E27FC236}">
                <a16:creationId xmlns:a16="http://schemas.microsoft.com/office/drawing/2014/main" id="{8B30DEB8-3514-4DC7-A7A2-010E707DBFA2}"/>
              </a:ext>
            </a:extLst>
          </p:cNvPr>
          <p:cNvSpPr txBox="1">
            <a:spLocks noChangeArrowheads="1"/>
          </p:cNvSpPr>
          <p:nvPr/>
        </p:nvSpPr>
        <p:spPr bwMode="auto">
          <a:xfrm>
            <a:off x="4724400" y="3673475"/>
            <a:ext cx="935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C</a:t>
            </a:r>
          </a:p>
        </p:txBody>
      </p:sp>
      <p:sp>
        <p:nvSpPr>
          <p:cNvPr id="148495" name="Text Box 26">
            <a:extLst>
              <a:ext uri="{FF2B5EF4-FFF2-40B4-BE49-F238E27FC236}">
                <a16:creationId xmlns:a16="http://schemas.microsoft.com/office/drawing/2014/main" id="{42BAB312-5F59-4DF8-979E-1F713E480BBF}"/>
              </a:ext>
            </a:extLst>
          </p:cNvPr>
          <p:cNvSpPr txBox="1">
            <a:spLocks noChangeArrowheads="1"/>
          </p:cNvSpPr>
          <p:nvPr/>
        </p:nvSpPr>
        <p:spPr bwMode="auto">
          <a:xfrm>
            <a:off x="4038600" y="2449513"/>
            <a:ext cx="935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D</a:t>
            </a:r>
          </a:p>
        </p:txBody>
      </p:sp>
      <p:sp>
        <p:nvSpPr>
          <p:cNvPr id="148496" name="Oval 19">
            <a:extLst>
              <a:ext uri="{FF2B5EF4-FFF2-40B4-BE49-F238E27FC236}">
                <a16:creationId xmlns:a16="http://schemas.microsoft.com/office/drawing/2014/main" id="{D18045EC-241D-4AC4-A33D-D7EDB015A892}"/>
              </a:ext>
            </a:extLst>
          </p:cNvPr>
          <p:cNvSpPr>
            <a:spLocks noChangeArrowheads="1"/>
          </p:cNvSpPr>
          <p:nvPr/>
        </p:nvSpPr>
        <p:spPr bwMode="auto">
          <a:xfrm>
            <a:off x="4800600" y="4205288"/>
            <a:ext cx="139700" cy="13811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48497" name="Text Box 26">
            <a:extLst>
              <a:ext uri="{FF2B5EF4-FFF2-40B4-BE49-F238E27FC236}">
                <a16:creationId xmlns:a16="http://schemas.microsoft.com/office/drawing/2014/main" id="{3B6BC680-5478-499C-9D71-9680A8A5B609}"/>
              </a:ext>
            </a:extLst>
          </p:cNvPr>
          <p:cNvSpPr txBox="1">
            <a:spLocks noChangeArrowheads="1"/>
          </p:cNvSpPr>
          <p:nvPr/>
        </p:nvSpPr>
        <p:spPr bwMode="auto">
          <a:xfrm>
            <a:off x="4246563" y="4267200"/>
            <a:ext cx="935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400" b="0">
                <a:latin typeface="Arial" panose="020B0604020202020204" pitchFamily="34" charset="0"/>
              </a:rPr>
              <a:t>E</a:t>
            </a:r>
          </a:p>
        </p:txBody>
      </p:sp>
      <p:sp>
        <p:nvSpPr>
          <p:cNvPr id="2" name="标注: 线形 1">
            <a:extLst>
              <a:ext uri="{FF2B5EF4-FFF2-40B4-BE49-F238E27FC236}">
                <a16:creationId xmlns:a16="http://schemas.microsoft.com/office/drawing/2014/main" id="{AD7BBB2D-5FEC-4734-A683-358FC9BBE448}"/>
              </a:ext>
            </a:extLst>
          </p:cNvPr>
          <p:cNvSpPr/>
          <p:nvPr/>
        </p:nvSpPr>
        <p:spPr bwMode="auto">
          <a:xfrm>
            <a:off x="7308190" y="547687"/>
            <a:ext cx="2016140" cy="1441213"/>
          </a:xfrm>
          <a:prstGeom prst="borderCallout1">
            <a:avLst>
              <a:gd name="adj1" fmla="val 18750"/>
              <a:gd name="adj2" fmla="val -8333"/>
              <a:gd name="adj3" fmla="val 72095"/>
              <a:gd name="adj4" fmla="val -2257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a:t>价格是指引社会资源配置的信号。当政府进行价格控制时，这种配置通常会发生变化</a:t>
            </a:r>
            <a:endParaRPr lang="zh-CN" alt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72">
                                            <p:txEl>
                                              <p:pRg st="0" end="0"/>
                                            </p:txEl>
                                          </p:spTgt>
                                        </p:tgtEl>
                                        <p:attrNameLst>
                                          <p:attrName>style.visibility</p:attrName>
                                        </p:attrNameLst>
                                      </p:cBhvr>
                                      <p:to>
                                        <p:strVal val="visible"/>
                                      </p:to>
                                    </p:set>
                                    <p:animEffect transition="in" filter="wipe(left)">
                                      <p:cBhvr>
                                        <p:cTn id="12" dur="500"/>
                                        <p:tgtEl>
                                          <p:spTgt spid="2767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3"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strips(upRight)">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2" grpId="0" build="p" bldLvl="5"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4B8E649-E4E3-4840-84B6-D5A7D297E707}"/>
              </a:ext>
            </a:extLst>
          </p:cNvPr>
          <p:cNvGrpSpPr>
            <a:grpSpLocks/>
          </p:cNvGrpSpPr>
          <p:nvPr/>
        </p:nvGrpSpPr>
        <p:grpSpPr bwMode="auto">
          <a:xfrm>
            <a:off x="5880100" y="2805113"/>
            <a:ext cx="588963" cy="3189287"/>
            <a:chOff x="0" y="0"/>
            <a:chExt cx="371" cy="2009"/>
          </a:xfrm>
        </p:grpSpPr>
        <p:sp>
          <p:nvSpPr>
            <p:cNvPr id="172069" name="Line 3">
              <a:extLst>
                <a:ext uri="{FF2B5EF4-FFF2-40B4-BE49-F238E27FC236}">
                  <a16:creationId xmlns:a16="http://schemas.microsoft.com/office/drawing/2014/main" id="{5E381FC6-3511-4DC4-8BF2-C5F0C8B84BE9}"/>
                </a:ext>
              </a:extLst>
            </p:cNvPr>
            <p:cNvSpPr>
              <a:spLocks noChangeShapeType="1"/>
            </p:cNvSpPr>
            <p:nvPr/>
          </p:nvSpPr>
          <p:spPr bwMode="auto">
            <a:xfrm>
              <a:off x="190" y="0"/>
              <a:ext cx="0" cy="1731"/>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070" name="Text Box 4">
              <a:extLst>
                <a:ext uri="{FF2B5EF4-FFF2-40B4-BE49-F238E27FC236}">
                  <a16:creationId xmlns:a16="http://schemas.microsoft.com/office/drawing/2014/main" id="{8997A5B3-BA2B-4A4C-89C2-74269661B77E}"/>
                </a:ext>
              </a:extLst>
            </p:cNvPr>
            <p:cNvSpPr txBox="1">
              <a:spLocks noChangeArrowheads="1"/>
            </p:cNvSpPr>
            <p:nvPr/>
          </p:nvSpPr>
          <p:spPr bwMode="auto">
            <a:xfrm>
              <a:off x="0" y="1730"/>
              <a:ext cx="37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T</a:t>
              </a:r>
            </a:p>
          </p:txBody>
        </p:sp>
      </p:grpSp>
      <p:grpSp>
        <p:nvGrpSpPr>
          <p:cNvPr id="172035" name="Group 6">
            <a:extLst>
              <a:ext uri="{FF2B5EF4-FFF2-40B4-BE49-F238E27FC236}">
                <a16:creationId xmlns:a16="http://schemas.microsoft.com/office/drawing/2014/main" id="{D1F271EA-DF14-4898-A853-0C2B9E30BEDF}"/>
              </a:ext>
            </a:extLst>
          </p:cNvPr>
          <p:cNvGrpSpPr>
            <a:grpSpLocks/>
          </p:cNvGrpSpPr>
          <p:nvPr/>
        </p:nvGrpSpPr>
        <p:grpSpPr bwMode="auto">
          <a:xfrm>
            <a:off x="4068763" y="927100"/>
            <a:ext cx="4305300" cy="4824413"/>
            <a:chOff x="0" y="0"/>
            <a:chExt cx="2712" cy="3039"/>
          </a:xfrm>
        </p:grpSpPr>
        <p:grpSp>
          <p:nvGrpSpPr>
            <p:cNvPr id="172057" name="Group 7">
              <a:extLst>
                <a:ext uri="{FF2B5EF4-FFF2-40B4-BE49-F238E27FC236}">
                  <a16:creationId xmlns:a16="http://schemas.microsoft.com/office/drawing/2014/main" id="{16E9814B-654B-4907-BEA5-6DCBB32A92D8}"/>
                </a:ext>
              </a:extLst>
            </p:cNvPr>
            <p:cNvGrpSpPr>
              <a:grpSpLocks/>
            </p:cNvGrpSpPr>
            <p:nvPr/>
          </p:nvGrpSpPr>
          <p:grpSpPr bwMode="auto">
            <a:xfrm>
              <a:off x="0" y="0"/>
              <a:ext cx="2712" cy="3039"/>
              <a:chOff x="0" y="0"/>
              <a:chExt cx="2712" cy="2666"/>
            </a:xfrm>
          </p:grpSpPr>
          <p:grpSp>
            <p:nvGrpSpPr>
              <p:cNvPr id="172064" name="Group 8">
                <a:extLst>
                  <a:ext uri="{FF2B5EF4-FFF2-40B4-BE49-F238E27FC236}">
                    <a16:creationId xmlns:a16="http://schemas.microsoft.com/office/drawing/2014/main" id="{0BDEBC4B-E6D5-4348-96D6-A65559A22A3D}"/>
                  </a:ext>
                </a:extLst>
              </p:cNvPr>
              <p:cNvGrpSpPr>
                <a:grpSpLocks/>
              </p:cNvGrpSpPr>
              <p:nvPr/>
            </p:nvGrpSpPr>
            <p:grpSpPr bwMode="auto">
              <a:xfrm>
                <a:off x="119" y="225"/>
                <a:ext cx="2382" cy="2331"/>
                <a:chOff x="0" y="0"/>
                <a:chExt cx="2400" cy="2079"/>
              </a:xfrm>
            </p:grpSpPr>
            <p:sp>
              <p:nvSpPr>
                <p:cNvPr id="172067" name="Line 9">
                  <a:extLst>
                    <a:ext uri="{FF2B5EF4-FFF2-40B4-BE49-F238E27FC236}">
                      <a16:creationId xmlns:a16="http://schemas.microsoft.com/office/drawing/2014/main" id="{CFD2015D-E253-4CE0-A6DE-3E2BD29936D9}"/>
                    </a:ext>
                  </a:extLst>
                </p:cNvPr>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068" name="Line 10">
                  <a:extLst>
                    <a:ext uri="{FF2B5EF4-FFF2-40B4-BE49-F238E27FC236}">
                      <a16:creationId xmlns:a16="http://schemas.microsoft.com/office/drawing/2014/main" id="{AB47D6AC-29FC-444D-A2E2-9FCDB22AF645}"/>
                    </a:ext>
                  </a:extLst>
                </p:cNvPr>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2065" name="Text Box 11">
                <a:extLst>
                  <a:ext uri="{FF2B5EF4-FFF2-40B4-BE49-F238E27FC236}">
                    <a16:creationId xmlns:a16="http://schemas.microsoft.com/office/drawing/2014/main" id="{C2147C06-5B76-49C5-898D-95B86BDAE261}"/>
                  </a:ext>
                </a:extLst>
              </p:cNvPr>
              <p:cNvSpPr txBox="1">
                <a:spLocks noChangeArrowheads="1"/>
              </p:cNvSpPr>
              <p:nvPr/>
            </p:nvSpPr>
            <p:spPr bwMode="auto">
              <a:xfrm>
                <a:off x="0" y="0"/>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p>
            </p:txBody>
          </p:sp>
          <p:sp>
            <p:nvSpPr>
              <p:cNvPr id="172066" name="Text Box 12">
                <a:extLst>
                  <a:ext uri="{FF2B5EF4-FFF2-40B4-BE49-F238E27FC236}">
                    <a16:creationId xmlns:a16="http://schemas.microsoft.com/office/drawing/2014/main" id="{9F573C5D-B25C-4440-8161-0B80E556A1A1}"/>
                  </a:ext>
                </a:extLst>
              </p:cNvPr>
              <p:cNvSpPr txBox="1">
                <a:spLocks noChangeArrowheads="1"/>
              </p:cNvSpPr>
              <p:nvPr/>
            </p:nvSpPr>
            <p:spPr bwMode="auto">
              <a:xfrm>
                <a:off x="2479" y="2421"/>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p>
            </p:txBody>
          </p:sp>
        </p:grpSp>
        <p:grpSp>
          <p:nvGrpSpPr>
            <p:cNvPr id="172058" name="Group 13">
              <a:extLst>
                <a:ext uri="{FF2B5EF4-FFF2-40B4-BE49-F238E27FC236}">
                  <a16:creationId xmlns:a16="http://schemas.microsoft.com/office/drawing/2014/main" id="{D6905170-65FC-4FB4-BDA9-21759B8F0565}"/>
                </a:ext>
              </a:extLst>
            </p:cNvPr>
            <p:cNvGrpSpPr>
              <a:grpSpLocks/>
            </p:cNvGrpSpPr>
            <p:nvPr/>
          </p:nvGrpSpPr>
          <p:grpSpPr bwMode="auto">
            <a:xfrm>
              <a:off x="121" y="352"/>
              <a:ext cx="2495" cy="1771"/>
              <a:chOff x="0" y="0"/>
              <a:chExt cx="2495" cy="1771"/>
            </a:xfrm>
          </p:grpSpPr>
          <p:sp>
            <p:nvSpPr>
              <p:cNvPr id="172062" name="Text Box 14">
                <a:extLst>
                  <a:ext uri="{FF2B5EF4-FFF2-40B4-BE49-F238E27FC236}">
                    <a16:creationId xmlns:a16="http://schemas.microsoft.com/office/drawing/2014/main" id="{D7AD52BE-802C-49B1-AE12-C59D7E3D5F7F}"/>
                  </a:ext>
                </a:extLst>
              </p:cNvPr>
              <p:cNvSpPr txBox="1">
                <a:spLocks noChangeArrowheads="1"/>
              </p:cNvSpPr>
              <p:nvPr/>
            </p:nvSpPr>
            <p:spPr bwMode="auto">
              <a:xfrm>
                <a:off x="2262" y="1492"/>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D</a:t>
                </a:r>
              </a:p>
            </p:txBody>
          </p:sp>
          <p:sp>
            <p:nvSpPr>
              <p:cNvPr id="172063" name="Line 15">
                <a:extLst>
                  <a:ext uri="{FF2B5EF4-FFF2-40B4-BE49-F238E27FC236}">
                    <a16:creationId xmlns:a16="http://schemas.microsoft.com/office/drawing/2014/main" id="{DE628D8E-273A-4F19-B108-5317F59EA800}"/>
                  </a:ext>
                </a:extLst>
              </p:cNvPr>
              <p:cNvSpPr>
                <a:spLocks noChangeShapeType="1"/>
              </p:cNvSpPr>
              <p:nvPr/>
            </p:nvSpPr>
            <p:spPr bwMode="auto">
              <a:xfrm>
                <a:off x="0" y="0"/>
                <a:ext cx="2305" cy="1589"/>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2059" name="Group 16">
              <a:extLst>
                <a:ext uri="{FF2B5EF4-FFF2-40B4-BE49-F238E27FC236}">
                  <a16:creationId xmlns:a16="http://schemas.microsoft.com/office/drawing/2014/main" id="{54A69691-A186-4A0B-95CC-E88C90817602}"/>
                </a:ext>
              </a:extLst>
            </p:cNvPr>
            <p:cNvGrpSpPr>
              <a:grpSpLocks/>
            </p:cNvGrpSpPr>
            <p:nvPr/>
          </p:nvGrpSpPr>
          <p:grpSpPr bwMode="auto">
            <a:xfrm>
              <a:off x="119" y="954"/>
              <a:ext cx="2486" cy="1961"/>
              <a:chOff x="0" y="0"/>
              <a:chExt cx="2486" cy="1961"/>
            </a:xfrm>
          </p:grpSpPr>
          <p:sp>
            <p:nvSpPr>
              <p:cNvPr id="172060" name="Text Box 17">
                <a:extLst>
                  <a:ext uri="{FF2B5EF4-FFF2-40B4-BE49-F238E27FC236}">
                    <a16:creationId xmlns:a16="http://schemas.microsoft.com/office/drawing/2014/main" id="{99D1EBF8-8B1F-491F-8648-1F3E366364B8}"/>
                  </a:ext>
                </a:extLst>
              </p:cNvPr>
              <p:cNvSpPr txBox="1">
                <a:spLocks noChangeArrowheads="1"/>
              </p:cNvSpPr>
              <p:nvPr/>
            </p:nvSpPr>
            <p:spPr bwMode="auto">
              <a:xfrm>
                <a:off x="2253"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S</a:t>
                </a:r>
              </a:p>
            </p:txBody>
          </p:sp>
          <p:sp>
            <p:nvSpPr>
              <p:cNvPr id="172061" name="Line 18">
                <a:extLst>
                  <a:ext uri="{FF2B5EF4-FFF2-40B4-BE49-F238E27FC236}">
                    <a16:creationId xmlns:a16="http://schemas.microsoft.com/office/drawing/2014/main" id="{E1181FF7-B6DC-4EAF-9491-A1183A3D5FB5}"/>
                  </a:ext>
                </a:extLst>
              </p:cNvPr>
              <p:cNvSpPr>
                <a:spLocks noChangeShapeType="1"/>
              </p:cNvSpPr>
              <p:nvPr/>
            </p:nvSpPr>
            <p:spPr bwMode="auto">
              <a:xfrm flipV="1">
                <a:off x="0" y="194"/>
                <a:ext cx="2282" cy="1767"/>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2307" name="Rectangle 19">
            <a:extLst>
              <a:ext uri="{FF2B5EF4-FFF2-40B4-BE49-F238E27FC236}">
                <a16:creationId xmlns:a16="http://schemas.microsoft.com/office/drawing/2014/main" id="{9EDB8C30-8695-4B99-969C-DBBDD3F6D8C9}"/>
              </a:ext>
            </a:extLst>
          </p:cNvPr>
          <p:cNvSpPr>
            <a:spLocks noChangeArrowheads="1"/>
          </p:cNvSpPr>
          <p:nvPr/>
        </p:nvSpPr>
        <p:spPr bwMode="auto">
          <a:xfrm>
            <a:off x="1066800" y="1143000"/>
            <a:ext cx="274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10000"/>
              </a:lnSpc>
              <a:spcBef>
                <a:spcPct val="45000"/>
              </a:spcBef>
              <a:buClr>
                <a:srgbClr val="00B85C"/>
              </a:buClr>
              <a:buSzPct val="120000"/>
              <a:buFont typeface="Wingdings" panose="05000000000000000000" pitchFamily="2" charset="2"/>
              <a:buNone/>
            </a:pPr>
            <a:r>
              <a:rPr lang="zh-CN" altLang="en-US" sz="2000" b="0" dirty="0">
                <a:latin typeface="Arial" panose="020B0604020202020204" pitchFamily="34" charset="0"/>
              </a:rPr>
              <a:t>没有税收时的均衡：</a:t>
            </a:r>
            <a:r>
              <a:rPr lang="en-US" altLang="zh-CN" sz="2000" b="0" dirty="0">
                <a:latin typeface="Arial" panose="020B0604020202020204" pitchFamily="34" charset="0"/>
              </a:rPr>
              <a:t> </a:t>
            </a:r>
            <a:br>
              <a:rPr lang="en-US" altLang="zh-CN" sz="2000" b="0" dirty="0">
                <a:latin typeface="Arial" panose="020B0604020202020204" pitchFamily="34" charset="0"/>
              </a:rPr>
            </a:br>
            <a:r>
              <a:rPr lang="en-US" altLang="zh-CN" sz="2000" b="0" dirty="0">
                <a:latin typeface="Arial" panose="020B0604020202020204" pitchFamily="34" charset="0"/>
              </a:rPr>
              <a:t>  </a:t>
            </a:r>
            <a:r>
              <a:rPr lang="zh-CN" altLang="en-US" sz="2000" b="0" dirty="0">
                <a:latin typeface="Arial" panose="020B0604020202020204" pitchFamily="34" charset="0"/>
              </a:rPr>
              <a:t>价格</a:t>
            </a:r>
            <a:r>
              <a:rPr lang="en-US" altLang="zh-CN" sz="2000" b="0" dirty="0">
                <a:latin typeface="Arial" panose="020B0604020202020204" pitchFamily="34" charset="0"/>
              </a:rPr>
              <a:t> </a:t>
            </a:r>
            <a:r>
              <a:rPr lang="zh-CN" altLang="ja-JP" sz="2000" b="0" dirty="0">
                <a:latin typeface="Arial" panose="020B0604020202020204" pitchFamily="34" charset="0"/>
              </a:rPr>
              <a:t>= </a:t>
            </a:r>
            <a:r>
              <a:rPr lang="zh-CN" altLang="ja-JP" sz="2000" b="0" i="1" dirty="0">
                <a:latin typeface="Arial" panose="020B0604020202020204" pitchFamily="34" charset="0"/>
              </a:rPr>
              <a:t>P</a:t>
            </a:r>
            <a:r>
              <a:rPr lang="zh-CN" altLang="ja-JP" sz="2000" b="0" i="1" baseline="-25000" dirty="0">
                <a:latin typeface="Arial" panose="020B0604020202020204" pitchFamily="34" charset="0"/>
              </a:rPr>
              <a:t>E</a:t>
            </a:r>
            <a:r>
              <a:rPr lang="zh-CN" altLang="ja-JP" sz="2000" b="0" dirty="0">
                <a:latin typeface="Arial" panose="020B0604020202020204" pitchFamily="34" charset="0"/>
              </a:rPr>
              <a:t> </a:t>
            </a:r>
            <a:br>
              <a:rPr lang="zh-CN" altLang="ja-JP" sz="2000" b="0" dirty="0">
                <a:latin typeface="Arial" panose="020B0604020202020204" pitchFamily="34" charset="0"/>
              </a:rPr>
            </a:br>
            <a:r>
              <a:rPr lang="zh-CN" altLang="ja-JP" sz="2000" b="0" dirty="0">
                <a:latin typeface="Arial" panose="020B0604020202020204" pitchFamily="34" charset="0"/>
              </a:rPr>
              <a:t>  </a:t>
            </a:r>
            <a:r>
              <a:rPr lang="zh-CN" altLang="en-US" sz="2000" b="0" dirty="0">
                <a:latin typeface="Arial" panose="020B0604020202020204" pitchFamily="34" charset="0"/>
              </a:rPr>
              <a:t>均衡数量</a:t>
            </a:r>
            <a:r>
              <a:rPr lang="zh-CN" altLang="ja-JP" sz="2000" b="0" dirty="0">
                <a:latin typeface="Arial" panose="020B0604020202020204" pitchFamily="34" charset="0"/>
              </a:rPr>
              <a:t>= </a:t>
            </a:r>
            <a:r>
              <a:rPr lang="zh-CN" altLang="ja-JP" sz="2000" b="0" i="1" dirty="0">
                <a:latin typeface="Arial" panose="020B0604020202020204" pitchFamily="34" charset="0"/>
              </a:rPr>
              <a:t>Q</a:t>
            </a:r>
            <a:r>
              <a:rPr lang="zh-CN" altLang="ja-JP" sz="2000" b="0" i="1" baseline="-25000" dirty="0">
                <a:latin typeface="Arial" panose="020B0604020202020204" pitchFamily="34" charset="0"/>
              </a:rPr>
              <a:t>E </a:t>
            </a:r>
            <a:endParaRPr lang="en-US" altLang="zh-CN" sz="2000" b="0" dirty="0">
              <a:latin typeface="Arial" panose="020B0604020202020204" pitchFamily="34" charset="0"/>
            </a:endParaRPr>
          </a:p>
        </p:txBody>
      </p:sp>
      <p:sp>
        <p:nvSpPr>
          <p:cNvPr id="12308" name="Line 20">
            <a:extLst>
              <a:ext uri="{FF2B5EF4-FFF2-40B4-BE49-F238E27FC236}">
                <a16:creationId xmlns:a16="http://schemas.microsoft.com/office/drawing/2014/main" id="{C2C0F8DC-8CCB-4BBA-ABE2-81FAFF95A406}"/>
              </a:ext>
            </a:extLst>
          </p:cNvPr>
          <p:cNvSpPr>
            <a:spLocks noChangeShapeType="1"/>
          </p:cNvSpPr>
          <p:nvPr/>
        </p:nvSpPr>
        <p:spPr bwMode="auto">
          <a:xfrm>
            <a:off x="6178550" y="2809875"/>
            <a:ext cx="3175" cy="12509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 name="Group 21">
            <a:extLst>
              <a:ext uri="{FF2B5EF4-FFF2-40B4-BE49-F238E27FC236}">
                <a16:creationId xmlns:a16="http://schemas.microsoft.com/office/drawing/2014/main" id="{A6729222-68BB-4ACD-B7A7-C245FF34F5C2}"/>
              </a:ext>
            </a:extLst>
          </p:cNvPr>
          <p:cNvGrpSpPr>
            <a:grpSpLocks/>
          </p:cNvGrpSpPr>
          <p:nvPr/>
        </p:nvGrpSpPr>
        <p:grpSpPr bwMode="auto">
          <a:xfrm>
            <a:off x="3727450" y="3836988"/>
            <a:ext cx="2449513" cy="442912"/>
            <a:chOff x="0" y="0"/>
            <a:chExt cx="1543" cy="279"/>
          </a:xfrm>
        </p:grpSpPr>
        <p:sp>
          <p:nvSpPr>
            <p:cNvPr id="172055" name="Text Box 22">
              <a:extLst>
                <a:ext uri="{FF2B5EF4-FFF2-40B4-BE49-F238E27FC236}">
                  <a16:creationId xmlns:a16="http://schemas.microsoft.com/office/drawing/2014/main" id="{38816DE3-54C7-4C06-AD12-DC30FB2D044E}"/>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S</a:t>
              </a:r>
            </a:p>
          </p:txBody>
        </p:sp>
        <p:sp>
          <p:nvSpPr>
            <p:cNvPr id="172056" name="Line 23">
              <a:extLst>
                <a:ext uri="{FF2B5EF4-FFF2-40B4-BE49-F238E27FC236}">
                  <a16:creationId xmlns:a16="http://schemas.microsoft.com/office/drawing/2014/main" id="{42B31CB4-E22D-4AB9-8197-FFC21ED73D09}"/>
                </a:ext>
              </a:extLst>
            </p:cNvPr>
            <p:cNvSpPr>
              <a:spLocks noChangeShapeType="1"/>
            </p:cNvSpPr>
            <p:nvPr/>
          </p:nvSpPr>
          <p:spPr bwMode="auto">
            <a:xfrm flipH="1">
              <a:off x="334" y="139"/>
              <a:ext cx="120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24">
            <a:extLst>
              <a:ext uri="{FF2B5EF4-FFF2-40B4-BE49-F238E27FC236}">
                <a16:creationId xmlns:a16="http://schemas.microsoft.com/office/drawing/2014/main" id="{01D45506-B5AA-4B97-A452-4512A0B0A6CD}"/>
              </a:ext>
            </a:extLst>
          </p:cNvPr>
          <p:cNvGrpSpPr>
            <a:grpSpLocks/>
          </p:cNvGrpSpPr>
          <p:nvPr/>
        </p:nvGrpSpPr>
        <p:grpSpPr bwMode="auto">
          <a:xfrm>
            <a:off x="3722688" y="2584450"/>
            <a:ext cx="2454275" cy="442913"/>
            <a:chOff x="0" y="0"/>
            <a:chExt cx="1546" cy="279"/>
          </a:xfrm>
        </p:grpSpPr>
        <p:sp>
          <p:nvSpPr>
            <p:cNvPr id="172053" name="Text Box 25">
              <a:extLst>
                <a:ext uri="{FF2B5EF4-FFF2-40B4-BE49-F238E27FC236}">
                  <a16:creationId xmlns:a16="http://schemas.microsoft.com/office/drawing/2014/main" id="{FA8F96E7-5AB3-4111-9F8D-B067B58D2E19}"/>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B</a:t>
              </a:r>
            </a:p>
          </p:txBody>
        </p:sp>
        <p:sp>
          <p:nvSpPr>
            <p:cNvPr id="172054" name="Line 26">
              <a:extLst>
                <a:ext uri="{FF2B5EF4-FFF2-40B4-BE49-F238E27FC236}">
                  <a16:creationId xmlns:a16="http://schemas.microsoft.com/office/drawing/2014/main" id="{63E34300-11A0-4843-8CA0-60DEC77E3C19}"/>
                </a:ext>
              </a:extLst>
            </p:cNvPr>
            <p:cNvSpPr>
              <a:spLocks noChangeShapeType="1"/>
            </p:cNvSpPr>
            <p:nvPr/>
          </p:nvSpPr>
          <p:spPr bwMode="auto">
            <a:xfrm flipH="1">
              <a:off x="337" y="142"/>
              <a:ext cx="120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27">
            <a:extLst>
              <a:ext uri="{FF2B5EF4-FFF2-40B4-BE49-F238E27FC236}">
                <a16:creationId xmlns:a16="http://schemas.microsoft.com/office/drawing/2014/main" id="{6A1E8EEF-2476-4054-82FB-A2C08262B68C}"/>
              </a:ext>
            </a:extLst>
          </p:cNvPr>
          <p:cNvGrpSpPr>
            <a:grpSpLocks/>
          </p:cNvGrpSpPr>
          <p:nvPr/>
        </p:nvGrpSpPr>
        <p:grpSpPr bwMode="auto">
          <a:xfrm>
            <a:off x="3727450" y="3170238"/>
            <a:ext cx="3598863" cy="2824162"/>
            <a:chOff x="0" y="0"/>
            <a:chExt cx="2267" cy="1779"/>
          </a:xfrm>
        </p:grpSpPr>
        <p:sp>
          <p:nvSpPr>
            <p:cNvPr id="172048" name="Text Box 28">
              <a:extLst>
                <a:ext uri="{FF2B5EF4-FFF2-40B4-BE49-F238E27FC236}">
                  <a16:creationId xmlns:a16="http://schemas.microsoft.com/office/drawing/2014/main" id="{F814FF26-9056-43B6-9358-29D681F1F169}"/>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E</a:t>
              </a:r>
            </a:p>
          </p:txBody>
        </p:sp>
        <p:grpSp>
          <p:nvGrpSpPr>
            <p:cNvPr id="172049" name="Group 29">
              <a:extLst>
                <a:ext uri="{FF2B5EF4-FFF2-40B4-BE49-F238E27FC236}">
                  <a16:creationId xmlns:a16="http://schemas.microsoft.com/office/drawing/2014/main" id="{E1689FEC-1C7B-4324-9CA2-444EF04B047B}"/>
                </a:ext>
              </a:extLst>
            </p:cNvPr>
            <p:cNvGrpSpPr>
              <a:grpSpLocks/>
            </p:cNvGrpSpPr>
            <p:nvPr/>
          </p:nvGrpSpPr>
          <p:grpSpPr bwMode="auto">
            <a:xfrm>
              <a:off x="342" y="145"/>
              <a:ext cx="1743" cy="1354"/>
              <a:chOff x="0" y="0"/>
              <a:chExt cx="795" cy="646"/>
            </a:xfrm>
          </p:grpSpPr>
          <p:sp>
            <p:nvSpPr>
              <p:cNvPr id="172051" name="Line 30">
                <a:extLst>
                  <a:ext uri="{FF2B5EF4-FFF2-40B4-BE49-F238E27FC236}">
                    <a16:creationId xmlns:a16="http://schemas.microsoft.com/office/drawing/2014/main" id="{765373F0-88F6-416E-8181-7BFC99DDA197}"/>
                  </a:ext>
                </a:extLst>
              </p:cNvPr>
              <p:cNvSpPr>
                <a:spLocks noChangeShapeType="1"/>
              </p:cNvSpPr>
              <p:nvPr/>
            </p:nvSpPr>
            <p:spPr bwMode="auto">
              <a:xfrm>
                <a:off x="0" y="0"/>
                <a:ext cx="79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052" name="Line 31">
                <a:extLst>
                  <a:ext uri="{FF2B5EF4-FFF2-40B4-BE49-F238E27FC236}">
                    <a16:creationId xmlns:a16="http://schemas.microsoft.com/office/drawing/2014/main" id="{8C56E347-CE39-4EB6-9CBF-41B676A30068}"/>
                  </a:ext>
                </a:extLst>
              </p:cNvPr>
              <p:cNvSpPr>
                <a:spLocks noChangeShapeType="1"/>
              </p:cNvSpPr>
              <p:nvPr/>
            </p:nvSpPr>
            <p:spPr bwMode="auto">
              <a:xfrm>
                <a:off x="795" y="1"/>
                <a:ext cx="0" cy="64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2050" name="Text Box 32">
              <a:extLst>
                <a:ext uri="{FF2B5EF4-FFF2-40B4-BE49-F238E27FC236}">
                  <a16:creationId xmlns:a16="http://schemas.microsoft.com/office/drawing/2014/main" id="{D2047AE6-0D92-4B48-B00A-6E91C72409AA}"/>
                </a:ext>
              </a:extLst>
            </p:cNvPr>
            <p:cNvSpPr txBox="1">
              <a:spLocks noChangeArrowheads="1"/>
            </p:cNvSpPr>
            <p:nvPr/>
          </p:nvSpPr>
          <p:spPr bwMode="auto">
            <a:xfrm>
              <a:off x="1896" y="1500"/>
              <a:ext cx="37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E</a:t>
              </a:r>
            </a:p>
          </p:txBody>
        </p:sp>
      </p:grpSp>
      <p:sp>
        <p:nvSpPr>
          <p:cNvPr id="12321" name="Rectangle 33">
            <a:extLst>
              <a:ext uri="{FF2B5EF4-FFF2-40B4-BE49-F238E27FC236}">
                <a16:creationId xmlns:a16="http://schemas.microsoft.com/office/drawing/2014/main" id="{A26D8224-5F60-4BD6-AA1A-6C6A8B636F0D}"/>
              </a:ext>
            </a:extLst>
          </p:cNvPr>
          <p:cNvSpPr>
            <a:spLocks noChangeArrowheads="1"/>
          </p:cNvSpPr>
          <p:nvPr/>
        </p:nvSpPr>
        <p:spPr bwMode="auto">
          <a:xfrm>
            <a:off x="1066800" y="2362200"/>
            <a:ext cx="2667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45000"/>
              </a:spcBef>
              <a:buClr>
                <a:srgbClr val="00B85C"/>
              </a:buClr>
              <a:buSzPct val="120000"/>
              <a:buFontTx/>
              <a:buNone/>
            </a:pPr>
            <a:r>
              <a:rPr lang="zh-CN" altLang="en-US" sz="2000" b="0" dirty="0">
                <a:latin typeface="Arial" panose="020B0604020202020204" pitchFamily="34" charset="0"/>
              </a:rPr>
              <a:t>每单位物品征税</a:t>
            </a:r>
            <a:r>
              <a:rPr lang="zh-CN" altLang="ja-JP" sz="2000" b="0" dirty="0">
                <a:latin typeface="Arial" panose="020B0604020202020204" pitchFamily="34" charset="0"/>
              </a:rPr>
              <a:t>$T</a:t>
            </a:r>
            <a:r>
              <a:rPr lang="zh-CN" altLang="en-US" sz="2000" b="0" dirty="0">
                <a:latin typeface="Arial" panose="020B0604020202020204" pitchFamily="34" charset="0"/>
              </a:rPr>
              <a:t>时的均衡：买者支付</a:t>
            </a:r>
            <a:r>
              <a:rPr lang="en-US" altLang="zh-CN" sz="2000" b="0" dirty="0">
                <a:latin typeface="Arial" panose="020B0604020202020204" pitchFamily="34" charset="0"/>
              </a:rPr>
              <a:t> </a:t>
            </a:r>
            <a:r>
              <a:rPr lang="zh-CN" altLang="ja-JP" sz="2000" b="0" i="1" dirty="0">
                <a:latin typeface="Arial" panose="020B0604020202020204" pitchFamily="34" charset="0"/>
              </a:rPr>
              <a:t>P</a:t>
            </a:r>
            <a:r>
              <a:rPr lang="zh-CN" altLang="ja-JP" sz="2000" b="0" i="1" baseline="-25000" dirty="0">
                <a:latin typeface="Arial" panose="020B0604020202020204" pitchFamily="34" charset="0"/>
              </a:rPr>
              <a:t>B</a:t>
            </a:r>
            <a:r>
              <a:rPr lang="zh-CN" altLang="en-US" sz="2000" b="0" i="1" baseline="-25000" dirty="0">
                <a:latin typeface="Arial" panose="020B0604020202020204" pitchFamily="34" charset="0"/>
              </a:rPr>
              <a:t>，</a:t>
            </a:r>
            <a:r>
              <a:rPr lang="zh-CN" altLang="en-US" sz="2000" b="0" dirty="0">
                <a:latin typeface="Arial" panose="020B0604020202020204" pitchFamily="34" charset="0"/>
              </a:rPr>
              <a:t>卖者得到</a:t>
            </a:r>
            <a:r>
              <a:rPr lang="zh-CN" altLang="ja-JP" sz="2000" b="0" i="1" dirty="0">
                <a:latin typeface="Arial" panose="020B0604020202020204" pitchFamily="34" charset="0"/>
              </a:rPr>
              <a:t>P</a:t>
            </a:r>
            <a:r>
              <a:rPr lang="zh-CN" altLang="ja-JP" sz="2000" b="0" i="1" baseline="-25000" dirty="0">
                <a:latin typeface="Arial" panose="020B0604020202020204" pitchFamily="34" charset="0"/>
              </a:rPr>
              <a:t>S </a:t>
            </a:r>
            <a:r>
              <a:rPr lang="zh-CN" altLang="en-US" sz="2000" b="0" i="1" baseline="-25000" dirty="0">
                <a:latin typeface="Arial" panose="020B0604020202020204" pitchFamily="34" charset="0"/>
              </a:rPr>
              <a:t>，</a:t>
            </a:r>
            <a:r>
              <a:rPr lang="zh-CN" altLang="en-US" sz="2000" b="0" dirty="0">
                <a:latin typeface="Arial" panose="020B0604020202020204" pitchFamily="34" charset="0"/>
              </a:rPr>
              <a:t>均衡数量</a:t>
            </a:r>
            <a:r>
              <a:rPr lang="en-US" altLang="zh-CN" sz="2000" b="0" dirty="0">
                <a:latin typeface="Arial" panose="020B0604020202020204" pitchFamily="34" charset="0"/>
              </a:rPr>
              <a:t> </a:t>
            </a:r>
            <a:r>
              <a:rPr lang="zh-CN" altLang="ja-JP" sz="2000" b="0" dirty="0">
                <a:latin typeface="Arial" panose="020B0604020202020204" pitchFamily="34" charset="0"/>
              </a:rPr>
              <a:t>= </a:t>
            </a:r>
            <a:r>
              <a:rPr lang="zh-CN" altLang="ja-JP" sz="2000" b="0" i="1" dirty="0">
                <a:latin typeface="Arial" panose="020B0604020202020204" pitchFamily="34" charset="0"/>
              </a:rPr>
              <a:t>Q</a:t>
            </a:r>
            <a:r>
              <a:rPr lang="zh-CN" altLang="ja-JP" sz="2000" b="0" i="1" baseline="-25000" dirty="0">
                <a:latin typeface="Arial" panose="020B0604020202020204" pitchFamily="34" charset="0"/>
              </a:rPr>
              <a:t>T </a:t>
            </a:r>
            <a:endParaRPr lang="en-US" altLang="zh-CN" sz="2000" b="0" dirty="0">
              <a:latin typeface="Arial" panose="020B0604020202020204" pitchFamily="34" charset="0"/>
            </a:endParaRPr>
          </a:p>
          <a:p>
            <a:pPr eaLnBrk="1" hangingPunct="1">
              <a:lnSpc>
                <a:spcPct val="105000"/>
              </a:lnSpc>
              <a:spcBef>
                <a:spcPct val="45000"/>
              </a:spcBef>
              <a:buClr>
                <a:srgbClr val="00B85C"/>
              </a:buClr>
              <a:buSzPct val="120000"/>
              <a:buFontTx/>
              <a:buNone/>
            </a:pPr>
            <a:endParaRPr lang="en-US" altLang="zh-CN" sz="2400" b="0" dirty="0">
              <a:latin typeface="Arial" panose="020B0604020202020204" pitchFamily="34" charset="0"/>
            </a:endParaRPr>
          </a:p>
          <a:p>
            <a:pPr eaLnBrk="1" hangingPunct="1">
              <a:lnSpc>
                <a:spcPct val="105000"/>
              </a:lnSpc>
              <a:spcBef>
                <a:spcPct val="45000"/>
              </a:spcBef>
              <a:buClr>
                <a:srgbClr val="00B85C"/>
              </a:buClr>
              <a:buSzPct val="120000"/>
              <a:buFontTx/>
              <a:buNone/>
            </a:pPr>
            <a:endParaRPr lang="en-US" altLang="zh-CN" sz="2000" b="0" dirty="0">
              <a:latin typeface="Arial" panose="020B0604020202020204" pitchFamily="34" charset="0"/>
            </a:endParaRPr>
          </a:p>
          <a:p>
            <a:pPr eaLnBrk="1" hangingPunct="1">
              <a:lnSpc>
                <a:spcPct val="105000"/>
              </a:lnSpc>
              <a:spcBef>
                <a:spcPct val="45000"/>
              </a:spcBef>
              <a:buClr>
                <a:srgbClr val="00B85C"/>
              </a:buClr>
              <a:buSzPct val="120000"/>
              <a:buFont typeface="Wingdings" panose="05000000000000000000" pitchFamily="2" charset="2"/>
              <a:buNone/>
            </a:pPr>
            <a:endParaRPr lang="en-US" altLang="zh-CN" sz="2000" b="0" dirty="0">
              <a:latin typeface="Arial" panose="020B0604020202020204" pitchFamily="34" charset="0"/>
            </a:endParaRPr>
          </a:p>
          <a:p>
            <a:pPr eaLnBrk="1" hangingPunct="1">
              <a:lnSpc>
                <a:spcPct val="105000"/>
              </a:lnSpc>
              <a:spcBef>
                <a:spcPct val="45000"/>
              </a:spcBef>
              <a:buClr>
                <a:srgbClr val="00B85C"/>
              </a:buClr>
              <a:buSzPct val="120000"/>
              <a:buFont typeface="Wingdings" panose="05000000000000000000" pitchFamily="2" charset="2"/>
              <a:buNone/>
            </a:pPr>
            <a:endParaRPr lang="en-US" altLang="zh-CN" sz="2000" b="0" dirty="0">
              <a:latin typeface="Arial" panose="020B0604020202020204" pitchFamily="34" charset="0"/>
            </a:endParaRPr>
          </a:p>
          <a:p>
            <a:pPr eaLnBrk="1" hangingPunct="1">
              <a:lnSpc>
                <a:spcPct val="105000"/>
              </a:lnSpc>
              <a:spcBef>
                <a:spcPct val="45000"/>
              </a:spcBef>
              <a:buClr>
                <a:srgbClr val="00B85C"/>
              </a:buClr>
              <a:buSzPct val="120000"/>
              <a:buFont typeface="Wingdings" panose="05000000000000000000" pitchFamily="2" charset="2"/>
              <a:buNone/>
            </a:pPr>
            <a:endParaRPr lang="en-US" altLang="zh-CN" sz="2000" b="0" dirty="0">
              <a:latin typeface="Arial" panose="020B0604020202020204" pitchFamily="34" charset="0"/>
            </a:endParaRPr>
          </a:p>
        </p:txBody>
      </p:sp>
      <p:sp>
        <p:nvSpPr>
          <p:cNvPr id="12324" name="Rectangle 36">
            <a:extLst>
              <a:ext uri="{FF2B5EF4-FFF2-40B4-BE49-F238E27FC236}">
                <a16:creationId xmlns:a16="http://schemas.microsoft.com/office/drawing/2014/main" id="{7E697640-F244-47C0-856F-04945D289496}"/>
              </a:ext>
            </a:extLst>
          </p:cNvPr>
          <p:cNvSpPr>
            <a:spLocks noChangeArrowheads="1"/>
          </p:cNvSpPr>
          <p:nvPr/>
        </p:nvSpPr>
        <p:spPr bwMode="auto">
          <a:xfrm>
            <a:off x="542925" y="4232275"/>
            <a:ext cx="277653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45000"/>
              </a:spcBef>
              <a:buClr>
                <a:srgbClr val="00B85C"/>
              </a:buClr>
              <a:buSzPct val="120000"/>
              <a:buFont typeface="Wingdings" panose="05000000000000000000" pitchFamily="2" charset="2"/>
              <a:buNone/>
            </a:pPr>
            <a:endParaRPr lang="en-US" altLang="zh-CN" sz="2600" b="0">
              <a:latin typeface="Arial" panose="020B0604020202020204" pitchFamily="34" charset="0"/>
            </a:endParaRPr>
          </a:p>
        </p:txBody>
      </p:sp>
      <p:grpSp>
        <p:nvGrpSpPr>
          <p:cNvPr id="12" name="Group 37">
            <a:extLst>
              <a:ext uri="{FF2B5EF4-FFF2-40B4-BE49-F238E27FC236}">
                <a16:creationId xmlns:a16="http://schemas.microsoft.com/office/drawing/2014/main" id="{9D7AAD9C-6C6D-4955-856D-3A9045F7CC53}"/>
              </a:ext>
            </a:extLst>
          </p:cNvPr>
          <p:cNvGrpSpPr>
            <a:grpSpLocks/>
          </p:cNvGrpSpPr>
          <p:nvPr/>
        </p:nvGrpSpPr>
        <p:grpSpPr bwMode="auto">
          <a:xfrm>
            <a:off x="5992813" y="1738313"/>
            <a:ext cx="2659062" cy="2309812"/>
            <a:chOff x="0" y="0"/>
            <a:chExt cx="1477" cy="1313"/>
          </a:xfrm>
        </p:grpSpPr>
        <p:sp>
          <p:nvSpPr>
            <p:cNvPr id="172045" name="AutoShape 38">
              <a:extLst>
                <a:ext uri="{FF2B5EF4-FFF2-40B4-BE49-F238E27FC236}">
                  <a16:creationId xmlns:a16="http://schemas.microsoft.com/office/drawing/2014/main" id="{C8A1AB9D-76D0-46E2-969E-F1D1FB7CB4DF}"/>
                </a:ext>
              </a:extLst>
            </p:cNvPr>
            <p:cNvSpPr>
              <a:spLocks/>
            </p:cNvSpPr>
            <p:nvPr/>
          </p:nvSpPr>
          <p:spPr bwMode="auto">
            <a:xfrm rot="10800000">
              <a:off x="155" y="533"/>
              <a:ext cx="129" cy="780"/>
            </a:xfrm>
            <a:prstGeom prst="leftBrace">
              <a:avLst>
                <a:gd name="adj1" fmla="val 50388"/>
                <a:gd name="adj2" fmla="val 6153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72046" name="Text Box 39">
              <a:extLst>
                <a:ext uri="{FF2B5EF4-FFF2-40B4-BE49-F238E27FC236}">
                  <a16:creationId xmlns:a16="http://schemas.microsoft.com/office/drawing/2014/main" id="{6944BE2F-868D-4409-A4F8-26B39775D77A}"/>
                </a:ext>
              </a:extLst>
            </p:cNvPr>
            <p:cNvSpPr txBox="1">
              <a:spLocks noChangeArrowheads="1"/>
            </p:cNvSpPr>
            <p:nvPr/>
          </p:nvSpPr>
          <p:spPr bwMode="auto">
            <a:xfrm>
              <a:off x="0" y="0"/>
              <a:ext cx="1477"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600" b="0">
                  <a:latin typeface="Arial" panose="020B0604020202020204" pitchFamily="34" charset="0"/>
                </a:rPr>
                <a:t>税收规模</a:t>
              </a:r>
              <a:r>
                <a:rPr lang="en-US" altLang="zh-CN" sz="2600" b="0">
                  <a:latin typeface="Arial" panose="020B0604020202020204" pitchFamily="34" charset="0"/>
                </a:rPr>
                <a:t> </a:t>
              </a:r>
              <a:r>
                <a:rPr lang="zh-CN" altLang="ja-JP" sz="2600" b="0">
                  <a:latin typeface="Arial" panose="020B0604020202020204" pitchFamily="34" charset="0"/>
                </a:rPr>
                <a:t>= $</a:t>
              </a:r>
              <a:r>
                <a:rPr lang="zh-CN" altLang="ja-JP" sz="2600" b="0" i="1">
                  <a:latin typeface="Arial" panose="020B0604020202020204" pitchFamily="34" charset="0"/>
                </a:rPr>
                <a:t>T</a:t>
              </a:r>
              <a:endParaRPr lang="en-US" altLang="zh-CN" sz="2600" b="0" i="1">
                <a:latin typeface="Arial" panose="020B0604020202020204" pitchFamily="34" charset="0"/>
              </a:endParaRPr>
            </a:p>
          </p:txBody>
        </p:sp>
        <p:sp>
          <p:nvSpPr>
            <p:cNvPr id="172047" name="Line 40">
              <a:extLst>
                <a:ext uri="{FF2B5EF4-FFF2-40B4-BE49-F238E27FC236}">
                  <a16:creationId xmlns:a16="http://schemas.microsoft.com/office/drawing/2014/main" id="{77CDD772-94BE-4764-82D9-B3BE1838F433}"/>
                </a:ext>
              </a:extLst>
            </p:cNvPr>
            <p:cNvSpPr>
              <a:spLocks noChangeShapeType="1"/>
            </p:cNvSpPr>
            <p:nvPr/>
          </p:nvSpPr>
          <p:spPr bwMode="auto">
            <a:xfrm flipV="1">
              <a:off x="305" y="263"/>
              <a:ext cx="462" cy="5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2044" name="Title 1">
            <a:extLst>
              <a:ext uri="{FF2B5EF4-FFF2-40B4-BE49-F238E27FC236}">
                <a16:creationId xmlns:a16="http://schemas.microsoft.com/office/drawing/2014/main" id="{59959BE0-2ABF-4EF8-81A1-B0A7C0DC0801}"/>
              </a:ext>
            </a:extLst>
          </p:cNvPr>
          <p:cNvSpPr txBox="1">
            <a:spLocks/>
          </p:cNvSpPr>
          <p:nvPr/>
        </p:nvSpPr>
        <p:spPr bwMode="auto">
          <a:xfrm>
            <a:off x="2051824" y="173038"/>
            <a:ext cx="6552453" cy="966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spcBef>
                <a:spcPct val="0"/>
              </a:spcBef>
              <a:buClrTx/>
              <a:buFontTx/>
              <a:buNone/>
            </a:pPr>
            <a:r>
              <a:rPr lang="zh-CN" altLang="en-US" sz="3200" b="0" dirty="0">
                <a:solidFill>
                  <a:srgbClr val="C00000"/>
                </a:solidFill>
                <a:latin typeface="Arial" panose="020B0604020202020204" pitchFamily="34" charset="0"/>
              </a:rPr>
              <a:t>社会总剩余分析的应用之二：税收对社会福利的影响</a:t>
            </a:r>
          </a:p>
        </p:txBody>
      </p:sp>
      <p:sp>
        <p:nvSpPr>
          <p:cNvPr id="3" name="标注: 线形 2">
            <a:extLst>
              <a:ext uri="{FF2B5EF4-FFF2-40B4-BE49-F238E27FC236}">
                <a16:creationId xmlns:a16="http://schemas.microsoft.com/office/drawing/2014/main" id="{CA92A63F-D3F6-477C-8C1B-02164A724308}"/>
              </a:ext>
            </a:extLst>
          </p:cNvPr>
          <p:cNvSpPr/>
          <p:nvPr/>
        </p:nvSpPr>
        <p:spPr bwMode="auto">
          <a:xfrm>
            <a:off x="971749" y="4769159"/>
            <a:ext cx="1800115" cy="1540042"/>
          </a:xfrm>
          <a:prstGeom prst="borderCallout1">
            <a:avLst>
              <a:gd name="adj1" fmla="val -6387"/>
              <a:gd name="adj2" fmla="val 49562"/>
              <a:gd name="adj3" fmla="val -32768"/>
              <a:gd name="adj4" fmla="val 7693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a:t>政府对许多物品与劳务征税是为了给国防，公立学校等这类公共项目筹资</a:t>
            </a:r>
            <a:endParaRPr lang="zh-CN" alt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07"/>
                                        </p:tgtEl>
                                        <p:attrNameLst>
                                          <p:attrName>style.visibility</p:attrName>
                                        </p:attrNameLst>
                                      </p:cBhvr>
                                      <p:to>
                                        <p:strVal val="visible"/>
                                      </p:to>
                                    </p:set>
                                    <p:animEffect transition="in" filter="wipe(left)">
                                      <p:cBhvr>
                                        <p:cTn id="7" dur="500"/>
                                        <p:tgtEl>
                                          <p:spTgt spid="12307"/>
                                        </p:tgtEl>
                                      </p:cBhvr>
                                    </p:animEffect>
                                  </p:childTnLst>
                                </p:cTn>
                              </p:par>
                            </p:childTnLst>
                          </p:cTn>
                        </p:par>
                        <p:par>
                          <p:cTn id="8" fill="hold" nodeType="after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Right)">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321"/>
                                        </p:tgtEl>
                                        <p:attrNameLst>
                                          <p:attrName>style.visibility</p:attrName>
                                        </p:attrNameLst>
                                      </p:cBhvr>
                                      <p:to>
                                        <p:strVal val="visible"/>
                                      </p:to>
                                    </p:set>
                                    <p:animEffect transition="in" filter="wipe(left)">
                                      <p:cBhvr>
                                        <p:cTn id="16" dur="500"/>
                                        <p:tgtEl>
                                          <p:spTgt spid="12321"/>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12308"/>
                                        </p:tgtEl>
                                        <p:attrNameLst>
                                          <p:attrName>style.visibility</p:attrName>
                                        </p:attrNameLst>
                                      </p:cBhvr>
                                      <p:to>
                                        <p:strVal val="visible"/>
                                      </p:to>
                                    </p:set>
                                    <p:animEffect transition="in" filter="wipe(up)">
                                      <p:cBhvr>
                                        <p:cTn id="20" dur="500"/>
                                        <p:tgtEl>
                                          <p:spTgt spid="12308"/>
                                        </p:tgtEl>
                                      </p:cBhvr>
                                    </p:animEffect>
                                  </p:childTnLst>
                                </p:cTn>
                              </p:par>
                            </p:childTnLst>
                          </p:cTn>
                        </p:par>
                        <p:par>
                          <p:cTn id="21" fill="hold" nodeType="afterGroup">
                            <p:stCondLst>
                              <p:cond delay="1000"/>
                            </p:stCondLst>
                            <p:childTnLst>
                              <p:par>
                                <p:cTn id="22" presetID="18" presetClass="entr" presetSubtype="12"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strips(downLeft)">
                                      <p:cBhvr>
                                        <p:cTn id="24" dur="500"/>
                                        <p:tgtEl>
                                          <p:spTgt spid="1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nodePh="1">
                                  <p:stCondLst>
                                    <p:cond delay="0"/>
                                  </p:stCondLst>
                                  <p:endCondLst>
                                    <p:cond evt="begin" delay="0">
                                      <p:tn val="27"/>
                                    </p:cond>
                                  </p:endCondLst>
                                  <p:childTnLst>
                                    <p:set>
                                      <p:cBhvr>
                                        <p:cTn id="28" dur="1" fill="hold">
                                          <p:stCondLst>
                                            <p:cond delay="0"/>
                                          </p:stCondLst>
                                        </p:cTn>
                                        <p:tgtEl>
                                          <p:spTgt spid="12324"/>
                                        </p:tgtEl>
                                        <p:attrNameLst>
                                          <p:attrName>style.visibility</p:attrName>
                                        </p:attrNameLst>
                                      </p:cBhvr>
                                      <p:to>
                                        <p:strVal val="visible"/>
                                      </p:to>
                                    </p:set>
                                    <p:animEffect transition="in" filter="wipe(left)">
                                      <p:cBhvr>
                                        <p:cTn id="29" dur="500"/>
                                        <p:tgtEl>
                                          <p:spTgt spid="12324"/>
                                        </p:tgtEl>
                                      </p:cBhvr>
                                    </p:animEffect>
                                  </p:childTnLst>
                                </p:cTn>
                              </p:par>
                            </p:childTnLst>
                          </p:cTn>
                        </p:par>
                        <p:par>
                          <p:cTn id="30" fill="hold" nodeType="afterGroup">
                            <p:stCondLst>
                              <p:cond delay="500"/>
                            </p:stCondLst>
                            <p:childTnLst>
                              <p:par>
                                <p:cTn id="31" presetID="22" presetClass="entr" presetSubtype="2"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right)">
                                      <p:cBhvr>
                                        <p:cTn id="33" dur="500"/>
                                        <p:tgtEl>
                                          <p:spTgt spid="9"/>
                                        </p:tgtEl>
                                      </p:cBhvr>
                                    </p:animEffect>
                                  </p:childTnLst>
                                </p:cTn>
                              </p:par>
                            </p:childTnLst>
                          </p:cTn>
                        </p:par>
                        <p:par>
                          <p:cTn id="34" fill="hold" nodeType="afterGroup">
                            <p:stCondLst>
                              <p:cond delay="1000"/>
                            </p:stCondLst>
                            <p:childTnLst>
                              <p:par>
                                <p:cTn id="35" presetID="22" presetClass="entr" presetSubtype="2"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right)">
                                      <p:cBhvr>
                                        <p:cTn id="37" dur="500"/>
                                        <p:tgtEl>
                                          <p:spTgt spid="8"/>
                                        </p:tgtEl>
                                      </p:cBhvr>
                                    </p:animEffect>
                                  </p:childTnLst>
                                </p:cTn>
                              </p:par>
                            </p:childTnLst>
                          </p:cTn>
                        </p:par>
                        <p:par>
                          <p:cTn id="38" fill="hold" nodeType="afterGroup">
                            <p:stCondLst>
                              <p:cond delay="1500"/>
                            </p:stCondLst>
                            <p:childTnLst>
                              <p:par>
                                <p:cTn id="39" presetID="22" presetClass="entr" presetSubtype="1" fill="hold"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up)">
                                      <p:cBhvr>
                                        <p:cTn id="4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7" grpId="0" autoUpdateAnimBg="0"/>
      <p:bldP spid="12321" grpId="0" autoUpdateAnimBg="0"/>
      <p:bldP spid="12324"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Line 2">
            <a:extLst>
              <a:ext uri="{FF2B5EF4-FFF2-40B4-BE49-F238E27FC236}">
                <a16:creationId xmlns:a16="http://schemas.microsoft.com/office/drawing/2014/main" id="{DB64E61B-DCB1-4734-9128-1C3183241064}"/>
              </a:ext>
            </a:extLst>
          </p:cNvPr>
          <p:cNvSpPr>
            <a:spLocks noChangeShapeType="1"/>
          </p:cNvSpPr>
          <p:nvPr/>
        </p:nvSpPr>
        <p:spPr bwMode="auto">
          <a:xfrm>
            <a:off x="6181725" y="2805113"/>
            <a:ext cx="0" cy="27479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5" name="Rectangle 3">
            <a:extLst>
              <a:ext uri="{FF2B5EF4-FFF2-40B4-BE49-F238E27FC236}">
                <a16:creationId xmlns:a16="http://schemas.microsoft.com/office/drawing/2014/main" id="{B10BD295-8BA9-4BE0-9540-2CB490E36727}"/>
              </a:ext>
            </a:extLst>
          </p:cNvPr>
          <p:cNvSpPr>
            <a:spLocks noChangeArrowheads="1"/>
          </p:cNvSpPr>
          <p:nvPr/>
        </p:nvSpPr>
        <p:spPr bwMode="auto">
          <a:xfrm>
            <a:off x="4262438" y="2811463"/>
            <a:ext cx="1911350" cy="124618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nvGrpSpPr>
          <p:cNvPr id="173060" name="Group 5">
            <a:extLst>
              <a:ext uri="{FF2B5EF4-FFF2-40B4-BE49-F238E27FC236}">
                <a16:creationId xmlns:a16="http://schemas.microsoft.com/office/drawing/2014/main" id="{FAD77915-FC1F-4D4C-9204-8503B58B8371}"/>
              </a:ext>
            </a:extLst>
          </p:cNvPr>
          <p:cNvGrpSpPr>
            <a:grpSpLocks/>
          </p:cNvGrpSpPr>
          <p:nvPr/>
        </p:nvGrpSpPr>
        <p:grpSpPr bwMode="auto">
          <a:xfrm>
            <a:off x="4068763" y="927100"/>
            <a:ext cx="4305300" cy="4824413"/>
            <a:chOff x="0" y="0"/>
            <a:chExt cx="2712" cy="2666"/>
          </a:xfrm>
        </p:grpSpPr>
        <p:grpSp>
          <p:nvGrpSpPr>
            <p:cNvPr id="173084" name="Group 6">
              <a:extLst>
                <a:ext uri="{FF2B5EF4-FFF2-40B4-BE49-F238E27FC236}">
                  <a16:creationId xmlns:a16="http://schemas.microsoft.com/office/drawing/2014/main" id="{993E738C-9326-4105-96C4-612F8E805CCA}"/>
                </a:ext>
              </a:extLst>
            </p:cNvPr>
            <p:cNvGrpSpPr>
              <a:grpSpLocks/>
            </p:cNvGrpSpPr>
            <p:nvPr/>
          </p:nvGrpSpPr>
          <p:grpSpPr bwMode="auto">
            <a:xfrm>
              <a:off x="119" y="225"/>
              <a:ext cx="2382" cy="2331"/>
              <a:chOff x="0" y="0"/>
              <a:chExt cx="2400" cy="2079"/>
            </a:xfrm>
          </p:grpSpPr>
          <p:sp>
            <p:nvSpPr>
              <p:cNvPr id="173087" name="Line 7">
                <a:extLst>
                  <a:ext uri="{FF2B5EF4-FFF2-40B4-BE49-F238E27FC236}">
                    <a16:creationId xmlns:a16="http://schemas.microsoft.com/office/drawing/2014/main" id="{6F5D781A-27FF-4D6B-9E1F-DB7A2C682648}"/>
                  </a:ext>
                </a:extLst>
              </p:cNvPr>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088" name="Line 8">
                <a:extLst>
                  <a:ext uri="{FF2B5EF4-FFF2-40B4-BE49-F238E27FC236}">
                    <a16:creationId xmlns:a16="http://schemas.microsoft.com/office/drawing/2014/main" id="{A9B02524-8FF2-4BE1-BB9A-8D22E1431C36}"/>
                  </a:ext>
                </a:extLst>
              </p:cNvPr>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3085" name="Text Box 9">
              <a:extLst>
                <a:ext uri="{FF2B5EF4-FFF2-40B4-BE49-F238E27FC236}">
                  <a16:creationId xmlns:a16="http://schemas.microsoft.com/office/drawing/2014/main" id="{E2D558B5-DA1E-4101-9BB0-226D954E394B}"/>
                </a:ext>
              </a:extLst>
            </p:cNvPr>
            <p:cNvSpPr txBox="1">
              <a:spLocks noChangeArrowheads="1"/>
            </p:cNvSpPr>
            <p:nvPr/>
          </p:nvSpPr>
          <p:spPr bwMode="auto">
            <a:xfrm>
              <a:off x="0" y="0"/>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p>
          </p:txBody>
        </p:sp>
        <p:sp>
          <p:nvSpPr>
            <p:cNvPr id="173086" name="Text Box 10">
              <a:extLst>
                <a:ext uri="{FF2B5EF4-FFF2-40B4-BE49-F238E27FC236}">
                  <a16:creationId xmlns:a16="http://schemas.microsoft.com/office/drawing/2014/main" id="{12D67D3B-1692-4ADA-B531-60D61359DB02}"/>
                </a:ext>
              </a:extLst>
            </p:cNvPr>
            <p:cNvSpPr txBox="1">
              <a:spLocks noChangeArrowheads="1"/>
            </p:cNvSpPr>
            <p:nvPr/>
          </p:nvSpPr>
          <p:spPr bwMode="auto">
            <a:xfrm>
              <a:off x="2479" y="2421"/>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p>
          </p:txBody>
        </p:sp>
      </p:grpSp>
      <p:sp>
        <p:nvSpPr>
          <p:cNvPr id="173061" name="Text Box 11">
            <a:extLst>
              <a:ext uri="{FF2B5EF4-FFF2-40B4-BE49-F238E27FC236}">
                <a16:creationId xmlns:a16="http://schemas.microsoft.com/office/drawing/2014/main" id="{F03EDE05-108A-43B0-AEEE-58587FE16455}"/>
              </a:ext>
            </a:extLst>
          </p:cNvPr>
          <p:cNvSpPr txBox="1">
            <a:spLocks noChangeArrowheads="1"/>
          </p:cNvSpPr>
          <p:nvPr/>
        </p:nvSpPr>
        <p:spPr bwMode="auto">
          <a:xfrm>
            <a:off x="7851775" y="3854450"/>
            <a:ext cx="3698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D</a:t>
            </a:r>
          </a:p>
        </p:txBody>
      </p:sp>
      <p:sp>
        <p:nvSpPr>
          <p:cNvPr id="173062" name="Line 12">
            <a:extLst>
              <a:ext uri="{FF2B5EF4-FFF2-40B4-BE49-F238E27FC236}">
                <a16:creationId xmlns:a16="http://schemas.microsoft.com/office/drawing/2014/main" id="{02273105-6C87-488A-8777-2C17CB42B511}"/>
              </a:ext>
            </a:extLst>
          </p:cNvPr>
          <p:cNvSpPr>
            <a:spLocks noChangeShapeType="1"/>
          </p:cNvSpPr>
          <p:nvPr/>
        </p:nvSpPr>
        <p:spPr bwMode="auto">
          <a:xfrm>
            <a:off x="4260850" y="1485900"/>
            <a:ext cx="3659188" cy="2522538"/>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063" name="Text Box 13">
            <a:extLst>
              <a:ext uri="{FF2B5EF4-FFF2-40B4-BE49-F238E27FC236}">
                <a16:creationId xmlns:a16="http://schemas.microsoft.com/office/drawing/2014/main" id="{DF0B0BE3-4C0E-4156-BCC7-B9E0C4881255}"/>
              </a:ext>
            </a:extLst>
          </p:cNvPr>
          <p:cNvSpPr txBox="1">
            <a:spLocks noChangeArrowheads="1"/>
          </p:cNvSpPr>
          <p:nvPr/>
        </p:nvSpPr>
        <p:spPr bwMode="auto">
          <a:xfrm>
            <a:off x="7834313" y="2441575"/>
            <a:ext cx="369887"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S</a:t>
            </a:r>
          </a:p>
        </p:txBody>
      </p:sp>
      <p:sp>
        <p:nvSpPr>
          <p:cNvPr id="173064" name="Line 14">
            <a:extLst>
              <a:ext uri="{FF2B5EF4-FFF2-40B4-BE49-F238E27FC236}">
                <a16:creationId xmlns:a16="http://schemas.microsoft.com/office/drawing/2014/main" id="{65E2F174-1539-4BB7-86FC-AD12CA6DAB3B}"/>
              </a:ext>
            </a:extLst>
          </p:cNvPr>
          <p:cNvSpPr>
            <a:spLocks noChangeShapeType="1"/>
          </p:cNvSpPr>
          <p:nvPr/>
        </p:nvSpPr>
        <p:spPr bwMode="auto">
          <a:xfrm flipV="1">
            <a:off x="4257675" y="2749550"/>
            <a:ext cx="3622675" cy="2805113"/>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7" name="Rectangle 15">
            <a:extLst>
              <a:ext uri="{FF2B5EF4-FFF2-40B4-BE49-F238E27FC236}">
                <a16:creationId xmlns:a16="http://schemas.microsoft.com/office/drawing/2014/main" id="{18D39BB9-BF2D-4DA1-A7B3-3A9394C3C7A4}"/>
              </a:ext>
            </a:extLst>
          </p:cNvPr>
          <p:cNvSpPr>
            <a:spLocks noChangeArrowheads="1"/>
          </p:cNvSpPr>
          <p:nvPr/>
        </p:nvSpPr>
        <p:spPr bwMode="auto">
          <a:xfrm>
            <a:off x="838200" y="2879725"/>
            <a:ext cx="25654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45000"/>
              </a:spcBef>
              <a:buClr>
                <a:srgbClr val="00B85C"/>
              </a:buClr>
              <a:buSzPct val="120000"/>
              <a:buFont typeface="Wingdings" panose="05000000000000000000" pitchFamily="2" charset="2"/>
              <a:buNone/>
            </a:pPr>
            <a:r>
              <a:rPr lang="zh-CN" altLang="en-US" b="0">
                <a:latin typeface="Arial" panose="020B0604020202020204" pitchFamily="34" charset="0"/>
              </a:rPr>
              <a:t>税收收入：</a:t>
            </a:r>
            <a:endParaRPr lang="en-US" altLang="zh-CN" b="0">
              <a:latin typeface="Arial" panose="020B0604020202020204" pitchFamily="34" charset="0"/>
            </a:endParaRPr>
          </a:p>
          <a:p>
            <a:pPr eaLnBrk="1" hangingPunct="1">
              <a:lnSpc>
                <a:spcPct val="105000"/>
              </a:lnSpc>
              <a:spcBef>
                <a:spcPct val="45000"/>
              </a:spcBef>
              <a:buClr>
                <a:srgbClr val="00B85C"/>
              </a:buClr>
              <a:buSzPct val="120000"/>
              <a:buFont typeface="Wingdings" panose="05000000000000000000" pitchFamily="2" charset="2"/>
              <a:buNone/>
            </a:pPr>
            <a:r>
              <a:rPr lang="zh-CN" altLang="ja-JP" sz="2600" b="0">
                <a:latin typeface="Arial" panose="020B0604020202020204" pitchFamily="34" charset="0"/>
              </a:rPr>
              <a:t>$</a:t>
            </a:r>
            <a:r>
              <a:rPr lang="zh-CN" altLang="ja-JP" sz="2300" b="0" i="1">
                <a:latin typeface="Arial" panose="020B0604020202020204" pitchFamily="34" charset="0"/>
              </a:rPr>
              <a:t>T</a:t>
            </a:r>
            <a:r>
              <a:rPr lang="zh-CN" altLang="ja-JP" sz="2600" b="0">
                <a:latin typeface="Arial" panose="020B0604020202020204" pitchFamily="34" charset="0"/>
              </a:rPr>
              <a:t> x </a:t>
            </a:r>
            <a:r>
              <a:rPr lang="zh-CN" altLang="ja-JP" sz="2300" b="0" i="1">
                <a:latin typeface="Arial" panose="020B0604020202020204" pitchFamily="34" charset="0"/>
              </a:rPr>
              <a:t>Q</a:t>
            </a:r>
            <a:r>
              <a:rPr lang="zh-CN" altLang="ja-JP" sz="2300" b="0" i="1" baseline="-25000">
                <a:latin typeface="Arial" panose="020B0604020202020204" pitchFamily="34" charset="0"/>
              </a:rPr>
              <a:t>T </a:t>
            </a:r>
            <a:endParaRPr lang="en-US" altLang="zh-CN" sz="2600" b="0">
              <a:latin typeface="Arial" panose="020B0604020202020204" pitchFamily="34" charset="0"/>
            </a:endParaRPr>
          </a:p>
        </p:txBody>
      </p:sp>
      <p:grpSp>
        <p:nvGrpSpPr>
          <p:cNvPr id="173066" name="Group 16">
            <a:extLst>
              <a:ext uri="{FF2B5EF4-FFF2-40B4-BE49-F238E27FC236}">
                <a16:creationId xmlns:a16="http://schemas.microsoft.com/office/drawing/2014/main" id="{C33F5CF0-A74D-454A-82FA-841277CB9259}"/>
              </a:ext>
            </a:extLst>
          </p:cNvPr>
          <p:cNvGrpSpPr>
            <a:grpSpLocks/>
          </p:cNvGrpSpPr>
          <p:nvPr/>
        </p:nvGrpSpPr>
        <p:grpSpPr bwMode="auto">
          <a:xfrm>
            <a:off x="3727450" y="3836988"/>
            <a:ext cx="2449513" cy="442912"/>
            <a:chOff x="0" y="0"/>
            <a:chExt cx="1543" cy="279"/>
          </a:xfrm>
        </p:grpSpPr>
        <p:sp>
          <p:nvSpPr>
            <p:cNvPr id="173082" name="Text Box 17">
              <a:extLst>
                <a:ext uri="{FF2B5EF4-FFF2-40B4-BE49-F238E27FC236}">
                  <a16:creationId xmlns:a16="http://schemas.microsoft.com/office/drawing/2014/main" id="{94E718F7-BCF0-45A0-83D9-E8BF39CD2102}"/>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S</a:t>
              </a:r>
            </a:p>
          </p:txBody>
        </p:sp>
        <p:sp>
          <p:nvSpPr>
            <p:cNvPr id="173083" name="Line 18">
              <a:extLst>
                <a:ext uri="{FF2B5EF4-FFF2-40B4-BE49-F238E27FC236}">
                  <a16:creationId xmlns:a16="http://schemas.microsoft.com/office/drawing/2014/main" id="{A68E25FD-3D23-4DFB-846F-B1C5AAAC5CEB}"/>
                </a:ext>
              </a:extLst>
            </p:cNvPr>
            <p:cNvSpPr>
              <a:spLocks noChangeShapeType="1"/>
            </p:cNvSpPr>
            <p:nvPr/>
          </p:nvSpPr>
          <p:spPr bwMode="auto">
            <a:xfrm flipH="1">
              <a:off x="334" y="139"/>
              <a:ext cx="120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3067" name="Group 19">
            <a:extLst>
              <a:ext uri="{FF2B5EF4-FFF2-40B4-BE49-F238E27FC236}">
                <a16:creationId xmlns:a16="http://schemas.microsoft.com/office/drawing/2014/main" id="{9588F1CB-0D44-4585-9F69-AD48BA79EB1E}"/>
              </a:ext>
            </a:extLst>
          </p:cNvPr>
          <p:cNvGrpSpPr>
            <a:grpSpLocks/>
          </p:cNvGrpSpPr>
          <p:nvPr/>
        </p:nvGrpSpPr>
        <p:grpSpPr bwMode="auto">
          <a:xfrm>
            <a:off x="3722688" y="2584450"/>
            <a:ext cx="2454275" cy="442913"/>
            <a:chOff x="0" y="0"/>
            <a:chExt cx="1546" cy="279"/>
          </a:xfrm>
        </p:grpSpPr>
        <p:sp>
          <p:nvSpPr>
            <p:cNvPr id="173080" name="Text Box 20">
              <a:extLst>
                <a:ext uri="{FF2B5EF4-FFF2-40B4-BE49-F238E27FC236}">
                  <a16:creationId xmlns:a16="http://schemas.microsoft.com/office/drawing/2014/main" id="{54ACC0F6-8AB1-448C-9D9E-F38DE74568B8}"/>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B</a:t>
              </a:r>
            </a:p>
          </p:txBody>
        </p:sp>
        <p:sp>
          <p:nvSpPr>
            <p:cNvPr id="173081" name="Line 21">
              <a:extLst>
                <a:ext uri="{FF2B5EF4-FFF2-40B4-BE49-F238E27FC236}">
                  <a16:creationId xmlns:a16="http://schemas.microsoft.com/office/drawing/2014/main" id="{D142D718-F56D-4E30-BC10-27FB0A9DEE12}"/>
                </a:ext>
              </a:extLst>
            </p:cNvPr>
            <p:cNvSpPr>
              <a:spLocks noChangeShapeType="1"/>
            </p:cNvSpPr>
            <p:nvPr/>
          </p:nvSpPr>
          <p:spPr bwMode="auto">
            <a:xfrm flipH="1">
              <a:off x="337" y="142"/>
              <a:ext cx="120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3068" name="Text Box 22">
            <a:extLst>
              <a:ext uri="{FF2B5EF4-FFF2-40B4-BE49-F238E27FC236}">
                <a16:creationId xmlns:a16="http://schemas.microsoft.com/office/drawing/2014/main" id="{81F724AF-F2E2-4ED8-A065-03E904BD8F85}"/>
              </a:ext>
            </a:extLst>
          </p:cNvPr>
          <p:cNvSpPr txBox="1">
            <a:spLocks noChangeArrowheads="1"/>
          </p:cNvSpPr>
          <p:nvPr/>
        </p:nvSpPr>
        <p:spPr bwMode="auto">
          <a:xfrm>
            <a:off x="3727450" y="3170238"/>
            <a:ext cx="5318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E</a:t>
            </a:r>
          </a:p>
        </p:txBody>
      </p:sp>
      <p:grpSp>
        <p:nvGrpSpPr>
          <p:cNvPr id="173069" name="Group 23">
            <a:extLst>
              <a:ext uri="{FF2B5EF4-FFF2-40B4-BE49-F238E27FC236}">
                <a16:creationId xmlns:a16="http://schemas.microsoft.com/office/drawing/2014/main" id="{6B74242B-52D1-4DBD-97D9-DB8924264B65}"/>
              </a:ext>
            </a:extLst>
          </p:cNvPr>
          <p:cNvGrpSpPr>
            <a:grpSpLocks/>
          </p:cNvGrpSpPr>
          <p:nvPr/>
        </p:nvGrpSpPr>
        <p:grpSpPr bwMode="auto">
          <a:xfrm>
            <a:off x="4270375" y="3400425"/>
            <a:ext cx="2767013" cy="2149475"/>
            <a:chOff x="0" y="0"/>
            <a:chExt cx="795" cy="646"/>
          </a:xfrm>
        </p:grpSpPr>
        <p:sp>
          <p:nvSpPr>
            <p:cNvPr id="173078" name="Line 24">
              <a:extLst>
                <a:ext uri="{FF2B5EF4-FFF2-40B4-BE49-F238E27FC236}">
                  <a16:creationId xmlns:a16="http://schemas.microsoft.com/office/drawing/2014/main" id="{F65D4380-8E29-487A-A30F-A863A3413128}"/>
                </a:ext>
              </a:extLst>
            </p:cNvPr>
            <p:cNvSpPr>
              <a:spLocks noChangeShapeType="1"/>
            </p:cNvSpPr>
            <p:nvPr/>
          </p:nvSpPr>
          <p:spPr bwMode="auto">
            <a:xfrm>
              <a:off x="0" y="0"/>
              <a:ext cx="79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079" name="Line 25">
              <a:extLst>
                <a:ext uri="{FF2B5EF4-FFF2-40B4-BE49-F238E27FC236}">
                  <a16:creationId xmlns:a16="http://schemas.microsoft.com/office/drawing/2014/main" id="{0B79AEE9-6892-45B7-945F-4CFD00728ABE}"/>
                </a:ext>
              </a:extLst>
            </p:cNvPr>
            <p:cNvSpPr>
              <a:spLocks noChangeShapeType="1"/>
            </p:cNvSpPr>
            <p:nvPr/>
          </p:nvSpPr>
          <p:spPr bwMode="auto">
            <a:xfrm>
              <a:off x="795" y="1"/>
              <a:ext cx="0" cy="64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3070" name="Text Box 26">
            <a:extLst>
              <a:ext uri="{FF2B5EF4-FFF2-40B4-BE49-F238E27FC236}">
                <a16:creationId xmlns:a16="http://schemas.microsoft.com/office/drawing/2014/main" id="{2A4547D5-A5A5-4D45-92A3-4BF03C76C488}"/>
              </a:ext>
            </a:extLst>
          </p:cNvPr>
          <p:cNvSpPr txBox="1">
            <a:spLocks noChangeArrowheads="1"/>
          </p:cNvSpPr>
          <p:nvPr/>
        </p:nvSpPr>
        <p:spPr bwMode="auto">
          <a:xfrm>
            <a:off x="6737350" y="5551488"/>
            <a:ext cx="5889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E</a:t>
            </a:r>
          </a:p>
        </p:txBody>
      </p:sp>
      <p:sp>
        <p:nvSpPr>
          <p:cNvPr id="173071" name="Text Box 27">
            <a:extLst>
              <a:ext uri="{FF2B5EF4-FFF2-40B4-BE49-F238E27FC236}">
                <a16:creationId xmlns:a16="http://schemas.microsoft.com/office/drawing/2014/main" id="{65E5D713-2DC7-444A-9175-F1E04E75CD41}"/>
              </a:ext>
            </a:extLst>
          </p:cNvPr>
          <p:cNvSpPr txBox="1">
            <a:spLocks noChangeArrowheads="1"/>
          </p:cNvSpPr>
          <p:nvPr/>
        </p:nvSpPr>
        <p:spPr bwMode="auto">
          <a:xfrm>
            <a:off x="5880100" y="5551488"/>
            <a:ext cx="5889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T</a:t>
            </a:r>
          </a:p>
        </p:txBody>
      </p:sp>
      <p:grpSp>
        <p:nvGrpSpPr>
          <p:cNvPr id="173072" name="Group 28">
            <a:extLst>
              <a:ext uri="{FF2B5EF4-FFF2-40B4-BE49-F238E27FC236}">
                <a16:creationId xmlns:a16="http://schemas.microsoft.com/office/drawing/2014/main" id="{DF8469D3-1FEF-4E35-8F2D-BC8EECC9F02F}"/>
              </a:ext>
            </a:extLst>
          </p:cNvPr>
          <p:cNvGrpSpPr>
            <a:grpSpLocks/>
          </p:cNvGrpSpPr>
          <p:nvPr/>
        </p:nvGrpSpPr>
        <p:grpSpPr bwMode="auto">
          <a:xfrm>
            <a:off x="5992813" y="1738313"/>
            <a:ext cx="2570162" cy="2309812"/>
            <a:chOff x="0" y="0"/>
            <a:chExt cx="1477" cy="1313"/>
          </a:xfrm>
        </p:grpSpPr>
        <p:sp>
          <p:nvSpPr>
            <p:cNvPr id="173075" name="AutoShape 29">
              <a:extLst>
                <a:ext uri="{FF2B5EF4-FFF2-40B4-BE49-F238E27FC236}">
                  <a16:creationId xmlns:a16="http://schemas.microsoft.com/office/drawing/2014/main" id="{0F07A06C-D182-4BE6-A5B1-AB69D19B8A04}"/>
                </a:ext>
              </a:extLst>
            </p:cNvPr>
            <p:cNvSpPr>
              <a:spLocks/>
            </p:cNvSpPr>
            <p:nvPr/>
          </p:nvSpPr>
          <p:spPr bwMode="auto">
            <a:xfrm rot="10800000">
              <a:off x="155" y="533"/>
              <a:ext cx="129" cy="780"/>
            </a:xfrm>
            <a:prstGeom prst="leftBrace">
              <a:avLst>
                <a:gd name="adj1" fmla="val 50388"/>
                <a:gd name="adj2" fmla="val 6153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73076" name="Text Box 30">
              <a:extLst>
                <a:ext uri="{FF2B5EF4-FFF2-40B4-BE49-F238E27FC236}">
                  <a16:creationId xmlns:a16="http://schemas.microsoft.com/office/drawing/2014/main" id="{4676C5C3-3E02-4270-9014-94F6EE1F68F4}"/>
                </a:ext>
              </a:extLst>
            </p:cNvPr>
            <p:cNvSpPr txBox="1">
              <a:spLocks noChangeArrowheads="1"/>
            </p:cNvSpPr>
            <p:nvPr/>
          </p:nvSpPr>
          <p:spPr bwMode="auto">
            <a:xfrm>
              <a:off x="0" y="0"/>
              <a:ext cx="1477"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税收的规模</a:t>
              </a:r>
              <a:r>
                <a:rPr lang="en-US" altLang="zh-CN" sz="2400" b="0">
                  <a:latin typeface="Arial" panose="020B0604020202020204" pitchFamily="34" charset="0"/>
                </a:rPr>
                <a:t> </a:t>
              </a:r>
              <a:r>
                <a:rPr lang="zh-CN" altLang="ja-JP" sz="2400" b="0">
                  <a:latin typeface="Arial" panose="020B0604020202020204" pitchFamily="34" charset="0"/>
                </a:rPr>
                <a:t>= $</a:t>
              </a:r>
              <a:r>
                <a:rPr lang="zh-CN" altLang="ja-JP" sz="2400" b="0" i="1">
                  <a:latin typeface="Arial" panose="020B0604020202020204" pitchFamily="34" charset="0"/>
                </a:rPr>
                <a:t>T</a:t>
              </a:r>
              <a:endParaRPr lang="en-US" altLang="zh-CN" sz="2400" b="0" i="1">
                <a:latin typeface="Arial" panose="020B0604020202020204" pitchFamily="34" charset="0"/>
              </a:endParaRPr>
            </a:p>
          </p:txBody>
        </p:sp>
        <p:sp>
          <p:nvSpPr>
            <p:cNvPr id="173077" name="Line 31">
              <a:extLst>
                <a:ext uri="{FF2B5EF4-FFF2-40B4-BE49-F238E27FC236}">
                  <a16:creationId xmlns:a16="http://schemas.microsoft.com/office/drawing/2014/main" id="{BE794DB9-E94D-4F6D-BA49-148BCDAB76EF}"/>
                </a:ext>
              </a:extLst>
            </p:cNvPr>
            <p:cNvSpPr>
              <a:spLocks noChangeShapeType="1"/>
            </p:cNvSpPr>
            <p:nvPr/>
          </p:nvSpPr>
          <p:spPr bwMode="auto">
            <a:xfrm flipV="1">
              <a:off x="305" y="263"/>
              <a:ext cx="462" cy="5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3073" name="Line 32">
            <a:extLst>
              <a:ext uri="{FF2B5EF4-FFF2-40B4-BE49-F238E27FC236}">
                <a16:creationId xmlns:a16="http://schemas.microsoft.com/office/drawing/2014/main" id="{5ECFF8BB-0D4D-4CD3-8940-11CB6ADCBCB9}"/>
              </a:ext>
            </a:extLst>
          </p:cNvPr>
          <p:cNvSpPr>
            <a:spLocks noChangeShapeType="1"/>
          </p:cNvSpPr>
          <p:nvPr/>
        </p:nvSpPr>
        <p:spPr bwMode="auto">
          <a:xfrm>
            <a:off x="6178550" y="2809875"/>
            <a:ext cx="3175" cy="12509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074" name="Title 1">
            <a:extLst>
              <a:ext uri="{FF2B5EF4-FFF2-40B4-BE49-F238E27FC236}">
                <a16:creationId xmlns:a16="http://schemas.microsoft.com/office/drawing/2014/main" id="{151C4AB0-8DAC-4072-BB8C-FEF35ACE5C24}"/>
              </a:ext>
            </a:extLst>
          </p:cNvPr>
          <p:cNvSpPr txBox="1">
            <a:spLocks/>
          </p:cNvSpPr>
          <p:nvPr/>
        </p:nvSpPr>
        <p:spPr bwMode="auto">
          <a:xfrm>
            <a:off x="1600200" y="152400"/>
            <a:ext cx="50593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税收对社会福利的影响</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27"/>
                                        </p:tgtEl>
                                        <p:attrNameLst>
                                          <p:attrName>style.visibility</p:attrName>
                                        </p:attrNameLst>
                                      </p:cBhvr>
                                      <p:to>
                                        <p:strVal val="visible"/>
                                      </p:to>
                                    </p:set>
                                    <p:animEffect transition="in" filter="wipe(left)">
                                      <p:cBhvr>
                                        <p:cTn id="7" dur="500"/>
                                        <p:tgtEl>
                                          <p:spTgt spid="13327"/>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315"/>
                                        </p:tgtEl>
                                        <p:attrNameLst>
                                          <p:attrName>style.visibility</p:attrName>
                                        </p:attrNameLst>
                                      </p:cBhvr>
                                      <p:to>
                                        <p:strVal val="visible"/>
                                      </p:to>
                                    </p:set>
                                    <p:animEffect transition="in" filter="dissolve">
                                      <p:cBhvr>
                                        <p:cTn id="11" dur="5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nimBg="1" autoUpdateAnimBg="0"/>
      <p:bldP spid="13327"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3">
            <a:extLst>
              <a:ext uri="{FF2B5EF4-FFF2-40B4-BE49-F238E27FC236}">
                <a16:creationId xmlns:a16="http://schemas.microsoft.com/office/drawing/2014/main" id="{D0CC255C-E587-4417-BE31-C14806B56C1F}"/>
              </a:ext>
            </a:extLst>
          </p:cNvPr>
          <p:cNvSpPr>
            <a:spLocks noGrp="1" noChangeArrowheads="1"/>
          </p:cNvSpPr>
          <p:nvPr>
            <p:ph type="body" idx="4294967295"/>
          </p:nvPr>
        </p:nvSpPr>
        <p:spPr>
          <a:xfrm>
            <a:off x="827740" y="1447800"/>
            <a:ext cx="7960660" cy="4069345"/>
          </a:xfrm>
        </p:spPr>
        <p:txBody>
          <a:bodyPr/>
          <a:lstStyle/>
          <a:p>
            <a:pPr>
              <a:lnSpc>
                <a:spcPct val="150000"/>
              </a:lnSpc>
            </a:pPr>
            <a:r>
              <a:rPr lang="zh-CN" altLang="en-US" dirty="0">
                <a:ea typeface="宋体" panose="02010600030101010101" pitchFamily="2" charset="-122"/>
              </a:rPr>
              <a:t>我们计算有税收与没有税收时的消费者剩余，生产者剩余，税收收入以及总剩余</a:t>
            </a:r>
            <a:r>
              <a:rPr lang="en-US" altLang="zh-CN" dirty="0">
                <a:ea typeface="宋体" panose="02010600030101010101" pitchFamily="2" charset="-122"/>
              </a:rPr>
              <a:t> </a:t>
            </a:r>
            <a:endParaRPr lang="zh-CN" altLang="ja-JP" dirty="0">
              <a:ea typeface="宋体" panose="02010600030101010101" pitchFamily="2" charset="-122"/>
            </a:endParaRPr>
          </a:p>
          <a:p>
            <a:pPr>
              <a:lnSpc>
                <a:spcPct val="150000"/>
              </a:lnSpc>
            </a:pPr>
            <a:r>
              <a:rPr lang="zh-CN" altLang="en-US" dirty="0">
                <a:ea typeface="宋体" panose="02010600030101010101" pitchFamily="2" charset="-122"/>
              </a:rPr>
              <a:t>税收能为对公众有利的服务提供资金支持（比如教育，公路，警察），因此我们把它算入社会总福利</a:t>
            </a:r>
            <a:endParaRPr lang="en-US" altLang="zh-CN" dirty="0">
              <a:ea typeface="宋体" panose="02010600030101010101" pitchFamily="2" charset="-122"/>
            </a:endParaRPr>
          </a:p>
        </p:txBody>
      </p:sp>
      <p:sp>
        <p:nvSpPr>
          <p:cNvPr id="174083" name="Title 1">
            <a:extLst>
              <a:ext uri="{FF2B5EF4-FFF2-40B4-BE49-F238E27FC236}">
                <a16:creationId xmlns:a16="http://schemas.microsoft.com/office/drawing/2014/main" id="{4F366BD2-EEF4-4E14-BC25-D2A69831DD1C}"/>
              </a:ext>
            </a:extLst>
          </p:cNvPr>
          <p:cNvSpPr txBox="1">
            <a:spLocks/>
          </p:cNvSpPr>
          <p:nvPr/>
        </p:nvSpPr>
        <p:spPr bwMode="auto">
          <a:xfrm>
            <a:off x="1547790" y="5488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dirty="0">
                <a:latin typeface="Arial" panose="020B0604020202020204" pitchFamily="34" charset="0"/>
              </a:rPr>
              <a:t>税收对社会福利的影响</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0">
                                            <p:txEl>
                                              <p:pRg st="0" end="0"/>
                                            </p:txEl>
                                          </p:spTgt>
                                        </p:tgtEl>
                                        <p:attrNameLst>
                                          <p:attrName>style.visibility</p:attrName>
                                        </p:attrNameLst>
                                      </p:cBhvr>
                                      <p:to>
                                        <p:strVal val="visible"/>
                                      </p:to>
                                    </p:set>
                                    <p:animEffect transition="in" filter="blinds(horizontal)">
                                      <p:cBhvr>
                                        <p:cTn id="7" dur="500"/>
                                        <p:tgtEl>
                                          <p:spTgt spid="11469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4690">
                                            <p:txEl>
                                              <p:pRg st="1" end="1"/>
                                            </p:txEl>
                                          </p:spTgt>
                                        </p:tgtEl>
                                        <p:attrNameLst>
                                          <p:attrName>style.visibility</p:attrName>
                                        </p:attrNameLst>
                                      </p:cBhvr>
                                      <p:to>
                                        <p:strVal val="visible"/>
                                      </p:to>
                                    </p:set>
                                    <p:animEffect transition="in" filter="blinds(horizontal)">
                                      <p:cBhvr>
                                        <p:cTn id="12" dur="500"/>
                                        <p:tgtEl>
                                          <p:spTgt spid="11469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Line 2">
            <a:extLst>
              <a:ext uri="{FF2B5EF4-FFF2-40B4-BE49-F238E27FC236}">
                <a16:creationId xmlns:a16="http://schemas.microsoft.com/office/drawing/2014/main" id="{BBEC5687-7E1D-4230-B2BA-FA629643A3FE}"/>
              </a:ext>
            </a:extLst>
          </p:cNvPr>
          <p:cNvSpPr>
            <a:spLocks noChangeShapeType="1"/>
          </p:cNvSpPr>
          <p:nvPr/>
        </p:nvSpPr>
        <p:spPr bwMode="auto">
          <a:xfrm>
            <a:off x="6181725" y="2805113"/>
            <a:ext cx="0" cy="27479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6131" name="Group 4">
            <a:extLst>
              <a:ext uri="{FF2B5EF4-FFF2-40B4-BE49-F238E27FC236}">
                <a16:creationId xmlns:a16="http://schemas.microsoft.com/office/drawing/2014/main" id="{D62759E0-7F78-40B0-8864-D8EE6E010E47}"/>
              </a:ext>
            </a:extLst>
          </p:cNvPr>
          <p:cNvGrpSpPr>
            <a:grpSpLocks/>
          </p:cNvGrpSpPr>
          <p:nvPr/>
        </p:nvGrpSpPr>
        <p:grpSpPr bwMode="auto">
          <a:xfrm>
            <a:off x="4068763" y="927100"/>
            <a:ext cx="4305300" cy="4824413"/>
            <a:chOff x="0" y="0"/>
            <a:chExt cx="2712" cy="3039"/>
          </a:xfrm>
        </p:grpSpPr>
        <p:grpSp>
          <p:nvGrpSpPr>
            <p:cNvPr id="176156" name="Group 5">
              <a:extLst>
                <a:ext uri="{FF2B5EF4-FFF2-40B4-BE49-F238E27FC236}">
                  <a16:creationId xmlns:a16="http://schemas.microsoft.com/office/drawing/2014/main" id="{0D1E509D-4E85-4B52-BF43-0FDBBE3EE73F}"/>
                </a:ext>
              </a:extLst>
            </p:cNvPr>
            <p:cNvGrpSpPr>
              <a:grpSpLocks/>
            </p:cNvGrpSpPr>
            <p:nvPr/>
          </p:nvGrpSpPr>
          <p:grpSpPr bwMode="auto">
            <a:xfrm>
              <a:off x="0" y="0"/>
              <a:ext cx="2712" cy="3039"/>
              <a:chOff x="0" y="0"/>
              <a:chExt cx="2712" cy="2666"/>
            </a:xfrm>
          </p:grpSpPr>
          <p:grpSp>
            <p:nvGrpSpPr>
              <p:cNvPr id="176161" name="Group 6">
                <a:extLst>
                  <a:ext uri="{FF2B5EF4-FFF2-40B4-BE49-F238E27FC236}">
                    <a16:creationId xmlns:a16="http://schemas.microsoft.com/office/drawing/2014/main" id="{ABEE7979-BE65-4EB4-B068-B61D264E3206}"/>
                  </a:ext>
                </a:extLst>
              </p:cNvPr>
              <p:cNvGrpSpPr>
                <a:grpSpLocks/>
              </p:cNvGrpSpPr>
              <p:nvPr/>
            </p:nvGrpSpPr>
            <p:grpSpPr bwMode="auto">
              <a:xfrm>
                <a:off x="119" y="225"/>
                <a:ext cx="2382" cy="2331"/>
                <a:chOff x="0" y="0"/>
                <a:chExt cx="2400" cy="2079"/>
              </a:xfrm>
            </p:grpSpPr>
            <p:sp>
              <p:nvSpPr>
                <p:cNvPr id="176164" name="Line 7">
                  <a:extLst>
                    <a:ext uri="{FF2B5EF4-FFF2-40B4-BE49-F238E27FC236}">
                      <a16:creationId xmlns:a16="http://schemas.microsoft.com/office/drawing/2014/main" id="{114683C8-C370-4D12-B925-56C6FF2B45A8}"/>
                    </a:ext>
                  </a:extLst>
                </p:cNvPr>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165" name="Line 8">
                  <a:extLst>
                    <a:ext uri="{FF2B5EF4-FFF2-40B4-BE49-F238E27FC236}">
                      <a16:creationId xmlns:a16="http://schemas.microsoft.com/office/drawing/2014/main" id="{D47FE25D-3298-4B1A-962D-7E1F4FEB8E8E}"/>
                    </a:ext>
                  </a:extLst>
                </p:cNvPr>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6162" name="Text Box 9">
                <a:extLst>
                  <a:ext uri="{FF2B5EF4-FFF2-40B4-BE49-F238E27FC236}">
                    <a16:creationId xmlns:a16="http://schemas.microsoft.com/office/drawing/2014/main" id="{270B506A-3385-4235-BB3E-742F134A9571}"/>
                  </a:ext>
                </a:extLst>
              </p:cNvPr>
              <p:cNvSpPr txBox="1">
                <a:spLocks noChangeArrowheads="1"/>
              </p:cNvSpPr>
              <p:nvPr/>
            </p:nvSpPr>
            <p:spPr bwMode="auto">
              <a:xfrm>
                <a:off x="0" y="0"/>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p>
            </p:txBody>
          </p:sp>
          <p:sp>
            <p:nvSpPr>
              <p:cNvPr id="176163" name="Text Box 10">
                <a:extLst>
                  <a:ext uri="{FF2B5EF4-FFF2-40B4-BE49-F238E27FC236}">
                    <a16:creationId xmlns:a16="http://schemas.microsoft.com/office/drawing/2014/main" id="{09CF52F7-282B-41E1-8E81-5B1A61FC9E65}"/>
                  </a:ext>
                </a:extLst>
              </p:cNvPr>
              <p:cNvSpPr txBox="1">
                <a:spLocks noChangeArrowheads="1"/>
              </p:cNvSpPr>
              <p:nvPr/>
            </p:nvSpPr>
            <p:spPr bwMode="auto">
              <a:xfrm>
                <a:off x="2479" y="2421"/>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p>
            </p:txBody>
          </p:sp>
        </p:grpSp>
        <p:sp>
          <p:nvSpPr>
            <p:cNvPr id="176157" name="Text Box 11">
              <a:extLst>
                <a:ext uri="{FF2B5EF4-FFF2-40B4-BE49-F238E27FC236}">
                  <a16:creationId xmlns:a16="http://schemas.microsoft.com/office/drawing/2014/main" id="{738C4723-BF28-4D73-B07A-89534937469A}"/>
                </a:ext>
              </a:extLst>
            </p:cNvPr>
            <p:cNvSpPr txBox="1">
              <a:spLocks noChangeArrowheads="1"/>
            </p:cNvSpPr>
            <p:nvPr/>
          </p:nvSpPr>
          <p:spPr bwMode="auto">
            <a:xfrm>
              <a:off x="2383" y="1844"/>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D</a:t>
              </a:r>
            </a:p>
          </p:txBody>
        </p:sp>
        <p:sp>
          <p:nvSpPr>
            <p:cNvPr id="176158" name="Line 12">
              <a:extLst>
                <a:ext uri="{FF2B5EF4-FFF2-40B4-BE49-F238E27FC236}">
                  <a16:creationId xmlns:a16="http://schemas.microsoft.com/office/drawing/2014/main" id="{C93DFCAE-9D06-42BF-9118-020B23FE8CCF}"/>
                </a:ext>
              </a:extLst>
            </p:cNvPr>
            <p:cNvSpPr>
              <a:spLocks noChangeShapeType="1"/>
            </p:cNvSpPr>
            <p:nvPr/>
          </p:nvSpPr>
          <p:spPr bwMode="auto">
            <a:xfrm>
              <a:off x="121" y="352"/>
              <a:ext cx="2305" cy="1589"/>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159" name="Text Box 13">
              <a:extLst>
                <a:ext uri="{FF2B5EF4-FFF2-40B4-BE49-F238E27FC236}">
                  <a16:creationId xmlns:a16="http://schemas.microsoft.com/office/drawing/2014/main" id="{25C458CA-FE69-42D0-B8D9-1B49F547D2EC}"/>
                </a:ext>
              </a:extLst>
            </p:cNvPr>
            <p:cNvSpPr txBox="1">
              <a:spLocks noChangeArrowheads="1"/>
            </p:cNvSpPr>
            <p:nvPr/>
          </p:nvSpPr>
          <p:spPr bwMode="auto">
            <a:xfrm>
              <a:off x="2372" y="954"/>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S</a:t>
              </a:r>
            </a:p>
          </p:txBody>
        </p:sp>
        <p:sp>
          <p:nvSpPr>
            <p:cNvPr id="176160" name="Line 14">
              <a:extLst>
                <a:ext uri="{FF2B5EF4-FFF2-40B4-BE49-F238E27FC236}">
                  <a16:creationId xmlns:a16="http://schemas.microsoft.com/office/drawing/2014/main" id="{B23058D2-C804-4E51-9FD1-2B9F8DCA94E9}"/>
                </a:ext>
              </a:extLst>
            </p:cNvPr>
            <p:cNvSpPr>
              <a:spLocks noChangeShapeType="1"/>
            </p:cNvSpPr>
            <p:nvPr/>
          </p:nvSpPr>
          <p:spPr bwMode="auto">
            <a:xfrm flipV="1">
              <a:off x="119" y="1148"/>
              <a:ext cx="2282" cy="1767"/>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399" name="Rectangle 15">
            <a:extLst>
              <a:ext uri="{FF2B5EF4-FFF2-40B4-BE49-F238E27FC236}">
                <a16:creationId xmlns:a16="http://schemas.microsoft.com/office/drawing/2014/main" id="{E8C3C2B1-E21E-4398-8C63-15FADCB79F98}"/>
              </a:ext>
            </a:extLst>
          </p:cNvPr>
          <p:cNvSpPr>
            <a:spLocks noChangeArrowheads="1"/>
          </p:cNvSpPr>
          <p:nvPr/>
        </p:nvSpPr>
        <p:spPr bwMode="auto">
          <a:xfrm>
            <a:off x="473075" y="1554163"/>
            <a:ext cx="301466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45000"/>
              </a:spcBef>
              <a:buClr>
                <a:srgbClr val="00B85C"/>
              </a:buClr>
              <a:buSzPct val="120000"/>
              <a:buFont typeface="Wingdings" panose="05000000000000000000" pitchFamily="2" charset="2"/>
              <a:buNone/>
            </a:pPr>
            <a:r>
              <a:rPr lang="zh-CN" altLang="en-US" sz="2600" b="0">
                <a:latin typeface="Arial" panose="020B0604020202020204" pitchFamily="34" charset="0"/>
              </a:rPr>
              <a:t>没有税收时：</a:t>
            </a:r>
            <a:r>
              <a:rPr lang="en-US" altLang="zh-CN" sz="2600" b="0">
                <a:latin typeface="Arial" panose="020B0604020202020204" pitchFamily="34" charset="0"/>
              </a:rPr>
              <a:t> </a:t>
            </a:r>
          </a:p>
        </p:txBody>
      </p:sp>
      <p:sp>
        <p:nvSpPr>
          <p:cNvPr id="176133" name="Line 18">
            <a:extLst>
              <a:ext uri="{FF2B5EF4-FFF2-40B4-BE49-F238E27FC236}">
                <a16:creationId xmlns:a16="http://schemas.microsoft.com/office/drawing/2014/main" id="{17D5E013-3965-42C3-A20C-9F71A412130D}"/>
              </a:ext>
            </a:extLst>
          </p:cNvPr>
          <p:cNvSpPr>
            <a:spLocks noChangeShapeType="1"/>
          </p:cNvSpPr>
          <p:nvPr/>
        </p:nvSpPr>
        <p:spPr bwMode="auto">
          <a:xfrm flipH="1">
            <a:off x="4257675" y="4057650"/>
            <a:ext cx="19192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134" name="Line 21">
            <a:extLst>
              <a:ext uri="{FF2B5EF4-FFF2-40B4-BE49-F238E27FC236}">
                <a16:creationId xmlns:a16="http://schemas.microsoft.com/office/drawing/2014/main" id="{A4B5CC7D-DBDE-4959-B36B-CC1804F5D582}"/>
              </a:ext>
            </a:extLst>
          </p:cNvPr>
          <p:cNvSpPr>
            <a:spLocks noChangeShapeType="1"/>
          </p:cNvSpPr>
          <p:nvPr/>
        </p:nvSpPr>
        <p:spPr bwMode="auto">
          <a:xfrm flipH="1">
            <a:off x="4257675" y="2809875"/>
            <a:ext cx="19192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6135" name="Group 18">
            <a:extLst>
              <a:ext uri="{FF2B5EF4-FFF2-40B4-BE49-F238E27FC236}">
                <a16:creationId xmlns:a16="http://schemas.microsoft.com/office/drawing/2014/main" id="{9514434F-8FCA-4ECE-B71A-B0D8D37DF54C}"/>
              </a:ext>
            </a:extLst>
          </p:cNvPr>
          <p:cNvGrpSpPr>
            <a:grpSpLocks/>
          </p:cNvGrpSpPr>
          <p:nvPr/>
        </p:nvGrpSpPr>
        <p:grpSpPr bwMode="auto">
          <a:xfrm>
            <a:off x="3727450" y="3170238"/>
            <a:ext cx="3598863" cy="2824162"/>
            <a:chOff x="0" y="0"/>
            <a:chExt cx="2267" cy="1779"/>
          </a:xfrm>
        </p:grpSpPr>
        <p:sp>
          <p:nvSpPr>
            <p:cNvPr id="176151" name="Text Box 23">
              <a:extLst>
                <a:ext uri="{FF2B5EF4-FFF2-40B4-BE49-F238E27FC236}">
                  <a16:creationId xmlns:a16="http://schemas.microsoft.com/office/drawing/2014/main" id="{5C1AC557-DBC8-4D6C-8BD6-08C8D669250B}"/>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E</a:t>
              </a:r>
            </a:p>
          </p:txBody>
        </p:sp>
        <p:grpSp>
          <p:nvGrpSpPr>
            <p:cNvPr id="176152" name="Group 20">
              <a:extLst>
                <a:ext uri="{FF2B5EF4-FFF2-40B4-BE49-F238E27FC236}">
                  <a16:creationId xmlns:a16="http://schemas.microsoft.com/office/drawing/2014/main" id="{BED3995A-2766-4EFD-9D82-DE9AF1B9772F}"/>
                </a:ext>
              </a:extLst>
            </p:cNvPr>
            <p:cNvGrpSpPr>
              <a:grpSpLocks/>
            </p:cNvGrpSpPr>
            <p:nvPr/>
          </p:nvGrpSpPr>
          <p:grpSpPr bwMode="auto">
            <a:xfrm>
              <a:off x="342" y="145"/>
              <a:ext cx="1743" cy="1354"/>
              <a:chOff x="0" y="0"/>
              <a:chExt cx="795" cy="646"/>
            </a:xfrm>
          </p:grpSpPr>
          <p:sp>
            <p:nvSpPr>
              <p:cNvPr id="176154" name="Line 25">
                <a:extLst>
                  <a:ext uri="{FF2B5EF4-FFF2-40B4-BE49-F238E27FC236}">
                    <a16:creationId xmlns:a16="http://schemas.microsoft.com/office/drawing/2014/main" id="{27AD3BFC-4659-4FBB-9B52-5163AB06DB31}"/>
                  </a:ext>
                </a:extLst>
              </p:cNvPr>
              <p:cNvSpPr>
                <a:spLocks noChangeShapeType="1"/>
              </p:cNvSpPr>
              <p:nvPr/>
            </p:nvSpPr>
            <p:spPr bwMode="auto">
              <a:xfrm>
                <a:off x="0" y="0"/>
                <a:ext cx="79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155" name="Line 26">
                <a:extLst>
                  <a:ext uri="{FF2B5EF4-FFF2-40B4-BE49-F238E27FC236}">
                    <a16:creationId xmlns:a16="http://schemas.microsoft.com/office/drawing/2014/main" id="{0A3DBE5A-4C46-4FF6-AF72-F0FAE2B93E51}"/>
                  </a:ext>
                </a:extLst>
              </p:cNvPr>
              <p:cNvSpPr>
                <a:spLocks noChangeShapeType="1"/>
              </p:cNvSpPr>
              <p:nvPr/>
            </p:nvSpPr>
            <p:spPr bwMode="auto">
              <a:xfrm>
                <a:off x="795" y="1"/>
                <a:ext cx="0" cy="64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6153" name="Text Box 27">
              <a:extLst>
                <a:ext uri="{FF2B5EF4-FFF2-40B4-BE49-F238E27FC236}">
                  <a16:creationId xmlns:a16="http://schemas.microsoft.com/office/drawing/2014/main" id="{57279721-23F0-4CC0-9F58-70763E5FA77E}"/>
                </a:ext>
              </a:extLst>
            </p:cNvPr>
            <p:cNvSpPr txBox="1">
              <a:spLocks noChangeArrowheads="1"/>
            </p:cNvSpPr>
            <p:nvPr/>
          </p:nvSpPr>
          <p:spPr bwMode="auto">
            <a:xfrm>
              <a:off x="1896" y="1500"/>
              <a:ext cx="371"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E</a:t>
              </a:r>
            </a:p>
          </p:txBody>
        </p:sp>
      </p:grpSp>
      <p:sp>
        <p:nvSpPr>
          <p:cNvPr id="176136" name="Text Box 28">
            <a:extLst>
              <a:ext uri="{FF2B5EF4-FFF2-40B4-BE49-F238E27FC236}">
                <a16:creationId xmlns:a16="http://schemas.microsoft.com/office/drawing/2014/main" id="{973BBC19-0BBD-4E43-97AA-7979DE72BB89}"/>
              </a:ext>
            </a:extLst>
          </p:cNvPr>
          <p:cNvSpPr txBox="1">
            <a:spLocks noChangeArrowheads="1"/>
          </p:cNvSpPr>
          <p:nvPr/>
        </p:nvSpPr>
        <p:spPr bwMode="auto">
          <a:xfrm>
            <a:off x="5880100" y="5551488"/>
            <a:ext cx="5889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T</a:t>
            </a:r>
          </a:p>
        </p:txBody>
      </p:sp>
      <p:sp>
        <p:nvSpPr>
          <p:cNvPr id="16409" name="Text Box 29">
            <a:extLst>
              <a:ext uri="{FF2B5EF4-FFF2-40B4-BE49-F238E27FC236}">
                <a16:creationId xmlns:a16="http://schemas.microsoft.com/office/drawing/2014/main" id="{E11C4CED-AEA6-42EF-A849-568254B66C2E}"/>
              </a:ext>
            </a:extLst>
          </p:cNvPr>
          <p:cNvSpPr txBox="1">
            <a:spLocks noChangeArrowheads="1"/>
          </p:cNvSpPr>
          <p:nvPr/>
        </p:nvSpPr>
        <p:spPr bwMode="auto">
          <a:xfrm>
            <a:off x="4686300" y="218122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A</a:t>
            </a:r>
          </a:p>
        </p:txBody>
      </p:sp>
      <p:sp>
        <p:nvSpPr>
          <p:cNvPr id="16410" name="Text Box 30">
            <a:extLst>
              <a:ext uri="{FF2B5EF4-FFF2-40B4-BE49-F238E27FC236}">
                <a16:creationId xmlns:a16="http://schemas.microsoft.com/office/drawing/2014/main" id="{1B1C17B2-F730-449D-8F0B-7F4204B5F1DE}"/>
              </a:ext>
            </a:extLst>
          </p:cNvPr>
          <p:cNvSpPr txBox="1">
            <a:spLocks noChangeArrowheads="1"/>
          </p:cNvSpPr>
          <p:nvPr/>
        </p:nvSpPr>
        <p:spPr bwMode="auto">
          <a:xfrm>
            <a:off x="5010150" y="288607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B</a:t>
            </a:r>
          </a:p>
        </p:txBody>
      </p:sp>
      <p:sp>
        <p:nvSpPr>
          <p:cNvPr id="16411" name="Text Box 31">
            <a:extLst>
              <a:ext uri="{FF2B5EF4-FFF2-40B4-BE49-F238E27FC236}">
                <a16:creationId xmlns:a16="http://schemas.microsoft.com/office/drawing/2014/main" id="{9199AF80-F44C-4024-9827-5AB98FAFD4E0}"/>
              </a:ext>
            </a:extLst>
          </p:cNvPr>
          <p:cNvSpPr txBox="1">
            <a:spLocks noChangeArrowheads="1"/>
          </p:cNvSpPr>
          <p:nvPr/>
        </p:nvSpPr>
        <p:spPr bwMode="auto">
          <a:xfrm>
            <a:off x="6200775" y="296227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C</a:t>
            </a:r>
          </a:p>
        </p:txBody>
      </p:sp>
      <p:sp>
        <p:nvSpPr>
          <p:cNvPr id="16412" name="Text Box 32">
            <a:extLst>
              <a:ext uri="{FF2B5EF4-FFF2-40B4-BE49-F238E27FC236}">
                <a16:creationId xmlns:a16="http://schemas.microsoft.com/office/drawing/2014/main" id="{B8DEEA80-F9A6-45CA-B443-FB1DAB346BC4}"/>
              </a:ext>
            </a:extLst>
          </p:cNvPr>
          <p:cNvSpPr txBox="1">
            <a:spLocks noChangeArrowheads="1"/>
          </p:cNvSpPr>
          <p:nvPr/>
        </p:nvSpPr>
        <p:spPr bwMode="auto">
          <a:xfrm>
            <a:off x="5029200" y="3505200"/>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D</a:t>
            </a:r>
          </a:p>
        </p:txBody>
      </p:sp>
      <p:sp>
        <p:nvSpPr>
          <p:cNvPr id="16413" name="Text Box 33">
            <a:extLst>
              <a:ext uri="{FF2B5EF4-FFF2-40B4-BE49-F238E27FC236}">
                <a16:creationId xmlns:a16="http://schemas.microsoft.com/office/drawing/2014/main" id="{02770B16-800C-4192-B8A7-E2FBE8039DE2}"/>
              </a:ext>
            </a:extLst>
          </p:cNvPr>
          <p:cNvSpPr txBox="1">
            <a:spLocks noChangeArrowheads="1"/>
          </p:cNvSpPr>
          <p:nvPr/>
        </p:nvSpPr>
        <p:spPr bwMode="auto">
          <a:xfrm>
            <a:off x="6200775" y="340042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E</a:t>
            </a:r>
          </a:p>
        </p:txBody>
      </p:sp>
      <p:sp>
        <p:nvSpPr>
          <p:cNvPr id="16414" name="Text Box 34">
            <a:extLst>
              <a:ext uri="{FF2B5EF4-FFF2-40B4-BE49-F238E27FC236}">
                <a16:creationId xmlns:a16="http://schemas.microsoft.com/office/drawing/2014/main" id="{39F5BBF8-B967-4F5B-8AAC-F15BFE0BB52B}"/>
              </a:ext>
            </a:extLst>
          </p:cNvPr>
          <p:cNvSpPr txBox="1">
            <a:spLocks noChangeArrowheads="1"/>
          </p:cNvSpPr>
          <p:nvPr/>
        </p:nvSpPr>
        <p:spPr bwMode="auto">
          <a:xfrm>
            <a:off x="4772025" y="4229100"/>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F</a:t>
            </a:r>
          </a:p>
        </p:txBody>
      </p:sp>
      <p:sp>
        <p:nvSpPr>
          <p:cNvPr id="16415" name="Rectangle 35">
            <a:extLst>
              <a:ext uri="{FF2B5EF4-FFF2-40B4-BE49-F238E27FC236}">
                <a16:creationId xmlns:a16="http://schemas.microsoft.com/office/drawing/2014/main" id="{9C718126-F029-414D-AC2D-9D25FF8950DA}"/>
              </a:ext>
            </a:extLst>
          </p:cNvPr>
          <p:cNvSpPr>
            <a:spLocks noChangeArrowheads="1"/>
          </p:cNvSpPr>
          <p:nvPr/>
        </p:nvSpPr>
        <p:spPr bwMode="auto">
          <a:xfrm>
            <a:off x="628650" y="2058988"/>
            <a:ext cx="257651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45000"/>
              </a:spcBef>
              <a:buClr>
                <a:srgbClr val="00B85C"/>
              </a:buClr>
              <a:buSzPct val="120000"/>
              <a:buFont typeface="Wingdings" panose="05000000000000000000" pitchFamily="2" charset="2"/>
              <a:buNone/>
            </a:pPr>
            <a:r>
              <a:rPr lang="en-US" altLang="zh-CN" sz="2600" b="0">
                <a:latin typeface="Arial" panose="020B0604020202020204" pitchFamily="34" charset="0"/>
              </a:rPr>
              <a:t>CS = A + B + C</a:t>
            </a:r>
          </a:p>
        </p:txBody>
      </p:sp>
      <p:sp>
        <p:nvSpPr>
          <p:cNvPr id="16416" name="Rectangle 36">
            <a:extLst>
              <a:ext uri="{FF2B5EF4-FFF2-40B4-BE49-F238E27FC236}">
                <a16:creationId xmlns:a16="http://schemas.microsoft.com/office/drawing/2014/main" id="{D772C700-F406-466A-8F89-9F759E795D9D}"/>
              </a:ext>
            </a:extLst>
          </p:cNvPr>
          <p:cNvSpPr>
            <a:spLocks noChangeArrowheads="1"/>
          </p:cNvSpPr>
          <p:nvPr/>
        </p:nvSpPr>
        <p:spPr bwMode="auto">
          <a:xfrm>
            <a:off x="631825" y="2573338"/>
            <a:ext cx="257651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lnSpc>
                <a:spcPct val="105000"/>
              </a:lnSpc>
              <a:spcBef>
                <a:spcPct val="45000"/>
              </a:spcBef>
              <a:buClr>
                <a:srgbClr val="00B85C"/>
              </a:buClr>
              <a:buSzPct val="120000"/>
              <a:buFont typeface="Wingdings" panose="05000000000000000000" pitchFamily="2" charset="2"/>
              <a:buNone/>
            </a:pPr>
            <a:r>
              <a:rPr lang="en-US" altLang="zh-CN" sz="2600" b="0">
                <a:latin typeface="Arial" panose="020B0604020202020204" pitchFamily="34" charset="0"/>
              </a:rPr>
              <a:t>PS = D + E + F</a:t>
            </a:r>
          </a:p>
        </p:txBody>
      </p:sp>
      <p:sp>
        <p:nvSpPr>
          <p:cNvPr id="16417" name="Rectangle 37">
            <a:extLst>
              <a:ext uri="{FF2B5EF4-FFF2-40B4-BE49-F238E27FC236}">
                <a16:creationId xmlns:a16="http://schemas.microsoft.com/office/drawing/2014/main" id="{4DD0F443-070A-4434-9870-1C9D2D6A695D}"/>
              </a:ext>
            </a:extLst>
          </p:cNvPr>
          <p:cNvSpPr>
            <a:spLocks noChangeArrowheads="1"/>
          </p:cNvSpPr>
          <p:nvPr/>
        </p:nvSpPr>
        <p:spPr bwMode="auto">
          <a:xfrm>
            <a:off x="628650" y="3059113"/>
            <a:ext cx="263366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45000"/>
              </a:spcBef>
              <a:buClr>
                <a:srgbClr val="00B85C"/>
              </a:buClr>
              <a:buSzPct val="120000"/>
              <a:buFont typeface="Wingdings" panose="05000000000000000000" pitchFamily="2" charset="2"/>
              <a:buNone/>
            </a:pPr>
            <a:r>
              <a:rPr lang="zh-CN" altLang="en-US" sz="2600" b="0">
                <a:latin typeface="Arial" panose="020B0604020202020204" pitchFamily="34" charset="0"/>
              </a:rPr>
              <a:t>税收收入</a:t>
            </a:r>
            <a:r>
              <a:rPr lang="en-US" altLang="zh-CN" sz="2600" b="0">
                <a:latin typeface="Arial" panose="020B0604020202020204" pitchFamily="34" charset="0"/>
              </a:rPr>
              <a:t> </a:t>
            </a:r>
            <a:r>
              <a:rPr lang="zh-CN" altLang="ja-JP" sz="2600" b="0">
                <a:latin typeface="Arial" panose="020B0604020202020204" pitchFamily="34" charset="0"/>
              </a:rPr>
              <a:t>= 0</a:t>
            </a:r>
            <a:endParaRPr lang="en-US" altLang="zh-CN" sz="2600" b="0">
              <a:latin typeface="Arial" panose="020B0604020202020204" pitchFamily="34" charset="0"/>
            </a:endParaRPr>
          </a:p>
        </p:txBody>
      </p:sp>
      <p:sp>
        <p:nvSpPr>
          <p:cNvPr id="16418" name="Rectangle 38">
            <a:extLst>
              <a:ext uri="{FF2B5EF4-FFF2-40B4-BE49-F238E27FC236}">
                <a16:creationId xmlns:a16="http://schemas.microsoft.com/office/drawing/2014/main" id="{A6ACCF55-BC1C-4A92-B594-85EBD0A31463}"/>
              </a:ext>
            </a:extLst>
          </p:cNvPr>
          <p:cNvSpPr>
            <a:spLocks noChangeArrowheads="1"/>
          </p:cNvSpPr>
          <p:nvPr/>
        </p:nvSpPr>
        <p:spPr bwMode="auto">
          <a:xfrm>
            <a:off x="35686" y="4283076"/>
            <a:ext cx="3933064" cy="1736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5000"/>
              </a:spcBef>
              <a:buClr>
                <a:srgbClr val="00B85C"/>
              </a:buClr>
              <a:buSzPct val="120000"/>
              <a:buFont typeface="Wingdings" panose="05000000000000000000" pitchFamily="2" charset="2"/>
              <a:buNone/>
            </a:pPr>
            <a:r>
              <a:rPr lang="zh-CN" altLang="en-US" sz="2600" b="0" dirty="0">
                <a:latin typeface="Arial" panose="020B0604020202020204" pitchFamily="34" charset="0"/>
              </a:rPr>
              <a:t>总剩余</a:t>
            </a:r>
            <a:br>
              <a:rPr lang="en-US" altLang="zh-CN" sz="2600" b="0" dirty="0">
                <a:latin typeface="Arial" panose="020B0604020202020204" pitchFamily="34" charset="0"/>
              </a:rPr>
            </a:br>
            <a:r>
              <a:rPr lang="zh-CN" altLang="ja-JP" sz="2600" b="0" dirty="0">
                <a:latin typeface="Arial" panose="020B0604020202020204" pitchFamily="34" charset="0"/>
              </a:rPr>
              <a:t>= CS + PS</a:t>
            </a:r>
          </a:p>
          <a:p>
            <a:pPr eaLnBrk="1" hangingPunct="1">
              <a:lnSpc>
                <a:spcPct val="105000"/>
              </a:lnSpc>
              <a:spcBef>
                <a:spcPct val="5000"/>
              </a:spcBef>
              <a:buClr>
                <a:srgbClr val="00B85C"/>
              </a:buClr>
              <a:buSzPct val="120000"/>
              <a:buFont typeface="Wingdings" panose="05000000000000000000" pitchFamily="2" charset="2"/>
              <a:buNone/>
            </a:pPr>
            <a:r>
              <a:rPr lang="en-US" altLang="zh-CN" sz="2600" b="0" dirty="0">
                <a:latin typeface="Arial" panose="020B0604020202020204" pitchFamily="34" charset="0"/>
              </a:rPr>
              <a:t>	</a:t>
            </a:r>
            <a:r>
              <a:rPr lang="en-US" altLang="zh-CN" sz="2600" b="0" dirty="0">
                <a:highlight>
                  <a:srgbClr val="FF9966"/>
                </a:highlight>
                <a:latin typeface="Arial" panose="020B0604020202020204" pitchFamily="34" charset="0"/>
              </a:rPr>
              <a:t>= A + B + C + D + E + F</a:t>
            </a:r>
          </a:p>
        </p:txBody>
      </p:sp>
      <p:sp>
        <p:nvSpPr>
          <p:cNvPr id="16419" name="AutoShape 39">
            <a:extLst>
              <a:ext uri="{FF2B5EF4-FFF2-40B4-BE49-F238E27FC236}">
                <a16:creationId xmlns:a16="http://schemas.microsoft.com/office/drawing/2014/main" id="{416D47C9-A8E0-4326-AA49-A33ED971C158}"/>
              </a:ext>
            </a:extLst>
          </p:cNvPr>
          <p:cNvSpPr>
            <a:spLocks noChangeArrowheads="1"/>
          </p:cNvSpPr>
          <p:nvPr/>
        </p:nvSpPr>
        <p:spPr bwMode="auto">
          <a:xfrm>
            <a:off x="4276725" y="1516063"/>
            <a:ext cx="2714625" cy="1874837"/>
          </a:xfrm>
          <a:prstGeom prst="rtTriangle">
            <a:avLst/>
          </a:prstGeom>
          <a:noFill/>
          <a:ln w="2857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420" name="AutoShape 40">
            <a:extLst>
              <a:ext uri="{FF2B5EF4-FFF2-40B4-BE49-F238E27FC236}">
                <a16:creationId xmlns:a16="http://schemas.microsoft.com/office/drawing/2014/main" id="{21546F12-1955-4038-B928-189D50DEB89D}"/>
              </a:ext>
            </a:extLst>
          </p:cNvPr>
          <p:cNvSpPr>
            <a:spLocks noChangeArrowheads="1"/>
          </p:cNvSpPr>
          <p:nvPr/>
        </p:nvSpPr>
        <p:spPr bwMode="auto">
          <a:xfrm flipV="1">
            <a:off x="4271963" y="3409950"/>
            <a:ext cx="2724150" cy="2119313"/>
          </a:xfrm>
          <a:prstGeom prst="rtTriangle">
            <a:avLst/>
          </a:prstGeom>
          <a:noFill/>
          <a:ln w="28575">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6421" name="AutoShape 41">
            <a:extLst>
              <a:ext uri="{FF2B5EF4-FFF2-40B4-BE49-F238E27FC236}">
                <a16:creationId xmlns:a16="http://schemas.microsoft.com/office/drawing/2014/main" id="{4B127A59-C149-4697-9457-DCA184147D3A}"/>
              </a:ext>
            </a:extLst>
          </p:cNvPr>
          <p:cNvSpPr>
            <a:spLocks noChangeArrowheads="1"/>
          </p:cNvSpPr>
          <p:nvPr/>
        </p:nvSpPr>
        <p:spPr bwMode="auto">
          <a:xfrm rot="5400000">
            <a:off x="3640932" y="2151856"/>
            <a:ext cx="4013200" cy="2732087"/>
          </a:xfrm>
          <a:prstGeom prst="triangle">
            <a:avLst>
              <a:gd name="adj" fmla="val 47056"/>
            </a:avLst>
          </a:prstGeom>
          <a:noFill/>
          <a:ln w="38100">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76150" name="Title 1">
            <a:extLst>
              <a:ext uri="{FF2B5EF4-FFF2-40B4-BE49-F238E27FC236}">
                <a16:creationId xmlns:a16="http://schemas.microsoft.com/office/drawing/2014/main" id="{0A2FE3B4-C2F6-4660-B461-7A8F132A8216}"/>
              </a:ext>
            </a:extLst>
          </p:cNvPr>
          <p:cNvSpPr txBox="1">
            <a:spLocks/>
          </p:cNvSpPr>
          <p:nvPr/>
        </p:nvSpPr>
        <p:spPr bwMode="auto">
          <a:xfrm>
            <a:off x="1546225"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税收对社会福利的影响</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6409"/>
                                        </p:tgtEl>
                                        <p:attrNameLst>
                                          <p:attrName>style.visibility</p:attrName>
                                        </p:attrNameLst>
                                      </p:cBhvr>
                                      <p:to>
                                        <p:strVal val="visible"/>
                                      </p:to>
                                    </p:set>
                                    <p:animEffect transition="in" filter="strips(downLeft)">
                                      <p:cBhvr>
                                        <p:cTn id="7" dur="500"/>
                                        <p:tgtEl>
                                          <p:spTgt spid="16409"/>
                                        </p:tgtEl>
                                      </p:cBhvr>
                                    </p:animEffect>
                                  </p:childTnLst>
                                </p:cTn>
                              </p:par>
                            </p:childTnLst>
                          </p:cTn>
                        </p:par>
                        <p:par>
                          <p:cTn id="8" fill="hold" nodeType="afterGroup">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16410"/>
                                        </p:tgtEl>
                                        <p:attrNameLst>
                                          <p:attrName>style.visibility</p:attrName>
                                        </p:attrNameLst>
                                      </p:cBhvr>
                                      <p:to>
                                        <p:strVal val="visible"/>
                                      </p:to>
                                    </p:set>
                                    <p:animEffect transition="in" filter="strips(downLeft)">
                                      <p:cBhvr>
                                        <p:cTn id="11" dur="500"/>
                                        <p:tgtEl>
                                          <p:spTgt spid="16410"/>
                                        </p:tgtEl>
                                      </p:cBhvr>
                                    </p:animEffect>
                                  </p:childTnLst>
                                </p:cTn>
                              </p:par>
                            </p:childTnLst>
                          </p:cTn>
                        </p:par>
                        <p:par>
                          <p:cTn id="12" fill="hold" nodeType="afterGroup">
                            <p:stCondLst>
                              <p:cond delay="1000"/>
                            </p:stCondLst>
                            <p:childTnLst>
                              <p:par>
                                <p:cTn id="13" presetID="18" presetClass="entr" presetSubtype="12" fill="hold" grpId="0" nodeType="afterEffect">
                                  <p:stCondLst>
                                    <p:cond delay="0"/>
                                  </p:stCondLst>
                                  <p:childTnLst>
                                    <p:set>
                                      <p:cBhvr>
                                        <p:cTn id="14" dur="1" fill="hold">
                                          <p:stCondLst>
                                            <p:cond delay="0"/>
                                          </p:stCondLst>
                                        </p:cTn>
                                        <p:tgtEl>
                                          <p:spTgt spid="16411"/>
                                        </p:tgtEl>
                                        <p:attrNameLst>
                                          <p:attrName>style.visibility</p:attrName>
                                        </p:attrNameLst>
                                      </p:cBhvr>
                                      <p:to>
                                        <p:strVal val="visible"/>
                                      </p:to>
                                    </p:set>
                                    <p:animEffect transition="in" filter="strips(downLeft)">
                                      <p:cBhvr>
                                        <p:cTn id="15" dur="500"/>
                                        <p:tgtEl>
                                          <p:spTgt spid="16411"/>
                                        </p:tgtEl>
                                      </p:cBhvr>
                                    </p:animEffect>
                                  </p:childTnLst>
                                </p:cTn>
                              </p:par>
                            </p:childTnLst>
                          </p:cTn>
                        </p:par>
                        <p:par>
                          <p:cTn id="16" fill="hold" nodeType="afterGroup">
                            <p:stCondLst>
                              <p:cond delay="1500"/>
                            </p:stCondLst>
                            <p:childTnLst>
                              <p:par>
                                <p:cTn id="17" presetID="18" presetClass="entr" presetSubtype="12" fill="hold" grpId="0" nodeType="afterEffect">
                                  <p:stCondLst>
                                    <p:cond delay="0"/>
                                  </p:stCondLst>
                                  <p:childTnLst>
                                    <p:set>
                                      <p:cBhvr>
                                        <p:cTn id="18" dur="1" fill="hold">
                                          <p:stCondLst>
                                            <p:cond delay="0"/>
                                          </p:stCondLst>
                                        </p:cTn>
                                        <p:tgtEl>
                                          <p:spTgt spid="16412"/>
                                        </p:tgtEl>
                                        <p:attrNameLst>
                                          <p:attrName>style.visibility</p:attrName>
                                        </p:attrNameLst>
                                      </p:cBhvr>
                                      <p:to>
                                        <p:strVal val="visible"/>
                                      </p:to>
                                    </p:set>
                                    <p:animEffect transition="in" filter="strips(downLeft)">
                                      <p:cBhvr>
                                        <p:cTn id="19" dur="500"/>
                                        <p:tgtEl>
                                          <p:spTgt spid="16412"/>
                                        </p:tgtEl>
                                      </p:cBhvr>
                                    </p:animEffect>
                                  </p:childTnLst>
                                </p:cTn>
                              </p:par>
                            </p:childTnLst>
                          </p:cTn>
                        </p:par>
                        <p:par>
                          <p:cTn id="20" fill="hold" nodeType="afterGroup">
                            <p:stCondLst>
                              <p:cond delay="2000"/>
                            </p:stCondLst>
                            <p:childTnLst>
                              <p:par>
                                <p:cTn id="21" presetID="18" presetClass="entr" presetSubtype="12" fill="hold" grpId="0" nodeType="afterEffect">
                                  <p:stCondLst>
                                    <p:cond delay="0"/>
                                  </p:stCondLst>
                                  <p:childTnLst>
                                    <p:set>
                                      <p:cBhvr>
                                        <p:cTn id="22" dur="1" fill="hold">
                                          <p:stCondLst>
                                            <p:cond delay="0"/>
                                          </p:stCondLst>
                                        </p:cTn>
                                        <p:tgtEl>
                                          <p:spTgt spid="16413"/>
                                        </p:tgtEl>
                                        <p:attrNameLst>
                                          <p:attrName>style.visibility</p:attrName>
                                        </p:attrNameLst>
                                      </p:cBhvr>
                                      <p:to>
                                        <p:strVal val="visible"/>
                                      </p:to>
                                    </p:set>
                                    <p:animEffect transition="in" filter="strips(downLeft)">
                                      <p:cBhvr>
                                        <p:cTn id="23" dur="500"/>
                                        <p:tgtEl>
                                          <p:spTgt spid="16413"/>
                                        </p:tgtEl>
                                      </p:cBhvr>
                                    </p:animEffect>
                                  </p:childTnLst>
                                </p:cTn>
                              </p:par>
                            </p:childTnLst>
                          </p:cTn>
                        </p:par>
                        <p:par>
                          <p:cTn id="24" fill="hold" nodeType="afterGroup">
                            <p:stCondLst>
                              <p:cond delay="2500"/>
                            </p:stCondLst>
                            <p:childTnLst>
                              <p:par>
                                <p:cTn id="25" presetID="18" presetClass="entr" presetSubtype="12" fill="hold" grpId="0" nodeType="afterEffect">
                                  <p:stCondLst>
                                    <p:cond delay="0"/>
                                  </p:stCondLst>
                                  <p:childTnLst>
                                    <p:set>
                                      <p:cBhvr>
                                        <p:cTn id="26" dur="1" fill="hold">
                                          <p:stCondLst>
                                            <p:cond delay="0"/>
                                          </p:stCondLst>
                                        </p:cTn>
                                        <p:tgtEl>
                                          <p:spTgt spid="16414"/>
                                        </p:tgtEl>
                                        <p:attrNameLst>
                                          <p:attrName>style.visibility</p:attrName>
                                        </p:attrNameLst>
                                      </p:cBhvr>
                                      <p:to>
                                        <p:strVal val="visible"/>
                                      </p:to>
                                    </p:set>
                                    <p:animEffect transition="in" filter="strips(downLeft)">
                                      <p:cBhvr>
                                        <p:cTn id="27" dur="500"/>
                                        <p:tgtEl>
                                          <p:spTgt spid="164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399"/>
                                        </p:tgtEl>
                                        <p:attrNameLst>
                                          <p:attrName>style.visibility</p:attrName>
                                        </p:attrNameLst>
                                      </p:cBhvr>
                                      <p:to>
                                        <p:strVal val="visible"/>
                                      </p:to>
                                    </p:set>
                                    <p:animEffect transition="in" filter="wipe(left)">
                                      <p:cBhvr>
                                        <p:cTn id="32" dur="500"/>
                                        <p:tgtEl>
                                          <p:spTgt spid="163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415"/>
                                        </p:tgtEl>
                                        <p:attrNameLst>
                                          <p:attrName>style.visibility</p:attrName>
                                        </p:attrNameLst>
                                      </p:cBhvr>
                                      <p:to>
                                        <p:strVal val="visible"/>
                                      </p:to>
                                    </p:set>
                                    <p:animEffect transition="in" filter="wipe(left)">
                                      <p:cBhvr>
                                        <p:cTn id="37" dur="500"/>
                                        <p:tgtEl>
                                          <p:spTgt spid="16415"/>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6419"/>
                                        </p:tgtEl>
                                        <p:attrNameLst>
                                          <p:attrName>style.visibility</p:attrName>
                                        </p:attrNameLst>
                                      </p:cBhvr>
                                      <p:to>
                                        <p:strVal val="visible"/>
                                      </p:to>
                                    </p:set>
                                    <p:animEffect transition="in" filter="dissolve">
                                      <p:cBhvr>
                                        <p:cTn id="40" dur="500"/>
                                        <p:tgtEl>
                                          <p:spTgt spid="1641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6416"/>
                                        </p:tgtEl>
                                        <p:attrNameLst>
                                          <p:attrName>style.visibility</p:attrName>
                                        </p:attrNameLst>
                                      </p:cBhvr>
                                      <p:to>
                                        <p:strVal val="visible"/>
                                      </p:to>
                                    </p:set>
                                    <p:animEffect transition="in" filter="wipe(left)">
                                      <p:cBhvr>
                                        <p:cTn id="45" dur="500"/>
                                        <p:tgtEl>
                                          <p:spTgt spid="16416"/>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6420"/>
                                        </p:tgtEl>
                                        <p:attrNameLst>
                                          <p:attrName>style.visibility</p:attrName>
                                        </p:attrNameLst>
                                      </p:cBhvr>
                                      <p:to>
                                        <p:strVal val="visible"/>
                                      </p:to>
                                    </p:set>
                                    <p:animEffect transition="in" filter="dissolve">
                                      <p:cBhvr>
                                        <p:cTn id="48" dur="500"/>
                                        <p:tgtEl>
                                          <p:spTgt spid="1642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6417"/>
                                        </p:tgtEl>
                                        <p:attrNameLst>
                                          <p:attrName>style.visibility</p:attrName>
                                        </p:attrNameLst>
                                      </p:cBhvr>
                                      <p:to>
                                        <p:strVal val="visible"/>
                                      </p:to>
                                    </p:set>
                                    <p:animEffect transition="in" filter="wipe(left)">
                                      <p:cBhvr>
                                        <p:cTn id="53" dur="500"/>
                                        <p:tgtEl>
                                          <p:spTgt spid="1641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6418"/>
                                        </p:tgtEl>
                                        <p:attrNameLst>
                                          <p:attrName>style.visibility</p:attrName>
                                        </p:attrNameLst>
                                      </p:cBhvr>
                                      <p:to>
                                        <p:strVal val="visible"/>
                                      </p:to>
                                    </p:set>
                                    <p:animEffect transition="in" filter="wipe(left)">
                                      <p:cBhvr>
                                        <p:cTn id="58" dur="500"/>
                                        <p:tgtEl>
                                          <p:spTgt spid="16418"/>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16421"/>
                                        </p:tgtEl>
                                        <p:attrNameLst>
                                          <p:attrName>style.visibility</p:attrName>
                                        </p:attrNameLst>
                                      </p:cBhvr>
                                      <p:to>
                                        <p:strVal val="visible"/>
                                      </p:to>
                                    </p:set>
                                    <p:animEffect transition="in" filter="dissolve">
                                      <p:cBhvr>
                                        <p:cTn id="61" dur="500"/>
                                        <p:tgtEl>
                                          <p:spTgt spid="16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9" grpId="0" autoUpdateAnimBg="0"/>
      <p:bldP spid="16409" grpId="0" autoUpdateAnimBg="0"/>
      <p:bldP spid="16410" grpId="0" autoUpdateAnimBg="0"/>
      <p:bldP spid="16411" grpId="0" autoUpdateAnimBg="0"/>
      <p:bldP spid="16412" grpId="0" autoUpdateAnimBg="0"/>
      <p:bldP spid="16413" grpId="0" autoUpdateAnimBg="0"/>
      <p:bldP spid="16414" grpId="0" autoUpdateAnimBg="0"/>
      <p:bldP spid="16415" grpId="0" autoUpdateAnimBg="0"/>
      <p:bldP spid="16416" grpId="0" autoUpdateAnimBg="0"/>
      <p:bldP spid="16417" grpId="0" autoUpdateAnimBg="0"/>
      <p:bldP spid="16418" grpId="0" autoUpdateAnimBg="0"/>
      <p:bldP spid="16419" grpId="0" animBg="1" autoUpdateAnimBg="0"/>
      <p:bldP spid="16420" grpId="0" animBg="1" autoUpdateAnimBg="0"/>
      <p:bldP spid="16421" grpId="0" animBg="1"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2">
            <a:extLst>
              <a:ext uri="{FF2B5EF4-FFF2-40B4-BE49-F238E27FC236}">
                <a16:creationId xmlns:a16="http://schemas.microsoft.com/office/drawing/2014/main" id="{A36EA686-48CD-4A91-AB14-A3B847D8FBE8}"/>
              </a:ext>
            </a:extLst>
          </p:cNvPr>
          <p:cNvSpPr>
            <a:spLocks noChangeArrowheads="1"/>
          </p:cNvSpPr>
          <p:nvPr/>
        </p:nvSpPr>
        <p:spPr bwMode="auto">
          <a:xfrm rot="5400000">
            <a:off x="5996782" y="3018631"/>
            <a:ext cx="1212850" cy="830263"/>
          </a:xfrm>
          <a:prstGeom prst="triangle">
            <a:avLst>
              <a:gd name="adj" fmla="val 47644"/>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77155" name="Line 3">
            <a:extLst>
              <a:ext uri="{FF2B5EF4-FFF2-40B4-BE49-F238E27FC236}">
                <a16:creationId xmlns:a16="http://schemas.microsoft.com/office/drawing/2014/main" id="{282FB70B-EF82-4237-AFB3-2E06504169D7}"/>
              </a:ext>
            </a:extLst>
          </p:cNvPr>
          <p:cNvSpPr>
            <a:spLocks noChangeShapeType="1"/>
          </p:cNvSpPr>
          <p:nvPr/>
        </p:nvSpPr>
        <p:spPr bwMode="auto">
          <a:xfrm>
            <a:off x="6181725" y="2805113"/>
            <a:ext cx="0" cy="27479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7156" name="Group 5">
            <a:extLst>
              <a:ext uri="{FF2B5EF4-FFF2-40B4-BE49-F238E27FC236}">
                <a16:creationId xmlns:a16="http://schemas.microsoft.com/office/drawing/2014/main" id="{86FCF7C2-8D83-45C3-BC48-2E3CECE31CDE}"/>
              </a:ext>
            </a:extLst>
          </p:cNvPr>
          <p:cNvGrpSpPr>
            <a:grpSpLocks/>
          </p:cNvGrpSpPr>
          <p:nvPr/>
        </p:nvGrpSpPr>
        <p:grpSpPr bwMode="auto">
          <a:xfrm>
            <a:off x="4068763" y="927100"/>
            <a:ext cx="4305300" cy="4824413"/>
            <a:chOff x="0" y="0"/>
            <a:chExt cx="2712" cy="2666"/>
          </a:xfrm>
        </p:grpSpPr>
        <p:grpSp>
          <p:nvGrpSpPr>
            <p:cNvPr id="177188" name="Group 6">
              <a:extLst>
                <a:ext uri="{FF2B5EF4-FFF2-40B4-BE49-F238E27FC236}">
                  <a16:creationId xmlns:a16="http://schemas.microsoft.com/office/drawing/2014/main" id="{C93BD5F4-CF79-4EB1-A42C-7F8F7BC9FA5E}"/>
                </a:ext>
              </a:extLst>
            </p:cNvPr>
            <p:cNvGrpSpPr>
              <a:grpSpLocks/>
            </p:cNvGrpSpPr>
            <p:nvPr/>
          </p:nvGrpSpPr>
          <p:grpSpPr bwMode="auto">
            <a:xfrm>
              <a:off x="119" y="225"/>
              <a:ext cx="2382" cy="2331"/>
              <a:chOff x="0" y="0"/>
              <a:chExt cx="2400" cy="2079"/>
            </a:xfrm>
          </p:grpSpPr>
          <p:sp>
            <p:nvSpPr>
              <p:cNvPr id="177191" name="Line 7">
                <a:extLst>
                  <a:ext uri="{FF2B5EF4-FFF2-40B4-BE49-F238E27FC236}">
                    <a16:creationId xmlns:a16="http://schemas.microsoft.com/office/drawing/2014/main" id="{7C38074D-7B78-4D51-A653-83E3F2040FE8}"/>
                  </a:ext>
                </a:extLst>
              </p:cNvPr>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192" name="Line 8">
                <a:extLst>
                  <a:ext uri="{FF2B5EF4-FFF2-40B4-BE49-F238E27FC236}">
                    <a16:creationId xmlns:a16="http://schemas.microsoft.com/office/drawing/2014/main" id="{3FA05472-38CE-42EC-A54C-E5523943DD77}"/>
                  </a:ext>
                </a:extLst>
              </p:cNvPr>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7189" name="Text Box 9">
              <a:extLst>
                <a:ext uri="{FF2B5EF4-FFF2-40B4-BE49-F238E27FC236}">
                  <a16:creationId xmlns:a16="http://schemas.microsoft.com/office/drawing/2014/main" id="{49C4A730-396A-4C9A-998C-3107CA3019C8}"/>
                </a:ext>
              </a:extLst>
            </p:cNvPr>
            <p:cNvSpPr txBox="1">
              <a:spLocks noChangeArrowheads="1"/>
            </p:cNvSpPr>
            <p:nvPr/>
          </p:nvSpPr>
          <p:spPr bwMode="auto">
            <a:xfrm>
              <a:off x="0" y="0"/>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p>
          </p:txBody>
        </p:sp>
        <p:sp>
          <p:nvSpPr>
            <p:cNvPr id="177190" name="Text Box 10">
              <a:extLst>
                <a:ext uri="{FF2B5EF4-FFF2-40B4-BE49-F238E27FC236}">
                  <a16:creationId xmlns:a16="http://schemas.microsoft.com/office/drawing/2014/main" id="{9BF0FB2C-FF29-402F-A8D7-237CB7161D9D}"/>
                </a:ext>
              </a:extLst>
            </p:cNvPr>
            <p:cNvSpPr txBox="1">
              <a:spLocks noChangeArrowheads="1"/>
            </p:cNvSpPr>
            <p:nvPr/>
          </p:nvSpPr>
          <p:spPr bwMode="auto">
            <a:xfrm>
              <a:off x="2479" y="2421"/>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p>
          </p:txBody>
        </p:sp>
      </p:grpSp>
      <p:sp>
        <p:nvSpPr>
          <p:cNvPr id="177157" name="Text Box 11">
            <a:extLst>
              <a:ext uri="{FF2B5EF4-FFF2-40B4-BE49-F238E27FC236}">
                <a16:creationId xmlns:a16="http://schemas.microsoft.com/office/drawing/2014/main" id="{33978F70-4698-4C3B-96EC-90DFBF64DCEB}"/>
              </a:ext>
            </a:extLst>
          </p:cNvPr>
          <p:cNvSpPr txBox="1">
            <a:spLocks noChangeArrowheads="1"/>
          </p:cNvSpPr>
          <p:nvPr/>
        </p:nvSpPr>
        <p:spPr bwMode="auto">
          <a:xfrm>
            <a:off x="7851775" y="3854450"/>
            <a:ext cx="3698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D</a:t>
            </a:r>
          </a:p>
        </p:txBody>
      </p:sp>
      <p:sp>
        <p:nvSpPr>
          <p:cNvPr id="177158" name="Line 12">
            <a:extLst>
              <a:ext uri="{FF2B5EF4-FFF2-40B4-BE49-F238E27FC236}">
                <a16:creationId xmlns:a16="http://schemas.microsoft.com/office/drawing/2014/main" id="{01CCCAD7-1EF5-428C-8BE6-D9DBF7E1247D}"/>
              </a:ext>
            </a:extLst>
          </p:cNvPr>
          <p:cNvSpPr>
            <a:spLocks noChangeShapeType="1"/>
          </p:cNvSpPr>
          <p:nvPr/>
        </p:nvSpPr>
        <p:spPr bwMode="auto">
          <a:xfrm>
            <a:off x="4260850" y="1485900"/>
            <a:ext cx="3659188" cy="2522538"/>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159" name="Text Box 13">
            <a:extLst>
              <a:ext uri="{FF2B5EF4-FFF2-40B4-BE49-F238E27FC236}">
                <a16:creationId xmlns:a16="http://schemas.microsoft.com/office/drawing/2014/main" id="{2AFDC318-3C5A-485F-9BD4-9DDECA79D3F1}"/>
              </a:ext>
            </a:extLst>
          </p:cNvPr>
          <p:cNvSpPr txBox="1">
            <a:spLocks noChangeArrowheads="1"/>
          </p:cNvSpPr>
          <p:nvPr/>
        </p:nvSpPr>
        <p:spPr bwMode="auto">
          <a:xfrm>
            <a:off x="7834313" y="2441575"/>
            <a:ext cx="369887"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S</a:t>
            </a:r>
          </a:p>
        </p:txBody>
      </p:sp>
      <p:sp>
        <p:nvSpPr>
          <p:cNvPr id="177160" name="Line 14">
            <a:extLst>
              <a:ext uri="{FF2B5EF4-FFF2-40B4-BE49-F238E27FC236}">
                <a16:creationId xmlns:a16="http://schemas.microsoft.com/office/drawing/2014/main" id="{D314ADFE-810B-489A-B7A3-D0EF3A54F215}"/>
              </a:ext>
            </a:extLst>
          </p:cNvPr>
          <p:cNvSpPr>
            <a:spLocks noChangeShapeType="1"/>
          </p:cNvSpPr>
          <p:nvPr/>
        </p:nvSpPr>
        <p:spPr bwMode="auto">
          <a:xfrm flipV="1">
            <a:off x="4257675" y="2749550"/>
            <a:ext cx="3622675" cy="2805113"/>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7161" name="Group 15">
            <a:extLst>
              <a:ext uri="{FF2B5EF4-FFF2-40B4-BE49-F238E27FC236}">
                <a16:creationId xmlns:a16="http://schemas.microsoft.com/office/drawing/2014/main" id="{2BABF4F6-5DEC-43A8-A94C-680A2CC886DB}"/>
              </a:ext>
            </a:extLst>
          </p:cNvPr>
          <p:cNvGrpSpPr>
            <a:grpSpLocks/>
          </p:cNvGrpSpPr>
          <p:nvPr/>
        </p:nvGrpSpPr>
        <p:grpSpPr bwMode="auto">
          <a:xfrm>
            <a:off x="3727450" y="3836988"/>
            <a:ext cx="2449513" cy="442912"/>
            <a:chOff x="0" y="0"/>
            <a:chExt cx="1543" cy="279"/>
          </a:xfrm>
        </p:grpSpPr>
        <p:sp>
          <p:nvSpPr>
            <p:cNvPr id="177186" name="Text Box 16">
              <a:extLst>
                <a:ext uri="{FF2B5EF4-FFF2-40B4-BE49-F238E27FC236}">
                  <a16:creationId xmlns:a16="http://schemas.microsoft.com/office/drawing/2014/main" id="{146BF6E5-4879-44EF-B3E8-F739DCCFF08B}"/>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S</a:t>
              </a:r>
            </a:p>
          </p:txBody>
        </p:sp>
        <p:sp>
          <p:nvSpPr>
            <p:cNvPr id="177187" name="Line 17">
              <a:extLst>
                <a:ext uri="{FF2B5EF4-FFF2-40B4-BE49-F238E27FC236}">
                  <a16:creationId xmlns:a16="http://schemas.microsoft.com/office/drawing/2014/main" id="{0AD9C590-BBF5-4AF9-8A51-DEAB457E02F2}"/>
                </a:ext>
              </a:extLst>
            </p:cNvPr>
            <p:cNvSpPr>
              <a:spLocks noChangeShapeType="1"/>
            </p:cNvSpPr>
            <p:nvPr/>
          </p:nvSpPr>
          <p:spPr bwMode="auto">
            <a:xfrm flipH="1">
              <a:off x="334" y="139"/>
              <a:ext cx="120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7162" name="Group 18">
            <a:extLst>
              <a:ext uri="{FF2B5EF4-FFF2-40B4-BE49-F238E27FC236}">
                <a16:creationId xmlns:a16="http://schemas.microsoft.com/office/drawing/2014/main" id="{B956DB89-F2EB-40B9-9461-8E5A2E628117}"/>
              </a:ext>
            </a:extLst>
          </p:cNvPr>
          <p:cNvGrpSpPr>
            <a:grpSpLocks/>
          </p:cNvGrpSpPr>
          <p:nvPr/>
        </p:nvGrpSpPr>
        <p:grpSpPr bwMode="auto">
          <a:xfrm>
            <a:off x="3722688" y="2584450"/>
            <a:ext cx="2454275" cy="442913"/>
            <a:chOff x="0" y="0"/>
            <a:chExt cx="1546" cy="279"/>
          </a:xfrm>
        </p:grpSpPr>
        <p:sp>
          <p:nvSpPr>
            <p:cNvPr id="177184" name="Text Box 19">
              <a:extLst>
                <a:ext uri="{FF2B5EF4-FFF2-40B4-BE49-F238E27FC236}">
                  <a16:creationId xmlns:a16="http://schemas.microsoft.com/office/drawing/2014/main" id="{4EA5A515-A3D4-4365-A58C-8345994AC593}"/>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B</a:t>
              </a:r>
            </a:p>
          </p:txBody>
        </p:sp>
        <p:sp>
          <p:nvSpPr>
            <p:cNvPr id="177185" name="Line 20">
              <a:extLst>
                <a:ext uri="{FF2B5EF4-FFF2-40B4-BE49-F238E27FC236}">
                  <a16:creationId xmlns:a16="http://schemas.microsoft.com/office/drawing/2014/main" id="{17CDD36D-37C1-472B-A276-4AE3A42F632B}"/>
                </a:ext>
              </a:extLst>
            </p:cNvPr>
            <p:cNvSpPr>
              <a:spLocks noChangeShapeType="1"/>
            </p:cNvSpPr>
            <p:nvPr/>
          </p:nvSpPr>
          <p:spPr bwMode="auto">
            <a:xfrm flipH="1">
              <a:off x="337" y="142"/>
              <a:ext cx="120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7163" name="Group 21">
            <a:extLst>
              <a:ext uri="{FF2B5EF4-FFF2-40B4-BE49-F238E27FC236}">
                <a16:creationId xmlns:a16="http://schemas.microsoft.com/office/drawing/2014/main" id="{41BDB2F7-6FA2-484D-9D99-A6A544FBCE7A}"/>
              </a:ext>
            </a:extLst>
          </p:cNvPr>
          <p:cNvGrpSpPr>
            <a:grpSpLocks/>
          </p:cNvGrpSpPr>
          <p:nvPr/>
        </p:nvGrpSpPr>
        <p:grpSpPr bwMode="auto">
          <a:xfrm>
            <a:off x="4270375" y="3400425"/>
            <a:ext cx="2767013" cy="2149475"/>
            <a:chOff x="0" y="0"/>
            <a:chExt cx="795" cy="646"/>
          </a:xfrm>
        </p:grpSpPr>
        <p:sp>
          <p:nvSpPr>
            <p:cNvPr id="177182" name="Line 23">
              <a:extLst>
                <a:ext uri="{FF2B5EF4-FFF2-40B4-BE49-F238E27FC236}">
                  <a16:creationId xmlns:a16="http://schemas.microsoft.com/office/drawing/2014/main" id="{58BCAE5A-4F55-4703-BEC2-5B3F922817AC}"/>
                </a:ext>
              </a:extLst>
            </p:cNvPr>
            <p:cNvSpPr>
              <a:spLocks noChangeShapeType="1"/>
            </p:cNvSpPr>
            <p:nvPr/>
          </p:nvSpPr>
          <p:spPr bwMode="auto">
            <a:xfrm>
              <a:off x="0" y="0"/>
              <a:ext cx="79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183" name="Line 24">
              <a:extLst>
                <a:ext uri="{FF2B5EF4-FFF2-40B4-BE49-F238E27FC236}">
                  <a16:creationId xmlns:a16="http://schemas.microsoft.com/office/drawing/2014/main" id="{DD5BEB8F-4625-47FA-97D3-C2C63A89BFAF}"/>
                </a:ext>
              </a:extLst>
            </p:cNvPr>
            <p:cNvSpPr>
              <a:spLocks noChangeShapeType="1"/>
            </p:cNvSpPr>
            <p:nvPr/>
          </p:nvSpPr>
          <p:spPr bwMode="auto">
            <a:xfrm>
              <a:off x="795" y="1"/>
              <a:ext cx="0" cy="64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7164" name="Text Box 25">
            <a:extLst>
              <a:ext uri="{FF2B5EF4-FFF2-40B4-BE49-F238E27FC236}">
                <a16:creationId xmlns:a16="http://schemas.microsoft.com/office/drawing/2014/main" id="{FDCAF7AF-9CB3-456D-9B88-B27A6AE887D3}"/>
              </a:ext>
            </a:extLst>
          </p:cNvPr>
          <p:cNvSpPr txBox="1">
            <a:spLocks noChangeArrowheads="1"/>
          </p:cNvSpPr>
          <p:nvPr/>
        </p:nvSpPr>
        <p:spPr bwMode="auto">
          <a:xfrm>
            <a:off x="6737350" y="5551488"/>
            <a:ext cx="5889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E</a:t>
            </a:r>
          </a:p>
        </p:txBody>
      </p:sp>
      <p:sp>
        <p:nvSpPr>
          <p:cNvPr id="177165" name="Text Box 26">
            <a:extLst>
              <a:ext uri="{FF2B5EF4-FFF2-40B4-BE49-F238E27FC236}">
                <a16:creationId xmlns:a16="http://schemas.microsoft.com/office/drawing/2014/main" id="{97977AAD-9905-42D1-B21E-BCC9EC7DACAA}"/>
              </a:ext>
            </a:extLst>
          </p:cNvPr>
          <p:cNvSpPr txBox="1">
            <a:spLocks noChangeArrowheads="1"/>
          </p:cNvSpPr>
          <p:nvPr/>
        </p:nvSpPr>
        <p:spPr bwMode="auto">
          <a:xfrm>
            <a:off x="5880100" y="5551488"/>
            <a:ext cx="5889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T</a:t>
            </a:r>
          </a:p>
        </p:txBody>
      </p:sp>
      <p:sp>
        <p:nvSpPr>
          <p:cNvPr id="177166" name="Text Box 27">
            <a:extLst>
              <a:ext uri="{FF2B5EF4-FFF2-40B4-BE49-F238E27FC236}">
                <a16:creationId xmlns:a16="http://schemas.microsoft.com/office/drawing/2014/main" id="{CFDEC011-7044-4EEB-9B8F-1429C7EFC399}"/>
              </a:ext>
            </a:extLst>
          </p:cNvPr>
          <p:cNvSpPr txBox="1">
            <a:spLocks noChangeArrowheads="1"/>
          </p:cNvSpPr>
          <p:nvPr/>
        </p:nvSpPr>
        <p:spPr bwMode="auto">
          <a:xfrm>
            <a:off x="4686300" y="218122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A</a:t>
            </a:r>
          </a:p>
        </p:txBody>
      </p:sp>
      <p:sp>
        <p:nvSpPr>
          <p:cNvPr id="177167" name="Text Box 28">
            <a:extLst>
              <a:ext uri="{FF2B5EF4-FFF2-40B4-BE49-F238E27FC236}">
                <a16:creationId xmlns:a16="http://schemas.microsoft.com/office/drawing/2014/main" id="{AA211400-35D4-4D64-873E-22A392413160}"/>
              </a:ext>
            </a:extLst>
          </p:cNvPr>
          <p:cNvSpPr txBox="1">
            <a:spLocks noChangeArrowheads="1"/>
          </p:cNvSpPr>
          <p:nvPr/>
        </p:nvSpPr>
        <p:spPr bwMode="auto">
          <a:xfrm>
            <a:off x="5010150" y="288607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B</a:t>
            </a:r>
          </a:p>
        </p:txBody>
      </p:sp>
      <p:sp>
        <p:nvSpPr>
          <p:cNvPr id="177168" name="Text Box 29">
            <a:extLst>
              <a:ext uri="{FF2B5EF4-FFF2-40B4-BE49-F238E27FC236}">
                <a16:creationId xmlns:a16="http://schemas.microsoft.com/office/drawing/2014/main" id="{EAB609B1-56B6-4A3E-9771-F0D26E150272}"/>
              </a:ext>
            </a:extLst>
          </p:cNvPr>
          <p:cNvSpPr txBox="1">
            <a:spLocks noChangeArrowheads="1"/>
          </p:cNvSpPr>
          <p:nvPr/>
        </p:nvSpPr>
        <p:spPr bwMode="auto">
          <a:xfrm>
            <a:off x="6200775" y="296227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C</a:t>
            </a:r>
          </a:p>
        </p:txBody>
      </p:sp>
      <p:sp>
        <p:nvSpPr>
          <p:cNvPr id="177169" name="Text Box 30">
            <a:extLst>
              <a:ext uri="{FF2B5EF4-FFF2-40B4-BE49-F238E27FC236}">
                <a16:creationId xmlns:a16="http://schemas.microsoft.com/office/drawing/2014/main" id="{19D35235-E5D7-4666-99D1-68E309CE99E3}"/>
              </a:ext>
            </a:extLst>
          </p:cNvPr>
          <p:cNvSpPr txBox="1">
            <a:spLocks noChangeArrowheads="1"/>
          </p:cNvSpPr>
          <p:nvPr/>
        </p:nvSpPr>
        <p:spPr bwMode="auto">
          <a:xfrm>
            <a:off x="5029200" y="3505200"/>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D</a:t>
            </a:r>
          </a:p>
        </p:txBody>
      </p:sp>
      <p:sp>
        <p:nvSpPr>
          <p:cNvPr id="177170" name="Text Box 31">
            <a:extLst>
              <a:ext uri="{FF2B5EF4-FFF2-40B4-BE49-F238E27FC236}">
                <a16:creationId xmlns:a16="http://schemas.microsoft.com/office/drawing/2014/main" id="{07C3F853-8790-4E80-AE84-346B89409712}"/>
              </a:ext>
            </a:extLst>
          </p:cNvPr>
          <p:cNvSpPr txBox="1">
            <a:spLocks noChangeArrowheads="1"/>
          </p:cNvSpPr>
          <p:nvPr/>
        </p:nvSpPr>
        <p:spPr bwMode="auto">
          <a:xfrm>
            <a:off x="6200775" y="340042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E</a:t>
            </a:r>
          </a:p>
        </p:txBody>
      </p:sp>
      <p:sp>
        <p:nvSpPr>
          <p:cNvPr id="177171" name="Text Box 32">
            <a:extLst>
              <a:ext uri="{FF2B5EF4-FFF2-40B4-BE49-F238E27FC236}">
                <a16:creationId xmlns:a16="http://schemas.microsoft.com/office/drawing/2014/main" id="{AAF0A8A0-84CB-4B57-891C-6E4F216166EB}"/>
              </a:ext>
            </a:extLst>
          </p:cNvPr>
          <p:cNvSpPr txBox="1">
            <a:spLocks noChangeArrowheads="1"/>
          </p:cNvSpPr>
          <p:nvPr/>
        </p:nvSpPr>
        <p:spPr bwMode="auto">
          <a:xfrm>
            <a:off x="4772025" y="4229100"/>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F</a:t>
            </a:r>
          </a:p>
        </p:txBody>
      </p:sp>
      <p:sp>
        <p:nvSpPr>
          <p:cNvPr id="17444" name="AutoShape 37">
            <a:extLst>
              <a:ext uri="{FF2B5EF4-FFF2-40B4-BE49-F238E27FC236}">
                <a16:creationId xmlns:a16="http://schemas.microsoft.com/office/drawing/2014/main" id="{BDB4CAB8-72CB-49B6-BA0F-C8E1EA25932C}"/>
              </a:ext>
            </a:extLst>
          </p:cNvPr>
          <p:cNvSpPr>
            <a:spLocks noChangeArrowheads="1"/>
          </p:cNvSpPr>
          <p:nvPr/>
        </p:nvSpPr>
        <p:spPr bwMode="auto">
          <a:xfrm>
            <a:off x="4276725" y="1504950"/>
            <a:ext cx="1866900" cy="1295400"/>
          </a:xfrm>
          <a:prstGeom prst="rtTriangle">
            <a:avLst/>
          </a:prstGeom>
          <a:noFill/>
          <a:ln w="2857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7445" name="AutoShape 38">
            <a:extLst>
              <a:ext uri="{FF2B5EF4-FFF2-40B4-BE49-F238E27FC236}">
                <a16:creationId xmlns:a16="http://schemas.microsoft.com/office/drawing/2014/main" id="{2B911A0C-D576-491D-BEF9-1911E09A238E}"/>
              </a:ext>
            </a:extLst>
          </p:cNvPr>
          <p:cNvSpPr>
            <a:spLocks noChangeArrowheads="1"/>
          </p:cNvSpPr>
          <p:nvPr/>
        </p:nvSpPr>
        <p:spPr bwMode="auto">
          <a:xfrm flipV="1">
            <a:off x="4276725" y="4067175"/>
            <a:ext cx="1871663" cy="1447800"/>
          </a:xfrm>
          <a:prstGeom prst="rtTriangle">
            <a:avLst/>
          </a:prstGeom>
          <a:noFill/>
          <a:ln w="28575">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7446" name="Rectangle 39">
            <a:extLst>
              <a:ext uri="{FF2B5EF4-FFF2-40B4-BE49-F238E27FC236}">
                <a16:creationId xmlns:a16="http://schemas.microsoft.com/office/drawing/2014/main" id="{48C903FA-A7FB-4B90-BCFA-952C2643B7FC}"/>
              </a:ext>
            </a:extLst>
          </p:cNvPr>
          <p:cNvSpPr>
            <a:spLocks noChangeArrowheads="1"/>
          </p:cNvSpPr>
          <p:nvPr/>
        </p:nvSpPr>
        <p:spPr bwMode="auto">
          <a:xfrm>
            <a:off x="4276725" y="2814638"/>
            <a:ext cx="1890713" cy="1238250"/>
          </a:xfrm>
          <a:prstGeom prst="rect">
            <a:avLst/>
          </a:prstGeom>
          <a:noFill/>
          <a:ln w="28575">
            <a:solidFill>
              <a:srgbClr val="FF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7447" name="Rectangle 40">
            <a:extLst>
              <a:ext uri="{FF2B5EF4-FFF2-40B4-BE49-F238E27FC236}">
                <a16:creationId xmlns:a16="http://schemas.microsoft.com/office/drawing/2014/main" id="{04826A00-77DF-493E-A57F-E335003BA3CA}"/>
              </a:ext>
            </a:extLst>
          </p:cNvPr>
          <p:cNvSpPr>
            <a:spLocks noChangeArrowheads="1"/>
          </p:cNvSpPr>
          <p:nvPr/>
        </p:nvSpPr>
        <p:spPr bwMode="auto">
          <a:xfrm>
            <a:off x="467725" y="1379538"/>
            <a:ext cx="3402598" cy="311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45000"/>
              </a:spcBef>
              <a:buClr>
                <a:srgbClr val="00B85C"/>
              </a:buClr>
              <a:buSzPct val="120000"/>
              <a:buFont typeface="Wingdings" panose="05000000000000000000" pitchFamily="2" charset="2"/>
              <a:buNone/>
            </a:pPr>
            <a:r>
              <a:rPr lang="zh-CN" altLang="en-US" sz="2600" b="0" dirty="0">
                <a:latin typeface="Arial" panose="020B0604020202020204" pitchFamily="34" charset="0"/>
              </a:rPr>
              <a:t>有税收时</a:t>
            </a:r>
            <a:r>
              <a:rPr lang="en-US" altLang="zh-CN" sz="2600" b="0" dirty="0">
                <a:latin typeface="Arial" panose="020B0604020202020204" pitchFamily="34" charset="0"/>
              </a:rPr>
              <a:t>,CS=A,PS=F</a:t>
            </a:r>
          </a:p>
          <a:p>
            <a:pPr eaLnBrk="1" hangingPunct="1">
              <a:lnSpc>
                <a:spcPct val="105000"/>
              </a:lnSpc>
              <a:spcBef>
                <a:spcPct val="45000"/>
              </a:spcBef>
              <a:buClr>
                <a:srgbClr val="00B85C"/>
              </a:buClr>
              <a:buSzPct val="120000"/>
              <a:buFont typeface="Wingdings" panose="05000000000000000000" pitchFamily="2" charset="2"/>
              <a:buNone/>
            </a:pPr>
            <a:r>
              <a:rPr lang="zh-CN" altLang="en-US" sz="2600" b="0" dirty="0">
                <a:latin typeface="Arial" panose="020B0604020202020204" pitchFamily="34" charset="0"/>
              </a:rPr>
              <a:t>税收收入</a:t>
            </a:r>
            <a:r>
              <a:rPr lang="en-US" altLang="zh-CN" sz="2600" b="0" dirty="0">
                <a:latin typeface="Arial" panose="020B0604020202020204" pitchFamily="34" charset="0"/>
              </a:rPr>
              <a:t>=B+D</a:t>
            </a:r>
          </a:p>
          <a:p>
            <a:pPr eaLnBrk="1" hangingPunct="1">
              <a:lnSpc>
                <a:spcPct val="105000"/>
              </a:lnSpc>
              <a:spcBef>
                <a:spcPct val="45000"/>
              </a:spcBef>
              <a:buClr>
                <a:srgbClr val="00B85C"/>
              </a:buClr>
              <a:buSzPct val="120000"/>
              <a:buFont typeface="Wingdings" panose="05000000000000000000" pitchFamily="2" charset="2"/>
              <a:buNone/>
            </a:pPr>
            <a:r>
              <a:rPr lang="zh-CN" altLang="en-US" sz="2600" b="0" dirty="0">
                <a:latin typeface="Arial" panose="020B0604020202020204" pitchFamily="34" charset="0"/>
              </a:rPr>
              <a:t>总剩余</a:t>
            </a:r>
            <a:r>
              <a:rPr lang="en-US" altLang="zh-CN" sz="2600" b="0" dirty="0">
                <a:latin typeface="Arial" panose="020B0604020202020204" pitchFamily="34" charset="0"/>
              </a:rPr>
              <a:t>=A+B+D+F</a:t>
            </a:r>
          </a:p>
          <a:p>
            <a:pPr eaLnBrk="1" hangingPunct="1">
              <a:lnSpc>
                <a:spcPct val="105000"/>
              </a:lnSpc>
              <a:spcBef>
                <a:spcPct val="45000"/>
              </a:spcBef>
              <a:buClr>
                <a:srgbClr val="00B85C"/>
              </a:buClr>
              <a:buSzPct val="120000"/>
              <a:buFont typeface="Wingdings" panose="05000000000000000000" pitchFamily="2" charset="2"/>
              <a:buNone/>
            </a:pPr>
            <a:r>
              <a:rPr lang="zh-CN" altLang="en-US" sz="2600" b="0" dirty="0">
                <a:latin typeface="Arial" panose="020B0604020202020204" pitchFamily="34" charset="0"/>
              </a:rPr>
              <a:t>税收使总剩余减少</a:t>
            </a:r>
            <a:r>
              <a:rPr lang="en-US" altLang="zh-CN" sz="2600" b="0" dirty="0">
                <a:latin typeface="Arial" panose="020B0604020202020204" pitchFamily="34" charset="0"/>
              </a:rPr>
              <a:t>C+E </a:t>
            </a:r>
          </a:p>
        </p:txBody>
      </p:sp>
      <p:grpSp>
        <p:nvGrpSpPr>
          <p:cNvPr id="7" name="Group 40">
            <a:extLst>
              <a:ext uri="{FF2B5EF4-FFF2-40B4-BE49-F238E27FC236}">
                <a16:creationId xmlns:a16="http://schemas.microsoft.com/office/drawing/2014/main" id="{103B3167-9E1A-4519-AD46-61AD95B0ECD2}"/>
              </a:ext>
            </a:extLst>
          </p:cNvPr>
          <p:cNvGrpSpPr>
            <a:grpSpLocks/>
          </p:cNvGrpSpPr>
          <p:nvPr/>
        </p:nvGrpSpPr>
        <p:grpSpPr bwMode="auto">
          <a:xfrm>
            <a:off x="4268788" y="1489075"/>
            <a:ext cx="1901825" cy="4030663"/>
            <a:chOff x="0" y="0"/>
            <a:chExt cx="1198" cy="2539"/>
          </a:xfrm>
        </p:grpSpPr>
        <p:sp>
          <p:nvSpPr>
            <p:cNvPr id="177178" name="Line 42">
              <a:extLst>
                <a:ext uri="{FF2B5EF4-FFF2-40B4-BE49-F238E27FC236}">
                  <a16:creationId xmlns:a16="http://schemas.microsoft.com/office/drawing/2014/main" id="{7FBBD107-6873-4FD7-8F32-E8631F2522B3}"/>
                </a:ext>
              </a:extLst>
            </p:cNvPr>
            <p:cNvSpPr>
              <a:spLocks noChangeShapeType="1"/>
            </p:cNvSpPr>
            <p:nvPr/>
          </p:nvSpPr>
          <p:spPr bwMode="auto">
            <a:xfrm>
              <a:off x="4" y="0"/>
              <a:ext cx="0" cy="2538"/>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179" name="Line 43">
              <a:extLst>
                <a:ext uri="{FF2B5EF4-FFF2-40B4-BE49-F238E27FC236}">
                  <a16:creationId xmlns:a16="http://schemas.microsoft.com/office/drawing/2014/main" id="{FE39F1FF-9970-4FEB-BFBB-FF656309FC8C}"/>
                </a:ext>
              </a:extLst>
            </p:cNvPr>
            <p:cNvSpPr>
              <a:spLocks noChangeShapeType="1"/>
            </p:cNvSpPr>
            <p:nvPr/>
          </p:nvSpPr>
          <p:spPr bwMode="auto">
            <a:xfrm flipV="1">
              <a:off x="0" y="1613"/>
              <a:ext cx="1198" cy="926"/>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180" name="Line 44">
              <a:extLst>
                <a:ext uri="{FF2B5EF4-FFF2-40B4-BE49-F238E27FC236}">
                  <a16:creationId xmlns:a16="http://schemas.microsoft.com/office/drawing/2014/main" id="{5F25C457-EE70-4BCC-8E02-B0EB662F732E}"/>
                </a:ext>
              </a:extLst>
            </p:cNvPr>
            <p:cNvSpPr>
              <a:spLocks noChangeShapeType="1"/>
            </p:cNvSpPr>
            <p:nvPr/>
          </p:nvSpPr>
          <p:spPr bwMode="auto">
            <a:xfrm>
              <a:off x="1191" y="825"/>
              <a:ext cx="0" cy="795"/>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181" name="Line 45">
              <a:extLst>
                <a:ext uri="{FF2B5EF4-FFF2-40B4-BE49-F238E27FC236}">
                  <a16:creationId xmlns:a16="http://schemas.microsoft.com/office/drawing/2014/main" id="{3BA8C0F8-A62C-432C-B545-C4052D925A80}"/>
                </a:ext>
              </a:extLst>
            </p:cNvPr>
            <p:cNvSpPr>
              <a:spLocks noChangeShapeType="1"/>
            </p:cNvSpPr>
            <p:nvPr/>
          </p:nvSpPr>
          <p:spPr bwMode="auto">
            <a:xfrm>
              <a:off x="0" y="13"/>
              <a:ext cx="1188" cy="819"/>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7177" name="Title 1">
            <a:extLst>
              <a:ext uri="{FF2B5EF4-FFF2-40B4-BE49-F238E27FC236}">
                <a16:creationId xmlns:a16="http://schemas.microsoft.com/office/drawing/2014/main" id="{B896E14B-276F-4A37-918A-875C055B5E6F}"/>
              </a:ext>
            </a:extLst>
          </p:cNvPr>
          <p:cNvSpPr txBox="1">
            <a:spLocks/>
          </p:cNvSpPr>
          <p:nvPr/>
        </p:nvSpPr>
        <p:spPr bwMode="auto">
          <a:xfrm>
            <a:off x="1371600"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税收对社会福利的影响</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47"/>
                                        </p:tgtEl>
                                        <p:attrNameLst>
                                          <p:attrName>style.visibility</p:attrName>
                                        </p:attrNameLst>
                                      </p:cBhvr>
                                      <p:to>
                                        <p:strVal val="visible"/>
                                      </p:to>
                                    </p:set>
                                    <p:animEffect transition="in" filter="wipe(left)">
                                      <p:cBhvr>
                                        <p:cTn id="7" dur="500"/>
                                        <p:tgtEl>
                                          <p:spTgt spid="1744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7444"/>
                                        </p:tgtEl>
                                        <p:attrNameLst>
                                          <p:attrName>style.visibility</p:attrName>
                                        </p:attrNameLst>
                                      </p:cBhvr>
                                      <p:to>
                                        <p:strVal val="visible"/>
                                      </p:to>
                                    </p:set>
                                    <p:animEffect transition="in" filter="dissolve">
                                      <p:cBhvr>
                                        <p:cTn id="10" dur="500"/>
                                        <p:tgtEl>
                                          <p:spTgt spid="1744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7445"/>
                                        </p:tgtEl>
                                        <p:attrNameLst>
                                          <p:attrName>style.visibility</p:attrName>
                                        </p:attrNameLst>
                                      </p:cBhvr>
                                      <p:to>
                                        <p:strVal val="visible"/>
                                      </p:to>
                                    </p:set>
                                    <p:animEffect transition="in" filter="dissolve">
                                      <p:cBhvr>
                                        <p:cTn id="13" dur="500"/>
                                        <p:tgtEl>
                                          <p:spTgt spid="1744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7446"/>
                                        </p:tgtEl>
                                        <p:attrNameLst>
                                          <p:attrName>style.visibility</p:attrName>
                                        </p:attrNameLst>
                                      </p:cBhvr>
                                      <p:to>
                                        <p:strVal val="visible"/>
                                      </p:to>
                                    </p:set>
                                    <p:animEffect transition="in" filter="dissolve">
                                      <p:cBhvr>
                                        <p:cTn id="16" dur="500"/>
                                        <p:tgtEl>
                                          <p:spTgt spid="17446"/>
                                        </p:tgtEl>
                                      </p:cBhvr>
                                    </p:animEffect>
                                  </p:childTnLst>
                                </p:cTn>
                              </p:par>
                              <p:par>
                                <p:cTn id="17" presetID="9"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7410"/>
                                        </p:tgtEl>
                                        <p:attrNameLst>
                                          <p:attrName>style.visibility</p:attrName>
                                        </p:attrNameLst>
                                      </p:cBhvr>
                                      <p:to>
                                        <p:strVal val="visible"/>
                                      </p:to>
                                    </p:set>
                                    <p:animEffect transition="in" filter="dissolve">
                                      <p:cBhvr>
                                        <p:cTn id="22" dur="500"/>
                                        <p:tgtEl>
                                          <p:spTgt spid="1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autoUpdateAnimBg="0"/>
      <p:bldP spid="17444" grpId="0" animBg="1" autoUpdateAnimBg="0"/>
      <p:bldP spid="17445" grpId="0" animBg="1" autoUpdateAnimBg="0"/>
      <p:bldP spid="17446" grpId="0" animBg="1" autoUpdateAnimBg="0"/>
      <p:bldP spid="17447"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8178" name="AutoShape 2">
            <a:extLst>
              <a:ext uri="{FF2B5EF4-FFF2-40B4-BE49-F238E27FC236}">
                <a16:creationId xmlns:a16="http://schemas.microsoft.com/office/drawing/2014/main" id="{D1CC3F32-E9E1-4360-BCE5-DA7FC344D0CD}"/>
              </a:ext>
            </a:extLst>
          </p:cNvPr>
          <p:cNvSpPr>
            <a:spLocks noChangeArrowheads="1"/>
          </p:cNvSpPr>
          <p:nvPr/>
        </p:nvSpPr>
        <p:spPr bwMode="auto">
          <a:xfrm rot="5400000">
            <a:off x="5996782" y="3018631"/>
            <a:ext cx="1212850" cy="830263"/>
          </a:xfrm>
          <a:prstGeom prst="triangle">
            <a:avLst>
              <a:gd name="adj" fmla="val 47644"/>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78179" name="Line 3">
            <a:extLst>
              <a:ext uri="{FF2B5EF4-FFF2-40B4-BE49-F238E27FC236}">
                <a16:creationId xmlns:a16="http://schemas.microsoft.com/office/drawing/2014/main" id="{BB155183-F0B8-4265-843E-26D1D8A1DD66}"/>
              </a:ext>
            </a:extLst>
          </p:cNvPr>
          <p:cNvSpPr>
            <a:spLocks noChangeShapeType="1"/>
          </p:cNvSpPr>
          <p:nvPr/>
        </p:nvSpPr>
        <p:spPr bwMode="auto">
          <a:xfrm>
            <a:off x="6181725" y="2805113"/>
            <a:ext cx="0" cy="27479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764" name="Rectangle 4">
            <a:extLst>
              <a:ext uri="{FF2B5EF4-FFF2-40B4-BE49-F238E27FC236}">
                <a16:creationId xmlns:a16="http://schemas.microsoft.com/office/drawing/2014/main" id="{FA461079-DA11-43F1-9425-8B8359EEDB31}"/>
              </a:ext>
            </a:extLst>
          </p:cNvPr>
          <p:cNvSpPr>
            <a:spLocks noGrp="1" noChangeArrowheads="1"/>
          </p:cNvSpPr>
          <p:nvPr>
            <p:ph type="title" idx="4294967295"/>
          </p:nvPr>
        </p:nvSpPr>
        <p:spPr/>
        <p:txBody>
          <a:bodyPr/>
          <a:lstStyle/>
          <a:p>
            <a:r>
              <a:rPr lang="zh-CN" altLang="en-US">
                <a:ea typeface="宋体" panose="02010600030101010101" pitchFamily="2" charset="-122"/>
              </a:rPr>
              <a:t>税收效应</a:t>
            </a:r>
          </a:p>
        </p:txBody>
      </p:sp>
      <p:grpSp>
        <p:nvGrpSpPr>
          <p:cNvPr id="178181" name="Group 5">
            <a:extLst>
              <a:ext uri="{FF2B5EF4-FFF2-40B4-BE49-F238E27FC236}">
                <a16:creationId xmlns:a16="http://schemas.microsoft.com/office/drawing/2014/main" id="{96188CCA-D2E0-4F9E-BDF9-6776F5A6ABEA}"/>
              </a:ext>
            </a:extLst>
          </p:cNvPr>
          <p:cNvGrpSpPr>
            <a:grpSpLocks/>
          </p:cNvGrpSpPr>
          <p:nvPr/>
        </p:nvGrpSpPr>
        <p:grpSpPr bwMode="auto">
          <a:xfrm>
            <a:off x="4068763" y="927100"/>
            <a:ext cx="4305300" cy="4824413"/>
            <a:chOff x="0" y="0"/>
            <a:chExt cx="2712" cy="2666"/>
          </a:xfrm>
        </p:grpSpPr>
        <p:grpSp>
          <p:nvGrpSpPr>
            <p:cNvPr id="178204" name="Group 6">
              <a:extLst>
                <a:ext uri="{FF2B5EF4-FFF2-40B4-BE49-F238E27FC236}">
                  <a16:creationId xmlns:a16="http://schemas.microsoft.com/office/drawing/2014/main" id="{8D0E8BBD-809D-4921-8748-0D2303BB8889}"/>
                </a:ext>
              </a:extLst>
            </p:cNvPr>
            <p:cNvGrpSpPr>
              <a:grpSpLocks/>
            </p:cNvGrpSpPr>
            <p:nvPr/>
          </p:nvGrpSpPr>
          <p:grpSpPr bwMode="auto">
            <a:xfrm>
              <a:off x="119" y="225"/>
              <a:ext cx="2382" cy="2331"/>
              <a:chOff x="0" y="0"/>
              <a:chExt cx="2400" cy="2079"/>
            </a:xfrm>
          </p:grpSpPr>
          <p:sp>
            <p:nvSpPr>
              <p:cNvPr id="178207" name="Line 7">
                <a:extLst>
                  <a:ext uri="{FF2B5EF4-FFF2-40B4-BE49-F238E27FC236}">
                    <a16:creationId xmlns:a16="http://schemas.microsoft.com/office/drawing/2014/main" id="{1C57E77A-E80D-4358-A1D1-6DB2A7832AF6}"/>
                  </a:ext>
                </a:extLst>
              </p:cNvPr>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208" name="Line 8">
                <a:extLst>
                  <a:ext uri="{FF2B5EF4-FFF2-40B4-BE49-F238E27FC236}">
                    <a16:creationId xmlns:a16="http://schemas.microsoft.com/office/drawing/2014/main" id="{DBE799C5-259F-41BA-B85B-AFB8966B2617}"/>
                  </a:ext>
                </a:extLst>
              </p:cNvPr>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8205" name="Text Box 9">
              <a:extLst>
                <a:ext uri="{FF2B5EF4-FFF2-40B4-BE49-F238E27FC236}">
                  <a16:creationId xmlns:a16="http://schemas.microsoft.com/office/drawing/2014/main" id="{8AE5AD33-288B-465F-985E-EE075C48716D}"/>
                </a:ext>
              </a:extLst>
            </p:cNvPr>
            <p:cNvSpPr txBox="1">
              <a:spLocks noChangeArrowheads="1"/>
            </p:cNvSpPr>
            <p:nvPr/>
          </p:nvSpPr>
          <p:spPr bwMode="auto">
            <a:xfrm>
              <a:off x="0" y="0"/>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p>
          </p:txBody>
        </p:sp>
        <p:sp>
          <p:nvSpPr>
            <p:cNvPr id="178206" name="Text Box 10">
              <a:extLst>
                <a:ext uri="{FF2B5EF4-FFF2-40B4-BE49-F238E27FC236}">
                  <a16:creationId xmlns:a16="http://schemas.microsoft.com/office/drawing/2014/main" id="{FC0ABFAE-0C50-4FF9-B398-B1473E4F1240}"/>
                </a:ext>
              </a:extLst>
            </p:cNvPr>
            <p:cNvSpPr txBox="1">
              <a:spLocks noChangeArrowheads="1"/>
            </p:cNvSpPr>
            <p:nvPr/>
          </p:nvSpPr>
          <p:spPr bwMode="auto">
            <a:xfrm>
              <a:off x="2479" y="2421"/>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p>
          </p:txBody>
        </p:sp>
      </p:grpSp>
      <p:sp>
        <p:nvSpPr>
          <p:cNvPr id="178182" name="Text Box 11">
            <a:extLst>
              <a:ext uri="{FF2B5EF4-FFF2-40B4-BE49-F238E27FC236}">
                <a16:creationId xmlns:a16="http://schemas.microsoft.com/office/drawing/2014/main" id="{F99B077E-75B8-426B-9B05-E5378BE20BCF}"/>
              </a:ext>
            </a:extLst>
          </p:cNvPr>
          <p:cNvSpPr txBox="1">
            <a:spLocks noChangeArrowheads="1"/>
          </p:cNvSpPr>
          <p:nvPr/>
        </p:nvSpPr>
        <p:spPr bwMode="auto">
          <a:xfrm>
            <a:off x="7851775" y="3854450"/>
            <a:ext cx="3698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D</a:t>
            </a:r>
          </a:p>
        </p:txBody>
      </p:sp>
      <p:sp>
        <p:nvSpPr>
          <p:cNvPr id="178183" name="Line 12">
            <a:extLst>
              <a:ext uri="{FF2B5EF4-FFF2-40B4-BE49-F238E27FC236}">
                <a16:creationId xmlns:a16="http://schemas.microsoft.com/office/drawing/2014/main" id="{3D9D3F45-3F28-4796-A8A7-71FB0692A4CD}"/>
              </a:ext>
            </a:extLst>
          </p:cNvPr>
          <p:cNvSpPr>
            <a:spLocks noChangeShapeType="1"/>
          </p:cNvSpPr>
          <p:nvPr/>
        </p:nvSpPr>
        <p:spPr bwMode="auto">
          <a:xfrm>
            <a:off x="4260850" y="1485900"/>
            <a:ext cx="3659188" cy="2522538"/>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184" name="Text Box 13">
            <a:extLst>
              <a:ext uri="{FF2B5EF4-FFF2-40B4-BE49-F238E27FC236}">
                <a16:creationId xmlns:a16="http://schemas.microsoft.com/office/drawing/2014/main" id="{2A5D9BD6-5AFB-44E4-A998-F78EB7D6FC60}"/>
              </a:ext>
            </a:extLst>
          </p:cNvPr>
          <p:cNvSpPr txBox="1">
            <a:spLocks noChangeArrowheads="1"/>
          </p:cNvSpPr>
          <p:nvPr/>
        </p:nvSpPr>
        <p:spPr bwMode="auto">
          <a:xfrm>
            <a:off x="7834313" y="2441575"/>
            <a:ext cx="369887"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S</a:t>
            </a:r>
          </a:p>
        </p:txBody>
      </p:sp>
      <p:sp>
        <p:nvSpPr>
          <p:cNvPr id="178185" name="Line 14">
            <a:extLst>
              <a:ext uri="{FF2B5EF4-FFF2-40B4-BE49-F238E27FC236}">
                <a16:creationId xmlns:a16="http://schemas.microsoft.com/office/drawing/2014/main" id="{1623CDD9-441F-4E58-9355-359141A771CF}"/>
              </a:ext>
            </a:extLst>
          </p:cNvPr>
          <p:cNvSpPr>
            <a:spLocks noChangeShapeType="1"/>
          </p:cNvSpPr>
          <p:nvPr/>
        </p:nvSpPr>
        <p:spPr bwMode="auto">
          <a:xfrm flipV="1">
            <a:off x="4257675" y="2749550"/>
            <a:ext cx="3622675" cy="2805113"/>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8186" name="Group 15">
            <a:extLst>
              <a:ext uri="{FF2B5EF4-FFF2-40B4-BE49-F238E27FC236}">
                <a16:creationId xmlns:a16="http://schemas.microsoft.com/office/drawing/2014/main" id="{5285B47C-1A94-43CB-9AFD-043E3A782408}"/>
              </a:ext>
            </a:extLst>
          </p:cNvPr>
          <p:cNvGrpSpPr>
            <a:grpSpLocks/>
          </p:cNvGrpSpPr>
          <p:nvPr/>
        </p:nvGrpSpPr>
        <p:grpSpPr bwMode="auto">
          <a:xfrm>
            <a:off x="3727450" y="3836988"/>
            <a:ext cx="2449513" cy="442912"/>
            <a:chOff x="0" y="0"/>
            <a:chExt cx="1543" cy="279"/>
          </a:xfrm>
        </p:grpSpPr>
        <p:sp>
          <p:nvSpPr>
            <p:cNvPr id="178202" name="Text Box 16">
              <a:extLst>
                <a:ext uri="{FF2B5EF4-FFF2-40B4-BE49-F238E27FC236}">
                  <a16:creationId xmlns:a16="http://schemas.microsoft.com/office/drawing/2014/main" id="{D0182BAB-BB6A-49ED-B29C-5BF4C45A7512}"/>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S</a:t>
              </a:r>
            </a:p>
          </p:txBody>
        </p:sp>
        <p:sp>
          <p:nvSpPr>
            <p:cNvPr id="178203" name="Line 17">
              <a:extLst>
                <a:ext uri="{FF2B5EF4-FFF2-40B4-BE49-F238E27FC236}">
                  <a16:creationId xmlns:a16="http://schemas.microsoft.com/office/drawing/2014/main" id="{DE3D9EFD-7F66-49D2-83E2-A631A8999738}"/>
                </a:ext>
              </a:extLst>
            </p:cNvPr>
            <p:cNvSpPr>
              <a:spLocks noChangeShapeType="1"/>
            </p:cNvSpPr>
            <p:nvPr/>
          </p:nvSpPr>
          <p:spPr bwMode="auto">
            <a:xfrm flipH="1">
              <a:off x="334" y="139"/>
              <a:ext cx="120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8187" name="Group 18">
            <a:extLst>
              <a:ext uri="{FF2B5EF4-FFF2-40B4-BE49-F238E27FC236}">
                <a16:creationId xmlns:a16="http://schemas.microsoft.com/office/drawing/2014/main" id="{EFEE6FB5-0AD3-417A-825E-73D337E0FE93}"/>
              </a:ext>
            </a:extLst>
          </p:cNvPr>
          <p:cNvGrpSpPr>
            <a:grpSpLocks/>
          </p:cNvGrpSpPr>
          <p:nvPr/>
        </p:nvGrpSpPr>
        <p:grpSpPr bwMode="auto">
          <a:xfrm>
            <a:off x="3722688" y="2584450"/>
            <a:ext cx="2454275" cy="442913"/>
            <a:chOff x="0" y="0"/>
            <a:chExt cx="1546" cy="279"/>
          </a:xfrm>
        </p:grpSpPr>
        <p:sp>
          <p:nvSpPr>
            <p:cNvPr id="178200" name="Text Box 19">
              <a:extLst>
                <a:ext uri="{FF2B5EF4-FFF2-40B4-BE49-F238E27FC236}">
                  <a16:creationId xmlns:a16="http://schemas.microsoft.com/office/drawing/2014/main" id="{D71E7961-9EB4-40FC-A042-69106E72A2FD}"/>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B</a:t>
              </a:r>
            </a:p>
          </p:txBody>
        </p:sp>
        <p:sp>
          <p:nvSpPr>
            <p:cNvPr id="178201" name="Line 20">
              <a:extLst>
                <a:ext uri="{FF2B5EF4-FFF2-40B4-BE49-F238E27FC236}">
                  <a16:creationId xmlns:a16="http://schemas.microsoft.com/office/drawing/2014/main" id="{11622866-3E78-4B0B-A615-E60FE2D1BF3E}"/>
                </a:ext>
              </a:extLst>
            </p:cNvPr>
            <p:cNvSpPr>
              <a:spLocks noChangeShapeType="1"/>
            </p:cNvSpPr>
            <p:nvPr/>
          </p:nvSpPr>
          <p:spPr bwMode="auto">
            <a:xfrm flipH="1">
              <a:off x="337" y="142"/>
              <a:ext cx="120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8188" name="Group 21">
            <a:extLst>
              <a:ext uri="{FF2B5EF4-FFF2-40B4-BE49-F238E27FC236}">
                <a16:creationId xmlns:a16="http://schemas.microsoft.com/office/drawing/2014/main" id="{8EE7CB8F-1C9A-417A-BAD6-C14C4D9E8F82}"/>
              </a:ext>
            </a:extLst>
          </p:cNvPr>
          <p:cNvGrpSpPr>
            <a:grpSpLocks/>
          </p:cNvGrpSpPr>
          <p:nvPr/>
        </p:nvGrpSpPr>
        <p:grpSpPr bwMode="auto">
          <a:xfrm>
            <a:off x="4270375" y="3400425"/>
            <a:ext cx="2767013" cy="2149475"/>
            <a:chOff x="0" y="0"/>
            <a:chExt cx="795" cy="646"/>
          </a:xfrm>
        </p:grpSpPr>
        <p:sp>
          <p:nvSpPr>
            <p:cNvPr id="178198" name="Line 23">
              <a:extLst>
                <a:ext uri="{FF2B5EF4-FFF2-40B4-BE49-F238E27FC236}">
                  <a16:creationId xmlns:a16="http://schemas.microsoft.com/office/drawing/2014/main" id="{3E88A4E7-9072-4730-A12D-09669F706200}"/>
                </a:ext>
              </a:extLst>
            </p:cNvPr>
            <p:cNvSpPr>
              <a:spLocks noChangeShapeType="1"/>
            </p:cNvSpPr>
            <p:nvPr/>
          </p:nvSpPr>
          <p:spPr bwMode="auto">
            <a:xfrm>
              <a:off x="0" y="0"/>
              <a:ext cx="79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8199" name="Line 24">
              <a:extLst>
                <a:ext uri="{FF2B5EF4-FFF2-40B4-BE49-F238E27FC236}">
                  <a16:creationId xmlns:a16="http://schemas.microsoft.com/office/drawing/2014/main" id="{C4EE8D21-2308-45FB-80D1-AC804433101D}"/>
                </a:ext>
              </a:extLst>
            </p:cNvPr>
            <p:cNvSpPr>
              <a:spLocks noChangeShapeType="1"/>
            </p:cNvSpPr>
            <p:nvPr/>
          </p:nvSpPr>
          <p:spPr bwMode="auto">
            <a:xfrm>
              <a:off x="795" y="1"/>
              <a:ext cx="0" cy="64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8189" name="Text Box 25">
            <a:extLst>
              <a:ext uri="{FF2B5EF4-FFF2-40B4-BE49-F238E27FC236}">
                <a16:creationId xmlns:a16="http://schemas.microsoft.com/office/drawing/2014/main" id="{7D3FD2C7-0564-44DB-9C6D-54B1CB401CE9}"/>
              </a:ext>
            </a:extLst>
          </p:cNvPr>
          <p:cNvSpPr txBox="1">
            <a:spLocks noChangeArrowheads="1"/>
          </p:cNvSpPr>
          <p:nvPr/>
        </p:nvSpPr>
        <p:spPr bwMode="auto">
          <a:xfrm>
            <a:off x="6737350" y="5551488"/>
            <a:ext cx="5889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E</a:t>
            </a:r>
          </a:p>
        </p:txBody>
      </p:sp>
      <p:sp>
        <p:nvSpPr>
          <p:cNvPr id="178190" name="Text Box 26">
            <a:extLst>
              <a:ext uri="{FF2B5EF4-FFF2-40B4-BE49-F238E27FC236}">
                <a16:creationId xmlns:a16="http://schemas.microsoft.com/office/drawing/2014/main" id="{77C2A492-07B1-46E8-A819-BE8C82DADF0C}"/>
              </a:ext>
            </a:extLst>
          </p:cNvPr>
          <p:cNvSpPr txBox="1">
            <a:spLocks noChangeArrowheads="1"/>
          </p:cNvSpPr>
          <p:nvPr/>
        </p:nvSpPr>
        <p:spPr bwMode="auto">
          <a:xfrm>
            <a:off x="5880100" y="5551488"/>
            <a:ext cx="5889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T</a:t>
            </a:r>
          </a:p>
        </p:txBody>
      </p:sp>
      <p:sp>
        <p:nvSpPr>
          <p:cNvPr id="178191" name="Text Box 27">
            <a:extLst>
              <a:ext uri="{FF2B5EF4-FFF2-40B4-BE49-F238E27FC236}">
                <a16:creationId xmlns:a16="http://schemas.microsoft.com/office/drawing/2014/main" id="{070AE29C-BB75-4802-B98A-1D128CB9A2F9}"/>
              </a:ext>
            </a:extLst>
          </p:cNvPr>
          <p:cNvSpPr txBox="1">
            <a:spLocks noChangeArrowheads="1"/>
          </p:cNvSpPr>
          <p:nvPr/>
        </p:nvSpPr>
        <p:spPr bwMode="auto">
          <a:xfrm>
            <a:off x="4686300" y="218122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A</a:t>
            </a:r>
          </a:p>
        </p:txBody>
      </p:sp>
      <p:sp>
        <p:nvSpPr>
          <p:cNvPr id="178192" name="Text Box 28">
            <a:extLst>
              <a:ext uri="{FF2B5EF4-FFF2-40B4-BE49-F238E27FC236}">
                <a16:creationId xmlns:a16="http://schemas.microsoft.com/office/drawing/2014/main" id="{02E626E6-D3D6-4855-ACB0-D80D56E42EEF}"/>
              </a:ext>
            </a:extLst>
          </p:cNvPr>
          <p:cNvSpPr txBox="1">
            <a:spLocks noChangeArrowheads="1"/>
          </p:cNvSpPr>
          <p:nvPr/>
        </p:nvSpPr>
        <p:spPr bwMode="auto">
          <a:xfrm>
            <a:off x="5010150" y="288607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B</a:t>
            </a:r>
          </a:p>
        </p:txBody>
      </p:sp>
      <p:sp>
        <p:nvSpPr>
          <p:cNvPr id="178193" name="Text Box 29">
            <a:extLst>
              <a:ext uri="{FF2B5EF4-FFF2-40B4-BE49-F238E27FC236}">
                <a16:creationId xmlns:a16="http://schemas.microsoft.com/office/drawing/2014/main" id="{C8773FEB-1134-4929-9ED4-8E27849DEC3E}"/>
              </a:ext>
            </a:extLst>
          </p:cNvPr>
          <p:cNvSpPr txBox="1">
            <a:spLocks noChangeArrowheads="1"/>
          </p:cNvSpPr>
          <p:nvPr/>
        </p:nvSpPr>
        <p:spPr bwMode="auto">
          <a:xfrm>
            <a:off x="6200775" y="296227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C</a:t>
            </a:r>
          </a:p>
        </p:txBody>
      </p:sp>
      <p:sp>
        <p:nvSpPr>
          <p:cNvPr id="178194" name="Text Box 30">
            <a:extLst>
              <a:ext uri="{FF2B5EF4-FFF2-40B4-BE49-F238E27FC236}">
                <a16:creationId xmlns:a16="http://schemas.microsoft.com/office/drawing/2014/main" id="{C7FD1CD8-112B-4BA6-81D5-03839C2321E8}"/>
              </a:ext>
            </a:extLst>
          </p:cNvPr>
          <p:cNvSpPr txBox="1">
            <a:spLocks noChangeArrowheads="1"/>
          </p:cNvSpPr>
          <p:nvPr/>
        </p:nvSpPr>
        <p:spPr bwMode="auto">
          <a:xfrm>
            <a:off x="5029200" y="3505200"/>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D</a:t>
            </a:r>
          </a:p>
        </p:txBody>
      </p:sp>
      <p:sp>
        <p:nvSpPr>
          <p:cNvPr id="178195" name="Text Box 31">
            <a:extLst>
              <a:ext uri="{FF2B5EF4-FFF2-40B4-BE49-F238E27FC236}">
                <a16:creationId xmlns:a16="http://schemas.microsoft.com/office/drawing/2014/main" id="{9B2DC2C6-8841-414B-A48F-486D6D610AEC}"/>
              </a:ext>
            </a:extLst>
          </p:cNvPr>
          <p:cNvSpPr txBox="1">
            <a:spLocks noChangeArrowheads="1"/>
          </p:cNvSpPr>
          <p:nvPr/>
        </p:nvSpPr>
        <p:spPr bwMode="auto">
          <a:xfrm>
            <a:off x="6200775" y="3400425"/>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E</a:t>
            </a:r>
          </a:p>
        </p:txBody>
      </p:sp>
      <p:sp>
        <p:nvSpPr>
          <p:cNvPr id="178196" name="Text Box 32">
            <a:extLst>
              <a:ext uri="{FF2B5EF4-FFF2-40B4-BE49-F238E27FC236}">
                <a16:creationId xmlns:a16="http://schemas.microsoft.com/office/drawing/2014/main" id="{8461E77B-7F78-462C-AB16-9DBC63FDEB12}"/>
              </a:ext>
            </a:extLst>
          </p:cNvPr>
          <p:cNvSpPr txBox="1">
            <a:spLocks noChangeArrowheads="1"/>
          </p:cNvSpPr>
          <p:nvPr/>
        </p:nvSpPr>
        <p:spPr bwMode="auto">
          <a:xfrm>
            <a:off x="4772025" y="4229100"/>
            <a:ext cx="3714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a:latin typeface="Arial" panose="020B0604020202020204" pitchFamily="34" charset="0"/>
              </a:rPr>
              <a:t>F</a:t>
            </a:r>
          </a:p>
        </p:txBody>
      </p:sp>
      <p:sp>
        <p:nvSpPr>
          <p:cNvPr id="18464" name="Rectangle 33">
            <a:extLst>
              <a:ext uri="{FF2B5EF4-FFF2-40B4-BE49-F238E27FC236}">
                <a16:creationId xmlns:a16="http://schemas.microsoft.com/office/drawing/2014/main" id="{BB7C0EB9-C355-4EE7-974E-8CD407957248}"/>
              </a:ext>
            </a:extLst>
          </p:cNvPr>
          <p:cNvSpPr>
            <a:spLocks noChangeArrowheads="1"/>
          </p:cNvSpPr>
          <p:nvPr/>
        </p:nvSpPr>
        <p:spPr bwMode="auto">
          <a:xfrm>
            <a:off x="990600" y="2082800"/>
            <a:ext cx="2438400" cy="351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45000"/>
              </a:spcBef>
              <a:buClr>
                <a:srgbClr val="00B85C"/>
              </a:buClr>
              <a:buSzPct val="120000"/>
              <a:buFont typeface="Wingdings" panose="05000000000000000000" pitchFamily="2" charset="2"/>
              <a:buNone/>
            </a:pPr>
            <a:r>
              <a:rPr lang="en-US" altLang="zh-CN" sz="2600" b="0">
                <a:latin typeface="Arial" panose="020B0604020202020204" pitchFamily="34" charset="0"/>
              </a:rPr>
              <a:t>C + E  </a:t>
            </a:r>
            <a:r>
              <a:rPr lang="zh-CN" altLang="en-US" sz="2600" b="0">
                <a:latin typeface="Arial" panose="020B0604020202020204" pitchFamily="34" charset="0"/>
              </a:rPr>
              <a:t>被称为税收的</a:t>
            </a:r>
            <a:r>
              <a:rPr lang="zh-CN" altLang="en-US" sz="2600" b="0">
                <a:solidFill>
                  <a:srgbClr val="FF0000"/>
                </a:solidFill>
                <a:latin typeface="Arial" panose="020B0604020202020204" pitchFamily="34" charset="0"/>
              </a:rPr>
              <a:t>社会福利净损失</a:t>
            </a:r>
            <a:r>
              <a:rPr lang="zh-CN" altLang="en-US" sz="2600" b="0">
                <a:solidFill>
                  <a:srgbClr val="A50021"/>
                </a:solidFill>
                <a:latin typeface="Arial" panose="020B0604020202020204" pitchFamily="34" charset="0"/>
              </a:rPr>
              <a:t>：</a:t>
            </a:r>
            <a:r>
              <a:rPr lang="zh-CN" altLang="en-US" sz="2600" b="0">
                <a:latin typeface="Arial" panose="020B0604020202020204" pitchFamily="34" charset="0"/>
              </a:rPr>
              <a:t>市场扭曲（例如税收）引起的总剩余减少</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7764"/>
                                        </p:tgtEl>
                                        <p:attrNameLst>
                                          <p:attrName>style.visibility</p:attrName>
                                        </p:attrNameLst>
                                      </p:cBhvr>
                                      <p:to>
                                        <p:strVal val="visible"/>
                                      </p:to>
                                    </p:set>
                                    <p:animEffect transition="in" filter="blinds(horizontal)">
                                      <p:cBhvr>
                                        <p:cTn id="7" dur="500"/>
                                        <p:tgtEl>
                                          <p:spTgt spid="1177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64"/>
                                        </p:tgtEl>
                                        <p:attrNameLst>
                                          <p:attrName>style.visibility</p:attrName>
                                        </p:attrNameLst>
                                      </p:cBhvr>
                                      <p:to>
                                        <p:strVal val="visible"/>
                                      </p:to>
                                    </p:set>
                                    <p:animEffect transition="in" filter="wipe(left)">
                                      <p:cBhvr>
                                        <p:cTn id="12" dur="500"/>
                                        <p:tgtEl>
                                          <p:spTgt spid="18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4" grpId="0"/>
      <p:bldP spid="18464"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AutoShape 2">
            <a:extLst>
              <a:ext uri="{FF2B5EF4-FFF2-40B4-BE49-F238E27FC236}">
                <a16:creationId xmlns:a16="http://schemas.microsoft.com/office/drawing/2014/main" id="{02DEF0DA-B1BE-4428-888E-689FAD84CD1C}"/>
              </a:ext>
            </a:extLst>
          </p:cNvPr>
          <p:cNvSpPr>
            <a:spLocks noChangeArrowheads="1"/>
          </p:cNvSpPr>
          <p:nvPr/>
        </p:nvSpPr>
        <p:spPr bwMode="auto">
          <a:xfrm rot="5400000">
            <a:off x="5996782" y="3018631"/>
            <a:ext cx="1212850" cy="830263"/>
          </a:xfrm>
          <a:prstGeom prst="triangle">
            <a:avLst>
              <a:gd name="adj" fmla="val 47644"/>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79203" name="Line 3">
            <a:extLst>
              <a:ext uri="{FF2B5EF4-FFF2-40B4-BE49-F238E27FC236}">
                <a16:creationId xmlns:a16="http://schemas.microsoft.com/office/drawing/2014/main" id="{0EF9FFEC-B06B-49F7-9A79-453FCC70194A}"/>
              </a:ext>
            </a:extLst>
          </p:cNvPr>
          <p:cNvSpPr>
            <a:spLocks noChangeShapeType="1"/>
          </p:cNvSpPr>
          <p:nvPr/>
        </p:nvSpPr>
        <p:spPr bwMode="auto">
          <a:xfrm>
            <a:off x="6181725" y="2805113"/>
            <a:ext cx="0" cy="27479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9204" name="Group 5">
            <a:extLst>
              <a:ext uri="{FF2B5EF4-FFF2-40B4-BE49-F238E27FC236}">
                <a16:creationId xmlns:a16="http://schemas.microsoft.com/office/drawing/2014/main" id="{3D0EDEC8-AEB0-4331-95C3-10E190D8A3B2}"/>
              </a:ext>
            </a:extLst>
          </p:cNvPr>
          <p:cNvGrpSpPr>
            <a:grpSpLocks/>
          </p:cNvGrpSpPr>
          <p:nvPr/>
        </p:nvGrpSpPr>
        <p:grpSpPr bwMode="auto">
          <a:xfrm>
            <a:off x="4068763" y="927100"/>
            <a:ext cx="4305300" cy="4824413"/>
            <a:chOff x="0" y="0"/>
            <a:chExt cx="2712" cy="2666"/>
          </a:xfrm>
        </p:grpSpPr>
        <p:grpSp>
          <p:nvGrpSpPr>
            <p:cNvPr id="179221" name="Group 6">
              <a:extLst>
                <a:ext uri="{FF2B5EF4-FFF2-40B4-BE49-F238E27FC236}">
                  <a16:creationId xmlns:a16="http://schemas.microsoft.com/office/drawing/2014/main" id="{F8F90F9A-EA81-4653-B364-79B96F043679}"/>
                </a:ext>
              </a:extLst>
            </p:cNvPr>
            <p:cNvGrpSpPr>
              <a:grpSpLocks/>
            </p:cNvGrpSpPr>
            <p:nvPr/>
          </p:nvGrpSpPr>
          <p:grpSpPr bwMode="auto">
            <a:xfrm>
              <a:off x="119" y="225"/>
              <a:ext cx="2382" cy="2331"/>
              <a:chOff x="0" y="0"/>
              <a:chExt cx="2400" cy="2079"/>
            </a:xfrm>
          </p:grpSpPr>
          <p:sp>
            <p:nvSpPr>
              <p:cNvPr id="179224" name="Line 7">
                <a:extLst>
                  <a:ext uri="{FF2B5EF4-FFF2-40B4-BE49-F238E27FC236}">
                    <a16:creationId xmlns:a16="http://schemas.microsoft.com/office/drawing/2014/main" id="{5619CDC4-9D8A-4286-8D85-0B1908488A80}"/>
                  </a:ext>
                </a:extLst>
              </p:cNvPr>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225" name="Line 8">
                <a:extLst>
                  <a:ext uri="{FF2B5EF4-FFF2-40B4-BE49-F238E27FC236}">
                    <a16:creationId xmlns:a16="http://schemas.microsoft.com/office/drawing/2014/main" id="{1CE65A0E-B9DF-4A2E-AE9B-004DA3D645F4}"/>
                  </a:ext>
                </a:extLst>
              </p:cNvPr>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9222" name="Text Box 9">
              <a:extLst>
                <a:ext uri="{FF2B5EF4-FFF2-40B4-BE49-F238E27FC236}">
                  <a16:creationId xmlns:a16="http://schemas.microsoft.com/office/drawing/2014/main" id="{AC45B9A6-FF36-41BD-A4DD-173999B6E336}"/>
                </a:ext>
              </a:extLst>
            </p:cNvPr>
            <p:cNvSpPr txBox="1">
              <a:spLocks noChangeArrowheads="1"/>
            </p:cNvSpPr>
            <p:nvPr/>
          </p:nvSpPr>
          <p:spPr bwMode="auto">
            <a:xfrm>
              <a:off x="0" y="0"/>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p>
          </p:txBody>
        </p:sp>
        <p:sp>
          <p:nvSpPr>
            <p:cNvPr id="179223" name="Text Box 10">
              <a:extLst>
                <a:ext uri="{FF2B5EF4-FFF2-40B4-BE49-F238E27FC236}">
                  <a16:creationId xmlns:a16="http://schemas.microsoft.com/office/drawing/2014/main" id="{38EB08CE-942E-4FB1-BA88-A74644AF7321}"/>
                </a:ext>
              </a:extLst>
            </p:cNvPr>
            <p:cNvSpPr txBox="1">
              <a:spLocks noChangeArrowheads="1"/>
            </p:cNvSpPr>
            <p:nvPr/>
          </p:nvSpPr>
          <p:spPr bwMode="auto">
            <a:xfrm>
              <a:off x="2479" y="2421"/>
              <a:ext cx="2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p>
          </p:txBody>
        </p:sp>
      </p:grpSp>
      <p:sp>
        <p:nvSpPr>
          <p:cNvPr id="179205" name="Text Box 11">
            <a:extLst>
              <a:ext uri="{FF2B5EF4-FFF2-40B4-BE49-F238E27FC236}">
                <a16:creationId xmlns:a16="http://schemas.microsoft.com/office/drawing/2014/main" id="{834C8CA7-C7C7-42CC-86EB-05D603E9CB3E}"/>
              </a:ext>
            </a:extLst>
          </p:cNvPr>
          <p:cNvSpPr txBox="1">
            <a:spLocks noChangeArrowheads="1"/>
          </p:cNvSpPr>
          <p:nvPr/>
        </p:nvSpPr>
        <p:spPr bwMode="auto">
          <a:xfrm>
            <a:off x="7851775" y="3854450"/>
            <a:ext cx="3698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D</a:t>
            </a:r>
          </a:p>
        </p:txBody>
      </p:sp>
      <p:sp>
        <p:nvSpPr>
          <p:cNvPr id="179206" name="Line 12">
            <a:extLst>
              <a:ext uri="{FF2B5EF4-FFF2-40B4-BE49-F238E27FC236}">
                <a16:creationId xmlns:a16="http://schemas.microsoft.com/office/drawing/2014/main" id="{54EFC05E-3E15-4E07-9FC8-CB6EA7A02F5D}"/>
              </a:ext>
            </a:extLst>
          </p:cNvPr>
          <p:cNvSpPr>
            <a:spLocks noChangeShapeType="1"/>
          </p:cNvSpPr>
          <p:nvPr/>
        </p:nvSpPr>
        <p:spPr bwMode="auto">
          <a:xfrm>
            <a:off x="4260850" y="1485900"/>
            <a:ext cx="3659188" cy="2522538"/>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207" name="Text Box 13">
            <a:extLst>
              <a:ext uri="{FF2B5EF4-FFF2-40B4-BE49-F238E27FC236}">
                <a16:creationId xmlns:a16="http://schemas.microsoft.com/office/drawing/2014/main" id="{08AC4DA1-4BAD-46DB-ADD1-C94B470F5B63}"/>
              </a:ext>
            </a:extLst>
          </p:cNvPr>
          <p:cNvSpPr txBox="1">
            <a:spLocks noChangeArrowheads="1"/>
          </p:cNvSpPr>
          <p:nvPr/>
        </p:nvSpPr>
        <p:spPr bwMode="auto">
          <a:xfrm>
            <a:off x="7834313" y="2441575"/>
            <a:ext cx="369887"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S</a:t>
            </a:r>
          </a:p>
        </p:txBody>
      </p:sp>
      <p:sp>
        <p:nvSpPr>
          <p:cNvPr id="179208" name="Line 14">
            <a:extLst>
              <a:ext uri="{FF2B5EF4-FFF2-40B4-BE49-F238E27FC236}">
                <a16:creationId xmlns:a16="http://schemas.microsoft.com/office/drawing/2014/main" id="{BA6056A9-72CC-4075-9959-CD169F989DF2}"/>
              </a:ext>
            </a:extLst>
          </p:cNvPr>
          <p:cNvSpPr>
            <a:spLocks noChangeShapeType="1"/>
          </p:cNvSpPr>
          <p:nvPr/>
        </p:nvSpPr>
        <p:spPr bwMode="auto">
          <a:xfrm flipV="1">
            <a:off x="4257675" y="2749550"/>
            <a:ext cx="3622675" cy="2805113"/>
          </a:xfrm>
          <a:prstGeom prst="line">
            <a:avLst/>
          </a:prstGeom>
          <a:noFill/>
          <a:ln w="28575">
            <a:solidFill>
              <a:srgbClr val="3366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9209" name="Group 15">
            <a:extLst>
              <a:ext uri="{FF2B5EF4-FFF2-40B4-BE49-F238E27FC236}">
                <a16:creationId xmlns:a16="http://schemas.microsoft.com/office/drawing/2014/main" id="{E603954A-9B45-4139-918F-B0A86B138AEA}"/>
              </a:ext>
            </a:extLst>
          </p:cNvPr>
          <p:cNvGrpSpPr>
            <a:grpSpLocks/>
          </p:cNvGrpSpPr>
          <p:nvPr/>
        </p:nvGrpSpPr>
        <p:grpSpPr bwMode="auto">
          <a:xfrm>
            <a:off x="3727450" y="3836988"/>
            <a:ext cx="2449513" cy="442912"/>
            <a:chOff x="0" y="0"/>
            <a:chExt cx="1543" cy="279"/>
          </a:xfrm>
        </p:grpSpPr>
        <p:sp>
          <p:nvSpPr>
            <p:cNvPr id="179219" name="Text Box 16">
              <a:extLst>
                <a:ext uri="{FF2B5EF4-FFF2-40B4-BE49-F238E27FC236}">
                  <a16:creationId xmlns:a16="http://schemas.microsoft.com/office/drawing/2014/main" id="{8A9479FA-353A-442B-90BF-A4A975B3B526}"/>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S</a:t>
              </a:r>
            </a:p>
          </p:txBody>
        </p:sp>
        <p:sp>
          <p:nvSpPr>
            <p:cNvPr id="179220" name="Line 17">
              <a:extLst>
                <a:ext uri="{FF2B5EF4-FFF2-40B4-BE49-F238E27FC236}">
                  <a16:creationId xmlns:a16="http://schemas.microsoft.com/office/drawing/2014/main" id="{3612710E-1F02-4622-91C8-C41A6A35FD43}"/>
                </a:ext>
              </a:extLst>
            </p:cNvPr>
            <p:cNvSpPr>
              <a:spLocks noChangeShapeType="1"/>
            </p:cNvSpPr>
            <p:nvPr/>
          </p:nvSpPr>
          <p:spPr bwMode="auto">
            <a:xfrm flipH="1">
              <a:off x="334" y="139"/>
              <a:ext cx="120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9210" name="Group 18">
            <a:extLst>
              <a:ext uri="{FF2B5EF4-FFF2-40B4-BE49-F238E27FC236}">
                <a16:creationId xmlns:a16="http://schemas.microsoft.com/office/drawing/2014/main" id="{3FB1D4BE-E230-4637-9ED5-AE107CA49DC2}"/>
              </a:ext>
            </a:extLst>
          </p:cNvPr>
          <p:cNvGrpSpPr>
            <a:grpSpLocks/>
          </p:cNvGrpSpPr>
          <p:nvPr/>
        </p:nvGrpSpPr>
        <p:grpSpPr bwMode="auto">
          <a:xfrm>
            <a:off x="3722688" y="2584450"/>
            <a:ext cx="2454275" cy="442913"/>
            <a:chOff x="0" y="0"/>
            <a:chExt cx="1546" cy="279"/>
          </a:xfrm>
        </p:grpSpPr>
        <p:sp>
          <p:nvSpPr>
            <p:cNvPr id="179217" name="Text Box 19">
              <a:extLst>
                <a:ext uri="{FF2B5EF4-FFF2-40B4-BE49-F238E27FC236}">
                  <a16:creationId xmlns:a16="http://schemas.microsoft.com/office/drawing/2014/main" id="{82412C92-1468-4ADD-A217-22CD33E27F47}"/>
                </a:ext>
              </a:extLst>
            </p:cNvPr>
            <p:cNvSpPr txBox="1">
              <a:spLocks noChangeArrowheads="1"/>
            </p:cNvSpPr>
            <p:nvPr/>
          </p:nvSpPr>
          <p:spPr bwMode="auto">
            <a:xfrm>
              <a:off x="0" y="0"/>
              <a:ext cx="33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r>
                <a:rPr lang="en-US" altLang="zh-CN" sz="2300" b="0" i="1" baseline="-25000">
                  <a:latin typeface="Arial" panose="020B0604020202020204" pitchFamily="34" charset="0"/>
                </a:rPr>
                <a:t>B</a:t>
              </a:r>
            </a:p>
          </p:txBody>
        </p:sp>
        <p:sp>
          <p:nvSpPr>
            <p:cNvPr id="179218" name="Line 20">
              <a:extLst>
                <a:ext uri="{FF2B5EF4-FFF2-40B4-BE49-F238E27FC236}">
                  <a16:creationId xmlns:a16="http://schemas.microsoft.com/office/drawing/2014/main" id="{A1A6781A-6DC7-4B71-BA6E-E2CBEB5AACE5}"/>
                </a:ext>
              </a:extLst>
            </p:cNvPr>
            <p:cNvSpPr>
              <a:spLocks noChangeShapeType="1"/>
            </p:cNvSpPr>
            <p:nvPr/>
          </p:nvSpPr>
          <p:spPr bwMode="auto">
            <a:xfrm flipH="1">
              <a:off x="337" y="142"/>
              <a:ext cx="120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9211" name="Line 21">
            <a:extLst>
              <a:ext uri="{FF2B5EF4-FFF2-40B4-BE49-F238E27FC236}">
                <a16:creationId xmlns:a16="http://schemas.microsoft.com/office/drawing/2014/main" id="{9ABD7962-DD6E-45AC-9834-2DEDC67F51DB}"/>
              </a:ext>
            </a:extLst>
          </p:cNvPr>
          <p:cNvSpPr>
            <a:spLocks noChangeShapeType="1"/>
          </p:cNvSpPr>
          <p:nvPr/>
        </p:nvSpPr>
        <p:spPr bwMode="auto">
          <a:xfrm>
            <a:off x="7037388" y="3403600"/>
            <a:ext cx="0" cy="21463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9212" name="Text Box 22">
            <a:extLst>
              <a:ext uri="{FF2B5EF4-FFF2-40B4-BE49-F238E27FC236}">
                <a16:creationId xmlns:a16="http://schemas.microsoft.com/office/drawing/2014/main" id="{785107FC-8AFC-48F2-8A83-6129AE6E434B}"/>
              </a:ext>
            </a:extLst>
          </p:cNvPr>
          <p:cNvSpPr txBox="1">
            <a:spLocks noChangeArrowheads="1"/>
          </p:cNvSpPr>
          <p:nvPr/>
        </p:nvSpPr>
        <p:spPr bwMode="auto">
          <a:xfrm>
            <a:off x="6737350" y="5551488"/>
            <a:ext cx="5889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E</a:t>
            </a:r>
          </a:p>
        </p:txBody>
      </p:sp>
      <p:sp>
        <p:nvSpPr>
          <p:cNvPr id="179213" name="Text Box 23">
            <a:extLst>
              <a:ext uri="{FF2B5EF4-FFF2-40B4-BE49-F238E27FC236}">
                <a16:creationId xmlns:a16="http://schemas.microsoft.com/office/drawing/2014/main" id="{173F08BB-FC8B-4A28-AC6E-2EC0774F77A9}"/>
              </a:ext>
            </a:extLst>
          </p:cNvPr>
          <p:cNvSpPr txBox="1">
            <a:spLocks noChangeArrowheads="1"/>
          </p:cNvSpPr>
          <p:nvPr/>
        </p:nvSpPr>
        <p:spPr bwMode="auto">
          <a:xfrm>
            <a:off x="5880100" y="5551488"/>
            <a:ext cx="5889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r>
              <a:rPr lang="en-US" altLang="zh-CN" sz="2300" b="0" i="1" baseline="-25000">
                <a:latin typeface="Arial" panose="020B0604020202020204" pitchFamily="34" charset="0"/>
              </a:rPr>
              <a:t>T</a:t>
            </a:r>
          </a:p>
        </p:txBody>
      </p:sp>
      <p:sp>
        <p:nvSpPr>
          <p:cNvPr id="19480" name="Rectangle 24">
            <a:extLst>
              <a:ext uri="{FF2B5EF4-FFF2-40B4-BE49-F238E27FC236}">
                <a16:creationId xmlns:a16="http://schemas.microsoft.com/office/drawing/2014/main" id="{EEF3AF10-8A70-409B-A27E-5B7AA3A9EA4C}"/>
              </a:ext>
            </a:extLst>
          </p:cNvPr>
          <p:cNvSpPr>
            <a:spLocks noChangeArrowheads="1"/>
          </p:cNvSpPr>
          <p:nvPr/>
        </p:nvSpPr>
        <p:spPr bwMode="auto">
          <a:xfrm>
            <a:off x="769936" y="1600200"/>
            <a:ext cx="2819402" cy="3844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30000"/>
              </a:spcBef>
              <a:buClr>
                <a:srgbClr val="00B85C"/>
              </a:buClr>
              <a:buSzPct val="120000"/>
              <a:buFont typeface="Wingdings" panose="05000000000000000000" pitchFamily="2" charset="2"/>
              <a:buNone/>
            </a:pPr>
            <a:r>
              <a:rPr lang="zh-CN" altLang="en-US" sz="2400" b="0" dirty="0">
                <a:latin typeface="Arial" panose="020B0604020202020204" pitchFamily="34" charset="0"/>
              </a:rPr>
              <a:t>由于税收，在</a:t>
            </a:r>
            <a:br>
              <a:rPr lang="en-US" altLang="zh-CN" sz="2400" b="0" dirty="0">
                <a:latin typeface="Arial" panose="020B0604020202020204" pitchFamily="34" charset="0"/>
              </a:rPr>
            </a:br>
            <a:r>
              <a:rPr lang="zh-CN" altLang="ja-JP" sz="2400" b="0" i="1" dirty="0">
                <a:latin typeface="Arial" panose="020B0604020202020204" pitchFamily="34" charset="0"/>
              </a:rPr>
              <a:t>Q</a:t>
            </a:r>
            <a:r>
              <a:rPr lang="zh-CN" altLang="ja-JP" sz="2400" b="0" i="1" baseline="-25000" dirty="0">
                <a:latin typeface="Arial" panose="020B0604020202020204" pitchFamily="34" charset="0"/>
              </a:rPr>
              <a:t>T</a:t>
            </a:r>
            <a:r>
              <a:rPr lang="zh-CN" altLang="ja-JP" sz="2400" b="0" dirty="0">
                <a:latin typeface="Arial" panose="020B0604020202020204" pitchFamily="34" charset="0"/>
              </a:rPr>
              <a:t> </a:t>
            </a:r>
            <a:r>
              <a:rPr lang="zh-CN" altLang="en-US" sz="2400" b="0" dirty="0">
                <a:latin typeface="Arial" panose="020B0604020202020204" pitchFamily="34" charset="0"/>
              </a:rPr>
              <a:t>与</a:t>
            </a:r>
            <a:r>
              <a:rPr lang="en-US" altLang="zh-CN" sz="2400" b="0" dirty="0">
                <a:latin typeface="Arial" panose="020B0604020202020204" pitchFamily="34" charset="0"/>
              </a:rPr>
              <a:t> </a:t>
            </a:r>
            <a:r>
              <a:rPr lang="zh-CN" altLang="ja-JP" sz="2400" b="0" i="1" dirty="0">
                <a:latin typeface="Arial" panose="020B0604020202020204" pitchFamily="34" charset="0"/>
              </a:rPr>
              <a:t>Q</a:t>
            </a:r>
            <a:r>
              <a:rPr lang="zh-CN" altLang="ja-JP" sz="2400" b="0" i="1" baseline="-25000" dirty="0">
                <a:latin typeface="Arial" panose="020B0604020202020204" pitchFamily="34" charset="0"/>
              </a:rPr>
              <a:t>E</a:t>
            </a:r>
            <a:r>
              <a:rPr lang="zh-CN" altLang="ja-JP" sz="2400" b="0" dirty="0">
                <a:latin typeface="Arial" panose="020B0604020202020204" pitchFamily="34" charset="0"/>
              </a:rPr>
              <a:t> </a:t>
            </a:r>
            <a:r>
              <a:rPr lang="zh-CN" altLang="en-US" sz="2400" b="0" dirty="0">
                <a:latin typeface="Arial" panose="020B0604020202020204" pitchFamily="34" charset="0"/>
              </a:rPr>
              <a:t>单位之间的物品没有被售出</a:t>
            </a:r>
            <a:endParaRPr lang="en-US" altLang="zh-CN" sz="2400" b="0" dirty="0">
              <a:latin typeface="Arial" panose="020B0604020202020204" pitchFamily="34" charset="0"/>
            </a:endParaRPr>
          </a:p>
          <a:p>
            <a:pPr eaLnBrk="1" hangingPunct="1">
              <a:lnSpc>
                <a:spcPct val="105000"/>
              </a:lnSpc>
              <a:spcBef>
                <a:spcPct val="30000"/>
              </a:spcBef>
              <a:buClr>
                <a:srgbClr val="00B85C"/>
              </a:buClr>
              <a:buSzPct val="120000"/>
              <a:buFont typeface="Wingdings" panose="05000000000000000000" pitchFamily="2" charset="2"/>
              <a:buNone/>
            </a:pPr>
            <a:r>
              <a:rPr lang="zh-CN" altLang="en-US" sz="2400" b="0" dirty="0">
                <a:latin typeface="Arial" panose="020B0604020202020204" pitchFamily="34" charset="0"/>
              </a:rPr>
              <a:t>买者对于这些单位物品的评价高于生产它们的成本，因此税收使一些对买者和卖者都有利的交易未能实现</a:t>
            </a:r>
            <a:endParaRPr lang="en-US" altLang="zh-CN" sz="2400" b="0" dirty="0">
              <a:latin typeface="Arial" panose="020B0604020202020204" pitchFamily="34" charset="0"/>
            </a:endParaRPr>
          </a:p>
          <a:p>
            <a:pPr algn="just" eaLnBrk="1" hangingPunct="1">
              <a:lnSpc>
                <a:spcPct val="105000"/>
              </a:lnSpc>
              <a:spcBef>
                <a:spcPct val="30000"/>
              </a:spcBef>
              <a:buClr>
                <a:srgbClr val="00B85C"/>
              </a:buClr>
              <a:buSzPct val="120000"/>
              <a:buFont typeface="Wingdings" panose="05000000000000000000" pitchFamily="2" charset="2"/>
              <a:buNone/>
            </a:pPr>
            <a:endParaRPr lang="en-US" altLang="zh-CN" b="0" dirty="0">
              <a:latin typeface="Arial" panose="020B0604020202020204" pitchFamily="34" charset="0"/>
            </a:endParaRPr>
          </a:p>
        </p:txBody>
      </p:sp>
      <p:sp>
        <p:nvSpPr>
          <p:cNvPr id="19481" name="AutoShape 25">
            <a:extLst>
              <a:ext uri="{FF2B5EF4-FFF2-40B4-BE49-F238E27FC236}">
                <a16:creationId xmlns:a16="http://schemas.microsoft.com/office/drawing/2014/main" id="{5BCBCEE4-1753-4E39-AAA0-18CAD7164DF5}"/>
              </a:ext>
            </a:extLst>
          </p:cNvPr>
          <p:cNvSpPr>
            <a:spLocks/>
          </p:cNvSpPr>
          <p:nvPr/>
        </p:nvSpPr>
        <p:spPr bwMode="auto">
          <a:xfrm rot="5400000">
            <a:off x="6457157" y="4958556"/>
            <a:ext cx="306388" cy="860425"/>
          </a:xfrm>
          <a:prstGeom prst="leftBrace">
            <a:avLst>
              <a:gd name="adj1" fmla="val 41617"/>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79216" name="Title 1">
            <a:extLst>
              <a:ext uri="{FF2B5EF4-FFF2-40B4-BE49-F238E27FC236}">
                <a16:creationId xmlns:a16="http://schemas.microsoft.com/office/drawing/2014/main" id="{6E235B71-1F13-4EC6-B522-0C3CA49926DF}"/>
              </a:ext>
            </a:extLst>
          </p:cNvPr>
          <p:cNvSpPr txBox="1">
            <a:spLocks/>
          </p:cNvSpPr>
          <p:nvPr/>
        </p:nvSpPr>
        <p:spPr bwMode="auto">
          <a:xfrm>
            <a:off x="1219200"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税收对社会福利的影响</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80">
                                            <p:txEl>
                                              <p:pRg st="0" end="0"/>
                                            </p:txEl>
                                          </p:spTgt>
                                        </p:tgtEl>
                                        <p:attrNameLst>
                                          <p:attrName>style.visibility</p:attrName>
                                        </p:attrNameLst>
                                      </p:cBhvr>
                                      <p:to>
                                        <p:strVal val="visible"/>
                                      </p:to>
                                    </p:set>
                                    <p:animEffect transition="in" filter="wipe(left)">
                                      <p:cBhvr>
                                        <p:cTn id="7" dur="500"/>
                                        <p:tgtEl>
                                          <p:spTgt spid="19480">
                                            <p:txEl>
                                              <p:pRg st="0" end="0"/>
                                            </p:txEl>
                                          </p:spTgt>
                                        </p:tgtEl>
                                      </p:cBhvr>
                                    </p:animEffect>
                                  </p:childTnLst>
                                </p:cTn>
                              </p:par>
                              <p:par>
                                <p:cTn id="8" presetID="17" presetClass="entr" presetSubtype="10" fill="hold" grpId="0" nodeType="withEffect">
                                  <p:stCondLst>
                                    <p:cond delay="0"/>
                                  </p:stCondLst>
                                  <p:childTnLst>
                                    <p:set>
                                      <p:cBhvr>
                                        <p:cTn id="9" dur="1" fill="hold">
                                          <p:stCondLst>
                                            <p:cond delay="0"/>
                                          </p:stCondLst>
                                        </p:cTn>
                                        <p:tgtEl>
                                          <p:spTgt spid="19481"/>
                                        </p:tgtEl>
                                        <p:attrNameLst>
                                          <p:attrName>style.visibility</p:attrName>
                                        </p:attrNameLst>
                                      </p:cBhvr>
                                      <p:to>
                                        <p:strVal val="visible"/>
                                      </p:to>
                                    </p:set>
                                    <p:anim calcmode="lin" valueType="num">
                                      <p:cBhvr>
                                        <p:cTn id="10" dur="1000" fill="hold"/>
                                        <p:tgtEl>
                                          <p:spTgt spid="19481"/>
                                        </p:tgtEl>
                                        <p:attrNameLst>
                                          <p:attrName>ppt_w</p:attrName>
                                        </p:attrNameLst>
                                      </p:cBhvr>
                                      <p:tavLst>
                                        <p:tav tm="0">
                                          <p:val>
                                            <p:fltVal val="0"/>
                                          </p:val>
                                        </p:tav>
                                        <p:tav tm="100000">
                                          <p:val>
                                            <p:strVal val="#ppt_w"/>
                                          </p:val>
                                        </p:tav>
                                      </p:tavLst>
                                    </p:anim>
                                    <p:anim calcmode="lin" valueType="num">
                                      <p:cBhvr>
                                        <p:cTn id="11" dur="1000" fill="hold"/>
                                        <p:tgtEl>
                                          <p:spTgt spid="19481"/>
                                        </p:tgtEl>
                                        <p:attrNameLst>
                                          <p:attrName>ppt_h</p:attrName>
                                        </p:attrNameLst>
                                      </p:cBhvr>
                                      <p:tavLst>
                                        <p:tav tm="0">
                                          <p:val>
                                            <p:strVal val="#ppt_h"/>
                                          </p:val>
                                        </p:tav>
                                        <p:tav tm="100000">
                                          <p:val>
                                            <p:strVal val="#ppt_h"/>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9480">
                                            <p:txEl>
                                              <p:pRg st="1" end="1"/>
                                            </p:txEl>
                                          </p:spTgt>
                                        </p:tgtEl>
                                        <p:attrNameLst>
                                          <p:attrName>style.visibility</p:attrName>
                                        </p:attrNameLst>
                                      </p:cBhvr>
                                      <p:to>
                                        <p:strVal val="visible"/>
                                      </p:to>
                                    </p:set>
                                    <p:animEffect transition="in" filter="wipe(left)">
                                      <p:cBhvr>
                                        <p:cTn id="16" dur="500"/>
                                        <p:tgtEl>
                                          <p:spTgt spid="1948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0" grpId="0" build="p" autoUpdateAnimBg="0"/>
      <p:bldP spid="19481" grpId="0" animBg="1"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Rectangle 3">
            <a:extLst>
              <a:ext uri="{FF2B5EF4-FFF2-40B4-BE49-F238E27FC236}">
                <a16:creationId xmlns:a16="http://schemas.microsoft.com/office/drawing/2014/main" id="{F5072379-8F06-475A-A205-5B9A445B1B7F}"/>
              </a:ext>
            </a:extLst>
          </p:cNvPr>
          <p:cNvSpPr>
            <a:spLocks noGrp="1" noChangeArrowheads="1"/>
          </p:cNvSpPr>
          <p:nvPr>
            <p:ph type="body" idx="4294967295"/>
          </p:nvPr>
        </p:nvSpPr>
        <p:spPr>
          <a:xfrm>
            <a:off x="1295400" y="1447800"/>
            <a:ext cx="7402513" cy="4343400"/>
          </a:xfrm>
        </p:spPr>
        <p:txBody>
          <a:bodyPr/>
          <a:lstStyle/>
          <a:p>
            <a:r>
              <a:rPr lang="zh-CN" altLang="en-US">
                <a:ea typeface="宋体" panose="02010600030101010101" pitchFamily="2" charset="-122"/>
              </a:rPr>
              <a:t>政府应该对哪些物品或服务征税以获得它需要的税收收入？</a:t>
            </a:r>
            <a:r>
              <a:rPr lang="en-US" altLang="zh-CN">
                <a:ea typeface="宋体" panose="02010600030101010101" pitchFamily="2" charset="-122"/>
              </a:rPr>
              <a:t> </a:t>
            </a:r>
          </a:p>
          <a:p>
            <a:pPr lvl="1"/>
            <a:r>
              <a:rPr lang="zh-CN" altLang="en-US">
                <a:latin typeface="Arial" panose="020B0604020202020204" pitchFamily="34" charset="0"/>
                <a:ea typeface="宋体" panose="02010600030101010101" pitchFamily="2" charset="-122"/>
              </a:rPr>
              <a:t>答案：社会福利净损失最小的物品或服务</a:t>
            </a:r>
            <a:r>
              <a:rPr lang="en-US" altLang="zh-CN">
                <a:latin typeface="Arial" panose="020B0604020202020204" pitchFamily="34" charset="0"/>
                <a:ea typeface="宋体" panose="02010600030101010101" pitchFamily="2" charset="-122"/>
              </a:rPr>
              <a:t>  </a:t>
            </a:r>
          </a:p>
          <a:p>
            <a:r>
              <a:rPr lang="zh-CN" altLang="en-US">
                <a:ea typeface="宋体" panose="02010600030101010101" pitchFamily="2" charset="-122"/>
              </a:rPr>
              <a:t>社会福利净损失损失什么时候大？什么时候小？</a:t>
            </a:r>
            <a:endParaRPr lang="en-US" altLang="zh-CN">
              <a:ea typeface="宋体" panose="02010600030101010101" pitchFamily="2" charset="-122"/>
            </a:endParaRPr>
          </a:p>
          <a:p>
            <a:pPr lvl="1"/>
            <a:r>
              <a:rPr lang="zh-CN" altLang="en-US">
                <a:latin typeface="Arial" panose="020B0604020202020204" pitchFamily="34" charset="0"/>
                <a:ea typeface="宋体" panose="02010600030101010101" pitchFamily="2" charset="-122"/>
              </a:rPr>
              <a:t>这取决于需求弹性和供给弹性</a:t>
            </a:r>
            <a:r>
              <a:rPr lang="en-US" altLang="zh-CN">
                <a:latin typeface="Arial" panose="020B0604020202020204" pitchFamily="34" charset="0"/>
                <a:ea typeface="宋体" panose="02010600030101010101" pitchFamily="2" charset="-122"/>
              </a:rPr>
              <a:t>  </a:t>
            </a:r>
          </a:p>
          <a:p>
            <a:endParaRPr lang="en-US" altLang="zh-CN">
              <a:ea typeface="宋体" panose="02010600030101010101" pitchFamily="2" charset="-122"/>
            </a:endParaRPr>
          </a:p>
        </p:txBody>
      </p:sp>
      <p:sp>
        <p:nvSpPr>
          <p:cNvPr id="180227" name="Title 1">
            <a:extLst>
              <a:ext uri="{FF2B5EF4-FFF2-40B4-BE49-F238E27FC236}">
                <a16:creationId xmlns:a16="http://schemas.microsoft.com/office/drawing/2014/main" id="{BB64E420-ED86-4D3B-83AD-2F6C4B1DFDB8}"/>
              </a:ext>
            </a:extLst>
          </p:cNvPr>
          <p:cNvSpPr txBox="1">
            <a:spLocks/>
          </p:cNvSpPr>
          <p:nvPr/>
        </p:nvSpPr>
        <p:spPr bwMode="auto">
          <a:xfrm>
            <a:off x="1219200" y="228600"/>
            <a:ext cx="65008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税收下影响社会福利净损失的因素</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9810">
                                            <p:txEl>
                                              <p:pRg st="0" end="0"/>
                                            </p:txEl>
                                          </p:spTgt>
                                        </p:tgtEl>
                                        <p:attrNameLst>
                                          <p:attrName>style.visibility</p:attrName>
                                        </p:attrNameLst>
                                      </p:cBhvr>
                                      <p:to>
                                        <p:strVal val="visible"/>
                                      </p:to>
                                    </p:set>
                                    <p:animEffect transition="in" filter="blinds(horizontal)">
                                      <p:cBhvr>
                                        <p:cTn id="7" dur="500"/>
                                        <p:tgtEl>
                                          <p:spTgt spid="1198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9810">
                                            <p:txEl>
                                              <p:pRg st="1" end="1"/>
                                            </p:txEl>
                                          </p:spTgt>
                                        </p:tgtEl>
                                        <p:attrNameLst>
                                          <p:attrName>style.visibility</p:attrName>
                                        </p:attrNameLst>
                                      </p:cBhvr>
                                      <p:to>
                                        <p:strVal val="visible"/>
                                      </p:to>
                                    </p:set>
                                    <p:animEffect transition="in" filter="blinds(horizontal)">
                                      <p:cBhvr>
                                        <p:cTn id="12" dur="500"/>
                                        <p:tgtEl>
                                          <p:spTgt spid="1198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9810">
                                            <p:txEl>
                                              <p:pRg st="2" end="2"/>
                                            </p:txEl>
                                          </p:spTgt>
                                        </p:tgtEl>
                                        <p:attrNameLst>
                                          <p:attrName>style.visibility</p:attrName>
                                        </p:attrNameLst>
                                      </p:cBhvr>
                                      <p:to>
                                        <p:strVal val="visible"/>
                                      </p:to>
                                    </p:set>
                                    <p:animEffect transition="in" filter="blinds(horizontal)">
                                      <p:cBhvr>
                                        <p:cTn id="17" dur="500"/>
                                        <p:tgtEl>
                                          <p:spTgt spid="11981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9810">
                                            <p:txEl>
                                              <p:pRg st="3" end="3"/>
                                            </p:txEl>
                                          </p:spTgt>
                                        </p:tgtEl>
                                        <p:attrNameLst>
                                          <p:attrName>style.visibility</p:attrName>
                                        </p:attrNameLst>
                                      </p:cBhvr>
                                      <p:to>
                                        <p:strVal val="visible"/>
                                      </p:to>
                                    </p:set>
                                    <p:animEffect transition="in" filter="blinds(horizontal)">
                                      <p:cBhvr>
                                        <p:cTn id="22" dur="500"/>
                                        <p:tgtEl>
                                          <p:spTgt spid="1198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build="p"/>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93ED0D6-760C-441D-90A5-88D04FBB6FB7}"/>
              </a:ext>
            </a:extLst>
          </p:cNvPr>
          <p:cNvGrpSpPr>
            <a:grpSpLocks/>
          </p:cNvGrpSpPr>
          <p:nvPr/>
        </p:nvGrpSpPr>
        <p:grpSpPr bwMode="auto">
          <a:xfrm>
            <a:off x="6080125" y="3646488"/>
            <a:ext cx="249238" cy="1076325"/>
            <a:chOff x="0" y="0"/>
            <a:chExt cx="157" cy="678"/>
          </a:xfrm>
        </p:grpSpPr>
        <p:sp>
          <p:nvSpPr>
            <p:cNvPr id="181269" name="AutoShape 4">
              <a:extLst>
                <a:ext uri="{FF2B5EF4-FFF2-40B4-BE49-F238E27FC236}">
                  <a16:creationId xmlns:a16="http://schemas.microsoft.com/office/drawing/2014/main" id="{647B3B94-C37C-4AFE-B1FC-0673C4DE67ED}"/>
                </a:ext>
              </a:extLst>
            </p:cNvPr>
            <p:cNvSpPr>
              <a:spLocks noChangeArrowheads="1"/>
            </p:cNvSpPr>
            <p:nvPr/>
          </p:nvSpPr>
          <p:spPr bwMode="auto">
            <a:xfrm>
              <a:off x="0" y="0"/>
              <a:ext cx="154" cy="132"/>
            </a:xfrm>
            <a:prstGeom prst="rtTriangle">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81270" name="AutoShape 5">
              <a:extLst>
                <a:ext uri="{FF2B5EF4-FFF2-40B4-BE49-F238E27FC236}">
                  <a16:creationId xmlns:a16="http://schemas.microsoft.com/office/drawing/2014/main" id="{E027FADA-7B2B-45E3-ACBB-1890B5DDA6F7}"/>
                </a:ext>
              </a:extLst>
            </p:cNvPr>
            <p:cNvSpPr>
              <a:spLocks noChangeArrowheads="1"/>
            </p:cNvSpPr>
            <p:nvPr/>
          </p:nvSpPr>
          <p:spPr bwMode="auto">
            <a:xfrm flipV="1">
              <a:off x="2" y="131"/>
              <a:ext cx="155" cy="547"/>
            </a:xfrm>
            <a:prstGeom prst="rtTriangle">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sp>
        <p:nvSpPr>
          <p:cNvPr id="26629" name="Rectangle 6">
            <a:extLst>
              <a:ext uri="{FF2B5EF4-FFF2-40B4-BE49-F238E27FC236}">
                <a16:creationId xmlns:a16="http://schemas.microsoft.com/office/drawing/2014/main" id="{287C16A7-1532-4A24-AA6F-7D5640F3682C}"/>
              </a:ext>
            </a:extLst>
          </p:cNvPr>
          <p:cNvSpPr>
            <a:spLocks noGrp="1" noChangeArrowheads="1"/>
          </p:cNvSpPr>
          <p:nvPr>
            <p:ph type="body" idx="4294967295"/>
          </p:nvPr>
        </p:nvSpPr>
        <p:spPr>
          <a:xfrm>
            <a:off x="986631" y="1524000"/>
            <a:ext cx="2690813" cy="3581400"/>
          </a:xfrm>
          <a:solidFill>
            <a:srgbClr val="FFFFCC"/>
          </a:solidFill>
          <a:effectLst>
            <a:outerShdw dist="71842" dir="2700000" algn="ctr" rotWithShape="0">
              <a:schemeClr val="bg2"/>
            </a:outerShdw>
          </a:effectLst>
        </p:spPr>
        <p:txBody>
          <a:bodyPr>
            <a:normAutofit fontScale="92500" lnSpcReduction="20000"/>
          </a:bodyPr>
          <a:lstStyle/>
          <a:p>
            <a:pPr marL="0" indent="0">
              <a:spcBef>
                <a:spcPct val="30000"/>
              </a:spcBef>
              <a:buFont typeface="Wingdings" panose="05000000000000000000" pitchFamily="2" charset="2"/>
              <a:buNone/>
            </a:pPr>
            <a:r>
              <a:rPr lang="zh-CN" altLang="en-US" b="0" dirty="0">
                <a:ea typeface="宋体" panose="02010600030101010101" pitchFamily="2" charset="-122"/>
              </a:rPr>
              <a:t>当征税减少了卖者得到的价格时，供给缺乏弹性的企业更难以离开市场。因此税收只降低一点交易量，社会净损失很小</a:t>
            </a:r>
            <a:endParaRPr lang="en-US" altLang="zh-CN" b="0" dirty="0">
              <a:ea typeface="宋体" panose="02010600030101010101" pitchFamily="2" charset="-122"/>
            </a:endParaRPr>
          </a:p>
        </p:txBody>
      </p:sp>
      <p:grpSp>
        <p:nvGrpSpPr>
          <p:cNvPr id="181252" name="Group 7">
            <a:extLst>
              <a:ext uri="{FF2B5EF4-FFF2-40B4-BE49-F238E27FC236}">
                <a16:creationId xmlns:a16="http://schemas.microsoft.com/office/drawing/2014/main" id="{6DBDD358-2639-4F07-A717-8B46B8ADC85F}"/>
              </a:ext>
            </a:extLst>
          </p:cNvPr>
          <p:cNvGrpSpPr>
            <a:grpSpLocks/>
          </p:cNvGrpSpPr>
          <p:nvPr/>
        </p:nvGrpSpPr>
        <p:grpSpPr bwMode="auto">
          <a:xfrm>
            <a:off x="4124325" y="1524000"/>
            <a:ext cx="4305300" cy="4286250"/>
            <a:chOff x="0" y="0"/>
            <a:chExt cx="2712" cy="2700"/>
          </a:xfrm>
        </p:grpSpPr>
        <p:grpSp>
          <p:nvGrpSpPr>
            <p:cNvPr id="181264" name="Group 8">
              <a:extLst>
                <a:ext uri="{FF2B5EF4-FFF2-40B4-BE49-F238E27FC236}">
                  <a16:creationId xmlns:a16="http://schemas.microsoft.com/office/drawing/2014/main" id="{5E0FE42C-3760-4AAC-B5FB-18A40992B763}"/>
                </a:ext>
              </a:extLst>
            </p:cNvPr>
            <p:cNvGrpSpPr>
              <a:grpSpLocks/>
            </p:cNvGrpSpPr>
            <p:nvPr/>
          </p:nvGrpSpPr>
          <p:grpSpPr bwMode="auto">
            <a:xfrm>
              <a:off x="119" y="225"/>
              <a:ext cx="2382" cy="2331"/>
              <a:chOff x="0" y="0"/>
              <a:chExt cx="2400" cy="2079"/>
            </a:xfrm>
          </p:grpSpPr>
          <p:sp>
            <p:nvSpPr>
              <p:cNvPr id="181267" name="Line 10">
                <a:extLst>
                  <a:ext uri="{FF2B5EF4-FFF2-40B4-BE49-F238E27FC236}">
                    <a16:creationId xmlns:a16="http://schemas.microsoft.com/office/drawing/2014/main" id="{E19E81F8-0B60-4D74-862A-3B5E00183B9E}"/>
                  </a:ext>
                </a:extLst>
              </p:cNvPr>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268" name="Line 11">
                <a:extLst>
                  <a:ext uri="{FF2B5EF4-FFF2-40B4-BE49-F238E27FC236}">
                    <a16:creationId xmlns:a16="http://schemas.microsoft.com/office/drawing/2014/main" id="{E8D3BF45-EE9C-4721-8E0E-BE3F5A39EB5E}"/>
                  </a:ext>
                </a:extLst>
              </p:cNvPr>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1265" name="Text Box 12">
              <a:extLst>
                <a:ext uri="{FF2B5EF4-FFF2-40B4-BE49-F238E27FC236}">
                  <a16:creationId xmlns:a16="http://schemas.microsoft.com/office/drawing/2014/main" id="{60F9C738-CA86-41F7-A796-C02CDC91FDFC}"/>
                </a:ext>
              </a:extLst>
            </p:cNvPr>
            <p:cNvSpPr txBox="1">
              <a:spLocks noChangeArrowheads="1"/>
            </p:cNvSpPr>
            <p:nvPr/>
          </p:nvSpPr>
          <p:spPr bwMode="auto">
            <a:xfrm>
              <a:off x="0"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p>
          </p:txBody>
        </p:sp>
        <p:sp>
          <p:nvSpPr>
            <p:cNvPr id="181266" name="Text Box 13">
              <a:extLst>
                <a:ext uri="{FF2B5EF4-FFF2-40B4-BE49-F238E27FC236}">
                  <a16:creationId xmlns:a16="http://schemas.microsoft.com/office/drawing/2014/main" id="{033A0B5F-A456-498A-A205-E352389EF4DD}"/>
                </a:ext>
              </a:extLst>
            </p:cNvPr>
            <p:cNvSpPr txBox="1">
              <a:spLocks noChangeArrowheads="1"/>
            </p:cNvSpPr>
            <p:nvPr/>
          </p:nvSpPr>
          <p:spPr bwMode="auto">
            <a:xfrm>
              <a:off x="2479" y="2421"/>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p>
          </p:txBody>
        </p:sp>
      </p:grpSp>
      <p:grpSp>
        <p:nvGrpSpPr>
          <p:cNvPr id="181253" name="Group 13">
            <a:extLst>
              <a:ext uri="{FF2B5EF4-FFF2-40B4-BE49-F238E27FC236}">
                <a16:creationId xmlns:a16="http://schemas.microsoft.com/office/drawing/2014/main" id="{C5AD1A75-F02C-4FBC-BE5D-B3C12AB63258}"/>
              </a:ext>
            </a:extLst>
          </p:cNvPr>
          <p:cNvGrpSpPr>
            <a:grpSpLocks/>
          </p:cNvGrpSpPr>
          <p:nvPr/>
        </p:nvGrpSpPr>
        <p:grpSpPr bwMode="auto">
          <a:xfrm>
            <a:off x="4313238" y="2085975"/>
            <a:ext cx="3624262" cy="3217863"/>
            <a:chOff x="0" y="0"/>
            <a:chExt cx="2283" cy="2027"/>
          </a:xfrm>
        </p:grpSpPr>
        <p:sp>
          <p:nvSpPr>
            <p:cNvPr id="181262" name="Text Box 15">
              <a:extLst>
                <a:ext uri="{FF2B5EF4-FFF2-40B4-BE49-F238E27FC236}">
                  <a16:creationId xmlns:a16="http://schemas.microsoft.com/office/drawing/2014/main" id="{3CBFE164-2D5A-4EF9-B4A9-578496549D1F}"/>
                </a:ext>
              </a:extLst>
            </p:cNvPr>
            <p:cNvSpPr txBox="1">
              <a:spLocks noChangeArrowheads="1"/>
            </p:cNvSpPr>
            <p:nvPr/>
          </p:nvSpPr>
          <p:spPr bwMode="auto">
            <a:xfrm>
              <a:off x="2050" y="1748"/>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D</a:t>
              </a:r>
            </a:p>
          </p:txBody>
        </p:sp>
        <p:sp>
          <p:nvSpPr>
            <p:cNvPr id="181263" name="Line 16">
              <a:extLst>
                <a:ext uri="{FF2B5EF4-FFF2-40B4-BE49-F238E27FC236}">
                  <a16:creationId xmlns:a16="http://schemas.microsoft.com/office/drawing/2014/main" id="{8620BD72-0AA5-4080-8547-9ED163C2D179}"/>
                </a:ext>
              </a:extLst>
            </p:cNvPr>
            <p:cNvSpPr>
              <a:spLocks noChangeShapeType="1"/>
            </p:cNvSpPr>
            <p:nvPr/>
          </p:nvSpPr>
          <p:spPr bwMode="auto">
            <a:xfrm>
              <a:off x="0" y="0"/>
              <a:ext cx="2094" cy="18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16">
            <a:extLst>
              <a:ext uri="{FF2B5EF4-FFF2-40B4-BE49-F238E27FC236}">
                <a16:creationId xmlns:a16="http://schemas.microsoft.com/office/drawing/2014/main" id="{E7EDAD2B-D7EC-47AC-8C9F-3F2DE21AFB93}"/>
              </a:ext>
            </a:extLst>
          </p:cNvPr>
          <p:cNvGrpSpPr>
            <a:grpSpLocks/>
          </p:cNvGrpSpPr>
          <p:nvPr/>
        </p:nvGrpSpPr>
        <p:grpSpPr bwMode="auto">
          <a:xfrm>
            <a:off x="5913438" y="2005013"/>
            <a:ext cx="1057275" cy="3395662"/>
            <a:chOff x="0" y="0"/>
            <a:chExt cx="666" cy="2139"/>
          </a:xfrm>
        </p:grpSpPr>
        <p:sp>
          <p:nvSpPr>
            <p:cNvPr id="181260" name="Text Box 18">
              <a:extLst>
                <a:ext uri="{FF2B5EF4-FFF2-40B4-BE49-F238E27FC236}">
                  <a16:creationId xmlns:a16="http://schemas.microsoft.com/office/drawing/2014/main" id="{40A8BC2E-8C9B-4B65-A043-477689EEC84A}"/>
                </a:ext>
              </a:extLst>
            </p:cNvPr>
            <p:cNvSpPr txBox="1">
              <a:spLocks noChangeArrowheads="1"/>
            </p:cNvSpPr>
            <p:nvPr/>
          </p:nvSpPr>
          <p:spPr bwMode="auto">
            <a:xfrm>
              <a:off x="433"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S</a:t>
              </a:r>
            </a:p>
          </p:txBody>
        </p:sp>
        <p:sp>
          <p:nvSpPr>
            <p:cNvPr id="181261" name="Line 19">
              <a:extLst>
                <a:ext uri="{FF2B5EF4-FFF2-40B4-BE49-F238E27FC236}">
                  <a16:creationId xmlns:a16="http://schemas.microsoft.com/office/drawing/2014/main" id="{5D99ECB4-AB21-4C10-9AEB-28E1BB41EDC3}"/>
                </a:ext>
              </a:extLst>
            </p:cNvPr>
            <p:cNvSpPr>
              <a:spLocks noChangeShapeType="1"/>
            </p:cNvSpPr>
            <p:nvPr/>
          </p:nvSpPr>
          <p:spPr bwMode="auto">
            <a:xfrm flipV="1">
              <a:off x="0" y="243"/>
              <a:ext cx="516" cy="1896"/>
            </a:xfrm>
            <a:prstGeom prst="line">
              <a:avLst/>
            </a:prstGeom>
            <a:noFill/>
            <a:ln w="2857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643" name="Line 20">
            <a:extLst>
              <a:ext uri="{FF2B5EF4-FFF2-40B4-BE49-F238E27FC236}">
                <a16:creationId xmlns:a16="http://schemas.microsoft.com/office/drawing/2014/main" id="{69708B1D-EBD7-4EBD-9113-08046A275D0C}"/>
              </a:ext>
            </a:extLst>
          </p:cNvPr>
          <p:cNvSpPr>
            <a:spLocks noChangeShapeType="1"/>
          </p:cNvSpPr>
          <p:nvPr/>
        </p:nvSpPr>
        <p:spPr bwMode="auto">
          <a:xfrm>
            <a:off x="6075363" y="3638550"/>
            <a:ext cx="0" cy="11144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 name="Group 20">
            <a:extLst>
              <a:ext uri="{FF2B5EF4-FFF2-40B4-BE49-F238E27FC236}">
                <a16:creationId xmlns:a16="http://schemas.microsoft.com/office/drawing/2014/main" id="{42FB70D1-FD37-4B9B-A04C-2927AEF107D4}"/>
              </a:ext>
            </a:extLst>
          </p:cNvPr>
          <p:cNvGrpSpPr>
            <a:grpSpLocks/>
          </p:cNvGrpSpPr>
          <p:nvPr/>
        </p:nvGrpSpPr>
        <p:grpSpPr bwMode="auto">
          <a:xfrm>
            <a:off x="4676775" y="3652838"/>
            <a:ext cx="1350963" cy="1100137"/>
            <a:chOff x="0" y="0"/>
            <a:chExt cx="851" cy="693"/>
          </a:xfrm>
        </p:grpSpPr>
        <p:sp>
          <p:nvSpPr>
            <p:cNvPr id="181258" name="AutoShape 22">
              <a:extLst>
                <a:ext uri="{FF2B5EF4-FFF2-40B4-BE49-F238E27FC236}">
                  <a16:creationId xmlns:a16="http://schemas.microsoft.com/office/drawing/2014/main" id="{56F996D4-DFB2-4E96-AF60-909DAF6722EC}"/>
                </a:ext>
              </a:extLst>
            </p:cNvPr>
            <p:cNvSpPr>
              <a:spLocks/>
            </p:cNvSpPr>
            <p:nvPr/>
          </p:nvSpPr>
          <p:spPr bwMode="auto">
            <a:xfrm>
              <a:off x="722" y="0"/>
              <a:ext cx="129" cy="693"/>
            </a:xfrm>
            <a:prstGeom prst="leftBrace">
              <a:avLst>
                <a:gd name="adj1" fmla="val 447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81259" name="Text Box 23">
              <a:extLst>
                <a:ext uri="{FF2B5EF4-FFF2-40B4-BE49-F238E27FC236}">
                  <a16:creationId xmlns:a16="http://schemas.microsoft.com/office/drawing/2014/main" id="{9CADCC02-BA82-4B9B-A26F-2A01F5AE1FF5}"/>
                </a:ext>
              </a:extLst>
            </p:cNvPr>
            <p:cNvSpPr txBox="1">
              <a:spLocks noChangeArrowheads="1"/>
            </p:cNvSpPr>
            <p:nvPr/>
          </p:nvSpPr>
          <p:spPr bwMode="auto">
            <a:xfrm>
              <a:off x="0" y="88"/>
              <a:ext cx="71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税收规模</a:t>
              </a:r>
              <a:endParaRPr lang="en-US" altLang="zh-CN" sz="2400" b="0">
                <a:latin typeface="Arial" panose="020B0604020202020204" pitchFamily="34" charset="0"/>
              </a:endParaRPr>
            </a:p>
          </p:txBody>
        </p:sp>
      </p:grpSp>
      <p:sp>
        <p:nvSpPr>
          <p:cNvPr id="181257" name="Title 1">
            <a:extLst>
              <a:ext uri="{FF2B5EF4-FFF2-40B4-BE49-F238E27FC236}">
                <a16:creationId xmlns:a16="http://schemas.microsoft.com/office/drawing/2014/main" id="{D36B3321-97AC-4837-9CBB-9018D6B4C4CE}"/>
              </a:ext>
            </a:extLst>
          </p:cNvPr>
          <p:cNvSpPr txBox="1">
            <a:spLocks/>
          </p:cNvSpPr>
          <p:nvPr/>
        </p:nvSpPr>
        <p:spPr bwMode="auto">
          <a:xfrm>
            <a:off x="1524000" y="152400"/>
            <a:ext cx="56165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社会福利净损失与供给弹性</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29">
                                            <p:bg/>
                                          </p:spTgt>
                                        </p:tgtEl>
                                        <p:attrNameLst>
                                          <p:attrName>style.visibility</p:attrName>
                                        </p:attrNameLst>
                                      </p:cBhvr>
                                      <p:to>
                                        <p:strVal val="visible"/>
                                      </p:to>
                                    </p:set>
                                    <p:animEffect transition="in" filter="fade">
                                      <p:cBhvr>
                                        <p:cTn id="7" dur="500"/>
                                        <p:tgtEl>
                                          <p:spTgt spid="26629">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629">
                                            <p:txEl>
                                              <p:pRg st="0" end="0"/>
                                            </p:txEl>
                                          </p:spTgt>
                                        </p:tgtEl>
                                        <p:attrNameLst>
                                          <p:attrName>style.visibility</p:attrName>
                                        </p:attrNameLst>
                                      </p:cBhvr>
                                      <p:to>
                                        <p:strVal val="visible"/>
                                      </p:to>
                                    </p:set>
                                    <p:animEffect transition="in" filter="wipe(left)">
                                      <p:cBhvr>
                                        <p:cTn id="10" dur="500"/>
                                        <p:tgtEl>
                                          <p:spTgt spid="26629">
                                            <p:txEl>
                                              <p:pRg st="0" end="0"/>
                                            </p:txEl>
                                          </p:spTgt>
                                        </p:tgtEl>
                                      </p:cBhvr>
                                    </p:animEffect>
                                  </p:childTnLst>
                                </p:cTn>
                              </p:par>
                              <p:par>
                                <p:cTn id="11" presetID="18" presetClass="entr" presetSubtype="12"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trips(downLeft)">
                                      <p:cBhvr>
                                        <p:cTn id="13" dur="500"/>
                                        <p:tgtEl>
                                          <p:spTgt spid="6"/>
                                        </p:tgtEl>
                                      </p:cBhvr>
                                    </p:animEffect>
                                  </p:childTnLst>
                                </p:cTn>
                              </p:par>
                            </p:childTnLst>
                          </p:cTn>
                        </p:par>
                        <p:par>
                          <p:cTn id="14" fill="hold" nodeType="afterGroup">
                            <p:stCondLst>
                              <p:cond delay="500"/>
                            </p:stCondLst>
                            <p:childTnLst>
                              <p:par>
                                <p:cTn id="15" presetID="22" presetClass="entr" presetSubtype="1" fill="hold" nodeType="afterEffect">
                                  <p:stCondLst>
                                    <p:cond delay="0"/>
                                  </p:stCondLst>
                                  <p:childTnLst>
                                    <p:set>
                                      <p:cBhvr>
                                        <p:cTn id="16" dur="1" fill="hold">
                                          <p:stCondLst>
                                            <p:cond delay="0"/>
                                          </p:stCondLst>
                                        </p:cTn>
                                        <p:tgtEl>
                                          <p:spTgt spid="26643"/>
                                        </p:tgtEl>
                                        <p:attrNameLst>
                                          <p:attrName>style.visibility</p:attrName>
                                        </p:attrNameLst>
                                      </p:cBhvr>
                                      <p:to>
                                        <p:strVal val="visible"/>
                                      </p:to>
                                    </p:set>
                                    <p:animEffect transition="in" filter="wipe(up)">
                                      <p:cBhvr>
                                        <p:cTn id="17" dur="500"/>
                                        <p:tgtEl>
                                          <p:spTgt spid="26643"/>
                                        </p:tgtEl>
                                      </p:cBhvr>
                                    </p:animEffect>
                                  </p:childTnLst>
                                </p:cTn>
                              </p:par>
                            </p:childTnLst>
                          </p:cTn>
                        </p:par>
                        <p:par>
                          <p:cTn id="18" fill="hold" nodeType="afterGroup">
                            <p:stCondLst>
                              <p:cond delay="1000"/>
                            </p:stCondLst>
                            <p:childTnLst>
                              <p:par>
                                <p:cTn id="19" presetID="9"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par>
                                <p:cTn id="22" presetID="9"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dissolve">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build="p" bldLvl="5" animBg="1"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FCDDC1E-ED7E-42D6-91BB-17BD9A0FE436}"/>
              </a:ext>
            </a:extLst>
          </p:cNvPr>
          <p:cNvGrpSpPr>
            <a:grpSpLocks/>
          </p:cNvGrpSpPr>
          <p:nvPr/>
        </p:nvGrpSpPr>
        <p:grpSpPr bwMode="auto">
          <a:xfrm>
            <a:off x="5594350" y="3225800"/>
            <a:ext cx="750888" cy="1085850"/>
            <a:chOff x="0" y="0"/>
            <a:chExt cx="473" cy="684"/>
          </a:xfrm>
        </p:grpSpPr>
        <p:sp>
          <p:nvSpPr>
            <p:cNvPr id="183317" name="AutoShape 4">
              <a:extLst>
                <a:ext uri="{FF2B5EF4-FFF2-40B4-BE49-F238E27FC236}">
                  <a16:creationId xmlns:a16="http://schemas.microsoft.com/office/drawing/2014/main" id="{A22AD699-10A8-4AAB-9BA9-C16BDC267355}"/>
                </a:ext>
              </a:extLst>
            </p:cNvPr>
            <p:cNvSpPr>
              <a:spLocks noChangeArrowheads="1"/>
            </p:cNvSpPr>
            <p:nvPr/>
          </p:nvSpPr>
          <p:spPr bwMode="auto">
            <a:xfrm>
              <a:off x="0" y="0"/>
              <a:ext cx="459" cy="399"/>
            </a:xfrm>
            <a:prstGeom prst="rtTriangle">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83318" name="AutoShape 5">
              <a:extLst>
                <a:ext uri="{FF2B5EF4-FFF2-40B4-BE49-F238E27FC236}">
                  <a16:creationId xmlns:a16="http://schemas.microsoft.com/office/drawing/2014/main" id="{F7480C06-C73E-46A6-A07C-4167C7272A0C}"/>
                </a:ext>
              </a:extLst>
            </p:cNvPr>
            <p:cNvSpPr>
              <a:spLocks noChangeArrowheads="1"/>
            </p:cNvSpPr>
            <p:nvPr/>
          </p:nvSpPr>
          <p:spPr bwMode="auto">
            <a:xfrm flipV="1">
              <a:off x="0" y="396"/>
              <a:ext cx="473" cy="288"/>
            </a:xfrm>
            <a:prstGeom prst="rtTriangle">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183299" name="Group 6">
            <a:extLst>
              <a:ext uri="{FF2B5EF4-FFF2-40B4-BE49-F238E27FC236}">
                <a16:creationId xmlns:a16="http://schemas.microsoft.com/office/drawing/2014/main" id="{47276E27-7153-459E-A441-BA24E6DF1FA3}"/>
              </a:ext>
            </a:extLst>
          </p:cNvPr>
          <p:cNvGrpSpPr>
            <a:grpSpLocks/>
          </p:cNvGrpSpPr>
          <p:nvPr/>
        </p:nvGrpSpPr>
        <p:grpSpPr bwMode="auto">
          <a:xfrm>
            <a:off x="4124325" y="1524000"/>
            <a:ext cx="4305300" cy="4286250"/>
            <a:chOff x="0" y="0"/>
            <a:chExt cx="2712" cy="2700"/>
          </a:xfrm>
        </p:grpSpPr>
        <p:grpSp>
          <p:nvGrpSpPr>
            <p:cNvPr id="183312" name="Group 7">
              <a:extLst>
                <a:ext uri="{FF2B5EF4-FFF2-40B4-BE49-F238E27FC236}">
                  <a16:creationId xmlns:a16="http://schemas.microsoft.com/office/drawing/2014/main" id="{EC1E02E2-65B2-4EC7-938C-7820E360C1EF}"/>
                </a:ext>
              </a:extLst>
            </p:cNvPr>
            <p:cNvGrpSpPr>
              <a:grpSpLocks/>
            </p:cNvGrpSpPr>
            <p:nvPr/>
          </p:nvGrpSpPr>
          <p:grpSpPr bwMode="auto">
            <a:xfrm>
              <a:off x="119" y="225"/>
              <a:ext cx="2382" cy="2331"/>
              <a:chOff x="0" y="0"/>
              <a:chExt cx="2400" cy="2079"/>
            </a:xfrm>
          </p:grpSpPr>
          <p:sp>
            <p:nvSpPr>
              <p:cNvPr id="183315" name="Line 10">
                <a:extLst>
                  <a:ext uri="{FF2B5EF4-FFF2-40B4-BE49-F238E27FC236}">
                    <a16:creationId xmlns:a16="http://schemas.microsoft.com/office/drawing/2014/main" id="{FB300153-75C3-4BC6-B796-CFC05E41B2D2}"/>
                  </a:ext>
                </a:extLst>
              </p:cNvPr>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3316" name="Line 11">
                <a:extLst>
                  <a:ext uri="{FF2B5EF4-FFF2-40B4-BE49-F238E27FC236}">
                    <a16:creationId xmlns:a16="http://schemas.microsoft.com/office/drawing/2014/main" id="{95C31B9C-4C54-4A6B-BFA3-FC3345C2687E}"/>
                  </a:ext>
                </a:extLst>
              </p:cNvPr>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3313" name="Text Box 12">
              <a:extLst>
                <a:ext uri="{FF2B5EF4-FFF2-40B4-BE49-F238E27FC236}">
                  <a16:creationId xmlns:a16="http://schemas.microsoft.com/office/drawing/2014/main" id="{60334A49-9EAF-49E6-A21B-92D6146F9337}"/>
                </a:ext>
              </a:extLst>
            </p:cNvPr>
            <p:cNvSpPr txBox="1">
              <a:spLocks noChangeArrowheads="1"/>
            </p:cNvSpPr>
            <p:nvPr/>
          </p:nvSpPr>
          <p:spPr bwMode="auto">
            <a:xfrm>
              <a:off x="0"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p>
          </p:txBody>
        </p:sp>
        <p:sp>
          <p:nvSpPr>
            <p:cNvPr id="183314" name="Text Box 13">
              <a:extLst>
                <a:ext uri="{FF2B5EF4-FFF2-40B4-BE49-F238E27FC236}">
                  <a16:creationId xmlns:a16="http://schemas.microsoft.com/office/drawing/2014/main" id="{C6933572-1225-45B8-8363-ACFAE3C92B21}"/>
                </a:ext>
              </a:extLst>
            </p:cNvPr>
            <p:cNvSpPr txBox="1">
              <a:spLocks noChangeArrowheads="1"/>
            </p:cNvSpPr>
            <p:nvPr/>
          </p:nvSpPr>
          <p:spPr bwMode="auto">
            <a:xfrm>
              <a:off x="2479" y="2421"/>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p>
          </p:txBody>
        </p:sp>
      </p:grpSp>
      <p:grpSp>
        <p:nvGrpSpPr>
          <p:cNvPr id="183300" name="Group 12">
            <a:extLst>
              <a:ext uri="{FF2B5EF4-FFF2-40B4-BE49-F238E27FC236}">
                <a16:creationId xmlns:a16="http://schemas.microsoft.com/office/drawing/2014/main" id="{0D844BED-91CD-40E7-BDD4-49B7A5131479}"/>
              </a:ext>
            </a:extLst>
          </p:cNvPr>
          <p:cNvGrpSpPr>
            <a:grpSpLocks/>
          </p:cNvGrpSpPr>
          <p:nvPr/>
        </p:nvGrpSpPr>
        <p:grpSpPr bwMode="auto">
          <a:xfrm>
            <a:off x="4313238" y="2085975"/>
            <a:ext cx="3624262" cy="3217863"/>
            <a:chOff x="0" y="0"/>
            <a:chExt cx="2283" cy="2027"/>
          </a:xfrm>
        </p:grpSpPr>
        <p:sp>
          <p:nvSpPr>
            <p:cNvPr id="183310" name="Text Box 15">
              <a:extLst>
                <a:ext uri="{FF2B5EF4-FFF2-40B4-BE49-F238E27FC236}">
                  <a16:creationId xmlns:a16="http://schemas.microsoft.com/office/drawing/2014/main" id="{7B4374ED-45D3-4C35-AD78-67FB02E25710}"/>
                </a:ext>
              </a:extLst>
            </p:cNvPr>
            <p:cNvSpPr txBox="1">
              <a:spLocks noChangeArrowheads="1"/>
            </p:cNvSpPr>
            <p:nvPr/>
          </p:nvSpPr>
          <p:spPr bwMode="auto">
            <a:xfrm>
              <a:off x="2050" y="1748"/>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D</a:t>
              </a:r>
            </a:p>
          </p:txBody>
        </p:sp>
        <p:sp>
          <p:nvSpPr>
            <p:cNvPr id="183311" name="Line 16">
              <a:extLst>
                <a:ext uri="{FF2B5EF4-FFF2-40B4-BE49-F238E27FC236}">
                  <a16:creationId xmlns:a16="http://schemas.microsoft.com/office/drawing/2014/main" id="{DF77817A-59DD-4057-A3B7-6E914B9A3217}"/>
                </a:ext>
              </a:extLst>
            </p:cNvPr>
            <p:cNvSpPr>
              <a:spLocks noChangeShapeType="1"/>
            </p:cNvSpPr>
            <p:nvPr/>
          </p:nvSpPr>
          <p:spPr bwMode="auto">
            <a:xfrm>
              <a:off x="0" y="0"/>
              <a:ext cx="2094" cy="183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3301" name="Group 15">
            <a:extLst>
              <a:ext uri="{FF2B5EF4-FFF2-40B4-BE49-F238E27FC236}">
                <a16:creationId xmlns:a16="http://schemas.microsoft.com/office/drawing/2014/main" id="{8C8D1006-8060-4E83-8187-D4E9DDD4229A}"/>
              </a:ext>
            </a:extLst>
          </p:cNvPr>
          <p:cNvGrpSpPr>
            <a:grpSpLocks/>
          </p:cNvGrpSpPr>
          <p:nvPr/>
        </p:nvGrpSpPr>
        <p:grpSpPr bwMode="auto">
          <a:xfrm>
            <a:off x="4484688" y="2833688"/>
            <a:ext cx="3362325" cy="2157412"/>
            <a:chOff x="0" y="0"/>
            <a:chExt cx="2118" cy="1359"/>
          </a:xfrm>
        </p:grpSpPr>
        <p:sp>
          <p:nvSpPr>
            <p:cNvPr id="183308" name="Text Box 18">
              <a:extLst>
                <a:ext uri="{FF2B5EF4-FFF2-40B4-BE49-F238E27FC236}">
                  <a16:creationId xmlns:a16="http://schemas.microsoft.com/office/drawing/2014/main" id="{17BE5410-9B97-4BF6-80EA-BC8DF1656FA6}"/>
                </a:ext>
              </a:extLst>
            </p:cNvPr>
            <p:cNvSpPr txBox="1">
              <a:spLocks noChangeArrowheads="1"/>
            </p:cNvSpPr>
            <p:nvPr/>
          </p:nvSpPr>
          <p:spPr bwMode="auto">
            <a:xfrm>
              <a:off x="1885"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S</a:t>
              </a:r>
            </a:p>
          </p:txBody>
        </p:sp>
        <p:sp>
          <p:nvSpPr>
            <p:cNvPr id="183309" name="Line 19">
              <a:extLst>
                <a:ext uri="{FF2B5EF4-FFF2-40B4-BE49-F238E27FC236}">
                  <a16:creationId xmlns:a16="http://schemas.microsoft.com/office/drawing/2014/main" id="{D460B094-8548-48CA-B8A3-94F98CA99C54}"/>
                </a:ext>
              </a:extLst>
            </p:cNvPr>
            <p:cNvSpPr>
              <a:spLocks noChangeShapeType="1"/>
            </p:cNvSpPr>
            <p:nvPr/>
          </p:nvSpPr>
          <p:spPr bwMode="auto">
            <a:xfrm flipV="1">
              <a:off x="0" y="201"/>
              <a:ext cx="1932" cy="1158"/>
            </a:xfrm>
            <a:prstGeom prst="line">
              <a:avLst/>
            </a:prstGeom>
            <a:noFill/>
            <a:ln w="2857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8690" name="Line 20">
            <a:extLst>
              <a:ext uri="{FF2B5EF4-FFF2-40B4-BE49-F238E27FC236}">
                <a16:creationId xmlns:a16="http://schemas.microsoft.com/office/drawing/2014/main" id="{B869B17C-658C-4BA0-A7AA-0842B19D4C1A}"/>
              </a:ext>
            </a:extLst>
          </p:cNvPr>
          <p:cNvSpPr>
            <a:spLocks noChangeShapeType="1"/>
          </p:cNvSpPr>
          <p:nvPr/>
        </p:nvSpPr>
        <p:spPr bwMode="auto">
          <a:xfrm>
            <a:off x="5589588" y="3219450"/>
            <a:ext cx="0" cy="11144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 name="Group 19">
            <a:extLst>
              <a:ext uri="{FF2B5EF4-FFF2-40B4-BE49-F238E27FC236}">
                <a16:creationId xmlns:a16="http://schemas.microsoft.com/office/drawing/2014/main" id="{69D356E5-ADAF-421D-A680-DC89BFB76577}"/>
              </a:ext>
            </a:extLst>
          </p:cNvPr>
          <p:cNvGrpSpPr>
            <a:grpSpLocks/>
          </p:cNvGrpSpPr>
          <p:nvPr/>
        </p:nvGrpSpPr>
        <p:grpSpPr bwMode="auto">
          <a:xfrm>
            <a:off x="4219575" y="3219450"/>
            <a:ext cx="1338263" cy="1100138"/>
            <a:chOff x="0" y="0"/>
            <a:chExt cx="843" cy="693"/>
          </a:xfrm>
        </p:grpSpPr>
        <p:sp>
          <p:nvSpPr>
            <p:cNvPr id="183306" name="AutoShape 22">
              <a:extLst>
                <a:ext uri="{FF2B5EF4-FFF2-40B4-BE49-F238E27FC236}">
                  <a16:creationId xmlns:a16="http://schemas.microsoft.com/office/drawing/2014/main" id="{4A8613F1-C68A-41E3-8498-1369724EE585}"/>
                </a:ext>
              </a:extLst>
            </p:cNvPr>
            <p:cNvSpPr>
              <a:spLocks/>
            </p:cNvSpPr>
            <p:nvPr/>
          </p:nvSpPr>
          <p:spPr bwMode="auto">
            <a:xfrm>
              <a:off x="714" y="0"/>
              <a:ext cx="129" cy="693"/>
            </a:xfrm>
            <a:prstGeom prst="leftBrace">
              <a:avLst>
                <a:gd name="adj1" fmla="val 447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83307" name="Text Box 23">
              <a:extLst>
                <a:ext uri="{FF2B5EF4-FFF2-40B4-BE49-F238E27FC236}">
                  <a16:creationId xmlns:a16="http://schemas.microsoft.com/office/drawing/2014/main" id="{3AA03D7A-2953-4123-92E6-9321B40E68C3}"/>
                </a:ext>
              </a:extLst>
            </p:cNvPr>
            <p:cNvSpPr txBox="1">
              <a:spLocks noChangeArrowheads="1"/>
            </p:cNvSpPr>
            <p:nvPr/>
          </p:nvSpPr>
          <p:spPr bwMode="auto">
            <a:xfrm>
              <a:off x="0" y="88"/>
              <a:ext cx="71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税收规模</a:t>
              </a:r>
              <a:endParaRPr lang="en-US" altLang="zh-CN" sz="2400" b="0">
                <a:latin typeface="Arial" panose="020B0604020202020204" pitchFamily="34" charset="0"/>
              </a:endParaRPr>
            </a:p>
          </p:txBody>
        </p:sp>
      </p:grpSp>
      <p:sp>
        <p:nvSpPr>
          <p:cNvPr id="183304" name="Rectangle 6">
            <a:extLst>
              <a:ext uri="{FF2B5EF4-FFF2-40B4-BE49-F238E27FC236}">
                <a16:creationId xmlns:a16="http://schemas.microsoft.com/office/drawing/2014/main" id="{D06A6B1E-72B7-46E0-8D89-87E4843D899B}"/>
              </a:ext>
            </a:extLst>
          </p:cNvPr>
          <p:cNvSpPr>
            <a:spLocks noChangeArrowheads="1"/>
          </p:cNvSpPr>
          <p:nvPr/>
        </p:nvSpPr>
        <p:spPr bwMode="auto">
          <a:xfrm>
            <a:off x="1219200" y="1917700"/>
            <a:ext cx="2481263" cy="3449638"/>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30000"/>
              </a:spcBef>
              <a:buClr>
                <a:srgbClr val="339966"/>
              </a:buClr>
              <a:buSzPct val="120000"/>
              <a:buFont typeface="Wingdings" panose="05000000000000000000" pitchFamily="2" charset="2"/>
              <a:buNone/>
            </a:pPr>
            <a:r>
              <a:rPr lang="zh-CN" altLang="en-US" sz="2400" b="0">
                <a:latin typeface="Arial" panose="020B0604020202020204" pitchFamily="34" charset="0"/>
              </a:rPr>
              <a:t>当征税减少了卖者得到的价格时，供给富有弹性的企业更容易离开市场。因此税收减少了更多的交易量，社会福利净谓损失更大</a:t>
            </a:r>
            <a:endParaRPr lang="en-US" altLang="zh-CN" sz="2400" b="0">
              <a:latin typeface="Arial" panose="020B0604020202020204" pitchFamily="34" charset="0"/>
            </a:endParaRPr>
          </a:p>
        </p:txBody>
      </p:sp>
      <p:sp>
        <p:nvSpPr>
          <p:cNvPr id="183305" name="Title 1">
            <a:extLst>
              <a:ext uri="{FF2B5EF4-FFF2-40B4-BE49-F238E27FC236}">
                <a16:creationId xmlns:a16="http://schemas.microsoft.com/office/drawing/2014/main" id="{C9AFD6BF-DB9E-4D32-A7F0-4D57630F8A01}"/>
              </a:ext>
            </a:extLst>
          </p:cNvPr>
          <p:cNvSpPr txBox="1">
            <a:spLocks/>
          </p:cNvSpPr>
          <p:nvPr/>
        </p:nvSpPr>
        <p:spPr bwMode="auto">
          <a:xfrm>
            <a:off x="1752600" y="1524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a:spcBef>
                <a:spcPct val="0"/>
              </a:spcBef>
              <a:buClrTx/>
              <a:buFontTx/>
              <a:buNone/>
            </a:pPr>
            <a:r>
              <a:rPr lang="zh-CN" altLang="en-US" sz="3200" b="0">
                <a:latin typeface="Arial" panose="020B0604020202020204" pitchFamily="34" charset="0"/>
              </a:rPr>
              <a:t>社会福利净损失与供给弹性</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28690"/>
                                        </p:tgtEl>
                                        <p:attrNameLst>
                                          <p:attrName>style.visibility</p:attrName>
                                        </p:attrNameLst>
                                      </p:cBhvr>
                                      <p:to>
                                        <p:strVal val="visible"/>
                                      </p:to>
                                    </p:set>
                                    <p:animEffect transition="in" filter="wipe(up)">
                                      <p:cBhvr>
                                        <p:cTn id="7" dur="500"/>
                                        <p:tgtEl>
                                          <p:spTgt spid="28690"/>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par>
                                <p:cTn id="12" presetID="9"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dissolv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F3BBDE7-D525-443A-8979-794673F0F18B}"/>
              </a:ext>
            </a:extLst>
          </p:cNvPr>
          <p:cNvGrpSpPr>
            <a:grpSpLocks/>
          </p:cNvGrpSpPr>
          <p:nvPr/>
        </p:nvGrpSpPr>
        <p:grpSpPr bwMode="auto">
          <a:xfrm>
            <a:off x="2657475" y="2728913"/>
            <a:ext cx="309563" cy="1120775"/>
            <a:chOff x="0" y="0"/>
            <a:chExt cx="195" cy="706"/>
          </a:xfrm>
        </p:grpSpPr>
        <p:sp>
          <p:nvSpPr>
            <p:cNvPr id="185365" name="AutoShape 4">
              <a:extLst>
                <a:ext uri="{FF2B5EF4-FFF2-40B4-BE49-F238E27FC236}">
                  <a16:creationId xmlns:a16="http://schemas.microsoft.com/office/drawing/2014/main" id="{823AEEF7-6B54-4815-BFB8-B81E2B209301}"/>
                </a:ext>
              </a:extLst>
            </p:cNvPr>
            <p:cNvSpPr>
              <a:spLocks noChangeArrowheads="1"/>
            </p:cNvSpPr>
            <p:nvPr/>
          </p:nvSpPr>
          <p:spPr bwMode="auto">
            <a:xfrm>
              <a:off x="1" y="0"/>
              <a:ext cx="194" cy="525"/>
            </a:xfrm>
            <a:prstGeom prst="rtTriangle">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85366" name="AutoShape 5">
              <a:extLst>
                <a:ext uri="{FF2B5EF4-FFF2-40B4-BE49-F238E27FC236}">
                  <a16:creationId xmlns:a16="http://schemas.microsoft.com/office/drawing/2014/main" id="{0F0B26E2-FB35-4E3A-9F03-19C42960C5BA}"/>
                </a:ext>
              </a:extLst>
            </p:cNvPr>
            <p:cNvSpPr>
              <a:spLocks noChangeArrowheads="1"/>
            </p:cNvSpPr>
            <p:nvPr/>
          </p:nvSpPr>
          <p:spPr bwMode="auto">
            <a:xfrm flipV="1">
              <a:off x="0" y="522"/>
              <a:ext cx="190" cy="184"/>
            </a:xfrm>
            <a:prstGeom prst="rtTriangle">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185347" name="Group 6">
            <a:extLst>
              <a:ext uri="{FF2B5EF4-FFF2-40B4-BE49-F238E27FC236}">
                <a16:creationId xmlns:a16="http://schemas.microsoft.com/office/drawing/2014/main" id="{B3513E0E-33B3-4E1B-8B73-ECDB7C30DE6F}"/>
              </a:ext>
            </a:extLst>
          </p:cNvPr>
          <p:cNvGrpSpPr>
            <a:grpSpLocks/>
          </p:cNvGrpSpPr>
          <p:nvPr/>
        </p:nvGrpSpPr>
        <p:grpSpPr bwMode="auto">
          <a:xfrm>
            <a:off x="652463" y="1524000"/>
            <a:ext cx="4305300" cy="4286250"/>
            <a:chOff x="0" y="0"/>
            <a:chExt cx="2712" cy="2700"/>
          </a:xfrm>
        </p:grpSpPr>
        <p:grpSp>
          <p:nvGrpSpPr>
            <p:cNvPr id="185360" name="Group 7">
              <a:extLst>
                <a:ext uri="{FF2B5EF4-FFF2-40B4-BE49-F238E27FC236}">
                  <a16:creationId xmlns:a16="http://schemas.microsoft.com/office/drawing/2014/main" id="{08C8C97E-7E21-4970-9EBF-10A2DA6F9F96}"/>
                </a:ext>
              </a:extLst>
            </p:cNvPr>
            <p:cNvGrpSpPr>
              <a:grpSpLocks/>
            </p:cNvGrpSpPr>
            <p:nvPr/>
          </p:nvGrpSpPr>
          <p:grpSpPr bwMode="auto">
            <a:xfrm>
              <a:off x="119" y="225"/>
              <a:ext cx="2382" cy="2331"/>
              <a:chOff x="0" y="0"/>
              <a:chExt cx="2400" cy="2079"/>
            </a:xfrm>
          </p:grpSpPr>
          <p:sp>
            <p:nvSpPr>
              <p:cNvPr id="185363" name="Line 10">
                <a:extLst>
                  <a:ext uri="{FF2B5EF4-FFF2-40B4-BE49-F238E27FC236}">
                    <a16:creationId xmlns:a16="http://schemas.microsoft.com/office/drawing/2014/main" id="{4D8EBBB3-0F73-4322-9BD7-F9393595B0C7}"/>
                  </a:ext>
                </a:extLst>
              </p:cNvPr>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5364" name="Line 11">
                <a:extLst>
                  <a:ext uri="{FF2B5EF4-FFF2-40B4-BE49-F238E27FC236}">
                    <a16:creationId xmlns:a16="http://schemas.microsoft.com/office/drawing/2014/main" id="{7D3B7982-4923-4BD7-8D0B-841F3B5FD574}"/>
                  </a:ext>
                </a:extLst>
              </p:cNvPr>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5361" name="Text Box 12">
              <a:extLst>
                <a:ext uri="{FF2B5EF4-FFF2-40B4-BE49-F238E27FC236}">
                  <a16:creationId xmlns:a16="http://schemas.microsoft.com/office/drawing/2014/main" id="{C379649B-F899-49B9-9345-281197A9FAB0}"/>
                </a:ext>
              </a:extLst>
            </p:cNvPr>
            <p:cNvSpPr txBox="1">
              <a:spLocks noChangeArrowheads="1"/>
            </p:cNvSpPr>
            <p:nvPr/>
          </p:nvSpPr>
          <p:spPr bwMode="auto">
            <a:xfrm>
              <a:off x="0"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p>
          </p:txBody>
        </p:sp>
        <p:sp>
          <p:nvSpPr>
            <p:cNvPr id="185362" name="Text Box 13">
              <a:extLst>
                <a:ext uri="{FF2B5EF4-FFF2-40B4-BE49-F238E27FC236}">
                  <a16:creationId xmlns:a16="http://schemas.microsoft.com/office/drawing/2014/main" id="{740B3313-3630-40B5-8C67-8C4A6EC1914D}"/>
                </a:ext>
              </a:extLst>
            </p:cNvPr>
            <p:cNvSpPr txBox="1">
              <a:spLocks noChangeArrowheads="1"/>
            </p:cNvSpPr>
            <p:nvPr/>
          </p:nvSpPr>
          <p:spPr bwMode="auto">
            <a:xfrm>
              <a:off x="2479" y="2421"/>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p>
          </p:txBody>
        </p:sp>
      </p:grpSp>
      <p:grpSp>
        <p:nvGrpSpPr>
          <p:cNvPr id="5" name="Group 12">
            <a:extLst>
              <a:ext uri="{FF2B5EF4-FFF2-40B4-BE49-F238E27FC236}">
                <a16:creationId xmlns:a16="http://schemas.microsoft.com/office/drawing/2014/main" id="{587AF2DD-F8C9-4B8D-BF13-A84C1F21CC55}"/>
              </a:ext>
            </a:extLst>
          </p:cNvPr>
          <p:cNvGrpSpPr>
            <a:grpSpLocks/>
          </p:cNvGrpSpPr>
          <p:nvPr/>
        </p:nvGrpSpPr>
        <p:grpSpPr bwMode="auto">
          <a:xfrm>
            <a:off x="2409825" y="2038350"/>
            <a:ext cx="1268413" cy="3209925"/>
            <a:chOff x="0" y="0"/>
            <a:chExt cx="799" cy="2022"/>
          </a:xfrm>
        </p:grpSpPr>
        <p:sp>
          <p:nvSpPr>
            <p:cNvPr id="185358" name="Text Box 15">
              <a:extLst>
                <a:ext uri="{FF2B5EF4-FFF2-40B4-BE49-F238E27FC236}">
                  <a16:creationId xmlns:a16="http://schemas.microsoft.com/office/drawing/2014/main" id="{947A1F06-CCC3-4472-9641-43C52A5AAFE9}"/>
                </a:ext>
              </a:extLst>
            </p:cNvPr>
            <p:cNvSpPr txBox="1">
              <a:spLocks noChangeArrowheads="1"/>
            </p:cNvSpPr>
            <p:nvPr/>
          </p:nvSpPr>
          <p:spPr bwMode="auto">
            <a:xfrm>
              <a:off x="566" y="1743"/>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D</a:t>
              </a:r>
            </a:p>
          </p:txBody>
        </p:sp>
        <p:sp>
          <p:nvSpPr>
            <p:cNvPr id="185359" name="Line 16">
              <a:extLst>
                <a:ext uri="{FF2B5EF4-FFF2-40B4-BE49-F238E27FC236}">
                  <a16:creationId xmlns:a16="http://schemas.microsoft.com/office/drawing/2014/main" id="{C427080A-2E89-4E11-B399-C86C5C8DD6B4}"/>
                </a:ext>
              </a:extLst>
            </p:cNvPr>
            <p:cNvSpPr>
              <a:spLocks noChangeShapeType="1"/>
            </p:cNvSpPr>
            <p:nvPr/>
          </p:nvSpPr>
          <p:spPr bwMode="auto">
            <a:xfrm>
              <a:off x="0" y="0"/>
              <a:ext cx="655" cy="1794"/>
            </a:xfrm>
            <a:prstGeom prst="line">
              <a:avLst/>
            </a:prstGeom>
            <a:noFill/>
            <a:ln w="2857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5349" name="Group 15">
            <a:extLst>
              <a:ext uri="{FF2B5EF4-FFF2-40B4-BE49-F238E27FC236}">
                <a16:creationId xmlns:a16="http://schemas.microsoft.com/office/drawing/2014/main" id="{EE8C9B6C-C1E2-4C11-B28E-CF115A7522F0}"/>
              </a:ext>
            </a:extLst>
          </p:cNvPr>
          <p:cNvGrpSpPr>
            <a:grpSpLocks/>
          </p:cNvGrpSpPr>
          <p:nvPr/>
        </p:nvGrpSpPr>
        <p:grpSpPr bwMode="auto">
          <a:xfrm>
            <a:off x="846138" y="2165350"/>
            <a:ext cx="3505200" cy="3411538"/>
            <a:chOff x="0" y="0"/>
            <a:chExt cx="2208" cy="2149"/>
          </a:xfrm>
        </p:grpSpPr>
        <p:sp>
          <p:nvSpPr>
            <p:cNvPr id="185356" name="Text Box 18">
              <a:extLst>
                <a:ext uri="{FF2B5EF4-FFF2-40B4-BE49-F238E27FC236}">
                  <a16:creationId xmlns:a16="http://schemas.microsoft.com/office/drawing/2014/main" id="{0DDF7682-9F73-4419-958A-D99C960509CF}"/>
                </a:ext>
              </a:extLst>
            </p:cNvPr>
            <p:cNvSpPr txBox="1">
              <a:spLocks noChangeArrowheads="1"/>
            </p:cNvSpPr>
            <p:nvPr/>
          </p:nvSpPr>
          <p:spPr bwMode="auto">
            <a:xfrm>
              <a:off x="1975"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S</a:t>
              </a:r>
            </a:p>
          </p:txBody>
        </p:sp>
        <p:sp>
          <p:nvSpPr>
            <p:cNvPr id="185357" name="Line 19">
              <a:extLst>
                <a:ext uri="{FF2B5EF4-FFF2-40B4-BE49-F238E27FC236}">
                  <a16:creationId xmlns:a16="http://schemas.microsoft.com/office/drawing/2014/main" id="{727383E9-DABE-472F-8867-A55639585511}"/>
                </a:ext>
              </a:extLst>
            </p:cNvPr>
            <p:cNvSpPr>
              <a:spLocks noChangeShapeType="1"/>
            </p:cNvSpPr>
            <p:nvPr/>
          </p:nvSpPr>
          <p:spPr bwMode="auto">
            <a:xfrm flipV="1">
              <a:off x="0" y="225"/>
              <a:ext cx="2026" cy="19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0738" name="Line 20">
            <a:extLst>
              <a:ext uri="{FF2B5EF4-FFF2-40B4-BE49-F238E27FC236}">
                <a16:creationId xmlns:a16="http://schemas.microsoft.com/office/drawing/2014/main" id="{438D6C77-FA04-431D-9819-88C8211F7DE7}"/>
              </a:ext>
            </a:extLst>
          </p:cNvPr>
          <p:cNvSpPr>
            <a:spLocks noChangeShapeType="1"/>
          </p:cNvSpPr>
          <p:nvPr/>
        </p:nvSpPr>
        <p:spPr bwMode="auto">
          <a:xfrm>
            <a:off x="2652713" y="2743200"/>
            <a:ext cx="0" cy="11144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 name="Group 19">
            <a:extLst>
              <a:ext uri="{FF2B5EF4-FFF2-40B4-BE49-F238E27FC236}">
                <a16:creationId xmlns:a16="http://schemas.microsoft.com/office/drawing/2014/main" id="{3C03639E-2F48-4616-8C2B-0DEC2DEA6DB9}"/>
              </a:ext>
            </a:extLst>
          </p:cNvPr>
          <p:cNvGrpSpPr>
            <a:grpSpLocks/>
          </p:cNvGrpSpPr>
          <p:nvPr/>
        </p:nvGrpSpPr>
        <p:grpSpPr bwMode="auto">
          <a:xfrm>
            <a:off x="1266825" y="2743200"/>
            <a:ext cx="1350963" cy="1100138"/>
            <a:chOff x="0" y="0"/>
            <a:chExt cx="851" cy="693"/>
          </a:xfrm>
        </p:grpSpPr>
        <p:sp>
          <p:nvSpPr>
            <p:cNvPr id="185354" name="AutoShape 22">
              <a:extLst>
                <a:ext uri="{FF2B5EF4-FFF2-40B4-BE49-F238E27FC236}">
                  <a16:creationId xmlns:a16="http://schemas.microsoft.com/office/drawing/2014/main" id="{D4F75929-08F1-424E-8A87-85EC692366FC}"/>
                </a:ext>
              </a:extLst>
            </p:cNvPr>
            <p:cNvSpPr>
              <a:spLocks/>
            </p:cNvSpPr>
            <p:nvPr/>
          </p:nvSpPr>
          <p:spPr bwMode="auto">
            <a:xfrm>
              <a:off x="722" y="0"/>
              <a:ext cx="129" cy="693"/>
            </a:xfrm>
            <a:prstGeom prst="leftBrace">
              <a:avLst>
                <a:gd name="adj1" fmla="val 447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85355" name="Text Box 23">
              <a:extLst>
                <a:ext uri="{FF2B5EF4-FFF2-40B4-BE49-F238E27FC236}">
                  <a16:creationId xmlns:a16="http://schemas.microsoft.com/office/drawing/2014/main" id="{B07ED46D-F9B0-4E7F-BE59-B637C029C9EA}"/>
                </a:ext>
              </a:extLst>
            </p:cNvPr>
            <p:cNvSpPr txBox="1">
              <a:spLocks noChangeArrowheads="1"/>
            </p:cNvSpPr>
            <p:nvPr/>
          </p:nvSpPr>
          <p:spPr bwMode="auto">
            <a:xfrm>
              <a:off x="0" y="88"/>
              <a:ext cx="71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税收规模</a:t>
              </a:r>
              <a:endParaRPr lang="en-US" altLang="zh-CN" sz="2400" b="0">
                <a:latin typeface="Arial" panose="020B0604020202020204" pitchFamily="34" charset="0"/>
              </a:endParaRPr>
            </a:p>
          </p:txBody>
        </p:sp>
      </p:grpSp>
      <p:sp>
        <p:nvSpPr>
          <p:cNvPr id="30742" name="Rectangle 6">
            <a:extLst>
              <a:ext uri="{FF2B5EF4-FFF2-40B4-BE49-F238E27FC236}">
                <a16:creationId xmlns:a16="http://schemas.microsoft.com/office/drawing/2014/main" id="{D3E44278-8830-4FA2-9573-E4DFA7728787}"/>
              </a:ext>
            </a:extLst>
          </p:cNvPr>
          <p:cNvSpPr>
            <a:spLocks noChangeArrowheads="1"/>
          </p:cNvSpPr>
          <p:nvPr/>
        </p:nvSpPr>
        <p:spPr bwMode="auto">
          <a:xfrm>
            <a:off x="5562600" y="1711325"/>
            <a:ext cx="2865438" cy="3775075"/>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30000"/>
              </a:spcBef>
              <a:buClr>
                <a:srgbClr val="339966"/>
              </a:buClr>
              <a:buSzPct val="120000"/>
              <a:buFont typeface="Wingdings" panose="05000000000000000000" pitchFamily="2" charset="2"/>
              <a:buNone/>
            </a:pPr>
            <a:r>
              <a:rPr lang="zh-CN" altLang="en-US" b="0">
                <a:latin typeface="Arial" panose="020B0604020202020204" pitchFamily="34" charset="0"/>
              </a:rPr>
              <a:t>当征税增加了买者支付的价格，需求缺乏弹性的消费者更难以离开市场，因此税收只降低一点交易量，社会福利净损失很小</a:t>
            </a:r>
            <a:endParaRPr lang="en-US" altLang="zh-CN" b="0">
              <a:latin typeface="Arial" panose="020B0604020202020204" pitchFamily="34" charset="0"/>
            </a:endParaRPr>
          </a:p>
        </p:txBody>
      </p:sp>
      <p:sp>
        <p:nvSpPr>
          <p:cNvPr id="185353" name="Title 1">
            <a:extLst>
              <a:ext uri="{FF2B5EF4-FFF2-40B4-BE49-F238E27FC236}">
                <a16:creationId xmlns:a16="http://schemas.microsoft.com/office/drawing/2014/main" id="{E0D8E300-71F1-4152-B112-79D5BE0CF38E}"/>
              </a:ext>
            </a:extLst>
          </p:cNvPr>
          <p:cNvSpPr txBox="1">
            <a:spLocks/>
          </p:cNvSpPr>
          <p:nvPr/>
        </p:nvSpPr>
        <p:spPr bwMode="auto">
          <a:xfrm>
            <a:off x="1219200"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社会福利净损失与需求弹性</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42">
                                            <p:bg/>
                                          </p:spTgt>
                                        </p:tgtEl>
                                        <p:attrNameLst>
                                          <p:attrName>style.visibility</p:attrName>
                                        </p:attrNameLst>
                                      </p:cBhvr>
                                      <p:to>
                                        <p:strVal val="visible"/>
                                      </p:to>
                                    </p:set>
                                    <p:animEffect transition="in" filter="fade">
                                      <p:cBhvr>
                                        <p:cTn id="7" dur="500"/>
                                        <p:tgtEl>
                                          <p:spTgt spid="3074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742">
                                            <p:txEl>
                                              <p:pRg st="0" end="0"/>
                                            </p:txEl>
                                          </p:spTgt>
                                        </p:tgtEl>
                                        <p:attrNameLst>
                                          <p:attrName>style.visibility</p:attrName>
                                        </p:attrNameLst>
                                      </p:cBhvr>
                                      <p:to>
                                        <p:strVal val="visible"/>
                                      </p:to>
                                    </p:set>
                                    <p:animEffect transition="in" filter="wipe(left)">
                                      <p:cBhvr>
                                        <p:cTn id="10" dur="500"/>
                                        <p:tgtEl>
                                          <p:spTgt spid="30742">
                                            <p:txEl>
                                              <p:pRg st="0" end="0"/>
                                            </p:txEl>
                                          </p:spTgt>
                                        </p:tgtEl>
                                      </p:cBhvr>
                                    </p:animEffect>
                                  </p:childTnLst>
                                </p:cTn>
                              </p:par>
                              <p:par>
                                <p:cTn id="11" presetID="18" presetClass="entr" presetSubtype="6"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strips(downRight)">
                                      <p:cBhvr>
                                        <p:cTn id="13" dur="500"/>
                                        <p:tgtEl>
                                          <p:spTgt spid="5"/>
                                        </p:tgtEl>
                                      </p:cBhvr>
                                    </p:animEffect>
                                  </p:childTnLst>
                                </p:cTn>
                              </p:par>
                              <p:par>
                                <p:cTn id="14" presetID="22" presetClass="entr" presetSubtype="1" fill="hold" nodeType="withEffect">
                                  <p:stCondLst>
                                    <p:cond delay="0"/>
                                  </p:stCondLst>
                                  <p:childTnLst>
                                    <p:set>
                                      <p:cBhvr>
                                        <p:cTn id="15" dur="1" fill="hold">
                                          <p:stCondLst>
                                            <p:cond delay="0"/>
                                          </p:stCondLst>
                                        </p:cTn>
                                        <p:tgtEl>
                                          <p:spTgt spid="30738"/>
                                        </p:tgtEl>
                                        <p:attrNameLst>
                                          <p:attrName>style.visibility</p:attrName>
                                        </p:attrNameLst>
                                      </p:cBhvr>
                                      <p:to>
                                        <p:strVal val="visible"/>
                                      </p:to>
                                    </p:set>
                                    <p:animEffect transition="in" filter="wipe(up)">
                                      <p:cBhvr>
                                        <p:cTn id="16" dur="500"/>
                                        <p:tgtEl>
                                          <p:spTgt spid="30738"/>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dissolve">
                                      <p:cBhvr>
                                        <p:cTn id="20" dur="500"/>
                                        <p:tgtEl>
                                          <p:spTgt spid="7"/>
                                        </p:tgtEl>
                                      </p:cBhvr>
                                    </p:animEffect>
                                  </p:childTnLst>
                                </p:cTn>
                              </p:par>
                              <p:par>
                                <p:cTn id="21" presetID="9"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dissolv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2" grpId="0" build="p" bldLvl="5"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03EA02B-F87B-4EDF-B141-CF1F364D1017}"/>
              </a:ext>
            </a:extLst>
          </p:cNvPr>
          <p:cNvGrpSpPr>
            <a:grpSpLocks/>
          </p:cNvGrpSpPr>
          <p:nvPr/>
        </p:nvGrpSpPr>
        <p:grpSpPr bwMode="auto">
          <a:xfrm>
            <a:off x="2209800" y="3168650"/>
            <a:ext cx="755650" cy="1101725"/>
            <a:chOff x="0" y="0"/>
            <a:chExt cx="476" cy="694"/>
          </a:xfrm>
        </p:grpSpPr>
        <p:sp>
          <p:nvSpPr>
            <p:cNvPr id="187413" name="AutoShape 4">
              <a:extLst>
                <a:ext uri="{FF2B5EF4-FFF2-40B4-BE49-F238E27FC236}">
                  <a16:creationId xmlns:a16="http://schemas.microsoft.com/office/drawing/2014/main" id="{68C7B243-D3C0-450D-B003-13B0E520FD42}"/>
                </a:ext>
              </a:extLst>
            </p:cNvPr>
            <p:cNvSpPr>
              <a:spLocks noChangeArrowheads="1"/>
            </p:cNvSpPr>
            <p:nvPr/>
          </p:nvSpPr>
          <p:spPr bwMode="auto">
            <a:xfrm>
              <a:off x="1" y="0"/>
              <a:ext cx="470" cy="250"/>
            </a:xfrm>
            <a:prstGeom prst="rtTriangle">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87414" name="AutoShape 5">
              <a:extLst>
                <a:ext uri="{FF2B5EF4-FFF2-40B4-BE49-F238E27FC236}">
                  <a16:creationId xmlns:a16="http://schemas.microsoft.com/office/drawing/2014/main" id="{23547791-FED0-46F4-AEBB-04C28BBDD543}"/>
                </a:ext>
              </a:extLst>
            </p:cNvPr>
            <p:cNvSpPr>
              <a:spLocks noChangeArrowheads="1"/>
            </p:cNvSpPr>
            <p:nvPr/>
          </p:nvSpPr>
          <p:spPr bwMode="auto">
            <a:xfrm flipV="1">
              <a:off x="0" y="244"/>
              <a:ext cx="476" cy="450"/>
            </a:xfrm>
            <a:prstGeom prst="rtTriangle">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grpSp>
      <p:grpSp>
        <p:nvGrpSpPr>
          <p:cNvPr id="187395" name="Group 6">
            <a:extLst>
              <a:ext uri="{FF2B5EF4-FFF2-40B4-BE49-F238E27FC236}">
                <a16:creationId xmlns:a16="http://schemas.microsoft.com/office/drawing/2014/main" id="{ACCBEF73-0F2C-48B2-8AEA-48D802ADB36F}"/>
              </a:ext>
            </a:extLst>
          </p:cNvPr>
          <p:cNvGrpSpPr>
            <a:grpSpLocks/>
          </p:cNvGrpSpPr>
          <p:nvPr/>
        </p:nvGrpSpPr>
        <p:grpSpPr bwMode="auto">
          <a:xfrm>
            <a:off x="650875" y="1524000"/>
            <a:ext cx="4305300" cy="4286250"/>
            <a:chOff x="0" y="0"/>
            <a:chExt cx="2712" cy="2700"/>
          </a:xfrm>
        </p:grpSpPr>
        <p:grpSp>
          <p:nvGrpSpPr>
            <p:cNvPr id="187408" name="Group 7">
              <a:extLst>
                <a:ext uri="{FF2B5EF4-FFF2-40B4-BE49-F238E27FC236}">
                  <a16:creationId xmlns:a16="http://schemas.microsoft.com/office/drawing/2014/main" id="{E7AA7C19-A091-478A-BA04-9CA78055E8F2}"/>
                </a:ext>
              </a:extLst>
            </p:cNvPr>
            <p:cNvGrpSpPr>
              <a:grpSpLocks/>
            </p:cNvGrpSpPr>
            <p:nvPr/>
          </p:nvGrpSpPr>
          <p:grpSpPr bwMode="auto">
            <a:xfrm>
              <a:off x="119" y="225"/>
              <a:ext cx="2382" cy="2331"/>
              <a:chOff x="0" y="0"/>
              <a:chExt cx="2400" cy="2079"/>
            </a:xfrm>
          </p:grpSpPr>
          <p:sp>
            <p:nvSpPr>
              <p:cNvPr id="187411" name="Line 9">
                <a:extLst>
                  <a:ext uri="{FF2B5EF4-FFF2-40B4-BE49-F238E27FC236}">
                    <a16:creationId xmlns:a16="http://schemas.microsoft.com/office/drawing/2014/main" id="{3F7C29C5-653E-45EE-8CA8-B7A799AC776B}"/>
                  </a:ext>
                </a:extLst>
              </p:cNvPr>
              <p:cNvSpPr>
                <a:spLocks noChangeShapeType="1"/>
              </p:cNvSpPr>
              <p:nvPr/>
            </p:nvSpPr>
            <p:spPr bwMode="auto">
              <a:xfrm>
                <a:off x="0" y="0"/>
                <a:ext cx="0" cy="20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7412" name="Line 10">
                <a:extLst>
                  <a:ext uri="{FF2B5EF4-FFF2-40B4-BE49-F238E27FC236}">
                    <a16:creationId xmlns:a16="http://schemas.microsoft.com/office/drawing/2014/main" id="{2B8A6C2A-4B93-4558-A01F-8F6E7E08B7D5}"/>
                  </a:ext>
                </a:extLst>
              </p:cNvPr>
              <p:cNvSpPr>
                <a:spLocks noChangeShapeType="1"/>
              </p:cNvSpPr>
              <p:nvPr/>
            </p:nvSpPr>
            <p:spPr bwMode="auto">
              <a:xfrm>
                <a:off x="0" y="2079"/>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7409" name="Text Box 11">
              <a:extLst>
                <a:ext uri="{FF2B5EF4-FFF2-40B4-BE49-F238E27FC236}">
                  <a16:creationId xmlns:a16="http://schemas.microsoft.com/office/drawing/2014/main" id="{15A76ABD-AB8E-4CB2-8355-08D09325C865}"/>
                </a:ext>
              </a:extLst>
            </p:cNvPr>
            <p:cNvSpPr txBox="1">
              <a:spLocks noChangeArrowheads="1"/>
            </p:cNvSpPr>
            <p:nvPr/>
          </p:nvSpPr>
          <p:spPr bwMode="auto">
            <a:xfrm>
              <a:off x="0"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P</a:t>
              </a:r>
            </a:p>
          </p:txBody>
        </p:sp>
        <p:sp>
          <p:nvSpPr>
            <p:cNvPr id="187410" name="Text Box 12">
              <a:extLst>
                <a:ext uri="{FF2B5EF4-FFF2-40B4-BE49-F238E27FC236}">
                  <a16:creationId xmlns:a16="http://schemas.microsoft.com/office/drawing/2014/main" id="{DF7B6548-E486-47EE-A2A7-1CAA9DC766CE}"/>
                </a:ext>
              </a:extLst>
            </p:cNvPr>
            <p:cNvSpPr txBox="1">
              <a:spLocks noChangeArrowheads="1"/>
            </p:cNvSpPr>
            <p:nvPr/>
          </p:nvSpPr>
          <p:spPr bwMode="auto">
            <a:xfrm>
              <a:off x="2479" y="2421"/>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Q</a:t>
              </a:r>
            </a:p>
          </p:txBody>
        </p:sp>
      </p:grpSp>
      <p:grpSp>
        <p:nvGrpSpPr>
          <p:cNvPr id="187396" name="Group 12">
            <a:extLst>
              <a:ext uri="{FF2B5EF4-FFF2-40B4-BE49-F238E27FC236}">
                <a16:creationId xmlns:a16="http://schemas.microsoft.com/office/drawing/2014/main" id="{45BF0BA0-DBA5-4CDB-8EC7-487B227142B3}"/>
              </a:ext>
            </a:extLst>
          </p:cNvPr>
          <p:cNvGrpSpPr>
            <a:grpSpLocks/>
          </p:cNvGrpSpPr>
          <p:nvPr/>
        </p:nvGrpSpPr>
        <p:grpSpPr bwMode="auto">
          <a:xfrm>
            <a:off x="842963" y="2430463"/>
            <a:ext cx="3684587" cy="2073275"/>
            <a:chOff x="0" y="0"/>
            <a:chExt cx="2321" cy="1306"/>
          </a:xfrm>
        </p:grpSpPr>
        <p:sp>
          <p:nvSpPr>
            <p:cNvPr id="187406" name="Text Box 14">
              <a:extLst>
                <a:ext uri="{FF2B5EF4-FFF2-40B4-BE49-F238E27FC236}">
                  <a16:creationId xmlns:a16="http://schemas.microsoft.com/office/drawing/2014/main" id="{DB917CAE-6444-4B45-9001-0441D62E2974}"/>
                </a:ext>
              </a:extLst>
            </p:cNvPr>
            <p:cNvSpPr txBox="1">
              <a:spLocks noChangeArrowheads="1"/>
            </p:cNvSpPr>
            <p:nvPr/>
          </p:nvSpPr>
          <p:spPr bwMode="auto">
            <a:xfrm>
              <a:off x="2088" y="1027"/>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D</a:t>
              </a:r>
            </a:p>
          </p:txBody>
        </p:sp>
        <p:sp>
          <p:nvSpPr>
            <p:cNvPr id="187407" name="Line 15">
              <a:extLst>
                <a:ext uri="{FF2B5EF4-FFF2-40B4-BE49-F238E27FC236}">
                  <a16:creationId xmlns:a16="http://schemas.microsoft.com/office/drawing/2014/main" id="{B2F5A503-A614-4698-AD1B-09B24B11C934}"/>
                </a:ext>
              </a:extLst>
            </p:cNvPr>
            <p:cNvSpPr>
              <a:spLocks noChangeShapeType="1"/>
            </p:cNvSpPr>
            <p:nvPr/>
          </p:nvSpPr>
          <p:spPr bwMode="auto">
            <a:xfrm>
              <a:off x="0" y="0"/>
              <a:ext cx="2128" cy="1141"/>
            </a:xfrm>
            <a:prstGeom prst="line">
              <a:avLst/>
            </a:prstGeom>
            <a:noFill/>
            <a:ln w="28575">
              <a:solidFill>
                <a:srgbClr val="0033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7397" name="Group 15">
            <a:extLst>
              <a:ext uri="{FF2B5EF4-FFF2-40B4-BE49-F238E27FC236}">
                <a16:creationId xmlns:a16="http://schemas.microsoft.com/office/drawing/2014/main" id="{908582F1-CB9C-4D1B-A843-56472BD638E1}"/>
              </a:ext>
            </a:extLst>
          </p:cNvPr>
          <p:cNvGrpSpPr>
            <a:grpSpLocks/>
          </p:cNvGrpSpPr>
          <p:nvPr/>
        </p:nvGrpSpPr>
        <p:grpSpPr bwMode="auto">
          <a:xfrm>
            <a:off x="844550" y="2165350"/>
            <a:ext cx="3505200" cy="3411538"/>
            <a:chOff x="0" y="0"/>
            <a:chExt cx="2208" cy="2149"/>
          </a:xfrm>
        </p:grpSpPr>
        <p:sp>
          <p:nvSpPr>
            <p:cNvPr id="187404" name="Text Box 17">
              <a:extLst>
                <a:ext uri="{FF2B5EF4-FFF2-40B4-BE49-F238E27FC236}">
                  <a16:creationId xmlns:a16="http://schemas.microsoft.com/office/drawing/2014/main" id="{DA40C449-355A-4289-9818-805EB27D3269}"/>
                </a:ext>
              </a:extLst>
            </p:cNvPr>
            <p:cNvSpPr txBox="1">
              <a:spLocks noChangeArrowheads="1"/>
            </p:cNvSpPr>
            <p:nvPr/>
          </p:nvSpPr>
          <p:spPr bwMode="auto">
            <a:xfrm>
              <a:off x="1975" y="0"/>
              <a:ext cx="233"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en-US" altLang="zh-CN" sz="2300" b="0" i="1">
                  <a:latin typeface="Arial" panose="020B0604020202020204" pitchFamily="34" charset="0"/>
                </a:rPr>
                <a:t>S</a:t>
              </a:r>
            </a:p>
          </p:txBody>
        </p:sp>
        <p:sp>
          <p:nvSpPr>
            <p:cNvPr id="187405" name="Line 18">
              <a:extLst>
                <a:ext uri="{FF2B5EF4-FFF2-40B4-BE49-F238E27FC236}">
                  <a16:creationId xmlns:a16="http://schemas.microsoft.com/office/drawing/2014/main" id="{1AF18DE4-78C6-415C-AFCC-952E97A62902}"/>
                </a:ext>
              </a:extLst>
            </p:cNvPr>
            <p:cNvSpPr>
              <a:spLocks noChangeShapeType="1"/>
            </p:cNvSpPr>
            <p:nvPr/>
          </p:nvSpPr>
          <p:spPr bwMode="auto">
            <a:xfrm flipV="1">
              <a:off x="0" y="225"/>
              <a:ext cx="2026" cy="192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2786" name="Line 19">
            <a:extLst>
              <a:ext uri="{FF2B5EF4-FFF2-40B4-BE49-F238E27FC236}">
                <a16:creationId xmlns:a16="http://schemas.microsoft.com/office/drawing/2014/main" id="{00DDBF69-5F33-4A70-ACED-D509BD04E6CA}"/>
              </a:ext>
            </a:extLst>
          </p:cNvPr>
          <p:cNvSpPr>
            <a:spLocks noChangeShapeType="1"/>
          </p:cNvSpPr>
          <p:nvPr/>
        </p:nvSpPr>
        <p:spPr bwMode="auto">
          <a:xfrm>
            <a:off x="2205038" y="3155950"/>
            <a:ext cx="0" cy="11144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 name="Group 19">
            <a:extLst>
              <a:ext uri="{FF2B5EF4-FFF2-40B4-BE49-F238E27FC236}">
                <a16:creationId xmlns:a16="http://schemas.microsoft.com/office/drawing/2014/main" id="{D0D839D0-4806-44E5-BC66-41E255E945B3}"/>
              </a:ext>
            </a:extLst>
          </p:cNvPr>
          <p:cNvGrpSpPr>
            <a:grpSpLocks/>
          </p:cNvGrpSpPr>
          <p:nvPr/>
        </p:nvGrpSpPr>
        <p:grpSpPr bwMode="auto">
          <a:xfrm>
            <a:off x="812800" y="3167063"/>
            <a:ext cx="1350963" cy="1100137"/>
            <a:chOff x="0" y="0"/>
            <a:chExt cx="851" cy="693"/>
          </a:xfrm>
        </p:grpSpPr>
        <p:sp>
          <p:nvSpPr>
            <p:cNvPr id="187402" name="AutoShape 21">
              <a:extLst>
                <a:ext uri="{FF2B5EF4-FFF2-40B4-BE49-F238E27FC236}">
                  <a16:creationId xmlns:a16="http://schemas.microsoft.com/office/drawing/2014/main" id="{472360D7-CB1E-494C-A7EA-50A411CDE15E}"/>
                </a:ext>
              </a:extLst>
            </p:cNvPr>
            <p:cNvSpPr>
              <a:spLocks/>
            </p:cNvSpPr>
            <p:nvPr/>
          </p:nvSpPr>
          <p:spPr bwMode="auto">
            <a:xfrm>
              <a:off x="722" y="0"/>
              <a:ext cx="129" cy="693"/>
            </a:xfrm>
            <a:prstGeom prst="leftBrace">
              <a:avLst>
                <a:gd name="adj1" fmla="val 447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0"/>
                </a:spcBef>
                <a:buClrTx/>
                <a:buFontTx/>
                <a:buNone/>
              </a:pPr>
              <a:endParaRPr lang="en-US" altLang="zh-CN" sz="1800" b="0">
                <a:latin typeface="Arial" panose="020B0604020202020204" pitchFamily="34" charset="0"/>
              </a:endParaRPr>
            </a:p>
          </p:txBody>
        </p:sp>
        <p:sp>
          <p:nvSpPr>
            <p:cNvPr id="187403" name="Text Box 22">
              <a:extLst>
                <a:ext uri="{FF2B5EF4-FFF2-40B4-BE49-F238E27FC236}">
                  <a16:creationId xmlns:a16="http://schemas.microsoft.com/office/drawing/2014/main" id="{B5F61E1C-C1B8-4230-9C85-9EE0AA2899F4}"/>
                </a:ext>
              </a:extLst>
            </p:cNvPr>
            <p:cNvSpPr txBox="1">
              <a:spLocks noChangeArrowheads="1"/>
            </p:cNvSpPr>
            <p:nvPr/>
          </p:nvSpPr>
          <p:spPr bwMode="auto">
            <a:xfrm>
              <a:off x="0" y="88"/>
              <a:ext cx="71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r" eaLnBrk="1" hangingPunct="1">
                <a:spcBef>
                  <a:spcPct val="50000"/>
                </a:spcBef>
                <a:buClrTx/>
                <a:buFontTx/>
                <a:buNone/>
              </a:pPr>
              <a:r>
                <a:rPr lang="zh-CN" altLang="en-US" sz="2400" b="0">
                  <a:latin typeface="Arial" panose="020B0604020202020204" pitchFamily="34" charset="0"/>
                </a:rPr>
                <a:t>税收规模</a:t>
              </a:r>
              <a:endParaRPr lang="en-US" altLang="zh-CN" sz="2400" b="0">
                <a:latin typeface="Arial" panose="020B0604020202020204" pitchFamily="34" charset="0"/>
              </a:endParaRPr>
            </a:p>
          </p:txBody>
        </p:sp>
      </p:grpSp>
      <p:sp>
        <p:nvSpPr>
          <p:cNvPr id="187400" name="Rectangle 6">
            <a:extLst>
              <a:ext uri="{FF2B5EF4-FFF2-40B4-BE49-F238E27FC236}">
                <a16:creationId xmlns:a16="http://schemas.microsoft.com/office/drawing/2014/main" id="{62FA6CE9-E946-42C4-82F4-E5817D00706D}"/>
              </a:ext>
            </a:extLst>
          </p:cNvPr>
          <p:cNvSpPr>
            <a:spLocks noChangeArrowheads="1"/>
          </p:cNvSpPr>
          <p:nvPr/>
        </p:nvSpPr>
        <p:spPr bwMode="auto">
          <a:xfrm>
            <a:off x="5468938" y="1743075"/>
            <a:ext cx="3109912" cy="3438525"/>
          </a:xfrm>
          <a:prstGeom prst="rect">
            <a:avLst/>
          </a:prstGeom>
          <a:solidFill>
            <a:srgbClr val="FFFFCC"/>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05000"/>
              </a:lnSpc>
              <a:spcBef>
                <a:spcPct val="30000"/>
              </a:spcBef>
              <a:buClr>
                <a:srgbClr val="339966"/>
              </a:buClr>
              <a:buSzPct val="120000"/>
              <a:buFont typeface="Wingdings" panose="05000000000000000000" pitchFamily="2" charset="2"/>
              <a:buNone/>
            </a:pPr>
            <a:r>
              <a:rPr lang="zh-CN" altLang="en-US" b="0">
                <a:latin typeface="Arial" panose="020B0604020202020204" pitchFamily="34" charset="0"/>
              </a:rPr>
              <a:t>当税收增加了买者支付的价格，需求富有弹性的消费者更容易离开市场，因此税收减少了更多的交易量，社会福利净损失更大</a:t>
            </a:r>
            <a:endParaRPr lang="en-US" altLang="zh-CN" b="0">
              <a:latin typeface="Arial" panose="020B0604020202020204" pitchFamily="34" charset="0"/>
            </a:endParaRPr>
          </a:p>
        </p:txBody>
      </p:sp>
      <p:sp>
        <p:nvSpPr>
          <p:cNvPr id="187401" name="Title 1">
            <a:extLst>
              <a:ext uri="{FF2B5EF4-FFF2-40B4-BE49-F238E27FC236}">
                <a16:creationId xmlns:a16="http://schemas.microsoft.com/office/drawing/2014/main" id="{28FBFEE8-0A84-403A-9E44-05F7A2468ADB}"/>
              </a:ext>
            </a:extLst>
          </p:cNvPr>
          <p:cNvSpPr txBox="1">
            <a:spLocks/>
          </p:cNvSpPr>
          <p:nvPr/>
        </p:nvSpPr>
        <p:spPr bwMode="auto">
          <a:xfrm>
            <a:off x="1447800" y="22860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tx1"/>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tx2"/>
              </a:buClr>
              <a:buFont typeface="Wingdings" panose="05000000000000000000" pitchFamily="2" charset="2"/>
              <a:buChar char="§"/>
              <a:defRPr sz="2800">
                <a:solidFill>
                  <a:schemeClr val="tx2"/>
                </a:solidFill>
                <a:latin typeface="Arial" panose="020B0604020202020204" pitchFamily="34" charset="0"/>
              </a:defRPr>
            </a:lvl2pPr>
            <a:lvl3pPr marL="1143000" indent="-228600">
              <a:spcBef>
                <a:spcPct val="20000"/>
              </a:spcBef>
              <a:buClr>
                <a:schemeClr val="hlink"/>
              </a:buClr>
              <a:buChar char="•"/>
              <a:defRPr sz="2400">
                <a:solidFill>
                  <a:schemeClr val="tx2"/>
                </a:solidFill>
                <a:latin typeface="Arial" panose="020B0604020202020204" pitchFamily="34" charset="0"/>
              </a:defRPr>
            </a:lvl3pPr>
            <a:lvl4pPr marL="1600200" indent="-228600">
              <a:spcBef>
                <a:spcPct val="20000"/>
              </a:spcBef>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a:spcBef>
                <a:spcPct val="0"/>
              </a:spcBef>
              <a:buClrTx/>
              <a:buFontTx/>
              <a:buNone/>
            </a:pPr>
            <a:r>
              <a:rPr lang="zh-CN" altLang="en-US" sz="3200" b="0">
                <a:latin typeface="Arial" panose="020B0604020202020204" pitchFamily="34" charset="0"/>
              </a:rPr>
              <a:t>社会福利净损失与需求弹性</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32786"/>
                                        </p:tgtEl>
                                        <p:attrNameLst>
                                          <p:attrName>style.visibility</p:attrName>
                                        </p:attrNameLst>
                                      </p:cBhvr>
                                      <p:to>
                                        <p:strVal val="visible"/>
                                      </p:to>
                                    </p:set>
                                    <p:animEffect transition="in" filter="wipe(up)">
                                      <p:cBhvr>
                                        <p:cTn id="7" dur="500"/>
                                        <p:tgtEl>
                                          <p:spTgt spid="32786"/>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par>
                                <p:cTn id="12" presetID="9"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dissolv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D27843F-C8C8-4131-BFDC-E49DAECFC098}"/>
              </a:ext>
            </a:extLst>
          </p:cNvPr>
          <p:cNvSpPr/>
          <p:nvPr/>
        </p:nvSpPr>
        <p:spPr>
          <a:xfrm>
            <a:off x="463541" y="826296"/>
            <a:ext cx="8308685" cy="646331"/>
          </a:xfrm>
          <a:prstGeom prst="rect">
            <a:avLst/>
          </a:prstGeom>
        </p:spPr>
        <p:txBody>
          <a:bodyPr wrap="none">
            <a:spAutoFit/>
          </a:bodyPr>
          <a:lstStyle/>
          <a:p>
            <a:r>
              <a:rPr lang="zh-CN" altLang="zh-CN" sz="3600" b="1" dirty="0">
                <a:latin typeface="微软雅黑" panose="020B0503020204020204" pitchFamily="34" charset="-122"/>
                <a:ea typeface="微软雅黑" panose="020B0503020204020204" pitchFamily="34" charset="-122"/>
                <a:cs typeface="+mj-cs"/>
              </a:rPr>
              <a:t>第</a:t>
            </a:r>
            <a:r>
              <a:rPr lang="zh-CN" altLang="en-US" sz="3600" b="1" dirty="0">
                <a:latin typeface="微软雅黑" panose="020B0503020204020204" pitchFamily="34" charset="-122"/>
                <a:ea typeface="微软雅黑" panose="020B0503020204020204" pitchFamily="34" charset="-122"/>
                <a:cs typeface="+mj-cs"/>
              </a:rPr>
              <a:t>四</a:t>
            </a:r>
            <a:r>
              <a:rPr lang="zh-CN" altLang="zh-CN" sz="3600" b="1" dirty="0">
                <a:latin typeface="微软雅黑" panose="020B0503020204020204" pitchFamily="34" charset="-122"/>
                <a:ea typeface="微软雅黑" panose="020B0503020204020204" pitchFamily="34" charset="-122"/>
                <a:cs typeface="+mj-cs"/>
              </a:rPr>
              <a:t>节</a:t>
            </a:r>
            <a:r>
              <a:rPr lang="en-US" altLang="zh-CN" sz="3600" b="1" dirty="0">
                <a:latin typeface="微软雅黑" panose="020B0503020204020204" pitchFamily="34" charset="-122"/>
                <a:ea typeface="微软雅黑" panose="020B0503020204020204" pitchFamily="34" charset="-122"/>
                <a:cs typeface="+mj-cs"/>
              </a:rPr>
              <a:t>  </a:t>
            </a:r>
            <a:r>
              <a:rPr lang="zh-CN" altLang="en-US" sz="3600" b="1" dirty="0">
                <a:latin typeface="微软雅黑" panose="020B0503020204020204" pitchFamily="34" charset="-122"/>
                <a:ea typeface="微软雅黑" panose="020B0503020204020204" pitchFamily="34" charset="-122"/>
                <a:cs typeface="+mj-cs"/>
              </a:rPr>
              <a:t>完全竞争企业和市场的长期均衡</a:t>
            </a:r>
          </a:p>
        </p:txBody>
      </p:sp>
      <p:sp>
        <p:nvSpPr>
          <p:cNvPr id="3" name="MH_Other_1">
            <a:extLst>
              <a:ext uri="{FF2B5EF4-FFF2-40B4-BE49-F238E27FC236}">
                <a16:creationId xmlns:a16="http://schemas.microsoft.com/office/drawing/2014/main" id="{E49827CC-25A7-41B2-867D-685134B4A529}"/>
              </a:ext>
            </a:extLst>
          </p:cNvPr>
          <p:cNvSpPr>
            <a:spLocks/>
          </p:cNvSpPr>
          <p:nvPr>
            <p:custDataLst>
              <p:tags r:id="rId1"/>
            </p:custDataLst>
          </p:nvPr>
        </p:nvSpPr>
        <p:spPr bwMode="gray">
          <a:xfrm>
            <a:off x="2840138" y="2412013"/>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4" name="MH_SubTitle_1">
            <a:extLst>
              <a:ext uri="{FF2B5EF4-FFF2-40B4-BE49-F238E27FC236}">
                <a16:creationId xmlns:a16="http://schemas.microsoft.com/office/drawing/2014/main" id="{B811FBAD-AB8E-4852-A8D0-5E64CAD5E915}"/>
              </a:ext>
            </a:extLst>
          </p:cNvPr>
          <p:cNvSpPr>
            <a:spLocks noChangeArrowheads="1"/>
          </p:cNvSpPr>
          <p:nvPr>
            <p:custDataLst>
              <p:tags r:id="rId2"/>
            </p:custDataLst>
          </p:nvPr>
        </p:nvSpPr>
        <p:spPr bwMode="gray">
          <a:xfrm>
            <a:off x="2771875" y="2110388"/>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5" name="MH_Other_2">
            <a:extLst>
              <a:ext uri="{FF2B5EF4-FFF2-40B4-BE49-F238E27FC236}">
                <a16:creationId xmlns:a16="http://schemas.microsoft.com/office/drawing/2014/main" id="{DB311A0E-78D0-4766-B201-6B5608EF753D}"/>
              </a:ext>
            </a:extLst>
          </p:cNvPr>
          <p:cNvSpPr>
            <a:spLocks/>
          </p:cNvSpPr>
          <p:nvPr>
            <p:custDataLst>
              <p:tags r:id="rId3"/>
            </p:custDataLst>
          </p:nvPr>
        </p:nvSpPr>
        <p:spPr bwMode="gray">
          <a:xfrm>
            <a:off x="2840138" y="3296250"/>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6" name="MH_SubTitle_2">
            <a:extLst>
              <a:ext uri="{FF2B5EF4-FFF2-40B4-BE49-F238E27FC236}">
                <a16:creationId xmlns:a16="http://schemas.microsoft.com/office/drawing/2014/main" id="{324FEB12-6B52-4D2F-B5C9-D9A603800236}"/>
              </a:ext>
            </a:extLst>
          </p:cNvPr>
          <p:cNvSpPr>
            <a:spLocks noChangeArrowheads="1"/>
          </p:cNvSpPr>
          <p:nvPr>
            <p:custDataLst>
              <p:tags r:id="rId4"/>
            </p:custDataLst>
          </p:nvPr>
        </p:nvSpPr>
        <p:spPr bwMode="gray">
          <a:xfrm>
            <a:off x="2771875" y="2994625"/>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7" name="MH_Other_3">
            <a:extLst>
              <a:ext uri="{FF2B5EF4-FFF2-40B4-BE49-F238E27FC236}">
                <a16:creationId xmlns:a16="http://schemas.microsoft.com/office/drawing/2014/main" id="{9F9167DD-6270-4A4E-9E47-20FB88C3F048}"/>
              </a:ext>
            </a:extLst>
          </p:cNvPr>
          <p:cNvSpPr>
            <a:spLocks/>
          </p:cNvSpPr>
          <p:nvPr>
            <p:custDataLst>
              <p:tags r:id="rId5"/>
            </p:custDataLst>
          </p:nvPr>
        </p:nvSpPr>
        <p:spPr bwMode="gray">
          <a:xfrm>
            <a:off x="2840138" y="4180488"/>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8" name="MH_SubTitle_3">
            <a:extLst>
              <a:ext uri="{FF2B5EF4-FFF2-40B4-BE49-F238E27FC236}">
                <a16:creationId xmlns:a16="http://schemas.microsoft.com/office/drawing/2014/main" id="{3FEC77B5-DB98-453D-BDBC-6598DEA48C49}"/>
              </a:ext>
            </a:extLst>
          </p:cNvPr>
          <p:cNvSpPr>
            <a:spLocks noChangeArrowheads="1"/>
          </p:cNvSpPr>
          <p:nvPr>
            <p:custDataLst>
              <p:tags r:id="rId6"/>
            </p:custDataLst>
          </p:nvPr>
        </p:nvSpPr>
        <p:spPr bwMode="gray">
          <a:xfrm>
            <a:off x="2771875" y="3878863"/>
            <a:ext cx="1158875" cy="355600"/>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三</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sp>
        <p:nvSpPr>
          <p:cNvPr id="9" name="MH_Other_4">
            <a:extLst>
              <a:ext uri="{FF2B5EF4-FFF2-40B4-BE49-F238E27FC236}">
                <a16:creationId xmlns:a16="http://schemas.microsoft.com/office/drawing/2014/main" id="{49EAC476-10C1-4DAF-AEAB-4D58FAA0C0DE}"/>
              </a:ext>
            </a:extLst>
          </p:cNvPr>
          <p:cNvSpPr>
            <a:spLocks/>
          </p:cNvSpPr>
          <p:nvPr>
            <p:custDataLst>
              <p:tags r:id="rId7"/>
            </p:custDataLst>
          </p:nvPr>
        </p:nvSpPr>
        <p:spPr bwMode="gray">
          <a:xfrm>
            <a:off x="2840138" y="5064725"/>
            <a:ext cx="1022350" cy="171450"/>
          </a:xfrm>
          <a:custGeom>
            <a:avLst/>
            <a:gdLst>
              <a:gd name="T0" fmla="*/ 1270 w 1120"/>
              <a:gd name="T1" fmla="*/ 190 h 252"/>
              <a:gd name="T2" fmla="*/ 1265 w 1120"/>
              <a:gd name="T3" fmla="*/ 188 h 252"/>
              <a:gd name="T4" fmla="*/ 1247 w 1120"/>
              <a:gd name="T5" fmla="*/ 185 h 252"/>
              <a:gd name="T6" fmla="*/ 1218 w 1120"/>
              <a:gd name="T7" fmla="*/ 181 h 252"/>
              <a:gd name="T8" fmla="*/ 1177 w 1120"/>
              <a:gd name="T9" fmla="*/ 175 h 252"/>
              <a:gd name="T10" fmla="*/ 1125 w 1120"/>
              <a:gd name="T11" fmla="*/ 167 h 252"/>
              <a:gd name="T12" fmla="*/ 1064 w 1120"/>
              <a:gd name="T13" fmla="*/ 160 h 252"/>
              <a:gd name="T14" fmla="*/ 993 w 1120"/>
              <a:gd name="T15" fmla="*/ 154 h 252"/>
              <a:gd name="T16" fmla="*/ 914 w 1120"/>
              <a:gd name="T17" fmla="*/ 148 h 252"/>
              <a:gd name="T18" fmla="*/ 828 w 1120"/>
              <a:gd name="T19" fmla="*/ 143 h 252"/>
              <a:gd name="T20" fmla="*/ 733 w 1120"/>
              <a:gd name="T21" fmla="*/ 139 h 252"/>
              <a:gd name="T22" fmla="*/ 630 w 1120"/>
              <a:gd name="T23" fmla="*/ 139 h 252"/>
              <a:gd name="T24" fmla="*/ 528 w 1120"/>
              <a:gd name="T25" fmla="*/ 139 h 252"/>
              <a:gd name="T26" fmla="*/ 435 w 1120"/>
              <a:gd name="T27" fmla="*/ 143 h 252"/>
              <a:gd name="T28" fmla="*/ 349 w 1120"/>
              <a:gd name="T29" fmla="*/ 148 h 252"/>
              <a:gd name="T30" fmla="*/ 270 w 1120"/>
              <a:gd name="T31" fmla="*/ 154 h 252"/>
              <a:gd name="T32" fmla="*/ 202 w 1120"/>
              <a:gd name="T33" fmla="*/ 160 h 252"/>
              <a:gd name="T34" fmla="*/ 143 w 1120"/>
              <a:gd name="T35" fmla="*/ 167 h 252"/>
              <a:gd name="T36" fmla="*/ 93 w 1120"/>
              <a:gd name="T37" fmla="*/ 175 h 252"/>
              <a:gd name="T38" fmla="*/ 52 w 1120"/>
              <a:gd name="T39" fmla="*/ 181 h 252"/>
              <a:gd name="T40" fmla="*/ 23 w 1120"/>
              <a:gd name="T41" fmla="*/ 185 h 252"/>
              <a:gd name="T42" fmla="*/ 7 w 1120"/>
              <a:gd name="T43" fmla="*/ 188 h 252"/>
              <a:gd name="T44" fmla="*/ 0 w 1120"/>
              <a:gd name="T45" fmla="*/ 190 h 252"/>
              <a:gd name="T46" fmla="*/ 0 w 1120"/>
              <a:gd name="T47" fmla="*/ 47 h 252"/>
              <a:gd name="T48" fmla="*/ 635 w 1120"/>
              <a:gd name="T49" fmla="*/ 0 h 252"/>
              <a:gd name="T50" fmla="*/ 1270 w 1120"/>
              <a:gd name="T51" fmla="*/ 47 h 252"/>
              <a:gd name="T52" fmla="*/ 1270 w 1120"/>
              <a:gd name="T53" fmla="*/ 190 h 252"/>
              <a:gd name="T54" fmla="*/ 1270 w 1120"/>
              <a:gd name="T55" fmla="*/ 190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20"/>
              <a:gd name="T85" fmla="*/ 0 h 252"/>
              <a:gd name="T86" fmla="*/ 1120 w 1120"/>
              <a:gd name="T87" fmla="*/ 252 h 25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D9D9D9"/>
          </a:solidFill>
          <a:ln w="0">
            <a:noFill/>
            <a:round/>
            <a:headEnd/>
            <a:tailEnd/>
          </a:ln>
        </p:spPr>
        <p:txBody>
          <a:bodyPr anchor="ctr">
            <a:normAutofit/>
          </a:bodyPr>
          <a:lstStyle/>
          <a:p>
            <a:pPr algn="ctr" eaLnBrk="1" fontAlgn="auto" hangingPunct="1">
              <a:spcBef>
                <a:spcPts val="0"/>
              </a:spcBef>
              <a:spcAft>
                <a:spcPts val="0"/>
              </a:spcAft>
              <a:defRPr/>
            </a:pPr>
            <a:endParaRPr lang="zh-CN" altLang="zh-CN" sz="500" dirty="0">
              <a:solidFill>
                <a:srgbClr val="FFFFFF"/>
              </a:solidFill>
              <a:latin typeface="+mn-ea"/>
              <a:ea typeface="+mn-ea"/>
              <a:cs typeface="Arial" charset="0"/>
            </a:endParaRPr>
          </a:p>
        </p:txBody>
      </p:sp>
      <p:sp>
        <p:nvSpPr>
          <p:cNvPr id="10" name="MH_SubTitle_4">
            <a:extLst>
              <a:ext uri="{FF2B5EF4-FFF2-40B4-BE49-F238E27FC236}">
                <a16:creationId xmlns:a16="http://schemas.microsoft.com/office/drawing/2014/main" id="{906C2589-D3EE-4ADE-A5EC-65B915A21062}"/>
              </a:ext>
            </a:extLst>
          </p:cNvPr>
          <p:cNvSpPr>
            <a:spLocks noChangeArrowheads="1"/>
          </p:cNvSpPr>
          <p:nvPr>
            <p:custDataLst>
              <p:tags r:id="rId8"/>
            </p:custDataLst>
          </p:nvPr>
        </p:nvSpPr>
        <p:spPr bwMode="gray">
          <a:xfrm>
            <a:off x="2771875" y="4764688"/>
            <a:ext cx="1158875" cy="354012"/>
          </a:xfrm>
          <a:prstGeom prst="rect">
            <a:avLst/>
          </a:prstGeom>
          <a:solidFill>
            <a:srgbClr val="F3C97F"/>
          </a:solidFill>
          <a:ln>
            <a:noFill/>
            <a:headEnd/>
            <a:tailEnd/>
          </a:ln>
        </p:spPr>
        <p:style>
          <a:lnRef idx="1">
            <a:schemeClr val="accent6"/>
          </a:lnRef>
          <a:fillRef idx="3">
            <a:schemeClr val="accent6"/>
          </a:fillRef>
          <a:effectRef idx="2">
            <a:schemeClr val="accent6"/>
          </a:effectRef>
          <a:fontRef idx="minor">
            <a:schemeClr val="lt1"/>
          </a:fontRef>
        </p:style>
        <p:txBody>
          <a:bodyPr anchor="ctr">
            <a:noAutofit/>
          </a:bodyPr>
          <a:lstStyle/>
          <a:p>
            <a:pPr algn="ctr" fontAlgn="auto">
              <a:spcBef>
                <a:spcPts val="0"/>
              </a:spcBef>
              <a:spcAft>
                <a:spcPts val="0"/>
              </a:spcAft>
              <a:defRPr/>
            </a:pPr>
            <a:r>
              <a:rPr lang="zh-CN" altLang="en-US" sz="2400" b="1" spc="150" dirty="0">
                <a:solidFill>
                  <a:schemeClr val="bg1"/>
                </a:solidFill>
                <a:latin typeface="微软雅黑" panose="020B0503020204020204" pitchFamily="34" charset="-122"/>
                <a:ea typeface="微软雅黑" panose="020B0503020204020204" pitchFamily="34" charset="-122"/>
              </a:rPr>
              <a:t>四</a:t>
            </a:r>
            <a:endParaRPr lang="en-US" altLang="zh-CN" sz="2400" b="1" spc="150" dirty="0">
              <a:solidFill>
                <a:schemeClr val="bg1"/>
              </a:solidFill>
              <a:latin typeface="微软雅黑" panose="020B0503020204020204" pitchFamily="34" charset="-122"/>
              <a:ea typeface="微软雅黑" panose="020B0503020204020204" pitchFamily="34" charset="-122"/>
            </a:endParaRPr>
          </a:p>
        </p:txBody>
      </p:sp>
      <p:cxnSp>
        <p:nvCxnSpPr>
          <p:cNvPr id="11" name="MH_Other_5">
            <a:extLst>
              <a:ext uri="{FF2B5EF4-FFF2-40B4-BE49-F238E27FC236}">
                <a16:creationId xmlns:a16="http://schemas.microsoft.com/office/drawing/2014/main" id="{25D06B7F-7DCD-4D03-A450-0AAC55A41525}"/>
              </a:ext>
            </a:extLst>
          </p:cNvPr>
          <p:cNvCxnSpPr>
            <a:stCxn id="4" idx="2"/>
            <a:endCxn id="6" idx="0"/>
          </p:cNvCxnSpPr>
          <p:nvPr>
            <p:custDataLst>
              <p:tags r:id="rId9"/>
            </p:custDataLst>
          </p:nvPr>
        </p:nvCxnSpPr>
        <p:spPr>
          <a:xfrm>
            <a:off x="3351313" y="2465988"/>
            <a:ext cx="0" cy="528637"/>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2" name="MH_Other_6">
            <a:extLst>
              <a:ext uri="{FF2B5EF4-FFF2-40B4-BE49-F238E27FC236}">
                <a16:creationId xmlns:a16="http://schemas.microsoft.com/office/drawing/2014/main" id="{B30D78AD-B3DA-44A6-A5F6-F28D02655A40}"/>
              </a:ext>
            </a:extLst>
          </p:cNvPr>
          <p:cNvCxnSpPr>
            <a:stCxn id="6" idx="2"/>
            <a:endCxn id="8" idx="0"/>
          </p:cNvCxnSpPr>
          <p:nvPr>
            <p:custDataLst>
              <p:tags r:id="rId10"/>
            </p:custDataLst>
          </p:nvPr>
        </p:nvCxnSpPr>
        <p:spPr>
          <a:xfrm>
            <a:off x="3351313" y="3350225"/>
            <a:ext cx="0" cy="528638"/>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cxnSp>
        <p:nvCxnSpPr>
          <p:cNvPr id="13" name="MH_Other_7">
            <a:extLst>
              <a:ext uri="{FF2B5EF4-FFF2-40B4-BE49-F238E27FC236}">
                <a16:creationId xmlns:a16="http://schemas.microsoft.com/office/drawing/2014/main" id="{DF653FE5-3B26-45B8-A03B-DDBD47BE3AA3}"/>
              </a:ext>
            </a:extLst>
          </p:cNvPr>
          <p:cNvCxnSpPr>
            <a:stCxn id="8" idx="2"/>
            <a:endCxn id="10" idx="0"/>
          </p:cNvCxnSpPr>
          <p:nvPr>
            <p:custDataLst>
              <p:tags r:id="rId11"/>
            </p:custDataLst>
          </p:nvPr>
        </p:nvCxnSpPr>
        <p:spPr>
          <a:xfrm>
            <a:off x="3351313" y="4234463"/>
            <a:ext cx="0" cy="530225"/>
          </a:xfrm>
          <a:prstGeom prst="line">
            <a:avLst/>
          </a:prstGeom>
          <a:ln w="12700">
            <a:solidFill>
              <a:srgbClr val="F3C97F"/>
            </a:solidFill>
            <a:prstDash val="dash"/>
            <a:tailEnd type="stealth"/>
          </a:ln>
        </p:spPr>
        <p:style>
          <a:lnRef idx="1">
            <a:schemeClr val="accent6"/>
          </a:lnRef>
          <a:fillRef idx="0">
            <a:schemeClr val="accent6"/>
          </a:fillRef>
          <a:effectRef idx="0">
            <a:schemeClr val="accent6"/>
          </a:effectRef>
          <a:fontRef idx="minor">
            <a:schemeClr val="tx1"/>
          </a:fontRef>
        </p:style>
      </p:cxnSp>
      <p:sp>
        <p:nvSpPr>
          <p:cNvPr id="17" name="矩形 16">
            <a:extLst>
              <a:ext uri="{FF2B5EF4-FFF2-40B4-BE49-F238E27FC236}">
                <a16:creationId xmlns:a16="http://schemas.microsoft.com/office/drawing/2014/main" id="{66A93A4A-F736-4CF5-82B6-87D5F4B7E4E5}"/>
              </a:ext>
            </a:extLst>
          </p:cNvPr>
          <p:cNvSpPr/>
          <p:nvPr/>
        </p:nvSpPr>
        <p:spPr>
          <a:xfrm>
            <a:off x="4137150" y="2070115"/>
            <a:ext cx="214674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企业规模调整</a:t>
            </a:r>
          </a:p>
        </p:txBody>
      </p:sp>
      <p:sp>
        <p:nvSpPr>
          <p:cNvPr id="18" name="矩形 17">
            <a:extLst>
              <a:ext uri="{FF2B5EF4-FFF2-40B4-BE49-F238E27FC236}">
                <a16:creationId xmlns:a16="http://schemas.microsoft.com/office/drawing/2014/main" id="{6BA99CA7-A4CC-4245-BA58-DB89FA49F037}"/>
              </a:ext>
            </a:extLst>
          </p:cNvPr>
          <p:cNvSpPr/>
          <p:nvPr/>
        </p:nvSpPr>
        <p:spPr>
          <a:xfrm>
            <a:off x="4133355" y="2967335"/>
            <a:ext cx="2146742"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行业规模调整</a:t>
            </a:r>
          </a:p>
        </p:txBody>
      </p:sp>
      <p:sp>
        <p:nvSpPr>
          <p:cNvPr id="19" name="矩形 18">
            <a:extLst>
              <a:ext uri="{FF2B5EF4-FFF2-40B4-BE49-F238E27FC236}">
                <a16:creationId xmlns:a16="http://schemas.microsoft.com/office/drawing/2014/main" id="{018105B0-EC74-4F50-9B33-7F18FF6C04E7}"/>
              </a:ext>
            </a:extLst>
          </p:cNvPr>
          <p:cNvSpPr/>
          <p:nvPr/>
        </p:nvSpPr>
        <p:spPr>
          <a:xfrm>
            <a:off x="4133355" y="3864555"/>
            <a:ext cx="1492716" cy="461665"/>
          </a:xfrm>
          <a:prstGeom prst="rect">
            <a:avLst/>
          </a:prstGeom>
        </p:spPr>
        <p:txBody>
          <a:bodyPr wrap="none">
            <a:spAutoFit/>
          </a:bodyPr>
          <a:lstStyle/>
          <a:p>
            <a:r>
              <a:rPr lang="zh-CN" altLang="en-US" sz="2400" spc="150" dirty="0">
                <a:latin typeface="微软雅黑" panose="020B0503020204020204" pitchFamily="34" charset="-122"/>
                <a:ea typeface="微软雅黑" panose="020B0503020204020204" pitchFamily="34" charset="-122"/>
              </a:rPr>
              <a:t>长期均衡</a:t>
            </a:r>
          </a:p>
        </p:txBody>
      </p:sp>
      <p:sp>
        <p:nvSpPr>
          <p:cNvPr id="20" name="矩形 19">
            <a:extLst>
              <a:ext uri="{FF2B5EF4-FFF2-40B4-BE49-F238E27FC236}">
                <a16:creationId xmlns:a16="http://schemas.microsoft.com/office/drawing/2014/main" id="{E52AEF20-C2D6-4C68-8E54-0EF930AB28A2}"/>
              </a:ext>
            </a:extLst>
          </p:cNvPr>
          <p:cNvSpPr/>
          <p:nvPr/>
        </p:nvSpPr>
        <p:spPr>
          <a:xfrm>
            <a:off x="4133355" y="4710861"/>
            <a:ext cx="2146742" cy="461665"/>
          </a:xfrm>
          <a:prstGeom prst="rect">
            <a:avLst/>
          </a:prstGeom>
        </p:spPr>
        <p:txBody>
          <a:bodyPr wrap="none">
            <a:spAutoFit/>
          </a:bodyPr>
          <a:lstStyle/>
          <a:p>
            <a:pPr>
              <a:buFontTx/>
              <a:buNone/>
            </a:pPr>
            <a:r>
              <a:rPr lang="zh-CN" altLang="en-US" sz="2400" spc="150" dirty="0">
                <a:latin typeface="微软雅黑" panose="020B0503020204020204" pitchFamily="34" charset="-122"/>
                <a:ea typeface="微软雅黑" panose="020B0503020204020204" pitchFamily="34" charset="-122"/>
              </a:rPr>
              <a:t>长期供给曲线</a:t>
            </a:r>
          </a:p>
        </p:txBody>
      </p:sp>
      <p:sp>
        <p:nvSpPr>
          <p:cNvPr id="14" name="文本框 13">
            <a:extLst>
              <a:ext uri="{FF2B5EF4-FFF2-40B4-BE49-F238E27FC236}">
                <a16:creationId xmlns:a16="http://schemas.microsoft.com/office/drawing/2014/main" id="{CCCEF09F-3C5D-49F4-ABE0-3623998937AF}"/>
              </a:ext>
            </a:extLst>
          </p:cNvPr>
          <p:cNvSpPr txBox="1"/>
          <p:nvPr/>
        </p:nvSpPr>
        <p:spPr>
          <a:xfrm>
            <a:off x="6876159" y="2132910"/>
            <a:ext cx="2088143" cy="646331"/>
          </a:xfrm>
          <a:prstGeom prst="rect">
            <a:avLst/>
          </a:prstGeom>
          <a:noFill/>
        </p:spPr>
        <p:txBody>
          <a:bodyPr wrap="square" rtlCol="0">
            <a:spAutoFit/>
          </a:bodyPr>
          <a:lstStyle/>
          <a:p>
            <a:r>
              <a:rPr lang="zh-CN" altLang="en-US" b="1" dirty="0">
                <a:solidFill>
                  <a:srgbClr val="FF0000"/>
                </a:solidFill>
              </a:rPr>
              <a:t>可以调整全部生产要素数量的含义</a:t>
            </a:r>
          </a:p>
        </p:txBody>
      </p:sp>
      <p:cxnSp>
        <p:nvCxnSpPr>
          <p:cNvPr id="16" name="直接箭头连接符 15">
            <a:extLst>
              <a:ext uri="{FF2B5EF4-FFF2-40B4-BE49-F238E27FC236}">
                <a16:creationId xmlns:a16="http://schemas.microsoft.com/office/drawing/2014/main" id="{C04E9EE1-752A-49B6-A232-6A1C89183BD0}"/>
              </a:ext>
            </a:extLst>
          </p:cNvPr>
          <p:cNvCxnSpPr>
            <a:cxnSpLocks/>
            <a:stCxn id="14" idx="1"/>
            <a:endCxn id="17" idx="3"/>
          </p:cNvCxnSpPr>
          <p:nvPr/>
        </p:nvCxnSpPr>
        <p:spPr bwMode="auto">
          <a:xfrm flipH="1" flipV="1">
            <a:off x="6283892" y="2300948"/>
            <a:ext cx="592267" cy="15512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箭头连接符 21">
            <a:extLst>
              <a:ext uri="{FF2B5EF4-FFF2-40B4-BE49-F238E27FC236}">
                <a16:creationId xmlns:a16="http://schemas.microsoft.com/office/drawing/2014/main" id="{347E8720-AD1F-4606-B9AB-DD178B8897AE}"/>
              </a:ext>
            </a:extLst>
          </p:cNvPr>
          <p:cNvCxnSpPr>
            <a:cxnSpLocks/>
            <a:stCxn id="14" idx="1"/>
          </p:cNvCxnSpPr>
          <p:nvPr/>
        </p:nvCxnSpPr>
        <p:spPr bwMode="auto">
          <a:xfrm flipH="1">
            <a:off x="6280097" y="2456076"/>
            <a:ext cx="596062" cy="51125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037071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left)">
                                      <p:cBhvr>
                                        <p:cTn id="18" dur="500"/>
                                        <p:tgtEl>
                                          <p:spTgt spid="17"/>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left)">
                                      <p:cBhvr>
                                        <p:cTn id="33" dur="500"/>
                                        <p:tgtEl>
                                          <p:spTgt spid="18"/>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up)">
                                      <p:cBhvr>
                                        <p:cTn id="42" dur="500"/>
                                        <p:tgtEl>
                                          <p:spTgt spid="7"/>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up)">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up)">
                                      <p:cBhvr>
                                        <p:cTn id="57" dur="500"/>
                                        <p:tgtEl>
                                          <p:spTgt spid="9"/>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up)">
                                      <p:cBhvr>
                                        <p:cTn id="60" dur="500"/>
                                        <p:tgtEl>
                                          <p:spTgt spid="10"/>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animBg="1"/>
      <p:bldP spid="9" grpId="0" animBg="1"/>
      <p:bldP spid="10" grpId="0" animBg="1"/>
      <p:bldP spid="17" grpId="0"/>
      <p:bldP spid="18" grpId="0"/>
      <p:bldP spid="19" grpId="0"/>
      <p:bldP spid="20"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68E5273-CD77-47B9-B841-9D29349C133D}"/>
              </a:ext>
            </a:extLst>
          </p:cNvPr>
          <p:cNvSpPr/>
          <p:nvPr/>
        </p:nvSpPr>
        <p:spPr>
          <a:xfrm>
            <a:off x="467544" y="548680"/>
            <a:ext cx="288037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一、企业规模调整</a:t>
            </a:r>
          </a:p>
        </p:txBody>
      </p:sp>
      <p:sp>
        <p:nvSpPr>
          <p:cNvPr id="15" name="矩形 14">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5" name="组合 4">
            <a:extLst>
              <a:ext uri="{FF2B5EF4-FFF2-40B4-BE49-F238E27FC236}">
                <a16:creationId xmlns:a16="http://schemas.microsoft.com/office/drawing/2014/main" id="{627AE83D-F3D9-4FE1-841C-38AA09ECDF1C}"/>
              </a:ext>
            </a:extLst>
          </p:cNvPr>
          <p:cNvGrpSpPr/>
          <p:nvPr/>
        </p:nvGrpSpPr>
        <p:grpSpPr>
          <a:xfrm>
            <a:off x="467544" y="1414471"/>
            <a:ext cx="3240396" cy="514350"/>
            <a:chOff x="467544" y="2538061"/>
            <a:chExt cx="2808366" cy="514350"/>
          </a:xfrm>
        </p:grpSpPr>
        <p:sp>
          <p:nvSpPr>
            <p:cNvPr id="19"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67544" y="2538061"/>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企业的规模</a:t>
              </a:r>
            </a:p>
          </p:txBody>
        </p:sp>
        <p:sp>
          <p:nvSpPr>
            <p:cNvPr id="20"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3116947" y="2581385"/>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grpSp>
        <p:nvGrpSpPr>
          <p:cNvPr id="12" name="组合 11">
            <a:extLst>
              <a:ext uri="{FF2B5EF4-FFF2-40B4-BE49-F238E27FC236}">
                <a16:creationId xmlns:a16="http://schemas.microsoft.com/office/drawing/2014/main" id="{15BCAD35-C9C8-4AE1-874B-7737C5F09A87}"/>
              </a:ext>
            </a:extLst>
          </p:cNvPr>
          <p:cNvGrpSpPr/>
          <p:nvPr/>
        </p:nvGrpSpPr>
        <p:grpSpPr>
          <a:xfrm>
            <a:off x="467544" y="3482432"/>
            <a:ext cx="3240396" cy="514350"/>
            <a:chOff x="467544" y="3401038"/>
            <a:chExt cx="2547461" cy="514350"/>
          </a:xfrm>
        </p:grpSpPr>
        <p:sp>
          <p:nvSpPr>
            <p:cNvPr id="21" name="MH_Text_1">
              <a:extLst>
                <a:ext uri="{FF2B5EF4-FFF2-40B4-BE49-F238E27FC236}">
                  <a16:creationId xmlns:a16="http://schemas.microsoft.com/office/drawing/2014/main" id="{2B16FD77-75F5-478E-AAA0-B4711F002B71}"/>
                </a:ext>
              </a:extLst>
            </p:cNvPr>
            <p:cNvSpPr/>
            <p:nvPr>
              <p:custDataLst>
                <p:tags r:id="rId1"/>
              </p:custDataLst>
            </p:nvPr>
          </p:nvSpPr>
          <p:spPr bwMode="auto">
            <a:xfrm>
              <a:off x="467544" y="3401038"/>
              <a:ext cx="254746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企业规模与短期利润最大化</a:t>
              </a:r>
            </a:p>
          </p:txBody>
        </p:sp>
        <p:sp>
          <p:nvSpPr>
            <p:cNvPr id="22" name="MH_Other_2">
              <a:extLst>
                <a:ext uri="{FF2B5EF4-FFF2-40B4-BE49-F238E27FC236}">
                  <a16:creationId xmlns:a16="http://schemas.microsoft.com/office/drawing/2014/main" id="{2CAC8690-3479-4DBB-9B16-A4FF61D047C3}"/>
                </a:ext>
              </a:extLst>
            </p:cNvPr>
            <p:cNvSpPr/>
            <p:nvPr>
              <p:custDataLst>
                <p:tags r:id="rId2"/>
              </p:custDataLst>
            </p:nvPr>
          </p:nvSpPr>
          <p:spPr bwMode="auto">
            <a:xfrm rot="10800000">
              <a:off x="2859012" y="3449798"/>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sp>
        <p:nvSpPr>
          <p:cNvPr id="3" name="矩形 2">
            <a:extLst>
              <a:ext uri="{FF2B5EF4-FFF2-40B4-BE49-F238E27FC236}">
                <a16:creationId xmlns:a16="http://schemas.microsoft.com/office/drawing/2014/main" id="{DC352424-0443-43CC-9DB7-D6B00F0C4B2E}"/>
              </a:ext>
            </a:extLst>
          </p:cNvPr>
          <p:cNvSpPr/>
          <p:nvPr/>
        </p:nvSpPr>
        <p:spPr>
          <a:xfrm>
            <a:off x="611209" y="4211565"/>
            <a:ext cx="7920550" cy="1338828"/>
          </a:xfrm>
          <a:prstGeom prst="rect">
            <a:avLst/>
          </a:prstGeom>
        </p:spPr>
        <p:txBody>
          <a:bodyPr wrap="square">
            <a:spAutoFit/>
          </a:bodyPr>
          <a:lstStyle/>
          <a:p>
            <a:pPr marL="800100" lvl="1" indent="-342900"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短期</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企业规模是固定的。不同边际成本曲线和平均成本曲线代表不同的规模</a:t>
            </a:r>
            <a:endParaRPr lang="en-US" altLang="zh-CN" dirty="0">
              <a:latin typeface="微软雅黑" panose="020B0503020204020204" pitchFamily="34" charset="-122"/>
              <a:ea typeface="微软雅黑" panose="020B0503020204020204" pitchFamily="34" charset="-122"/>
            </a:endParaRPr>
          </a:p>
          <a:p>
            <a:pPr marL="800100" lvl="1" indent="-342900"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不同规模的经济利润不同</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C7B8B3EA-F6C9-430E-B3E4-902A2736C4D8}"/>
                  </a:ext>
                </a:extLst>
              </p:cNvPr>
              <p:cNvSpPr/>
              <p:nvPr/>
            </p:nvSpPr>
            <p:spPr>
              <a:xfrm>
                <a:off x="899746" y="4396639"/>
                <a:ext cx="7920549" cy="1295226"/>
              </a:xfrm>
              <a:prstGeom prst="rect">
                <a:avLst/>
              </a:prstGeom>
            </p:spPr>
            <p:txBody>
              <a:bodyPr wrap="square">
                <a:spAutoFit/>
              </a:bodyPr>
              <a:lstStyle/>
              <a:p>
                <a:pPr marL="285750" indent="-285750">
                  <a:lnSpc>
                    <a:spcPct val="150000"/>
                  </a:lnSpc>
                  <a:buFont typeface="Wingdings" panose="05000000000000000000" pitchFamily="2" charset="2"/>
                  <a:buChar char="Ø"/>
                </a:pPr>
                <a:endParaRPr/>
              </a:p>
              <a:p>
                <a:pPr marL="285750" indent="-285750">
                  <a:lnSpc>
                    <a:spcPct val="150000"/>
                  </a:lnSpc>
                  <a:buFont typeface="Wingdings" panose="05000000000000000000" pitchFamily="2" charset="2"/>
                  <a:buChar char="Ø"/>
                </a:pPr>
                <a:endParaRPr lang="en-US" altLang="zh-CN" spc="150" dirty="0">
                  <a:solidFill>
                    <a:srgbClr val="000000"/>
                  </a:solidFill>
                  <a:latin typeface="微软雅黑" panose="020B0503020204020204" pitchFamily="34" charset="-122"/>
                  <a:ea typeface="微软雅黑" panose="020B0503020204020204" pitchFamily="34" charset="-122"/>
                  <a:sym typeface="Wingdings" panose="05000000000000000000" pitchFamily="2" charset="2"/>
                </a:endParaRPr>
              </a:p>
            </p:txBody>
          </p:sp>
        </mc:Choice>
        <mc:Fallback xmlns="">
          <p:sp>
            <p:nvSpPr>
              <p:cNvPr id="4" name="矩形 3">
                <a:extLst>
                  <a:ext uri="{FF2B5EF4-FFF2-40B4-BE49-F238E27FC236}">
                    <a16:creationId xmlns:a16="http://schemas.microsoft.com/office/drawing/2014/main" id="{C7B8B3EA-F6C9-430E-B3E4-902A2736C4D8}"/>
                  </a:ext>
                </a:extLst>
              </p:cNvPr>
              <p:cNvSpPr>
                <a:spLocks noRot="1" noChangeAspect="1" noMove="1" noResize="1" noEditPoints="1" noAdjustHandles="1" noChangeArrowheads="1" noChangeShapeType="1" noTextEdit="1"/>
              </p:cNvSpPr>
              <p:nvPr/>
            </p:nvSpPr>
            <p:spPr>
              <a:xfrm>
                <a:off x="899746" y="4396639"/>
                <a:ext cx="7920549" cy="1295226"/>
              </a:xfrm>
              <a:prstGeom prst="rect">
                <a:avLst/>
              </a:prstGeom>
              <a:blipFill>
                <a:blip r:embed="rId6"/>
                <a:stretch>
                  <a:fillRect l="-539" b="-5164"/>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DC352424-0443-43CC-9DB7-D6B00F0C4B2E}"/>
              </a:ext>
            </a:extLst>
          </p:cNvPr>
          <p:cNvSpPr/>
          <p:nvPr/>
        </p:nvSpPr>
        <p:spPr>
          <a:xfrm>
            <a:off x="611209" y="2311645"/>
            <a:ext cx="7920550" cy="923330"/>
          </a:xfrm>
          <a:prstGeom prst="rect">
            <a:avLst/>
          </a:prstGeom>
        </p:spPr>
        <p:txBody>
          <a:bodyPr wrap="square">
            <a:spAutoFit/>
          </a:bodyPr>
          <a:lstStyle/>
          <a:p>
            <a:pPr marL="800100" lvl="1" indent="-342900" eaLnBrk="1" hangingPunct="1">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在短期中</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企业的规模是固定的。在长期中</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企业的规模是可变的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所有要素都可以改变。</a:t>
            </a:r>
          </a:p>
        </p:txBody>
      </p:sp>
    </p:spTree>
    <p:extLst>
      <p:ext uri="{BB962C8B-B14F-4D97-AF65-F5344CB8AC3E}">
        <p14:creationId xmlns:p14="http://schemas.microsoft.com/office/powerpoint/2010/main" val="3343109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wipe(left)">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wipe(left)">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wipe(left)">
                                      <p:cBhvr>
                                        <p:cTn id="3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F68E5273-CD77-47B9-B841-9D29349C133D}"/>
              </a:ext>
            </a:extLst>
          </p:cNvPr>
          <p:cNvSpPr/>
          <p:nvPr/>
        </p:nvSpPr>
        <p:spPr>
          <a:xfrm>
            <a:off x="467544" y="548680"/>
            <a:ext cx="288037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一、企业规模调整</a:t>
            </a:r>
          </a:p>
        </p:txBody>
      </p:sp>
      <p:sp>
        <p:nvSpPr>
          <p:cNvPr id="38" name="矩形 37">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39" name="直接箭头连接符 5"/>
          <p:cNvSpPr>
            <a:spLocks noChangeShapeType="1"/>
          </p:cNvSpPr>
          <p:nvPr/>
        </p:nvSpPr>
        <p:spPr bwMode="auto">
          <a:xfrm rot="5400000" flipH="1" flipV="1">
            <a:off x="-541338" y="3728570"/>
            <a:ext cx="3489325" cy="3175"/>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0" name="直接箭头连接符 7"/>
          <p:cNvSpPr>
            <a:spLocks noChangeShapeType="1"/>
          </p:cNvSpPr>
          <p:nvPr/>
        </p:nvSpPr>
        <p:spPr bwMode="auto">
          <a:xfrm>
            <a:off x="1204912" y="5473233"/>
            <a:ext cx="6122988" cy="3175"/>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9"/>
          <p:cNvSpPr>
            <a:spLocks noChangeShapeType="1"/>
          </p:cNvSpPr>
          <p:nvPr/>
        </p:nvSpPr>
        <p:spPr bwMode="auto">
          <a:xfrm>
            <a:off x="1204912" y="3517433"/>
            <a:ext cx="5387975" cy="1587"/>
          </a:xfrm>
          <a:prstGeom prst="line">
            <a:avLst/>
          </a:prstGeom>
          <a:noFill/>
          <a:ln w="9525"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任意多边形 11"/>
          <p:cNvSpPr>
            <a:spLocks noChangeArrowheads="1"/>
          </p:cNvSpPr>
          <p:nvPr/>
        </p:nvSpPr>
        <p:spPr bwMode="auto">
          <a:xfrm>
            <a:off x="1731962" y="3173284"/>
            <a:ext cx="4810125" cy="1426686"/>
          </a:xfrm>
          <a:custGeom>
            <a:avLst/>
            <a:gdLst>
              <a:gd name="T0" fmla="*/ 0 w 4209143"/>
              <a:gd name="T1" fmla="*/ 145142 h 1088571"/>
              <a:gd name="T2" fmla="*/ 1320800 w 4209143"/>
              <a:gd name="T3" fmla="*/ 986971 h 1088571"/>
              <a:gd name="T4" fmla="*/ 2931886 w 4209143"/>
              <a:gd name="T5" fmla="*/ 754742 h 1088571"/>
              <a:gd name="T6" fmla="*/ 4209143 w 4209143"/>
              <a:gd name="T7" fmla="*/ 0 h 1088571"/>
              <a:gd name="T8" fmla="*/ 0 60000 65536"/>
              <a:gd name="T9" fmla="*/ 0 60000 65536"/>
              <a:gd name="T10" fmla="*/ 0 60000 65536"/>
              <a:gd name="T11" fmla="*/ 0 60000 65536"/>
              <a:gd name="T12" fmla="*/ 0 w 4209143"/>
              <a:gd name="T13" fmla="*/ 0 h 1088571"/>
              <a:gd name="T14" fmla="*/ 4209143 w 4209143"/>
              <a:gd name="T15" fmla="*/ 1088571 h 1088571"/>
            </a:gdLst>
            <a:ahLst/>
            <a:cxnLst>
              <a:cxn ang="T8">
                <a:pos x="T0" y="T1"/>
              </a:cxn>
              <a:cxn ang="T9">
                <a:pos x="T2" y="T3"/>
              </a:cxn>
              <a:cxn ang="T10">
                <a:pos x="T4" y="T5"/>
              </a:cxn>
              <a:cxn ang="T11">
                <a:pos x="T6" y="T7"/>
              </a:cxn>
            </a:cxnLst>
            <a:rect l="T12" t="T13" r="T14" b="T15"/>
            <a:pathLst>
              <a:path w="4209143" h="1088571">
                <a:moveTo>
                  <a:pt x="0" y="145142"/>
                </a:moveTo>
                <a:cubicBezTo>
                  <a:pt x="416076" y="515256"/>
                  <a:pt x="832152" y="885371"/>
                  <a:pt x="1320800" y="986971"/>
                </a:cubicBezTo>
                <a:cubicBezTo>
                  <a:pt x="1809448" y="1088571"/>
                  <a:pt x="2450496" y="919237"/>
                  <a:pt x="2931886" y="754742"/>
                </a:cubicBezTo>
                <a:cubicBezTo>
                  <a:pt x="3413277" y="590247"/>
                  <a:pt x="3811210" y="295123"/>
                  <a:pt x="4209143" y="0"/>
                </a:cubicBezTo>
              </a:path>
            </a:pathLst>
          </a:custGeom>
          <a:noFill/>
          <a:ln w="28575" cap="flat" cmpd="sng">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44" name="任意多边形 13"/>
          <p:cNvSpPr>
            <a:spLocks noChangeArrowheads="1"/>
          </p:cNvSpPr>
          <p:nvPr/>
        </p:nvSpPr>
        <p:spPr bwMode="auto">
          <a:xfrm>
            <a:off x="2297112" y="3123733"/>
            <a:ext cx="3614738" cy="1693862"/>
          </a:xfrm>
          <a:custGeom>
            <a:avLst/>
            <a:gdLst>
              <a:gd name="T0" fmla="*/ 0 w 3164114"/>
              <a:gd name="T1" fmla="*/ 1422400 h 1422400"/>
              <a:gd name="T2" fmla="*/ 972457 w 3164114"/>
              <a:gd name="T3" fmla="*/ 1262743 h 1422400"/>
              <a:gd name="T4" fmla="*/ 2032000 w 3164114"/>
              <a:gd name="T5" fmla="*/ 841828 h 1422400"/>
              <a:gd name="T6" fmla="*/ 3164114 w 3164114"/>
              <a:gd name="T7" fmla="*/ 0 h 1422400"/>
              <a:gd name="T8" fmla="*/ 3164114 w 3164114"/>
              <a:gd name="T9" fmla="*/ 0 h 1422400"/>
              <a:gd name="T10" fmla="*/ 3164114 w 3164114"/>
              <a:gd name="T11" fmla="*/ 14514 h 1422400"/>
              <a:gd name="T12" fmla="*/ 0 60000 65536"/>
              <a:gd name="T13" fmla="*/ 0 60000 65536"/>
              <a:gd name="T14" fmla="*/ 0 60000 65536"/>
              <a:gd name="T15" fmla="*/ 0 60000 65536"/>
              <a:gd name="T16" fmla="*/ 0 60000 65536"/>
              <a:gd name="T17" fmla="*/ 0 60000 65536"/>
              <a:gd name="T18" fmla="*/ 0 w 3164114"/>
              <a:gd name="T19" fmla="*/ 0 h 1422400"/>
              <a:gd name="T20" fmla="*/ 3164114 w 3164114"/>
              <a:gd name="T21" fmla="*/ 1422400 h 1422400"/>
            </a:gdLst>
            <a:ahLst/>
            <a:cxnLst>
              <a:cxn ang="T12">
                <a:pos x="T0" y="T1"/>
              </a:cxn>
              <a:cxn ang="T13">
                <a:pos x="T2" y="T3"/>
              </a:cxn>
              <a:cxn ang="T14">
                <a:pos x="T4" y="T5"/>
              </a:cxn>
              <a:cxn ang="T15">
                <a:pos x="T6" y="T7"/>
              </a:cxn>
              <a:cxn ang="T16">
                <a:pos x="T8" y="T9"/>
              </a:cxn>
              <a:cxn ang="T17">
                <a:pos x="T10" y="T11"/>
              </a:cxn>
            </a:cxnLst>
            <a:rect l="T18" t="T19" r="T20" b="T21"/>
            <a:pathLst>
              <a:path w="3164114" h="1422400">
                <a:moveTo>
                  <a:pt x="0" y="1422400"/>
                </a:moveTo>
                <a:cubicBezTo>
                  <a:pt x="316895" y="1390952"/>
                  <a:pt x="633790" y="1359505"/>
                  <a:pt x="972457" y="1262743"/>
                </a:cubicBezTo>
                <a:cubicBezTo>
                  <a:pt x="1311124" y="1165981"/>
                  <a:pt x="1666724" y="1052285"/>
                  <a:pt x="2032000" y="841828"/>
                </a:cubicBezTo>
                <a:cubicBezTo>
                  <a:pt x="2397276" y="631371"/>
                  <a:pt x="3164114" y="0"/>
                  <a:pt x="3164114" y="0"/>
                </a:cubicBezTo>
                <a:lnTo>
                  <a:pt x="3164114" y="0"/>
                </a:lnTo>
                <a:lnTo>
                  <a:pt x="3164114" y="14514"/>
                </a:lnTo>
              </a:path>
            </a:pathLst>
          </a:custGeom>
          <a:noFill/>
          <a:ln w="22225" cap="flat" cmpd="sng">
            <a:solidFill>
              <a:srgbClr val="92D05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47" name="任意多边形 14"/>
          <p:cNvSpPr>
            <a:spLocks noChangeArrowheads="1"/>
          </p:cNvSpPr>
          <p:nvPr/>
        </p:nvSpPr>
        <p:spPr bwMode="auto">
          <a:xfrm>
            <a:off x="1930400" y="3331695"/>
            <a:ext cx="1211262" cy="620713"/>
          </a:xfrm>
          <a:custGeom>
            <a:avLst/>
            <a:gdLst>
              <a:gd name="T0" fmla="*/ 0 w 1059543"/>
              <a:gd name="T1" fmla="*/ 0 h 520095"/>
              <a:gd name="T2" fmla="*/ 290286 w 1059543"/>
              <a:gd name="T3" fmla="*/ 449943 h 520095"/>
              <a:gd name="T4" fmla="*/ 667657 w 1059543"/>
              <a:gd name="T5" fmla="*/ 420915 h 520095"/>
              <a:gd name="T6" fmla="*/ 1059543 w 1059543"/>
              <a:gd name="T7" fmla="*/ 58057 h 520095"/>
              <a:gd name="T8" fmla="*/ 0 60000 65536"/>
              <a:gd name="T9" fmla="*/ 0 60000 65536"/>
              <a:gd name="T10" fmla="*/ 0 60000 65536"/>
              <a:gd name="T11" fmla="*/ 0 60000 65536"/>
              <a:gd name="T12" fmla="*/ 0 w 1059543"/>
              <a:gd name="T13" fmla="*/ 0 h 520095"/>
              <a:gd name="T14" fmla="*/ 1059543 w 1059543"/>
              <a:gd name="T15" fmla="*/ 520095 h 520095"/>
            </a:gdLst>
            <a:ahLst/>
            <a:cxnLst>
              <a:cxn ang="T8">
                <a:pos x="T0" y="T1"/>
              </a:cxn>
              <a:cxn ang="T9">
                <a:pos x="T2" y="T3"/>
              </a:cxn>
              <a:cxn ang="T10">
                <a:pos x="T4" y="T5"/>
              </a:cxn>
              <a:cxn ang="T11">
                <a:pos x="T6" y="T7"/>
              </a:cxn>
            </a:cxnLst>
            <a:rect l="T12" t="T13" r="T14" b="T15"/>
            <a:pathLst>
              <a:path w="1059543" h="520095">
                <a:moveTo>
                  <a:pt x="0" y="0"/>
                </a:moveTo>
                <a:cubicBezTo>
                  <a:pt x="89505" y="189895"/>
                  <a:pt x="179010" y="379791"/>
                  <a:pt x="290286" y="449943"/>
                </a:cubicBezTo>
                <a:cubicBezTo>
                  <a:pt x="401562" y="520095"/>
                  <a:pt x="539448" y="486229"/>
                  <a:pt x="667657" y="420915"/>
                </a:cubicBezTo>
                <a:cubicBezTo>
                  <a:pt x="795866" y="355601"/>
                  <a:pt x="927704" y="206829"/>
                  <a:pt x="1059543" y="58057"/>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48" name="任意多边形 17"/>
          <p:cNvSpPr>
            <a:spLocks noChangeArrowheads="1"/>
          </p:cNvSpPr>
          <p:nvPr/>
        </p:nvSpPr>
        <p:spPr bwMode="auto">
          <a:xfrm>
            <a:off x="2776537" y="3894384"/>
            <a:ext cx="1277938" cy="543084"/>
          </a:xfrm>
          <a:custGeom>
            <a:avLst/>
            <a:gdLst>
              <a:gd name="T0" fmla="*/ 0 w 1117600"/>
              <a:gd name="T1" fmla="*/ 29029 h 413657"/>
              <a:gd name="T2" fmla="*/ 217715 w 1117600"/>
              <a:gd name="T3" fmla="*/ 362857 h 413657"/>
              <a:gd name="T4" fmla="*/ 580572 w 1117600"/>
              <a:gd name="T5" fmla="*/ 333829 h 413657"/>
              <a:gd name="T6" fmla="*/ 1117600 w 1117600"/>
              <a:gd name="T7" fmla="*/ 0 h 413657"/>
              <a:gd name="T8" fmla="*/ 1117600 w 1117600"/>
              <a:gd name="T9" fmla="*/ 0 h 413657"/>
              <a:gd name="T10" fmla="*/ 0 60000 65536"/>
              <a:gd name="T11" fmla="*/ 0 60000 65536"/>
              <a:gd name="T12" fmla="*/ 0 60000 65536"/>
              <a:gd name="T13" fmla="*/ 0 60000 65536"/>
              <a:gd name="T14" fmla="*/ 0 60000 65536"/>
              <a:gd name="T15" fmla="*/ 0 w 1117600"/>
              <a:gd name="T16" fmla="*/ 0 h 413657"/>
              <a:gd name="T17" fmla="*/ 1117600 w 1117600"/>
              <a:gd name="T18" fmla="*/ 413657 h 413657"/>
            </a:gdLst>
            <a:ahLst/>
            <a:cxnLst>
              <a:cxn ang="T10">
                <a:pos x="T0" y="T1"/>
              </a:cxn>
              <a:cxn ang="T11">
                <a:pos x="T2" y="T3"/>
              </a:cxn>
              <a:cxn ang="T12">
                <a:pos x="T4" y="T5"/>
              </a:cxn>
              <a:cxn ang="T13">
                <a:pos x="T6" y="T7"/>
              </a:cxn>
              <a:cxn ang="T14">
                <a:pos x="T8" y="T9"/>
              </a:cxn>
            </a:cxnLst>
            <a:rect l="T15" t="T16" r="T17" b="T18"/>
            <a:pathLst>
              <a:path w="1117600" h="413657">
                <a:moveTo>
                  <a:pt x="0" y="29029"/>
                </a:moveTo>
                <a:cubicBezTo>
                  <a:pt x="60476" y="170543"/>
                  <a:pt x="120953" y="312057"/>
                  <a:pt x="217715" y="362857"/>
                </a:cubicBezTo>
                <a:cubicBezTo>
                  <a:pt x="314477" y="413657"/>
                  <a:pt x="430591" y="394305"/>
                  <a:pt x="580572" y="333829"/>
                </a:cubicBezTo>
                <a:cubicBezTo>
                  <a:pt x="730553" y="273353"/>
                  <a:pt x="1117600" y="0"/>
                  <a:pt x="1117600" y="0"/>
                </a:cubicBezTo>
                <a:lnTo>
                  <a:pt x="1117600" y="0"/>
                </a:ln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77" name="直接连接符 19"/>
          <p:cNvSpPr>
            <a:spLocks noChangeShapeType="1"/>
          </p:cNvSpPr>
          <p:nvPr/>
        </p:nvSpPr>
        <p:spPr bwMode="auto">
          <a:xfrm rot="5400000">
            <a:off x="2673350" y="4496920"/>
            <a:ext cx="1957388" cy="1587"/>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直接连接符 20"/>
          <p:cNvSpPr>
            <a:spLocks noChangeShapeType="1"/>
          </p:cNvSpPr>
          <p:nvPr/>
        </p:nvSpPr>
        <p:spPr bwMode="auto">
          <a:xfrm rot="5400000">
            <a:off x="1696244" y="4494539"/>
            <a:ext cx="1955800" cy="1587"/>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直接连接符 21"/>
          <p:cNvSpPr>
            <a:spLocks noChangeShapeType="1"/>
          </p:cNvSpPr>
          <p:nvPr/>
        </p:nvSpPr>
        <p:spPr bwMode="auto">
          <a:xfrm rot="5400000">
            <a:off x="4472781" y="4494539"/>
            <a:ext cx="1955800" cy="1588"/>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任意多边形 25"/>
          <p:cNvSpPr>
            <a:spLocks noChangeArrowheads="1"/>
          </p:cNvSpPr>
          <p:nvPr/>
        </p:nvSpPr>
        <p:spPr bwMode="auto">
          <a:xfrm>
            <a:off x="4724400" y="3347570"/>
            <a:ext cx="1460500" cy="679450"/>
          </a:xfrm>
          <a:custGeom>
            <a:avLst/>
            <a:gdLst>
              <a:gd name="T0" fmla="*/ 0 w 1277257"/>
              <a:gd name="T1" fmla="*/ 91924 h 570896"/>
              <a:gd name="T2" fmla="*/ 522514 w 1277257"/>
              <a:gd name="T3" fmla="*/ 570896 h 570896"/>
              <a:gd name="T4" fmla="*/ 1161143 w 1277257"/>
              <a:gd name="T5" fmla="*/ 91924 h 570896"/>
              <a:gd name="T6" fmla="*/ 1219200 w 1277257"/>
              <a:gd name="T7" fmla="*/ 19353 h 570896"/>
              <a:gd name="T8" fmla="*/ 0 60000 65536"/>
              <a:gd name="T9" fmla="*/ 0 60000 65536"/>
              <a:gd name="T10" fmla="*/ 0 60000 65536"/>
              <a:gd name="T11" fmla="*/ 0 60000 65536"/>
              <a:gd name="T12" fmla="*/ 0 w 1277257"/>
              <a:gd name="T13" fmla="*/ 0 h 570896"/>
              <a:gd name="T14" fmla="*/ 1277257 w 1277257"/>
              <a:gd name="T15" fmla="*/ 570896 h 570896"/>
            </a:gdLst>
            <a:ahLst/>
            <a:cxnLst>
              <a:cxn ang="T8">
                <a:pos x="T0" y="T1"/>
              </a:cxn>
              <a:cxn ang="T9">
                <a:pos x="T2" y="T3"/>
              </a:cxn>
              <a:cxn ang="T10">
                <a:pos x="T4" y="T5"/>
              </a:cxn>
              <a:cxn ang="T11">
                <a:pos x="T6" y="T7"/>
              </a:cxn>
            </a:cxnLst>
            <a:rect l="T12" t="T13" r="T14" b="T15"/>
            <a:pathLst>
              <a:path w="1277257" h="570896">
                <a:moveTo>
                  <a:pt x="0" y="91924"/>
                </a:moveTo>
                <a:cubicBezTo>
                  <a:pt x="164495" y="331410"/>
                  <a:pt x="328990" y="570896"/>
                  <a:pt x="522514" y="570896"/>
                </a:cubicBezTo>
                <a:cubicBezTo>
                  <a:pt x="716038" y="570896"/>
                  <a:pt x="1045029" y="183848"/>
                  <a:pt x="1161143" y="91924"/>
                </a:cubicBezTo>
                <a:cubicBezTo>
                  <a:pt x="1277257" y="0"/>
                  <a:pt x="1248228" y="9676"/>
                  <a:pt x="1219200" y="19353"/>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81" name="任意多边形 26"/>
          <p:cNvSpPr>
            <a:spLocks noChangeArrowheads="1"/>
          </p:cNvSpPr>
          <p:nvPr/>
        </p:nvSpPr>
        <p:spPr bwMode="auto">
          <a:xfrm>
            <a:off x="1747837" y="3263433"/>
            <a:ext cx="1095375" cy="1069975"/>
          </a:xfrm>
          <a:custGeom>
            <a:avLst/>
            <a:gdLst>
              <a:gd name="T0" fmla="*/ 957943 w 957943"/>
              <a:gd name="T1" fmla="*/ 0 h 899886"/>
              <a:gd name="T2" fmla="*/ 391885 w 957943"/>
              <a:gd name="T3" fmla="*/ 725714 h 899886"/>
              <a:gd name="T4" fmla="*/ 0 w 957943"/>
              <a:gd name="T5" fmla="*/ 899886 h 899886"/>
              <a:gd name="T6" fmla="*/ 0 60000 65536"/>
              <a:gd name="T7" fmla="*/ 0 60000 65536"/>
              <a:gd name="T8" fmla="*/ 0 60000 65536"/>
              <a:gd name="T9" fmla="*/ 0 w 957943"/>
              <a:gd name="T10" fmla="*/ 0 h 899886"/>
              <a:gd name="T11" fmla="*/ 957943 w 957943"/>
              <a:gd name="T12" fmla="*/ 899886 h 899886"/>
            </a:gdLst>
            <a:ahLst/>
            <a:cxnLst>
              <a:cxn ang="T6">
                <a:pos x="T0" y="T1"/>
              </a:cxn>
              <a:cxn ang="T7">
                <a:pos x="T2" y="T3"/>
              </a:cxn>
              <a:cxn ang="T8">
                <a:pos x="T4" y="T5"/>
              </a:cxn>
            </a:cxnLst>
            <a:rect l="T9" t="T10" r="T11" b="T12"/>
            <a:pathLst>
              <a:path w="957943" h="899886">
                <a:moveTo>
                  <a:pt x="957943" y="0"/>
                </a:moveTo>
                <a:cubicBezTo>
                  <a:pt x="754742" y="287866"/>
                  <a:pt x="551542" y="575733"/>
                  <a:pt x="391885" y="725714"/>
                </a:cubicBezTo>
                <a:cubicBezTo>
                  <a:pt x="232228" y="875695"/>
                  <a:pt x="116114" y="887790"/>
                  <a:pt x="0" y="899886"/>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82" name="任意多边形 28"/>
          <p:cNvSpPr>
            <a:spLocks noChangeArrowheads="1"/>
          </p:cNvSpPr>
          <p:nvPr/>
        </p:nvSpPr>
        <p:spPr bwMode="auto">
          <a:xfrm rot="19917630">
            <a:off x="2781917" y="3415141"/>
            <a:ext cx="1324327" cy="1031040"/>
          </a:xfrm>
          <a:custGeom>
            <a:avLst/>
            <a:gdLst>
              <a:gd name="T0" fmla="*/ 856342 w 856342"/>
              <a:gd name="T1" fmla="*/ 0 h 1146628"/>
              <a:gd name="T2" fmla="*/ 377371 w 856342"/>
              <a:gd name="T3" fmla="*/ 711200 h 1146628"/>
              <a:gd name="T4" fmla="*/ 0 w 856342"/>
              <a:gd name="T5" fmla="*/ 1146628 h 1146628"/>
              <a:gd name="T6" fmla="*/ 0 60000 65536"/>
              <a:gd name="T7" fmla="*/ 0 60000 65536"/>
              <a:gd name="T8" fmla="*/ 0 60000 65536"/>
              <a:gd name="T9" fmla="*/ 0 w 856342"/>
              <a:gd name="T10" fmla="*/ 0 h 1146628"/>
              <a:gd name="T11" fmla="*/ 856342 w 856342"/>
              <a:gd name="T12" fmla="*/ 1146628 h 1146628"/>
            </a:gdLst>
            <a:ahLst/>
            <a:cxnLst>
              <a:cxn ang="T6">
                <a:pos x="T0" y="T1"/>
              </a:cxn>
              <a:cxn ang="T7">
                <a:pos x="T2" y="T3"/>
              </a:cxn>
              <a:cxn ang="T8">
                <a:pos x="T4" y="T5"/>
              </a:cxn>
            </a:cxnLst>
            <a:rect l="T9" t="T10" r="T11" b="T12"/>
            <a:pathLst>
              <a:path w="856342" h="1146628">
                <a:moveTo>
                  <a:pt x="856342" y="0"/>
                </a:moveTo>
                <a:cubicBezTo>
                  <a:pt x="688218" y="260047"/>
                  <a:pt x="520095" y="520095"/>
                  <a:pt x="377371" y="711200"/>
                </a:cubicBezTo>
                <a:cubicBezTo>
                  <a:pt x="234647" y="902305"/>
                  <a:pt x="117323" y="1024466"/>
                  <a:pt x="0" y="1146628"/>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83" name="任意多边形 29"/>
          <p:cNvSpPr>
            <a:spLocks noChangeArrowheads="1"/>
          </p:cNvSpPr>
          <p:nvPr/>
        </p:nvSpPr>
        <p:spPr bwMode="auto">
          <a:xfrm>
            <a:off x="4751387" y="3314233"/>
            <a:ext cx="746125" cy="1238250"/>
          </a:xfrm>
          <a:custGeom>
            <a:avLst/>
            <a:gdLst>
              <a:gd name="T0" fmla="*/ 653143 w 653143"/>
              <a:gd name="T1" fmla="*/ 0 h 1040191"/>
              <a:gd name="T2" fmla="*/ 537029 w 653143"/>
              <a:gd name="T3" fmla="*/ 391886 h 1040191"/>
              <a:gd name="T4" fmla="*/ 188686 w 653143"/>
              <a:gd name="T5" fmla="*/ 943429 h 1040191"/>
              <a:gd name="T6" fmla="*/ 0 w 653143"/>
              <a:gd name="T7" fmla="*/ 972457 h 1040191"/>
              <a:gd name="T8" fmla="*/ 0 60000 65536"/>
              <a:gd name="T9" fmla="*/ 0 60000 65536"/>
              <a:gd name="T10" fmla="*/ 0 60000 65536"/>
              <a:gd name="T11" fmla="*/ 0 60000 65536"/>
              <a:gd name="T12" fmla="*/ 0 w 653143"/>
              <a:gd name="T13" fmla="*/ 0 h 1040191"/>
              <a:gd name="T14" fmla="*/ 653143 w 653143"/>
              <a:gd name="T15" fmla="*/ 1040191 h 1040191"/>
            </a:gdLst>
            <a:ahLst/>
            <a:cxnLst>
              <a:cxn ang="T8">
                <a:pos x="T0" y="T1"/>
              </a:cxn>
              <a:cxn ang="T9">
                <a:pos x="T2" y="T3"/>
              </a:cxn>
              <a:cxn ang="T10">
                <a:pos x="T4" y="T5"/>
              </a:cxn>
              <a:cxn ang="T11">
                <a:pos x="T6" y="T7"/>
              </a:cxn>
            </a:cxnLst>
            <a:rect l="T12" t="T13" r="T14" b="T15"/>
            <a:pathLst>
              <a:path w="653143" h="1040191">
                <a:moveTo>
                  <a:pt x="653143" y="0"/>
                </a:moveTo>
                <a:cubicBezTo>
                  <a:pt x="633790" y="117324"/>
                  <a:pt x="614438" y="234648"/>
                  <a:pt x="537029" y="391886"/>
                </a:cubicBezTo>
                <a:cubicBezTo>
                  <a:pt x="459620" y="549124"/>
                  <a:pt x="278191" y="846667"/>
                  <a:pt x="188686" y="943429"/>
                </a:cubicBezTo>
                <a:cubicBezTo>
                  <a:pt x="99181" y="1040191"/>
                  <a:pt x="49590" y="1006324"/>
                  <a:pt x="0" y="972457"/>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84" name="TextBox 31"/>
          <p:cNvSpPr>
            <a:spLocks noChangeArrowheads="1"/>
          </p:cNvSpPr>
          <p:nvPr/>
        </p:nvSpPr>
        <p:spPr bwMode="auto">
          <a:xfrm>
            <a:off x="1612900" y="3006258"/>
            <a:ext cx="735012"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AC</a:t>
            </a:r>
            <a:r>
              <a:rPr lang="en-US" altLang="zh-CN" sz="110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p:sp>
        <p:nvSpPr>
          <p:cNvPr id="85" name="TextBox 32"/>
          <p:cNvSpPr>
            <a:spLocks noChangeArrowheads="1"/>
          </p:cNvSpPr>
          <p:nvPr/>
        </p:nvSpPr>
        <p:spPr bwMode="auto">
          <a:xfrm>
            <a:off x="3786187" y="3628558"/>
            <a:ext cx="735013"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AC</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86" name="TextBox 33"/>
          <p:cNvSpPr>
            <a:spLocks noChangeArrowheads="1"/>
          </p:cNvSpPr>
          <p:nvPr/>
        </p:nvSpPr>
        <p:spPr bwMode="auto">
          <a:xfrm>
            <a:off x="4572000" y="3128495"/>
            <a:ext cx="735012"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AC</a:t>
            </a:r>
            <a:r>
              <a:rPr lang="en-US" altLang="zh-CN" sz="1100" dirty="0">
                <a:solidFill>
                  <a:srgbClr val="000000"/>
                </a:solidFill>
                <a:sym typeface="Arial" panose="020B0604020202020204" pitchFamily="34" charset="0"/>
              </a:rPr>
              <a:t>3</a:t>
            </a:r>
            <a:endParaRPr lang="zh-CN" altLang="en-US" sz="1100" dirty="0">
              <a:solidFill>
                <a:srgbClr val="000000"/>
              </a:solidFill>
              <a:sym typeface="Arial" panose="020B0604020202020204" pitchFamily="34" charset="0"/>
            </a:endParaRPr>
          </a:p>
        </p:txBody>
      </p:sp>
      <p:sp>
        <p:nvSpPr>
          <p:cNvPr id="87" name="TextBox 34"/>
          <p:cNvSpPr>
            <a:spLocks noChangeArrowheads="1"/>
          </p:cNvSpPr>
          <p:nvPr/>
        </p:nvSpPr>
        <p:spPr bwMode="auto">
          <a:xfrm>
            <a:off x="1366837" y="4368333"/>
            <a:ext cx="735013"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MC</a:t>
            </a:r>
            <a:r>
              <a:rPr lang="en-US" altLang="zh-CN" sz="110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p:sp>
        <p:nvSpPr>
          <p:cNvPr id="88" name="TextBox 35"/>
          <p:cNvSpPr>
            <a:spLocks noChangeArrowheads="1"/>
          </p:cNvSpPr>
          <p:nvPr/>
        </p:nvSpPr>
        <p:spPr bwMode="auto">
          <a:xfrm>
            <a:off x="2718448" y="4540745"/>
            <a:ext cx="735012"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MC</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89" name="TextBox 36"/>
          <p:cNvSpPr>
            <a:spLocks noChangeArrowheads="1"/>
          </p:cNvSpPr>
          <p:nvPr/>
        </p:nvSpPr>
        <p:spPr bwMode="auto">
          <a:xfrm>
            <a:off x="4470400" y="4538195"/>
            <a:ext cx="735012"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MC</a:t>
            </a:r>
            <a:r>
              <a:rPr lang="en-US" altLang="zh-CN" sz="1100" dirty="0">
                <a:solidFill>
                  <a:srgbClr val="000000"/>
                </a:solidFill>
                <a:sym typeface="Arial" panose="020B0604020202020204" pitchFamily="34" charset="0"/>
              </a:rPr>
              <a:t>3</a:t>
            </a:r>
            <a:endParaRPr lang="zh-CN" altLang="en-US" sz="1100" dirty="0">
              <a:solidFill>
                <a:srgbClr val="000000"/>
              </a:solidFill>
              <a:sym typeface="Arial" panose="020B0604020202020204" pitchFamily="34" charset="0"/>
            </a:endParaRPr>
          </a:p>
        </p:txBody>
      </p:sp>
      <p:sp>
        <p:nvSpPr>
          <p:cNvPr id="90" name="TextBox 37"/>
          <p:cNvSpPr>
            <a:spLocks noChangeArrowheads="1"/>
          </p:cNvSpPr>
          <p:nvPr/>
        </p:nvSpPr>
        <p:spPr bwMode="auto">
          <a:xfrm>
            <a:off x="6510337" y="2836395"/>
            <a:ext cx="735013"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LAC</a:t>
            </a:r>
            <a:endParaRPr lang="zh-CN" altLang="en-US" sz="1100" dirty="0">
              <a:solidFill>
                <a:srgbClr val="000000"/>
              </a:solidFill>
              <a:sym typeface="Arial" panose="020B0604020202020204" pitchFamily="34" charset="0"/>
            </a:endParaRPr>
          </a:p>
        </p:txBody>
      </p:sp>
      <p:sp>
        <p:nvSpPr>
          <p:cNvPr id="91" name="TextBox 38"/>
          <p:cNvSpPr>
            <a:spLocks noChangeArrowheads="1"/>
          </p:cNvSpPr>
          <p:nvPr/>
        </p:nvSpPr>
        <p:spPr bwMode="auto">
          <a:xfrm>
            <a:off x="5367337" y="2666533"/>
            <a:ext cx="8985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LMC</a:t>
            </a:r>
            <a:endParaRPr lang="zh-CN" altLang="en-US" sz="1100" dirty="0">
              <a:solidFill>
                <a:srgbClr val="000000"/>
              </a:solidFill>
              <a:sym typeface="Arial" panose="020B0604020202020204" pitchFamily="34" charset="0"/>
            </a:endParaRPr>
          </a:p>
        </p:txBody>
      </p:sp>
      <p:sp>
        <p:nvSpPr>
          <p:cNvPr id="92" name="TextBox 40"/>
          <p:cNvSpPr>
            <a:spLocks noChangeArrowheads="1"/>
          </p:cNvSpPr>
          <p:nvPr/>
        </p:nvSpPr>
        <p:spPr bwMode="auto">
          <a:xfrm>
            <a:off x="2428875" y="5473233"/>
            <a:ext cx="5715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Q</a:t>
            </a:r>
            <a:r>
              <a:rPr lang="en-US" altLang="zh-CN" sz="1100">
                <a:solidFill>
                  <a:srgbClr val="000000"/>
                </a:solidFill>
                <a:sym typeface="Arial" panose="020B0604020202020204" pitchFamily="34" charset="0"/>
              </a:rPr>
              <a:t>1</a:t>
            </a:r>
            <a:endParaRPr lang="zh-CN" altLang="en-US" sz="1100">
              <a:solidFill>
                <a:srgbClr val="000000"/>
              </a:solidFill>
              <a:sym typeface="Arial" panose="020B0604020202020204" pitchFamily="34" charset="0"/>
            </a:endParaRPr>
          </a:p>
        </p:txBody>
      </p:sp>
      <p:sp>
        <p:nvSpPr>
          <p:cNvPr id="93" name="TextBox 41"/>
          <p:cNvSpPr>
            <a:spLocks noChangeArrowheads="1"/>
          </p:cNvSpPr>
          <p:nvPr/>
        </p:nvSpPr>
        <p:spPr bwMode="auto">
          <a:xfrm>
            <a:off x="714375" y="1985495"/>
            <a:ext cx="571500" cy="81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p>
          <a:p>
            <a:r>
              <a:rPr lang="en-US" altLang="zh-CN" dirty="0">
                <a:solidFill>
                  <a:srgbClr val="000000"/>
                </a:solidFill>
                <a:sym typeface="Arial" panose="020B0604020202020204" pitchFamily="34" charset="0"/>
              </a:rPr>
              <a:t>C</a:t>
            </a:r>
          </a:p>
          <a:p>
            <a:endParaRPr lang="zh-CN" altLang="en-US" sz="1100" dirty="0">
              <a:solidFill>
                <a:srgbClr val="000000"/>
              </a:solidFill>
              <a:sym typeface="Arial" panose="020B0604020202020204" pitchFamily="34" charset="0"/>
            </a:endParaRPr>
          </a:p>
        </p:txBody>
      </p:sp>
      <p:sp>
        <p:nvSpPr>
          <p:cNvPr id="94" name="TextBox 42"/>
          <p:cNvSpPr>
            <a:spLocks noChangeArrowheads="1"/>
          </p:cNvSpPr>
          <p:nvPr/>
        </p:nvSpPr>
        <p:spPr bwMode="auto">
          <a:xfrm>
            <a:off x="877887" y="5473233"/>
            <a:ext cx="5715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O</a:t>
            </a:r>
            <a:endParaRPr lang="zh-CN" altLang="en-US" sz="1100" dirty="0">
              <a:solidFill>
                <a:srgbClr val="000000"/>
              </a:solidFill>
              <a:sym typeface="Arial" panose="020B0604020202020204" pitchFamily="34" charset="0"/>
            </a:endParaRPr>
          </a:p>
        </p:txBody>
      </p:sp>
      <p:sp>
        <p:nvSpPr>
          <p:cNvPr id="95" name="TextBox 43"/>
          <p:cNvSpPr>
            <a:spLocks noChangeArrowheads="1"/>
          </p:cNvSpPr>
          <p:nvPr/>
        </p:nvSpPr>
        <p:spPr bwMode="auto">
          <a:xfrm>
            <a:off x="5205412" y="5473233"/>
            <a:ext cx="5715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3</a:t>
            </a:r>
            <a:endParaRPr lang="zh-CN" altLang="en-US" sz="1100" dirty="0">
              <a:solidFill>
                <a:srgbClr val="000000"/>
              </a:solidFill>
              <a:sym typeface="Arial" panose="020B0604020202020204" pitchFamily="34" charset="0"/>
            </a:endParaRPr>
          </a:p>
        </p:txBody>
      </p:sp>
      <p:sp>
        <p:nvSpPr>
          <p:cNvPr id="96" name="TextBox 44"/>
          <p:cNvSpPr>
            <a:spLocks noChangeArrowheads="1"/>
          </p:cNvSpPr>
          <p:nvPr/>
        </p:nvSpPr>
        <p:spPr bwMode="auto">
          <a:xfrm>
            <a:off x="7000875" y="5473233"/>
            <a:ext cx="5715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Q</a:t>
            </a:r>
            <a:endParaRPr lang="zh-CN" altLang="en-US">
              <a:solidFill>
                <a:srgbClr val="000000"/>
              </a:solidFill>
              <a:sym typeface="Arial" panose="020B0604020202020204" pitchFamily="34" charset="0"/>
            </a:endParaRPr>
          </a:p>
        </p:txBody>
      </p:sp>
      <p:sp>
        <p:nvSpPr>
          <p:cNvPr id="97" name="TextBox 46"/>
          <p:cNvSpPr>
            <a:spLocks noChangeArrowheads="1"/>
          </p:cNvSpPr>
          <p:nvPr/>
        </p:nvSpPr>
        <p:spPr bwMode="auto">
          <a:xfrm>
            <a:off x="3408362" y="5473233"/>
            <a:ext cx="5715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98" name="TextBox 47"/>
          <p:cNvSpPr>
            <a:spLocks noChangeArrowheads="1"/>
          </p:cNvSpPr>
          <p:nvPr/>
        </p:nvSpPr>
        <p:spPr bwMode="auto">
          <a:xfrm>
            <a:off x="714375" y="3842870"/>
            <a:ext cx="571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C</a:t>
            </a:r>
            <a:r>
              <a:rPr lang="en-US" altLang="zh-CN" sz="1100" dirty="0">
                <a:solidFill>
                  <a:srgbClr val="000000"/>
                </a:solidFill>
                <a:sym typeface="Arial" panose="020B0604020202020204" pitchFamily="34" charset="0"/>
              </a:rPr>
              <a:t>3</a:t>
            </a:r>
            <a:endParaRPr lang="zh-CN" altLang="en-US" sz="1100" dirty="0">
              <a:solidFill>
                <a:srgbClr val="000000"/>
              </a:solidFill>
              <a:sym typeface="Arial" panose="020B0604020202020204" pitchFamily="34" charset="0"/>
            </a:endParaRPr>
          </a:p>
        </p:txBody>
      </p:sp>
      <p:sp>
        <p:nvSpPr>
          <p:cNvPr id="99" name="直接连接符 48"/>
          <p:cNvSpPr>
            <a:spLocks noChangeShapeType="1"/>
          </p:cNvSpPr>
          <p:nvPr/>
        </p:nvSpPr>
        <p:spPr bwMode="auto">
          <a:xfrm flipV="1">
            <a:off x="1204912" y="3833345"/>
            <a:ext cx="1489075" cy="23813"/>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直接连接符 51"/>
          <p:cNvSpPr>
            <a:spLocks noChangeShapeType="1"/>
          </p:cNvSpPr>
          <p:nvPr/>
        </p:nvSpPr>
        <p:spPr bwMode="auto">
          <a:xfrm>
            <a:off x="1204912" y="3942883"/>
            <a:ext cx="4244975" cy="1587"/>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直接连接符 53"/>
          <p:cNvSpPr>
            <a:spLocks noChangeShapeType="1"/>
          </p:cNvSpPr>
          <p:nvPr/>
        </p:nvSpPr>
        <p:spPr bwMode="auto">
          <a:xfrm>
            <a:off x="1204912" y="4198470"/>
            <a:ext cx="2447925" cy="1588"/>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 name="TextBox 55"/>
          <p:cNvSpPr>
            <a:spLocks noChangeArrowheads="1"/>
          </p:cNvSpPr>
          <p:nvPr/>
        </p:nvSpPr>
        <p:spPr bwMode="auto">
          <a:xfrm>
            <a:off x="714375" y="3176120"/>
            <a:ext cx="5715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r>
              <a:rPr lang="en-US" altLang="zh-CN" sz="1100" dirty="0">
                <a:solidFill>
                  <a:srgbClr val="000000"/>
                </a:solidFill>
                <a:sym typeface="Arial" panose="020B0604020202020204" pitchFamily="34" charset="0"/>
              </a:rPr>
              <a:t>0</a:t>
            </a:r>
            <a:endParaRPr lang="zh-CN" altLang="en-US" sz="1100" dirty="0">
              <a:solidFill>
                <a:srgbClr val="000000"/>
              </a:solidFill>
              <a:sym typeface="Arial" panose="020B0604020202020204" pitchFamily="34" charset="0"/>
            </a:endParaRPr>
          </a:p>
        </p:txBody>
      </p:sp>
      <p:sp>
        <p:nvSpPr>
          <p:cNvPr id="103" name="TextBox 56"/>
          <p:cNvSpPr>
            <a:spLocks noChangeArrowheads="1"/>
          </p:cNvSpPr>
          <p:nvPr/>
        </p:nvSpPr>
        <p:spPr bwMode="auto">
          <a:xfrm>
            <a:off x="714375" y="3587283"/>
            <a:ext cx="571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C</a:t>
            </a:r>
            <a:r>
              <a:rPr lang="en-US" altLang="zh-CN" sz="110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p:sp>
        <p:nvSpPr>
          <p:cNvPr id="104" name="TextBox 57"/>
          <p:cNvSpPr>
            <a:spLocks noChangeArrowheads="1"/>
          </p:cNvSpPr>
          <p:nvPr/>
        </p:nvSpPr>
        <p:spPr bwMode="auto">
          <a:xfrm>
            <a:off x="714375" y="4096870"/>
            <a:ext cx="571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C</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105" name="圆角矩形标注 49"/>
          <p:cNvSpPr>
            <a:spLocks noChangeArrowheads="1"/>
          </p:cNvSpPr>
          <p:nvPr/>
        </p:nvSpPr>
        <p:spPr bwMode="auto">
          <a:xfrm>
            <a:off x="1674018" y="1457266"/>
            <a:ext cx="1214438" cy="1219545"/>
          </a:xfrm>
          <a:prstGeom prst="wedgeRoundRectCallout">
            <a:avLst>
              <a:gd name="adj1" fmla="val 31587"/>
              <a:gd name="adj2" fmla="val 117340"/>
              <a:gd name="adj3" fmla="val 16667"/>
            </a:avLst>
          </a:prstGeom>
          <a:noFill/>
          <a:ln w="25400" cap="flat" cmpd="sng">
            <a:solidFill>
              <a:schemeClr val="accent3">
                <a:lumMod val="50000"/>
              </a:schemeClr>
            </a:solidFill>
            <a:miter lim="800000"/>
            <a:headEnd/>
            <a:tailEnd/>
          </a:ln>
        </p:spPr>
        <p:txBody>
          <a:bodyPr anchor="ctr"/>
          <a:lstStyle/>
          <a:p>
            <a:pPr algn="ctr">
              <a:lnSpc>
                <a:spcPct val="150000"/>
              </a:lnSpc>
            </a:pPr>
            <a:r>
              <a:rPr lang="zh-CN" altLang="en-US" sz="1600" dirty="0">
                <a:latin typeface="微软雅黑" panose="020B0503020204020204" pitchFamily="34" charset="-122"/>
                <a:ea typeface="微软雅黑" panose="020B0503020204020204" pitchFamily="34" charset="-122"/>
              </a:rPr>
              <a:t>规模</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1</a:t>
            </a:r>
            <a:r>
              <a:rPr lang="zh-CN" altLang="en-US" sz="1600" dirty="0">
                <a:latin typeface="微软雅黑" panose="020B0503020204020204" pitchFamily="34" charset="-122"/>
                <a:ea typeface="微软雅黑" panose="020B0503020204020204" pitchFamily="34" charset="-122"/>
              </a:rPr>
              <a:t>下短期利润最大化</a:t>
            </a:r>
          </a:p>
        </p:txBody>
      </p:sp>
      <p:sp>
        <p:nvSpPr>
          <p:cNvPr id="106" name="圆角矩形标注 54"/>
          <p:cNvSpPr>
            <a:spLocks noChangeArrowheads="1"/>
          </p:cNvSpPr>
          <p:nvPr/>
        </p:nvSpPr>
        <p:spPr bwMode="auto">
          <a:xfrm>
            <a:off x="4137024" y="1360020"/>
            <a:ext cx="1214437" cy="1597024"/>
          </a:xfrm>
          <a:prstGeom prst="wedgeRoundRectCallout">
            <a:avLst>
              <a:gd name="adj1" fmla="val -83152"/>
              <a:gd name="adj2" fmla="val 108297"/>
              <a:gd name="adj3" fmla="val 16667"/>
            </a:avLst>
          </a:prstGeom>
          <a:noFill/>
          <a:ln w="25400" cap="flat" cmpd="sng">
            <a:solidFill>
              <a:schemeClr val="accent3">
                <a:lumMod val="50000"/>
              </a:schemeClr>
            </a:solidFill>
            <a:miter lim="800000"/>
            <a:headEnd/>
            <a:tailEnd/>
          </a:ln>
        </p:spPr>
        <p:txBody>
          <a:bodyPr anchor="ctr"/>
          <a:lstStyle/>
          <a:p>
            <a:pPr algn="ctr">
              <a:lnSpc>
                <a:spcPct val="150000"/>
              </a:lnSpc>
            </a:pPr>
            <a:r>
              <a:rPr lang="zh-CN" altLang="en-US" dirty="0">
                <a:latin typeface="微软雅黑" panose="020B0503020204020204" pitchFamily="34" charset="-122"/>
                <a:ea typeface="微软雅黑" panose="020B0503020204020204" pitchFamily="34" charset="-122"/>
              </a:rPr>
              <a:t>规模</a:t>
            </a:r>
            <a:r>
              <a:rPr lang="en-US" altLang="zh-CN"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2</a:t>
            </a:r>
            <a:r>
              <a:rPr lang="zh-CN" altLang="en-US" dirty="0">
                <a:latin typeface="微软雅黑" panose="020B0503020204020204" pitchFamily="34" charset="-122"/>
                <a:ea typeface="微软雅黑" panose="020B0503020204020204" pitchFamily="34" charset="-122"/>
              </a:rPr>
              <a:t>下短期利润最大化</a:t>
            </a:r>
          </a:p>
        </p:txBody>
      </p:sp>
      <p:sp>
        <p:nvSpPr>
          <p:cNvPr id="107" name="圆角矩形标注 55"/>
          <p:cNvSpPr>
            <a:spLocks noChangeArrowheads="1"/>
          </p:cNvSpPr>
          <p:nvPr/>
        </p:nvSpPr>
        <p:spPr bwMode="auto">
          <a:xfrm>
            <a:off x="6715125" y="3771432"/>
            <a:ext cx="1928812" cy="1385687"/>
          </a:xfrm>
          <a:prstGeom prst="wedgeRoundRectCallout">
            <a:avLst>
              <a:gd name="adj1" fmla="val -123071"/>
              <a:gd name="adj2" fmla="val -53313"/>
              <a:gd name="adj3" fmla="val 16667"/>
            </a:avLst>
          </a:prstGeom>
          <a:noFill/>
          <a:ln w="25400" cap="flat" cmpd="sng">
            <a:solidFill>
              <a:schemeClr val="accent3">
                <a:lumMod val="50000"/>
              </a:schemeClr>
            </a:solidFill>
            <a:miter lim="800000"/>
            <a:headEnd/>
            <a:tailEnd/>
          </a:ln>
        </p:spPr>
        <p:txBody>
          <a:bodyPr anchor="ctr"/>
          <a:lstStyle/>
          <a:p>
            <a:pPr algn="ctr">
              <a:lnSpc>
                <a:spcPct val="150000"/>
              </a:lnSpc>
            </a:pPr>
            <a:r>
              <a:rPr lang="zh-CN" altLang="en-US" dirty="0">
                <a:latin typeface="微软雅黑" panose="020B0503020204020204" pitchFamily="34" charset="-122"/>
                <a:ea typeface="微软雅黑" panose="020B0503020204020204" pitchFamily="34" charset="-122"/>
              </a:rPr>
              <a:t>最优短期利润最大化（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长期利润最大化）</a:t>
            </a:r>
          </a:p>
        </p:txBody>
      </p:sp>
    </p:spTree>
    <p:extLst>
      <p:ext uri="{BB962C8B-B14F-4D97-AF65-F5344CB8AC3E}">
        <p14:creationId xmlns:p14="http://schemas.microsoft.com/office/powerpoint/2010/main" val="354731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randombar(horizontal)">
                                      <p:cBhvr>
                                        <p:cTn id="7" dur="500"/>
                                        <p:tgtEl>
                                          <p:spTgt spid="93"/>
                                        </p:tgtEl>
                                      </p:cBhvr>
                                    </p:animEffect>
                                  </p:childTnLst>
                                </p:cTn>
                              </p:par>
                              <p:par>
                                <p:cTn id="8" presetID="22" presetClass="entr" presetSubtype="4"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wipe(down)">
                                      <p:cBhvr>
                                        <p:cTn id="10" dur="500"/>
                                        <p:tgtEl>
                                          <p:spTgt spid="39"/>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94"/>
                                        </p:tgtEl>
                                        <p:attrNameLst>
                                          <p:attrName>style.visibility</p:attrName>
                                        </p:attrNameLst>
                                      </p:cBhvr>
                                      <p:to>
                                        <p:strVal val="visible"/>
                                      </p:to>
                                    </p:set>
                                    <p:animEffect transition="in" filter="randombar(horizontal)">
                                      <p:cBhvr>
                                        <p:cTn id="13" dur="500"/>
                                        <p:tgtEl>
                                          <p:spTgt spid="94"/>
                                        </p:tgtEl>
                                      </p:cBhvr>
                                    </p:animEffect>
                                  </p:childTnLst>
                                </p:cTn>
                              </p:par>
                              <p:par>
                                <p:cTn id="14" presetID="22" presetClass="entr" presetSubtype="8" fill="hold"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wipe(left)">
                                      <p:cBhvr>
                                        <p:cTn id="16" dur="500"/>
                                        <p:tgtEl>
                                          <p:spTgt spid="40"/>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96"/>
                                        </p:tgtEl>
                                        <p:attrNameLst>
                                          <p:attrName>style.visibility</p:attrName>
                                        </p:attrNameLst>
                                      </p:cBhvr>
                                      <p:to>
                                        <p:strVal val="visible"/>
                                      </p:to>
                                    </p:set>
                                    <p:animEffect transition="in" filter="randombar(horizontal)">
                                      <p:cBhvr>
                                        <p:cTn id="19" dur="500"/>
                                        <p:tgtEl>
                                          <p:spTgt spid="96"/>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grpId="0" nodeType="clickEffect">
                                  <p:stCondLst>
                                    <p:cond delay="0"/>
                                  </p:stCondLst>
                                  <p:childTnLst>
                                    <p:set>
                                      <p:cBhvr>
                                        <p:cTn id="23" dur="1" fill="hold">
                                          <p:stCondLst>
                                            <p:cond delay="0"/>
                                          </p:stCondLst>
                                        </p:cTn>
                                        <p:tgtEl>
                                          <p:spTgt spid="102"/>
                                        </p:tgtEl>
                                        <p:attrNameLst>
                                          <p:attrName>style.visibility</p:attrName>
                                        </p:attrNameLst>
                                      </p:cBhvr>
                                      <p:to>
                                        <p:strVal val="visible"/>
                                      </p:to>
                                    </p:set>
                                    <p:animEffect transition="in" filter="randombar(horizontal)">
                                      <p:cBhvr>
                                        <p:cTn id="24" dur="500"/>
                                        <p:tgtEl>
                                          <p:spTgt spid="102"/>
                                        </p:tgtEl>
                                      </p:cBhvr>
                                    </p:animEffect>
                                  </p:childTnLst>
                                </p:cTn>
                              </p:par>
                              <p:par>
                                <p:cTn id="25" presetID="22" presetClass="entr" presetSubtype="8"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left)">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wipe(left)">
                                      <p:cBhvr>
                                        <p:cTn id="32" dur="500"/>
                                        <p:tgtEl>
                                          <p:spTgt spid="47"/>
                                        </p:tgtEl>
                                      </p:cBhvr>
                                    </p:animEffect>
                                  </p:childTnLst>
                                </p:cTn>
                              </p:par>
                            </p:childTnLst>
                          </p:cTn>
                        </p:par>
                        <p:par>
                          <p:cTn id="33" fill="hold">
                            <p:stCondLst>
                              <p:cond delay="500"/>
                            </p:stCondLst>
                            <p:childTnLst>
                              <p:par>
                                <p:cTn id="34" presetID="14" presetClass="entr" presetSubtype="10" fill="hold" grpId="0" nodeType="afterEffect">
                                  <p:stCondLst>
                                    <p:cond delay="0"/>
                                  </p:stCondLst>
                                  <p:childTnLst>
                                    <p:set>
                                      <p:cBhvr>
                                        <p:cTn id="35" dur="1" fill="hold">
                                          <p:stCondLst>
                                            <p:cond delay="0"/>
                                          </p:stCondLst>
                                        </p:cTn>
                                        <p:tgtEl>
                                          <p:spTgt spid="84"/>
                                        </p:tgtEl>
                                        <p:attrNameLst>
                                          <p:attrName>style.visibility</p:attrName>
                                        </p:attrNameLst>
                                      </p:cBhvr>
                                      <p:to>
                                        <p:strVal val="visible"/>
                                      </p:to>
                                    </p:set>
                                    <p:animEffect transition="in" filter="randombar(horizontal)">
                                      <p:cBhvr>
                                        <p:cTn id="36" dur="500"/>
                                        <p:tgtEl>
                                          <p:spTgt spid="8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wipe(left)">
                                      <p:cBhvr>
                                        <p:cTn id="41" dur="500"/>
                                        <p:tgtEl>
                                          <p:spTgt spid="81"/>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87"/>
                                        </p:tgtEl>
                                        <p:attrNameLst>
                                          <p:attrName>style.visibility</p:attrName>
                                        </p:attrNameLst>
                                      </p:cBhvr>
                                      <p:to>
                                        <p:strVal val="visible"/>
                                      </p:to>
                                    </p:set>
                                    <p:animEffect transition="in" filter="randombar(horizontal)">
                                      <p:cBhvr>
                                        <p:cTn id="46" dur="500"/>
                                        <p:tgtEl>
                                          <p:spTgt spid="8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78"/>
                                        </p:tgtEl>
                                        <p:attrNameLst>
                                          <p:attrName>style.visibility</p:attrName>
                                        </p:attrNameLst>
                                      </p:cBhvr>
                                      <p:to>
                                        <p:strVal val="visible"/>
                                      </p:to>
                                    </p:set>
                                    <p:animEffect transition="in" filter="wipe(up)">
                                      <p:cBhvr>
                                        <p:cTn id="51" dur="500"/>
                                        <p:tgtEl>
                                          <p:spTgt spid="78"/>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103"/>
                                        </p:tgtEl>
                                        <p:attrNameLst>
                                          <p:attrName>style.visibility</p:attrName>
                                        </p:attrNameLst>
                                      </p:cBhvr>
                                      <p:to>
                                        <p:strVal val="visible"/>
                                      </p:to>
                                    </p:set>
                                    <p:animEffect transition="in" filter="randombar(horizontal)">
                                      <p:cBhvr>
                                        <p:cTn id="56" dur="500"/>
                                        <p:tgtEl>
                                          <p:spTgt spid="103"/>
                                        </p:tgtEl>
                                      </p:cBhvr>
                                    </p:animEffect>
                                  </p:childTnLst>
                                </p:cTn>
                              </p:par>
                              <p:par>
                                <p:cTn id="57" presetID="22" presetClass="entr" presetSubtype="8" fill="hold" nodeType="withEffect">
                                  <p:stCondLst>
                                    <p:cond delay="0"/>
                                  </p:stCondLst>
                                  <p:childTnLst>
                                    <p:set>
                                      <p:cBhvr>
                                        <p:cTn id="58" dur="1" fill="hold">
                                          <p:stCondLst>
                                            <p:cond delay="0"/>
                                          </p:stCondLst>
                                        </p:cTn>
                                        <p:tgtEl>
                                          <p:spTgt spid="99"/>
                                        </p:tgtEl>
                                        <p:attrNameLst>
                                          <p:attrName>style.visibility</p:attrName>
                                        </p:attrNameLst>
                                      </p:cBhvr>
                                      <p:to>
                                        <p:strVal val="visible"/>
                                      </p:to>
                                    </p:set>
                                    <p:animEffect transition="in" filter="wipe(left)">
                                      <p:cBhvr>
                                        <p:cTn id="59" dur="500"/>
                                        <p:tgtEl>
                                          <p:spTgt spid="99"/>
                                        </p:tgtEl>
                                      </p:cBhvr>
                                    </p:animEffect>
                                  </p:childTnLst>
                                </p:cTn>
                              </p:par>
                              <p:par>
                                <p:cTn id="60" presetID="5" presetClass="entr" presetSubtype="10" fill="hold" nodeType="withEffect">
                                  <p:stCondLst>
                                    <p:cond delay="0"/>
                                  </p:stCondLst>
                                  <p:childTnLst>
                                    <p:set>
                                      <p:cBhvr>
                                        <p:cTn id="61" dur="1" fill="hold">
                                          <p:stCondLst>
                                            <p:cond delay="0"/>
                                          </p:stCondLst>
                                        </p:cTn>
                                        <p:tgtEl>
                                          <p:spTgt spid="92"/>
                                        </p:tgtEl>
                                        <p:attrNameLst>
                                          <p:attrName>style.visibility</p:attrName>
                                        </p:attrNameLst>
                                      </p:cBhvr>
                                      <p:to>
                                        <p:strVal val="visible"/>
                                      </p:to>
                                    </p:set>
                                    <p:animEffect>
                                      <p:cBhvr>
                                        <p:cTn id="62" dur="500"/>
                                        <p:tgtEl>
                                          <p:spTgt spid="92"/>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05"/>
                                        </p:tgtEl>
                                        <p:attrNameLst>
                                          <p:attrName>style.visibility</p:attrName>
                                        </p:attrNameLst>
                                      </p:cBhvr>
                                      <p:to>
                                        <p:strVal val="visible"/>
                                      </p:to>
                                    </p:set>
                                    <p:anim calcmode="lin" valueType="num">
                                      <p:cBhvr>
                                        <p:cTn id="67" dur="500" fill="hold"/>
                                        <p:tgtEl>
                                          <p:spTgt spid="105"/>
                                        </p:tgtEl>
                                        <p:attrNameLst>
                                          <p:attrName>ppt_x</p:attrName>
                                        </p:attrNameLst>
                                      </p:cBhvr>
                                      <p:tavLst>
                                        <p:tav tm="0">
                                          <p:val>
                                            <p:strVal val="#ppt_x"/>
                                          </p:val>
                                        </p:tav>
                                        <p:tav tm="100000">
                                          <p:val>
                                            <p:strVal val="#ppt_x"/>
                                          </p:val>
                                        </p:tav>
                                      </p:tavLst>
                                    </p:anim>
                                    <p:anim calcmode="lin" valueType="num">
                                      <p:cBhvr>
                                        <p:cTn id="68"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48"/>
                                        </p:tgtEl>
                                        <p:attrNameLst>
                                          <p:attrName>style.visibility</p:attrName>
                                        </p:attrNameLst>
                                      </p:cBhvr>
                                      <p:to>
                                        <p:strVal val="visible"/>
                                      </p:to>
                                    </p:set>
                                    <p:animEffect transition="in" filter="wipe(left)">
                                      <p:cBhvr>
                                        <p:cTn id="73" dur="500"/>
                                        <p:tgtEl>
                                          <p:spTgt spid="48"/>
                                        </p:tgtEl>
                                      </p:cBhvr>
                                    </p:animEffect>
                                  </p:childTnLst>
                                </p:cTn>
                              </p:par>
                              <p:par>
                                <p:cTn id="74" presetID="14" presetClass="entr" presetSubtype="10" fill="hold" grpId="0" nodeType="withEffect">
                                  <p:stCondLst>
                                    <p:cond delay="0"/>
                                  </p:stCondLst>
                                  <p:childTnLst>
                                    <p:set>
                                      <p:cBhvr>
                                        <p:cTn id="75" dur="1" fill="hold">
                                          <p:stCondLst>
                                            <p:cond delay="0"/>
                                          </p:stCondLst>
                                        </p:cTn>
                                        <p:tgtEl>
                                          <p:spTgt spid="85"/>
                                        </p:tgtEl>
                                        <p:attrNameLst>
                                          <p:attrName>style.visibility</p:attrName>
                                        </p:attrNameLst>
                                      </p:cBhvr>
                                      <p:to>
                                        <p:strVal val="visible"/>
                                      </p:to>
                                    </p:set>
                                    <p:animEffect transition="in" filter="randombar(horizontal)">
                                      <p:cBhvr>
                                        <p:cTn id="76" dur="500"/>
                                        <p:tgtEl>
                                          <p:spTgt spid="8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82"/>
                                        </p:tgtEl>
                                        <p:attrNameLst>
                                          <p:attrName>style.visibility</p:attrName>
                                        </p:attrNameLst>
                                      </p:cBhvr>
                                      <p:to>
                                        <p:strVal val="visible"/>
                                      </p:to>
                                    </p:set>
                                    <p:animEffect transition="in" filter="wipe(left)">
                                      <p:cBhvr>
                                        <p:cTn id="81" dur="500"/>
                                        <p:tgtEl>
                                          <p:spTgt spid="82"/>
                                        </p:tgtEl>
                                      </p:cBhvr>
                                    </p:animEffect>
                                  </p:childTnLst>
                                </p:cTn>
                              </p:par>
                            </p:childTnLst>
                          </p:cTn>
                        </p:par>
                        <p:par>
                          <p:cTn id="82" fill="hold">
                            <p:stCondLst>
                              <p:cond delay="500"/>
                            </p:stCondLst>
                            <p:childTnLst>
                              <p:par>
                                <p:cTn id="83" presetID="14" presetClass="entr" presetSubtype="10" fill="hold" grpId="0" nodeType="afterEffect">
                                  <p:stCondLst>
                                    <p:cond delay="0"/>
                                  </p:stCondLst>
                                  <p:childTnLst>
                                    <p:set>
                                      <p:cBhvr>
                                        <p:cTn id="84" dur="1" fill="hold">
                                          <p:stCondLst>
                                            <p:cond delay="0"/>
                                          </p:stCondLst>
                                        </p:cTn>
                                        <p:tgtEl>
                                          <p:spTgt spid="88"/>
                                        </p:tgtEl>
                                        <p:attrNameLst>
                                          <p:attrName>style.visibility</p:attrName>
                                        </p:attrNameLst>
                                      </p:cBhvr>
                                      <p:to>
                                        <p:strVal val="visible"/>
                                      </p:to>
                                    </p:set>
                                    <p:animEffect transition="in" filter="randombar(horizontal)">
                                      <p:cBhvr>
                                        <p:cTn id="85" dur="500"/>
                                        <p:tgtEl>
                                          <p:spTgt spid="88"/>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01"/>
                                        </p:tgtEl>
                                        <p:attrNameLst>
                                          <p:attrName>style.visibility</p:attrName>
                                        </p:attrNameLst>
                                      </p:cBhvr>
                                      <p:to>
                                        <p:strVal val="visible"/>
                                      </p:to>
                                    </p:set>
                                    <p:animEffect transition="in" filter="wipe(left)">
                                      <p:cBhvr>
                                        <p:cTn id="90" dur="500"/>
                                        <p:tgtEl>
                                          <p:spTgt spid="101"/>
                                        </p:tgtEl>
                                      </p:cBhvr>
                                    </p:animEffect>
                                  </p:childTnLst>
                                </p:cTn>
                              </p:par>
                              <p:par>
                                <p:cTn id="91" presetID="22" presetClass="entr" presetSubtype="1" fill="hold" nodeType="withEffect">
                                  <p:stCondLst>
                                    <p:cond delay="0"/>
                                  </p:stCondLst>
                                  <p:childTnLst>
                                    <p:set>
                                      <p:cBhvr>
                                        <p:cTn id="92" dur="1" fill="hold">
                                          <p:stCondLst>
                                            <p:cond delay="0"/>
                                          </p:stCondLst>
                                        </p:cTn>
                                        <p:tgtEl>
                                          <p:spTgt spid="77"/>
                                        </p:tgtEl>
                                        <p:attrNameLst>
                                          <p:attrName>style.visibility</p:attrName>
                                        </p:attrNameLst>
                                      </p:cBhvr>
                                      <p:to>
                                        <p:strVal val="visible"/>
                                      </p:to>
                                    </p:set>
                                    <p:animEffect transition="in" filter="wipe(up)">
                                      <p:cBhvr>
                                        <p:cTn id="93" dur="500"/>
                                        <p:tgtEl>
                                          <p:spTgt spid="77"/>
                                        </p:tgtEl>
                                      </p:cBhvr>
                                    </p:animEffect>
                                  </p:childTnLst>
                                </p:cTn>
                              </p:par>
                              <p:par>
                                <p:cTn id="94" presetID="14" presetClass="entr" presetSubtype="10" fill="hold" grpId="0" nodeType="withEffect">
                                  <p:stCondLst>
                                    <p:cond delay="0"/>
                                  </p:stCondLst>
                                  <p:childTnLst>
                                    <p:set>
                                      <p:cBhvr>
                                        <p:cTn id="95" dur="1" fill="hold">
                                          <p:stCondLst>
                                            <p:cond delay="0"/>
                                          </p:stCondLst>
                                        </p:cTn>
                                        <p:tgtEl>
                                          <p:spTgt spid="104"/>
                                        </p:tgtEl>
                                        <p:attrNameLst>
                                          <p:attrName>style.visibility</p:attrName>
                                        </p:attrNameLst>
                                      </p:cBhvr>
                                      <p:to>
                                        <p:strVal val="visible"/>
                                      </p:to>
                                    </p:set>
                                    <p:animEffect transition="in" filter="randombar(horizontal)">
                                      <p:cBhvr>
                                        <p:cTn id="96" dur="500"/>
                                        <p:tgtEl>
                                          <p:spTgt spid="104"/>
                                        </p:tgtEl>
                                      </p:cBhvr>
                                    </p:animEffect>
                                  </p:childTnLst>
                                </p:cTn>
                              </p:par>
                              <p:par>
                                <p:cTn id="97" presetID="14" presetClass="entr" presetSubtype="10" fill="hold" grpId="0" nodeType="withEffect">
                                  <p:stCondLst>
                                    <p:cond delay="0"/>
                                  </p:stCondLst>
                                  <p:childTnLst>
                                    <p:set>
                                      <p:cBhvr>
                                        <p:cTn id="98" dur="1" fill="hold">
                                          <p:stCondLst>
                                            <p:cond delay="0"/>
                                          </p:stCondLst>
                                        </p:cTn>
                                        <p:tgtEl>
                                          <p:spTgt spid="97"/>
                                        </p:tgtEl>
                                        <p:attrNameLst>
                                          <p:attrName>style.visibility</p:attrName>
                                        </p:attrNameLst>
                                      </p:cBhvr>
                                      <p:to>
                                        <p:strVal val="visible"/>
                                      </p:to>
                                    </p:set>
                                    <p:animEffect transition="in" filter="randombar(horizontal)">
                                      <p:cBhvr>
                                        <p:cTn id="99" dur="500"/>
                                        <p:tgtEl>
                                          <p:spTgt spid="97"/>
                                        </p:tgtEl>
                                      </p:cBhvr>
                                    </p:animEffect>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grpId="0" nodeType="clickEffect">
                                  <p:stCondLst>
                                    <p:cond delay="0"/>
                                  </p:stCondLst>
                                  <p:childTnLst>
                                    <p:set>
                                      <p:cBhvr>
                                        <p:cTn id="103" dur="1" fill="hold">
                                          <p:stCondLst>
                                            <p:cond delay="0"/>
                                          </p:stCondLst>
                                        </p:cTn>
                                        <p:tgtEl>
                                          <p:spTgt spid="106"/>
                                        </p:tgtEl>
                                        <p:attrNameLst>
                                          <p:attrName>style.visibility</p:attrName>
                                        </p:attrNameLst>
                                      </p:cBhvr>
                                      <p:to>
                                        <p:strVal val="visible"/>
                                      </p:to>
                                    </p:set>
                                    <p:anim calcmode="lin" valueType="num">
                                      <p:cBhvr>
                                        <p:cTn id="104" dur="500" fill="hold"/>
                                        <p:tgtEl>
                                          <p:spTgt spid="106"/>
                                        </p:tgtEl>
                                        <p:attrNameLst>
                                          <p:attrName>ppt_x</p:attrName>
                                        </p:attrNameLst>
                                      </p:cBhvr>
                                      <p:tavLst>
                                        <p:tav tm="0">
                                          <p:val>
                                            <p:strVal val="#ppt_x"/>
                                          </p:val>
                                        </p:tav>
                                        <p:tav tm="100000">
                                          <p:val>
                                            <p:strVal val="#ppt_x"/>
                                          </p:val>
                                        </p:tav>
                                      </p:tavLst>
                                    </p:anim>
                                    <p:anim calcmode="lin" valueType="num">
                                      <p:cBhvr>
                                        <p:cTn id="105"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14" presetClass="entr" presetSubtype="10" fill="hold" grpId="0" nodeType="clickEffect">
                                  <p:stCondLst>
                                    <p:cond delay="0"/>
                                  </p:stCondLst>
                                  <p:childTnLst>
                                    <p:set>
                                      <p:cBhvr>
                                        <p:cTn id="109" dur="1" fill="hold">
                                          <p:stCondLst>
                                            <p:cond delay="0"/>
                                          </p:stCondLst>
                                        </p:cTn>
                                        <p:tgtEl>
                                          <p:spTgt spid="86"/>
                                        </p:tgtEl>
                                        <p:attrNameLst>
                                          <p:attrName>style.visibility</p:attrName>
                                        </p:attrNameLst>
                                      </p:cBhvr>
                                      <p:to>
                                        <p:strVal val="visible"/>
                                      </p:to>
                                    </p:set>
                                    <p:animEffect transition="in" filter="randombar(horizontal)">
                                      <p:cBhvr>
                                        <p:cTn id="110" dur="500"/>
                                        <p:tgtEl>
                                          <p:spTgt spid="86"/>
                                        </p:tgtEl>
                                      </p:cBhvr>
                                    </p:animEffect>
                                  </p:childTnLst>
                                </p:cTn>
                              </p:par>
                              <p:par>
                                <p:cTn id="111" presetID="22" presetClass="entr" presetSubtype="8" fill="hold" grpId="0" nodeType="withEffect">
                                  <p:stCondLst>
                                    <p:cond delay="0"/>
                                  </p:stCondLst>
                                  <p:childTnLst>
                                    <p:set>
                                      <p:cBhvr>
                                        <p:cTn id="112" dur="1" fill="hold">
                                          <p:stCondLst>
                                            <p:cond delay="0"/>
                                          </p:stCondLst>
                                        </p:cTn>
                                        <p:tgtEl>
                                          <p:spTgt spid="80"/>
                                        </p:tgtEl>
                                        <p:attrNameLst>
                                          <p:attrName>style.visibility</p:attrName>
                                        </p:attrNameLst>
                                      </p:cBhvr>
                                      <p:to>
                                        <p:strVal val="visible"/>
                                      </p:to>
                                    </p:set>
                                    <p:animEffect transition="in" filter="wipe(left)">
                                      <p:cBhvr>
                                        <p:cTn id="113" dur="500"/>
                                        <p:tgtEl>
                                          <p:spTgt spid="80"/>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grpId="0" nodeType="clickEffect">
                                  <p:stCondLst>
                                    <p:cond delay="0"/>
                                  </p:stCondLst>
                                  <p:childTnLst>
                                    <p:set>
                                      <p:cBhvr>
                                        <p:cTn id="117" dur="1" fill="hold">
                                          <p:stCondLst>
                                            <p:cond delay="0"/>
                                          </p:stCondLst>
                                        </p:cTn>
                                        <p:tgtEl>
                                          <p:spTgt spid="83"/>
                                        </p:tgtEl>
                                        <p:attrNameLst>
                                          <p:attrName>style.visibility</p:attrName>
                                        </p:attrNameLst>
                                      </p:cBhvr>
                                      <p:to>
                                        <p:strVal val="visible"/>
                                      </p:to>
                                    </p:set>
                                    <p:animEffect transition="in" filter="wipe(down)">
                                      <p:cBhvr>
                                        <p:cTn id="118" dur="500"/>
                                        <p:tgtEl>
                                          <p:spTgt spid="83"/>
                                        </p:tgtEl>
                                      </p:cBhvr>
                                    </p:animEffect>
                                  </p:childTnLst>
                                </p:cTn>
                              </p:par>
                            </p:childTnLst>
                          </p:cTn>
                        </p:par>
                        <p:par>
                          <p:cTn id="119" fill="hold">
                            <p:stCondLst>
                              <p:cond delay="500"/>
                            </p:stCondLst>
                            <p:childTnLst>
                              <p:par>
                                <p:cTn id="120" presetID="14" presetClass="entr" presetSubtype="10" fill="hold" grpId="0" nodeType="afterEffect">
                                  <p:stCondLst>
                                    <p:cond delay="0"/>
                                  </p:stCondLst>
                                  <p:childTnLst>
                                    <p:set>
                                      <p:cBhvr>
                                        <p:cTn id="121" dur="1" fill="hold">
                                          <p:stCondLst>
                                            <p:cond delay="0"/>
                                          </p:stCondLst>
                                        </p:cTn>
                                        <p:tgtEl>
                                          <p:spTgt spid="89"/>
                                        </p:tgtEl>
                                        <p:attrNameLst>
                                          <p:attrName>style.visibility</p:attrName>
                                        </p:attrNameLst>
                                      </p:cBhvr>
                                      <p:to>
                                        <p:strVal val="visible"/>
                                      </p:to>
                                    </p:set>
                                    <p:animEffect transition="in" filter="randombar(horizontal)">
                                      <p:cBhvr>
                                        <p:cTn id="122" dur="500"/>
                                        <p:tgtEl>
                                          <p:spTgt spid="89"/>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grpId="0" nodeType="clickEffect">
                                  <p:stCondLst>
                                    <p:cond delay="0"/>
                                  </p:stCondLst>
                                  <p:childTnLst>
                                    <p:set>
                                      <p:cBhvr>
                                        <p:cTn id="126" dur="1" fill="hold">
                                          <p:stCondLst>
                                            <p:cond delay="0"/>
                                          </p:stCondLst>
                                        </p:cTn>
                                        <p:tgtEl>
                                          <p:spTgt spid="79"/>
                                        </p:tgtEl>
                                        <p:attrNameLst>
                                          <p:attrName>style.visibility</p:attrName>
                                        </p:attrNameLst>
                                      </p:cBhvr>
                                      <p:to>
                                        <p:strVal val="visible"/>
                                      </p:to>
                                    </p:set>
                                    <p:animEffect transition="in" filter="wipe(up)">
                                      <p:cBhvr>
                                        <p:cTn id="127" dur="500"/>
                                        <p:tgtEl>
                                          <p:spTgt spid="79"/>
                                        </p:tgtEl>
                                      </p:cBhvr>
                                    </p:animEffect>
                                  </p:childTnLst>
                                </p:cTn>
                              </p:par>
                            </p:childTnLst>
                          </p:cTn>
                        </p:par>
                        <p:par>
                          <p:cTn id="128" fill="hold">
                            <p:stCondLst>
                              <p:cond delay="500"/>
                            </p:stCondLst>
                            <p:childTnLst>
                              <p:par>
                                <p:cTn id="129" presetID="14" presetClass="entr" presetSubtype="10" fill="hold" grpId="0" nodeType="afterEffect">
                                  <p:stCondLst>
                                    <p:cond delay="0"/>
                                  </p:stCondLst>
                                  <p:childTnLst>
                                    <p:set>
                                      <p:cBhvr>
                                        <p:cTn id="130" dur="1" fill="hold">
                                          <p:stCondLst>
                                            <p:cond delay="0"/>
                                          </p:stCondLst>
                                        </p:cTn>
                                        <p:tgtEl>
                                          <p:spTgt spid="95"/>
                                        </p:tgtEl>
                                        <p:attrNameLst>
                                          <p:attrName>style.visibility</p:attrName>
                                        </p:attrNameLst>
                                      </p:cBhvr>
                                      <p:to>
                                        <p:strVal val="visible"/>
                                      </p:to>
                                    </p:set>
                                    <p:animEffect transition="in" filter="randombar(horizontal)">
                                      <p:cBhvr>
                                        <p:cTn id="131" dur="500"/>
                                        <p:tgtEl>
                                          <p:spTgt spid="95"/>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100"/>
                                        </p:tgtEl>
                                        <p:attrNameLst>
                                          <p:attrName>style.visibility</p:attrName>
                                        </p:attrNameLst>
                                      </p:cBhvr>
                                      <p:to>
                                        <p:strVal val="visible"/>
                                      </p:to>
                                    </p:set>
                                    <p:animEffect transition="in" filter="wipe(left)">
                                      <p:cBhvr>
                                        <p:cTn id="136" dur="500"/>
                                        <p:tgtEl>
                                          <p:spTgt spid="100"/>
                                        </p:tgtEl>
                                      </p:cBhvr>
                                    </p:animEffect>
                                  </p:childTnLst>
                                </p:cTn>
                              </p:par>
                              <p:par>
                                <p:cTn id="137" presetID="14" presetClass="entr" presetSubtype="10" fill="hold" grpId="0" nodeType="withEffect">
                                  <p:stCondLst>
                                    <p:cond delay="0"/>
                                  </p:stCondLst>
                                  <p:childTnLst>
                                    <p:set>
                                      <p:cBhvr>
                                        <p:cTn id="138" dur="1" fill="hold">
                                          <p:stCondLst>
                                            <p:cond delay="0"/>
                                          </p:stCondLst>
                                        </p:cTn>
                                        <p:tgtEl>
                                          <p:spTgt spid="98"/>
                                        </p:tgtEl>
                                        <p:attrNameLst>
                                          <p:attrName>style.visibility</p:attrName>
                                        </p:attrNameLst>
                                      </p:cBhvr>
                                      <p:to>
                                        <p:strVal val="visible"/>
                                      </p:to>
                                    </p:set>
                                    <p:animEffect transition="in" filter="randombar(horizontal)">
                                      <p:cBhvr>
                                        <p:cTn id="139" dur="500"/>
                                        <p:tgtEl>
                                          <p:spTgt spid="98"/>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43"/>
                                        </p:tgtEl>
                                        <p:attrNameLst>
                                          <p:attrName>style.visibility</p:attrName>
                                        </p:attrNameLst>
                                      </p:cBhvr>
                                      <p:to>
                                        <p:strVal val="visible"/>
                                      </p:to>
                                    </p:set>
                                    <p:animEffect transition="in" filter="wipe(left)">
                                      <p:cBhvr>
                                        <p:cTn id="144" dur="500"/>
                                        <p:tgtEl>
                                          <p:spTgt spid="43"/>
                                        </p:tgtEl>
                                      </p:cBhvr>
                                    </p:animEffect>
                                  </p:childTnLst>
                                </p:cTn>
                              </p:par>
                            </p:childTnLst>
                          </p:cTn>
                        </p:par>
                        <p:par>
                          <p:cTn id="145" fill="hold">
                            <p:stCondLst>
                              <p:cond delay="500"/>
                            </p:stCondLst>
                            <p:childTnLst>
                              <p:par>
                                <p:cTn id="146" presetID="14" presetClass="entr" presetSubtype="10" fill="hold" grpId="0" nodeType="afterEffect">
                                  <p:stCondLst>
                                    <p:cond delay="0"/>
                                  </p:stCondLst>
                                  <p:childTnLst>
                                    <p:set>
                                      <p:cBhvr>
                                        <p:cTn id="147" dur="1" fill="hold">
                                          <p:stCondLst>
                                            <p:cond delay="0"/>
                                          </p:stCondLst>
                                        </p:cTn>
                                        <p:tgtEl>
                                          <p:spTgt spid="90"/>
                                        </p:tgtEl>
                                        <p:attrNameLst>
                                          <p:attrName>style.visibility</p:attrName>
                                        </p:attrNameLst>
                                      </p:cBhvr>
                                      <p:to>
                                        <p:strVal val="visible"/>
                                      </p:to>
                                    </p:set>
                                    <p:animEffect transition="in" filter="randombar(horizontal)">
                                      <p:cBhvr>
                                        <p:cTn id="148" dur="500"/>
                                        <p:tgtEl>
                                          <p:spTgt spid="90"/>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44"/>
                                        </p:tgtEl>
                                        <p:attrNameLst>
                                          <p:attrName>style.visibility</p:attrName>
                                        </p:attrNameLst>
                                      </p:cBhvr>
                                      <p:to>
                                        <p:strVal val="visible"/>
                                      </p:to>
                                    </p:set>
                                    <p:animEffect transition="in" filter="wipe(left)">
                                      <p:cBhvr>
                                        <p:cTn id="153" dur="500"/>
                                        <p:tgtEl>
                                          <p:spTgt spid="44"/>
                                        </p:tgtEl>
                                      </p:cBhvr>
                                    </p:animEffect>
                                  </p:childTnLst>
                                </p:cTn>
                              </p:par>
                              <p:par>
                                <p:cTn id="154" presetID="14" presetClass="entr" presetSubtype="10" fill="hold" grpId="0" nodeType="withEffect">
                                  <p:stCondLst>
                                    <p:cond delay="0"/>
                                  </p:stCondLst>
                                  <p:childTnLst>
                                    <p:set>
                                      <p:cBhvr>
                                        <p:cTn id="155" dur="1" fill="hold">
                                          <p:stCondLst>
                                            <p:cond delay="0"/>
                                          </p:stCondLst>
                                        </p:cTn>
                                        <p:tgtEl>
                                          <p:spTgt spid="91"/>
                                        </p:tgtEl>
                                        <p:attrNameLst>
                                          <p:attrName>style.visibility</p:attrName>
                                        </p:attrNameLst>
                                      </p:cBhvr>
                                      <p:to>
                                        <p:strVal val="visible"/>
                                      </p:to>
                                    </p:set>
                                    <p:animEffect transition="in" filter="randombar(horizontal)">
                                      <p:cBhvr>
                                        <p:cTn id="156" dur="500"/>
                                        <p:tgtEl>
                                          <p:spTgt spid="91"/>
                                        </p:tgtEl>
                                      </p:cBhvr>
                                    </p:animEffect>
                                  </p:childTnLst>
                                </p:cTn>
                              </p:par>
                            </p:childTnLst>
                          </p:cTn>
                        </p:par>
                      </p:childTnLst>
                    </p:cTn>
                  </p:par>
                  <p:par>
                    <p:cTn id="157" fill="hold">
                      <p:stCondLst>
                        <p:cond delay="indefinite"/>
                      </p:stCondLst>
                      <p:childTnLst>
                        <p:par>
                          <p:cTn id="158" fill="hold">
                            <p:stCondLst>
                              <p:cond delay="0"/>
                            </p:stCondLst>
                            <p:childTnLst>
                              <p:par>
                                <p:cTn id="159" presetID="14" presetClass="entr" presetSubtype="10" fill="hold" grpId="0" nodeType="clickEffect">
                                  <p:stCondLst>
                                    <p:cond delay="0"/>
                                  </p:stCondLst>
                                  <p:childTnLst>
                                    <p:set>
                                      <p:cBhvr>
                                        <p:cTn id="160" dur="1" fill="hold">
                                          <p:stCondLst>
                                            <p:cond delay="0"/>
                                          </p:stCondLst>
                                        </p:cTn>
                                        <p:tgtEl>
                                          <p:spTgt spid="107"/>
                                        </p:tgtEl>
                                        <p:attrNameLst>
                                          <p:attrName>style.visibility</p:attrName>
                                        </p:attrNameLst>
                                      </p:cBhvr>
                                      <p:to>
                                        <p:strVal val="visible"/>
                                      </p:to>
                                    </p:set>
                                    <p:animEffect transition="in" filter="randombar(horizontal)">
                                      <p:cBhvr>
                                        <p:cTn id="161"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7" grpId="0" animBg="1"/>
      <p:bldP spid="48" grpId="0" bldLvl="0" animBg="1" autoUpdateAnimBg="0"/>
      <p:bldP spid="78" grpId="0" animBg="1"/>
      <p:bldP spid="79" grpId="0" animBg="1"/>
      <p:bldP spid="80" grpId="0" bldLvl="0" animBg="1" autoUpdateAnimBg="0"/>
      <p:bldP spid="81" grpId="0" animBg="1"/>
      <p:bldP spid="82" grpId="0" animBg="1"/>
      <p:bldP spid="83" grpId="0" animBg="1"/>
      <p:bldP spid="84" grpId="0" bldLvl="0" autoUpdateAnimBg="0"/>
      <p:bldP spid="85" grpId="0" bldLvl="0" autoUpdateAnimBg="0"/>
      <p:bldP spid="86" grpId="0" bldLvl="0" autoUpdateAnimBg="0"/>
      <p:bldP spid="87" grpId="0"/>
      <p:bldP spid="88" grpId="0" bldLvl="0" autoUpdateAnimBg="0"/>
      <p:bldP spid="89" grpId="0" bldLvl="0" autoUpdateAnimBg="0"/>
      <p:bldP spid="90" grpId="0" bldLvl="0" autoUpdateAnimBg="0"/>
      <p:bldP spid="91" grpId="0" bldLvl="0" autoUpdateAnimBg="0"/>
      <p:bldP spid="93" grpId="0" bldLvl="0" autoUpdateAnimBg="0"/>
      <p:bldP spid="94" grpId="0" bldLvl="0" autoUpdateAnimBg="0"/>
      <p:bldP spid="95" grpId="0"/>
      <p:bldP spid="96" grpId="0" bldLvl="0" autoUpdateAnimBg="0"/>
      <p:bldP spid="97" grpId="0" bldLvl="0" autoUpdateAnimBg="0"/>
      <p:bldP spid="98" grpId="0" bldLvl="0" autoUpdateAnimBg="0"/>
      <p:bldP spid="100" grpId="0" animBg="1"/>
      <p:bldP spid="102" grpId="0" bldLvl="0" autoUpdateAnimBg="0"/>
      <p:bldP spid="103" grpId="0"/>
      <p:bldP spid="104" grpId="0" bldLvl="0" autoUpdateAnimBg="0"/>
      <p:bldP spid="105" grpId="0" bldLvl="0" animBg="1" autoUpdateAnimBg="0"/>
      <p:bldP spid="106" grpId="0" bldLvl="0" animBg="1" autoUpdateAnimBg="0"/>
      <p:bldP spid="107"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2C4A5785-2932-48D8-AF05-9C390C34203C}"/>
              </a:ext>
            </a:extLst>
          </p:cNvPr>
          <p:cNvSpPr/>
          <p:nvPr/>
        </p:nvSpPr>
        <p:spPr>
          <a:xfrm>
            <a:off x="752424" y="2920933"/>
            <a:ext cx="5978343" cy="486250"/>
          </a:xfrm>
          <a:prstGeom prst="rect">
            <a:avLst/>
          </a:prstGeom>
          <a:solidFill>
            <a:srgbClr val="6A9435">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E00236B3-AB47-43B7-8095-2232BE0D8D5E}"/>
              </a:ext>
            </a:extLst>
          </p:cNvPr>
          <p:cNvSpPr/>
          <p:nvPr/>
        </p:nvSpPr>
        <p:spPr>
          <a:xfrm>
            <a:off x="752424" y="2920933"/>
            <a:ext cx="3603544" cy="702846"/>
          </a:xfrm>
          <a:prstGeom prst="rect">
            <a:avLst/>
          </a:prstGeom>
          <a:solidFill>
            <a:srgbClr val="FF99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a:extLst>
              <a:ext uri="{FF2B5EF4-FFF2-40B4-BE49-F238E27FC236}">
                <a16:creationId xmlns:a16="http://schemas.microsoft.com/office/drawing/2014/main" id="{959FB9F6-DBB7-43CB-BC3D-B7AEF678066D}"/>
              </a:ext>
            </a:extLst>
          </p:cNvPr>
          <p:cNvSpPr>
            <a:spLocks noGrp="1"/>
          </p:cNvSpPr>
          <p:nvPr>
            <p:ph idx="1"/>
          </p:nvPr>
        </p:nvSpPr>
        <p:spPr>
          <a:xfrm>
            <a:off x="457200" y="229357"/>
            <a:ext cx="8229600" cy="1400008"/>
          </a:xfrm>
        </p:spPr>
        <p:txBody>
          <a:bodyPr>
            <a:normAutofit fontScale="92500" lnSpcReduction="10000"/>
          </a:bodyPr>
          <a:lstStyle/>
          <a:p>
            <a:r>
              <a:rPr lang="zh-CN" altLang="en-US" dirty="0"/>
              <a:t>企业规模调整</a:t>
            </a:r>
          </a:p>
          <a:p>
            <a:pPr lvl="1"/>
            <a:r>
              <a:rPr lang="zh-CN" altLang="en-US" dirty="0"/>
              <a:t>长期的规模调整，或长期的利润最大化，就是在所有的短期均衡中选择一个“最优”的短期均衡。</a:t>
            </a:r>
          </a:p>
          <a:p>
            <a:endParaRPr lang="zh-CN" altLang="en-US" dirty="0"/>
          </a:p>
        </p:txBody>
      </p:sp>
      <p:cxnSp>
        <p:nvCxnSpPr>
          <p:cNvPr id="5" name="直接箭头连接符 4">
            <a:extLst>
              <a:ext uri="{FF2B5EF4-FFF2-40B4-BE49-F238E27FC236}">
                <a16:creationId xmlns:a16="http://schemas.microsoft.com/office/drawing/2014/main" id="{D3F6F088-58D9-4D28-938D-EE5BBA4330A4}"/>
              </a:ext>
            </a:extLst>
          </p:cNvPr>
          <p:cNvCxnSpPr/>
          <p:nvPr/>
        </p:nvCxnSpPr>
        <p:spPr>
          <a:xfrm flipV="1">
            <a:off x="755576" y="1412776"/>
            <a:ext cx="0" cy="396044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592D1906-6302-4765-8016-868933428EE0}"/>
              </a:ext>
            </a:extLst>
          </p:cNvPr>
          <p:cNvCxnSpPr>
            <a:cxnSpLocks/>
          </p:cNvCxnSpPr>
          <p:nvPr/>
        </p:nvCxnSpPr>
        <p:spPr>
          <a:xfrm>
            <a:off x="755576" y="5373216"/>
            <a:ext cx="7488832"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弧形 10">
            <a:extLst>
              <a:ext uri="{FF2B5EF4-FFF2-40B4-BE49-F238E27FC236}">
                <a16:creationId xmlns:a16="http://schemas.microsoft.com/office/drawing/2014/main" id="{9014A3A7-880B-4E99-933B-B3922761AF46}"/>
              </a:ext>
            </a:extLst>
          </p:cNvPr>
          <p:cNvSpPr/>
          <p:nvPr/>
        </p:nvSpPr>
        <p:spPr>
          <a:xfrm rot="10410731">
            <a:off x="1501702" y="64344"/>
            <a:ext cx="6023451" cy="4150293"/>
          </a:xfrm>
          <a:prstGeom prst="arc">
            <a:avLst>
              <a:gd name="adj1" fmla="val 11568114"/>
              <a:gd name="adj2" fmla="val 0"/>
            </a:avLst>
          </a:prstGeom>
          <a:ln w="254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 name="直接连接符 12">
            <a:extLst>
              <a:ext uri="{FF2B5EF4-FFF2-40B4-BE49-F238E27FC236}">
                <a16:creationId xmlns:a16="http://schemas.microsoft.com/office/drawing/2014/main" id="{5BAC1022-138E-4BB2-B356-BD1A8976C661}"/>
              </a:ext>
            </a:extLst>
          </p:cNvPr>
          <p:cNvCxnSpPr/>
          <p:nvPr/>
        </p:nvCxnSpPr>
        <p:spPr>
          <a:xfrm>
            <a:off x="755576" y="2924944"/>
            <a:ext cx="741682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744D5930-1B81-4D32-BA2E-329F6D0EC5E0}"/>
              </a:ext>
            </a:extLst>
          </p:cNvPr>
          <p:cNvGrpSpPr/>
          <p:nvPr/>
        </p:nvGrpSpPr>
        <p:grpSpPr>
          <a:xfrm>
            <a:off x="683568" y="1340768"/>
            <a:ext cx="2129398" cy="2601580"/>
            <a:chOff x="683568" y="1340768"/>
            <a:chExt cx="2129398" cy="2601580"/>
          </a:xfrm>
        </p:grpSpPr>
        <p:sp>
          <p:nvSpPr>
            <p:cNvPr id="9" name="弧形 8">
              <a:extLst>
                <a:ext uri="{FF2B5EF4-FFF2-40B4-BE49-F238E27FC236}">
                  <a16:creationId xmlns:a16="http://schemas.microsoft.com/office/drawing/2014/main" id="{475F29E6-97FA-48B1-B7C5-6D1CE6DE682E}"/>
                </a:ext>
              </a:extLst>
            </p:cNvPr>
            <p:cNvSpPr/>
            <p:nvPr/>
          </p:nvSpPr>
          <p:spPr>
            <a:xfrm rot="10410731">
              <a:off x="1686774" y="2140648"/>
              <a:ext cx="1126192" cy="1297571"/>
            </a:xfrm>
            <a:prstGeom prst="arc">
              <a:avLst>
                <a:gd name="adj1" fmla="val 11568114"/>
                <a:gd name="adj2" fmla="val 0"/>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弧形 9">
              <a:extLst>
                <a:ext uri="{FF2B5EF4-FFF2-40B4-BE49-F238E27FC236}">
                  <a16:creationId xmlns:a16="http://schemas.microsoft.com/office/drawing/2014/main" id="{9389F30F-2853-453B-A2D2-02E8067D04B9}"/>
                </a:ext>
              </a:extLst>
            </p:cNvPr>
            <p:cNvSpPr/>
            <p:nvPr/>
          </p:nvSpPr>
          <p:spPr>
            <a:xfrm flipV="1">
              <a:off x="683568" y="1340768"/>
              <a:ext cx="2016219" cy="2304247"/>
            </a:xfrm>
            <a:prstGeom prst="arc">
              <a:avLst>
                <a:gd name="adj1" fmla="val 16200000"/>
                <a:gd name="adj2" fmla="val 20845440"/>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4E095EE-AB58-4DAE-9FBA-05614EF4F2A7}"/>
                </a:ext>
              </a:extLst>
            </p:cNvPr>
            <p:cNvSpPr txBox="1"/>
            <p:nvPr/>
          </p:nvSpPr>
          <p:spPr>
            <a:xfrm>
              <a:off x="1617070" y="2586390"/>
              <a:ext cx="637389" cy="369332"/>
            </a:xfrm>
            <a:prstGeom prst="rect">
              <a:avLst/>
            </a:prstGeom>
            <a:noFill/>
          </p:spPr>
          <p:txBody>
            <a:bodyPr wrap="square" rtlCol="0">
              <a:spAutoFit/>
            </a:bodyPr>
            <a:lstStyle/>
            <a:p>
              <a:r>
                <a:rPr lang="en-US" altLang="zh-CN" dirty="0"/>
                <a:t>AC</a:t>
              </a:r>
              <a:r>
                <a:rPr lang="en-US" altLang="zh-CN" baseline="-25000" dirty="0"/>
                <a:t>1</a:t>
              </a:r>
              <a:endParaRPr lang="zh-CN" altLang="en-US" baseline="-25000" dirty="0"/>
            </a:p>
          </p:txBody>
        </p:sp>
        <p:sp>
          <p:nvSpPr>
            <p:cNvPr id="15" name="文本框 14">
              <a:extLst>
                <a:ext uri="{FF2B5EF4-FFF2-40B4-BE49-F238E27FC236}">
                  <a16:creationId xmlns:a16="http://schemas.microsoft.com/office/drawing/2014/main" id="{7707C9FE-9F38-4A3B-AE38-AF6990302624}"/>
                </a:ext>
              </a:extLst>
            </p:cNvPr>
            <p:cNvSpPr txBox="1"/>
            <p:nvPr/>
          </p:nvSpPr>
          <p:spPr>
            <a:xfrm>
              <a:off x="1403659" y="3573016"/>
              <a:ext cx="628698" cy="369332"/>
            </a:xfrm>
            <a:prstGeom prst="rect">
              <a:avLst/>
            </a:prstGeom>
            <a:noFill/>
          </p:spPr>
          <p:txBody>
            <a:bodyPr wrap="none" rtlCol="0">
              <a:spAutoFit/>
            </a:bodyPr>
            <a:lstStyle/>
            <a:p>
              <a:r>
                <a:rPr lang="en-US" altLang="zh-CN" dirty="0"/>
                <a:t>MC</a:t>
              </a:r>
              <a:r>
                <a:rPr lang="en-US" altLang="zh-CN" baseline="-25000" dirty="0"/>
                <a:t>1</a:t>
              </a:r>
              <a:endParaRPr lang="zh-CN" altLang="en-US" baseline="-25000" dirty="0"/>
            </a:p>
          </p:txBody>
        </p:sp>
      </p:grpSp>
      <p:sp>
        <p:nvSpPr>
          <p:cNvPr id="19" name="弧形 18">
            <a:extLst>
              <a:ext uri="{FF2B5EF4-FFF2-40B4-BE49-F238E27FC236}">
                <a16:creationId xmlns:a16="http://schemas.microsoft.com/office/drawing/2014/main" id="{A0DDD0F3-1E73-473E-B8E9-7903533F43A6}"/>
              </a:ext>
            </a:extLst>
          </p:cNvPr>
          <p:cNvSpPr/>
          <p:nvPr/>
        </p:nvSpPr>
        <p:spPr>
          <a:xfrm rot="11320525">
            <a:off x="2506588" y="2367724"/>
            <a:ext cx="1897121" cy="1737236"/>
          </a:xfrm>
          <a:prstGeom prst="arc">
            <a:avLst>
              <a:gd name="adj1" fmla="val 10991463"/>
              <a:gd name="adj2" fmla="val 20314939"/>
            </a:avLst>
          </a:prstGeom>
          <a:ln w="15875">
            <a:solidFill>
              <a:srgbClr val="FF99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弧形 19">
            <a:extLst>
              <a:ext uri="{FF2B5EF4-FFF2-40B4-BE49-F238E27FC236}">
                <a16:creationId xmlns:a16="http://schemas.microsoft.com/office/drawing/2014/main" id="{7300378D-5730-40D2-99AB-BB69C11C9C98}"/>
              </a:ext>
            </a:extLst>
          </p:cNvPr>
          <p:cNvSpPr/>
          <p:nvPr/>
        </p:nvSpPr>
        <p:spPr>
          <a:xfrm rot="1321864" flipV="1">
            <a:off x="2183540" y="824000"/>
            <a:ext cx="2184630" cy="3681704"/>
          </a:xfrm>
          <a:prstGeom prst="arc">
            <a:avLst>
              <a:gd name="adj1" fmla="val 16200000"/>
              <a:gd name="adj2" fmla="val 906076"/>
            </a:avLst>
          </a:prstGeom>
          <a:ln w="15875">
            <a:solidFill>
              <a:srgbClr val="FF99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595B21D5-18D9-4A86-A29E-62A051EC3954}"/>
              </a:ext>
            </a:extLst>
          </p:cNvPr>
          <p:cNvSpPr txBox="1"/>
          <p:nvPr/>
        </p:nvSpPr>
        <p:spPr>
          <a:xfrm rot="909794">
            <a:off x="2614584" y="3216168"/>
            <a:ext cx="717720" cy="350860"/>
          </a:xfrm>
          <a:prstGeom prst="rect">
            <a:avLst/>
          </a:prstGeom>
          <a:noFill/>
        </p:spPr>
        <p:txBody>
          <a:bodyPr wrap="square" rtlCol="0">
            <a:spAutoFit/>
          </a:bodyPr>
          <a:lstStyle/>
          <a:p>
            <a:r>
              <a:rPr lang="en-US" altLang="zh-CN" dirty="0"/>
              <a:t>AC</a:t>
            </a:r>
            <a:r>
              <a:rPr lang="en-US" altLang="zh-CN" baseline="-25000" dirty="0"/>
              <a:t>2</a:t>
            </a:r>
            <a:endParaRPr lang="zh-CN" altLang="en-US" baseline="-25000" dirty="0"/>
          </a:p>
        </p:txBody>
      </p:sp>
      <p:sp>
        <p:nvSpPr>
          <p:cNvPr id="22" name="文本框 21">
            <a:extLst>
              <a:ext uri="{FF2B5EF4-FFF2-40B4-BE49-F238E27FC236}">
                <a16:creationId xmlns:a16="http://schemas.microsoft.com/office/drawing/2014/main" id="{1D9C769C-2D11-486C-BD16-6275B7C3FB7A}"/>
              </a:ext>
            </a:extLst>
          </p:cNvPr>
          <p:cNvSpPr txBox="1"/>
          <p:nvPr/>
        </p:nvSpPr>
        <p:spPr>
          <a:xfrm rot="909794">
            <a:off x="2460471" y="4071300"/>
            <a:ext cx="783297" cy="349607"/>
          </a:xfrm>
          <a:prstGeom prst="rect">
            <a:avLst/>
          </a:prstGeom>
          <a:noFill/>
        </p:spPr>
        <p:txBody>
          <a:bodyPr wrap="none" rtlCol="0">
            <a:spAutoFit/>
          </a:bodyPr>
          <a:lstStyle/>
          <a:p>
            <a:r>
              <a:rPr lang="en-US" altLang="zh-CN" dirty="0"/>
              <a:t>MC</a:t>
            </a:r>
            <a:r>
              <a:rPr lang="en-US" altLang="zh-CN" baseline="-25000" dirty="0"/>
              <a:t>2</a:t>
            </a:r>
            <a:endParaRPr lang="zh-CN" altLang="en-US" baseline="-25000" dirty="0"/>
          </a:p>
        </p:txBody>
      </p:sp>
      <p:grpSp>
        <p:nvGrpSpPr>
          <p:cNvPr id="23" name="组合 22">
            <a:extLst>
              <a:ext uri="{FF2B5EF4-FFF2-40B4-BE49-F238E27FC236}">
                <a16:creationId xmlns:a16="http://schemas.microsoft.com/office/drawing/2014/main" id="{BE8EC3DE-61A6-44DE-80DF-D5CCAFFAD959}"/>
              </a:ext>
            </a:extLst>
          </p:cNvPr>
          <p:cNvGrpSpPr/>
          <p:nvPr/>
        </p:nvGrpSpPr>
        <p:grpSpPr>
          <a:xfrm>
            <a:off x="4757308" y="1472268"/>
            <a:ext cx="2129398" cy="2601580"/>
            <a:chOff x="683568" y="1340768"/>
            <a:chExt cx="2129398" cy="2601580"/>
          </a:xfrm>
        </p:grpSpPr>
        <p:sp>
          <p:nvSpPr>
            <p:cNvPr id="24" name="弧形 23">
              <a:extLst>
                <a:ext uri="{FF2B5EF4-FFF2-40B4-BE49-F238E27FC236}">
                  <a16:creationId xmlns:a16="http://schemas.microsoft.com/office/drawing/2014/main" id="{CE87E393-703D-4CA6-A249-B6F9F78B6E6E}"/>
                </a:ext>
              </a:extLst>
            </p:cNvPr>
            <p:cNvSpPr/>
            <p:nvPr/>
          </p:nvSpPr>
          <p:spPr>
            <a:xfrm rot="10410731">
              <a:off x="1686774" y="2140648"/>
              <a:ext cx="1126192" cy="1297571"/>
            </a:xfrm>
            <a:prstGeom prst="arc">
              <a:avLst>
                <a:gd name="adj1" fmla="val 11568114"/>
                <a:gd name="adj2" fmla="val 0"/>
              </a:avLst>
            </a:prstGeom>
            <a:ln w="15875">
              <a:solidFill>
                <a:srgbClr val="6A943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弧形 24">
              <a:extLst>
                <a:ext uri="{FF2B5EF4-FFF2-40B4-BE49-F238E27FC236}">
                  <a16:creationId xmlns:a16="http://schemas.microsoft.com/office/drawing/2014/main" id="{0F3B1CFA-853D-4F90-9BBA-61929AAC2DF4}"/>
                </a:ext>
              </a:extLst>
            </p:cNvPr>
            <p:cNvSpPr/>
            <p:nvPr/>
          </p:nvSpPr>
          <p:spPr>
            <a:xfrm flipV="1">
              <a:off x="683568" y="1340768"/>
              <a:ext cx="2016219" cy="2304247"/>
            </a:xfrm>
            <a:prstGeom prst="arc">
              <a:avLst>
                <a:gd name="adj1" fmla="val 16200000"/>
                <a:gd name="adj2" fmla="val 20845440"/>
              </a:avLst>
            </a:prstGeom>
            <a:ln w="15875">
              <a:solidFill>
                <a:srgbClr val="6A943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4C8A8D69-3B6A-4D25-BF22-72374B8BE06F}"/>
                </a:ext>
              </a:extLst>
            </p:cNvPr>
            <p:cNvSpPr txBox="1"/>
            <p:nvPr/>
          </p:nvSpPr>
          <p:spPr>
            <a:xfrm>
              <a:off x="1521970" y="2586390"/>
              <a:ext cx="671165" cy="369332"/>
            </a:xfrm>
            <a:prstGeom prst="rect">
              <a:avLst/>
            </a:prstGeom>
            <a:noFill/>
          </p:spPr>
          <p:txBody>
            <a:bodyPr wrap="square" rtlCol="0">
              <a:spAutoFit/>
            </a:bodyPr>
            <a:lstStyle/>
            <a:p>
              <a:r>
                <a:rPr lang="en-US" altLang="zh-CN" dirty="0"/>
                <a:t>AC</a:t>
              </a:r>
              <a:r>
                <a:rPr lang="en-US" altLang="zh-CN" baseline="-25000" dirty="0"/>
                <a:t>3</a:t>
              </a:r>
              <a:endParaRPr lang="zh-CN" altLang="en-US" baseline="-25000" dirty="0"/>
            </a:p>
          </p:txBody>
        </p:sp>
        <p:sp>
          <p:nvSpPr>
            <p:cNvPr id="27" name="文本框 26">
              <a:extLst>
                <a:ext uri="{FF2B5EF4-FFF2-40B4-BE49-F238E27FC236}">
                  <a16:creationId xmlns:a16="http://schemas.microsoft.com/office/drawing/2014/main" id="{8FAA5472-49F5-47BE-B7DD-737221857EBB}"/>
                </a:ext>
              </a:extLst>
            </p:cNvPr>
            <p:cNvSpPr txBox="1"/>
            <p:nvPr/>
          </p:nvSpPr>
          <p:spPr>
            <a:xfrm>
              <a:off x="1403659" y="3573016"/>
              <a:ext cx="628698" cy="369332"/>
            </a:xfrm>
            <a:prstGeom prst="rect">
              <a:avLst/>
            </a:prstGeom>
            <a:noFill/>
          </p:spPr>
          <p:txBody>
            <a:bodyPr wrap="none" rtlCol="0">
              <a:spAutoFit/>
            </a:bodyPr>
            <a:lstStyle/>
            <a:p>
              <a:r>
                <a:rPr lang="en-US" altLang="zh-CN" dirty="0"/>
                <a:t>MC</a:t>
              </a:r>
              <a:r>
                <a:rPr lang="en-US" altLang="zh-CN" baseline="-25000" dirty="0"/>
                <a:t>3</a:t>
              </a:r>
              <a:endParaRPr lang="zh-CN" altLang="en-US" baseline="-25000" dirty="0"/>
            </a:p>
          </p:txBody>
        </p:sp>
      </p:grpSp>
      <p:cxnSp>
        <p:nvCxnSpPr>
          <p:cNvPr id="29" name="直接连接符 28">
            <a:extLst>
              <a:ext uri="{FF2B5EF4-FFF2-40B4-BE49-F238E27FC236}">
                <a16:creationId xmlns:a16="http://schemas.microsoft.com/office/drawing/2014/main" id="{100ADD0D-32A7-4AE4-8349-7DBD0CC60F36}"/>
              </a:ext>
            </a:extLst>
          </p:cNvPr>
          <p:cNvCxnSpPr/>
          <p:nvPr/>
        </p:nvCxnSpPr>
        <p:spPr>
          <a:xfrm flipH="1">
            <a:off x="2585952" y="2924944"/>
            <a:ext cx="41832" cy="2448272"/>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36F1A2E8-EF1F-42FB-9A23-7E364AF4D7DD}"/>
              </a:ext>
            </a:extLst>
          </p:cNvPr>
          <p:cNvSpPr txBox="1"/>
          <p:nvPr/>
        </p:nvSpPr>
        <p:spPr>
          <a:xfrm>
            <a:off x="2339752" y="5373216"/>
            <a:ext cx="449162" cy="369332"/>
          </a:xfrm>
          <a:prstGeom prst="rect">
            <a:avLst/>
          </a:prstGeom>
          <a:noFill/>
        </p:spPr>
        <p:txBody>
          <a:bodyPr wrap="none" rtlCol="0">
            <a:spAutoFit/>
          </a:bodyPr>
          <a:lstStyle/>
          <a:p>
            <a:r>
              <a:rPr lang="en-US" altLang="zh-CN" dirty="0"/>
              <a:t>Q</a:t>
            </a:r>
            <a:r>
              <a:rPr lang="en-US" altLang="zh-CN" baseline="-25000" dirty="0"/>
              <a:t>1</a:t>
            </a:r>
            <a:endParaRPr lang="zh-CN" altLang="en-US" baseline="-25000" dirty="0"/>
          </a:p>
        </p:txBody>
      </p:sp>
      <p:cxnSp>
        <p:nvCxnSpPr>
          <p:cNvPr id="32" name="直接连接符 31">
            <a:extLst>
              <a:ext uri="{FF2B5EF4-FFF2-40B4-BE49-F238E27FC236}">
                <a16:creationId xmlns:a16="http://schemas.microsoft.com/office/drawing/2014/main" id="{391A61B0-733B-4695-B3A3-78D528F2CE54}"/>
              </a:ext>
            </a:extLst>
          </p:cNvPr>
          <p:cNvCxnSpPr/>
          <p:nvPr/>
        </p:nvCxnSpPr>
        <p:spPr>
          <a:xfrm flipH="1">
            <a:off x="4283968" y="2920933"/>
            <a:ext cx="72008" cy="2452283"/>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85265D21-431A-472C-A32D-708384E6F01C}"/>
              </a:ext>
            </a:extLst>
          </p:cNvPr>
          <p:cNvSpPr txBox="1"/>
          <p:nvPr/>
        </p:nvSpPr>
        <p:spPr>
          <a:xfrm>
            <a:off x="4050830" y="5373216"/>
            <a:ext cx="449162" cy="369332"/>
          </a:xfrm>
          <a:prstGeom prst="rect">
            <a:avLst/>
          </a:prstGeom>
          <a:noFill/>
        </p:spPr>
        <p:txBody>
          <a:bodyPr wrap="square" rtlCol="0">
            <a:spAutoFit/>
          </a:bodyPr>
          <a:lstStyle/>
          <a:p>
            <a:r>
              <a:rPr lang="en-US" altLang="zh-CN" dirty="0"/>
              <a:t>Q</a:t>
            </a:r>
            <a:r>
              <a:rPr lang="en-US" altLang="zh-CN" baseline="-25000" dirty="0"/>
              <a:t>2</a:t>
            </a:r>
            <a:endParaRPr lang="zh-CN" altLang="en-US" baseline="-25000" dirty="0"/>
          </a:p>
        </p:txBody>
      </p:sp>
      <p:cxnSp>
        <p:nvCxnSpPr>
          <p:cNvPr id="35" name="直接连接符 34">
            <a:extLst>
              <a:ext uri="{FF2B5EF4-FFF2-40B4-BE49-F238E27FC236}">
                <a16:creationId xmlns:a16="http://schemas.microsoft.com/office/drawing/2014/main" id="{D7DBE61B-6FAD-4155-8AA5-873888CAA6BC}"/>
              </a:ext>
            </a:extLst>
          </p:cNvPr>
          <p:cNvCxnSpPr>
            <a:cxnSpLocks/>
          </p:cNvCxnSpPr>
          <p:nvPr/>
        </p:nvCxnSpPr>
        <p:spPr>
          <a:xfrm>
            <a:off x="6730768" y="2955722"/>
            <a:ext cx="9336" cy="2404519"/>
          </a:xfrm>
          <a:prstGeom prst="line">
            <a:avLst/>
          </a:prstGeom>
          <a:ln w="158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BFE35792-974F-4FB4-A333-8E679C2E0F33}"/>
              </a:ext>
            </a:extLst>
          </p:cNvPr>
          <p:cNvSpPr txBox="1"/>
          <p:nvPr/>
        </p:nvSpPr>
        <p:spPr>
          <a:xfrm>
            <a:off x="6516216" y="5373216"/>
            <a:ext cx="449162" cy="369332"/>
          </a:xfrm>
          <a:prstGeom prst="rect">
            <a:avLst/>
          </a:prstGeom>
          <a:noFill/>
        </p:spPr>
        <p:txBody>
          <a:bodyPr wrap="none" rtlCol="0">
            <a:spAutoFit/>
          </a:bodyPr>
          <a:lstStyle/>
          <a:p>
            <a:r>
              <a:rPr lang="en-US" altLang="zh-CN" dirty="0"/>
              <a:t>Q</a:t>
            </a:r>
            <a:r>
              <a:rPr lang="en-US" altLang="zh-CN" baseline="-25000" dirty="0"/>
              <a:t>3</a:t>
            </a:r>
            <a:endParaRPr lang="zh-CN" altLang="en-US" baseline="-25000" dirty="0"/>
          </a:p>
        </p:txBody>
      </p:sp>
      <p:cxnSp>
        <p:nvCxnSpPr>
          <p:cNvPr id="39" name="直接连接符 38">
            <a:extLst>
              <a:ext uri="{FF2B5EF4-FFF2-40B4-BE49-F238E27FC236}">
                <a16:creationId xmlns:a16="http://schemas.microsoft.com/office/drawing/2014/main" id="{D5BC7A55-AD84-4396-B978-710D00F4C08F}"/>
              </a:ext>
            </a:extLst>
          </p:cNvPr>
          <p:cNvCxnSpPr/>
          <p:nvPr/>
        </p:nvCxnSpPr>
        <p:spPr>
          <a:xfrm flipH="1">
            <a:off x="755576" y="3284984"/>
            <a:ext cx="185129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id="{68A87F87-7BB5-4733-96B5-AF5B9384777C}"/>
              </a:ext>
            </a:extLst>
          </p:cNvPr>
          <p:cNvSpPr/>
          <p:nvPr/>
        </p:nvSpPr>
        <p:spPr>
          <a:xfrm>
            <a:off x="755576" y="2920934"/>
            <a:ext cx="1872194" cy="372918"/>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连接符 41">
            <a:extLst>
              <a:ext uri="{FF2B5EF4-FFF2-40B4-BE49-F238E27FC236}">
                <a16:creationId xmlns:a16="http://schemas.microsoft.com/office/drawing/2014/main" id="{2E30F0C1-0551-4405-98BC-AAE401F160CB}"/>
              </a:ext>
            </a:extLst>
          </p:cNvPr>
          <p:cNvCxnSpPr>
            <a:cxnSpLocks/>
          </p:cNvCxnSpPr>
          <p:nvPr/>
        </p:nvCxnSpPr>
        <p:spPr>
          <a:xfrm flipH="1">
            <a:off x="755576" y="3629190"/>
            <a:ext cx="3600392" cy="0"/>
          </a:xfrm>
          <a:prstGeom prst="line">
            <a:avLst/>
          </a:prstGeom>
          <a:ln w="127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8186C95-ACB3-4F3E-97E6-66D34DE2BFC9}"/>
              </a:ext>
            </a:extLst>
          </p:cNvPr>
          <p:cNvCxnSpPr>
            <a:cxnSpLocks/>
          </p:cNvCxnSpPr>
          <p:nvPr/>
        </p:nvCxnSpPr>
        <p:spPr>
          <a:xfrm flipH="1">
            <a:off x="744044" y="3406730"/>
            <a:ext cx="6060204" cy="0"/>
          </a:xfrm>
          <a:prstGeom prst="line">
            <a:avLst/>
          </a:prstGeom>
          <a:ln w="15875">
            <a:solidFill>
              <a:srgbClr val="6A9435"/>
            </a:solidFill>
          </a:ln>
        </p:spPr>
        <p:style>
          <a:lnRef idx="1">
            <a:schemeClr val="accent1"/>
          </a:lnRef>
          <a:fillRef idx="0">
            <a:schemeClr val="accent1"/>
          </a:fillRef>
          <a:effectRef idx="0">
            <a:schemeClr val="accent1"/>
          </a:effectRef>
          <a:fontRef idx="minor">
            <a:schemeClr val="tx1"/>
          </a:fontRef>
        </p:style>
      </p:cxnSp>
      <p:sp>
        <p:nvSpPr>
          <p:cNvPr id="50" name="弧形 49">
            <a:extLst>
              <a:ext uri="{FF2B5EF4-FFF2-40B4-BE49-F238E27FC236}">
                <a16:creationId xmlns:a16="http://schemas.microsoft.com/office/drawing/2014/main" id="{DC34094F-D7A6-41BB-893D-35180CD29FD0}"/>
              </a:ext>
            </a:extLst>
          </p:cNvPr>
          <p:cNvSpPr/>
          <p:nvPr/>
        </p:nvSpPr>
        <p:spPr>
          <a:xfrm rot="9656044">
            <a:off x="1922828" y="1722106"/>
            <a:ext cx="5191101" cy="2435838"/>
          </a:xfrm>
          <a:prstGeom prst="arc">
            <a:avLst>
              <a:gd name="adj1" fmla="val 11422422"/>
              <a:gd name="adj2" fmla="val 19268464"/>
            </a:avLst>
          </a:prstGeom>
          <a:ln w="254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4539DE74-9DDC-449F-8864-FAFFE8B6CC2F}"/>
              </a:ext>
            </a:extLst>
          </p:cNvPr>
          <p:cNvSpPr txBox="1"/>
          <p:nvPr/>
        </p:nvSpPr>
        <p:spPr>
          <a:xfrm>
            <a:off x="7596336" y="2348880"/>
            <a:ext cx="633507" cy="369332"/>
          </a:xfrm>
          <a:prstGeom prst="rect">
            <a:avLst/>
          </a:prstGeom>
          <a:noFill/>
        </p:spPr>
        <p:txBody>
          <a:bodyPr wrap="none" rtlCol="0">
            <a:spAutoFit/>
          </a:bodyPr>
          <a:lstStyle/>
          <a:p>
            <a:r>
              <a:rPr lang="en-US" altLang="zh-CN" dirty="0"/>
              <a:t>LAC</a:t>
            </a:r>
            <a:endParaRPr lang="zh-CN" altLang="en-US" dirty="0"/>
          </a:p>
        </p:txBody>
      </p:sp>
      <p:sp>
        <p:nvSpPr>
          <p:cNvPr id="52" name="文本框 51">
            <a:extLst>
              <a:ext uri="{FF2B5EF4-FFF2-40B4-BE49-F238E27FC236}">
                <a16:creationId xmlns:a16="http://schemas.microsoft.com/office/drawing/2014/main" id="{A4AF29EE-559C-42C9-A43A-C5091E3748A9}"/>
              </a:ext>
            </a:extLst>
          </p:cNvPr>
          <p:cNvSpPr txBox="1"/>
          <p:nvPr/>
        </p:nvSpPr>
        <p:spPr>
          <a:xfrm>
            <a:off x="6876256" y="2212677"/>
            <a:ext cx="671979" cy="369332"/>
          </a:xfrm>
          <a:prstGeom prst="rect">
            <a:avLst/>
          </a:prstGeom>
          <a:noFill/>
        </p:spPr>
        <p:txBody>
          <a:bodyPr wrap="none" rtlCol="0">
            <a:spAutoFit/>
          </a:bodyPr>
          <a:lstStyle/>
          <a:p>
            <a:r>
              <a:rPr lang="en-US" altLang="zh-CN" dirty="0"/>
              <a:t>LMC</a:t>
            </a:r>
            <a:endParaRPr lang="zh-CN" altLang="en-US" dirty="0"/>
          </a:p>
        </p:txBody>
      </p:sp>
    </p:spTree>
    <p:extLst>
      <p:ext uri="{BB962C8B-B14F-4D97-AF65-F5344CB8AC3E}">
        <p14:creationId xmlns:p14="http://schemas.microsoft.com/office/powerpoint/2010/main" val="30639311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627AE83D-F3D9-4FE1-841C-38AA09ECDF1C}"/>
              </a:ext>
            </a:extLst>
          </p:cNvPr>
          <p:cNvGrpSpPr/>
          <p:nvPr/>
        </p:nvGrpSpPr>
        <p:grpSpPr>
          <a:xfrm>
            <a:off x="467544" y="1256973"/>
            <a:ext cx="2160321" cy="514350"/>
            <a:chOff x="467544" y="2382202"/>
            <a:chExt cx="2808366" cy="514350"/>
          </a:xfrm>
        </p:grpSpPr>
        <p:sp>
          <p:nvSpPr>
            <p:cNvPr id="19"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382202"/>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长期利润最大化</a:t>
              </a:r>
            </a:p>
          </p:txBody>
        </p:sp>
        <p:sp>
          <p:nvSpPr>
            <p:cNvPr id="20"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088700" y="2436969"/>
              <a:ext cx="127000"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sp>
        <p:nvSpPr>
          <p:cNvPr id="8" name="矩形 7">
            <a:extLst>
              <a:ext uri="{FF2B5EF4-FFF2-40B4-BE49-F238E27FC236}">
                <a16:creationId xmlns:a16="http://schemas.microsoft.com/office/drawing/2014/main" id="{F68E5273-CD77-47B9-B841-9D29349C133D}"/>
              </a:ext>
            </a:extLst>
          </p:cNvPr>
          <p:cNvSpPr/>
          <p:nvPr/>
        </p:nvSpPr>
        <p:spPr>
          <a:xfrm>
            <a:off x="467544" y="548680"/>
            <a:ext cx="288037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一、企业规模调整</a:t>
            </a:r>
          </a:p>
        </p:txBody>
      </p:sp>
      <p:sp>
        <p:nvSpPr>
          <p:cNvPr id="9" name="矩形 8">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pic>
        <p:nvPicPr>
          <p:cNvPr id="10" name="图片 9">
            <a:extLst>
              <a:ext uri="{FF2B5EF4-FFF2-40B4-BE49-F238E27FC236}">
                <a16:creationId xmlns:a16="http://schemas.microsoft.com/office/drawing/2014/main" id="{17648D0F-5B78-40F0-ABCD-D737589494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8156"/>
          <a:stretch/>
        </p:blipFill>
        <p:spPr>
          <a:xfrm flipH="1">
            <a:off x="899745" y="2017951"/>
            <a:ext cx="1916796" cy="3699714"/>
          </a:xfrm>
          <a:prstGeom prst="rect">
            <a:avLst/>
          </a:prstGeom>
        </p:spPr>
      </p:pic>
      <p:sp>
        <p:nvSpPr>
          <p:cNvPr id="11" name="矩形 10">
            <a:extLst>
              <a:ext uri="{FF2B5EF4-FFF2-40B4-BE49-F238E27FC236}">
                <a16:creationId xmlns:a16="http://schemas.microsoft.com/office/drawing/2014/main" id="{4A900373-B6DC-4337-9A51-1C8FA67BD429}"/>
              </a:ext>
            </a:extLst>
          </p:cNvPr>
          <p:cNvSpPr/>
          <p:nvPr/>
        </p:nvSpPr>
        <p:spPr>
          <a:xfrm>
            <a:off x="2558881" y="2291513"/>
            <a:ext cx="5881291" cy="3332772"/>
          </a:xfrm>
          <a:prstGeom prst="rect">
            <a:avLst/>
          </a:prstGeom>
        </p:spPr>
        <p:txBody>
          <a:bodyPr wrap="square">
            <a:spAutoFit/>
          </a:bodyPr>
          <a:lstStyle/>
          <a:p>
            <a:pPr marL="800100" lvl="1" indent="-342900" eaLnBrk="1" hangingPunct="1">
              <a:lnSpc>
                <a:spcPct val="20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长期的利润最大化</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就是在所有的短期均衡中选择一个“最优” 的短期均衡。</a:t>
            </a:r>
          </a:p>
          <a:p>
            <a:pPr marL="800100" lvl="1" indent="-342900" eaLnBrk="1" hangingPunct="1">
              <a:lnSpc>
                <a:spcPct val="200000"/>
              </a:lnSpc>
              <a:buFont typeface="Wingdings" panose="05000000000000000000" pitchFamily="2" charset="2"/>
              <a:buChar char="Ø"/>
            </a:pPr>
            <a:endParaRPr lang="zh-CN" altLang="en-US" dirty="0">
              <a:latin typeface="微软雅黑" panose="020B0503020204020204" pitchFamily="34" charset="-122"/>
              <a:ea typeface="微软雅黑" panose="020B0503020204020204" pitchFamily="34" charset="-122"/>
            </a:endParaRPr>
          </a:p>
          <a:p>
            <a:pPr marL="800100" lvl="1" indent="-342900" eaLnBrk="1" hangingPunct="1">
              <a:lnSpc>
                <a:spcPct val="200000"/>
              </a:lnSpc>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利润最大的短期规模</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长期沿用的规模</a:t>
            </a:r>
            <a:r>
              <a:rPr lang="en-US" altLang="zh-CN" dirty="0">
                <a:latin typeface="微软雅黑" panose="020B0503020204020204" pitchFamily="34" charset="-122"/>
                <a:ea typeface="微软雅黑" panose="020B0503020204020204" pitchFamily="34" charset="-122"/>
              </a:rPr>
              <a:t>"</a:t>
            </a:r>
          </a:p>
          <a:p>
            <a:pPr lvl="1" eaLnBrk="1" hangingPunct="1">
              <a:lnSpc>
                <a:spcPct val="200000"/>
              </a:lnSpc>
            </a:pPr>
            <a:r>
              <a:rPr lang="zh-CN" altLang="en-US" dirty="0">
                <a:latin typeface="微软雅黑" panose="020B0503020204020204" pitchFamily="34" charset="-122"/>
                <a:ea typeface="微软雅黑" panose="020B0503020204020204" pitchFamily="34" charset="-122"/>
              </a:rPr>
              <a:t>       在长期，在每一个产量水平上选择利润最大的     </a:t>
            </a:r>
            <a:endParaRPr lang="en-US" altLang="zh-CN" dirty="0">
              <a:latin typeface="微软雅黑" panose="020B0503020204020204" pitchFamily="34" charset="-122"/>
              <a:ea typeface="微软雅黑" panose="020B0503020204020204" pitchFamily="34" charset="-122"/>
            </a:endParaRPr>
          </a:p>
          <a:p>
            <a:pPr lvl="1" eaLnBrk="1" hangingPunct="1">
              <a:lnSpc>
                <a:spcPct val="20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短期规模</a:t>
            </a:r>
          </a:p>
        </p:txBody>
      </p:sp>
    </p:spTree>
    <p:extLst>
      <p:ext uri="{BB962C8B-B14F-4D97-AF65-F5344CB8AC3E}">
        <p14:creationId xmlns:p14="http://schemas.microsoft.com/office/powerpoint/2010/main" val="543952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wipe(left)">
                                      <p:cBhvr>
                                        <p:cTn id="17" dur="5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Effect transition="in" filter="wipe(left)">
                                      <p:cBhvr>
                                        <p:cTn id="22" dur="500"/>
                                        <p:tgtEl>
                                          <p:spTgt spid="11">
                                            <p:txEl>
                                              <p:pRg st="2" end="2"/>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animEffect transition="in" filter="wipe(left)">
                                      <p:cBhvr>
                                        <p:cTn id="25" dur="500"/>
                                        <p:tgtEl>
                                          <p:spTgt spid="11">
                                            <p:txEl>
                                              <p:pRg st="3" end="3"/>
                                            </p:txEl>
                                          </p:spTgt>
                                        </p:tgtEl>
                                      </p:cBhvr>
                                    </p:animEffect>
                                  </p:childTnLst>
                                </p:cTn>
                              </p:par>
                              <p:par>
                                <p:cTn id="26" presetID="22" presetClass="entr" presetSubtype="8" fill="hold" nodeType="withEffect">
                                  <p:stCondLst>
                                    <p:cond delay="0"/>
                                  </p:stCondLst>
                                  <p:childTnLst>
                                    <p:set>
                                      <p:cBhvr>
                                        <p:cTn id="27" dur="1" fill="hold">
                                          <p:stCondLst>
                                            <p:cond delay="0"/>
                                          </p:stCondLst>
                                        </p:cTn>
                                        <p:tgtEl>
                                          <p:spTgt spid="11">
                                            <p:txEl>
                                              <p:pRg st="4" end="4"/>
                                            </p:txEl>
                                          </p:spTgt>
                                        </p:tgtEl>
                                        <p:attrNameLst>
                                          <p:attrName>style.visibility</p:attrName>
                                        </p:attrNameLst>
                                      </p:cBhvr>
                                      <p:to>
                                        <p:strVal val="visible"/>
                                      </p:to>
                                    </p:set>
                                    <p:animEffect transition="in" filter="wipe(left)">
                                      <p:cBhvr>
                                        <p:cTn id="28"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C352424-0443-43CC-9DB7-D6B00F0C4B2E}"/>
              </a:ext>
            </a:extLst>
          </p:cNvPr>
          <p:cNvSpPr/>
          <p:nvPr/>
        </p:nvSpPr>
        <p:spPr>
          <a:xfrm>
            <a:off x="2915886" y="2564940"/>
            <a:ext cx="5472380" cy="2535951"/>
          </a:xfrm>
          <a:prstGeom prst="rect">
            <a:avLst/>
          </a:prstGeom>
        </p:spPr>
        <p:txBody>
          <a:bodyPr wrap="square">
            <a:spAutoFit/>
          </a:bodyPr>
          <a:lstStyle/>
          <a:p>
            <a:pPr marL="342900" lvl="2" indent="-342900" eaLnBrk="1" hangingPunct="1">
              <a:lnSpc>
                <a:spcPct val="150000"/>
              </a:lnSpc>
              <a:buSzPct val="10000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华文楷体" panose="02010600040101010101" pitchFamily="2" charset="-122"/>
              </a:rPr>
              <a:t>如果市场需求</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sym typeface="华文楷体" panose="02010600040101010101" pitchFamily="2" charset="-122"/>
              </a:rPr>
              <a:t>P &gt; ATC</a:t>
            </a:r>
            <a:r>
              <a:rPr lang="zh-CN" altLang="en-US" dirty="0">
                <a:latin typeface="微软雅黑" panose="020B0503020204020204" pitchFamily="34" charset="-122"/>
                <a:ea typeface="微软雅黑" panose="020B0503020204020204" pitchFamily="34" charset="-122"/>
                <a:sym typeface="华文楷体" panose="02010600040101010101" pitchFamily="2" charset="-122"/>
              </a:rPr>
              <a:t>，可以获得经济利润，即超额利润，企业扩大生产规模。</a:t>
            </a:r>
            <a:endParaRPr lang="en-US" altLang="zh-CN" dirty="0">
              <a:latin typeface="微软雅黑" panose="020B0503020204020204" pitchFamily="34" charset="-122"/>
              <a:ea typeface="微软雅黑" panose="020B0503020204020204" pitchFamily="34" charset="-122"/>
              <a:sym typeface="华文楷体" panose="02010600040101010101" pitchFamily="2" charset="-122"/>
            </a:endParaRPr>
          </a:p>
          <a:p>
            <a:pPr marL="342900" lvl="2" indent="-342900" eaLnBrk="1" hangingPunct="1">
              <a:lnSpc>
                <a:spcPct val="150000"/>
              </a:lnSpc>
              <a:buSzPct val="100000"/>
              <a:buFontTx/>
              <a:buChar char="•"/>
            </a:pPr>
            <a:endParaRPr lang="en-US" altLang="zh-CN" dirty="0">
              <a:latin typeface="微软雅黑" panose="020B0503020204020204" pitchFamily="34" charset="-122"/>
              <a:ea typeface="微软雅黑" panose="020B0503020204020204" pitchFamily="34" charset="-122"/>
              <a:sym typeface="华文楷体" panose="02010600040101010101" pitchFamily="2" charset="-122"/>
            </a:endParaRPr>
          </a:p>
          <a:p>
            <a:pPr marL="342900" indent="-342900" eaLnBrk="1" hangingPunct="1">
              <a:lnSpc>
                <a:spcPct val="150000"/>
              </a:lnSpc>
              <a:buSzPct val="10000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华文楷体" panose="02010600040101010101" pitchFamily="2" charset="-122"/>
              </a:rPr>
              <a:t>如果</a:t>
            </a:r>
            <a:r>
              <a:rPr lang="en-US" altLang="zh-CN" dirty="0">
                <a:latin typeface="微软雅黑" panose="020B0503020204020204" pitchFamily="34" charset="-122"/>
                <a:ea typeface="微软雅黑" panose="020B0503020204020204" pitchFamily="34" charset="-122"/>
                <a:sym typeface="华文楷体" panose="02010600040101010101" pitchFamily="2" charset="-122"/>
              </a:rPr>
              <a:t>P=ATC</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zh-CN" altLang="en-US" dirty="0">
                <a:latin typeface="微软雅黑" panose="020B0503020204020204" pitchFamily="34" charset="-122"/>
                <a:ea typeface="微软雅黑" panose="020B0503020204020204" pitchFamily="34" charset="-122"/>
                <a:sym typeface="华文楷体" panose="02010600040101010101" pitchFamily="2" charset="-122"/>
              </a:rPr>
              <a:t>零经济利润，企业规模不变。</a:t>
            </a:r>
            <a:endParaRPr lang="en-US" altLang="zh-CN" dirty="0">
              <a:latin typeface="微软雅黑" panose="020B0503020204020204" pitchFamily="34" charset="-122"/>
              <a:ea typeface="微软雅黑" panose="020B0503020204020204" pitchFamily="34" charset="-122"/>
              <a:sym typeface="华文楷体" panose="02010600040101010101" pitchFamily="2" charset="-122"/>
            </a:endParaRPr>
          </a:p>
          <a:p>
            <a:pPr marL="342900" indent="-342900" eaLnBrk="1" hangingPunct="1">
              <a:lnSpc>
                <a:spcPct val="150000"/>
              </a:lnSpc>
              <a:buSzPct val="100000"/>
              <a:buFontTx/>
              <a:buChar char="•"/>
            </a:pPr>
            <a:endParaRPr lang="en-US" altLang="zh-CN" dirty="0">
              <a:latin typeface="微软雅黑" panose="020B0503020204020204" pitchFamily="34" charset="-122"/>
              <a:ea typeface="微软雅黑" panose="020B0503020204020204" pitchFamily="34" charset="-122"/>
              <a:sym typeface="华文楷体" panose="02010600040101010101" pitchFamily="2" charset="-122"/>
            </a:endParaRPr>
          </a:p>
          <a:p>
            <a:pPr marL="342900" indent="-342900" eaLnBrk="1" hangingPunct="1">
              <a:lnSpc>
                <a:spcPct val="150000"/>
              </a:lnSpc>
              <a:buSzPct val="10000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华文楷体" panose="02010600040101010101" pitchFamily="2" charset="-122"/>
              </a:rPr>
              <a:t>如果</a:t>
            </a:r>
            <a:r>
              <a:rPr lang="en-US" altLang="zh-CN" dirty="0">
                <a:latin typeface="微软雅黑" panose="020B0503020204020204" pitchFamily="34" charset="-122"/>
                <a:ea typeface="微软雅黑" panose="020B0503020204020204" pitchFamily="34" charset="-122"/>
                <a:sym typeface="华文楷体" panose="02010600040101010101" pitchFamily="2" charset="-122"/>
              </a:rPr>
              <a:t>P&lt;ATC</a:t>
            </a:r>
            <a:r>
              <a:rPr lang="en-US" altLang="zh-CN" dirty="0">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latin typeface="微软雅黑" panose="020B0503020204020204" pitchFamily="34" charset="-122"/>
                <a:ea typeface="微软雅黑" panose="020B0503020204020204" pitchFamily="34" charset="-122"/>
                <a:sym typeface="华文楷体" panose="02010600040101010101" pitchFamily="2" charset="-122"/>
              </a:rPr>
              <a:t> </a:t>
            </a:r>
            <a:r>
              <a:rPr lang="zh-CN" altLang="en-US" dirty="0">
                <a:latin typeface="微软雅黑" panose="020B0503020204020204" pitchFamily="34" charset="-122"/>
                <a:ea typeface="微软雅黑" panose="020B0503020204020204" pitchFamily="34" charset="-122"/>
                <a:sym typeface="华文楷体" panose="02010600040101010101" pitchFamily="2" charset="-122"/>
              </a:rPr>
              <a:t>厂商会缩小规模乃至退出市场。</a:t>
            </a:r>
            <a:endParaRPr lang="zh-CN" altLang="en-US" sz="1400"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F68E5273-CD77-47B9-B841-9D29349C133D}"/>
              </a:ext>
            </a:extLst>
          </p:cNvPr>
          <p:cNvSpPr/>
          <p:nvPr/>
        </p:nvSpPr>
        <p:spPr>
          <a:xfrm>
            <a:off x="467544" y="548680"/>
            <a:ext cx="288037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一、企业规模调整</a:t>
            </a:r>
          </a:p>
        </p:txBody>
      </p:sp>
      <p:sp>
        <p:nvSpPr>
          <p:cNvPr id="9" name="矩形 8">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2" name="组合 1"/>
          <p:cNvGrpSpPr/>
          <p:nvPr/>
        </p:nvGrpSpPr>
        <p:grpSpPr>
          <a:xfrm>
            <a:off x="467544" y="1256973"/>
            <a:ext cx="2160321" cy="514350"/>
            <a:chOff x="467544" y="1256973"/>
            <a:chExt cx="2160321" cy="514350"/>
          </a:xfrm>
        </p:grpSpPr>
        <p:sp>
          <p:nvSpPr>
            <p:cNvPr id="11"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1256973"/>
              <a:ext cx="2160321"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企业规模的调整</a:t>
              </a:r>
            </a:p>
          </p:txBody>
        </p:sp>
        <p:sp>
          <p:nvSpPr>
            <p:cNvPr id="12"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483855" y="1311740"/>
              <a:ext cx="97694"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pic>
        <p:nvPicPr>
          <p:cNvPr id="10" name="图片 9">
            <a:extLst>
              <a:ext uri="{FF2B5EF4-FFF2-40B4-BE49-F238E27FC236}">
                <a16:creationId xmlns:a16="http://schemas.microsoft.com/office/drawing/2014/main" id="{7752435F-8E51-4F2B-9291-8E5829210AA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48156"/>
          <a:stretch/>
        </p:blipFill>
        <p:spPr>
          <a:xfrm flipH="1">
            <a:off x="899745" y="2017951"/>
            <a:ext cx="1916796" cy="3699714"/>
          </a:xfrm>
          <a:prstGeom prst="rect">
            <a:avLst/>
          </a:prstGeom>
        </p:spPr>
      </p:pic>
    </p:spTree>
    <p:extLst>
      <p:ext uri="{BB962C8B-B14F-4D97-AF65-F5344CB8AC3E}">
        <p14:creationId xmlns:p14="http://schemas.microsoft.com/office/powerpoint/2010/main" val="391377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627AE83D-F3D9-4FE1-841C-38AA09ECDF1C}"/>
              </a:ext>
            </a:extLst>
          </p:cNvPr>
          <p:cNvGrpSpPr/>
          <p:nvPr/>
        </p:nvGrpSpPr>
        <p:grpSpPr>
          <a:xfrm>
            <a:off x="467544" y="1324088"/>
            <a:ext cx="2304331" cy="514350"/>
            <a:chOff x="467544" y="2449317"/>
            <a:chExt cx="2808366" cy="514350"/>
          </a:xfrm>
        </p:grpSpPr>
        <p:sp>
          <p:nvSpPr>
            <p:cNvPr id="19"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67544" y="2449317"/>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行业的规模</a:t>
              </a:r>
            </a:p>
          </p:txBody>
        </p:sp>
        <p:sp>
          <p:nvSpPr>
            <p:cNvPr id="20"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3122732" y="2499061"/>
              <a:ext cx="127000"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sp>
        <p:nvSpPr>
          <p:cNvPr id="8" name="矩形 7">
            <a:extLst>
              <a:ext uri="{FF2B5EF4-FFF2-40B4-BE49-F238E27FC236}">
                <a16:creationId xmlns:a16="http://schemas.microsoft.com/office/drawing/2014/main" id="{F68E5273-CD77-47B9-B841-9D29349C133D}"/>
              </a:ext>
            </a:extLst>
          </p:cNvPr>
          <p:cNvSpPr/>
          <p:nvPr/>
        </p:nvSpPr>
        <p:spPr>
          <a:xfrm>
            <a:off x="467544" y="548680"/>
            <a:ext cx="288037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二、行业规模调整</a:t>
            </a:r>
          </a:p>
        </p:txBody>
      </p:sp>
      <p:sp>
        <p:nvSpPr>
          <p:cNvPr id="9" name="矩形 8">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7" name="组合 6"/>
          <p:cNvGrpSpPr/>
          <p:nvPr/>
        </p:nvGrpSpPr>
        <p:grpSpPr>
          <a:xfrm>
            <a:off x="476709" y="3445612"/>
            <a:ext cx="2295166" cy="514350"/>
            <a:chOff x="476709" y="3445612"/>
            <a:chExt cx="2295166" cy="514350"/>
          </a:xfrm>
        </p:grpSpPr>
        <p:sp>
          <p:nvSpPr>
            <p:cNvPr id="11"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76709" y="3445612"/>
              <a:ext cx="22951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法则</a:t>
              </a:r>
              <a:r>
                <a:rPr lang="en-US" altLang="zh-CN" spc="150" dirty="0">
                  <a:solidFill>
                    <a:srgbClr val="000000"/>
                  </a:solidFill>
                  <a:latin typeface="微软雅黑" panose="020B0503020204020204" pitchFamily="34" charset="-122"/>
                  <a:ea typeface="微软雅黑" panose="020B0503020204020204" pitchFamily="34" charset="-122"/>
                </a:rPr>
                <a:t>: </a:t>
              </a:r>
              <a:r>
                <a:rPr lang="zh-CN" altLang="en-US" spc="150" dirty="0">
                  <a:solidFill>
                    <a:srgbClr val="000000"/>
                  </a:solidFill>
                  <a:latin typeface="微软雅黑" panose="020B0503020204020204" pitchFamily="34" charset="-122"/>
                  <a:ea typeface="微软雅黑" panose="020B0503020204020204" pitchFamily="34" charset="-122"/>
                </a:rPr>
                <a:t>零经济利润</a:t>
              </a:r>
            </a:p>
          </p:txBody>
        </p:sp>
        <p:sp>
          <p:nvSpPr>
            <p:cNvPr id="12"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643845" y="3475095"/>
              <a:ext cx="97694"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4" name="矩形 3"/>
              <p:cNvSpPr/>
              <p:nvPr/>
            </p:nvSpPr>
            <p:spPr>
              <a:xfrm>
                <a:off x="3591628" y="3981627"/>
                <a:ext cx="5886249" cy="2037802"/>
              </a:xfrm>
              <a:prstGeom prst="rect">
                <a:avLst/>
              </a:prstGeom>
            </p:spPr>
            <p:txBody>
              <a:bodyPr wrap="square">
                <a:spAutoFit/>
              </a:bodyPr>
              <a:lstStyle/>
              <a:p>
                <a:pPr marL="342900" lvl="0" indent="-342900" eaLnBrk="1" hangingPunct="1">
                  <a:lnSpc>
                    <a:spcPct val="150000"/>
                  </a:lnSpc>
                  <a:buFont typeface="Wingdings" panose="05000000000000000000" pitchFamily="2" charset="2"/>
                  <a:buChar char="Ø"/>
                </a:pPr>
                <a:r>
                  <a:rPr lang="zh-CN" altLang="en-US"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rPr>
                      <m:t>𝑃</m:t>
                    </m:r>
                    <m:r>
                      <a:rPr lang="en-US" altLang="zh-CN" i="1" dirty="0" smtClean="0">
                        <a:latin typeface="Cambria Math" panose="02040503050406030204" pitchFamily="18" charset="0"/>
                        <a:ea typeface="微软雅黑" panose="020B0503020204020204" pitchFamily="34" charset="-122"/>
                      </a:rPr>
                      <m:t>  =  </m:t>
                    </m:r>
                    <m:r>
                      <a:rPr lang="en-US" altLang="zh-CN" i="1" dirty="0" smtClean="0">
                        <a:latin typeface="Cambria Math" panose="02040503050406030204" pitchFamily="18" charset="0"/>
                        <a:ea typeface="微软雅黑" panose="020B0503020204020204" pitchFamily="34" charset="-122"/>
                      </a:rPr>
                      <m:t>𝑀𝐶</m:t>
                    </m:r>
                    <m:r>
                      <a:rPr lang="en-US" altLang="zh-CN" i="1" dirty="0" smtClean="0">
                        <a:latin typeface="Cambria Math" panose="02040503050406030204" pitchFamily="18" charset="0"/>
                        <a:ea typeface="微软雅黑" panose="020B0503020204020204" pitchFamily="34" charset="-122"/>
                      </a:rPr>
                      <m:t>  = </m:t>
                    </m:r>
                    <m:r>
                      <a:rPr lang="en-US" altLang="zh-CN" i="1" dirty="0" smtClean="0">
                        <a:latin typeface="Cambria Math" panose="02040503050406030204" pitchFamily="18" charset="0"/>
                        <a:ea typeface="微软雅黑" panose="020B0503020204020204" pitchFamily="34" charset="-122"/>
                      </a:rPr>
                      <m:t>𝐴𝐶</m:t>
                    </m:r>
                  </m:oMath>
                </a14:m>
                <a:endParaRPr lang="zh-CN" altLang="en-US" dirty="0">
                  <a:latin typeface="微软雅黑" panose="020B0503020204020204" pitchFamily="34" charset="-122"/>
                  <a:ea typeface="微软雅黑" panose="020B0503020204020204" pitchFamily="34" charset="-122"/>
                </a:endParaRPr>
              </a:p>
              <a:p>
                <a:pPr marL="342900" lvl="0" indent="-342900" eaLnBrk="1" hangingPunct="1">
                  <a:lnSpc>
                    <a:spcPct val="150000"/>
                  </a:lnSpc>
                  <a:spcBef>
                    <a:spcPct val="40000"/>
                  </a:spcBef>
                </a:pPr>
                <a:r>
                  <a:rPr lang="en-US" altLang="zh-CN" dirty="0">
                    <a:latin typeface="微软雅黑" panose="020B0503020204020204" pitchFamily="34" charset="-122"/>
                    <a:ea typeface="微软雅黑" panose="020B0503020204020204" pitchFamily="34" charset="-122"/>
                    <a:sym typeface="Times New Roman" panose="02020603050405020304" pitchFamily="18" charset="0"/>
                  </a:rPr>
                  <a:t>     </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sym typeface="Times New Roman" panose="02020603050405020304" pitchFamily="18" charset="0"/>
                      </a:rPr>
                      <m:t>𝜋</m:t>
                    </m:r>
                    <m:r>
                      <a:rPr lang="en-US" altLang="zh-CN" i="1" dirty="0" smtClean="0">
                        <a:latin typeface="Cambria Math" panose="02040503050406030204" pitchFamily="18" charset="0"/>
                        <a:ea typeface="微软雅黑" panose="020B0503020204020204" pitchFamily="34" charset="-122"/>
                        <a:sym typeface="Times New Roman" panose="02020603050405020304" pitchFamily="18" charset="0"/>
                      </a:rPr>
                      <m:t> &gt; 0</m:t>
                    </m:r>
                  </m:oMath>
                </a14:m>
                <a:r>
                  <a:rPr lang="en-US" altLang="zh-CN" dirty="0">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进入市场</a:t>
                </a:r>
              </a:p>
              <a:p>
                <a:pPr marL="342900" lvl="0" indent="-342900" eaLnBrk="1" hangingPunct="1">
                  <a:lnSpc>
                    <a:spcPct val="150000"/>
                  </a:lnSpc>
                  <a:spcBef>
                    <a:spcPct val="40000"/>
                  </a:spcBef>
                </a:pPr>
                <a:r>
                  <a:rPr lang="en-US" altLang="zh-CN" dirty="0">
                    <a:latin typeface="微软雅黑" panose="020B0503020204020204" pitchFamily="34" charset="-122"/>
                    <a:ea typeface="微软雅黑" panose="020B0503020204020204" pitchFamily="34" charset="-122"/>
                    <a:sym typeface="Times New Roman" panose="02020603050405020304" pitchFamily="18" charset="0"/>
                  </a:rPr>
                  <a:t>     </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sym typeface="Times New Roman" panose="02020603050405020304" pitchFamily="18" charset="0"/>
                      </a:rPr>
                      <m:t>𝜋</m:t>
                    </m:r>
                    <m:r>
                      <a:rPr lang="en-US" altLang="zh-CN" i="1" dirty="0" smtClean="0">
                        <a:latin typeface="Cambria Math" panose="02040503050406030204" pitchFamily="18" charset="0"/>
                        <a:ea typeface="微软雅黑" panose="020B0503020204020204" pitchFamily="34" charset="-122"/>
                        <a:sym typeface="Times New Roman" panose="02020603050405020304" pitchFamily="18" charset="0"/>
                      </a:rPr>
                      <m:t> &lt; 0</m:t>
                    </m:r>
                  </m:oMath>
                </a14:m>
                <a:r>
                  <a:rPr lang="en-US" altLang="zh-CN" dirty="0">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退出市场</a:t>
                </a:r>
              </a:p>
              <a:p>
                <a:pPr marL="342900" lvl="0" indent="-342900" eaLnBrk="1" hangingPunct="1">
                  <a:lnSpc>
                    <a:spcPct val="150000"/>
                  </a:lnSpc>
                  <a:spcBef>
                    <a:spcPct val="40000"/>
                  </a:spcBef>
                </a:pPr>
                <a:r>
                  <a:rPr lang="en-US" altLang="zh-CN" dirty="0">
                    <a:latin typeface="微软雅黑" panose="020B0503020204020204" pitchFamily="34" charset="-122"/>
                    <a:ea typeface="微软雅黑" panose="020B0503020204020204" pitchFamily="34" charset="-122"/>
                    <a:sym typeface="Times New Roman" panose="02020603050405020304" pitchFamily="18" charset="0"/>
                  </a:rPr>
                  <a:t>     </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sym typeface="Times New Roman" panose="02020603050405020304" pitchFamily="18" charset="0"/>
                      </a:rPr>
                      <m:t>𝜋</m:t>
                    </m:r>
                    <m:r>
                      <a:rPr lang="en-US" altLang="zh-CN" i="1" dirty="0" smtClean="0">
                        <a:latin typeface="Cambria Math" panose="02040503050406030204" pitchFamily="18" charset="0"/>
                        <a:ea typeface="微软雅黑" panose="020B0503020204020204" pitchFamily="34" charset="-122"/>
                        <a:sym typeface="Times New Roman" panose="02020603050405020304" pitchFamily="18" charset="0"/>
                      </a:rPr>
                      <m:t> = 0</m:t>
                    </m:r>
                  </m:oMath>
                </a14:m>
                <a:r>
                  <a:rPr lang="en-US" altLang="zh-CN" dirty="0">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没有进入也没有退出 </a:t>
                </a:r>
              </a:p>
            </p:txBody>
          </p:sp>
        </mc:Choice>
        <mc:Fallback xmlns="">
          <p:sp>
            <p:nvSpPr>
              <p:cNvPr id="4" name="矩形 3"/>
              <p:cNvSpPr>
                <a:spLocks noRot="1" noChangeAspect="1" noMove="1" noResize="1" noEditPoints="1" noAdjustHandles="1" noChangeArrowheads="1" noChangeShapeType="1" noTextEdit="1"/>
              </p:cNvSpPr>
              <p:nvPr/>
            </p:nvSpPr>
            <p:spPr>
              <a:xfrm>
                <a:off x="3591628" y="3981627"/>
                <a:ext cx="5886249" cy="2037802"/>
              </a:xfrm>
              <a:prstGeom prst="rect">
                <a:avLst/>
              </a:prstGeom>
              <a:blipFill>
                <a:blip r:embed="rId7"/>
                <a:stretch>
                  <a:fillRect l="-621" b="-3892"/>
                </a:stretch>
              </a:blipFill>
            </p:spPr>
            <p:txBody>
              <a:bodyPr/>
              <a:lstStyle/>
              <a:p>
                <a:r>
                  <a:rPr lang="zh-CN" altLang="en-US">
                    <a:noFill/>
                  </a:rPr>
                  <a:t> </a:t>
                </a:r>
              </a:p>
            </p:txBody>
          </p:sp>
        </mc:Fallback>
      </mc:AlternateContent>
      <p:sp>
        <p:nvSpPr>
          <p:cNvPr id="6" name="矩形 5"/>
          <p:cNvSpPr/>
          <p:nvPr/>
        </p:nvSpPr>
        <p:spPr>
          <a:xfrm>
            <a:off x="611725" y="1972566"/>
            <a:ext cx="8066537" cy="1289905"/>
          </a:xfrm>
          <a:prstGeom prst="rect">
            <a:avLst/>
          </a:prstGeom>
        </p:spPr>
        <p:txBody>
          <a:bodyPr wrap="square">
            <a:spAutoFit/>
          </a:bodyPr>
          <a:lstStyle/>
          <a:p>
            <a:pPr marL="800100" lvl="3" indent="-34290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企业的盈利或亏损会引起行业的规模调整。在长期中</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企业的进入和退出调整着整个行业的规模。直到最后</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在该行业中</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所有的完全竞争企业都处于不盈不亏的状态。</a:t>
            </a:r>
            <a:endParaRPr lang="en-US" altLang="zh-CN" dirty="0">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DA92B1CE-79AB-4DA1-B1FB-3AA9D8A835C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85709" y="4118393"/>
            <a:ext cx="1813964" cy="1996635"/>
          </a:xfrm>
          <a:prstGeom prst="rect">
            <a:avLst/>
          </a:prstGeom>
        </p:spPr>
      </p:pic>
      <p:sp>
        <p:nvSpPr>
          <p:cNvPr id="2" name="标注: 线形 1">
            <a:extLst>
              <a:ext uri="{FF2B5EF4-FFF2-40B4-BE49-F238E27FC236}">
                <a16:creationId xmlns:a16="http://schemas.microsoft.com/office/drawing/2014/main" id="{DB147D20-E914-43A6-8C57-06D9190CAFE3}"/>
              </a:ext>
            </a:extLst>
          </p:cNvPr>
          <p:cNvSpPr/>
          <p:nvPr/>
        </p:nvSpPr>
        <p:spPr bwMode="auto">
          <a:xfrm>
            <a:off x="7020170" y="4077044"/>
            <a:ext cx="1440100" cy="936065"/>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lang="zh-CN" altLang="en-US" dirty="0"/>
              <a:t>因为完全竞争市场没有进出壁垒</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1896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randombar(horizont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wipe(left)">
                                      <p:cBhvr>
                                        <p:cTn id="32" dur="5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wipe(left)">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wipe(left)">
                                      <p:cBhvr>
                                        <p:cTn id="42" dur="500"/>
                                        <p:tgtEl>
                                          <p:spTgt spid="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animEffect transition="in" filter="wipe(left)">
                                      <p:cBhvr>
                                        <p:cTn id="4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68E5273-CD77-47B9-B841-9D29349C133D}"/>
              </a:ext>
            </a:extLst>
          </p:cNvPr>
          <p:cNvSpPr/>
          <p:nvPr/>
        </p:nvSpPr>
        <p:spPr>
          <a:xfrm>
            <a:off x="467544" y="548680"/>
            <a:ext cx="2880371"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二、企业规模调整</a:t>
            </a:r>
          </a:p>
        </p:txBody>
      </p:sp>
      <p:sp>
        <p:nvSpPr>
          <p:cNvPr id="9" name="矩形 8">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0" name="Rectangle 3"/>
          <p:cNvSpPr txBox="1">
            <a:spLocks noChangeArrowheads="1"/>
          </p:cNvSpPr>
          <p:nvPr/>
        </p:nvSpPr>
        <p:spPr bwMode="auto">
          <a:xfrm>
            <a:off x="457200" y="5886336"/>
            <a:ext cx="8229600" cy="5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defTabSz="0" rtl="0" eaLnBrk="0" fontAlgn="base" hangingPunct="0">
              <a:spcBef>
                <a:spcPct val="20000"/>
              </a:spcBef>
              <a:spcAft>
                <a:spcPct val="0"/>
              </a:spcAft>
              <a:buNone/>
              <a:defRPr sz="2400" b="1" kern="1200">
                <a:solidFill>
                  <a:srgbClr val="CC0000"/>
                </a:solidFill>
                <a:latin typeface="+mn-lt"/>
                <a:ea typeface="+mn-ea"/>
                <a:cs typeface="+mn-cs"/>
                <a:sym typeface="Arial" panose="020B0604020202020204" pitchFamily="34" charset="0"/>
              </a:defRPr>
            </a:lvl1pPr>
            <a:lvl2pPr marL="457200" indent="0" algn="ctr" defTabSz="0" rtl="0" eaLnBrk="0" fontAlgn="base" hangingPunct="0">
              <a:spcBef>
                <a:spcPct val="20000"/>
              </a:spcBef>
              <a:spcAft>
                <a:spcPct val="0"/>
              </a:spcAft>
              <a:buNone/>
              <a:defRPr sz="2000" b="1" kern="1200">
                <a:solidFill>
                  <a:schemeClr val="tx1"/>
                </a:solidFill>
                <a:latin typeface="+mn-lt"/>
                <a:ea typeface="+mn-ea"/>
                <a:cs typeface="+mn-cs"/>
                <a:sym typeface="Arial" panose="020B0604020202020204" pitchFamily="34" charset="0"/>
              </a:defRPr>
            </a:lvl2pPr>
            <a:lvl3pPr marL="914400" indent="0" algn="ctr" defTabSz="0" rtl="0" eaLnBrk="0" fontAlgn="base" hangingPunct="0">
              <a:spcBef>
                <a:spcPct val="20000"/>
              </a:spcBef>
              <a:spcAft>
                <a:spcPct val="0"/>
              </a:spcAft>
              <a:buNone/>
              <a:defRPr sz="1800" b="1" kern="1200">
                <a:solidFill>
                  <a:schemeClr val="tx1"/>
                </a:solidFill>
                <a:latin typeface="+mn-lt"/>
                <a:ea typeface="+mn-ea"/>
                <a:cs typeface="+mn-cs"/>
                <a:sym typeface="Arial" panose="020B0604020202020204" pitchFamily="34" charset="0"/>
              </a:defRPr>
            </a:lvl3pPr>
            <a:lvl4pPr marL="13716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4pPr>
            <a:lvl5pPr marL="18288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0" lvl="2" indent="-228600" algn="l" eaLnBrk="1" hangingPunct="1">
              <a:buFontTx/>
            </a:pPr>
            <a:endParaRPr lang="zh-CN" altLang="zh-CN" sz="2400"/>
          </a:p>
          <a:p>
            <a:pPr marL="1143000" lvl="2" indent="-228600" algn="l" eaLnBrk="1" hangingPunct="1">
              <a:buFontTx/>
              <a:buChar char="•"/>
            </a:pPr>
            <a:endParaRPr lang="zh-CN" altLang="zh-CN" sz="2400"/>
          </a:p>
          <a:p>
            <a:pPr marL="1143000" lvl="2" indent="-228600" algn="l" eaLnBrk="1" hangingPunct="1">
              <a:buFontTx/>
            </a:pPr>
            <a:endParaRPr lang="zh-CN" altLang="zh-CN" sz="2400"/>
          </a:p>
          <a:p>
            <a:pPr marL="1143000" lvl="2" indent="-228600" algn="l" eaLnBrk="1" hangingPunct="1">
              <a:buFontTx/>
              <a:buChar char="•"/>
            </a:pPr>
            <a:endParaRPr lang="zh-CN" altLang="zh-CN" sz="2400"/>
          </a:p>
        </p:txBody>
      </p:sp>
      <p:sp>
        <p:nvSpPr>
          <p:cNvPr id="13" name="直接箭头连接符 17"/>
          <p:cNvSpPr>
            <a:spLocks noChangeShapeType="1"/>
          </p:cNvSpPr>
          <p:nvPr/>
        </p:nvSpPr>
        <p:spPr bwMode="auto">
          <a:xfrm rot="5400000" flipH="1" flipV="1">
            <a:off x="546100" y="3876561"/>
            <a:ext cx="3554413" cy="1587"/>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4" name="直接连接符 18"/>
          <p:cNvSpPr>
            <a:spLocks noChangeShapeType="1"/>
          </p:cNvSpPr>
          <p:nvPr/>
        </p:nvSpPr>
        <p:spPr bwMode="auto">
          <a:xfrm>
            <a:off x="2324100" y="3659073"/>
            <a:ext cx="5133975" cy="3175"/>
          </a:xfrm>
          <a:prstGeom prst="line">
            <a:avLst/>
          </a:prstGeom>
          <a:noFill/>
          <a:ln w="19050" cap="flat" cmpd="sng">
            <a:solidFill>
              <a:srgbClr val="7030A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任意多边形 19"/>
          <p:cNvSpPr>
            <a:spLocks noChangeArrowheads="1"/>
          </p:cNvSpPr>
          <p:nvPr/>
        </p:nvSpPr>
        <p:spPr bwMode="auto">
          <a:xfrm>
            <a:off x="3079750" y="3259023"/>
            <a:ext cx="3444875" cy="1725613"/>
          </a:xfrm>
          <a:custGeom>
            <a:avLst/>
            <a:gdLst>
              <a:gd name="T0" fmla="*/ 0 w 3164114"/>
              <a:gd name="T1" fmla="*/ 1422400 h 1422400"/>
              <a:gd name="T2" fmla="*/ 972457 w 3164114"/>
              <a:gd name="T3" fmla="*/ 1262743 h 1422400"/>
              <a:gd name="T4" fmla="*/ 2032000 w 3164114"/>
              <a:gd name="T5" fmla="*/ 841828 h 1422400"/>
              <a:gd name="T6" fmla="*/ 3164114 w 3164114"/>
              <a:gd name="T7" fmla="*/ 0 h 1422400"/>
              <a:gd name="T8" fmla="*/ 3164114 w 3164114"/>
              <a:gd name="T9" fmla="*/ 0 h 1422400"/>
              <a:gd name="T10" fmla="*/ 3164114 w 3164114"/>
              <a:gd name="T11" fmla="*/ 14514 h 1422400"/>
              <a:gd name="T12" fmla="*/ 0 60000 65536"/>
              <a:gd name="T13" fmla="*/ 0 60000 65536"/>
              <a:gd name="T14" fmla="*/ 0 60000 65536"/>
              <a:gd name="T15" fmla="*/ 0 60000 65536"/>
              <a:gd name="T16" fmla="*/ 0 60000 65536"/>
              <a:gd name="T17" fmla="*/ 0 60000 65536"/>
              <a:gd name="T18" fmla="*/ 0 w 3164114"/>
              <a:gd name="T19" fmla="*/ 0 h 1422400"/>
              <a:gd name="T20" fmla="*/ 3164114 w 3164114"/>
              <a:gd name="T21" fmla="*/ 1422400 h 1422400"/>
            </a:gdLst>
            <a:ahLst/>
            <a:cxnLst>
              <a:cxn ang="T12">
                <a:pos x="T0" y="T1"/>
              </a:cxn>
              <a:cxn ang="T13">
                <a:pos x="T2" y="T3"/>
              </a:cxn>
              <a:cxn ang="T14">
                <a:pos x="T4" y="T5"/>
              </a:cxn>
              <a:cxn ang="T15">
                <a:pos x="T6" y="T7"/>
              </a:cxn>
              <a:cxn ang="T16">
                <a:pos x="T8" y="T9"/>
              </a:cxn>
              <a:cxn ang="T17">
                <a:pos x="T10" y="T11"/>
              </a:cxn>
            </a:cxnLst>
            <a:rect l="T18" t="T19" r="T20" b="T21"/>
            <a:pathLst>
              <a:path w="3164114" h="1422400">
                <a:moveTo>
                  <a:pt x="0" y="1422400"/>
                </a:moveTo>
                <a:cubicBezTo>
                  <a:pt x="316895" y="1390952"/>
                  <a:pt x="633790" y="1359505"/>
                  <a:pt x="972457" y="1262743"/>
                </a:cubicBezTo>
                <a:cubicBezTo>
                  <a:pt x="1311124" y="1165981"/>
                  <a:pt x="1666724" y="1052285"/>
                  <a:pt x="2032000" y="841828"/>
                </a:cubicBezTo>
                <a:cubicBezTo>
                  <a:pt x="2397276" y="631371"/>
                  <a:pt x="3164114" y="0"/>
                  <a:pt x="3164114" y="0"/>
                </a:cubicBezTo>
                <a:lnTo>
                  <a:pt x="3164114" y="0"/>
                </a:lnTo>
                <a:lnTo>
                  <a:pt x="3164114" y="14514"/>
                </a:lnTo>
              </a:path>
            </a:pathLst>
          </a:custGeom>
          <a:noFill/>
          <a:ln w="19050" cap="flat" cmpd="sng">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16" name="TextBox 21"/>
          <p:cNvSpPr>
            <a:spLocks noChangeArrowheads="1"/>
          </p:cNvSpPr>
          <p:nvPr/>
        </p:nvSpPr>
        <p:spPr bwMode="auto">
          <a:xfrm>
            <a:off x="7166406" y="3040742"/>
            <a:ext cx="700087"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LAC</a:t>
            </a:r>
            <a:endParaRPr lang="zh-CN" altLang="en-US" sz="1100" dirty="0">
              <a:solidFill>
                <a:srgbClr val="000000"/>
              </a:solidFill>
              <a:sym typeface="Arial" panose="020B0604020202020204" pitchFamily="34" charset="0"/>
            </a:endParaRPr>
          </a:p>
        </p:txBody>
      </p:sp>
      <p:sp>
        <p:nvSpPr>
          <p:cNvPr id="17" name="TextBox 22"/>
          <p:cNvSpPr>
            <a:spLocks noChangeArrowheads="1"/>
          </p:cNvSpPr>
          <p:nvPr/>
        </p:nvSpPr>
        <p:spPr bwMode="auto">
          <a:xfrm>
            <a:off x="6291263" y="2793886"/>
            <a:ext cx="85566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LMC</a:t>
            </a:r>
            <a:endParaRPr lang="zh-CN" altLang="en-US" sz="1100" dirty="0">
              <a:solidFill>
                <a:srgbClr val="000000"/>
              </a:solidFill>
              <a:sym typeface="Arial" panose="020B0604020202020204" pitchFamily="34" charset="0"/>
            </a:endParaRPr>
          </a:p>
        </p:txBody>
      </p:sp>
      <p:sp>
        <p:nvSpPr>
          <p:cNvPr id="18" name="TextBox 23"/>
          <p:cNvSpPr>
            <a:spLocks noChangeArrowheads="1"/>
          </p:cNvSpPr>
          <p:nvPr/>
        </p:nvSpPr>
        <p:spPr bwMode="auto">
          <a:xfrm>
            <a:off x="3490913" y="5651386"/>
            <a:ext cx="544512"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p:sp>
        <p:nvSpPr>
          <p:cNvPr id="19" name="TextBox 24"/>
          <p:cNvSpPr>
            <a:spLocks noChangeArrowheads="1"/>
          </p:cNvSpPr>
          <p:nvPr/>
        </p:nvSpPr>
        <p:spPr bwMode="auto">
          <a:xfrm>
            <a:off x="1857375" y="2100148"/>
            <a:ext cx="544513"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endParaRPr lang="zh-CN" altLang="en-US" sz="1100" dirty="0">
              <a:solidFill>
                <a:srgbClr val="000000"/>
              </a:solidFill>
              <a:sym typeface="Arial" panose="020B0604020202020204" pitchFamily="34" charset="0"/>
            </a:endParaRPr>
          </a:p>
        </p:txBody>
      </p:sp>
      <p:sp>
        <p:nvSpPr>
          <p:cNvPr id="20" name="TextBox 25"/>
          <p:cNvSpPr>
            <a:spLocks noChangeArrowheads="1"/>
          </p:cNvSpPr>
          <p:nvPr/>
        </p:nvSpPr>
        <p:spPr bwMode="auto">
          <a:xfrm>
            <a:off x="2012950" y="5651386"/>
            <a:ext cx="54451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O</a:t>
            </a:r>
            <a:endParaRPr lang="zh-CN" altLang="en-US" sz="1100" dirty="0">
              <a:solidFill>
                <a:srgbClr val="000000"/>
              </a:solidFill>
              <a:sym typeface="Arial" panose="020B0604020202020204" pitchFamily="34" charset="0"/>
            </a:endParaRPr>
          </a:p>
        </p:txBody>
      </p:sp>
      <p:sp>
        <p:nvSpPr>
          <p:cNvPr id="21" name="TextBox 26"/>
          <p:cNvSpPr>
            <a:spLocks noChangeArrowheads="1"/>
          </p:cNvSpPr>
          <p:nvPr/>
        </p:nvSpPr>
        <p:spPr bwMode="auto">
          <a:xfrm>
            <a:off x="6135688" y="5651386"/>
            <a:ext cx="544512"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3</a:t>
            </a:r>
            <a:endParaRPr lang="zh-CN" altLang="en-US" sz="1100" dirty="0">
              <a:solidFill>
                <a:srgbClr val="000000"/>
              </a:solidFill>
              <a:sym typeface="Arial" panose="020B0604020202020204" pitchFamily="34" charset="0"/>
            </a:endParaRPr>
          </a:p>
        </p:txBody>
      </p:sp>
      <p:sp>
        <p:nvSpPr>
          <p:cNvPr id="22" name="TextBox 27"/>
          <p:cNvSpPr>
            <a:spLocks noChangeArrowheads="1"/>
          </p:cNvSpPr>
          <p:nvPr/>
        </p:nvSpPr>
        <p:spPr bwMode="auto">
          <a:xfrm>
            <a:off x="7847013" y="5651386"/>
            <a:ext cx="544512"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endParaRPr lang="zh-CN" altLang="en-US" dirty="0">
              <a:solidFill>
                <a:srgbClr val="000000"/>
              </a:solidFill>
              <a:sym typeface="Arial" panose="020B0604020202020204" pitchFamily="34" charset="0"/>
            </a:endParaRPr>
          </a:p>
        </p:txBody>
      </p:sp>
      <p:sp>
        <p:nvSpPr>
          <p:cNvPr id="23" name="TextBox 29"/>
          <p:cNvSpPr>
            <a:spLocks noChangeArrowheads="1"/>
          </p:cNvSpPr>
          <p:nvPr/>
        </p:nvSpPr>
        <p:spPr bwMode="auto">
          <a:xfrm>
            <a:off x="1857375" y="3312998"/>
            <a:ext cx="544513"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r>
              <a:rPr lang="en-US" altLang="zh-CN" sz="1100" dirty="0">
                <a:solidFill>
                  <a:srgbClr val="000000"/>
                </a:solidFill>
                <a:sym typeface="Arial" panose="020B0604020202020204" pitchFamily="34" charset="0"/>
              </a:rPr>
              <a:t>0</a:t>
            </a:r>
            <a:endParaRPr lang="zh-CN" altLang="en-US" sz="1100" dirty="0">
              <a:solidFill>
                <a:srgbClr val="000000"/>
              </a:solidFill>
              <a:sym typeface="Arial" panose="020B0604020202020204" pitchFamily="34" charset="0"/>
            </a:endParaRPr>
          </a:p>
        </p:txBody>
      </p:sp>
      <p:sp>
        <p:nvSpPr>
          <p:cNvPr id="24" name="直接箭头连接符 30"/>
          <p:cNvSpPr>
            <a:spLocks noChangeShapeType="1"/>
          </p:cNvSpPr>
          <p:nvPr/>
        </p:nvSpPr>
        <p:spPr bwMode="auto">
          <a:xfrm>
            <a:off x="2324100" y="5651386"/>
            <a:ext cx="5834063" cy="3175"/>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5" name="任意多边形 31"/>
          <p:cNvSpPr>
            <a:spLocks noChangeArrowheads="1"/>
          </p:cNvSpPr>
          <p:nvPr/>
        </p:nvSpPr>
        <p:spPr bwMode="auto">
          <a:xfrm>
            <a:off x="2827338" y="3365386"/>
            <a:ext cx="4583112" cy="1320800"/>
          </a:xfrm>
          <a:custGeom>
            <a:avLst/>
            <a:gdLst>
              <a:gd name="T0" fmla="*/ 0 w 4209143"/>
              <a:gd name="T1" fmla="*/ 145142 h 1088571"/>
              <a:gd name="T2" fmla="*/ 1320800 w 4209143"/>
              <a:gd name="T3" fmla="*/ 986971 h 1088571"/>
              <a:gd name="T4" fmla="*/ 2931886 w 4209143"/>
              <a:gd name="T5" fmla="*/ 754742 h 1088571"/>
              <a:gd name="T6" fmla="*/ 4209143 w 4209143"/>
              <a:gd name="T7" fmla="*/ 0 h 1088571"/>
              <a:gd name="T8" fmla="*/ 0 60000 65536"/>
              <a:gd name="T9" fmla="*/ 0 60000 65536"/>
              <a:gd name="T10" fmla="*/ 0 60000 65536"/>
              <a:gd name="T11" fmla="*/ 0 60000 65536"/>
              <a:gd name="T12" fmla="*/ 0 w 4209143"/>
              <a:gd name="T13" fmla="*/ 0 h 1088571"/>
              <a:gd name="T14" fmla="*/ 4209143 w 4209143"/>
              <a:gd name="T15" fmla="*/ 1088571 h 1088571"/>
            </a:gdLst>
            <a:ahLst/>
            <a:cxnLst>
              <a:cxn ang="T8">
                <a:pos x="T0" y="T1"/>
              </a:cxn>
              <a:cxn ang="T9">
                <a:pos x="T2" y="T3"/>
              </a:cxn>
              <a:cxn ang="T10">
                <a:pos x="T4" y="T5"/>
              </a:cxn>
              <a:cxn ang="T11">
                <a:pos x="T6" y="T7"/>
              </a:cxn>
            </a:cxnLst>
            <a:rect l="T12" t="T13" r="T14" b="T15"/>
            <a:pathLst>
              <a:path w="4209143" h="1088571">
                <a:moveTo>
                  <a:pt x="0" y="145142"/>
                </a:moveTo>
                <a:cubicBezTo>
                  <a:pt x="416076" y="515256"/>
                  <a:pt x="832152" y="885371"/>
                  <a:pt x="1320800" y="986971"/>
                </a:cubicBezTo>
                <a:cubicBezTo>
                  <a:pt x="1809448" y="1088571"/>
                  <a:pt x="2450496" y="919237"/>
                  <a:pt x="2931886" y="754742"/>
                </a:cubicBezTo>
                <a:cubicBezTo>
                  <a:pt x="3413277" y="590247"/>
                  <a:pt x="3811210" y="295123"/>
                  <a:pt x="4209143" y="0"/>
                </a:cubicBezTo>
              </a:path>
            </a:pathLst>
          </a:custGeom>
          <a:noFill/>
          <a:ln w="28575" cap="flat" cmpd="sng">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26" name="直接连接符 36"/>
          <p:cNvSpPr>
            <a:spLocks noChangeShapeType="1"/>
          </p:cNvSpPr>
          <p:nvPr/>
        </p:nvSpPr>
        <p:spPr bwMode="auto">
          <a:xfrm>
            <a:off x="2324100" y="4871923"/>
            <a:ext cx="4433888" cy="3175"/>
          </a:xfrm>
          <a:prstGeom prst="line">
            <a:avLst/>
          </a:prstGeom>
          <a:noFill/>
          <a:ln w="19050" cap="flat" cmpd="sng">
            <a:solidFill>
              <a:srgbClr val="00CC0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直接连接符 39"/>
          <p:cNvSpPr>
            <a:spLocks noChangeShapeType="1"/>
          </p:cNvSpPr>
          <p:nvPr/>
        </p:nvSpPr>
        <p:spPr bwMode="auto">
          <a:xfrm rot="5400000">
            <a:off x="5062537" y="4654436"/>
            <a:ext cx="1992313" cy="1588"/>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直接连接符 42"/>
          <p:cNvSpPr>
            <a:spLocks noChangeShapeType="1"/>
          </p:cNvSpPr>
          <p:nvPr/>
        </p:nvSpPr>
        <p:spPr bwMode="auto">
          <a:xfrm rot="5400000">
            <a:off x="3413125" y="5262448"/>
            <a:ext cx="776288" cy="1588"/>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Box 45"/>
          <p:cNvSpPr>
            <a:spLocks noChangeArrowheads="1"/>
          </p:cNvSpPr>
          <p:nvPr/>
        </p:nvSpPr>
        <p:spPr bwMode="auto">
          <a:xfrm>
            <a:off x="1857375" y="4871923"/>
            <a:ext cx="544513"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r>
              <a:rPr lang="en-US" altLang="zh-CN" sz="110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mc:AlternateContent xmlns:mc="http://schemas.openxmlformats.org/markup-compatibility/2006" xmlns:a14="http://schemas.microsoft.com/office/drawing/2010/main">
        <mc:Choice Requires="a14">
          <p:sp>
            <p:nvSpPr>
              <p:cNvPr id="30" name="TextBox 48"/>
              <p:cNvSpPr>
                <a:spLocks noChangeArrowheads="1"/>
              </p:cNvSpPr>
              <p:nvPr/>
            </p:nvSpPr>
            <p:spPr bwMode="auto">
              <a:xfrm>
                <a:off x="6176963" y="4886211"/>
                <a:ext cx="1866900" cy="3629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000000"/>
                          </a:solidFill>
                          <a:latin typeface="Cambria Math" panose="02040503050406030204" pitchFamily="18" charset="0"/>
                          <a:sym typeface="Arial" panose="020B0604020202020204" pitchFamily="34" charset="0"/>
                        </a:rPr>
                        <m:t>𝐿𝑀𝑅</m:t>
                      </m:r>
                      <m:r>
                        <a:rPr lang="en-US" altLang="zh-CN" i="1" dirty="0" smtClean="0">
                          <a:solidFill>
                            <a:srgbClr val="000000"/>
                          </a:solidFill>
                          <a:latin typeface="Cambria Math" panose="02040503050406030204" pitchFamily="18" charset="0"/>
                          <a:sym typeface="Arial" panose="020B0604020202020204" pitchFamily="34" charset="0"/>
                        </a:rPr>
                        <m:t>=</m:t>
                      </m:r>
                      <m:r>
                        <a:rPr lang="en-US" altLang="zh-CN" i="1" dirty="0" smtClean="0">
                          <a:solidFill>
                            <a:srgbClr val="000000"/>
                          </a:solidFill>
                          <a:latin typeface="Cambria Math" panose="02040503050406030204" pitchFamily="18" charset="0"/>
                          <a:sym typeface="Arial" panose="020B0604020202020204" pitchFamily="34" charset="0"/>
                        </a:rPr>
                        <m:t>𝐿𝐴𝑅</m:t>
                      </m:r>
                    </m:oMath>
                  </m:oMathPara>
                </a14:m>
                <a:endParaRPr lang="zh-CN" altLang="en-US" sz="1100" dirty="0">
                  <a:solidFill>
                    <a:srgbClr val="000000"/>
                  </a:solidFill>
                  <a:sym typeface="Arial" panose="020B0604020202020204" pitchFamily="34" charset="0"/>
                </a:endParaRPr>
              </a:p>
            </p:txBody>
          </p:sp>
        </mc:Choice>
        <mc:Fallback xmlns="">
          <p:sp>
            <p:nvSpPr>
              <p:cNvPr id="30" name="TextBox 48"/>
              <p:cNvSpPr>
                <a:spLocks noRot="1" noChangeAspect="1" noMove="1" noResize="1" noEditPoints="1" noAdjustHandles="1" noChangeArrowheads="1" noChangeShapeType="1" noTextEdit="1"/>
              </p:cNvSpPr>
              <p:nvPr/>
            </p:nvSpPr>
            <p:spPr bwMode="auto">
              <a:xfrm>
                <a:off x="6176963" y="4886211"/>
                <a:ext cx="1866900" cy="362984"/>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2" name="TextBox 28"/>
          <p:cNvSpPr>
            <a:spLocks noChangeArrowheads="1"/>
          </p:cNvSpPr>
          <p:nvPr/>
        </p:nvSpPr>
        <p:spPr bwMode="auto">
          <a:xfrm>
            <a:off x="4502150" y="5651386"/>
            <a:ext cx="544513"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endParaRPr lang="zh-CN" altLang="en-US" dirty="0">
              <a:solidFill>
                <a:srgbClr val="000000"/>
              </a:solidFill>
              <a:sym typeface="Arial" panose="020B0604020202020204" pitchFamily="34" charset="0"/>
            </a:endParaRPr>
          </a:p>
        </p:txBody>
      </p:sp>
      <p:sp>
        <p:nvSpPr>
          <p:cNvPr id="33" name="任意多边形 33"/>
          <p:cNvSpPr>
            <a:spLocks noChangeArrowheads="1"/>
          </p:cNvSpPr>
          <p:nvPr/>
        </p:nvSpPr>
        <p:spPr bwMode="auto">
          <a:xfrm>
            <a:off x="3957638" y="4006736"/>
            <a:ext cx="1889125" cy="606425"/>
          </a:xfrm>
          <a:custGeom>
            <a:avLst/>
            <a:gdLst>
              <a:gd name="T0" fmla="*/ 0 w 1422400"/>
              <a:gd name="T1" fmla="*/ 0 h 478972"/>
              <a:gd name="T2" fmla="*/ 319315 w 1422400"/>
              <a:gd name="T3" fmla="*/ 348343 h 478972"/>
              <a:gd name="T4" fmla="*/ 682172 w 1422400"/>
              <a:gd name="T5" fmla="*/ 420915 h 478972"/>
              <a:gd name="T6" fmla="*/ 1422400 w 1422400"/>
              <a:gd name="T7" fmla="*/ 0 h 478972"/>
              <a:gd name="T8" fmla="*/ 0 60000 65536"/>
              <a:gd name="T9" fmla="*/ 0 60000 65536"/>
              <a:gd name="T10" fmla="*/ 0 60000 65536"/>
              <a:gd name="T11" fmla="*/ 0 60000 65536"/>
              <a:gd name="T12" fmla="*/ 0 w 1422400"/>
              <a:gd name="T13" fmla="*/ 0 h 478972"/>
              <a:gd name="T14" fmla="*/ 1422400 w 1422400"/>
              <a:gd name="T15" fmla="*/ 478972 h 478972"/>
            </a:gdLst>
            <a:ahLst/>
            <a:cxnLst>
              <a:cxn ang="T8">
                <a:pos x="T0" y="T1"/>
              </a:cxn>
              <a:cxn ang="T9">
                <a:pos x="T2" y="T3"/>
              </a:cxn>
              <a:cxn ang="T10">
                <a:pos x="T4" y="T5"/>
              </a:cxn>
              <a:cxn ang="T11">
                <a:pos x="T6" y="T7"/>
              </a:cxn>
            </a:cxnLst>
            <a:rect l="T12" t="T13" r="T14" b="T15"/>
            <a:pathLst>
              <a:path w="1422400" h="478972">
                <a:moveTo>
                  <a:pt x="0" y="0"/>
                </a:moveTo>
                <a:cubicBezTo>
                  <a:pt x="102810" y="139095"/>
                  <a:pt x="205620" y="278191"/>
                  <a:pt x="319315" y="348343"/>
                </a:cubicBezTo>
                <a:cubicBezTo>
                  <a:pt x="433010" y="418495"/>
                  <a:pt x="498325" y="478972"/>
                  <a:pt x="682172" y="420915"/>
                </a:cubicBezTo>
                <a:cubicBezTo>
                  <a:pt x="866019" y="362858"/>
                  <a:pt x="1144209" y="181429"/>
                  <a:pt x="1422400" y="0"/>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34" name="任意多边形 34"/>
          <p:cNvSpPr>
            <a:spLocks noChangeArrowheads="1"/>
          </p:cNvSpPr>
          <p:nvPr/>
        </p:nvSpPr>
        <p:spPr bwMode="auto">
          <a:xfrm>
            <a:off x="4191000" y="4052773"/>
            <a:ext cx="727075" cy="950913"/>
          </a:xfrm>
          <a:custGeom>
            <a:avLst/>
            <a:gdLst>
              <a:gd name="T0" fmla="*/ 667658 w 667658"/>
              <a:gd name="T1" fmla="*/ 0 h 783771"/>
              <a:gd name="T2" fmla="*/ 508000 w 667658"/>
              <a:gd name="T3" fmla="*/ 391885 h 783771"/>
              <a:gd name="T4" fmla="*/ 0 w 667658"/>
              <a:gd name="T5" fmla="*/ 783771 h 783771"/>
              <a:gd name="T6" fmla="*/ 0 60000 65536"/>
              <a:gd name="T7" fmla="*/ 0 60000 65536"/>
              <a:gd name="T8" fmla="*/ 0 60000 65536"/>
              <a:gd name="T9" fmla="*/ 0 w 667658"/>
              <a:gd name="T10" fmla="*/ 0 h 783771"/>
              <a:gd name="T11" fmla="*/ 667658 w 667658"/>
              <a:gd name="T12" fmla="*/ 783771 h 783771"/>
            </a:gdLst>
            <a:ahLst/>
            <a:cxnLst>
              <a:cxn ang="T6">
                <a:pos x="T0" y="T1"/>
              </a:cxn>
              <a:cxn ang="T7">
                <a:pos x="T2" y="T3"/>
              </a:cxn>
              <a:cxn ang="T8">
                <a:pos x="T4" y="T5"/>
              </a:cxn>
            </a:cxnLst>
            <a:rect l="T9" t="T10" r="T11" b="T12"/>
            <a:pathLst>
              <a:path w="667658" h="783771">
                <a:moveTo>
                  <a:pt x="667658" y="0"/>
                </a:moveTo>
                <a:cubicBezTo>
                  <a:pt x="643467" y="130628"/>
                  <a:pt x="619276" y="261257"/>
                  <a:pt x="508000" y="391885"/>
                </a:cubicBezTo>
                <a:cubicBezTo>
                  <a:pt x="396724" y="522513"/>
                  <a:pt x="198362" y="653142"/>
                  <a:pt x="0" y="783771"/>
                </a:cubicBez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35" name="直接连接符 35"/>
          <p:cNvSpPr>
            <a:spLocks noChangeShapeType="1"/>
          </p:cNvSpPr>
          <p:nvPr/>
        </p:nvSpPr>
        <p:spPr bwMode="auto">
          <a:xfrm>
            <a:off x="2324100" y="4613161"/>
            <a:ext cx="4433888" cy="1587"/>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直接连接符 40"/>
          <p:cNvSpPr>
            <a:spLocks noChangeShapeType="1"/>
          </p:cNvSpPr>
          <p:nvPr/>
        </p:nvSpPr>
        <p:spPr bwMode="auto">
          <a:xfrm flipH="1">
            <a:off x="4735513" y="4527436"/>
            <a:ext cx="7937" cy="1123950"/>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TextBox 44"/>
          <p:cNvSpPr>
            <a:spLocks noChangeArrowheads="1"/>
          </p:cNvSpPr>
          <p:nvPr/>
        </p:nvSpPr>
        <p:spPr bwMode="auto">
          <a:xfrm>
            <a:off x="1857375" y="4314711"/>
            <a:ext cx="544513"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endParaRPr lang="zh-CN" altLang="en-US" dirty="0">
              <a:solidFill>
                <a:srgbClr val="000000"/>
              </a:solidFill>
              <a:sym typeface="Arial" panose="020B0604020202020204" pitchFamily="34" charset="0"/>
            </a:endParaRPr>
          </a:p>
        </p:txBody>
      </p:sp>
      <p:sp>
        <p:nvSpPr>
          <p:cNvPr id="38" name="TextBox 46"/>
          <p:cNvSpPr>
            <a:spLocks noChangeArrowheads="1"/>
          </p:cNvSpPr>
          <p:nvPr/>
        </p:nvSpPr>
        <p:spPr bwMode="auto">
          <a:xfrm>
            <a:off x="3490913" y="3746386"/>
            <a:ext cx="700087"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AC*</a:t>
            </a:r>
            <a:endParaRPr lang="zh-CN" altLang="en-US" sz="1100" dirty="0">
              <a:solidFill>
                <a:srgbClr val="000000"/>
              </a:solidFill>
              <a:sym typeface="Arial" panose="020B0604020202020204" pitchFamily="34" charset="0"/>
            </a:endParaRPr>
          </a:p>
        </p:txBody>
      </p:sp>
      <p:sp>
        <p:nvSpPr>
          <p:cNvPr id="39" name="TextBox 47"/>
          <p:cNvSpPr>
            <a:spLocks noChangeArrowheads="1"/>
          </p:cNvSpPr>
          <p:nvPr/>
        </p:nvSpPr>
        <p:spPr bwMode="auto">
          <a:xfrm>
            <a:off x="4813300" y="3746386"/>
            <a:ext cx="70008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MC*</a:t>
            </a:r>
            <a:endParaRPr lang="zh-CN" altLang="en-US" sz="1100" dirty="0">
              <a:solidFill>
                <a:srgbClr val="000000"/>
              </a:solidFill>
              <a:sym typeface="Arial" panose="020B0604020202020204" pitchFamily="34" charset="0"/>
            </a:endParaRPr>
          </a:p>
        </p:txBody>
      </p:sp>
      <mc:AlternateContent xmlns:mc="http://schemas.openxmlformats.org/markup-compatibility/2006" xmlns:a14="http://schemas.microsoft.com/office/drawing/2010/main">
        <mc:Choice Requires="a14">
          <p:sp>
            <p:nvSpPr>
              <p:cNvPr id="40" name="TextBox 49"/>
              <p:cNvSpPr>
                <a:spLocks noChangeArrowheads="1"/>
              </p:cNvSpPr>
              <p:nvPr/>
            </p:nvSpPr>
            <p:spPr bwMode="auto">
              <a:xfrm>
                <a:off x="5738813" y="4455482"/>
                <a:ext cx="1614487" cy="3629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000000"/>
                          </a:solidFill>
                          <a:latin typeface="Cambria Math" panose="02040503050406030204" pitchFamily="18" charset="0"/>
                          <a:sym typeface="Arial" panose="020B0604020202020204" pitchFamily="34" charset="0"/>
                        </a:rPr>
                        <m:t>   </m:t>
                      </m:r>
                      <m:r>
                        <a:rPr lang="en-US" altLang="zh-CN" i="1" dirty="0" smtClean="0">
                          <a:solidFill>
                            <a:srgbClr val="000000"/>
                          </a:solidFill>
                          <a:latin typeface="Cambria Math" panose="02040503050406030204" pitchFamily="18" charset="0"/>
                          <a:sym typeface="Arial" panose="020B0604020202020204" pitchFamily="34" charset="0"/>
                        </a:rPr>
                        <m:t>𝑀𝑅</m:t>
                      </m:r>
                      <m:r>
                        <m:rPr>
                          <m:nor/>
                        </m:rPr>
                        <a:rPr lang="en-US" altLang="zh-CN" dirty="0">
                          <a:solidFill>
                            <a:srgbClr val="000000"/>
                          </a:solidFill>
                          <a:sym typeface="Arial" panose="020B0604020202020204" pitchFamily="34" charset="0"/>
                        </a:rPr>
                        <m:t>∗</m:t>
                      </m:r>
                      <m:r>
                        <a:rPr lang="en-US" altLang="zh-CN" i="1" dirty="0" smtClean="0">
                          <a:solidFill>
                            <a:srgbClr val="000000"/>
                          </a:solidFill>
                          <a:latin typeface="Cambria Math" panose="02040503050406030204" pitchFamily="18" charset="0"/>
                          <a:sym typeface="Arial" panose="020B0604020202020204" pitchFamily="34" charset="0"/>
                        </a:rPr>
                        <m:t>=</m:t>
                      </m:r>
                      <m:r>
                        <a:rPr lang="en-US" altLang="zh-CN" i="1" dirty="0" smtClean="0">
                          <a:solidFill>
                            <a:srgbClr val="000000"/>
                          </a:solidFill>
                          <a:latin typeface="Cambria Math" panose="02040503050406030204" pitchFamily="18" charset="0"/>
                          <a:sym typeface="Arial" panose="020B0604020202020204" pitchFamily="34" charset="0"/>
                        </a:rPr>
                        <m:t>𝐴𝑅</m:t>
                      </m:r>
                      <m:r>
                        <m:rPr>
                          <m:nor/>
                        </m:rPr>
                        <a:rPr lang="en-US" altLang="zh-CN" dirty="0">
                          <a:solidFill>
                            <a:srgbClr val="000000"/>
                          </a:solidFill>
                          <a:sym typeface="Arial" panose="020B0604020202020204" pitchFamily="34" charset="0"/>
                        </a:rPr>
                        <m:t>∗</m:t>
                      </m:r>
                    </m:oMath>
                  </m:oMathPara>
                </a14:m>
                <a:endParaRPr lang="zh-CN" altLang="en-US" sz="1100" dirty="0">
                  <a:solidFill>
                    <a:srgbClr val="000000"/>
                  </a:solidFill>
                  <a:sym typeface="Arial" panose="020B0604020202020204" pitchFamily="34" charset="0"/>
                </a:endParaRPr>
              </a:p>
            </p:txBody>
          </p:sp>
        </mc:Choice>
        <mc:Fallback xmlns="">
          <p:sp>
            <p:nvSpPr>
              <p:cNvPr id="40" name="TextBox 49"/>
              <p:cNvSpPr>
                <a:spLocks noRot="1" noChangeAspect="1" noMove="1" noResize="1" noEditPoints="1" noAdjustHandles="1" noChangeArrowheads="1" noChangeShapeType="1" noTextEdit="1"/>
              </p:cNvSpPr>
              <p:nvPr/>
            </p:nvSpPr>
            <p:spPr bwMode="auto">
              <a:xfrm>
                <a:off x="5738813" y="4455482"/>
                <a:ext cx="1614487" cy="362984"/>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TextBox 50"/>
              <p:cNvSpPr>
                <a:spLocks noChangeArrowheads="1"/>
              </p:cNvSpPr>
              <p:nvPr/>
            </p:nvSpPr>
            <p:spPr bwMode="auto">
              <a:xfrm>
                <a:off x="7059877" y="4484020"/>
                <a:ext cx="1840970" cy="3629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000000"/>
                          </a:solidFill>
                          <a:latin typeface="Cambria Math" panose="02040503050406030204" pitchFamily="18" charset="0"/>
                          <a:sym typeface="Arial" panose="020B0604020202020204" pitchFamily="34" charset="0"/>
                        </a:rPr>
                        <m:t>𝐿𝑀𝑅</m:t>
                      </m:r>
                      <m:r>
                        <m:rPr>
                          <m:nor/>
                        </m:rPr>
                        <a:rPr lang="en-US" altLang="zh-CN" dirty="0">
                          <a:solidFill>
                            <a:srgbClr val="000000"/>
                          </a:solidFill>
                          <a:sym typeface="Arial" panose="020B0604020202020204" pitchFamily="34" charset="0"/>
                        </a:rPr>
                        <m:t>∗</m:t>
                      </m:r>
                      <m:r>
                        <a:rPr lang="en-US" altLang="zh-CN" i="1" dirty="0" smtClean="0">
                          <a:solidFill>
                            <a:srgbClr val="000000"/>
                          </a:solidFill>
                          <a:latin typeface="Cambria Math" panose="02040503050406030204" pitchFamily="18" charset="0"/>
                          <a:sym typeface="Arial" panose="020B0604020202020204" pitchFamily="34" charset="0"/>
                        </a:rPr>
                        <m:t>=</m:t>
                      </m:r>
                      <m:r>
                        <a:rPr lang="en-US" altLang="zh-CN" i="1" dirty="0">
                          <a:solidFill>
                            <a:srgbClr val="000000"/>
                          </a:solidFill>
                          <a:latin typeface="Cambria Math" panose="02040503050406030204" pitchFamily="18" charset="0"/>
                          <a:sym typeface="Arial" panose="020B0604020202020204" pitchFamily="34" charset="0"/>
                        </a:rPr>
                        <m:t>𝐿𝐴𝑅</m:t>
                      </m:r>
                      <m:r>
                        <m:rPr>
                          <m:nor/>
                        </m:rPr>
                        <a:rPr lang="en-US" altLang="zh-CN" dirty="0">
                          <a:solidFill>
                            <a:srgbClr val="000000"/>
                          </a:solidFill>
                          <a:sym typeface="Arial" panose="020B0604020202020204" pitchFamily="34" charset="0"/>
                        </a:rPr>
                        <m:t>∗</m:t>
                      </m:r>
                    </m:oMath>
                  </m:oMathPara>
                </a14:m>
                <a:endParaRPr lang="zh-CN" altLang="en-US" sz="1100" dirty="0">
                  <a:solidFill>
                    <a:srgbClr val="000000"/>
                  </a:solidFill>
                  <a:sym typeface="Arial" panose="020B0604020202020204" pitchFamily="34" charset="0"/>
                </a:endParaRPr>
              </a:p>
            </p:txBody>
          </p:sp>
        </mc:Choice>
        <mc:Fallback xmlns="">
          <p:sp>
            <p:nvSpPr>
              <p:cNvPr id="41" name="TextBox 50"/>
              <p:cNvSpPr>
                <a:spLocks noRot="1" noChangeAspect="1" noMove="1" noResize="1" noEditPoints="1" noAdjustHandles="1" noChangeArrowheads="1" noChangeShapeType="1" noTextEdit="1"/>
              </p:cNvSpPr>
              <p:nvPr/>
            </p:nvSpPr>
            <p:spPr bwMode="auto">
              <a:xfrm>
                <a:off x="7059877" y="4484020"/>
                <a:ext cx="1840970" cy="362984"/>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TextBox 51"/>
              <p:cNvSpPr>
                <a:spLocks noChangeArrowheads="1"/>
              </p:cNvSpPr>
              <p:nvPr/>
            </p:nvSpPr>
            <p:spPr bwMode="auto">
              <a:xfrm>
                <a:off x="4214813" y="2814523"/>
                <a:ext cx="1866900" cy="3629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000000"/>
                          </a:solidFill>
                          <a:latin typeface="Cambria Math" panose="02040503050406030204" pitchFamily="18" charset="0"/>
                          <a:sym typeface="Arial" panose="020B0604020202020204" pitchFamily="34" charset="0"/>
                        </a:rPr>
                        <m:t>𝐿𝑀𝑅</m:t>
                      </m:r>
                      <m:r>
                        <a:rPr lang="en-US" altLang="zh-CN" sz="1100" i="1" dirty="0">
                          <a:solidFill>
                            <a:srgbClr val="000000"/>
                          </a:solidFill>
                          <a:latin typeface="Cambria Math" panose="02040503050406030204" pitchFamily="18" charset="0"/>
                          <a:sym typeface="Arial" panose="020B0604020202020204" pitchFamily="34" charset="0"/>
                        </a:rPr>
                        <m:t>0</m:t>
                      </m:r>
                      <m:r>
                        <a:rPr lang="en-US" altLang="zh-CN" i="1" dirty="0">
                          <a:solidFill>
                            <a:srgbClr val="000000"/>
                          </a:solidFill>
                          <a:latin typeface="Cambria Math" panose="02040503050406030204" pitchFamily="18" charset="0"/>
                          <a:sym typeface="Arial" panose="020B0604020202020204" pitchFamily="34" charset="0"/>
                        </a:rPr>
                        <m:t>=</m:t>
                      </m:r>
                      <m:r>
                        <a:rPr lang="en-US" altLang="zh-CN" i="1" dirty="0">
                          <a:solidFill>
                            <a:srgbClr val="000000"/>
                          </a:solidFill>
                          <a:latin typeface="Cambria Math" panose="02040503050406030204" pitchFamily="18" charset="0"/>
                          <a:sym typeface="Arial" panose="020B0604020202020204" pitchFamily="34" charset="0"/>
                        </a:rPr>
                        <m:t>𝐿𝐴𝑅</m:t>
                      </m:r>
                      <m:r>
                        <a:rPr lang="en-US" altLang="zh-CN" sz="1100" i="1" dirty="0">
                          <a:solidFill>
                            <a:srgbClr val="000000"/>
                          </a:solidFill>
                          <a:latin typeface="Cambria Math" panose="02040503050406030204" pitchFamily="18" charset="0"/>
                          <a:sym typeface="Arial" panose="020B0604020202020204" pitchFamily="34" charset="0"/>
                        </a:rPr>
                        <m:t>0</m:t>
                      </m:r>
                    </m:oMath>
                  </m:oMathPara>
                </a14:m>
                <a:endParaRPr lang="zh-CN" altLang="en-US" sz="1100" dirty="0">
                  <a:solidFill>
                    <a:srgbClr val="000000"/>
                  </a:solidFill>
                  <a:sym typeface="Arial" panose="020B0604020202020204" pitchFamily="34" charset="0"/>
                </a:endParaRPr>
              </a:p>
            </p:txBody>
          </p:sp>
        </mc:Choice>
        <mc:Fallback xmlns="">
          <p:sp>
            <p:nvSpPr>
              <p:cNvPr id="42" name="TextBox 51"/>
              <p:cNvSpPr>
                <a:spLocks noRot="1" noChangeAspect="1" noMove="1" noResize="1" noEditPoints="1" noAdjustHandles="1" noChangeArrowheads="1" noChangeShapeType="1" noTextEdit="1"/>
              </p:cNvSpPr>
              <p:nvPr/>
            </p:nvSpPr>
            <p:spPr bwMode="auto">
              <a:xfrm>
                <a:off x="4214813" y="2814523"/>
                <a:ext cx="1866900" cy="362984"/>
              </a:xfrm>
              <a:prstGeom prst="rect">
                <a:avLst/>
              </a:prstGeom>
              <a:blipFill>
                <a:blip r:embed="rId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3" name="直接箭头连接符 53"/>
          <p:cNvSpPr>
            <a:spLocks noChangeShapeType="1"/>
          </p:cNvSpPr>
          <p:nvPr/>
        </p:nvSpPr>
        <p:spPr bwMode="auto">
          <a:xfrm rot="5400000">
            <a:off x="4424362" y="3319349"/>
            <a:ext cx="606425" cy="311150"/>
          </a:xfrm>
          <a:prstGeom prst="straightConnector1">
            <a:avLst/>
          </a:prstGeom>
          <a:noFill/>
          <a:ln w="952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4" name="圆角矩形标注 37"/>
          <p:cNvSpPr>
            <a:spLocks noChangeArrowheads="1"/>
          </p:cNvSpPr>
          <p:nvPr/>
        </p:nvSpPr>
        <p:spPr bwMode="auto">
          <a:xfrm>
            <a:off x="7921625" y="1588046"/>
            <a:ext cx="1028699" cy="2643187"/>
          </a:xfrm>
          <a:prstGeom prst="wedgeRoundRectCallout">
            <a:avLst>
              <a:gd name="adj1" fmla="val -377889"/>
              <a:gd name="adj2" fmla="val 62839"/>
              <a:gd name="adj3" fmla="val 16667"/>
            </a:avLst>
          </a:prstGeom>
          <a:noFill/>
          <a:ln w="25400" cap="flat" cmpd="sng">
            <a:solidFill>
              <a:schemeClr val="accent3">
                <a:lumMod val="50000"/>
              </a:schemeClr>
            </a:solidFill>
            <a:miter lim="800000"/>
            <a:headEnd/>
            <a:tailEnd/>
          </a:ln>
        </p:spPr>
        <p:txBody>
          <a:bodyPr anchor="ctr"/>
          <a:lstStyle/>
          <a:p>
            <a:r>
              <a:rPr lang="zh-CN" altLang="en-US" sz="1600" dirty="0">
                <a:latin typeface="微软雅黑" panose="020B0503020204020204" pitchFamily="34" charset="-122"/>
                <a:ea typeface="微软雅黑" panose="020B0503020204020204" pitchFamily="34" charset="-122"/>
              </a:rPr>
              <a:t>最后</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lang="zh-CN" altLang="en-US" sz="1600" dirty="0">
                <a:latin typeface="微软雅黑" panose="020B0503020204020204" pitchFamily="34" charset="-122"/>
                <a:ea typeface="微软雅黑" panose="020B0503020204020204" pitchFamily="34" charset="-122"/>
              </a:rPr>
              <a:t>在该行业中</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所有的完全竞争企业都处于不盈不亏的状态。 </a:t>
            </a:r>
          </a:p>
        </p:txBody>
      </p:sp>
      <p:sp>
        <p:nvSpPr>
          <p:cNvPr id="45" name="圆角矩形标注 38"/>
          <p:cNvSpPr>
            <a:spLocks noChangeArrowheads="1"/>
          </p:cNvSpPr>
          <p:nvPr/>
        </p:nvSpPr>
        <p:spPr bwMode="auto">
          <a:xfrm>
            <a:off x="243153" y="2002204"/>
            <a:ext cx="1534848" cy="3282688"/>
          </a:xfrm>
          <a:prstGeom prst="wedgeRoundRectCallout">
            <a:avLst>
              <a:gd name="adj1" fmla="val 59949"/>
              <a:gd name="adj2" fmla="val 27146"/>
              <a:gd name="adj3" fmla="val 16667"/>
            </a:avLst>
          </a:prstGeom>
          <a:noFill/>
          <a:ln w="25400" cap="flat" cmpd="sng">
            <a:solidFill>
              <a:schemeClr val="accent3">
                <a:lumMod val="50000"/>
              </a:schemeClr>
            </a:solidFill>
            <a:miter lim="800000"/>
            <a:headEnd/>
            <a:tailEnd/>
          </a:ln>
        </p:spPr>
        <p:txBody>
          <a:bodyPr anchor="ctr"/>
          <a:lstStyle/>
          <a:p>
            <a:r>
              <a:rPr lang="zh-CN" altLang="en-US" sz="1600" dirty="0">
                <a:latin typeface="微软雅黑" panose="020B0503020204020204" pitchFamily="34" charset="-122"/>
                <a:ea typeface="微软雅黑" panose="020B0503020204020204" pitchFamily="34" charset="-122"/>
              </a:rPr>
              <a:t>企业获得经济利润</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lang="zh-CN" altLang="en-US" sz="1600" dirty="0">
                <a:latin typeface="微软雅黑" panose="020B0503020204020204" pitchFamily="34" charset="-122"/>
                <a:ea typeface="微软雅黑" panose="020B0503020204020204" pitchFamily="34" charset="-122"/>
              </a:rPr>
              <a:t> 引起新企业涌入，进而供给量的不断增加</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产品市场价格下降。 一直要持续到</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zh-CN" altLang="en-US" sz="1600" dirty="0">
                <a:latin typeface="微软雅黑" panose="020B0503020204020204" pitchFamily="34" charset="-122"/>
                <a:ea typeface="微软雅黑" panose="020B0503020204020204" pitchFamily="34" charset="-122"/>
              </a:rPr>
              <a:t>时为止。此时</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经济利润消失</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企业不再有进入的动机。</a:t>
            </a:r>
          </a:p>
        </p:txBody>
      </p:sp>
      <p:sp>
        <p:nvSpPr>
          <p:cNvPr id="46" name="下箭头 43"/>
          <p:cNvSpPr>
            <a:spLocks noChangeArrowheads="1"/>
          </p:cNvSpPr>
          <p:nvPr/>
        </p:nvSpPr>
        <p:spPr bwMode="auto">
          <a:xfrm>
            <a:off x="2033588" y="3814648"/>
            <a:ext cx="142875" cy="571500"/>
          </a:xfrm>
          <a:prstGeom prst="downArrow">
            <a:avLst>
              <a:gd name="adj1" fmla="val 50000"/>
              <a:gd name="adj2" fmla="val 50000"/>
            </a:avLst>
          </a:prstGeom>
          <a:solidFill>
            <a:srgbClr val="F3C97F"/>
          </a:solidFill>
          <a:ln w="25400" cap="flat" cmpd="sng">
            <a:solidFill>
              <a:srgbClr val="F3C97F"/>
            </a:solidFill>
            <a:miter lim="800000"/>
            <a:headEnd/>
            <a:tailEnd/>
          </a:ln>
        </p:spPr>
        <p:txBody>
          <a:bodyPr anchor="ctr"/>
          <a:lstStyle/>
          <a:p>
            <a:pPr algn="ctr"/>
            <a:endParaRPr lang="zh-CN" altLang="zh-CN">
              <a:solidFill>
                <a:srgbClr val="FFFFFF"/>
              </a:solidFill>
            </a:endParaRPr>
          </a:p>
        </p:txBody>
      </p:sp>
      <p:sp>
        <p:nvSpPr>
          <p:cNvPr id="47" name="圆角矩形标注 44"/>
          <p:cNvSpPr>
            <a:spLocks noChangeArrowheads="1"/>
          </p:cNvSpPr>
          <p:nvPr/>
        </p:nvSpPr>
        <p:spPr bwMode="auto">
          <a:xfrm>
            <a:off x="2449513" y="1628875"/>
            <a:ext cx="4697412" cy="1143589"/>
          </a:xfrm>
          <a:prstGeom prst="wedgeRoundRectCallout">
            <a:avLst>
              <a:gd name="adj1" fmla="val -52028"/>
              <a:gd name="adj2" fmla="val 209772"/>
              <a:gd name="adj3" fmla="val 16667"/>
            </a:avLst>
          </a:prstGeom>
          <a:noFill/>
          <a:ln w="25400" cap="flat" cmpd="sng">
            <a:solidFill>
              <a:schemeClr val="accent3">
                <a:lumMod val="50000"/>
              </a:schemeClr>
            </a:solidFill>
            <a:miter lim="800000"/>
            <a:headEnd/>
            <a:tailEnd/>
          </a:ln>
        </p:spPr>
        <p:txBody>
          <a:bodyPr anchor="ctr"/>
          <a:lstStyle/>
          <a:p>
            <a:r>
              <a:rPr lang="zh-CN" altLang="en-US" sz="1600" dirty="0">
                <a:latin typeface="微软雅黑" panose="020B0503020204020204" pitchFamily="34" charset="-122"/>
                <a:ea typeface="微软雅黑" panose="020B0503020204020204" pitchFamily="34" charset="-122"/>
              </a:rPr>
              <a:t>市场价格位于</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LAC</a:t>
            </a:r>
            <a:r>
              <a:rPr lang="zh-CN" altLang="en-US" sz="1600" dirty="0">
                <a:latin typeface="微软雅黑" panose="020B0503020204020204" pitchFamily="34" charset="-122"/>
                <a:ea typeface="微软雅黑" panose="020B0503020204020204" pitchFamily="34" charset="-122"/>
              </a:rPr>
              <a:t>的最低点以下</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无法避免亏损。企业的连续不断的退出</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lang="zh-CN" altLang="en-US" sz="1600" dirty="0">
                <a:latin typeface="微软雅黑" panose="020B0503020204020204" pitchFamily="34" charset="-122"/>
                <a:ea typeface="微软雅黑" panose="020B0503020204020204" pitchFamily="34" charset="-122"/>
              </a:rPr>
              <a:t>供给量的不断减少</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使得价格上升。 一直要持续到价格上升到</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zh-CN" altLang="en-US" sz="1600" dirty="0">
                <a:latin typeface="微软雅黑" panose="020B0503020204020204" pitchFamily="34" charset="-122"/>
                <a:ea typeface="微软雅黑" panose="020B0503020204020204" pitchFamily="34" charset="-122"/>
              </a:rPr>
              <a:t>时为止。 </a:t>
            </a:r>
          </a:p>
        </p:txBody>
      </p:sp>
      <p:sp>
        <p:nvSpPr>
          <p:cNvPr id="48" name="上箭头 45"/>
          <p:cNvSpPr>
            <a:spLocks noChangeArrowheads="1"/>
          </p:cNvSpPr>
          <p:nvPr/>
        </p:nvSpPr>
        <p:spPr bwMode="auto">
          <a:xfrm flipH="1">
            <a:off x="2000250" y="4600461"/>
            <a:ext cx="142875" cy="285750"/>
          </a:xfrm>
          <a:prstGeom prst="upArrow">
            <a:avLst>
              <a:gd name="adj1" fmla="val 50000"/>
              <a:gd name="adj2" fmla="val 50000"/>
            </a:avLst>
          </a:prstGeom>
          <a:solidFill>
            <a:srgbClr val="F3C97F"/>
          </a:solidFill>
          <a:ln w="25400" cap="flat" cmpd="sng">
            <a:solidFill>
              <a:srgbClr val="F3C97F"/>
            </a:solidFill>
            <a:miter lim="800000"/>
            <a:headEnd/>
            <a:tailEnd/>
          </a:ln>
        </p:spPr>
        <p:txBody>
          <a:bodyPr anchor="ctr"/>
          <a:lstStyle/>
          <a:p>
            <a:pPr algn="ctr"/>
            <a:endParaRPr lang="zh-CN" altLang="zh-CN">
              <a:solidFill>
                <a:srgbClr val="FFFFFF"/>
              </a:solidFill>
            </a:endParaRPr>
          </a:p>
        </p:txBody>
      </p:sp>
      <p:sp>
        <p:nvSpPr>
          <p:cNvPr id="49" name="Oval 21"/>
          <p:cNvSpPr>
            <a:spLocks noChangeArrowheads="1"/>
          </p:cNvSpPr>
          <p:nvPr/>
        </p:nvSpPr>
        <p:spPr bwMode="auto">
          <a:xfrm>
            <a:off x="4633913" y="4519498"/>
            <a:ext cx="152400" cy="152400"/>
          </a:xfrm>
          <a:prstGeom prst="ellipse">
            <a:avLst/>
          </a:prstGeom>
          <a:solidFill>
            <a:srgbClr val="FF0000"/>
          </a:solidFill>
          <a:ln w="9525" cmpd="sng">
            <a:solidFill>
              <a:schemeClr val="tx1"/>
            </a:solidFill>
            <a:miter lim="800000"/>
            <a:headEnd/>
            <a:tailEnd/>
          </a:ln>
        </p:spPr>
        <p:txBody>
          <a:bodyPr wrap="none" anchor="ctr"/>
          <a:lstStyle/>
          <a:p>
            <a:endParaRPr lang="zh-CN" altLang="zh-CN" sz="2400">
              <a:solidFill>
                <a:srgbClr val="000000"/>
              </a:solidFill>
              <a:latin typeface="Times New Roman" panose="02020603050405020304" pitchFamily="18" charset="0"/>
              <a:sym typeface="Times New Roman" panose="02020603050405020304" pitchFamily="18" charset="0"/>
            </a:endParaRPr>
          </a:p>
        </p:txBody>
      </p:sp>
      <p:sp>
        <p:nvSpPr>
          <p:cNvPr id="2" name="标注: 线形 1">
            <a:extLst>
              <a:ext uri="{FF2B5EF4-FFF2-40B4-BE49-F238E27FC236}">
                <a16:creationId xmlns:a16="http://schemas.microsoft.com/office/drawing/2014/main" id="{B695317E-896F-4512-A869-2F682A62BA20}"/>
              </a:ext>
            </a:extLst>
          </p:cNvPr>
          <p:cNvSpPr/>
          <p:nvPr/>
        </p:nvSpPr>
        <p:spPr bwMode="auto">
          <a:xfrm>
            <a:off x="-1" y="6021180"/>
            <a:ext cx="2557463" cy="865281"/>
          </a:xfrm>
          <a:prstGeom prst="borderCallout1">
            <a:avLst>
              <a:gd name="adj1" fmla="val -4031"/>
              <a:gd name="adj2" fmla="val 40614"/>
              <a:gd name="adj3" fmla="val -24137"/>
              <a:gd name="adj4" fmla="val 7572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若干个完全竞争企业的进入和退出，会使得整个市场上的供给曲线会向右和向左移动，从而导致价格的下降和上升。</a:t>
            </a:r>
          </a:p>
        </p:txBody>
      </p:sp>
    </p:spTree>
    <p:extLst>
      <p:ext uri="{BB962C8B-B14F-4D97-AF65-F5344CB8AC3E}">
        <p14:creationId xmlns:p14="http://schemas.microsoft.com/office/powerpoint/2010/main" val="3263890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randombar(horizontal)">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par>
                          <p:cTn id="23" fill="hold">
                            <p:stCondLst>
                              <p:cond delay="500"/>
                            </p:stCondLst>
                            <p:childTnLst>
                              <p:par>
                                <p:cTn id="24" presetID="14" presetClass="entr" presetSubtype="10" fill="hold" grpId="0"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randombar(horizontal)">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left)">
                                      <p:cBhvr>
                                        <p:cTn id="31" dur="500"/>
                                        <p:tgtEl>
                                          <p:spTgt spid="25"/>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randombar(horizontal)">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childTnLst>
                          </p:cTn>
                        </p:par>
                        <p:par>
                          <p:cTn id="40" fill="hold">
                            <p:stCondLst>
                              <p:cond delay="500"/>
                            </p:stCondLst>
                            <p:childTnLst>
                              <p:par>
                                <p:cTn id="41" presetID="14" presetClass="entr" presetSubtype="1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randombar(horizontal)">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randombar(horizontal)">
                                      <p:cBhvr>
                                        <p:cTn id="48" dur="500"/>
                                        <p:tgtEl>
                                          <p:spTgt spid="23"/>
                                        </p:tgtEl>
                                      </p:cBhvr>
                                    </p:animEffect>
                                  </p:childTnLst>
                                </p:cTn>
                              </p:par>
                              <p:par>
                                <p:cTn id="49" presetID="22" presetClass="entr" presetSubtype="8"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left)">
                                      <p:cBhvr>
                                        <p:cTn id="51" dur="500"/>
                                        <p:tgtEl>
                                          <p:spTgt spid="14"/>
                                        </p:tgtEl>
                                      </p:cBhvr>
                                    </p:animEffect>
                                  </p:childTnLst>
                                </p:cTn>
                              </p:par>
                              <p:par>
                                <p:cTn id="52" presetID="14" presetClass="entr" presetSubtype="1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randombar(horizontal)">
                                      <p:cBhvr>
                                        <p:cTn id="54" dur="500"/>
                                        <p:tgtEl>
                                          <p:spTgt spid="42"/>
                                        </p:tgtEl>
                                      </p:cBhvr>
                                    </p:animEffect>
                                  </p:childTnLst>
                                </p:cTn>
                              </p:par>
                              <p:par>
                                <p:cTn id="55" presetID="22" presetClass="entr" presetSubtype="1" fill="hold" nodeType="with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up)">
                                      <p:cBhvr>
                                        <p:cTn id="57" dur="50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up)">
                                      <p:cBhvr>
                                        <p:cTn id="62" dur="500"/>
                                        <p:tgtEl>
                                          <p:spTgt spid="27"/>
                                        </p:tgtEl>
                                      </p:cBhvr>
                                    </p:animEffect>
                                  </p:childTnLst>
                                </p:cTn>
                              </p:par>
                              <p:par>
                                <p:cTn id="63" presetID="14" presetClass="entr" presetSubtype="1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randombar(horizontal)">
                                      <p:cBhvr>
                                        <p:cTn id="65" dur="500"/>
                                        <p:tgtEl>
                                          <p:spTgt spid="21"/>
                                        </p:tgtEl>
                                      </p:cBhvr>
                                    </p:animEffect>
                                  </p:childTnLst>
                                </p:cTn>
                              </p:par>
                            </p:childTnLst>
                          </p:cTn>
                        </p:par>
                      </p:childTnLst>
                    </p:cTn>
                  </p:par>
                  <p:par>
                    <p:cTn id="66" fill="hold">
                      <p:stCondLst>
                        <p:cond delay="indefinite"/>
                      </p:stCondLst>
                      <p:childTnLst>
                        <p:par>
                          <p:cTn id="67" fill="hold">
                            <p:stCondLst>
                              <p:cond delay="0"/>
                            </p:stCondLst>
                            <p:childTnLst>
                              <p:par>
                                <p:cTn id="68" presetID="14" presetClass="entr" presetSubtype="10" fill="hold" grpId="0" nodeType="click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randombar(horizontal)">
                                      <p:cBhvr>
                                        <p:cTn id="70" dur="500"/>
                                        <p:tgtEl>
                                          <p:spTgt spid="45"/>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1" fill="hold" grpId="0" nodeType="clickEffect">
                                  <p:stCondLst>
                                    <p:cond delay="0"/>
                                  </p:stCondLst>
                                  <p:childTnLst>
                                    <p:set>
                                      <p:cBhvr>
                                        <p:cTn id="74" dur="1" fill="hold">
                                          <p:stCondLst>
                                            <p:cond delay="0"/>
                                          </p:stCondLst>
                                        </p:cTn>
                                        <p:tgtEl>
                                          <p:spTgt spid="46"/>
                                        </p:tgtEl>
                                        <p:attrNameLst>
                                          <p:attrName>style.visibility</p:attrName>
                                        </p:attrNameLst>
                                      </p:cBhvr>
                                      <p:to>
                                        <p:strVal val="visible"/>
                                      </p:to>
                                    </p:set>
                                    <p:anim calcmode="lin" valueType="num">
                                      <p:cBhvr>
                                        <p:cTn id="75" dur="500" fill="hold"/>
                                        <p:tgtEl>
                                          <p:spTgt spid="46"/>
                                        </p:tgtEl>
                                        <p:attrNameLst>
                                          <p:attrName>ppt_x</p:attrName>
                                        </p:attrNameLst>
                                      </p:cBhvr>
                                      <p:tavLst>
                                        <p:tav tm="0">
                                          <p:val>
                                            <p:strVal val="#ppt_x"/>
                                          </p:val>
                                        </p:tav>
                                        <p:tav tm="100000">
                                          <p:val>
                                            <p:strVal val="#ppt_x"/>
                                          </p:val>
                                        </p:tav>
                                      </p:tavLst>
                                    </p:anim>
                                    <p:anim calcmode="lin" valueType="num">
                                      <p:cBhvr>
                                        <p:cTn id="76" dur="500" fill="hold"/>
                                        <p:tgtEl>
                                          <p:spTgt spid="46"/>
                                        </p:tgtEl>
                                        <p:attrNameLst>
                                          <p:attrName>ppt_y</p:attrName>
                                        </p:attrNameLst>
                                      </p:cBhvr>
                                      <p:tavLst>
                                        <p:tav tm="0">
                                          <p:val>
                                            <p:strVal val="0-#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4" presetClass="entr" presetSubtype="10" fill="hold" grpId="0" nodeType="click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randombar(horizontal)">
                                      <p:cBhvr>
                                        <p:cTn id="81" dur="500"/>
                                        <p:tgtEl>
                                          <p:spTgt spid="29"/>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500"/>
                                        <p:tgtEl>
                                          <p:spTgt spid="26"/>
                                        </p:tgtEl>
                                      </p:cBhvr>
                                    </p:animEffect>
                                  </p:childTnLst>
                                </p:cTn>
                              </p:par>
                            </p:childTnLst>
                          </p:cTn>
                        </p:par>
                      </p:childTnLst>
                    </p:cTn>
                  </p:par>
                  <p:par>
                    <p:cTn id="87" fill="hold">
                      <p:stCondLst>
                        <p:cond delay="indefinite"/>
                      </p:stCondLst>
                      <p:childTnLst>
                        <p:par>
                          <p:cTn id="88" fill="hold">
                            <p:stCondLst>
                              <p:cond delay="0"/>
                            </p:stCondLst>
                            <p:childTnLst>
                              <p:par>
                                <p:cTn id="89" presetID="14" presetClass="entr" presetSubtype="10" fill="hold" grpId="0" nodeType="click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randombar(horizontal)">
                                      <p:cBhvr>
                                        <p:cTn id="91" dur="500"/>
                                        <p:tgtEl>
                                          <p:spTgt spid="30"/>
                                        </p:tgtEl>
                                      </p:cBhvr>
                                    </p:animEffect>
                                  </p:childTnLst>
                                </p:cTn>
                              </p:par>
                              <p:par>
                                <p:cTn id="92" presetID="22" presetClass="entr" presetSubtype="1" fill="hold" nodeType="with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wipe(up)">
                                      <p:cBhvr>
                                        <p:cTn id="94" dur="500"/>
                                        <p:tgtEl>
                                          <p:spTgt spid="28"/>
                                        </p:tgtEl>
                                      </p:cBhvr>
                                    </p:animEffect>
                                  </p:childTnLst>
                                </p:cTn>
                              </p:par>
                              <p:par>
                                <p:cTn id="95" presetID="14" presetClass="entr" presetSubtype="10" fill="hold" grpId="0" nodeType="withEffect">
                                  <p:stCondLst>
                                    <p:cond delay="0"/>
                                  </p:stCondLst>
                                  <p:childTnLst>
                                    <p:set>
                                      <p:cBhvr>
                                        <p:cTn id="96" dur="1" fill="hold">
                                          <p:stCondLst>
                                            <p:cond delay="0"/>
                                          </p:stCondLst>
                                        </p:cTn>
                                        <p:tgtEl>
                                          <p:spTgt spid="18"/>
                                        </p:tgtEl>
                                        <p:attrNameLst>
                                          <p:attrName>style.visibility</p:attrName>
                                        </p:attrNameLst>
                                      </p:cBhvr>
                                      <p:to>
                                        <p:strVal val="visible"/>
                                      </p:to>
                                    </p:set>
                                    <p:animEffect transition="in" filter="randombar(horizontal)">
                                      <p:cBhvr>
                                        <p:cTn id="97" dur="500"/>
                                        <p:tgtEl>
                                          <p:spTgt spid="18"/>
                                        </p:tgtEl>
                                      </p:cBhvr>
                                    </p:animEffect>
                                  </p:childTnLst>
                                </p:cTn>
                              </p:par>
                            </p:childTnLst>
                          </p:cTn>
                        </p:par>
                      </p:childTnLst>
                    </p:cTn>
                  </p:par>
                  <p:par>
                    <p:cTn id="98" fill="hold">
                      <p:stCondLst>
                        <p:cond delay="indefinite"/>
                      </p:stCondLst>
                      <p:childTnLst>
                        <p:par>
                          <p:cTn id="99" fill="hold">
                            <p:stCondLst>
                              <p:cond delay="0"/>
                            </p:stCondLst>
                            <p:childTnLst>
                              <p:par>
                                <p:cTn id="100" presetID="14" presetClass="entr" presetSubtype="10" fill="hold" grpId="0" nodeType="clickEffect">
                                  <p:stCondLst>
                                    <p:cond delay="0"/>
                                  </p:stCondLst>
                                  <p:childTnLst>
                                    <p:set>
                                      <p:cBhvr>
                                        <p:cTn id="101" dur="1" fill="hold">
                                          <p:stCondLst>
                                            <p:cond delay="0"/>
                                          </p:stCondLst>
                                        </p:cTn>
                                        <p:tgtEl>
                                          <p:spTgt spid="47"/>
                                        </p:tgtEl>
                                        <p:attrNameLst>
                                          <p:attrName>style.visibility</p:attrName>
                                        </p:attrNameLst>
                                      </p:cBhvr>
                                      <p:to>
                                        <p:strVal val="visible"/>
                                      </p:to>
                                    </p:set>
                                    <p:animEffect transition="in" filter="randombar(horizontal)">
                                      <p:cBhvr>
                                        <p:cTn id="102" dur="500"/>
                                        <p:tgtEl>
                                          <p:spTgt spid="47"/>
                                        </p:tgtEl>
                                      </p:cBhvr>
                                    </p:animEffect>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48"/>
                                        </p:tgtEl>
                                        <p:attrNameLst>
                                          <p:attrName>style.visibility</p:attrName>
                                        </p:attrNameLst>
                                      </p:cBhvr>
                                      <p:to>
                                        <p:strVal val="visible"/>
                                      </p:to>
                                    </p:set>
                                    <p:anim calcmode="lin" valueType="num">
                                      <p:cBhvr>
                                        <p:cTn id="107" dur="500" fill="hold"/>
                                        <p:tgtEl>
                                          <p:spTgt spid="48"/>
                                        </p:tgtEl>
                                        <p:attrNameLst>
                                          <p:attrName>ppt_x</p:attrName>
                                        </p:attrNameLst>
                                      </p:cBhvr>
                                      <p:tavLst>
                                        <p:tav tm="0">
                                          <p:val>
                                            <p:strVal val="#ppt_x"/>
                                          </p:val>
                                        </p:tav>
                                        <p:tav tm="100000">
                                          <p:val>
                                            <p:strVal val="#ppt_x"/>
                                          </p:val>
                                        </p:tav>
                                      </p:tavLst>
                                    </p:anim>
                                    <p:anim calcmode="lin" valueType="num">
                                      <p:cBhvr>
                                        <p:cTn id="10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14" presetClass="entr" presetSubtype="10" fill="hold" grpId="0" nodeType="click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randombar(horizontal)">
                                      <p:cBhvr>
                                        <p:cTn id="113" dur="500"/>
                                        <p:tgtEl>
                                          <p:spTgt spid="37"/>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wipe(left)">
                                      <p:cBhvr>
                                        <p:cTn id="118" dur="500"/>
                                        <p:tgtEl>
                                          <p:spTgt spid="35"/>
                                        </p:tgtEl>
                                      </p:cBhvr>
                                    </p:animEffect>
                                  </p:childTnLst>
                                </p:cTn>
                              </p:par>
                            </p:childTnLst>
                          </p:cTn>
                        </p:par>
                      </p:childTnLst>
                    </p:cTn>
                  </p:par>
                  <p:par>
                    <p:cTn id="119" fill="hold">
                      <p:stCondLst>
                        <p:cond delay="indefinite"/>
                      </p:stCondLst>
                      <p:childTnLst>
                        <p:par>
                          <p:cTn id="120" fill="hold">
                            <p:stCondLst>
                              <p:cond delay="0"/>
                            </p:stCondLst>
                            <p:childTnLst>
                              <p:par>
                                <p:cTn id="121" presetID="14" presetClass="entr" presetSubtype="10" fill="hold" grpId="0" nodeType="click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randombar(horizontal)">
                                      <p:cBhvr>
                                        <p:cTn id="123" dur="500"/>
                                        <p:tgtEl>
                                          <p:spTgt spid="40"/>
                                        </p:tgtEl>
                                      </p:cBhvr>
                                    </p:animEffect>
                                  </p:childTnLst>
                                </p:cTn>
                              </p:par>
                              <p:par>
                                <p:cTn id="124" presetID="14" presetClass="entr" presetSubtype="10" fill="hold" grpId="0" nodeType="withEffect">
                                  <p:stCondLst>
                                    <p:cond delay="0"/>
                                  </p:stCondLst>
                                  <p:childTnLst>
                                    <p:set>
                                      <p:cBhvr>
                                        <p:cTn id="125" dur="1" fill="hold">
                                          <p:stCondLst>
                                            <p:cond delay="0"/>
                                          </p:stCondLst>
                                        </p:cTn>
                                        <p:tgtEl>
                                          <p:spTgt spid="41"/>
                                        </p:tgtEl>
                                        <p:attrNameLst>
                                          <p:attrName>style.visibility</p:attrName>
                                        </p:attrNameLst>
                                      </p:cBhvr>
                                      <p:to>
                                        <p:strVal val="visible"/>
                                      </p:to>
                                    </p:set>
                                    <p:animEffect transition="in" filter="randombar(horizontal)">
                                      <p:cBhvr>
                                        <p:cTn id="126" dur="500"/>
                                        <p:tgtEl>
                                          <p:spTgt spid="41"/>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49"/>
                                        </p:tgtEl>
                                        <p:attrNameLst>
                                          <p:attrName>style.visibility</p:attrName>
                                        </p:attrNameLst>
                                      </p:cBhvr>
                                      <p:to>
                                        <p:strVal val="visible"/>
                                      </p:to>
                                    </p:set>
                                    <p:animEffect>
                                      <p:cBhvr>
                                        <p:cTn id="131" dur="500"/>
                                        <p:tgtEl>
                                          <p:spTgt spid="49"/>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44"/>
                                        </p:tgtEl>
                                        <p:attrNameLst>
                                          <p:attrName>style.visibility</p:attrName>
                                        </p:attrNameLst>
                                      </p:cBhvr>
                                      <p:to>
                                        <p:strVal val="visible"/>
                                      </p:to>
                                    </p:set>
                                    <p:animEffect>
                                      <p:cBhvr>
                                        <p:cTn id="136" dur="1000"/>
                                        <p:tgtEl>
                                          <p:spTgt spid="44"/>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33"/>
                                        </p:tgtEl>
                                        <p:attrNameLst>
                                          <p:attrName>style.visibility</p:attrName>
                                        </p:attrNameLst>
                                      </p:cBhvr>
                                      <p:to>
                                        <p:strVal val="visible"/>
                                      </p:to>
                                    </p:set>
                                    <p:animEffect transition="in" filter="wipe(left)">
                                      <p:cBhvr>
                                        <p:cTn id="141" dur="500"/>
                                        <p:tgtEl>
                                          <p:spTgt spid="33"/>
                                        </p:tgtEl>
                                      </p:cBhvr>
                                    </p:animEffect>
                                  </p:childTnLst>
                                </p:cTn>
                              </p:par>
                            </p:childTnLst>
                          </p:cTn>
                        </p:par>
                        <p:par>
                          <p:cTn id="142" fill="hold">
                            <p:stCondLst>
                              <p:cond delay="500"/>
                            </p:stCondLst>
                            <p:childTnLst>
                              <p:par>
                                <p:cTn id="143" presetID="14" presetClass="entr" presetSubtype="10" fill="hold" grpId="0" nodeType="afterEffect">
                                  <p:stCondLst>
                                    <p:cond delay="0"/>
                                  </p:stCondLst>
                                  <p:childTnLst>
                                    <p:set>
                                      <p:cBhvr>
                                        <p:cTn id="144" dur="1" fill="hold">
                                          <p:stCondLst>
                                            <p:cond delay="0"/>
                                          </p:stCondLst>
                                        </p:cTn>
                                        <p:tgtEl>
                                          <p:spTgt spid="38"/>
                                        </p:tgtEl>
                                        <p:attrNameLst>
                                          <p:attrName>style.visibility</p:attrName>
                                        </p:attrNameLst>
                                      </p:cBhvr>
                                      <p:to>
                                        <p:strVal val="visible"/>
                                      </p:to>
                                    </p:set>
                                    <p:animEffect transition="in" filter="randombar(horizontal)">
                                      <p:cBhvr>
                                        <p:cTn id="145" dur="500"/>
                                        <p:tgtEl>
                                          <p:spTgt spid="38"/>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4" fill="hold" grpId="0" nodeType="clickEffect">
                                  <p:stCondLst>
                                    <p:cond delay="0"/>
                                  </p:stCondLst>
                                  <p:childTnLst>
                                    <p:set>
                                      <p:cBhvr>
                                        <p:cTn id="149" dur="1" fill="hold">
                                          <p:stCondLst>
                                            <p:cond delay="0"/>
                                          </p:stCondLst>
                                        </p:cTn>
                                        <p:tgtEl>
                                          <p:spTgt spid="34"/>
                                        </p:tgtEl>
                                        <p:attrNameLst>
                                          <p:attrName>style.visibility</p:attrName>
                                        </p:attrNameLst>
                                      </p:cBhvr>
                                      <p:to>
                                        <p:strVal val="visible"/>
                                      </p:to>
                                    </p:set>
                                    <p:animEffect transition="in" filter="wipe(down)">
                                      <p:cBhvr>
                                        <p:cTn id="150" dur="500"/>
                                        <p:tgtEl>
                                          <p:spTgt spid="34"/>
                                        </p:tgtEl>
                                      </p:cBhvr>
                                    </p:animEffect>
                                  </p:childTnLst>
                                </p:cTn>
                              </p:par>
                            </p:childTnLst>
                          </p:cTn>
                        </p:par>
                        <p:par>
                          <p:cTn id="151" fill="hold">
                            <p:stCondLst>
                              <p:cond delay="500"/>
                            </p:stCondLst>
                            <p:childTnLst>
                              <p:par>
                                <p:cTn id="152" presetID="14" presetClass="entr" presetSubtype="10" fill="hold" grpId="0" nodeType="afterEffect">
                                  <p:stCondLst>
                                    <p:cond delay="0"/>
                                  </p:stCondLst>
                                  <p:childTnLst>
                                    <p:set>
                                      <p:cBhvr>
                                        <p:cTn id="153" dur="1" fill="hold">
                                          <p:stCondLst>
                                            <p:cond delay="0"/>
                                          </p:stCondLst>
                                        </p:cTn>
                                        <p:tgtEl>
                                          <p:spTgt spid="39"/>
                                        </p:tgtEl>
                                        <p:attrNameLst>
                                          <p:attrName>style.visibility</p:attrName>
                                        </p:attrNameLst>
                                      </p:cBhvr>
                                      <p:to>
                                        <p:strVal val="visible"/>
                                      </p:to>
                                    </p:set>
                                    <p:animEffect transition="in" filter="randombar(horizontal)">
                                      <p:cBhvr>
                                        <p:cTn id="154" dur="500"/>
                                        <p:tgtEl>
                                          <p:spTgt spid="39"/>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1" fill="hold" grpId="0" nodeType="clickEffect">
                                  <p:stCondLst>
                                    <p:cond delay="0"/>
                                  </p:stCondLst>
                                  <p:childTnLst>
                                    <p:set>
                                      <p:cBhvr>
                                        <p:cTn id="158" dur="1" fill="hold">
                                          <p:stCondLst>
                                            <p:cond delay="0"/>
                                          </p:stCondLst>
                                        </p:cTn>
                                        <p:tgtEl>
                                          <p:spTgt spid="36"/>
                                        </p:tgtEl>
                                        <p:attrNameLst>
                                          <p:attrName>style.visibility</p:attrName>
                                        </p:attrNameLst>
                                      </p:cBhvr>
                                      <p:to>
                                        <p:strVal val="visible"/>
                                      </p:to>
                                    </p:set>
                                    <p:animEffect transition="in" filter="wipe(up)">
                                      <p:cBhvr>
                                        <p:cTn id="159" dur="500"/>
                                        <p:tgtEl>
                                          <p:spTgt spid="36"/>
                                        </p:tgtEl>
                                      </p:cBhvr>
                                    </p:animEffect>
                                  </p:childTnLst>
                                </p:cTn>
                              </p:par>
                            </p:childTnLst>
                          </p:cTn>
                        </p:par>
                      </p:childTnLst>
                    </p:cTn>
                  </p:par>
                  <p:par>
                    <p:cTn id="160" fill="hold">
                      <p:stCondLst>
                        <p:cond delay="indefinite"/>
                      </p:stCondLst>
                      <p:childTnLst>
                        <p:par>
                          <p:cTn id="161" fill="hold">
                            <p:stCondLst>
                              <p:cond delay="0"/>
                            </p:stCondLst>
                            <p:childTnLst>
                              <p:par>
                                <p:cTn id="162" presetID="14" presetClass="entr" presetSubtype="10" fill="hold" grpId="0" nodeType="clickEffect">
                                  <p:stCondLst>
                                    <p:cond delay="0"/>
                                  </p:stCondLst>
                                  <p:childTnLst>
                                    <p:set>
                                      <p:cBhvr>
                                        <p:cTn id="163" dur="1" fill="hold">
                                          <p:stCondLst>
                                            <p:cond delay="0"/>
                                          </p:stCondLst>
                                        </p:cTn>
                                        <p:tgtEl>
                                          <p:spTgt spid="32"/>
                                        </p:tgtEl>
                                        <p:attrNameLst>
                                          <p:attrName>style.visibility</p:attrName>
                                        </p:attrNameLst>
                                      </p:cBhvr>
                                      <p:to>
                                        <p:strVal val="visible"/>
                                      </p:to>
                                    </p:set>
                                    <p:animEffect transition="in" filter="randombar(horizontal)">
                                      <p:cBhvr>
                                        <p:cTn id="16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bldLvl="0" autoUpdateAnimBg="0"/>
      <p:bldP spid="17" grpId="0" bldLvl="0" autoUpdateAnimBg="0"/>
      <p:bldP spid="18" grpId="0" bldLvl="0" autoUpdateAnimBg="0"/>
      <p:bldP spid="19" grpId="0" bldLvl="0" autoUpdateAnimBg="0"/>
      <p:bldP spid="20" grpId="0"/>
      <p:bldP spid="21" grpId="0" bldLvl="0" autoUpdateAnimBg="0"/>
      <p:bldP spid="22" grpId="0" bldLvl="0" autoUpdateAnimBg="0"/>
      <p:bldP spid="23" grpId="0"/>
      <p:bldP spid="24" grpId="0" animBg="1"/>
      <p:bldP spid="25" grpId="0" animBg="1"/>
      <p:bldP spid="26" grpId="0" animBg="1"/>
      <p:bldP spid="29" grpId="0" bldLvl="0" autoUpdateAnimBg="0"/>
      <p:bldP spid="30" grpId="0" bldLvl="0" autoUpdateAnimBg="0"/>
      <p:bldP spid="32" grpId="0"/>
      <p:bldP spid="33" grpId="0" animBg="1"/>
      <p:bldP spid="34" grpId="0" animBg="1"/>
      <p:bldP spid="35" grpId="0" animBg="1"/>
      <p:bldP spid="36" grpId="0" animBg="1"/>
      <p:bldP spid="37" grpId="0"/>
      <p:bldP spid="38" grpId="0"/>
      <p:bldP spid="39" grpId="0"/>
      <p:bldP spid="40" grpId="0"/>
      <p:bldP spid="41" grpId="0"/>
      <p:bldP spid="42" grpId="0" bldLvl="0" autoUpdateAnimBg="0"/>
      <p:bldP spid="44" grpId="0" bldLvl="0" animBg="1" autoUpdateAnimBg="0"/>
      <p:bldP spid="45" grpId="0" bldLvl="0" animBg="1" autoUpdateAnimBg="0"/>
      <p:bldP spid="46" grpId="0" bldLvl="0" animBg="1" autoUpdateAnimBg="0"/>
      <p:bldP spid="47" grpId="0" animBg="1"/>
      <p:bldP spid="48" grpId="0" bldLvl="0" animBg="1" autoUpdateAnimBg="0"/>
      <p:bldP spid="49" grpId="0" bldLvl="0" animBg="1"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627AE83D-F3D9-4FE1-841C-38AA09ECDF1C}"/>
              </a:ext>
            </a:extLst>
          </p:cNvPr>
          <p:cNvGrpSpPr/>
          <p:nvPr/>
        </p:nvGrpSpPr>
        <p:grpSpPr>
          <a:xfrm>
            <a:off x="467544" y="1324088"/>
            <a:ext cx="2736361" cy="514350"/>
            <a:chOff x="467544" y="2449317"/>
            <a:chExt cx="2808366" cy="514350"/>
          </a:xfrm>
        </p:grpSpPr>
        <p:sp>
          <p:nvSpPr>
            <p:cNvPr id="19"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67544" y="2449317"/>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行业的规模</a:t>
              </a:r>
            </a:p>
          </p:txBody>
        </p:sp>
        <p:sp>
          <p:nvSpPr>
            <p:cNvPr id="20"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3122732" y="2499061"/>
              <a:ext cx="127000"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sp>
        <p:nvSpPr>
          <p:cNvPr id="8" name="矩形 7">
            <a:extLst>
              <a:ext uri="{FF2B5EF4-FFF2-40B4-BE49-F238E27FC236}">
                <a16:creationId xmlns:a16="http://schemas.microsoft.com/office/drawing/2014/main" id="{F68E5273-CD77-47B9-B841-9D29349C133D}"/>
              </a:ext>
            </a:extLst>
          </p:cNvPr>
          <p:cNvSpPr/>
          <p:nvPr/>
        </p:nvSpPr>
        <p:spPr>
          <a:xfrm>
            <a:off x="467544" y="548680"/>
            <a:ext cx="288037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三、长期均衡</a:t>
            </a:r>
          </a:p>
        </p:txBody>
      </p:sp>
      <p:sp>
        <p:nvSpPr>
          <p:cNvPr id="9" name="矩形 8">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7" name="组合 6"/>
          <p:cNvGrpSpPr/>
          <p:nvPr/>
        </p:nvGrpSpPr>
        <p:grpSpPr>
          <a:xfrm>
            <a:off x="476709" y="2738398"/>
            <a:ext cx="2727196" cy="514350"/>
            <a:chOff x="476709" y="2738398"/>
            <a:chExt cx="2295166" cy="514350"/>
          </a:xfrm>
        </p:grpSpPr>
        <p:sp>
          <p:nvSpPr>
            <p:cNvPr id="11"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76709" y="2738398"/>
              <a:ext cx="22951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长期利润最大化的条件</a:t>
              </a:r>
            </a:p>
          </p:txBody>
        </p:sp>
        <p:sp>
          <p:nvSpPr>
            <p:cNvPr id="12"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2644732" y="2775726"/>
              <a:ext cx="97694"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4" name="矩形 3"/>
              <p:cNvSpPr/>
              <p:nvPr/>
            </p:nvSpPr>
            <p:spPr>
              <a:xfrm>
                <a:off x="1061915" y="3356995"/>
                <a:ext cx="7686375" cy="2782428"/>
              </a:xfrm>
              <a:prstGeom prst="rect">
                <a:avLst/>
              </a:prstGeom>
            </p:spPr>
            <p:txBody>
              <a:bodyPr wrap="square">
                <a:spAutoFit/>
              </a:bodyPr>
              <a:lstStyle/>
              <a:p>
                <a:pPr marL="342900" lvl="0" indent="-342900" eaLnBrk="1" hangingPunct="1">
                  <a:lnSpc>
                    <a:spcPct val="150000"/>
                  </a:lnSpc>
                  <a:buFont typeface="Wingdings" panose="05000000000000000000" pitchFamily="2" charset="2"/>
                  <a:buChar char="Ø"/>
                </a:pPr>
                <a:r>
                  <a:rPr lang="zh-CN" altLang="en-US" dirty="0">
                    <a:solidFill>
                      <a:srgbClr val="000000"/>
                    </a:solidFill>
                    <a:latin typeface="微软雅黑" panose="020B0503020204020204" pitchFamily="34" charset="-122"/>
                    <a:ea typeface="微软雅黑" panose="020B0503020204020204" pitchFamily="34" charset="-122"/>
                  </a:rPr>
                  <a:t>长期边际收益等于长期边际成本（长期利润最大化的条件）</a:t>
                </a:r>
              </a:p>
              <a:p>
                <a:pPr marL="342900" lvl="0" indent="-342900" eaLnBrk="1" hangingPunct="1">
                  <a:lnSpc>
                    <a:spcPct val="150000"/>
                  </a:lnSpc>
                  <a:spcBef>
                    <a:spcPct val="40000"/>
                  </a:spcBef>
                  <a:buFont typeface="Wingdings" panose="05000000000000000000" pitchFamily="2" charset="2"/>
                  <a:buChar char="Ø"/>
                </a:pPr>
                <a14:m>
                  <m:oMath xmlns:m="http://schemas.openxmlformats.org/officeDocument/2006/math">
                    <m:r>
                      <a:rPr lang="zh-CN" altLang="en-US" i="1" dirty="0">
                        <a:latin typeface="Cambria Math" panose="02040503050406030204" pitchFamily="18" charset="0"/>
                        <a:ea typeface="微软雅黑" panose="020B0503020204020204" pitchFamily="34" charset="-122"/>
                        <a:sym typeface="Times New Roman" panose="02020603050405020304" pitchFamily="18" charset="0"/>
                      </a:rPr>
                      <m:t>长期平均收益等于长期平均成本（长期中不亏不盈的条件，企业</m:t>
                    </m:r>
                  </m:oMath>
                </a14:m>
                <a:endParaRPr lang="en-US" altLang="zh-CN" i="1" dirty="0">
                  <a:latin typeface="Cambria Math" panose="02040503050406030204" pitchFamily="18" charset="0"/>
                  <a:ea typeface="微软雅黑" panose="020B0503020204020204" pitchFamily="34" charset="-122"/>
                  <a:sym typeface="Times New Roman" panose="02020603050405020304" pitchFamily="18" charset="0"/>
                </a:endParaRPr>
              </a:p>
              <a:p>
                <a:pPr lvl="0" eaLnBrk="1" hangingPunct="1">
                  <a:lnSpc>
                    <a:spcPct val="150000"/>
                  </a:lnSpc>
                  <a:spcBef>
                    <a:spcPct val="40000"/>
                  </a:spcBef>
                </a:pPr>
                <a:r>
                  <a:rPr lang="zh-CN" altLang="en-US" dirty="0">
                    <a:ea typeface="微软雅黑" panose="020B0503020204020204" pitchFamily="34" charset="-122"/>
                    <a:sym typeface="Times New Roman" panose="02020603050405020304" pitchFamily="18" charset="0"/>
                  </a:rPr>
                  <a:t>     </a:t>
                </a:r>
                <a14:m>
                  <m:oMath xmlns:m="http://schemas.openxmlformats.org/officeDocument/2006/math">
                    <m:r>
                      <a:rPr lang="zh-CN" altLang="en-US" i="1" dirty="0">
                        <a:latin typeface="Cambria Math" panose="02040503050406030204" pitchFamily="18" charset="0"/>
                        <a:ea typeface="微软雅黑" panose="020B0503020204020204" pitchFamily="34" charset="-122"/>
                        <a:sym typeface="Times New Roman" panose="02020603050405020304" pitchFamily="18" charset="0"/>
                      </a:rPr>
                      <m:t>进出的平衡点</m:t>
                    </m:r>
                    <m:r>
                      <a:rPr lang="zh-CN" altLang="en-US" i="1" dirty="0">
                        <a:latin typeface="Cambria Math" panose="02040503050406030204" pitchFamily="18" charset="0"/>
                        <a:ea typeface="微软雅黑" panose="020B0503020204020204" pitchFamily="34" charset="-122"/>
                        <a:sym typeface="Times New Roman" panose="02020603050405020304" pitchFamily="18" charset="0"/>
                      </a:rPr>
                      <m:t> </m:t>
                    </m:r>
                    <m:r>
                      <a:rPr lang="zh-CN" altLang="en-US" i="1" dirty="0">
                        <a:latin typeface="Cambria Math" panose="02040503050406030204" pitchFamily="18" charset="0"/>
                        <a:ea typeface="微软雅黑" panose="020B0503020204020204" pitchFamily="34" charset="-122"/>
                        <a:sym typeface="Times New Roman" panose="02020603050405020304" pitchFamily="18" charset="0"/>
                      </a:rPr>
                      <m:t>）</m:t>
                    </m:r>
                  </m:oMath>
                </a14:m>
                <a:endParaRPr lang="zh-CN" altLang="en-US" dirty="0">
                  <a:ea typeface="微软雅黑" panose="020B0503020204020204" pitchFamily="34" charset="-122"/>
                  <a:sym typeface="Times New Roman" panose="02020603050405020304" pitchFamily="18" charset="0"/>
                </a:endParaRPr>
              </a:p>
              <a:p>
                <a:pPr marL="342900" lvl="0" indent="-342900" eaLnBrk="1" hangingPunct="1">
                  <a:lnSpc>
                    <a:spcPct val="150000"/>
                  </a:lnSpc>
                  <a:spcBef>
                    <a:spcPct val="40000"/>
                  </a:spcBef>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长期边际收益和平均收益等于价格（完全竞争条件下，价格</a:t>
                </a:r>
                <a:r>
                  <a:rPr lang="en-US" altLang="zh-CN" dirty="0">
                    <a:latin typeface="微软雅黑" panose="020B0503020204020204" pitchFamily="34" charset="-122"/>
                    <a:ea typeface="微软雅黑" panose="020B0503020204020204" pitchFamily="34" charset="-122"/>
                    <a:sym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边际收益</a:t>
                </a:r>
                <a:r>
                  <a:rPr lang="en-US" altLang="zh-CN" dirty="0">
                    <a:latin typeface="微软雅黑" panose="020B0503020204020204" pitchFamily="34" charset="-122"/>
                    <a:ea typeface="微软雅黑" panose="020B0503020204020204" pitchFamily="34" charset="-122"/>
                    <a:sym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sym typeface="Times New Roman" panose="02020603050405020304" pitchFamily="18" charset="0"/>
                  </a:rPr>
                  <a:t>平均收益）</a:t>
                </a:r>
              </a:p>
              <a:p>
                <a:pPr marL="342900" indent="-342900" algn="ctr" eaLnBrk="1" hangingPunct="1">
                  <a:spcBef>
                    <a:spcPct val="40000"/>
                  </a:spcBef>
                </a:pPr>
                <a14:m>
                  <m:oMathPara xmlns:m="http://schemas.openxmlformats.org/officeDocument/2006/math">
                    <m:oMathParaPr>
                      <m:jc m:val="centerGroup"/>
                    </m:oMathParaPr>
                    <m:oMath xmlns:m="http://schemas.openxmlformats.org/officeDocument/2006/math">
                      <m:r>
                        <a:rPr lang="en-US" altLang="zh-CN" b="0" i="1" dirty="0" smtClean="0">
                          <a:solidFill>
                            <a:srgbClr val="000000"/>
                          </a:solidFill>
                          <a:latin typeface="Cambria Math" panose="02040503050406030204" pitchFamily="18" charset="0"/>
                          <a:sym typeface="Arial" panose="020B0604020202020204" pitchFamily="34" charset="0"/>
                        </a:rPr>
                        <m:t>𝑝</m:t>
                      </m:r>
                      <m:r>
                        <m:rPr>
                          <m:nor/>
                        </m:rPr>
                        <a:rPr lang="en-US" altLang="zh-CN" dirty="0">
                          <a:solidFill>
                            <a:srgbClr val="000000"/>
                          </a:solidFill>
                          <a:sym typeface="Arial" panose="020B0604020202020204" pitchFamily="34" charset="0"/>
                        </a:rPr>
                        <m:t>∗</m:t>
                      </m:r>
                      <m:r>
                        <m:rPr>
                          <m:nor/>
                        </m:rPr>
                        <a:rPr lang="en-US" altLang="zh-CN" b="0" i="0" dirty="0" smtClean="0">
                          <a:solidFill>
                            <a:srgbClr val="000000"/>
                          </a:solidFill>
                          <a:sym typeface="Arial" panose="020B0604020202020204" pitchFamily="34" charset="0"/>
                        </a:rPr>
                        <m:t> </m:t>
                      </m:r>
                      <m:r>
                        <a:rPr lang="en-US" altLang="zh-CN" i="1" dirty="0">
                          <a:solidFill>
                            <a:srgbClr val="000000"/>
                          </a:solidFill>
                          <a:latin typeface="Cambria Math" panose="02040503050406030204" pitchFamily="18" charset="0"/>
                          <a:sym typeface="Arial" panose="020B0604020202020204" pitchFamily="34" charset="0"/>
                        </a:rPr>
                        <m:t>=</m:t>
                      </m:r>
                      <m:r>
                        <a:rPr lang="en-US" altLang="zh-CN" i="1" dirty="0">
                          <a:solidFill>
                            <a:srgbClr val="000000"/>
                          </a:solidFill>
                          <a:latin typeface="Cambria Math" panose="02040503050406030204" pitchFamily="18" charset="0"/>
                          <a:sym typeface="Arial" panose="020B0604020202020204" pitchFamily="34" charset="0"/>
                        </a:rPr>
                        <m:t>𝐿𝑀𝑅</m:t>
                      </m:r>
                      <m:r>
                        <m:rPr>
                          <m:nor/>
                        </m:rPr>
                        <a:rPr lang="en-US" altLang="zh-CN" baseline="30000" dirty="0">
                          <a:solidFill>
                            <a:srgbClr val="000000"/>
                          </a:solidFill>
                          <a:sym typeface="Arial" panose="020B0604020202020204" pitchFamily="34" charset="0"/>
                        </a:rPr>
                        <m:t>∗</m:t>
                      </m:r>
                      <m:r>
                        <a:rPr lang="en-US" altLang="zh-CN" i="1" dirty="0" smtClean="0">
                          <a:solidFill>
                            <a:srgbClr val="000000"/>
                          </a:solidFill>
                          <a:latin typeface="Cambria Math" panose="02040503050406030204" pitchFamily="18" charset="0"/>
                          <a:sym typeface="Arial" panose="020B0604020202020204" pitchFamily="34" charset="0"/>
                        </a:rPr>
                        <m:t>=</m:t>
                      </m:r>
                      <m:r>
                        <a:rPr lang="en-US" altLang="zh-CN" i="1" dirty="0" smtClean="0">
                          <a:solidFill>
                            <a:srgbClr val="000000"/>
                          </a:solidFill>
                          <a:latin typeface="Cambria Math" panose="02040503050406030204" pitchFamily="18" charset="0"/>
                          <a:sym typeface="Arial" panose="020B0604020202020204" pitchFamily="34" charset="0"/>
                        </a:rPr>
                        <m:t>𝐿𝑀𝐶</m:t>
                      </m:r>
                      <m:r>
                        <a:rPr lang="en-US" altLang="zh-CN" i="1" dirty="0" smtClean="0">
                          <a:solidFill>
                            <a:srgbClr val="000000"/>
                          </a:solidFill>
                          <a:latin typeface="Cambria Math" panose="02040503050406030204" pitchFamily="18" charset="0"/>
                          <a:sym typeface="Arial" panose="020B0604020202020204" pitchFamily="34" charset="0"/>
                        </a:rPr>
                        <m:t>=</m:t>
                      </m:r>
                      <m:r>
                        <a:rPr lang="en-US" altLang="zh-CN" i="1" dirty="0" smtClean="0">
                          <a:solidFill>
                            <a:srgbClr val="000000"/>
                          </a:solidFill>
                          <a:latin typeface="Cambria Math" panose="02040503050406030204" pitchFamily="18" charset="0"/>
                          <a:sym typeface="Arial" panose="020B0604020202020204" pitchFamily="34" charset="0"/>
                        </a:rPr>
                        <m:t>𝐿𝐴</m:t>
                      </m:r>
                      <m:r>
                        <a:rPr lang="en-US" altLang="zh-CN" i="1" dirty="0">
                          <a:solidFill>
                            <a:srgbClr val="000000"/>
                          </a:solidFill>
                          <a:latin typeface="Cambria Math" panose="02040503050406030204" pitchFamily="18" charset="0"/>
                          <a:sym typeface="Arial" panose="020B0604020202020204" pitchFamily="34" charset="0"/>
                        </a:rPr>
                        <m:t> </m:t>
                      </m:r>
                      <m:r>
                        <a:rPr lang="en-US" altLang="zh-CN" i="1" dirty="0" smtClean="0">
                          <a:solidFill>
                            <a:srgbClr val="000000"/>
                          </a:solidFill>
                          <a:latin typeface="Cambria Math" panose="02040503050406030204" pitchFamily="18" charset="0"/>
                          <a:sym typeface="Arial" panose="020B0604020202020204" pitchFamily="34" charset="0"/>
                        </a:rPr>
                        <m:t>𝑅</m:t>
                      </m:r>
                      <m:r>
                        <m:rPr>
                          <m:nor/>
                        </m:rPr>
                        <a:rPr lang="en-US" altLang="zh-CN" baseline="30000" dirty="0">
                          <a:solidFill>
                            <a:srgbClr val="000000"/>
                          </a:solidFill>
                          <a:sym typeface="Arial" panose="020B0604020202020204" pitchFamily="34" charset="0"/>
                        </a:rPr>
                        <m:t>∗</m:t>
                      </m:r>
                      <m:r>
                        <a:rPr lang="en-US" altLang="zh-CN" i="1" dirty="0" smtClean="0">
                          <a:solidFill>
                            <a:srgbClr val="000000"/>
                          </a:solidFill>
                          <a:latin typeface="Cambria Math" panose="02040503050406030204" pitchFamily="18" charset="0"/>
                          <a:sym typeface="Arial" panose="020B0604020202020204" pitchFamily="34" charset="0"/>
                        </a:rPr>
                        <m:t>=</m:t>
                      </m:r>
                      <m:r>
                        <a:rPr lang="en-US" altLang="zh-CN" i="1" dirty="0" smtClean="0">
                          <a:solidFill>
                            <a:srgbClr val="000000"/>
                          </a:solidFill>
                          <a:latin typeface="Cambria Math" panose="02040503050406030204" pitchFamily="18" charset="0"/>
                          <a:sym typeface="Arial" panose="020B0604020202020204" pitchFamily="34" charset="0"/>
                        </a:rPr>
                        <m:t>𝐿𝐴𝐶</m:t>
                      </m:r>
                    </m:oMath>
                  </m:oMathPara>
                </a14:m>
                <a:endParaRPr lang="zh-CN" altLang="en-US" dirty="0">
                  <a:latin typeface="微软雅黑" panose="020B0503020204020204" pitchFamily="34" charset="-122"/>
                  <a:ea typeface="微软雅黑" panose="020B0503020204020204" pitchFamily="34" charset="-122"/>
                  <a:sym typeface="Times New Roman" panose="020206030504050203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1061915" y="3356995"/>
                <a:ext cx="7686375" cy="2782428"/>
              </a:xfrm>
              <a:prstGeom prst="rect">
                <a:avLst/>
              </a:prstGeom>
              <a:blipFill>
                <a:blip r:embed="rId6"/>
                <a:stretch>
                  <a:fillRect l="-476" b="-219"/>
                </a:stretch>
              </a:blipFill>
            </p:spPr>
            <p:txBody>
              <a:bodyPr/>
              <a:lstStyle/>
              <a:p>
                <a:r>
                  <a:rPr lang="zh-CN" altLang="en-US">
                    <a:noFill/>
                  </a:rPr>
                  <a:t> </a:t>
                </a:r>
              </a:p>
            </p:txBody>
          </p:sp>
        </mc:Fallback>
      </mc:AlternateContent>
      <p:sp>
        <p:nvSpPr>
          <p:cNvPr id="6" name="矩形 5"/>
          <p:cNvSpPr/>
          <p:nvPr/>
        </p:nvSpPr>
        <p:spPr>
          <a:xfrm>
            <a:off x="611725" y="2060905"/>
            <a:ext cx="8428425" cy="507831"/>
          </a:xfrm>
          <a:prstGeom prst="rect">
            <a:avLst/>
          </a:prstGeom>
        </p:spPr>
        <p:txBody>
          <a:bodyPr wrap="square">
            <a:spAutoFit/>
          </a:bodyPr>
          <a:lstStyle/>
          <a:p>
            <a:pPr marL="800100" lvl="3" indent="-34290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最终的长期均衡的性质可以从“长期”和“最优短期”两个方面来讨论。</a:t>
            </a:r>
          </a:p>
        </p:txBody>
      </p:sp>
    </p:spTree>
    <p:extLst>
      <p:ext uri="{BB962C8B-B14F-4D97-AF65-F5344CB8AC3E}">
        <p14:creationId xmlns:p14="http://schemas.microsoft.com/office/powerpoint/2010/main" val="3828639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left)">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animEffect transition="in" filter="wipe(left)">
                                      <p:cBhvr>
                                        <p:cTn id="32" dur="500"/>
                                        <p:tgtEl>
                                          <p:spTgt spid="4">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Effect transition="in" filter="wipe(left)">
                                      <p:cBhvr>
                                        <p:cTn id="37" dur="500"/>
                                        <p:tgtEl>
                                          <p:spTgt spid="4">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3" end="3"/>
                                            </p:txEl>
                                          </p:spTgt>
                                        </p:tgtEl>
                                        <p:attrNameLst>
                                          <p:attrName>style.visibility</p:attrName>
                                        </p:attrNameLst>
                                      </p:cBhvr>
                                      <p:to>
                                        <p:strVal val="visible"/>
                                      </p:to>
                                    </p:set>
                                    <p:animEffect transition="in" filter="wipe(left)">
                                      <p:cBhvr>
                                        <p:cTn id="42" dur="500"/>
                                        <p:tgtEl>
                                          <p:spTgt spid="4">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animEffect transition="in" filter="wipe(left)">
                                      <p:cBhvr>
                                        <p:cTn id="4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010" name="Rectangle 3"/>
              <p:cNvSpPr>
                <a:spLocks noGrp="1" noChangeArrowheads="1"/>
              </p:cNvSpPr>
              <p:nvPr>
                <p:ph type="body" idx="1"/>
              </p:nvPr>
            </p:nvSpPr>
            <p:spPr>
              <a:xfrm>
                <a:off x="369484" y="1524695"/>
                <a:ext cx="8229600" cy="2276641"/>
              </a:xfrm>
              <a:ln/>
            </p:spPr>
            <p:txBody>
              <a:bodyPr/>
              <a:lstStyle/>
              <a:p>
                <a:pPr marL="800100" lvl="3" indent="-342900" algn="l">
                  <a:lnSpc>
                    <a:spcPct val="150000"/>
                  </a:lnSpc>
                  <a:buFontTx/>
                  <a:buChar char="–"/>
                </a:pPr>
                <a:endParaRPr lang="en-US" altLang="zh-CN" sz="1800" b="0" dirty="0">
                  <a:latin typeface="微软雅黑" panose="020B0503020204020204" pitchFamily="34" charset="-122"/>
                  <a:ea typeface="微软雅黑" panose="020B0503020204020204" pitchFamily="34" charset="-122"/>
                </a:endParaRPr>
              </a:p>
              <a:p>
                <a:pPr marL="800100" lvl="3" indent="-342900" algn="l">
                  <a:lnSpc>
                    <a:spcPct val="150000"/>
                  </a:lnSpc>
                  <a:buFont typeface="Wingdings" panose="05000000000000000000" pitchFamily="2" charset="2"/>
                  <a:buChar char="Ø"/>
                </a:pPr>
                <a:r>
                  <a:rPr lang="en-US" altLang="zh-CN" sz="1800" b="0" dirty="0">
                    <a:latin typeface="微软雅黑" panose="020B0503020204020204" pitchFamily="34" charset="-122"/>
                    <a:ea typeface="微软雅黑" panose="020B0503020204020204" pitchFamily="34" charset="-122"/>
                  </a:rPr>
                  <a:t>Q*</a:t>
                </a:r>
                <a:r>
                  <a:rPr lang="zh-CN" altLang="en-US" sz="1800" b="0" dirty="0">
                    <a:latin typeface="微软雅黑" panose="020B0503020204020204" pitchFamily="34" charset="-122"/>
                    <a:ea typeface="微软雅黑" panose="020B0503020204020204" pitchFamily="34" charset="-122"/>
                  </a:rPr>
                  <a:t>不只是长期利润最大化产量</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同时也是相应的“最优规模”上的短期利润最大化产量</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即最优的短期利润最大化产量。</a:t>
                </a:r>
                <a:endParaRPr lang="en-US" altLang="zh-CN" sz="1800" b="0" dirty="0">
                  <a:latin typeface="微软雅黑" panose="020B0503020204020204" pitchFamily="34" charset="-122"/>
                  <a:ea typeface="微软雅黑" panose="020B0503020204020204" pitchFamily="34" charset="-122"/>
                </a:endParaRPr>
              </a:p>
              <a:p>
                <a:pPr marL="742950" lvl="3" indent="-285750" algn="l">
                  <a:lnSpc>
                    <a:spcPct val="150000"/>
                  </a:lnSpc>
                  <a:buFont typeface="Wingdings" panose="05000000000000000000" pitchFamily="2" charset="2"/>
                  <a:buChar char="Ø"/>
                </a:pPr>
                <a:r>
                  <a:rPr lang="zh-CN" altLang="en-US" sz="1800" b="0" dirty="0">
                    <a:latin typeface="微软雅黑" panose="020B0503020204020204" pitchFamily="34" charset="-122"/>
                    <a:ea typeface="微软雅黑" panose="020B0503020204020204" pitchFamily="34" charset="-122"/>
                  </a:rPr>
                  <a:t>短期利润最大化条件：短期边际收益等于短期边际成本，短期平均收益等于短期平均成本，短期边际收益和平均收益等于价格</a:t>
                </a:r>
                <a:endParaRPr lang="en-US" altLang="zh-CN" sz="1800" b="0" dirty="0">
                  <a:latin typeface="微软雅黑" panose="020B0503020204020204" pitchFamily="34" charset="-122"/>
                  <a:ea typeface="微软雅黑" panose="020B0503020204020204" pitchFamily="34" charset="-122"/>
                </a:endParaRPr>
              </a:p>
              <a:p>
                <a:pPr marL="457200" lvl="3" algn="l">
                  <a:lnSpc>
                    <a:spcPct val="150000"/>
                  </a:lnSpc>
                </a:pPr>
                <a14:m>
                  <m:oMathPara xmlns:m="http://schemas.openxmlformats.org/officeDocument/2006/math">
                    <m:oMathParaPr>
                      <m:jc m:val="centerGroup"/>
                    </m:oMathParaPr>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𝑝</m:t>
                      </m:r>
                      <m:r>
                        <m:rPr>
                          <m:nor/>
                        </m:rPr>
                        <a:rPr lang="en-US" altLang="zh-CN" sz="1800" i="1" baseline="30000" dirty="0">
                          <a:solidFill>
                            <a:srgbClr val="000000"/>
                          </a:solidFill>
                        </a:rPr>
                        <m:t>∗</m:t>
                      </m:r>
                      <m:r>
                        <a:rPr lang="en-US" altLang="zh-CN" sz="1800" b="0" i="1" dirty="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𝑆</m:t>
                      </m:r>
                      <m:r>
                        <a:rPr lang="en-US" altLang="zh-CN" sz="1800" b="0" i="1" dirty="0">
                          <a:latin typeface="Cambria Math" panose="02040503050406030204" pitchFamily="18" charset="0"/>
                          <a:ea typeface="微软雅黑" panose="020B0503020204020204" pitchFamily="34" charset="-122"/>
                        </a:rPr>
                        <m:t>𝑀𝑅</m:t>
                      </m:r>
                      <m:r>
                        <m:rPr>
                          <m:nor/>
                        </m:rPr>
                        <a:rPr lang="en-US" altLang="zh-CN" sz="1800" i="1" baseline="30000" dirty="0">
                          <a:solidFill>
                            <a:srgbClr val="000000"/>
                          </a:solidFill>
                        </a:rPr>
                        <m:t>∗</m:t>
                      </m:r>
                      <m:r>
                        <a:rPr lang="en-US" altLang="zh-CN" sz="1800" b="0" i="1" dirty="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𝑆</m:t>
                      </m:r>
                      <m:r>
                        <a:rPr lang="en-US" altLang="zh-CN" sz="1800" b="0" i="1" dirty="0">
                          <a:latin typeface="Cambria Math" panose="02040503050406030204" pitchFamily="18" charset="0"/>
                          <a:ea typeface="微软雅黑" panose="020B0503020204020204" pitchFamily="34" charset="-122"/>
                        </a:rPr>
                        <m:t>𝑀𝐶</m:t>
                      </m:r>
                      <m:r>
                        <m:rPr>
                          <m:nor/>
                        </m:rPr>
                        <a:rPr lang="en-US" altLang="zh-CN" sz="1800" i="1" baseline="30000" dirty="0">
                          <a:solidFill>
                            <a:srgbClr val="000000"/>
                          </a:solidFill>
                        </a:rPr>
                        <m:t>∗</m:t>
                      </m:r>
                      <m:r>
                        <a:rPr lang="en-US" altLang="zh-CN" sz="1800" b="0" i="1" dirty="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𝑆</m:t>
                      </m:r>
                      <m:r>
                        <a:rPr lang="en-US" altLang="zh-CN" sz="1800" b="0" i="1" dirty="0">
                          <a:latin typeface="Cambria Math" panose="02040503050406030204" pitchFamily="18" charset="0"/>
                          <a:ea typeface="微软雅黑" panose="020B0503020204020204" pitchFamily="34" charset="-122"/>
                        </a:rPr>
                        <m:t>𝐴𝑅</m:t>
                      </m:r>
                      <m:r>
                        <m:rPr>
                          <m:nor/>
                        </m:rPr>
                        <a:rPr lang="en-US" altLang="zh-CN" sz="1800" i="1" baseline="30000" dirty="0">
                          <a:solidFill>
                            <a:srgbClr val="000000"/>
                          </a:solidFill>
                        </a:rPr>
                        <m:t>∗</m:t>
                      </m:r>
                      <m:r>
                        <a:rPr lang="en-US" altLang="zh-CN" sz="1800" b="0" i="1" dirty="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𝑆</m:t>
                      </m:r>
                      <m:r>
                        <a:rPr lang="en-US" altLang="zh-CN" sz="1800" b="0" i="1" dirty="0">
                          <a:latin typeface="Cambria Math" panose="02040503050406030204" pitchFamily="18" charset="0"/>
                          <a:ea typeface="微软雅黑" panose="020B0503020204020204" pitchFamily="34" charset="-122"/>
                        </a:rPr>
                        <m:t>𝐴𝐶</m:t>
                      </m:r>
                      <m:r>
                        <m:rPr>
                          <m:nor/>
                        </m:rPr>
                        <a:rPr lang="en-US" altLang="zh-CN" sz="1800" i="1" baseline="30000" dirty="0">
                          <a:solidFill>
                            <a:srgbClr val="000000"/>
                          </a:solidFill>
                        </a:rPr>
                        <m:t>∗</m:t>
                      </m:r>
                    </m:oMath>
                  </m:oMathPara>
                </a14:m>
                <a:endParaRPr lang="en-US" altLang="zh-CN" sz="1800" b="0" baseline="30000" dirty="0">
                  <a:latin typeface="微软雅黑" panose="020B0503020204020204" pitchFamily="34" charset="-122"/>
                  <a:ea typeface="微软雅黑" panose="020B0503020204020204" pitchFamily="34" charset="-122"/>
                </a:endParaRPr>
              </a:p>
            </p:txBody>
          </p:sp>
        </mc:Choice>
        <mc:Fallback xmlns="">
          <p:sp>
            <p:nvSpPr>
              <p:cNvPr id="43010" name="Rectangle 3"/>
              <p:cNvSpPr>
                <a:spLocks noGrp="1" noRot="1" noChangeAspect="1" noMove="1" noResize="1" noEditPoints="1" noAdjustHandles="1" noChangeArrowheads="1" noChangeShapeType="1" noTextEdit="1"/>
              </p:cNvSpPr>
              <p:nvPr>
                <p:ph type="body" idx="1"/>
              </p:nvPr>
            </p:nvSpPr>
            <p:spPr>
              <a:xfrm>
                <a:off x="369484" y="1524695"/>
                <a:ext cx="8229600" cy="2276641"/>
              </a:xfrm>
              <a:blipFill>
                <a:blip r:embed="rId7"/>
                <a:stretch>
                  <a:fillRect b="-12567"/>
                </a:stretch>
              </a:blipFill>
              <a:ln/>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F68E5273-CD77-47B9-B841-9D29349C133D}"/>
              </a:ext>
            </a:extLst>
          </p:cNvPr>
          <p:cNvSpPr/>
          <p:nvPr/>
        </p:nvSpPr>
        <p:spPr>
          <a:xfrm>
            <a:off x="467544" y="548680"/>
            <a:ext cx="288037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三、长期均衡</a:t>
            </a:r>
          </a:p>
        </p:txBody>
      </p:sp>
      <p:sp>
        <p:nvSpPr>
          <p:cNvPr id="7" name="矩形 6">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grpSp>
        <p:nvGrpSpPr>
          <p:cNvPr id="8" name="组合 7">
            <a:extLst>
              <a:ext uri="{FF2B5EF4-FFF2-40B4-BE49-F238E27FC236}">
                <a16:creationId xmlns:a16="http://schemas.microsoft.com/office/drawing/2014/main" id="{627AE83D-F3D9-4FE1-841C-38AA09ECDF1C}"/>
              </a:ext>
            </a:extLst>
          </p:cNvPr>
          <p:cNvGrpSpPr/>
          <p:nvPr/>
        </p:nvGrpSpPr>
        <p:grpSpPr>
          <a:xfrm>
            <a:off x="467544" y="1317084"/>
            <a:ext cx="4248466" cy="514350"/>
            <a:chOff x="467544" y="2449317"/>
            <a:chExt cx="2808366" cy="514350"/>
          </a:xfrm>
        </p:grpSpPr>
        <p:sp>
          <p:nvSpPr>
            <p:cNvPr id="9" name="MH_Text_1">
              <a:extLst>
                <a:ext uri="{FF2B5EF4-FFF2-40B4-BE49-F238E27FC236}">
                  <a16:creationId xmlns:a16="http://schemas.microsoft.com/office/drawing/2014/main" id="{7F1EE33B-DD63-42A8-86A7-757932B8049A}"/>
                </a:ext>
              </a:extLst>
            </p:cNvPr>
            <p:cNvSpPr/>
            <p:nvPr>
              <p:custDataLst>
                <p:tags r:id="rId3"/>
              </p:custDataLst>
            </p:nvPr>
          </p:nvSpPr>
          <p:spPr bwMode="auto">
            <a:xfrm>
              <a:off x="467544" y="2449317"/>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“最优规模”短期利润最大化的条件</a:t>
              </a:r>
            </a:p>
          </p:txBody>
        </p:sp>
        <p:sp>
          <p:nvSpPr>
            <p:cNvPr id="10" name="MH_Other_2">
              <a:extLst>
                <a:ext uri="{FF2B5EF4-FFF2-40B4-BE49-F238E27FC236}">
                  <a16:creationId xmlns:a16="http://schemas.microsoft.com/office/drawing/2014/main" id="{E635624F-D191-4C19-B11A-618C7FE0256E}"/>
                </a:ext>
              </a:extLst>
            </p:cNvPr>
            <p:cNvSpPr/>
            <p:nvPr>
              <p:custDataLst>
                <p:tags r:id="rId4"/>
              </p:custDataLst>
            </p:nvPr>
          </p:nvSpPr>
          <p:spPr bwMode="auto">
            <a:xfrm rot="10800000">
              <a:off x="3122732" y="2499061"/>
              <a:ext cx="127000"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p:grpSp>
        <p:nvGrpSpPr>
          <p:cNvPr id="11" name="组合 10">
            <a:extLst>
              <a:ext uri="{FF2B5EF4-FFF2-40B4-BE49-F238E27FC236}">
                <a16:creationId xmlns:a16="http://schemas.microsoft.com/office/drawing/2014/main" id="{627AE83D-F3D9-4FE1-841C-38AA09ECDF1C}"/>
              </a:ext>
            </a:extLst>
          </p:cNvPr>
          <p:cNvGrpSpPr/>
          <p:nvPr/>
        </p:nvGrpSpPr>
        <p:grpSpPr>
          <a:xfrm>
            <a:off x="467544" y="4315686"/>
            <a:ext cx="4248466" cy="514350"/>
            <a:chOff x="467544" y="2499061"/>
            <a:chExt cx="2808366" cy="514350"/>
          </a:xfrm>
        </p:grpSpPr>
        <p:sp>
          <p:nvSpPr>
            <p:cNvPr id="12" name="MH_Text_1">
              <a:extLst>
                <a:ext uri="{FF2B5EF4-FFF2-40B4-BE49-F238E27FC236}">
                  <a16:creationId xmlns:a16="http://schemas.microsoft.com/office/drawing/2014/main" id="{7F1EE33B-DD63-42A8-86A7-757932B8049A}"/>
                </a:ext>
              </a:extLst>
            </p:cNvPr>
            <p:cNvSpPr/>
            <p:nvPr>
              <p:custDataLst>
                <p:tags r:id="rId1"/>
              </p:custDataLst>
            </p:nvPr>
          </p:nvSpPr>
          <p:spPr bwMode="auto">
            <a:xfrm>
              <a:off x="467544" y="2499061"/>
              <a:ext cx="2808366"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pc="150" dirty="0">
                  <a:solidFill>
                    <a:srgbClr val="000000"/>
                  </a:solidFill>
                  <a:latin typeface="微软雅黑" panose="020B0503020204020204" pitchFamily="34" charset="-122"/>
                  <a:ea typeface="微软雅黑" panose="020B0503020204020204" pitchFamily="34" charset="-122"/>
                </a:rPr>
                <a:t>长期均衡的完整描述</a:t>
              </a:r>
            </a:p>
          </p:txBody>
        </p:sp>
        <p:sp>
          <p:nvSpPr>
            <p:cNvPr id="13" name="MH_Other_2">
              <a:extLst>
                <a:ext uri="{FF2B5EF4-FFF2-40B4-BE49-F238E27FC236}">
                  <a16:creationId xmlns:a16="http://schemas.microsoft.com/office/drawing/2014/main" id="{E635624F-D191-4C19-B11A-618C7FE0256E}"/>
                </a:ext>
              </a:extLst>
            </p:cNvPr>
            <p:cNvSpPr/>
            <p:nvPr>
              <p:custDataLst>
                <p:tags r:id="rId2"/>
              </p:custDataLst>
            </p:nvPr>
          </p:nvSpPr>
          <p:spPr bwMode="auto">
            <a:xfrm rot="10800000">
              <a:off x="3122732" y="2499061"/>
              <a:ext cx="127000" cy="101119"/>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ko-KR" altLang="en-US">
                <a:solidFill>
                  <a:schemeClr val="accent1">
                    <a:lumMod val="75000"/>
                  </a:schemeClr>
                </a:solidFill>
                <a:latin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14" name="Rectangle 3"/>
              <p:cNvSpPr txBox="1">
                <a:spLocks noChangeArrowheads="1"/>
              </p:cNvSpPr>
              <p:nvPr/>
            </p:nvSpPr>
            <p:spPr bwMode="auto">
              <a:xfrm>
                <a:off x="379966" y="4432367"/>
                <a:ext cx="8229600" cy="227664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defTabSz="0" rtl="0" eaLnBrk="0" fontAlgn="base" hangingPunct="0">
                  <a:spcBef>
                    <a:spcPct val="20000"/>
                  </a:spcBef>
                  <a:spcAft>
                    <a:spcPct val="0"/>
                  </a:spcAft>
                  <a:buNone/>
                  <a:defRPr sz="2400" b="1" kern="1200">
                    <a:solidFill>
                      <a:srgbClr val="CC0000"/>
                    </a:solidFill>
                    <a:latin typeface="+mn-lt"/>
                    <a:ea typeface="+mn-ea"/>
                    <a:cs typeface="+mn-cs"/>
                    <a:sym typeface="Arial" panose="020B0604020202020204" pitchFamily="34" charset="0"/>
                  </a:defRPr>
                </a:lvl1pPr>
                <a:lvl2pPr marL="457200" indent="0" algn="ctr" defTabSz="0" rtl="0" eaLnBrk="0" fontAlgn="base" hangingPunct="0">
                  <a:spcBef>
                    <a:spcPct val="20000"/>
                  </a:spcBef>
                  <a:spcAft>
                    <a:spcPct val="0"/>
                  </a:spcAft>
                  <a:buNone/>
                  <a:defRPr sz="2000" b="1" kern="1200">
                    <a:solidFill>
                      <a:schemeClr val="tx1"/>
                    </a:solidFill>
                    <a:latin typeface="+mn-lt"/>
                    <a:ea typeface="+mn-ea"/>
                    <a:cs typeface="+mn-cs"/>
                    <a:sym typeface="Arial" panose="020B0604020202020204" pitchFamily="34" charset="0"/>
                  </a:defRPr>
                </a:lvl2pPr>
                <a:lvl3pPr marL="914400" indent="0" algn="ctr" defTabSz="0" rtl="0" eaLnBrk="0" fontAlgn="base" hangingPunct="0">
                  <a:spcBef>
                    <a:spcPct val="20000"/>
                  </a:spcBef>
                  <a:spcAft>
                    <a:spcPct val="0"/>
                  </a:spcAft>
                  <a:buNone/>
                  <a:defRPr sz="1800" b="1" kern="1200">
                    <a:solidFill>
                      <a:schemeClr val="tx1"/>
                    </a:solidFill>
                    <a:latin typeface="+mn-lt"/>
                    <a:ea typeface="+mn-ea"/>
                    <a:cs typeface="+mn-cs"/>
                    <a:sym typeface="Arial" panose="020B0604020202020204" pitchFamily="34" charset="0"/>
                  </a:defRPr>
                </a:lvl3pPr>
                <a:lvl4pPr marL="13716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4pPr>
                <a:lvl5pPr marL="18288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800100" lvl="3" indent="-342900">
                  <a:lnSpc>
                    <a:spcPct val="150000"/>
                  </a:lnSpc>
                  <a:buFontTx/>
                  <a:buChar char="–"/>
                </a:pPr>
                <a:endParaRPr lang="en-US" altLang="zh-CN" sz="1800" b="0" dirty="0">
                  <a:latin typeface="微软雅黑" panose="020B0503020204020204" pitchFamily="34" charset="-122"/>
                  <a:ea typeface="微软雅黑" panose="020B0503020204020204" pitchFamily="34" charset="-122"/>
                </a:endParaRPr>
              </a:p>
              <a:p>
                <a:pPr marL="742950" lvl="3" indent="-285750">
                  <a:lnSpc>
                    <a:spcPct val="150000"/>
                  </a:lnSpc>
                  <a:buFont typeface="Wingdings" panose="05000000000000000000" pitchFamily="2" charset="2"/>
                  <a:buChar char="Ø"/>
                </a:pP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𝑝</m:t>
                    </m:r>
                    <m:r>
                      <m:rPr>
                        <m:nor/>
                      </m:rPr>
                      <a:rPr lang="en-US" altLang="zh-CN" sz="1800" baseline="30000" dirty="0">
                        <a:solidFill>
                          <a:srgbClr val="000000"/>
                        </a:solidFill>
                      </a:rPr>
                      <m:t>∗</m:t>
                    </m:r>
                    <m:r>
                      <a:rPr lang="en-US" altLang="zh-CN" sz="1800" b="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𝐿𝑀𝑅</m:t>
                    </m:r>
                    <m:r>
                      <m:rPr>
                        <m:nor/>
                      </m:rPr>
                      <a:rPr lang="en-US" altLang="zh-CN" sz="1800" i="1" baseline="30000" dirty="0">
                        <a:solidFill>
                          <a:srgbClr val="000000"/>
                        </a:solidFill>
                      </a:rPr>
                      <m:t>∗</m:t>
                    </m:r>
                    <m:r>
                      <a:rPr lang="en-US" altLang="zh-CN" sz="1800" b="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𝐿𝐴</m:t>
                    </m:r>
                    <m:r>
                      <a:rPr lang="en-US" altLang="zh-CN" sz="1800" b="0" i="1" dirty="0">
                        <a:latin typeface="Cambria Math" panose="02040503050406030204" pitchFamily="18" charset="0"/>
                        <a:ea typeface="微软雅黑" panose="020B0503020204020204" pitchFamily="34" charset="-122"/>
                      </a:rPr>
                      <m:t> </m:t>
                    </m:r>
                    <m:r>
                      <a:rPr lang="en-US" altLang="zh-CN" sz="1800" b="0" i="1" dirty="0" smtClean="0">
                        <a:latin typeface="Cambria Math" panose="02040503050406030204" pitchFamily="18" charset="0"/>
                        <a:ea typeface="微软雅黑" panose="020B0503020204020204" pitchFamily="34" charset="-122"/>
                      </a:rPr>
                      <m:t>𝑅</m:t>
                    </m:r>
                    <m:r>
                      <m:rPr>
                        <m:nor/>
                      </m:rPr>
                      <a:rPr lang="en-US" altLang="zh-CN" sz="1800" i="1" baseline="30000" dirty="0">
                        <a:solidFill>
                          <a:srgbClr val="000000"/>
                        </a:solidFill>
                      </a:rPr>
                      <m:t>∗</m:t>
                    </m:r>
                    <m:r>
                      <a:rPr lang="en-US" altLang="zh-CN" sz="1800" b="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𝐿𝑀</m:t>
                    </m:r>
                    <m:r>
                      <a:rPr lang="en-US" altLang="zh-CN" sz="1800" b="0" i="1" dirty="0">
                        <a:latin typeface="Cambria Math" panose="02040503050406030204" pitchFamily="18" charset="0"/>
                        <a:ea typeface="微软雅黑" panose="020B0503020204020204" pitchFamily="34" charset="-122"/>
                      </a:rPr>
                      <m:t> </m:t>
                    </m:r>
                    <m:r>
                      <a:rPr lang="en-US" altLang="zh-CN" sz="1800" b="0" i="1" dirty="0" smtClean="0">
                        <a:latin typeface="Cambria Math" panose="02040503050406030204" pitchFamily="18" charset="0"/>
                        <a:ea typeface="微软雅黑" panose="020B0503020204020204" pitchFamily="34" charset="-122"/>
                      </a:rPr>
                      <m:t>𝐶</m:t>
                    </m:r>
                    <m:r>
                      <a:rPr lang="en-US" altLang="zh-CN" sz="1800" b="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𝐿𝐴𝐶</m:t>
                    </m:r>
                  </m:oMath>
                </a14:m>
                <a:endParaRPr lang="en-US" altLang="zh-CN" sz="1800" b="0" dirty="0">
                  <a:latin typeface="微软雅黑" panose="020B0503020204020204" pitchFamily="34" charset="-122"/>
                  <a:ea typeface="微软雅黑" panose="020B0503020204020204" pitchFamily="34" charset="-122"/>
                </a:endParaRPr>
              </a:p>
              <a:p>
                <a:pPr marL="457200" lvl="3">
                  <a:lnSpc>
                    <a:spcPct val="150000"/>
                  </a:lnSpc>
                </a:pPr>
                <a:r>
                  <a:rPr lang="en-US" altLang="zh-CN" sz="1800" b="0" i="1" dirty="0">
                    <a:latin typeface="Cambria Math" panose="02040503050406030204" pitchFamily="18" charset="0"/>
                    <a:ea typeface="微软雅黑" panose="020B0503020204020204" pitchFamily="34" charset="-122"/>
                  </a:rPr>
                  <a:t>      </a:t>
                </a:r>
                <a14:m>
                  <m:oMath xmlns:m="http://schemas.openxmlformats.org/officeDocument/2006/math">
                    <m:r>
                      <a:rPr lang="en-US" altLang="zh-CN" sz="1800" b="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𝑆𝑀𝑅</m:t>
                    </m:r>
                    <m:r>
                      <a:rPr lang="en-US" altLang="zh-CN" sz="1800" b="0" i="1" baseline="30000" dirty="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𝑆𝐴𝑅</m:t>
                    </m:r>
                    <m:r>
                      <m:rPr>
                        <m:nor/>
                      </m:rPr>
                      <a:rPr lang="en-US" altLang="zh-CN" sz="1800" i="1" baseline="30000" dirty="0">
                        <a:solidFill>
                          <a:srgbClr val="000000"/>
                        </a:solidFill>
                      </a:rPr>
                      <m:t>∗</m:t>
                    </m:r>
                    <m:r>
                      <a:rPr lang="en-US" altLang="zh-CN" sz="1800" b="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𝑆𝑀𝐶</m:t>
                    </m:r>
                    <m:r>
                      <m:rPr>
                        <m:nor/>
                      </m:rPr>
                      <a:rPr lang="en-US" altLang="zh-CN" sz="1800" i="1" baseline="30000" dirty="0" smtClean="0">
                        <a:solidFill>
                          <a:srgbClr val="000000"/>
                        </a:solidFill>
                      </a:rPr>
                      <m:t>∗</m:t>
                    </m:r>
                    <m:r>
                      <a:rPr lang="en-US" altLang="zh-CN" sz="1800" b="0" i="1" dirty="0" smtClean="0">
                        <a:latin typeface="Cambria Math" panose="02040503050406030204" pitchFamily="18" charset="0"/>
                        <a:ea typeface="微软雅黑" panose="020B0503020204020204" pitchFamily="34" charset="-122"/>
                      </a:rPr>
                      <m:t>=</m:t>
                    </m:r>
                    <m:r>
                      <a:rPr lang="en-US" altLang="zh-CN" sz="1800" b="0" i="1" dirty="0" smtClean="0">
                        <a:latin typeface="Cambria Math" panose="02040503050406030204" pitchFamily="18" charset="0"/>
                        <a:ea typeface="微软雅黑" panose="020B0503020204020204" pitchFamily="34" charset="-122"/>
                      </a:rPr>
                      <m:t>𝑆𝐴𝐶</m:t>
                    </m:r>
                    <m:r>
                      <m:rPr>
                        <m:nor/>
                      </m:rPr>
                      <a:rPr lang="en-US" altLang="zh-CN" sz="1800" i="1" baseline="30000" dirty="0" smtClean="0">
                        <a:solidFill>
                          <a:srgbClr val="000000"/>
                        </a:solidFill>
                      </a:rPr>
                      <m:t>∗</m:t>
                    </m:r>
                  </m:oMath>
                </a14:m>
                <a:endParaRPr lang="en-US" altLang="zh-CN" sz="1800" b="0" i="1" baseline="30000" dirty="0">
                  <a:latin typeface="Cambria Math" panose="02040503050406030204" pitchFamily="18" charset="0"/>
                  <a:ea typeface="微软雅黑" panose="020B0503020204020204" pitchFamily="34" charset="-122"/>
                </a:endParaRPr>
              </a:p>
              <a:p>
                <a:pPr marL="457200" lvl="3">
                  <a:lnSpc>
                    <a:spcPct val="150000"/>
                  </a:lnSpc>
                </a:pPr>
                <a:endParaRPr lang="en-US" altLang="zh-CN" sz="1800" b="0" dirty="0">
                  <a:latin typeface="微软雅黑" panose="020B0503020204020204" pitchFamily="34" charset="-122"/>
                  <a:ea typeface="微软雅黑" panose="020B0503020204020204" pitchFamily="34" charset="-122"/>
                </a:endParaRPr>
              </a:p>
            </p:txBody>
          </p:sp>
        </mc:Choice>
        <mc:Fallback xmlns="">
          <p:sp>
            <p:nvSpPr>
              <p:cNvPr id="14" name="Rectangle 3"/>
              <p:cNvSpPr txBox="1">
                <a:spLocks noRot="1" noChangeAspect="1" noMove="1" noResize="1" noEditPoints="1" noAdjustHandles="1" noChangeArrowheads="1" noChangeShapeType="1" noTextEdit="1"/>
              </p:cNvSpPr>
              <p:nvPr/>
            </p:nvSpPr>
            <p:spPr bwMode="auto">
              <a:xfrm>
                <a:off x="379966" y="4432367"/>
                <a:ext cx="8229600" cy="2276641"/>
              </a:xfrm>
              <a:prstGeom prst="rect">
                <a:avLst/>
              </a:prstGeom>
              <a:blipFill>
                <a:blip r:embed="rId8"/>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标注: 线形 1">
            <a:extLst>
              <a:ext uri="{FF2B5EF4-FFF2-40B4-BE49-F238E27FC236}">
                <a16:creationId xmlns:a16="http://schemas.microsoft.com/office/drawing/2014/main" id="{8AC17A21-B74A-4FFE-BC56-9D5E96EA0C0C}"/>
              </a:ext>
            </a:extLst>
          </p:cNvPr>
          <p:cNvSpPr/>
          <p:nvPr/>
        </p:nvSpPr>
        <p:spPr bwMode="auto">
          <a:xfrm>
            <a:off x="7236184" y="3356995"/>
            <a:ext cx="1715691" cy="3168220"/>
          </a:xfrm>
          <a:prstGeom prst="borderCallout1">
            <a:avLst>
              <a:gd name="adj1" fmla="val 40745"/>
              <a:gd name="adj2" fmla="val -2180"/>
              <a:gd name="adj3" fmla="val 61531"/>
              <a:gd name="adj4" fmla="val -1143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完全竞争的一个重要结论是它可以导致经济效率。这是由于完全竞争企业面临的需求曲线是水平线，这使得企业可以在边际成本等于价格时组织生产。这意味着额外一单位产量引起的成本等于消费者的支付意愿，这就是经济效率所要求的。如果边际成本小于价格，就表示如果企业能够增加生产，整个社会付出的代价会小于得到的好处，因此对社会是有好处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68E5273-CD77-47B9-B841-9D29349C133D}"/>
              </a:ext>
            </a:extLst>
          </p:cNvPr>
          <p:cNvSpPr/>
          <p:nvPr/>
        </p:nvSpPr>
        <p:spPr>
          <a:xfrm>
            <a:off x="467544" y="548680"/>
            <a:ext cx="288037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四、长期供给曲线</a:t>
            </a:r>
          </a:p>
        </p:txBody>
      </p:sp>
      <p:sp>
        <p:nvSpPr>
          <p:cNvPr id="9" name="矩形 8">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4" name="矩形 3"/>
          <p:cNvSpPr/>
          <p:nvPr/>
        </p:nvSpPr>
        <p:spPr>
          <a:xfrm>
            <a:off x="1061915" y="2407191"/>
            <a:ext cx="7254345" cy="923330"/>
          </a:xfrm>
          <a:prstGeom prst="rect">
            <a:avLst/>
          </a:prstGeom>
        </p:spPr>
        <p:txBody>
          <a:bodyPr wrap="square">
            <a:spAutoFit/>
          </a:bodyPr>
          <a:lstStyle/>
          <a:p>
            <a:pPr marL="342900" indent="-342900" eaLnBrk="1" hangingPunct="1">
              <a:buFont typeface="Wingdings" panose="05000000000000000000" pitchFamily="2" charset="2"/>
              <a:buChar char="Ø"/>
            </a:pPr>
            <a:r>
              <a:rPr lang="zh-CN" altLang="en-US" spc="150" dirty="0">
                <a:solidFill>
                  <a:srgbClr val="000000"/>
                </a:solidFill>
                <a:latin typeface="微软雅黑" panose="020B0503020204020204" pitchFamily="34" charset="-122"/>
                <a:ea typeface="微软雅黑" panose="020B0503020204020204" pitchFamily="34" charset="-122"/>
              </a:rPr>
              <a:t>向右上方倾斜的长期供给曲线</a:t>
            </a:r>
            <a:endParaRPr lang="en-US" altLang="zh-CN" dirty="0">
              <a:solidFill>
                <a:srgbClr val="000000"/>
              </a:solidFill>
              <a:latin typeface="微软雅黑" panose="020B0503020204020204" pitchFamily="34" charset="-122"/>
              <a:ea typeface="微软雅黑" panose="020B0503020204020204" pitchFamily="34" charset="-122"/>
            </a:endParaRPr>
          </a:p>
          <a:p>
            <a:pPr marL="800100" lvl="1" indent="-342900" eaLnBrk="1" hangingPunct="1">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原因</a:t>
            </a:r>
          </a:p>
          <a:p>
            <a:pPr marL="800100" lvl="1" indent="-342900" eaLnBrk="1" hangingPunct="1">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厂商扩大生产和更多的厂商进入</a:t>
            </a:r>
            <a:r>
              <a:rPr lang="en-US" altLang="zh-CN" dirty="0">
                <a:solidFill>
                  <a:srgbClr val="000000"/>
                </a:solidFill>
                <a:sym typeface="Wingdings" panose="05000000000000000000" pitchFamily="2" charset="2"/>
              </a:rPr>
              <a:t></a:t>
            </a:r>
            <a:r>
              <a:rPr lang="zh-CN" altLang="en-US" dirty="0">
                <a:solidFill>
                  <a:srgbClr val="000000"/>
                </a:solidFill>
                <a:latin typeface="微软雅黑" panose="020B0503020204020204" pitchFamily="34" charset="-122"/>
                <a:ea typeface="微软雅黑" panose="020B0503020204020204" pitchFamily="34" charset="-122"/>
              </a:rPr>
              <a:t>要素价格上升</a:t>
            </a:r>
            <a:r>
              <a:rPr lang="en-US" altLang="zh-CN" dirty="0">
                <a:solidFill>
                  <a:srgbClr val="000000"/>
                </a:solidFill>
                <a:sym typeface="Wingdings" panose="05000000000000000000" pitchFamily="2" charset="2"/>
              </a:rPr>
              <a:t></a:t>
            </a:r>
            <a:r>
              <a:rPr lang="zh-CN" altLang="en-US" dirty="0">
                <a:solidFill>
                  <a:srgbClr val="000000"/>
                </a:solidFill>
                <a:latin typeface="微软雅黑" panose="020B0503020204020204" pitchFamily="34" charset="-122"/>
                <a:ea typeface="微软雅黑" panose="020B0503020204020204" pitchFamily="34" charset="-122"/>
              </a:rPr>
              <a:t>成本上升</a:t>
            </a:r>
          </a:p>
        </p:txBody>
      </p:sp>
      <p:sp>
        <p:nvSpPr>
          <p:cNvPr id="6" name="矩形 5"/>
          <p:cNvSpPr/>
          <p:nvPr/>
        </p:nvSpPr>
        <p:spPr>
          <a:xfrm>
            <a:off x="394721" y="1194780"/>
            <a:ext cx="8066537" cy="978281"/>
          </a:xfrm>
          <a:prstGeom prst="rect">
            <a:avLst/>
          </a:prstGeom>
        </p:spPr>
        <p:txBody>
          <a:bodyPr wrap="square">
            <a:spAutoFit/>
          </a:bodyPr>
          <a:lstStyle/>
          <a:p>
            <a:pPr marL="742950" lvl="3" indent="-285750">
              <a:lnSpc>
                <a:spcPct val="150000"/>
              </a:lnSpc>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长期供给曲线体现了产品价格变化的长期影响</a:t>
            </a:r>
          </a:p>
          <a:p>
            <a:pPr marL="800100" lvl="3" indent="-342900">
              <a:lnSpc>
                <a:spcPct val="200000"/>
              </a:lnSpc>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长期影响的三种类型导致三种长期供给曲线（指行业供给曲线）</a:t>
            </a:r>
          </a:p>
        </p:txBody>
      </p:sp>
      <p:sp>
        <p:nvSpPr>
          <p:cNvPr id="14" name="矩形 13"/>
          <p:cNvSpPr/>
          <p:nvPr/>
        </p:nvSpPr>
        <p:spPr>
          <a:xfrm>
            <a:off x="1061912" y="3792150"/>
            <a:ext cx="7686378" cy="1477328"/>
          </a:xfrm>
          <a:prstGeom prst="rect">
            <a:avLst/>
          </a:prstGeom>
        </p:spPr>
        <p:txBody>
          <a:bodyPr wrap="square">
            <a:spAutoFit/>
          </a:bodyPr>
          <a:lstStyle/>
          <a:p>
            <a:pPr marL="342900" lvl="0" indent="-342900" eaLnBrk="1" hangingPunct="1">
              <a:buFont typeface="Wingdings" panose="05000000000000000000" pitchFamily="2" charset="2"/>
              <a:buChar char="Ø"/>
            </a:pPr>
            <a:endParaRPr lang="en-US" altLang="zh-CN" dirty="0">
              <a:solidFill>
                <a:srgbClr val="000000"/>
              </a:solidFill>
              <a:latin typeface="微软雅黑" panose="020B0503020204020204" pitchFamily="34" charset="-122"/>
              <a:ea typeface="微软雅黑" panose="020B0503020204020204" pitchFamily="34" charset="-122"/>
            </a:endParaRPr>
          </a:p>
          <a:p>
            <a:pPr marL="342900" lvl="0" indent="-342900" eaLnBrk="1" hangingPunct="1">
              <a:buFont typeface="Wingdings" panose="05000000000000000000" pitchFamily="2" charset="2"/>
              <a:buChar char="Ø"/>
            </a:pPr>
            <a:r>
              <a:rPr lang="zh-CN" altLang="en-US" dirty="0">
                <a:solidFill>
                  <a:srgbClr val="000000"/>
                </a:solidFill>
                <a:latin typeface="微软雅黑" panose="020B0503020204020204" pitchFamily="34" charset="-122"/>
                <a:ea typeface="微软雅黑" panose="020B0503020204020204" pitchFamily="34" charset="-122"/>
              </a:rPr>
              <a:t>向右下方倾斜的长期供给曲线</a:t>
            </a:r>
            <a:endParaRPr lang="en-US" altLang="zh-CN" dirty="0">
              <a:solidFill>
                <a:srgbClr val="000000"/>
              </a:solidFill>
              <a:latin typeface="微软雅黑" panose="020B0503020204020204" pitchFamily="34" charset="-122"/>
              <a:ea typeface="微软雅黑" panose="020B0503020204020204" pitchFamily="34" charset="-122"/>
            </a:endParaRPr>
          </a:p>
          <a:p>
            <a:pPr marL="800100" lvl="1" indent="-342900" eaLnBrk="1" hangingPunct="1">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原因</a:t>
            </a:r>
          </a:p>
          <a:p>
            <a:pPr marL="800100" lvl="1" indent="-342900" eaLnBrk="1" hangingPunct="1">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rPr>
              <a:t>厂商扩大生产，或者更多的厂商加入时</a:t>
            </a:r>
            <a:r>
              <a:rPr lang="en-US" altLang="zh-CN" dirty="0">
                <a:solidFill>
                  <a:srgbClr val="000000"/>
                </a:solidFill>
                <a:sym typeface="Wingdings" panose="05000000000000000000" pitchFamily="2" charset="2"/>
              </a:rPr>
              <a:t></a:t>
            </a:r>
            <a:r>
              <a:rPr lang="zh-CN" altLang="en-US" dirty="0">
                <a:solidFill>
                  <a:srgbClr val="000000"/>
                </a:solidFill>
                <a:latin typeface="微软雅黑" panose="020B0503020204020204" pitchFamily="34" charset="-122"/>
                <a:ea typeface="微软雅黑" panose="020B0503020204020204" pitchFamily="34" charset="-122"/>
              </a:rPr>
              <a:t>生产要素生产更有效率</a:t>
            </a:r>
            <a:r>
              <a:rPr lang="en-US" altLang="zh-CN" dirty="0">
                <a:solidFill>
                  <a:srgbClr val="000000"/>
                </a:solidFill>
                <a:sym typeface="Wingdings" panose="05000000000000000000" pitchFamily="2" charset="2"/>
              </a:rPr>
              <a:t></a:t>
            </a:r>
            <a:r>
              <a:rPr lang="zh-CN" altLang="en-US" dirty="0">
                <a:solidFill>
                  <a:srgbClr val="000000"/>
                </a:solidFill>
                <a:latin typeface="微软雅黑" panose="020B0503020204020204" pitchFamily="34" charset="-122"/>
                <a:ea typeface="微软雅黑" panose="020B0503020204020204" pitchFamily="34" charset="-122"/>
              </a:rPr>
              <a:t>要素价格不升反降</a:t>
            </a:r>
          </a:p>
        </p:txBody>
      </p:sp>
      <p:sp>
        <p:nvSpPr>
          <p:cNvPr id="15" name="矩形 14"/>
          <p:cNvSpPr/>
          <p:nvPr/>
        </p:nvSpPr>
        <p:spPr>
          <a:xfrm>
            <a:off x="1061912" y="5731107"/>
            <a:ext cx="5886249" cy="369332"/>
          </a:xfrm>
          <a:prstGeom prst="rect">
            <a:avLst/>
          </a:prstGeom>
        </p:spPr>
        <p:txBody>
          <a:bodyPr wrap="square">
            <a:spAutoFit/>
          </a:bodyPr>
          <a:lstStyle/>
          <a:p>
            <a:pPr marL="342900" lvl="0" indent="-342900" eaLnBrk="1" hangingPunct="1">
              <a:buFont typeface="Wingdings" panose="05000000000000000000" pitchFamily="2" charset="2"/>
              <a:buChar char="Ø"/>
            </a:pPr>
            <a:r>
              <a:rPr lang="zh-CN" altLang="en-US" dirty="0">
                <a:solidFill>
                  <a:srgbClr val="000000"/>
                </a:solidFill>
                <a:latin typeface="微软雅黑" panose="020B0503020204020204" pitchFamily="34" charset="-122"/>
                <a:ea typeface="微软雅黑" panose="020B0503020204020204" pitchFamily="34" charset="-122"/>
              </a:rPr>
              <a:t>水平的长期供给曲线：上述两种力量的平衡</a:t>
            </a:r>
          </a:p>
        </p:txBody>
      </p:sp>
    </p:spTree>
    <p:extLst>
      <p:ext uri="{BB962C8B-B14F-4D97-AF65-F5344CB8AC3E}">
        <p14:creationId xmlns:p14="http://schemas.microsoft.com/office/powerpoint/2010/main" val="2586124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left)">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wipe(left)">
                                      <p:cBhvr>
                                        <p:cTn id="27" dur="5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wipe(left)">
                                      <p:cBhvr>
                                        <p:cTn id="32" dur="500"/>
                                        <p:tgtEl>
                                          <p:spTgt spid="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xEl>
                                              <p:pRg st="1" end="1"/>
                                            </p:txEl>
                                          </p:spTgt>
                                        </p:tgtEl>
                                        <p:attrNameLst>
                                          <p:attrName>style.visibility</p:attrName>
                                        </p:attrNameLst>
                                      </p:cBhvr>
                                      <p:to>
                                        <p:strVal val="visible"/>
                                      </p:to>
                                    </p:set>
                                    <p:animEffect transition="in" filter="wipe(left)">
                                      <p:cBhvr>
                                        <p:cTn id="37" dur="500"/>
                                        <p:tgtEl>
                                          <p:spTgt spid="1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
                                            <p:txEl>
                                              <p:pRg st="2" end="2"/>
                                            </p:txEl>
                                          </p:spTgt>
                                        </p:tgtEl>
                                        <p:attrNameLst>
                                          <p:attrName>style.visibility</p:attrName>
                                        </p:attrNameLst>
                                      </p:cBhvr>
                                      <p:to>
                                        <p:strVal val="visible"/>
                                      </p:to>
                                    </p:set>
                                    <p:animEffect transition="in" filter="wipe(left)">
                                      <p:cBhvr>
                                        <p:cTn id="42" dur="500"/>
                                        <p:tgtEl>
                                          <p:spTgt spid="1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xEl>
                                              <p:pRg st="3" end="3"/>
                                            </p:txEl>
                                          </p:spTgt>
                                        </p:tgtEl>
                                        <p:attrNameLst>
                                          <p:attrName>style.visibility</p:attrName>
                                        </p:attrNameLst>
                                      </p:cBhvr>
                                      <p:to>
                                        <p:strVal val="visible"/>
                                      </p:to>
                                    </p:set>
                                    <p:animEffect transition="in" filter="wipe(left)">
                                      <p:cBhvr>
                                        <p:cTn id="47" dur="500"/>
                                        <p:tgtEl>
                                          <p:spTgt spid="14">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5">
                                            <p:txEl>
                                              <p:pRg st="0" end="0"/>
                                            </p:txEl>
                                          </p:spTgt>
                                        </p:tgtEl>
                                        <p:attrNameLst>
                                          <p:attrName>style.visibility</p:attrName>
                                        </p:attrNameLst>
                                      </p:cBhvr>
                                      <p:to>
                                        <p:strVal val="visible"/>
                                      </p:to>
                                    </p:set>
                                    <p:animEffect transition="in" filter="wipe(left)">
                                      <p:cBhvr>
                                        <p:cTn id="5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68E5273-CD77-47B9-B841-9D29349C133D}"/>
              </a:ext>
            </a:extLst>
          </p:cNvPr>
          <p:cNvSpPr/>
          <p:nvPr/>
        </p:nvSpPr>
        <p:spPr>
          <a:xfrm>
            <a:off x="467544" y="548680"/>
            <a:ext cx="288037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四、长期供给曲线</a:t>
            </a:r>
          </a:p>
        </p:txBody>
      </p:sp>
      <p:sp>
        <p:nvSpPr>
          <p:cNvPr id="9" name="矩形 8">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0" name="矩形 9">
            <a:extLst>
              <a:ext uri="{FF2B5EF4-FFF2-40B4-BE49-F238E27FC236}">
                <a16:creationId xmlns:a16="http://schemas.microsoft.com/office/drawing/2014/main" id="{43144617-86E7-4C79-8DA7-59FB06215111}"/>
              </a:ext>
            </a:extLst>
          </p:cNvPr>
          <p:cNvSpPr/>
          <p:nvPr/>
        </p:nvSpPr>
        <p:spPr>
          <a:xfrm>
            <a:off x="467544" y="1331558"/>
            <a:ext cx="3724096" cy="313932"/>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产品价格与要素成本的关系⑴</a:t>
            </a:r>
          </a:p>
        </p:txBody>
      </p:sp>
      <p:sp>
        <p:nvSpPr>
          <p:cNvPr id="11" name="直接箭头连接符 19"/>
          <p:cNvSpPr>
            <a:spLocks noChangeShapeType="1"/>
          </p:cNvSpPr>
          <p:nvPr/>
        </p:nvSpPr>
        <p:spPr bwMode="auto">
          <a:xfrm rot="5400000" flipH="1" flipV="1">
            <a:off x="225881" y="3682154"/>
            <a:ext cx="3159125" cy="1588"/>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2" name="直接连接符 20"/>
          <p:cNvSpPr>
            <a:spLocks noChangeShapeType="1"/>
          </p:cNvSpPr>
          <p:nvPr/>
        </p:nvSpPr>
        <p:spPr bwMode="auto">
          <a:xfrm>
            <a:off x="1806238" y="3501972"/>
            <a:ext cx="4459287" cy="1588"/>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任意多边形 21"/>
          <p:cNvSpPr>
            <a:spLocks noChangeArrowheads="1"/>
          </p:cNvSpPr>
          <p:nvPr/>
        </p:nvSpPr>
        <p:spPr bwMode="auto">
          <a:xfrm rot="20518266">
            <a:off x="2330113" y="3144785"/>
            <a:ext cx="3465512" cy="1533525"/>
          </a:xfrm>
          <a:custGeom>
            <a:avLst/>
            <a:gdLst>
              <a:gd name="T0" fmla="*/ 0 w 3164114"/>
              <a:gd name="T1" fmla="*/ 1422400 h 1422400"/>
              <a:gd name="T2" fmla="*/ 972457 w 3164114"/>
              <a:gd name="T3" fmla="*/ 1262743 h 1422400"/>
              <a:gd name="T4" fmla="*/ 2032000 w 3164114"/>
              <a:gd name="T5" fmla="*/ 841828 h 1422400"/>
              <a:gd name="T6" fmla="*/ 3164114 w 3164114"/>
              <a:gd name="T7" fmla="*/ 0 h 1422400"/>
              <a:gd name="T8" fmla="*/ 3164114 w 3164114"/>
              <a:gd name="T9" fmla="*/ 0 h 1422400"/>
              <a:gd name="T10" fmla="*/ 3164114 w 3164114"/>
              <a:gd name="T11" fmla="*/ 14514 h 1422400"/>
              <a:gd name="T12" fmla="*/ 0 60000 65536"/>
              <a:gd name="T13" fmla="*/ 0 60000 65536"/>
              <a:gd name="T14" fmla="*/ 0 60000 65536"/>
              <a:gd name="T15" fmla="*/ 0 60000 65536"/>
              <a:gd name="T16" fmla="*/ 0 60000 65536"/>
              <a:gd name="T17" fmla="*/ 0 60000 65536"/>
              <a:gd name="T18" fmla="*/ 0 w 3164114"/>
              <a:gd name="T19" fmla="*/ 0 h 1422400"/>
              <a:gd name="T20" fmla="*/ 3164114 w 3164114"/>
              <a:gd name="T21" fmla="*/ 1422400 h 1422400"/>
            </a:gdLst>
            <a:ahLst/>
            <a:cxnLst>
              <a:cxn ang="T12">
                <a:pos x="T0" y="T1"/>
              </a:cxn>
              <a:cxn ang="T13">
                <a:pos x="T2" y="T3"/>
              </a:cxn>
              <a:cxn ang="T14">
                <a:pos x="T4" y="T5"/>
              </a:cxn>
              <a:cxn ang="T15">
                <a:pos x="T6" y="T7"/>
              </a:cxn>
              <a:cxn ang="T16">
                <a:pos x="T8" y="T9"/>
              </a:cxn>
              <a:cxn ang="T17">
                <a:pos x="T10" y="T11"/>
              </a:cxn>
            </a:cxnLst>
            <a:rect l="T18" t="T19" r="T20" b="T21"/>
            <a:pathLst>
              <a:path w="3164114" h="1422400">
                <a:moveTo>
                  <a:pt x="0" y="1422400"/>
                </a:moveTo>
                <a:cubicBezTo>
                  <a:pt x="316895" y="1390952"/>
                  <a:pt x="633790" y="1359505"/>
                  <a:pt x="972457" y="1262743"/>
                </a:cubicBezTo>
                <a:cubicBezTo>
                  <a:pt x="1311124" y="1165981"/>
                  <a:pt x="1666724" y="1052285"/>
                  <a:pt x="2032000" y="841828"/>
                </a:cubicBezTo>
                <a:cubicBezTo>
                  <a:pt x="2397276" y="631371"/>
                  <a:pt x="3164114" y="0"/>
                  <a:pt x="3164114" y="0"/>
                </a:cubicBezTo>
                <a:lnTo>
                  <a:pt x="3164114" y="0"/>
                </a:lnTo>
                <a:lnTo>
                  <a:pt x="3164114" y="14514"/>
                </a:ln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16" name="TextBox 22"/>
          <p:cNvSpPr>
            <a:spLocks noChangeArrowheads="1"/>
          </p:cNvSpPr>
          <p:nvPr/>
        </p:nvSpPr>
        <p:spPr bwMode="auto">
          <a:xfrm>
            <a:off x="6010648" y="2760610"/>
            <a:ext cx="70326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LAC</a:t>
            </a:r>
            <a:endParaRPr lang="zh-CN" altLang="en-US" sz="1100" dirty="0">
              <a:solidFill>
                <a:srgbClr val="000000"/>
              </a:solidFill>
              <a:sym typeface="Arial" panose="020B0604020202020204" pitchFamily="34" charset="0"/>
            </a:endParaRPr>
          </a:p>
        </p:txBody>
      </p:sp>
      <p:sp>
        <p:nvSpPr>
          <p:cNvPr id="17" name="TextBox 23"/>
          <p:cNvSpPr>
            <a:spLocks noChangeArrowheads="1"/>
          </p:cNvSpPr>
          <p:nvPr/>
        </p:nvSpPr>
        <p:spPr bwMode="auto">
          <a:xfrm>
            <a:off x="4240107" y="2385544"/>
            <a:ext cx="24939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latin typeface="微软雅黑" panose="020B0503020204020204" pitchFamily="34" charset="-122"/>
                <a:ea typeface="微软雅黑" panose="020B0503020204020204" pitchFamily="34" charset="-122"/>
                <a:sym typeface="Arial" panose="020B0604020202020204" pitchFamily="34" charset="0"/>
              </a:rPr>
              <a:t>LMC= LMC1</a:t>
            </a:r>
            <a:r>
              <a:rPr lang="zh-CN" altLang="en-US" sz="1200" dirty="0">
                <a:latin typeface="微软雅黑" panose="020B0503020204020204" pitchFamily="34" charset="-122"/>
                <a:ea typeface="微软雅黑" panose="020B0503020204020204" pitchFamily="34" charset="-122"/>
                <a:sym typeface="Arial" panose="020B0604020202020204" pitchFamily="34" charset="0"/>
              </a:rPr>
              <a:t>（为简单起见</a:t>
            </a:r>
            <a:r>
              <a:rPr lang="zh-CN" altLang="en-US" sz="900" dirty="0">
                <a:solidFill>
                  <a:srgbClr val="000000"/>
                </a:solidFill>
                <a:sym typeface="Arial" panose="020B0604020202020204" pitchFamily="34" charset="0"/>
              </a:rPr>
              <a:t>）</a:t>
            </a:r>
            <a:endParaRPr lang="zh-CN" altLang="en-US" sz="1600" dirty="0"/>
          </a:p>
        </p:txBody>
      </p:sp>
      <p:sp>
        <p:nvSpPr>
          <p:cNvPr id="18" name="TextBox 24"/>
          <p:cNvSpPr>
            <a:spLocks noChangeArrowheads="1"/>
          </p:cNvSpPr>
          <p:nvPr/>
        </p:nvSpPr>
        <p:spPr bwMode="auto">
          <a:xfrm>
            <a:off x="4231938" y="5275210"/>
            <a:ext cx="54768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p:sp>
        <p:nvSpPr>
          <p:cNvPr id="19" name="TextBox 25"/>
          <p:cNvSpPr>
            <a:spLocks noChangeArrowheads="1"/>
          </p:cNvSpPr>
          <p:nvPr/>
        </p:nvSpPr>
        <p:spPr bwMode="auto">
          <a:xfrm>
            <a:off x="1336338" y="2101797"/>
            <a:ext cx="54768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endParaRPr lang="zh-CN" altLang="en-US" sz="1100" dirty="0">
              <a:solidFill>
                <a:srgbClr val="000000"/>
              </a:solidFill>
              <a:sym typeface="Arial" panose="020B0604020202020204" pitchFamily="34" charset="0"/>
            </a:endParaRPr>
          </a:p>
        </p:txBody>
      </p:sp>
      <p:sp>
        <p:nvSpPr>
          <p:cNvPr id="20" name="TextBox 26"/>
          <p:cNvSpPr>
            <a:spLocks noChangeArrowheads="1"/>
          </p:cNvSpPr>
          <p:nvPr/>
        </p:nvSpPr>
        <p:spPr bwMode="auto">
          <a:xfrm>
            <a:off x="1493500" y="5260922"/>
            <a:ext cx="5476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O</a:t>
            </a:r>
            <a:endParaRPr lang="zh-CN" altLang="en-US" sz="1100" dirty="0">
              <a:solidFill>
                <a:srgbClr val="000000"/>
              </a:solidFill>
              <a:sym typeface="Arial" panose="020B0604020202020204" pitchFamily="34" charset="0"/>
            </a:endParaRPr>
          </a:p>
        </p:txBody>
      </p:sp>
      <p:sp>
        <p:nvSpPr>
          <p:cNvPr id="21" name="TextBox 27"/>
          <p:cNvSpPr>
            <a:spLocks noChangeArrowheads="1"/>
          </p:cNvSpPr>
          <p:nvPr/>
        </p:nvSpPr>
        <p:spPr bwMode="auto">
          <a:xfrm>
            <a:off x="4700250" y="5275210"/>
            <a:ext cx="54768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err="1">
                <a:solidFill>
                  <a:srgbClr val="000000"/>
                </a:solidFill>
                <a:sym typeface="Arial" panose="020B0604020202020204" pitchFamily="34" charset="0"/>
              </a:rPr>
              <a:t>Q</a:t>
            </a:r>
            <a:r>
              <a:rPr lang="en-US" altLang="zh-CN" sz="1100" dirty="0" err="1">
                <a:solidFill>
                  <a:srgbClr val="000000"/>
                </a:solidFill>
                <a:sym typeface="Arial" panose="020B0604020202020204" pitchFamily="34" charset="0"/>
              </a:rPr>
              <a:t>t</a:t>
            </a:r>
            <a:endParaRPr lang="zh-CN" altLang="en-US" sz="1100" dirty="0">
              <a:solidFill>
                <a:srgbClr val="000000"/>
              </a:solidFill>
              <a:sym typeface="Arial" panose="020B0604020202020204" pitchFamily="34" charset="0"/>
            </a:endParaRPr>
          </a:p>
        </p:txBody>
      </p:sp>
      <p:sp>
        <p:nvSpPr>
          <p:cNvPr id="22" name="TextBox 28"/>
          <p:cNvSpPr>
            <a:spLocks noChangeArrowheads="1"/>
          </p:cNvSpPr>
          <p:nvPr/>
        </p:nvSpPr>
        <p:spPr bwMode="auto">
          <a:xfrm>
            <a:off x="7360900" y="5260922"/>
            <a:ext cx="5476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endParaRPr lang="zh-CN" altLang="en-US" dirty="0">
              <a:solidFill>
                <a:srgbClr val="000000"/>
              </a:solidFill>
              <a:sym typeface="Arial" panose="020B0604020202020204" pitchFamily="34" charset="0"/>
            </a:endParaRPr>
          </a:p>
        </p:txBody>
      </p:sp>
      <p:sp>
        <p:nvSpPr>
          <p:cNvPr id="23" name="TextBox 30"/>
          <p:cNvSpPr>
            <a:spLocks noChangeArrowheads="1"/>
          </p:cNvSpPr>
          <p:nvPr/>
        </p:nvSpPr>
        <p:spPr bwMode="auto">
          <a:xfrm>
            <a:off x="1217275" y="3181297"/>
            <a:ext cx="54768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r>
              <a:rPr lang="en-US" altLang="zh-CN" sz="1100" dirty="0">
                <a:solidFill>
                  <a:srgbClr val="000000"/>
                </a:solidFill>
                <a:sym typeface="Arial" panose="020B0604020202020204" pitchFamily="34" charset="0"/>
              </a:rPr>
              <a:t>t</a:t>
            </a:r>
            <a:endParaRPr lang="zh-CN" altLang="en-US" sz="1100" dirty="0">
              <a:solidFill>
                <a:srgbClr val="000000"/>
              </a:solidFill>
              <a:sym typeface="Arial" panose="020B0604020202020204" pitchFamily="34" charset="0"/>
            </a:endParaRPr>
          </a:p>
        </p:txBody>
      </p:sp>
      <p:sp>
        <p:nvSpPr>
          <p:cNvPr id="24" name="直接箭头连接符 31"/>
          <p:cNvSpPr>
            <a:spLocks noChangeShapeType="1"/>
          </p:cNvSpPr>
          <p:nvPr/>
        </p:nvSpPr>
        <p:spPr bwMode="auto">
          <a:xfrm>
            <a:off x="1806238" y="5275210"/>
            <a:ext cx="5867400" cy="1587"/>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5" name="任意多边形 32"/>
          <p:cNvSpPr>
            <a:spLocks noChangeArrowheads="1"/>
          </p:cNvSpPr>
          <p:nvPr/>
        </p:nvSpPr>
        <p:spPr bwMode="auto">
          <a:xfrm>
            <a:off x="2901613" y="3040010"/>
            <a:ext cx="3249612" cy="1362075"/>
          </a:xfrm>
          <a:custGeom>
            <a:avLst/>
            <a:gdLst>
              <a:gd name="T0" fmla="*/ 0 w 4209143"/>
              <a:gd name="T1" fmla="*/ 145142 h 1088571"/>
              <a:gd name="T2" fmla="*/ 1320800 w 4209143"/>
              <a:gd name="T3" fmla="*/ 986971 h 1088571"/>
              <a:gd name="T4" fmla="*/ 2931886 w 4209143"/>
              <a:gd name="T5" fmla="*/ 754742 h 1088571"/>
              <a:gd name="T6" fmla="*/ 4209143 w 4209143"/>
              <a:gd name="T7" fmla="*/ 0 h 1088571"/>
              <a:gd name="T8" fmla="*/ 0 60000 65536"/>
              <a:gd name="T9" fmla="*/ 0 60000 65536"/>
              <a:gd name="T10" fmla="*/ 0 60000 65536"/>
              <a:gd name="T11" fmla="*/ 0 60000 65536"/>
              <a:gd name="T12" fmla="*/ 0 w 4209143"/>
              <a:gd name="T13" fmla="*/ 0 h 1088571"/>
              <a:gd name="T14" fmla="*/ 4209143 w 4209143"/>
              <a:gd name="T15" fmla="*/ 1088571 h 1088571"/>
            </a:gdLst>
            <a:ahLst/>
            <a:cxnLst>
              <a:cxn ang="T8">
                <a:pos x="T0" y="T1"/>
              </a:cxn>
              <a:cxn ang="T9">
                <a:pos x="T2" y="T3"/>
              </a:cxn>
              <a:cxn ang="T10">
                <a:pos x="T4" y="T5"/>
              </a:cxn>
              <a:cxn ang="T11">
                <a:pos x="T6" y="T7"/>
              </a:cxn>
            </a:cxnLst>
            <a:rect l="T12" t="T13" r="T14" b="T15"/>
            <a:pathLst>
              <a:path w="4209143" h="1088571">
                <a:moveTo>
                  <a:pt x="0" y="145142"/>
                </a:moveTo>
                <a:cubicBezTo>
                  <a:pt x="416076" y="515256"/>
                  <a:pt x="832152" y="885371"/>
                  <a:pt x="1320800" y="986971"/>
                </a:cubicBezTo>
                <a:cubicBezTo>
                  <a:pt x="1809448" y="1088571"/>
                  <a:pt x="2450496" y="919237"/>
                  <a:pt x="2931886" y="754742"/>
                </a:cubicBezTo>
                <a:cubicBezTo>
                  <a:pt x="3413277" y="590247"/>
                  <a:pt x="3811210" y="295123"/>
                  <a:pt x="4209143" y="0"/>
                </a:cubicBezTo>
              </a:path>
            </a:pathLst>
          </a:custGeom>
          <a:noFill/>
          <a:ln w="28575" cap="flat" cmpd="sng">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26" name="直接连接符 33"/>
          <p:cNvSpPr>
            <a:spLocks noChangeShapeType="1"/>
          </p:cNvSpPr>
          <p:nvPr/>
        </p:nvSpPr>
        <p:spPr bwMode="auto">
          <a:xfrm>
            <a:off x="1806238" y="4102047"/>
            <a:ext cx="4459287" cy="1588"/>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直接连接符 34"/>
          <p:cNvSpPr>
            <a:spLocks noChangeShapeType="1"/>
          </p:cNvSpPr>
          <p:nvPr/>
        </p:nvSpPr>
        <p:spPr bwMode="auto">
          <a:xfrm>
            <a:off x="1806238" y="4316360"/>
            <a:ext cx="4459287" cy="1587"/>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TextBox 35"/>
          <p:cNvSpPr>
            <a:spLocks noChangeArrowheads="1"/>
          </p:cNvSpPr>
          <p:nvPr/>
        </p:nvSpPr>
        <p:spPr bwMode="auto">
          <a:xfrm>
            <a:off x="1193463" y="3917897"/>
            <a:ext cx="54768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r>
              <a:rPr lang="en-US" altLang="zh-CN" sz="110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p:sp>
        <p:nvSpPr>
          <p:cNvPr id="29" name="TextBox 36"/>
          <p:cNvSpPr>
            <a:spLocks noChangeArrowheads="1"/>
          </p:cNvSpPr>
          <p:nvPr/>
        </p:nvSpPr>
        <p:spPr bwMode="auto">
          <a:xfrm>
            <a:off x="1193463" y="4173485"/>
            <a:ext cx="547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r>
              <a:rPr lang="en-US" altLang="zh-CN" sz="1100" dirty="0">
                <a:solidFill>
                  <a:srgbClr val="000000"/>
                </a:solidFill>
                <a:sym typeface="Arial" panose="020B0604020202020204" pitchFamily="34" charset="0"/>
              </a:rPr>
              <a:t>0</a:t>
            </a:r>
            <a:endParaRPr lang="zh-CN" altLang="en-US" sz="1100" dirty="0">
              <a:solidFill>
                <a:srgbClr val="000000"/>
              </a:solidFill>
              <a:sym typeface="Arial" panose="020B0604020202020204" pitchFamily="34" charset="0"/>
            </a:endParaRPr>
          </a:p>
        </p:txBody>
      </p:sp>
      <p:sp>
        <p:nvSpPr>
          <p:cNvPr id="30" name="任意多边形 37"/>
          <p:cNvSpPr>
            <a:spLocks noChangeArrowheads="1"/>
          </p:cNvSpPr>
          <p:nvPr/>
        </p:nvSpPr>
        <p:spPr bwMode="auto">
          <a:xfrm>
            <a:off x="3136563" y="2732035"/>
            <a:ext cx="2894012" cy="1438275"/>
          </a:xfrm>
          <a:custGeom>
            <a:avLst/>
            <a:gdLst>
              <a:gd name="T0" fmla="*/ 0 w 4209143"/>
              <a:gd name="T1" fmla="*/ 145142 h 1088571"/>
              <a:gd name="T2" fmla="*/ 1320800 w 4209143"/>
              <a:gd name="T3" fmla="*/ 986971 h 1088571"/>
              <a:gd name="T4" fmla="*/ 2931886 w 4209143"/>
              <a:gd name="T5" fmla="*/ 754742 h 1088571"/>
              <a:gd name="T6" fmla="*/ 4209143 w 4209143"/>
              <a:gd name="T7" fmla="*/ 0 h 1088571"/>
              <a:gd name="T8" fmla="*/ 0 60000 65536"/>
              <a:gd name="T9" fmla="*/ 0 60000 65536"/>
              <a:gd name="T10" fmla="*/ 0 60000 65536"/>
              <a:gd name="T11" fmla="*/ 0 60000 65536"/>
              <a:gd name="T12" fmla="*/ 0 w 4209143"/>
              <a:gd name="T13" fmla="*/ 0 h 1088571"/>
              <a:gd name="T14" fmla="*/ 4209143 w 4209143"/>
              <a:gd name="T15" fmla="*/ 1088571 h 1088571"/>
            </a:gdLst>
            <a:ahLst/>
            <a:cxnLst>
              <a:cxn ang="T8">
                <a:pos x="T0" y="T1"/>
              </a:cxn>
              <a:cxn ang="T9">
                <a:pos x="T2" y="T3"/>
              </a:cxn>
              <a:cxn ang="T10">
                <a:pos x="T4" y="T5"/>
              </a:cxn>
              <a:cxn ang="T11">
                <a:pos x="T6" y="T7"/>
              </a:cxn>
            </a:cxnLst>
            <a:rect l="T12" t="T13" r="T14" b="T15"/>
            <a:pathLst>
              <a:path w="4209143" h="1088571">
                <a:moveTo>
                  <a:pt x="0" y="145142"/>
                </a:moveTo>
                <a:cubicBezTo>
                  <a:pt x="416076" y="515256"/>
                  <a:pt x="832152" y="885371"/>
                  <a:pt x="1320800" y="986971"/>
                </a:cubicBezTo>
                <a:cubicBezTo>
                  <a:pt x="1809448" y="1088571"/>
                  <a:pt x="2450496" y="919237"/>
                  <a:pt x="2931886" y="754742"/>
                </a:cubicBezTo>
                <a:cubicBezTo>
                  <a:pt x="3413277" y="590247"/>
                  <a:pt x="3811210" y="295123"/>
                  <a:pt x="4209143" y="0"/>
                </a:cubicBezTo>
              </a:path>
            </a:pathLst>
          </a:custGeom>
          <a:noFill/>
          <a:ln w="28575" cap="flat" cmpd="sng">
            <a:solidFill>
              <a:srgbClr val="FF80FF"/>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31" name="TextBox 38"/>
          <p:cNvSpPr>
            <a:spLocks noChangeArrowheads="1"/>
          </p:cNvSpPr>
          <p:nvPr/>
        </p:nvSpPr>
        <p:spPr bwMode="auto">
          <a:xfrm>
            <a:off x="3030515" y="2538737"/>
            <a:ext cx="10175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solidFill>
                  <a:srgbClr val="000000"/>
                </a:solidFill>
                <a:sym typeface="Arial" panose="020B0604020202020204" pitchFamily="34" charset="0"/>
              </a:rPr>
              <a:t>LAC</a:t>
            </a:r>
            <a:r>
              <a:rPr lang="en-US" altLang="zh-CN" sz="105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p:sp>
        <p:nvSpPr>
          <p:cNvPr id="32" name="TextBox 40"/>
          <p:cNvSpPr>
            <a:spLocks noChangeArrowheads="1"/>
          </p:cNvSpPr>
          <p:nvPr/>
        </p:nvSpPr>
        <p:spPr bwMode="auto">
          <a:xfrm>
            <a:off x="4544675" y="3193997"/>
            <a:ext cx="4683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T</a:t>
            </a:r>
            <a:endParaRPr lang="zh-CN" altLang="en-US" sz="1100">
              <a:solidFill>
                <a:srgbClr val="000000"/>
              </a:solidFill>
              <a:sym typeface="Arial" panose="020B0604020202020204" pitchFamily="34" charset="0"/>
            </a:endParaRPr>
          </a:p>
        </p:txBody>
      </p:sp>
      <p:sp>
        <p:nvSpPr>
          <p:cNvPr id="33" name="TextBox 41"/>
          <p:cNvSpPr>
            <a:spLocks noChangeArrowheads="1"/>
          </p:cNvSpPr>
          <p:nvPr/>
        </p:nvSpPr>
        <p:spPr bwMode="auto">
          <a:xfrm>
            <a:off x="4074775" y="3733747"/>
            <a:ext cx="4699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B</a:t>
            </a:r>
            <a:endParaRPr lang="zh-CN" altLang="en-US">
              <a:solidFill>
                <a:srgbClr val="000000"/>
              </a:solidFill>
              <a:sym typeface="Arial" panose="020B0604020202020204" pitchFamily="34" charset="0"/>
            </a:endParaRPr>
          </a:p>
        </p:txBody>
      </p:sp>
      <p:sp>
        <p:nvSpPr>
          <p:cNvPr id="34" name="TextBox 42"/>
          <p:cNvSpPr>
            <a:spLocks noChangeArrowheads="1"/>
          </p:cNvSpPr>
          <p:nvPr/>
        </p:nvSpPr>
        <p:spPr bwMode="auto">
          <a:xfrm>
            <a:off x="3693775" y="3959172"/>
            <a:ext cx="4699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A</a:t>
            </a:r>
            <a:endParaRPr lang="zh-CN" altLang="en-US">
              <a:solidFill>
                <a:srgbClr val="000000"/>
              </a:solidFill>
              <a:sym typeface="Arial" panose="020B0604020202020204" pitchFamily="34" charset="0"/>
            </a:endParaRPr>
          </a:p>
        </p:txBody>
      </p:sp>
      <p:sp>
        <p:nvSpPr>
          <p:cNvPr id="35" name="直接连接符 43"/>
          <p:cNvSpPr>
            <a:spLocks noChangeShapeType="1"/>
          </p:cNvSpPr>
          <p:nvPr/>
        </p:nvSpPr>
        <p:spPr bwMode="auto">
          <a:xfrm rot="5400000">
            <a:off x="3971588" y="4387797"/>
            <a:ext cx="1773238" cy="1587"/>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直接连接符 44"/>
          <p:cNvSpPr>
            <a:spLocks noChangeShapeType="1"/>
          </p:cNvSpPr>
          <p:nvPr/>
        </p:nvSpPr>
        <p:spPr bwMode="auto">
          <a:xfrm rot="5400000">
            <a:off x="3809663" y="4697360"/>
            <a:ext cx="1155700" cy="0"/>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直接连接符 46"/>
          <p:cNvSpPr>
            <a:spLocks noChangeShapeType="1"/>
          </p:cNvSpPr>
          <p:nvPr/>
        </p:nvSpPr>
        <p:spPr bwMode="auto">
          <a:xfrm rot="5400000">
            <a:off x="3689013" y="4813247"/>
            <a:ext cx="925512" cy="1588"/>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TextBox 50"/>
          <p:cNvSpPr>
            <a:spLocks noChangeArrowheads="1"/>
          </p:cNvSpPr>
          <p:nvPr/>
        </p:nvSpPr>
        <p:spPr bwMode="auto">
          <a:xfrm>
            <a:off x="3839825" y="5275210"/>
            <a:ext cx="54768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0</a:t>
            </a:r>
            <a:endParaRPr lang="zh-CN" altLang="en-US" sz="1100" dirty="0">
              <a:solidFill>
                <a:srgbClr val="000000"/>
              </a:solidFill>
              <a:sym typeface="Arial" panose="020B0604020202020204" pitchFamily="34" charset="0"/>
            </a:endParaRPr>
          </a:p>
        </p:txBody>
      </p:sp>
      <p:sp>
        <p:nvSpPr>
          <p:cNvPr id="39" name="左弧形箭头 29"/>
          <p:cNvSpPr>
            <a:spLocks noChangeArrowheads="1"/>
          </p:cNvSpPr>
          <p:nvPr/>
        </p:nvSpPr>
        <p:spPr bwMode="auto">
          <a:xfrm rot="10800000" flipH="1">
            <a:off x="979150" y="3387672"/>
            <a:ext cx="209550" cy="1000125"/>
          </a:xfrm>
          <a:prstGeom prst="curvedRightArrow">
            <a:avLst>
              <a:gd name="adj1" fmla="val 24991"/>
              <a:gd name="adj2" fmla="val 50003"/>
              <a:gd name="adj3" fmla="val 25000"/>
            </a:avLst>
          </a:prstGeom>
          <a:solidFill>
            <a:srgbClr val="BB1528"/>
          </a:solidFill>
          <a:ln w="25400" cap="flat" cmpd="sng">
            <a:solidFill>
              <a:srgbClr val="BB1528"/>
            </a:solidFill>
            <a:miter lim="800000"/>
            <a:headEnd/>
            <a:tailEnd/>
          </a:ln>
        </p:spPr>
        <p:txBody>
          <a:bodyPr anchor="ctr"/>
          <a:lstStyle/>
          <a:p>
            <a:pPr algn="ctr"/>
            <a:endParaRPr lang="zh-CN" altLang="zh-CN"/>
          </a:p>
        </p:txBody>
      </p:sp>
      <p:sp>
        <p:nvSpPr>
          <p:cNvPr id="40" name="左弧形箭头 30"/>
          <p:cNvSpPr>
            <a:spLocks noChangeArrowheads="1"/>
          </p:cNvSpPr>
          <p:nvPr/>
        </p:nvSpPr>
        <p:spPr bwMode="auto">
          <a:xfrm flipH="1">
            <a:off x="1550650" y="3459110"/>
            <a:ext cx="214313" cy="714375"/>
          </a:xfrm>
          <a:prstGeom prst="curvedRightArrow">
            <a:avLst>
              <a:gd name="adj1" fmla="val 25015"/>
              <a:gd name="adj2" fmla="val 50077"/>
              <a:gd name="adj3" fmla="val 25000"/>
            </a:avLst>
          </a:prstGeom>
          <a:solidFill>
            <a:srgbClr val="C00000"/>
          </a:solidFill>
          <a:ln w="25400" cap="flat" cmpd="sng">
            <a:solidFill>
              <a:srgbClr val="C00000"/>
            </a:solidFill>
            <a:miter lim="800000"/>
            <a:headEnd/>
            <a:tailEnd/>
          </a:ln>
        </p:spPr>
        <p:txBody>
          <a:bodyPr anchor="ctr"/>
          <a:lstStyle/>
          <a:p>
            <a:pPr algn="ctr"/>
            <a:endParaRPr lang="zh-CN" altLang="zh-CN"/>
          </a:p>
        </p:txBody>
      </p:sp>
      <p:sp>
        <p:nvSpPr>
          <p:cNvPr id="41" name="Oval 21"/>
          <p:cNvSpPr>
            <a:spLocks noChangeArrowheads="1"/>
          </p:cNvSpPr>
          <p:nvPr/>
        </p:nvSpPr>
        <p:spPr bwMode="auto">
          <a:xfrm>
            <a:off x="4041438" y="4235397"/>
            <a:ext cx="152400" cy="152400"/>
          </a:xfrm>
          <a:prstGeom prst="ellipse">
            <a:avLst/>
          </a:prstGeom>
          <a:solidFill>
            <a:srgbClr val="00B050"/>
          </a:solidFill>
          <a:ln w="9525" cmpd="sng">
            <a:solidFill>
              <a:schemeClr val="tx1"/>
            </a:solidFill>
            <a:miter lim="800000"/>
            <a:headEnd/>
            <a:tailEnd/>
          </a:ln>
        </p:spPr>
        <p:txBody>
          <a:bodyPr wrap="none" anchor="ctr"/>
          <a:lstStyle/>
          <a:p>
            <a:endParaRPr lang="zh-CN" altLang="zh-CN" sz="2400">
              <a:solidFill>
                <a:srgbClr val="000000"/>
              </a:solidFill>
              <a:latin typeface="Times New Roman" panose="02020603050405020304" pitchFamily="18" charset="0"/>
              <a:sym typeface="Times New Roman" panose="02020603050405020304" pitchFamily="18" charset="0"/>
            </a:endParaRPr>
          </a:p>
        </p:txBody>
      </p:sp>
      <p:sp>
        <p:nvSpPr>
          <p:cNvPr id="42" name="Oval 21"/>
          <p:cNvSpPr>
            <a:spLocks noChangeArrowheads="1"/>
          </p:cNvSpPr>
          <p:nvPr/>
        </p:nvSpPr>
        <p:spPr bwMode="auto">
          <a:xfrm>
            <a:off x="4755813" y="3449585"/>
            <a:ext cx="152400" cy="152400"/>
          </a:xfrm>
          <a:prstGeom prst="ellipse">
            <a:avLst/>
          </a:prstGeom>
          <a:solidFill>
            <a:schemeClr val="accent1"/>
          </a:solidFill>
          <a:ln w="9525" cmpd="sng">
            <a:solidFill>
              <a:schemeClr val="tx1"/>
            </a:solidFill>
            <a:miter lim="800000"/>
            <a:headEnd/>
            <a:tailEnd/>
          </a:ln>
        </p:spPr>
        <p:txBody>
          <a:bodyPr wrap="none" anchor="ctr"/>
          <a:lstStyle/>
          <a:p>
            <a:endParaRPr lang="zh-CN" altLang="zh-CN" sz="2400">
              <a:solidFill>
                <a:srgbClr val="000000"/>
              </a:solidFill>
              <a:latin typeface="Times New Roman" panose="02020603050405020304" pitchFamily="18" charset="0"/>
              <a:sym typeface="Times New Roman" panose="02020603050405020304" pitchFamily="18" charset="0"/>
            </a:endParaRPr>
          </a:p>
        </p:txBody>
      </p:sp>
      <p:sp>
        <p:nvSpPr>
          <p:cNvPr id="43" name="Oval 21"/>
          <p:cNvSpPr>
            <a:spLocks noChangeArrowheads="1"/>
          </p:cNvSpPr>
          <p:nvPr/>
        </p:nvSpPr>
        <p:spPr bwMode="auto">
          <a:xfrm>
            <a:off x="4336713" y="3949647"/>
            <a:ext cx="152400" cy="152400"/>
          </a:xfrm>
          <a:prstGeom prst="ellipse">
            <a:avLst/>
          </a:prstGeom>
          <a:solidFill>
            <a:srgbClr val="FF0000"/>
          </a:solidFill>
          <a:ln w="9525" cmpd="sng">
            <a:solidFill>
              <a:schemeClr val="tx1"/>
            </a:solidFill>
            <a:miter lim="800000"/>
            <a:headEnd/>
            <a:tailEnd/>
          </a:ln>
        </p:spPr>
        <p:txBody>
          <a:bodyPr wrap="none" anchor="ctr"/>
          <a:lstStyle/>
          <a:p>
            <a:endParaRPr lang="zh-CN" altLang="zh-CN" sz="2400">
              <a:solidFill>
                <a:srgbClr val="000000"/>
              </a:solidFill>
              <a:latin typeface="Times New Roman" panose="02020603050405020304" pitchFamily="18" charset="0"/>
              <a:sym typeface="Times New Roman" panose="02020603050405020304" pitchFamily="18" charset="0"/>
            </a:endParaRPr>
          </a:p>
        </p:txBody>
      </p:sp>
      <p:sp>
        <p:nvSpPr>
          <p:cNvPr id="44" name="圆角矩形标注 39"/>
          <p:cNvSpPr>
            <a:spLocks noChangeArrowheads="1"/>
          </p:cNvSpPr>
          <p:nvPr/>
        </p:nvSpPr>
        <p:spPr bwMode="auto">
          <a:xfrm>
            <a:off x="6814090" y="4373510"/>
            <a:ext cx="1790190" cy="452440"/>
          </a:xfrm>
          <a:prstGeom prst="wedgeRoundRectCallout">
            <a:avLst>
              <a:gd name="adj1" fmla="val -199498"/>
              <a:gd name="adj2" fmla="val -60420"/>
              <a:gd name="adj3" fmla="val 16667"/>
            </a:avLst>
          </a:prstGeom>
          <a:noFill/>
          <a:ln w="25400" cap="flat" cmpd="sng">
            <a:solidFill>
              <a:schemeClr val="accent3">
                <a:lumMod val="50000"/>
              </a:schemeClr>
            </a:solidFill>
            <a:miter lim="800000"/>
            <a:headEnd/>
            <a:tailEnd/>
          </a:ln>
        </p:spPr>
        <p:txBody>
          <a:bodyPr anchor="ctr"/>
          <a:lstStyle/>
          <a:p>
            <a:pPr algn="ctr"/>
            <a:r>
              <a:rPr lang="zh-CN" altLang="en-US" sz="1600" dirty="0">
                <a:latin typeface="微软雅黑" panose="020B0503020204020204" pitchFamily="34" charset="-122"/>
                <a:ea typeface="微软雅黑" panose="020B0503020204020204" pitchFamily="34" charset="-122"/>
              </a:rPr>
              <a:t>初始长期均衡点</a:t>
            </a:r>
          </a:p>
        </p:txBody>
      </p:sp>
      <p:sp>
        <p:nvSpPr>
          <p:cNvPr id="45" name="圆角矩形标注 40"/>
          <p:cNvSpPr>
            <a:spLocks noChangeArrowheads="1"/>
          </p:cNvSpPr>
          <p:nvPr/>
        </p:nvSpPr>
        <p:spPr bwMode="auto">
          <a:xfrm>
            <a:off x="322637" y="2095684"/>
            <a:ext cx="602918" cy="1477788"/>
          </a:xfrm>
          <a:prstGeom prst="wedgeRoundRectCallout">
            <a:avLst>
              <a:gd name="adj1" fmla="val 55586"/>
              <a:gd name="adj2" fmla="val 74649"/>
              <a:gd name="adj3" fmla="val 16667"/>
            </a:avLst>
          </a:prstGeom>
          <a:noFill/>
          <a:ln w="25400" cap="flat" cmpd="sng">
            <a:solidFill>
              <a:schemeClr val="accent3">
                <a:lumMod val="50000"/>
              </a:schemeClr>
            </a:solidFill>
            <a:miter lim="800000"/>
            <a:headEnd/>
            <a:tailEnd/>
          </a:ln>
        </p:spPr>
        <p:txBody>
          <a:bodyPr anchor="ctr"/>
          <a:lstStyle/>
          <a:p>
            <a:pPr algn="ctr"/>
            <a:r>
              <a:rPr lang="zh-CN" altLang="en-US" sz="1600" dirty="0">
                <a:latin typeface="微软雅黑" panose="020B0503020204020204" pitchFamily="34" charset="-122"/>
                <a:ea typeface="微软雅黑" panose="020B0503020204020204" pitchFamily="34" charset="-122"/>
              </a:rPr>
              <a:t>产品价格上升</a:t>
            </a:r>
          </a:p>
        </p:txBody>
      </p:sp>
      <p:sp>
        <p:nvSpPr>
          <p:cNvPr id="46" name="圆角矩形标注 41"/>
          <p:cNvSpPr>
            <a:spLocks noChangeArrowheads="1"/>
          </p:cNvSpPr>
          <p:nvPr/>
        </p:nvSpPr>
        <p:spPr bwMode="auto">
          <a:xfrm>
            <a:off x="6646525" y="1673171"/>
            <a:ext cx="2101765" cy="2428875"/>
          </a:xfrm>
          <a:prstGeom prst="wedgeRoundRectCallout">
            <a:avLst>
              <a:gd name="adj1" fmla="val -175919"/>
              <a:gd name="adj2" fmla="val 23544"/>
              <a:gd name="adj3" fmla="val 16667"/>
            </a:avLst>
          </a:prstGeom>
          <a:noFill/>
          <a:ln w="25400" cap="flat" cmpd="sng">
            <a:solidFill>
              <a:schemeClr val="accent3">
                <a:lumMod val="50000"/>
              </a:schemeClr>
            </a:solidFill>
            <a:miter lim="800000"/>
            <a:headEnd/>
            <a:tailEnd/>
          </a:ln>
        </p:spPr>
        <p:txBody>
          <a:bodyPr anchor="ctr"/>
          <a:lstStyle/>
          <a:p>
            <a:pPr algn="ctr">
              <a:lnSpc>
                <a:spcPct val="150000"/>
              </a:lnSpc>
            </a:pPr>
            <a:r>
              <a:rPr lang="zh-CN" altLang="en-US" sz="1600" dirty="0">
                <a:latin typeface="微软雅黑" panose="020B0503020204020204" pitchFamily="34" charset="-122"/>
                <a:ea typeface="微软雅黑" panose="020B0503020204020204" pitchFamily="34" charset="-122"/>
              </a:rPr>
              <a:t>利润最大化产量开始时会增加到</a:t>
            </a:r>
            <a:r>
              <a:rPr lang="en-US" altLang="zh-CN" sz="1600" dirty="0" err="1">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Qt</a:t>
            </a:r>
            <a:r>
              <a:rPr lang="zh-CN" altLang="en-US" sz="1600" dirty="0">
                <a:latin typeface="微软雅黑" panose="020B0503020204020204" pitchFamily="34" charset="-122"/>
                <a:ea typeface="微软雅黑" panose="020B0503020204020204" pitchFamily="34" charset="-122"/>
              </a:rPr>
              <a:t>，但非最后均衡，经济利润导致新企业的进入，产品供给增加要素需求增加</a:t>
            </a:r>
          </a:p>
        </p:txBody>
      </p:sp>
      <p:sp>
        <p:nvSpPr>
          <p:cNvPr id="47" name="圆角矩形标注 42"/>
          <p:cNvSpPr>
            <a:spLocks noChangeArrowheads="1"/>
          </p:cNvSpPr>
          <p:nvPr/>
        </p:nvSpPr>
        <p:spPr bwMode="auto">
          <a:xfrm>
            <a:off x="1980070" y="1985443"/>
            <a:ext cx="858439" cy="1564528"/>
          </a:xfrm>
          <a:prstGeom prst="wedgeRoundRectCallout">
            <a:avLst>
              <a:gd name="adj1" fmla="val -77005"/>
              <a:gd name="adj2" fmla="val 58823"/>
              <a:gd name="adj3" fmla="val 16667"/>
            </a:avLst>
          </a:prstGeom>
          <a:noFill/>
          <a:ln w="25400" cap="flat" cmpd="sng">
            <a:solidFill>
              <a:schemeClr val="accent3">
                <a:lumMod val="50000"/>
              </a:schemeClr>
            </a:solidFill>
            <a:miter lim="800000"/>
            <a:headEnd/>
            <a:tailEnd/>
          </a:ln>
        </p:spPr>
        <p:txBody>
          <a:bodyPr anchor="ctr"/>
          <a:lstStyle/>
          <a:p>
            <a:pPr algn="ctr"/>
            <a:r>
              <a:rPr lang="zh-CN" altLang="en-US" sz="1600" dirty="0">
                <a:latin typeface="微软雅黑" panose="020B0503020204020204" pitchFamily="34" charset="-122"/>
                <a:ea typeface="微软雅黑" panose="020B0503020204020204" pitchFamily="34" charset="-122"/>
              </a:rPr>
              <a:t>产品价格下降，</a:t>
            </a:r>
            <a:r>
              <a:rPr lang="en-US" altLang="zh-CN" sz="1600" dirty="0">
                <a:latin typeface="微软雅黑" panose="020B0503020204020204" pitchFamily="34" charset="-122"/>
                <a:ea typeface="微软雅黑" panose="020B0503020204020204" pitchFamily="34" charset="-122"/>
                <a:sym typeface="Arial" panose="020B0604020202020204" pitchFamily="34" charset="0"/>
              </a:rPr>
              <a:t>LAC</a:t>
            </a:r>
            <a:r>
              <a:rPr lang="zh-CN" altLang="en-US" sz="1600" dirty="0">
                <a:latin typeface="微软雅黑" panose="020B0503020204020204" pitchFamily="34" charset="-122"/>
                <a:ea typeface="微软雅黑" panose="020B0503020204020204" pitchFamily="34" charset="-122"/>
              </a:rPr>
              <a:t>上升</a:t>
            </a:r>
          </a:p>
        </p:txBody>
      </p:sp>
      <p:sp>
        <p:nvSpPr>
          <p:cNvPr id="48" name="圆角矩形标注 45"/>
          <p:cNvSpPr>
            <a:spLocks noChangeArrowheads="1"/>
          </p:cNvSpPr>
          <p:nvPr/>
        </p:nvSpPr>
        <p:spPr bwMode="auto">
          <a:xfrm>
            <a:off x="1907838" y="5602235"/>
            <a:ext cx="1857375" cy="392113"/>
          </a:xfrm>
          <a:prstGeom prst="wedgeRoundRectCallout">
            <a:avLst>
              <a:gd name="adj1" fmla="val 82712"/>
              <a:gd name="adj2" fmla="val -432182"/>
              <a:gd name="adj3" fmla="val 16667"/>
            </a:avLst>
          </a:prstGeom>
          <a:noFill/>
          <a:ln w="25400" cap="flat" cmpd="sng">
            <a:solidFill>
              <a:schemeClr val="accent3">
                <a:lumMod val="50000"/>
              </a:schemeClr>
            </a:solidFill>
            <a:miter lim="800000"/>
            <a:headEnd/>
            <a:tailEnd/>
          </a:ln>
        </p:spPr>
        <p:txBody>
          <a:bodyPr anchor="ctr"/>
          <a:lstStyle/>
          <a:p>
            <a:pPr algn="ctr"/>
            <a:r>
              <a:rPr lang="zh-CN" altLang="en-US" sz="1600" dirty="0">
                <a:latin typeface="微软雅黑" panose="020B0503020204020204" pitchFamily="34" charset="-122"/>
                <a:ea typeface="微软雅黑" panose="020B0503020204020204" pitchFamily="34" charset="-122"/>
              </a:rPr>
              <a:t>新的长期均衡点</a:t>
            </a:r>
          </a:p>
        </p:txBody>
      </p:sp>
    </p:spTree>
    <p:extLst>
      <p:ext uri="{BB962C8B-B14F-4D97-AF65-F5344CB8AC3E}">
        <p14:creationId xmlns:p14="http://schemas.microsoft.com/office/powerpoint/2010/main" val="381067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randombar(horizontal)">
                                      <p:cBhvr>
                                        <p:cTn id="12" dur="500"/>
                                        <p:tgtEl>
                                          <p:spTgt spid="19"/>
                                        </p:tgtEl>
                                      </p:cBhvr>
                                    </p:animEffect>
                                  </p:childTnLst>
                                </p:cTn>
                              </p:par>
                              <p:par>
                                <p:cTn id="13" presetID="2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randombar(horizontal)">
                                      <p:cBhvr>
                                        <p:cTn id="18" dur="500"/>
                                        <p:tgtEl>
                                          <p:spTgt spid="20"/>
                                        </p:tgtEl>
                                      </p:cBhvr>
                                    </p:animEffect>
                                  </p:childTnLst>
                                </p:cTn>
                              </p:par>
                              <p:par>
                                <p:cTn id="19" presetID="22" presetClass="entr" presetSubtype="8"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wipe(left)">
                                      <p:cBhvr>
                                        <p:cTn id="21" dur="500"/>
                                        <p:tgtEl>
                                          <p:spTgt spid="24"/>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randombar(horizontal)">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left)">
                                      <p:cBhvr>
                                        <p:cTn id="29" dur="500"/>
                                        <p:tgtEl>
                                          <p:spTgt spid="25"/>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randombar(horizont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par>
                          <p:cTn id="38" fill="hold">
                            <p:stCondLst>
                              <p:cond delay="500"/>
                            </p:stCondLst>
                            <p:childTnLst>
                              <p:par>
                                <p:cTn id="39" presetID="14" presetClass="entr" presetSubtype="10"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randombar(horizontal)">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randombar(horizontal)">
                                      <p:cBhvr>
                                        <p:cTn id="46" dur="500"/>
                                        <p:tgtEl>
                                          <p:spTgt spid="2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wipe(left)">
                                      <p:cBhvr>
                                        <p:cTn id="51" dur="500"/>
                                        <p:tgtEl>
                                          <p:spTgt spid="2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p:cBhvr>
                                        <p:cTn id="54" dur="500"/>
                                        <p:tgtEl>
                                          <p:spTgt spid="34"/>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animEffect>
                                      <p:cBhvr>
                                        <p:cTn id="57" dur="500"/>
                                        <p:tgtEl>
                                          <p:spTgt spid="41"/>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randombar(horizontal)">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wipe(up)">
                                      <p:cBhvr>
                                        <p:cTn id="67" dur="500"/>
                                        <p:tgtEl>
                                          <p:spTgt spid="37"/>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randombar(horizontal)">
                                      <p:cBhvr>
                                        <p:cTn id="72" dur="500"/>
                                        <p:tgtEl>
                                          <p:spTgt spid="3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wipe(down)">
                                      <p:cBhvr>
                                        <p:cTn id="77" dur="500"/>
                                        <p:tgtEl>
                                          <p:spTgt spid="39"/>
                                        </p:tgtEl>
                                      </p:cBhvr>
                                    </p:animEffect>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randombar(horizontal)">
                                      <p:cBhvr>
                                        <p:cTn id="82" dur="500"/>
                                        <p:tgtEl>
                                          <p:spTgt spid="45"/>
                                        </p:tgtEl>
                                      </p:cBhvr>
                                    </p:animEffect>
                                  </p:childTnLst>
                                </p:cTn>
                              </p:par>
                            </p:childTnLst>
                          </p:cTn>
                        </p:par>
                      </p:childTnLst>
                    </p:cTn>
                  </p:par>
                  <p:par>
                    <p:cTn id="83" fill="hold">
                      <p:stCondLst>
                        <p:cond delay="indefinite"/>
                      </p:stCondLst>
                      <p:childTnLst>
                        <p:par>
                          <p:cTn id="84" fill="hold">
                            <p:stCondLst>
                              <p:cond delay="0"/>
                            </p:stCondLst>
                            <p:childTnLst>
                              <p:par>
                                <p:cTn id="85" presetID="14" presetClass="entr" presetSubtype="10" fill="hold" grpId="0" nodeType="clickEffect">
                                  <p:stCondLst>
                                    <p:cond delay="0"/>
                                  </p:stCondLst>
                                  <p:childTnLst>
                                    <p:set>
                                      <p:cBhvr>
                                        <p:cTn id="86" dur="1" fill="hold">
                                          <p:stCondLst>
                                            <p:cond delay="0"/>
                                          </p:stCondLst>
                                        </p:cTn>
                                        <p:tgtEl>
                                          <p:spTgt spid="23"/>
                                        </p:tgtEl>
                                        <p:attrNameLst>
                                          <p:attrName>style.visibility</p:attrName>
                                        </p:attrNameLst>
                                      </p:cBhvr>
                                      <p:to>
                                        <p:strVal val="visible"/>
                                      </p:to>
                                    </p:set>
                                    <p:animEffect transition="in" filter="randombar(horizontal)">
                                      <p:cBhvr>
                                        <p:cTn id="87" dur="500"/>
                                        <p:tgtEl>
                                          <p:spTgt spid="2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wipe(left)">
                                      <p:cBhvr>
                                        <p:cTn id="92" dur="500"/>
                                        <p:tgtEl>
                                          <p:spTgt spid="12"/>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p:cBhvr>
                                        <p:cTn id="95" dur="500"/>
                                        <p:tgtEl>
                                          <p:spTgt spid="32"/>
                                        </p:tgtEl>
                                      </p:cBhvr>
                                    </p:animEffect>
                                  </p:childTnLst>
                                </p:cTn>
                              </p:par>
                              <p:par>
                                <p:cTn id="96" presetID="3" presetClass="entr" presetSubtype="10" fill="hold" grpId="0" nodeType="withEffect">
                                  <p:stCondLst>
                                    <p:cond delay="0"/>
                                  </p:stCondLst>
                                  <p:childTnLst>
                                    <p:set>
                                      <p:cBhvr>
                                        <p:cTn id="97" dur="1" fill="hold">
                                          <p:stCondLst>
                                            <p:cond delay="0"/>
                                          </p:stCondLst>
                                        </p:cTn>
                                        <p:tgtEl>
                                          <p:spTgt spid="42"/>
                                        </p:tgtEl>
                                        <p:attrNameLst>
                                          <p:attrName>style.visibility</p:attrName>
                                        </p:attrNameLst>
                                      </p:cBhvr>
                                      <p:to>
                                        <p:strVal val="visible"/>
                                      </p:to>
                                    </p:set>
                                    <p:animEffect>
                                      <p:cBhvr>
                                        <p:cTn id="98" dur="500"/>
                                        <p:tgtEl>
                                          <p:spTgt spid="42"/>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wipe(up)">
                                      <p:cBhvr>
                                        <p:cTn id="103" dur="500"/>
                                        <p:tgtEl>
                                          <p:spTgt spid="35"/>
                                        </p:tgtEl>
                                      </p:cBhvr>
                                    </p:animEffect>
                                  </p:childTnLst>
                                </p:cTn>
                              </p:par>
                            </p:childTnLst>
                          </p:cTn>
                        </p:par>
                      </p:childTnLst>
                    </p:cTn>
                  </p:par>
                  <p:par>
                    <p:cTn id="104" fill="hold">
                      <p:stCondLst>
                        <p:cond delay="indefinite"/>
                      </p:stCondLst>
                      <p:childTnLst>
                        <p:par>
                          <p:cTn id="105" fill="hold">
                            <p:stCondLst>
                              <p:cond delay="0"/>
                            </p:stCondLst>
                            <p:childTnLst>
                              <p:par>
                                <p:cTn id="106" presetID="14" presetClass="entr" presetSubtype="10" fill="hold" grpId="0" nodeType="clickEffect">
                                  <p:stCondLst>
                                    <p:cond delay="0"/>
                                  </p:stCondLst>
                                  <p:childTnLst>
                                    <p:set>
                                      <p:cBhvr>
                                        <p:cTn id="107" dur="1" fill="hold">
                                          <p:stCondLst>
                                            <p:cond delay="0"/>
                                          </p:stCondLst>
                                        </p:cTn>
                                        <p:tgtEl>
                                          <p:spTgt spid="21"/>
                                        </p:tgtEl>
                                        <p:attrNameLst>
                                          <p:attrName>style.visibility</p:attrName>
                                        </p:attrNameLst>
                                      </p:cBhvr>
                                      <p:to>
                                        <p:strVal val="visible"/>
                                      </p:to>
                                    </p:set>
                                    <p:animEffect transition="in" filter="randombar(horizontal)">
                                      <p:cBhvr>
                                        <p:cTn id="108" dur="500"/>
                                        <p:tgtEl>
                                          <p:spTgt spid="21"/>
                                        </p:tgtEl>
                                      </p:cBhvr>
                                    </p:animEffect>
                                  </p:childTnLst>
                                </p:cTn>
                              </p:par>
                            </p:childTnLst>
                          </p:cTn>
                        </p:par>
                      </p:childTnLst>
                    </p:cTn>
                  </p:par>
                  <p:par>
                    <p:cTn id="109" fill="hold">
                      <p:stCondLst>
                        <p:cond delay="indefinite"/>
                      </p:stCondLst>
                      <p:childTnLst>
                        <p:par>
                          <p:cTn id="110" fill="hold">
                            <p:stCondLst>
                              <p:cond delay="0"/>
                            </p:stCondLst>
                            <p:childTnLst>
                              <p:par>
                                <p:cTn id="111" presetID="14" presetClass="entr" presetSubtype="10" fill="hold" grpId="0" nodeType="clickEffect">
                                  <p:stCondLst>
                                    <p:cond delay="0"/>
                                  </p:stCondLst>
                                  <p:childTnLst>
                                    <p:set>
                                      <p:cBhvr>
                                        <p:cTn id="112" dur="1" fill="hold">
                                          <p:stCondLst>
                                            <p:cond delay="0"/>
                                          </p:stCondLst>
                                        </p:cTn>
                                        <p:tgtEl>
                                          <p:spTgt spid="46"/>
                                        </p:tgtEl>
                                        <p:attrNameLst>
                                          <p:attrName>style.visibility</p:attrName>
                                        </p:attrNameLst>
                                      </p:cBhvr>
                                      <p:to>
                                        <p:strVal val="visible"/>
                                      </p:to>
                                    </p:set>
                                    <p:animEffect transition="in" filter="randombar(horizontal)">
                                      <p:cBhvr>
                                        <p:cTn id="113" dur="500"/>
                                        <p:tgtEl>
                                          <p:spTgt spid="46"/>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grpId="0" nodeType="clickEffect">
                                  <p:stCondLst>
                                    <p:cond delay="0"/>
                                  </p:stCondLst>
                                  <p:childTnLst>
                                    <p:set>
                                      <p:cBhvr>
                                        <p:cTn id="117" dur="1" fill="hold">
                                          <p:stCondLst>
                                            <p:cond delay="0"/>
                                          </p:stCondLst>
                                        </p:cTn>
                                        <p:tgtEl>
                                          <p:spTgt spid="40"/>
                                        </p:tgtEl>
                                        <p:attrNameLst>
                                          <p:attrName>style.visibility</p:attrName>
                                        </p:attrNameLst>
                                      </p:cBhvr>
                                      <p:to>
                                        <p:strVal val="visible"/>
                                      </p:to>
                                    </p:set>
                                    <p:animEffect transition="in" filter="wipe(up)">
                                      <p:cBhvr>
                                        <p:cTn id="118" dur="500"/>
                                        <p:tgtEl>
                                          <p:spTgt spid="40"/>
                                        </p:tgtEl>
                                      </p:cBhvr>
                                    </p:animEffect>
                                  </p:childTnLst>
                                </p:cTn>
                              </p:par>
                            </p:childTnLst>
                          </p:cTn>
                        </p:par>
                      </p:childTnLst>
                    </p:cTn>
                  </p:par>
                  <p:par>
                    <p:cTn id="119" fill="hold">
                      <p:stCondLst>
                        <p:cond delay="indefinite"/>
                      </p:stCondLst>
                      <p:childTnLst>
                        <p:par>
                          <p:cTn id="120" fill="hold">
                            <p:stCondLst>
                              <p:cond delay="0"/>
                            </p:stCondLst>
                            <p:childTnLst>
                              <p:par>
                                <p:cTn id="121" presetID="14" presetClass="entr" presetSubtype="10" fill="hold" grpId="0" nodeType="clickEffect">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randombar(horizontal)">
                                      <p:cBhvr>
                                        <p:cTn id="123" dur="500"/>
                                        <p:tgtEl>
                                          <p:spTgt spid="28"/>
                                        </p:tgtEl>
                                      </p:cBhvr>
                                    </p:animEffect>
                                  </p:childTnLst>
                                </p:cTn>
                              </p:par>
                            </p:childTnLst>
                          </p:cTn>
                        </p:par>
                      </p:childTnLst>
                    </p:cTn>
                  </p:par>
                  <p:par>
                    <p:cTn id="124" fill="hold">
                      <p:stCondLst>
                        <p:cond delay="indefinite"/>
                      </p:stCondLst>
                      <p:childTnLst>
                        <p:par>
                          <p:cTn id="125" fill="hold">
                            <p:stCondLst>
                              <p:cond delay="0"/>
                            </p:stCondLst>
                            <p:childTnLst>
                              <p:par>
                                <p:cTn id="126" presetID="14" presetClass="entr" presetSubtype="10" fill="hold" grpId="0" nodeType="clickEffect">
                                  <p:stCondLst>
                                    <p:cond delay="0"/>
                                  </p:stCondLst>
                                  <p:childTnLst>
                                    <p:set>
                                      <p:cBhvr>
                                        <p:cTn id="127" dur="1" fill="hold">
                                          <p:stCondLst>
                                            <p:cond delay="0"/>
                                          </p:stCondLst>
                                        </p:cTn>
                                        <p:tgtEl>
                                          <p:spTgt spid="47"/>
                                        </p:tgtEl>
                                        <p:attrNameLst>
                                          <p:attrName>style.visibility</p:attrName>
                                        </p:attrNameLst>
                                      </p:cBhvr>
                                      <p:to>
                                        <p:strVal val="visible"/>
                                      </p:to>
                                    </p:set>
                                    <p:animEffect transition="in" filter="randombar(horizontal)">
                                      <p:cBhvr>
                                        <p:cTn id="128" dur="500"/>
                                        <p:tgtEl>
                                          <p:spTgt spid="47"/>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26"/>
                                        </p:tgtEl>
                                        <p:attrNameLst>
                                          <p:attrName>style.visibility</p:attrName>
                                        </p:attrNameLst>
                                      </p:cBhvr>
                                      <p:to>
                                        <p:strVal val="visible"/>
                                      </p:to>
                                    </p:set>
                                    <p:animEffect transition="in" filter="wipe(left)">
                                      <p:cBhvr>
                                        <p:cTn id="133" dur="500"/>
                                        <p:tgtEl>
                                          <p:spTgt spid="26"/>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1" fill="hold" grpId="0" nodeType="click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wipe(up)">
                                      <p:cBhvr>
                                        <p:cTn id="138" dur="500"/>
                                        <p:tgtEl>
                                          <p:spTgt spid="36"/>
                                        </p:tgtEl>
                                      </p:cBhvr>
                                    </p:animEffect>
                                  </p:childTnLst>
                                </p:cTn>
                              </p:par>
                            </p:childTnLst>
                          </p:cTn>
                        </p:par>
                      </p:childTnLst>
                    </p:cTn>
                  </p:par>
                  <p:par>
                    <p:cTn id="139" fill="hold">
                      <p:stCondLst>
                        <p:cond delay="indefinite"/>
                      </p:stCondLst>
                      <p:childTnLst>
                        <p:par>
                          <p:cTn id="140" fill="hold">
                            <p:stCondLst>
                              <p:cond delay="0"/>
                            </p:stCondLst>
                            <p:childTnLst>
                              <p:par>
                                <p:cTn id="141" presetID="14" presetClass="entr" presetSubtype="10" fill="hold" grpId="0" nodeType="clickEffect">
                                  <p:stCondLst>
                                    <p:cond delay="0"/>
                                  </p:stCondLst>
                                  <p:childTnLst>
                                    <p:set>
                                      <p:cBhvr>
                                        <p:cTn id="142" dur="1" fill="hold">
                                          <p:stCondLst>
                                            <p:cond delay="0"/>
                                          </p:stCondLst>
                                        </p:cTn>
                                        <p:tgtEl>
                                          <p:spTgt spid="18"/>
                                        </p:tgtEl>
                                        <p:attrNameLst>
                                          <p:attrName>style.visibility</p:attrName>
                                        </p:attrNameLst>
                                      </p:cBhvr>
                                      <p:to>
                                        <p:strVal val="visible"/>
                                      </p:to>
                                    </p:set>
                                    <p:animEffect transition="in" filter="randombar(horizontal)">
                                      <p:cBhvr>
                                        <p:cTn id="143" dur="500"/>
                                        <p:tgtEl>
                                          <p:spTgt spid="18"/>
                                        </p:tgtEl>
                                      </p:cBhvr>
                                    </p:animEffect>
                                  </p:childTnLst>
                                </p:cTn>
                              </p:par>
                              <p:par>
                                <p:cTn id="144" presetID="3" presetClass="entr" presetSubtype="10" fill="hold" grpId="0" nodeType="withEffect">
                                  <p:stCondLst>
                                    <p:cond delay="0"/>
                                  </p:stCondLst>
                                  <p:childTnLst>
                                    <p:set>
                                      <p:cBhvr>
                                        <p:cTn id="145" dur="1" fill="hold">
                                          <p:stCondLst>
                                            <p:cond delay="0"/>
                                          </p:stCondLst>
                                        </p:cTn>
                                        <p:tgtEl>
                                          <p:spTgt spid="33"/>
                                        </p:tgtEl>
                                        <p:attrNameLst>
                                          <p:attrName>style.visibility</p:attrName>
                                        </p:attrNameLst>
                                      </p:cBhvr>
                                      <p:to>
                                        <p:strVal val="visible"/>
                                      </p:to>
                                    </p:set>
                                    <p:animEffect>
                                      <p:cBhvr>
                                        <p:cTn id="146" dur="500"/>
                                        <p:tgtEl>
                                          <p:spTgt spid="33"/>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30"/>
                                        </p:tgtEl>
                                        <p:attrNameLst>
                                          <p:attrName>style.visibility</p:attrName>
                                        </p:attrNameLst>
                                      </p:cBhvr>
                                      <p:to>
                                        <p:strVal val="visible"/>
                                      </p:to>
                                    </p:set>
                                    <p:animEffect transition="in" filter="wipe(left)">
                                      <p:cBhvr>
                                        <p:cTn id="151" dur="500"/>
                                        <p:tgtEl>
                                          <p:spTgt spid="30"/>
                                        </p:tgtEl>
                                      </p:cBhvr>
                                    </p:animEffect>
                                  </p:childTnLst>
                                </p:cTn>
                              </p:par>
                            </p:childTnLst>
                          </p:cTn>
                        </p:par>
                      </p:childTnLst>
                    </p:cTn>
                  </p:par>
                  <p:par>
                    <p:cTn id="152" fill="hold">
                      <p:stCondLst>
                        <p:cond delay="indefinite"/>
                      </p:stCondLst>
                      <p:childTnLst>
                        <p:par>
                          <p:cTn id="153" fill="hold">
                            <p:stCondLst>
                              <p:cond delay="0"/>
                            </p:stCondLst>
                            <p:childTnLst>
                              <p:par>
                                <p:cTn id="154" presetID="14" presetClass="entr" presetSubtype="10" fill="hold" grpId="0" nodeType="clickEffect">
                                  <p:stCondLst>
                                    <p:cond delay="0"/>
                                  </p:stCondLst>
                                  <p:childTnLst>
                                    <p:set>
                                      <p:cBhvr>
                                        <p:cTn id="155" dur="1" fill="hold">
                                          <p:stCondLst>
                                            <p:cond delay="0"/>
                                          </p:stCondLst>
                                        </p:cTn>
                                        <p:tgtEl>
                                          <p:spTgt spid="31"/>
                                        </p:tgtEl>
                                        <p:attrNameLst>
                                          <p:attrName>style.visibility</p:attrName>
                                        </p:attrNameLst>
                                      </p:cBhvr>
                                      <p:to>
                                        <p:strVal val="visible"/>
                                      </p:to>
                                    </p:set>
                                    <p:animEffect transition="in" filter="randombar(horizontal)">
                                      <p:cBhvr>
                                        <p:cTn id="156" dur="500"/>
                                        <p:tgtEl>
                                          <p:spTgt spid="31"/>
                                        </p:tgtEl>
                                      </p:cBhvr>
                                    </p:animEffect>
                                  </p:childTnLst>
                                </p:cTn>
                              </p:par>
                            </p:childTnLst>
                          </p:cTn>
                        </p:par>
                      </p:childTnLst>
                    </p:cTn>
                  </p:par>
                  <p:par>
                    <p:cTn id="157" fill="hold">
                      <p:stCondLst>
                        <p:cond delay="indefinite"/>
                      </p:stCondLst>
                      <p:childTnLst>
                        <p:par>
                          <p:cTn id="158" fill="hold">
                            <p:stCondLst>
                              <p:cond delay="0"/>
                            </p:stCondLst>
                            <p:childTnLst>
                              <p:par>
                                <p:cTn id="159" presetID="14" presetClass="entr" presetSubtype="10" fill="hold" grpId="0" nodeType="clickEffect">
                                  <p:stCondLst>
                                    <p:cond delay="0"/>
                                  </p:stCondLst>
                                  <p:childTnLst>
                                    <p:set>
                                      <p:cBhvr>
                                        <p:cTn id="160" dur="1" fill="hold">
                                          <p:stCondLst>
                                            <p:cond delay="0"/>
                                          </p:stCondLst>
                                        </p:cTn>
                                        <p:tgtEl>
                                          <p:spTgt spid="43"/>
                                        </p:tgtEl>
                                        <p:attrNameLst>
                                          <p:attrName>style.visibility</p:attrName>
                                        </p:attrNameLst>
                                      </p:cBhvr>
                                      <p:to>
                                        <p:strVal val="visible"/>
                                      </p:to>
                                    </p:set>
                                    <p:animEffect transition="in" filter="randombar(horizontal)">
                                      <p:cBhvr>
                                        <p:cTn id="161" dur="500"/>
                                        <p:tgtEl>
                                          <p:spTgt spid="43"/>
                                        </p:tgtEl>
                                      </p:cBhvr>
                                    </p:animEffect>
                                  </p:childTnLst>
                                </p:cTn>
                              </p:par>
                            </p:childTnLst>
                          </p:cTn>
                        </p:par>
                      </p:childTnLst>
                    </p:cTn>
                  </p:par>
                  <p:par>
                    <p:cTn id="162" fill="hold">
                      <p:stCondLst>
                        <p:cond delay="indefinite"/>
                      </p:stCondLst>
                      <p:childTnLst>
                        <p:par>
                          <p:cTn id="163" fill="hold">
                            <p:stCondLst>
                              <p:cond delay="0"/>
                            </p:stCondLst>
                            <p:childTnLst>
                              <p:par>
                                <p:cTn id="164" presetID="14" presetClass="entr" presetSubtype="10" fill="hold" grpId="0" nodeType="clickEffect">
                                  <p:stCondLst>
                                    <p:cond delay="0"/>
                                  </p:stCondLst>
                                  <p:childTnLst>
                                    <p:set>
                                      <p:cBhvr>
                                        <p:cTn id="165" dur="1" fill="hold">
                                          <p:stCondLst>
                                            <p:cond delay="0"/>
                                          </p:stCondLst>
                                        </p:cTn>
                                        <p:tgtEl>
                                          <p:spTgt spid="48"/>
                                        </p:tgtEl>
                                        <p:attrNameLst>
                                          <p:attrName>style.visibility</p:attrName>
                                        </p:attrNameLst>
                                      </p:cBhvr>
                                      <p:to>
                                        <p:strVal val="visible"/>
                                      </p:to>
                                    </p:set>
                                    <p:animEffect transition="in" filter="randombar(horizontal)">
                                      <p:cBhvr>
                                        <p:cTn id="16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nimBg="1"/>
      <p:bldP spid="13" grpId="0" animBg="1"/>
      <p:bldP spid="16" grpId="0" bldLvl="0" autoUpdateAnimBg="0"/>
      <p:bldP spid="17" grpId="0" bldLvl="0" autoUpdateAnimBg="0"/>
      <p:bldP spid="18" grpId="0"/>
      <p:bldP spid="19" grpId="0" bldLvl="0" autoUpdateAnimBg="0"/>
      <p:bldP spid="20" grpId="0" bldLvl="0" autoUpdateAnimBg="0"/>
      <p:bldP spid="21" grpId="0"/>
      <p:bldP spid="22" grpId="0" bldLvl="0" autoUpdateAnimBg="0"/>
      <p:bldP spid="23" grpId="0" bldLvl="0" autoUpdateAnimBg="0"/>
      <p:bldP spid="25" grpId="0" animBg="1"/>
      <p:bldP spid="26" grpId="0" animBg="1"/>
      <p:bldP spid="27" grpId="0" animBg="1"/>
      <p:bldP spid="28" grpId="0"/>
      <p:bldP spid="29" grpId="0"/>
      <p:bldP spid="30" grpId="0" animBg="1"/>
      <p:bldP spid="31" grpId="0"/>
      <p:bldP spid="32" grpId="0" bldLvl="0" autoUpdateAnimBg="0"/>
      <p:bldP spid="33" grpId="0" bldLvl="0" autoUpdateAnimBg="0"/>
      <p:bldP spid="34" grpId="0" bldLvl="0" autoUpdateAnimBg="0"/>
      <p:bldP spid="35" grpId="0" animBg="1"/>
      <p:bldP spid="36" grpId="0" animBg="1"/>
      <p:bldP spid="37" grpId="0" animBg="1"/>
      <p:bldP spid="38" grpId="0"/>
      <p:bldP spid="39" grpId="0" animBg="1"/>
      <p:bldP spid="40" grpId="0" animBg="1"/>
      <p:bldP spid="41" grpId="0" bldLvl="0" animBg="1" autoUpdateAnimBg="0"/>
      <p:bldP spid="42" grpId="0" bldLvl="0" animBg="1" autoUpdateAnimBg="0"/>
      <p:bldP spid="43" grpId="0" animBg="1"/>
      <p:bldP spid="44" grpId="0" animBg="1"/>
      <p:bldP spid="45" grpId="0" animBg="1"/>
      <p:bldP spid="46" grpId="0" animBg="1"/>
      <p:bldP spid="47" grpId="0" animBg="1"/>
      <p:bldP spid="48"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68E5273-CD77-47B9-B841-9D29349C133D}"/>
              </a:ext>
            </a:extLst>
          </p:cNvPr>
          <p:cNvSpPr/>
          <p:nvPr/>
        </p:nvSpPr>
        <p:spPr>
          <a:xfrm>
            <a:off x="467544" y="548680"/>
            <a:ext cx="288037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四、长期供给曲线</a:t>
            </a:r>
          </a:p>
        </p:txBody>
      </p:sp>
      <p:sp>
        <p:nvSpPr>
          <p:cNvPr id="9" name="矩形 8">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10" name="矩形 9">
            <a:extLst>
              <a:ext uri="{FF2B5EF4-FFF2-40B4-BE49-F238E27FC236}">
                <a16:creationId xmlns:a16="http://schemas.microsoft.com/office/drawing/2014/main" id="{43144617-86E7-4C79-8DA7-59FB06215111}"/>
              </a:ext>
            </a:extLst>
          </p:cNvPr>
          <p:cNvSpPr/>
          <p:nvPr/>
        </p:nvSpPr>
        <p:spPr>
          <a:xfrm>
            <a:off x="467544" y="1331558"/>
            <a:ext cx="3724096" cy="313932"/>
          </a:xfrm>
          <a:prstGeom prst="rect">
            <a:avLst/>
          </a:prstGeom>
        </p:spPr>
        <p:txBody>
          <a:bodyPr wrap="none">
            <a:spAutoFit/>
          </a:bodyPr>
          <a:lstStyle/>
          <a:p>
            <a:pPr marL="285750" indent="-285750">
              <a:lnSpc>
                <a:spcPct val="80000"/>
              </a:lnSpc>
              <a:spcBef>
                <a:spcPct val="40000"/>
              </a:spcBef>
              <a:buFont typeface="Wingdings" panose="05000000000000000000" pitchFamily="2" charset="2"/>
              <a:buChar char="u"/>
            </a:pPr>
            <a:r>
              <a:rPr lang="zh-CN" altLang="en-US" spc="150" dirty="0">
                <a:solidFill>
                  <a:srgbClr val="000000"/>
                </a:solidFill>
                <a:latin typeface="微软雅黑" panose="020B0503020204020204" pitchFamily="34" charset="-122"/>
                <a:ea typeface="微软雅黑" panose="020B0503020204020204" pitchFamily="34" charset="-122"/>
              </a:rPr>
              <a:t>产品价格与要素成本的关系⑵</a:t>
            </a:r>
          </a:p>
        </p:txBody>
      </p:sp>
      <p:sp>
        <p:nvSpPr>
          <p:cNvPr id="49" name="直接箭头连接符 4"/>
          <p:cNvSpPr>
            <a:spLocks noChangeShapeType="1"/>
          </p:cNvSpPr>
          <p:nvPr/>
        </p:nvSpPr>
        <p:spPr bwMode="auto">
          <a:xfrm rot="5400000" flipH="1" flipV="1">
            <a:off x="144260" y="3848700"/>
            <a:ext cx="3173413" cy="1587"/>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0" name="直接连接符 5"/>
          <p:cNvSpPr>
            <a:spLocks noChangeShapeType="1"/>
          </p:cNvSpPr>
          <p:nvPr/>
        </p:nvSpPr>
        <p:spPr bwMode="auto">
          <a:xfrm>
            <a:off x="1731760" y="3991575"/>
            <a:ext cx="4605338" cy="1587"/>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任意多边形 6"/>
          <p:cNvSpPr>
            <a:spLocks noChangeArrowheads="1"/>
          </p:cNvSpPr>
          <p:nvPr/>
        </p:nvSpPr>
        <p:spPr bwMode="auto">
          <a:xfrm rot="20518266">
            <a:off x="2314373" y="3304187"/>
            <a:ext cx="3508375" cy="1362075"/>
          </a:xfrm>
          <a:custGeom>
            <a:avLst/>
            <a:gdLst>
              <a:gd name="T0" fmla="*/ 0 w 3164114"/>
              <a:gd name="T1" fmla="*/ 1422400 h 1422400"/>
              <a:gd name="T2" fmla="*/ 972457 w 3164114"/>
              <a:gd name="T3" fmla="*/ 1262743 h 1422400"/>
              <a:gd name="T4" fmla="*/ 2032000 w 3164114"/>
              <a:gd name="T5" fmla="*/ 841828 h 1422400"/>
              <a:gd name="T6" fmla="*/ 3164114 w 3164114"/>
              <a:gd name="T7" fmla="*/ 0 h 1422400"/>
              <a:gd name="T8" fmla="*/ 3164114 w 3164114"/>
              <a:gd name="T9" fmla="*/ 0 h 1422400"/>
              <a:gd name="T10" fmla="*/ 3164114 w 3164114"/>
              <a:gd name="T11" fmla="*/ 14514 h 1422400"/>
              <a:gd name="T12" fmla="*/ 0 60000 65536"/>
              <a:gd name="T13" fmla="*/ 0 60000 65536"/>
              <a:gd name="T14" fmla="*/ 0 60000 65536"/>
              <a:gd name="T15" fmla="*/ 0 60000 65536"/>
              <a:gd name="T16" fmla="*/ 0 60000 65536"/>
              <a:gd name="T17" fmla="*/ 0 60000 65536"/>
              <a:gd name="T18" fmla="*/ 0 w 3164114"/>
              <a:gd name="T19" fmla="*/ 0 h 1422400"/>
              <a:gd name="T20" fmla="*/ 3164114 w 3164114"/>
              <a:gd name="T21" fmla="*/ 1422400 h 1422400"/>
            </a:gdLst>
            <a:ahLst/>
            <a:cxnLst>
              <a:cxn ang="T12">
                <a:pos x="T0" y="T1"/>
              </a:cxn>
              <a:cxn ang="T13">
                <a:pos x="T2" y="T3"/>
              </a:cxn>
              <a:cxn ang="T14">
                <a:pos x="T4" y="T5"/>
              </a:cxn>
              <a:cxn ang="T15">
                <a:pos x="T6" y="T7"/>
              </a:cxn>
              <a:cxn ang="T16">
                <a:pos x="T8" y="T9"/>
              </a:cxn>
              <a:cxn ang="T17">
                <a:pos x="T10" y="T11"/>
              </a:cxn>
            </a:cxnLst>
            <a:rect l="T18" t="T19" r="T20" b="T21"/>
            <a:pathLst>
              <a:path w="3164114" h="1422400">
                <a:moveTo>
                  <a:pt x="0" y="1422400"/>
                </a:moveTo>
                <a:cubicBezTo>
                  <a:pt x="316895" y="1390952"/>
                  <a:pt x="633790" y="1359505"/>
                  <a:pt x="972457" y="1262743"/>
                </a:cubicBezTo>
                <a:cubicBezTo>
                  <a:pt x="1311124" y="1165981"/>
                  <a:pt x="1666724" y="1052285"/>
                  <a:pt x="2032000" y="841828"/>
                </a:cubicBezTo>
                <a:cubicBezTo>
                  <a:pt x="2397276" y="631371"/>
                  <a:pt x="3164114" y="0"/>
                  <a:pt x="3164114" y="0"/>
                </a:cubicBezTo>
                <a:lnTo>
                  <a:pt x="3164114" y="0"/>
                </a:lnTo>
                <a:lnTo>
                  <a:pt x="3164114" y="14514"/>
                </a:lnTo>
              </a:path>
            </a:pathLst>
          </a:custGeom>
          <a:noFill/>
          <a:ln w="28575" cap="flat" cmpd="sng">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52" name="TextBox 7"/>
          <p:cNvSpPr>
            <a:spLocks noChangeArrowheads="1"/>
          </p:cNvSpPr>
          <p:nvPr/>
        </p:nvSpPr>
        <p:spPr bwMode="auto">
          <a:xfrm>
            <a:off x="4398760" y="5448900"/>
            <a:ext cx="5651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0</a:t>
            </a:r>
            <a:endParaRPr lang="zh-CN" altLang="en-US" sz="1100" dirty="0">
              <a:solidFill>
                <a:srgbClr val="000000"/>
              </a:solidFill>
              <a:sym typeface="Arial" panose="020B0604020202020204" pitchFamily="34" charset="0"/>
            </a:endParaRPr>
          </a:p>
        </p:txBody>
      </p:sp>
      <p:sp>
        <p:nvSpPr>
          <p:cNvPr id="53" name="TextBox 8"/>
          <p:cNvSpPr>
            <a:spLocks noChangeArrowheads="1"/>
          </p:cNvSpPr>
          <p:nvPr/>
        </p:nvSpPr>
        <p:spPr bwMode="auto">
          <a:xfrm>
            <a:off x="1247573" y="2262787"/>
            <a:ext cx="565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P</a:t>
            </a:r>
            <a:endParaRPr lang="zh-CN" altLang="en-US" sz="1100">
              <a:solidFill>
                <a:srgbClr val="000000"/>
              </a:solidFill>
              <a:sym typeface="Arial" panose="020B0604020202020204" pitchFamily="34" charset="0"/>
            </a:endParaRPr>
          </a:p>
        </p:txBody>
      </p:sp>
      <p:sp>
        <p:nvSpPr>
          <p:cNvPr id="54" name="TextBox 9"/>
          <p:cNvSpPr>
            <a:spLocks noChangeArrowheads="1"/>
          </p:cNvSpPr>
          <p:nvPr/>
        </p:nvSpPr>
        <p:spPr bwMode="auto">
          <a:xfrm>
            <a:off x="1409498" y="5436200"/>
            <a:ext cx="56515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O</a:t>
            </a:r>
            <a:endParaRPr lang="zh-CN" altLang="en-US" sz="1100">
              <a:solidFill>
                <a:srgbClr val="000000"/>
              </a:solidFill>
              <a:sym typeface="Arial" panose="020B0604020202020204" pitchFamily="34" charset="0"/>
            </a:endParaRPr>
          </a:p>
        </p:txBody>
      </p:sp>
      <p:sp>
        <p:nvSpPr>
          <p:cNvPr id="55" name="TextBox 10"/>
          <p:cNvSpPr>
            <a:spLocks noChangeArrowheads="1"/>
          </p:cNvSpPr>
          <p:nvPr/>
        </p:nvSpPr>
        <p:spPr bwMode="auto">
          <a:xfrm>
            <a:off x="3185910" y="5448900"/>
            <a:ext cx="566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u</a:t>
            </a:r>
            <a:endParaRPr lang="zh-CN" altLang="en-US" sz="1100" dirty="0">
              <a:solidFill>
                <a:srgbClr val="000000"/>
              </a:solidFill>
              <a:sym typeface="Arial" panose="020B0604020202020204" pitchFamily="34" charset="0"/>
            </a:endParaRPr>
          </a:p>
        </p:txBody>
      </p:sp>
      <p:sp>
        <p:nvSpPr>
          <p:cNvPr id="56" name="TextBox 11"/>
          <p:cNvSpPr>
            <a:spLocks noChangeArrowheads="1"/>
          </p:cNvSpPr>
          <p:nvPr/>
        </p:nvSpPr>
        <p:spPr bwMode="auto">
          <a:xfrm>
            <a:off x="7468985" y="5436200"/>
            <a:ext cx="56515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Q</a:t>
            </a:r>
            <a:endParaRPr lang="zh-CN" altLang="en-US">
              <a:solidFill>
                <a:srgbClr val="000000"/>
              </a:solidFill>
              <a:sym typeface="Arial" panose="020B0604020202020204" pitchFamily="34" charset="0"/>
            </a:endParaRPr>
          </a:p>
        </p:txBody>
      </p:sp>
      <p:sp>
        <p:nvSpPr>
          <p:cNvPr id="57" name="TextBox 12"/>
          <p:cNvSpPr>
            <a:spLocks noChangeArrowheads="1"/>
          </p:cNvSpPr>
          <p:nvPr/>
        </p:nvSpPr>
        <p:spPr bwMode="auto">
          <a:xfrm>
            <a:off x="1104698" y="3705825"/>
            <a:ext cx="565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P</a:t>
            </a:r>
            <a:r>
              <a:rPr lang="en-US" altLang="zh-CN" sz="1100">
                <a:solidFill>
                  <a:srgbClr val="000000"/>
                </a:solidFill>
                <a:sym typeface="Arial" panose="020B0604020202020204" pitchFamily="34" charset="0"/>
              </a:rPr>
              <a:t>0</a:t>
            </a:r>
            <a:endParaRPr lang="zh-CN" altLang="en-US" sz="1100">
              <a:solidFill>
                <a:srgbClr val="000000"/>
              </a:solidFill>
              <a:sym typeface="Arial" panose="020B0604020202020204" pitchFamily="34" charset="0"/>
            </a:endParaRPr>
          </a:p>
        </p:txBody>
      </p:sp>
      <p:sp>
        <p:nvSpPr>
          <p:cNvPr id="58" name="直接箭头连接符 13"/>
          <p:cNvSpPr>
            <a:spLocks noChangeShapeType="1"/>
          </p:cNvSpPr>
          <p:nvPr/>
        </p:nvSpPr>
        <p:spPr bwMode="auto">
          <a:xfrm>
            <a:off x="1731760" y="5448900"/>
            <a:ext cx="6059488" cy="1587"/>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9" name="任意多边形 14"/>
          <p:cNvSpPr>
            <a:spLocks noChangeArrowheads="1"/>
          </p:cNvSpPr>
          <p:nvPr/>
        </p:nvSpPr>
        <p:spPr bwMode="auto">
          <a:xfrm>
            <a:off x="2539798" y="3204175"/>
            <a:ext cx="3355975" cy="1368425"/>
          </a:xfrm>
          <a:custGeom>
            <a:avLst/>
            <a:gdLst>
              <a:gd name="T0" fmla="*/ 0 w 4209143"/>
              <a:gd name="T1" fmla="*/ 145142 h 1088571"/>
              <a:gd name="T2" fmla="*/ 1320800 w 4209143"/>
              <a:gd name="T3" fmla="*/ 986971 h 1088571"/>
              <a:gd name="T4" fmla="*/ 2931886 w 4209143"/>
              <a:gd name="T5" fmla="*/ 754742 h 1088571"/>
              <a:gd name="T6" fmla="*/ 4209143 w 4209143"/>
              <a:gd name="T7" fmla="*/ 0 h 1088571"/>
              <a:gd name="T8" fmla="*/ 0 60000 65536"/>
              <a:gd name="T9" fmla="*/ 0 60000 65536"/>
              <a:gd name="T10" fmla="*/ 0 60000 65536"/>
              <a:gd name="T11" fmla="*/ 0 60000 65536"/>
              <a:gd name="T12" fmla="*/ 0 w 4209143"/>
              <a:gd name="T13" fmla="*/ 0 h 1088571"/>
              <a:gd name="T14" fmla="*/ 4209143 w 4209143"/>
              <a:gd name="T15" fmla="*/ 1088571 h 1088571"/>
            </a:gdLst>
            <a:ahLst/>
            <a:cxnLst>
              <a:cxn ang="T8">
                <a:pos x="T0" y="T1"/>
              </a:cxn>
              <a:cxn ang="T9">
                <a:pos x="T2" y="T3"/>
              </a:cxn>
              <a:cxn ang="T10">
                <a:pos x="T4" y="T5"/>
              </a:cxn>
              <a:cxn ang="T11">
                <a:pos x="T6" y="T7"/>
              </a:cxn>
            </a:cxnLst>
            <a:rect l="T12" t="T13" r="T14" b="T15"/>
            <a:pathLst>
              <a:path w="4209143" h="1088571">
                <a:moveTo>
                  <a:pt x="0" y="145142"/>
                </a:moveTo>
                <a:cubicBezTo>
                  <a:pt x="416076" y="515256"/>
                  <a:pt x="832152" y="885371"/>
                  <a:pt x="1320800" y="986971"/>
                </a:cubicBezTo>
                <a:cubicBezTo>
                  <a:pt x="1809448" y="1088571"/>
                  <a:pt x="2450496" y="919237"/>
                  <a:pt x="2931886" y="754742"/>
                </a:cubicBezTo>
                <a:cubicBezTo>
                  <a:pt x="3413277" y="590247"/>
                  <a:pt x="3811210" y="295123"/>
                  <a:pt x="4209143" y="0"/>
                </a:cubicBezTo>
              </a:path>
            </a:pathLst>
          </a:custGeom>
          <a:noFill/>
          <a:ln w="28575" cap="flat" cmpd="sng">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60" name="直接连接符 15"/>
          <p:cNvSpPr>
            <a:spLocks noChangeShapeType="1"/>
          </p:cNvSpPr>
          <p:nvPr/>
        </p:nvSpPr>
        <p:spPr bwMode="auto">
          <a:xfrm>
            <a:off x="1731760" y="4507512"/>
            <a:ext cx="4605338" cy="1588"/>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直接连接符 16"/>
          <p:cNvSpPr>
            <a:spLocks noChangeShapeType="1"/>
          </p:cNvSpPr>
          <p:nvPr/>
        </p:nvSpPr>
        <p:spPr bwMode="auto">
          <a:xfrm>
            <a:off x="1731760" y="4739287"/>
            <a:ext cx="4605338" cy="1588"/>
          </a:xfrm>
          <a:prstGeom prst="line">
            <a:avLst/>
          </a:prstGeom>
          <a:noFill/>
          <a:ln w="19050"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TextBox 17"/>
          <p:cNvSpPr>
            <a:spLocks noChangeArrowheads="1"/>
          </p:cNvSpPr>
          <p:nvPr/>
        </p:nvSpPr>
        <p:spPr bwMode="auto">
          <a:xfrm>
            <a:off x="1104698" y="4223350"/>
            <a:ext cx="5651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63" name="任意多边形 18"/>
          <p:cNvSpPr>
            <a:spLocks noChangeArrowheads="1"/>
          </p:cNvSpPr>
          <p:nvPr/>
        </p:nvSpPr>
        <p:spPr bwMode="auto">
          <a:xfrm rot="21332941">
            <a:off x="3266873" y="2597750"/>
            <a:ext cx="2989262" cy="1446212"/>
          </a:xfrm>
          <a:custGeom>
            <a:avLst/>
            <a:gdLst>
              <a:gd name="T0" fmla="*/ 0 w 4209143"/>
              <a:gd name="T1" fmla="*/ 145142 h 1088571"/>
              <a:gd name="T2" fmla="*/ 1320800 w 4209143"/>
              <a:gd name="T3" fmla="*/ 986971 h 1088571"/>
              <a:gd name="T4" fmla="*/ 2931886 w 4209143"/>
              <a:gd name="T5" fmla="*/ 754742 h 1088571"/>
              <a:gd name="T6" fmla="*/ 4209143 w 4209143"/>
              <a:gd name="T7" fmla="*/ 0 h 1088571"/>
              <a:gd name="T8" fmla="*/ 0 60000 65536"/>
              <a:gd name="T9" fmla="*/ 0 60000 65536"/>
              <a:gd name="T10" fmla="*/ 0 60000 65536"/>
              <a:gd name="T11" fmla="*/ 0 60000 65536"/>
              <a:gd name="T12" fmla="*/ 0 w 4209143"/>
              <a:gd name="T13" fmla="*/ 0 h 1088571"/>
              <a:gd name="T14" fmla="*/ 4209143 w 4209143"/>
              <a:gd name="T15" fmla="*/ 1088571 h 1088571"/>
            </a:gdLst>
            <a:ahLst/>
            <a:cxnLst>
              <a:cxn ang="T8">
                <a:pos x="T0" y="T1"/>
              </a:cxn>
              <a:cxn ang="T9">
                <a:pos x="T2" y="T3"/>
              </a:cxn>
              <a:cxn ang="T10">
                <a:pos x="T4" y="T5"/>
              </a:cxn>
              <a:cxn ang="T11">
                <a:pos x="T6" y="T7"/>
              </a:cxn>
            </a:cxnLst>
            <a:rect l="T12" t="T13" r="T14" b="T15"/>
            <a:pathLst>
              <a:path w="4209143" h="1088571">
                <a:moveTo>
                  <a:pt x="0" y="145142"/>
                </a:moveTo>
                <a:cubicBezTo>
                  <a:pt x="416076" y="515256"/>
                  <a:pt x="832152" y="885371"/>
                  <a:pt x="1320800" y="986971"/>
                </a:cubicBezTo>
                <a:cubicBezTo>
                  <a:pt x="1809448" y="1088571"/>
                  <a:pt x="2450496" y="919237"/>
                  <a:pt x="2931886" y="754742"/>
                </a:cubicBezTo>
                <a:cubicBezTo>
                  <a:pt x="3413277" y="590247"/>
                  <a:pt x="3811210" y="295123"/>
                  <a:pt x="4209143" y="0"/>
                </a:cubicBezTo>
              </a:path>
            </a:pathLst>
          </a:custGeom>
          <a:noFill/>
          <a:ln w="28575" cap="flat" cmpd="sng">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algn="ctr"/>
            <a:endParaRPr lang="zh-CN" altLang="zh-CN"/>
          </a:p>
        </p:txBody>
      </p:sp>
      <p:sp>
        <p:nvSpPr>
          <p:cNvPr id="64" name="TextBox 19"/>
          <p:cNvSpPr>
            <a:spLocks noChangeArrowheads="1"/>
          </p:cNvSpPr>
          <p:nvPr/>
        </p:nvSpPr>
        <p:spPr bwMode="auto">
          <a:xfrm>
            <a:off x="3671685" y="5448900"/>
            <a:ext cx="5651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65" name="TextBox 20"/>
          <p:cNvSpPr>
            <a:spLocks noChangeArrowheads="1"/>
          </p:cNvSpPr>
          <p:nvPr/>
        </p:nvSpPr>
        <p:spPr bwMode="auto">
          <a:xfrm>
            <a:off x="6175173" y="2134200"/>
            <a:ext cx="727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LAC</a:t>
            </a:r>
            <a:endParaRPr lang="zh-CN" altLang="en-US" sz="1100" dirty="0">
              <a:solidFill>
                <a:srgbClr val="000000"/>
              </a:solidFill>
              <a:sym typeface="Arial" panose="020B0604020202020204" pitchFamily="34" charset="0"/>
            </a:endParaRPr>
          </a:p>
        </p:txBody>
      </p:sp>
      <p:sp>
        <p:nvSpPr>
          <p:cNvPr id="66" name="TextBox 21"/>
          <p:cNvSpPr>
            <a:spLocks noChangeArrowheads="1"/>
          </p:cNvSpPr>
          <p:nvPr/>
        </p:nvSpPr>
        <p:spPr bwMode="auto">
          <a:xfrm>
            <a:off x="4479723" y="2365975"/>
            <a:ext cx="16954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LMC=</a:t>
            </a:r>
            <a:r>
              <a:rPr lang="en-US" altLang="zh-CN" sz="1100" dirty="0">
                <a:solidFill>
                  <a:srgbClr val="000000"/>
                </a:solidFill>
                <a:sym typeface="Arial" panose="020B0604020202020204" pitchFamily="34" charset="0"/>
              </a:rPr>
              <a:t> </a:t>
            </a:r>
            <a:r>
              <a:rPr lang="en-US" altLang="zh-CN" dirty="0">
                <a:solidFill>
                  <a:srgbClr val="000000"/>
                </a:solidFill>
                <a:sym typeface="Arial" panose="020B0604020202020204" pitchFamily="34" charset="0"/>
              </a:rPr>
              <a:t>LMC</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67" name="TextBox 22"/>
          <p:cNvSpPr>
            <a:spLocks noChangeArrowheads="1"/>
          </p:cNvSpPr>
          <p:nvPr/>
        </p:nvSpPr>
        <p:spPr bwMode="auto">
          <a:xfrm>
            <a:off x="5933873" y="2907312"/>
            <a:ext cx="1049337"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LAC</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68" name="直接连接符 23"/>
          <p:cNvSpPr>
            <a:spLocks noChangeShapeType="1"/>
          </p:cNvSpPr>
          <p:nvPr/>
        </p:nvSpPr>
        <p:spPr bwMode="auto">
          <a:xfrm rot="5400000">
            <a:off x="3162891" y="5114731"/>
            <a:ext cx="693738" cy="0"/>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直接连接符 24"/>
          <p:cNvSpPr>
            <a:spLocks noChangeShapeType="1"/>
          </p:cNvSpPr>
          <p:nvPr/>
        </p:nvSpPr>
        <p:spPr bwMode="auto">
          <a:xfrm flipH="1">
            <a:off x="4560685" y="3955062"/>
            <a:ext cx="22225" cy="1506538"/>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0" name="直接连接符 25"/>
          <p:cNvSpPr>
            <a:spLocks noChangeShapeType="1"/>
          </p:cNvSpPr>
          <p:nvPr/>
        </p:nvSpPr>
        <p:spPr bwMode="auto">
          <a:xfrm rot="5400000">
            <a:off x="3370060" y="4998050"/>
            <a:ext cx="928687" cy="1588"/>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TextBox 28"/>
          <p:cNvSpPr>
            <a:spLocks noChangeArrowheads="1"/>
          </p:cNvSpPr>
          <p:nvPr/>
        </p:nvSpPr>
        <p:spPr bwMode="auto">
          <a:xfrm>
            <a:off x="3590723" y="4069362"/>
            <a:ext cx="484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C</a:t>
            </a:r>
            <a:endParaRPr lang="zh-CN" altLang="en-US">
              <a:solidFill>
                <a:srgbClr val="000000"/>
              </a:solidFill>
              <a:sym typeface="Arial" panose="020B0604020202020204" pitchFamily="34" charset="0"/>
            </a:endParaRPr>
          </a:p>
        </p:txBody>
      </p:sp>
      <p:sp>
        <p:nvSpPr>
          <p:cNvPr id="72" name="TextBox 30"/>
          <p:cNvSpPr>
            <a:spLocks noChangeArrowheads="1"/>
          </p:cNvSpPr>
          <p:nvPr/>
        </p:nvSpPr>
        <p:spPr bwMode="auto">
          <a:xfrm>
            <a:off x="3185910" y="4842475"/>
            <a:ext cx="48577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U</a:t>
            </a:r>
            <a:endParaRPr lang="zh-CN" altLang="en-US">
              <a:solidFill>
                <a:srgbClr val="000000"/>
              </a:solidFill>
              <a:sym typeface="Arial" panose="020B0604020202020204" pitchFamily="34" charset="0"/>
            </a:endParaRPr>
          </a:p>
        </p:txBody>
      </p:sp>
      <p:sp>
        <p:nvSpPr>
          <p:cNvPr id="73" name="TextBox 31"/>
          <p:cNvSpPr>
            <a:spLocks noChangeArrowheads="1"/>
          </p:cNvSpPr>
          <p:nvPr/>
        </p:nvSpPr>
        <p:spPr bwMode="auto">
          <a:xfrm>
            <a:off x="4236835" y="3528025"/>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A</a:t>
            </a:r>
            <a:endParaRPr lang="zh-CN" altLang="en-US">
              <a:solidFill>
                <a:srgbClr val="000000"/>
              </a:solidFill>
              <a:sym typeface="Arial" panose="020B0604020202020204" pitchFamily="34" charset="0"/>
            </a:endParaRPr>
          </a:p>
        </p:txBody>
      </p:sp>
      <p:sp>
        <p:nvSpPr>
          <p:cNvPr id="74" name="TextBox 32"/>
          <p:cNvSpPr>
            <a:spLocks noChangeArrowheads="1"/>
          </p:cNvSpPr>
          <p:nvPr/>
        </p:nvSpPr>
        <p:spPr bwMode="auto">
          <a:xfrm>
            <a:off x="1182485" y="4734525"/>
            <a:ext cx="565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r>
              <a:rPr lang="en-US" altLang="zh-CN" sz="1100" dirty="0">
                <a:solidFill>
                  <a:srgbClr val="000000"/>
                </a:solidFill>
                <a:sym typeface="Arial" panose="020B0604020202020204" pitchFamily="34" charset="0"/>
              </a:rPr>
              <a:t>U</a:t>
            </a:r>
            <a:endParaRPr lang="zh-CN" altLang="en-US" sz="1100" dirty="0">
              <a:solidFill>
                <a:srgbClr val="000000"/>
              </a:solidFill>
              <a:sym typeface="Arial" panose="020B0604020202020204" pitchFamily="34" charset="0"/>
            </a:endParaRPr>
          </a:p>
        </p:txBody>
      </p:sp>
      <p:sp>
        <p:nvSpPr>
          <p:cNvPr id="75" name="左弧形箭头 29"/>
          <p:cNvSpPr>
            <a:spLocks noChangeArrowheads="1"/>
          </p:cNvSpPr>
          <p:nvPr/>
        </p:nvSpPr>
        <p:spPr bwMode="auto">
          <a:xfrm rot="10800000" flipH="1">
            <a:off x="961823" y="4348762"/>
            <a:ext cx="142875" cy="500063"/>
          </a:xfrm>
          <a:prstGeom prst="curvedRightArrow">
            <a:avLst>
              <a:gd name="adj1" fmla="val 24986"/>
              <a:gd name="adj2" fmla="val 49972"/>
              <a:gd name="adj3" fmla="val 25000"/>
            </a:avLst>
          </a:prstGeom>
          <a:solidFill>
            <a:srgbClr val="BB1528"/>
          </a:solidFill>
          <a:ln w="25400" cap="flat" cmpd="sng">
            <a:solidFill>
              <a:srgbClr val="BB1528"/>
            </a:solidFill>
            <a:miter lim="800000"/>
            <a:headEnd/>
            <a:tailEnd/>
          </a:ln>
        </p:spPr>
        <p:txBody>
          <a:bodyPr anchor="ctr"/>
          <a:lstStyle/>
          <a:p>
            <a:pPr algn="ctr"/>
            <a:endParaRPr lang="zh-CN" altLang="zh-CN"/>
          </a:p>
        </p:txBody>
      </p:sp>
      <p:sp>
        <p:nvSpPr>
          <p:cNvPr id="76" name="左弧形箭头 30"/>
          <p:cNvSpPr>
            <a:spLocks noChangeArrowheads="1"/>
          </p:cNvSpPr>
          <p:nvPr/>
        </p:nvSpPr>
        <p:spPr bwMode="auto">
          <a:xfrm flipH="1">
            <a:off x="1461885" y="3848700"/>
            <a:ext cx="214313" cy="1000125"/>
          </a:xfrm>
          <a:prstGeom prst="curvedRightArrow">
            <a:avLst>
              <a:gd name="adj1" fmla="val 25018"/>
              <a:gd name="adj2" fmla="val 50080"/>
              <a:gd name="adj3" fmla="val 25000"/>
            </a:avLst>
          </a:prstGeom>
          <a:solidFill>
            <a:srgbClr val="BB1528"/>
          </a:solidFill>
          <a:ln w="25400" cap="flat" cmpd="sng">
            <a:solidFill>
              <a:srgbClr val="BB1528"/>
            </a:solidFill>
            <a:miter lim="800000"/>
            <a:headEnd/>
            <a:tailEnd/>
          </a:ln>
        </p:spPr>
        <p:txBody>
          <a:bodyPr anchor="ctr"/>
          <a:lstStyle/>
          <a:p>
            <a:pPr algn="ctr"/>
            <a:endParaRPr lang="zh-CN" altLang="zh-CN"/>
          </a:p>
        </p:txBody>
      </p:sp>
      <p:sp>
        <p:nvSpPr>
          <p:cNvPr id="77" name="圆角矩形标注 31"/>
          <p:cNvSpPr>
            <a:spLocks noChangeArrowheads="1"/>
          </p:cNvSpPr>
          <p:nvPr/>
        </p:nvSpPr>
        <p:spPr bwMode="auto">
          <a:xfrm>
            <a:off x="6943586" y="4420200"/>
            <a:ext cx="2019238" cy="468312"/>
          </a:xfrm>
          <a:prstGeom prst="wedgeRoundRectCallout">
            <a:avLst>
              <a:gd name="adj1" fmla="val -163676"/>
              <a:gd name="adj2" fmla="val -146928"/>
              <a:gd name="adj3" fmla="val 16667"/>
            </a:avLst>
          </a:prstGeom>
          <a:noFill/>
          <a:ln w="25400" cap="flat" cmpd="sng">
            <a:solidFill>
              <a:schemeClr val="accent3">
                <a:lumMod val="50000"/>
              </a:schemeClr>
            </a:solidFill>
            <a:miter lim="800000"/>
            <a:headEnd/>
            <a:tailEnd/>
          </a:ln>
        </p:spPr>
        <p:txBody>
          <a:bodyPr anchor="ctr"/>
          <a:lstStyle/>
          <a:p>
            <a:pPr algn="ctr"/>
            <a:r>
              <a:rPr lang="zh-CN" altLang="en-US" sz="1600" dirty="0">
                <a:latin typeface="微软雅黑" panose="020B0503020204020204" pitchFamily="34" charset="-122"/>
                <a:ea typeface="微软雅黑" panose="020B0503020204020204" pitchFamily="34" charset="-122"/>
              </a:rPr>
              <a:t>初始长期均衡点</a:t>
            </a:r>
          </a:p>
        </p:txBody>
      </p:sp>
      <p:sp>
        <p:nvSpPr>
          <p:cNvPr id="78" name="圆角矩形标注 32"/>
          <p:cNvSpPr>
            <a:spLocks noChangeArrowheads="1"/>
          </p:cNvSpPr>
          <p:nvPr/>
        </p:nvSpPr>
        <p:spPr bwMode="auto">
          <a:xfrm>
            <a:off x="495953" y="2258025"/>
            <a:ext cx="587314" cy="1470025"/>
          </a:xfrm>
          <a:prstGeom prst="wedgeRoundRectCallout">
            <a:avLst>
              <a:gd name="adj1" fmla="val 125920"/>
              <a:gd name="adj2" fmla="val 60906"/>
              <a:gd name="adj3" fmla="val 16667"/>
            </a:avLst>
          </a:prstGeom>
          <a:noFill/>
          <a:ln w="25400" cap="flat" cmpd="sng">
            <a:solidFill>
              <a:schemeClr val="accent3">
                <a:lumMod val="50000"/>
              </a:schemeClr>
            </a:solidFill>
            <a:miter lim="800000"/>
            <a:headEnd/>
            <a:tailEnd/>
          </a:ln>
        </p:spPr>
        <p:txBody>
          <a:bodyPr anchor="ctr"/>
          <a:lstStyle/>
          <a:p>
            <a:pPr algn="ctr"/>
            <a:r>
              <a:rPr lang="zh-CN" altLang="en-US" sz="1600" dirty="0">
                <a:latin typeface="微软雅黑" panose="020B0503020204020204" pitchFamily="34" charset="-122"/>
                <a:ea typeface="微软雅黑" panose="020B0503020204020204" pitchFamily="34" charset="-122"/>
              </a:rPr>
              <a:t>产品价格下降</a:t>
            </a:r>
          </a:p>
        </p:txBody>
      </p:sp>
      <p:sp>
        <p:nvSpPr>
          <p:cNvPr id="79" name="圆角矩形标注 33"/>
          <p:cNvSpPr>
            <a:spLocks noChangeArrowheads="1"/>
          </p:cNvSpPr>
          <p:nvPr/>
        </p:nvSpPr>
        <p:spPr bwMode="auto">
          <a:xfrm>
            <a:off x="6862560" y="1878612"/>
            <a:ext cx="1735137" cy="2071688"/>
          </a:xfrm>
          <a:prstGeom prst="wedgeRoundRectCallout">
            <a:avLst>
              <a:gd name="adj1" fmla="val -244749"/>
              <a:gd name="adj2" fmla="val 90177"/>
              <a:gd name="adj3" fmla="val 16667"/>
            </a:avLst>
          </a:prstGeom>
          <a:noFill/>
          <a:ln w="25400" cap="flat" cmpd="sng">
            <a:solidFill>
              <a:schemeClr val="accent3">
                <a:lumMod val="50000"/>
              </a:schemeClr>
            </a:solidFill>
            <a:miter lim="800000"/>
            <a:headEnd/>
            <a:tailEnd/>
          </a:ln>
        </p:spPr>
        <p:txBody>
          <a:bodyPr anchor="ctr"/>
          <a:lstStyle/>
          <a:p>
            <a:r>
              <a:rPr lang="zh-CN" altLang="en-US" sz="1600" dirty="0">
                <a:latin typeface="微软雅黑" panose="020B0503020204020204" pitchFamily="34" charset="-122"/>
                <a:ea typeface="微软雅黑" panose="020B0503020204020204" pitchFamily="34" charset="-122"/>
              </a:rPr>
              <a:t>利润最大化产量开始时会下降到</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Qu</a:t>
            </a:r>
            <a:r>
              <a:rPr lang="zh-CN" altLang="en-US" sz="1600" dirty="0">
                <a:latin typeface="微软雅黑" panose="020B0503020204020204" pitchFamily="34" charset="-122"/>
                <a:ea typeface="微软雅黑" panose="020B0503020204020204" pitchFamily="34" charset="-122"/>
              </a:rPr>
              <a:t>，但非最后均衡，亏损导致原有企业的退出，产品供给减少，要素需求减少</a:t>
            </a:r>
          </a:p>
        </p:txBody>
      </p:sp>
      <p:sp>
        <p:nvSpPr>
          <p:cNvPr id="80" name="圆角矩形标注 34"/>
          <p:cNvSpPr>
            <a:spLocks noChangeArrowheads="1"/>
          </p:cNvSpPr>
          <p:nvPr/>
        </p:nvSpPr>
        <p:spPr bwMode="auto">
          <a:xfrm>
            <a:off x="372733" y="5006209"/>
            <a:ext cx="992128" cy="1089025"/>
          </a:xfrm>
          <a:prstGeom prst="wedgeRoundRectCallout">
            <a:avLst>
              <a:gd name="adj1" fmla="val 18763"/>
              <a:gd name="adj2" fmla="val -65100"/>
              <a:gd name="adj3" fmla="val 16667"/>
            </a:avLst>
          </a:prstGeom>
          <a:noFill/>
          <a:ln w="25400" cap="flat" cmpd="sng">
            <a:solidFill>
              <a:schemeClr val="accent3">
                <a:lumMod val="50000"/>
              </a:schemeClr>
            </a:solidFill>
            <a:miter lim="800000"/>
            <a:headEnd/>
            <a:tailEnd/>
          </a:ln>
        </p:spPr>
        <p:txBody>
          <a:bodyPr anchor="ctr"/>
          <a:lstStyle/>
          <a:p>
            <a:pPr algn="ctr"/>
            <a:r>
              <a:rPr lang="zh-CN" altLang="en-US" sz="1600" dirty="0">
                <a:latin typeface="微软雅黑" panose="020B0503020204020204" pitchFamily="34" charset="-122"/>
                <a:ea typeface="微软雅黑" panose="020B0503020204020204" pitchFamily="34" charset="-122"/>
              </a:rPr>
              <a:t>产品价格上升，</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LAC</a:t>
            </a:r>
            <a:r>
              <a:rPr lang="zh-CN" altLang="en-US" sz="1600" dirty="0">
                <a:latin typeface="微软雅黑" panose="020B0503020204020204" pitchFamily="34" charset="-122"/>
                <a:ea typeface="微软雅黑" panose="020B0503020204020204" pitchFamily="34" charset="-122"/>
              </a:rPr>
              <a:t>下降</a:t>
            </a:r>
          </a:p>
        </p:txBody>
      </p:sp>
      <p:sp>
        <p:nvSpPr>
          <p:cNvPr id="81" name="圆角矩形标注 35"/>
          <p:cNvSpPr>
            <a:spLocks noChangeArrowheads="1"/>
          </p:cNvSpPr>
          <p:nvPr/>
        </p:nvSpPr>
        <p:spPr bwMode="auto">
          <a:xfrm>
            <a:off x="2024435" y="2154576"/>
            <a:ext cx="1643063" cy="338554"/>
          </a:xfrm>
          <a:prstGeom prst="wedgeRoundRectCallout">
            <a:avLst>
              <a:gd name="adj1" fmla="val 55297"/>
              <a:gd name="adj2" fmla="val 617522"/>
              <a:gd name="adj3" fmla="val 16667"/>
            </a:avLst>
          </a:prstGeom>
          <a:noFill/>
          <a:ln w="25400" cap="flat" cmpd="sng">
            <a:solidFill>
              <a:schemeClr val="accent3">
                <a:lumMod val="50000"/>
              </a:schemeClr>
            </a:solidFill>
            <a:miter lim="800000"/>
            <a:headEnd/>
            <a:tailEnd/>
          </a:ln>
        </p:spPr>
        <p:txBody>
          <a:bodyPr anchor="ctr"/>
          <a:lstStyle/>
          <a:p>
            <a:pPr algn="ctr"/>
            <a:r>
              <a:rPr lang="zh-CN" altLang="en-US" sz="1600" dirty="0">
                <a:latin typeface="微软雅黑" panose="020B0503020204020204" pitchFamily="34" charset="-122"/>
                <a:ea typeface="微软雅黑" panose="020B0503020204020204" pitchFamily="34" charset="-122"/>
              </a:rPr>
              <a:t>最终新均衡点</a:t>
            </a:r>
          </a:p>
        </p:txBody>
      </p:sp>
      <p:sp>
        <p:nvSpPr>
          <p:cNvPr id="82" name="Oval 21"/>
          <p:cNvSpPr>
            <a:spLocks noChangeArrowheads="1"/>
          </p:cNvSpPr>
          <p:nvPr/>
        </p:nvSpPr>
        <p:spPr bwMode="auto">
          <a:xfrm>
            <a:off x="3452610" y="4696425"/>
            <a:ext cx="152400" cy="152400"/>
          </a:xfrm>
          <a:prstGeom prst="ellipse">
            <a:avLst/>
          </a:prstGeom>
          <a:solidFill>
            <a:srgbClr val="00B050"/>
          </a:solidFill>
          <a:ln w="9525" cmpd="sng">
            <a:solidFill>
              <a:schemeClr val="tx1"/>
            </a:solidFill>
            <a:miter lim="800000"/>
            <a:headEnd/>
            <a:tailEnd/>
          </a:ln>
        </p:spPr>
        <p:txBody>
          <a:bodyPr wrap="none" anchor="ctr"/>
          <a:lstStyle/>
          <a:p>
            <a:endParaRPr lang="zh-CN" altLang="zh-CN" sz="2400">
              <a:solidFill>
                <a:srgbClr val="000000"/>
              </a:solidFill>
              <a:latin typeface="Times New Roman" panose="02020603050405020304" pitchFamily="18" charset="0"/>
              <a:sym typeface="Times New Roman" panose="02020603050405020304" pitchFamily="18" charset="0"/>
            </a:endParaRPr>
          </a:p>
        </p:txBody>
      </p:sp>
      <p:sp>
        <p:nvSpPr>
          <p:cNvPr id="83" name="Oval 21"/>
          <p:cNvSpPr>
            <a:spLocks noChangeArrowheads="1"/>
          </p:cNvSpPr>
          <p:nvPr/>
        </p:nvSpPr>
        <p:spPr bwMode="auto">
          <a:xfrm>
            <a:off x="4462260" y="3839175"/>
            <a:ext cx="152400" cy="152400"/>
          </a:xfrm>
          <a:prstGeom prst="ellipse">
            <a:avLst/>
          </a:prstGeom>
          <a:solidFill>
            <a:schemeClr val="accent1"/>
          </a:solidFill>
          <a:ln w="9525" cmpd="sng">
            <a:solidFill>
              <a:schemeClr val="tx1"/>
            </a:solidFill>
            <a:miter lim="800000"/>
            <a:headEnd/>
            <a:tailEnd/>
          </a:ln>
        </p:spPr>
        <p:txBody>
          <a:bodyPr wrap="none" anchor="ctr"/>
          <a:lstStyle/>
          <a:p>
            <a:endParaRPr lang="zh-CN" altLang="zh-CN" sz="2400">
              <a:solidFill>
                <a:srgbClr val="000000"/>
              </a:solidFill>
              <a:latin typeface="Times New Roman" panose="02020603050405020304" pitchFamily="18" charset="0"/>
              <a:sym typeface="Times New Roman" panose="02020603050405020304" pitchFamily="18" charset="0"/>
            </a:endParaRPr>
          </a:p>
        </p:txBody>
      </p:sp>
      <p:sp>
        <p:nvSpPr>
          <p:cNvPr id="84" name="Oval 21"/>
          <p:cNvSpPr>
            <a:spLocks noChangeArrowheads="1"/>
          </p:cNvSpPr>
          <p:nvPr/>
        </p:nvSpPr>
        <p:spPr bwMode="auto">
          <a:xfrm>
            <a:off x="3747885" y="4410675"/>
            <a:ext cx="152400" cy="152400"/>
          </a:xfrm>
          <a:prstGeom prst="ellipse">
            <a:avLst/>
          </a:prstGeom>
          <a:solidFill>
            <a:srgbClr val="FF0000"/>
          </a:solidFill>
          <a:ln w="9525" cmpd="sng">
            <a:solidFill>
              <a:schemeClr val="tx1"/>
            </a:solidFill>
            <a:miter lim="800000"/>
            <a:headEnd/>
            <a:tailEnd/>
          </a:ln>
        </p:spPr>
        <p:txBody>
          <a:bodyPr wrap="none" anchor="ctr"/>
          <a:lstStyle/>
          <a:p>
            <a:endParaRPr lang="zh-CN" altLang="zh-CN" sz="2400">
              <a:solidFill>
                <a:srgbClr val="000000"/>
              </a:solidFill>
              <a:latin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105453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randombar(horizontal)">
                                      <p:cBhvr>
                                        <p:cTn id="12" dur="500"/>
                                        <p:tgtEl>
                                          <p:spTgt spid="53"/>
                                        </p:tgtEl>
                                      </p:cBhvr>
                                    </p:animEffect>
                                  </p:childTnLst>
                                </p:cTn>
                              </p:par>
                              <p:par>
                                <p:cTn id="13" presetID="22" presetClass="entr" presetSubtype="4"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wipe(down)">
                                      <p:cBhvr>
                                        <p:cTn id="15" dur="500"/>
                                        <p:tgtEl>
                                          <p:spTgt spid="49"/>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randombar(horizontal)">
                                      <p:cBhvr>
                                        <p:cTn id="18" dur="500"/>
                                        <p:tgtEl>
                                          <p:spTgt spid="54"/>
                                        </p:tgtEl>
                                      </p:cBhvr>
                                    </p:animEffect>
                                  </p:childTnLst>
                                </p:cTn>
                              </p:par>
                              <p:par>
                                <p:cTn id="19" presetID="22" presetClass="entr" presetSubtype="8" fill="hold" nodeType="with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wipe(left)">
                                      <p:cBhvr>
                                        <p:cTn id="21" dur="500"/>
                                        <p:tgtEl>
                                          <p:spTgt spid="58"/>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randombar(horizontal)">
                                      <p:cBhvr>
                                        <p:cTn id="24" dur="500"/>
                                        <p:tgtEl>
                                          <p:spTgt spid="5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3"/>
                                        </p:tgtEl>
                                        <p:attrNameLst>
                                          <p:attrName>style.visibility</p:attrName>
                                        </p:attrNameLst>
                                      </p:cBhvr>
                                      <p:to>
                                        <p:strVal val="visible"/>
                                      </p:to>
                                    </p:set>
                                    <p:animEffect transition="in" filter="wipe(left)">
                                      <p:cBhvr>
                                        <p:cTn id="29" dur="500"/>
                                        <p:tgtEl>
                                          <p:spTgt spid="63"/>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randombar(horizontal)">
                                      <p:cBhvr>
                                        <p:cTn id="32" dur="500"/>
                                        <p:tgtEl>
                                          <p:spTgt spid="6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wipe(left)">
                                      <p:cBhvr>
                                        <p:cTn id="37" dur="500"/>
                                        <p:tgtEl>
                                          <p:spTgt spid="51"/>
                                        </p:tgtEl>
                                      </p:cBhvr>
                                    </p:animEffect>
                                  </p:childTnLst>
                                </p:cTn>
                              </p:par>
                            </p:childTnLst>
                          </p:cTn>
                        </p:par>
                        <p:par>
                          <p:cTn id="38" fill="hold">
                            <p:stCondLst>
                              <p:cond delay="500"/>
                            </p:stCondLst>
                            <p:childTnLst>
                              <p:par>
                                <p:cTn id="39" presetID="14" presetClass="entr" presetSubtype="10" fill="hold" grpId="0" nodeType="afterEffect">
                                  <p:stCondLst>
                                    <p:cond delay="0"/>
                                  </p:stCondLst>
                                  <p:childTnLst>
                                    <p:set>
                                      <p:cBhvr>
                                        <p:cTn id="40" dur="1" fill="hold">
                                          <p:stCondLst>
                                            <p:cond delay="0"/>
                                          </p:stCondLst>
                                        </p:cTn>
                                        <p:tgtEl>
                                          <p:spTgt spid="66"/>
                                        </p:tgtEl>
                                        <p:attrNameLst>
                                          <p:attrName>style.visibility</p:attrName>
                                        </p:attrNameLst>
                                      </p:cBhvr>
                                      <p:to>
                                        <p:strVal val="visible"/>
                                      </p:to>
                                    </p:set>
                                    <p:animEffect transition="in" filter="randombar(horizontal)">
                                      <p:cBhvr>
                                        <p:cTn id="41" dur="500"/>
                                        <p:tgtEl>
                                          <p:spTgt spid="66"/>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randombar(horizontal)">
                                      <p:cBhvr>
                                        <p:cTn id="46" dur="500"/>
                                        <p:tgtEl>
                                          <p:spTgt spid="57"/>
                                        </p:tgtEl>
                                      </p:cBhvr>
                                    </p:animEffect>
                                  </p:childTnLst>
                                </p:cTn>
                              </p:par>
                              <p:par>
                                <p:cTn id="47" presetID="22" presetClass="entr" presetSubtype="8" fill="hold" nodeType="with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wipe(left)">
                                      <p:cBhvr>
                                        <p:cTn id="49" dur="500"/>
                                        <p:tgtEl>
                                          <p:spTgt spid="5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69"/>
                                        </p:tgtEl>
                                        <p:attrNameLst>
                                          <p:attrName>style.visibility</p:attrName>
                                        </p:attrNameLst>
                                      </p:cBhvr>
                                      <p:to>
                                        <p:strVal val="visible"/>
                                      </p:to>
                                    </p:set>
                                    <p:animEffect transition="in" filter="wipe(up)">
                                      <p:cBhvr>
                                        <p:cTn id="54" dur="500"/>
                                        <p:tgtEl>
                                          <p:spTgt spid="69"/>
                                        </p:tgtEl>
                                      </p:cBhvr>
                                    </p:animEffect>
                                  </p:childTnLst>
                                </p:cTn>
                              </p:par>
                              <p:par>
                                <p:cTn id="55" presetID="14" presetClass="entr" presetSubtype="1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randombar(horizontal)">
                                      <p:cBhvr>
                                        <p:cTn id="57" dur="500"/>
                                        <p:tgtEl>
                                          <p:spTgt spid="52"/>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83"/>
                                        </p:tgtEl>
                                        <p:attrNameLst>
                                          <p:attrName>style.visibility</p:attrName>
                                        </p:attrNameLst>
                                      </p:cBhvr>
                                      <p:to>
                                        <p:strVal val="visible"/>
                                      </p:to>
                                    </p:set>
                                    <p:animEffect transition="in" filter="randombar(horizontal)">
                                      <p:cBhvr>
                                        <p:cTn id="62" dur="500"/>
                                        <p:tgtEl>
                                          <p:spTgt spid="83"/>
                                        </p:tgtEl>
                                      </p:cBhvr>
                                    </p:animEffect>
                                  </p:childTnLst>
                                </p:cTn>
                              </p:par>
                              <p:par>
                                <p:cTn id="63" presetID="14" presetClass="entr" presetSubtype="10" fill="hold" grpId="0" nodeType="withEffect">
                                  <p:stCondLst>
                                    <p:cond delay="0"/>
                                  </p:stCondLst>
                                  <p:childTnLst>
                                    <p:set>
                                      <p:cBhvr>
                                        <p:cTn id="64" dur="1" fill="hold">
                                          <p:stCondLst>
                                            <p:cond delay="0"/>
                                          </p:stCondLst>
                                        </p:cTn>
                                        <p:tgtEl>
                                          <p:spTgt spid="73"/>
                                        </p:tgtEl>
                                        <p:attrNameLst>
                                          <p:attrName>style.visibility</p:attrName>
                                        </p:attrNameLst>
                                      </p:cBhvr>
                                      <p:to>
                                        <p:strVal val="visible"/>
                                      </p:to>
                                    </p:set>
                                    <p:animEffect transition="in" filter="randombar(horizontal)">
                                      <p:cBhvr>
                                        <p:cTn id="65" dur="500"/>
                                        <p:tgtEl>
                                          <p:spTgt spid="73"/>
                                        </p:tgtEl>
                                      </p:cBhvr>
                                    </p:animEffect>
                                  </p:childTnLst>
                                </p:cTn>
                              </p:par>
                              <p:par>
                                <p:cTn id="66" presetID="14" presetClass="entr" presetSubtype="10" fill="hold" grpId="0" nodeType="withEffect">
                                  <p:stCondLst>
                                    <p:cond delay="0"/>
                                  </p:stCondLst>
                                  <p:childTnLst>
                                    <p:set>
                                      <p:cBhvr>
                                        <p:cTn id="67" dur="1" fill="hold">
                                          <p:stCondLst>
                                            <p:cond delay="0"/>
                                          </p:stCondLst>
                                        </p:cTn>
                                        <p:tgtEl>
                                          <p:spTgt spid="77"/>
                                        </p:tgtEl>
                                        <p:attrNameLst>
                                          <p:attrName>style.visibility</p:attrName>
                                        </p:attrNameLst>
                                      </p:cBhvr>
                                      <p:to>
                                        <p:strVal val="visible"/>
                                      </p:to>
                                    </p:set>
                                    <p:animEffect transition="in" filter="randombar(horizontal)">
                                      <p:cBhvr>
                                        <p:cTn id="68" dur="500"/>
                                        <p:tgtEl>
                                          <p:spTgt spid="7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76"/>
                                        </p:tgtEl>
                                        <p:attrNameLst>
                                          <p:attrName>style.visibility</p:attrName>
                                        </p:attrNameLst>
                                      </p:cBhvr>
                                      <p:to>
                                        <p:strVal val="visible"/>
                                      </p:to>
                                    </p:set>
                                    <p:animEffect transition="in" filter="wipe(up)">
                                      <p:cBhvr>
                                        <p:cTn id="73" dur="500"/>
                                        <p:tgtEl>
                                          <p:spTgt spid="76"/>
                                        </p:tgtEl>
                                      </p:cBhvr>
                                    </p:animEffect>
                                  </p:childTnLst>
                                </p:cTn>
                              </p:par>
                            </p:childTnLst>
                          </p:cTn>
                        </p:par>
                      </p:childTnLst>
                    </p:cTn>
                  </p:par>
                  <p:par>
                    <p:cTn id="74" fill="hold">
                      <p:stCondLst>
                        <p:cond delay="indefinite"/>
                      </p:stCondLst>
                      <p:childTnLst>
                        <p:par>
                          <p:cTn id="75" fill="hold">
                            <p:stCondLst>
                              <p:cond delay="0"/>
                            </p:stCondLst>
                            <p:childTnLst>
                              <p:par>
                                <p:cTn id="76" presetID="14" presetClass="entr" presetSubtype="10" fill="hold" grpId="0" nodeType="clickEffect">
                                  <p:stCondLst>
                                    <p:cond delay="0"/>
                                  </p:stCondLst>
                                  <p:childTnLst>
                                    <p:set>
                                      <p:cBhvr>
                                        <p:cTn id="77" dur="1" fill="hold">
                                          <p:stCondLst>
                                            <p:cond delay="0"/>
                                          </p:stCondLst>
                                        </p:cTn>
                                        <p:tgtEl>
                                          <p:spTgt spid="78"/>
                                        </p:tgtEl>
                                        <p:attrNameLst>
                                          <p:attrName>style.visibility</p:attrName>
                                        </p:attrNameLst>
                                      </p:cBhvr>
                                      <p:to>
                                        <p:strVal val="visible"/>
                                      </p:to>
                                    </p:set>
                                    <p:animEffect transition="in" filter="randombar(horizontal)">
                                      <p:cBhvr>
                                        <p:cTn id="78" dur="500"/>
                                        <p:tgtEl>
                                          <p:spTgt spid="78"/>
                                        </p:tgtEl>
                                      </p:cBhvr>
                                    </p:animEffect>
                                  </p:childTnLst>
                                </p:cTn>
                              </p:par>
                            </p:childTnLst>
                          </p:cTn>
                        </p:par>
                      </p:childTnLst>
                    </p:cTn>
                  </p:par>
                  <p:par>
                    <p:cTn id="79" fill="hold">
                      <p:stCondLst>
                        <p:cond delay="indefinite"/>
                      </p:stCondLst>
                      <p:childTnLst>
                        <p:par>
                          <p:cTn id="80" fill="hold">
                            <p:stCondLst>
                              <p:cond delay="0"/>
                            </p:stCondLst>
                            <p:childTnLst>
                              <p:par>
                                <p:cTn id="81" presetID="14" presetClass="entr" presetSubtype="10" fill="hold" grpId="0" nodeType="clickEffect">
                                  <p:stCondLst>
                                    <p:cond delay="0"/>
                                  </p:stCondLst>
                                  <p:childTnLst>
                                    <p:set>
                                      <p:cBhvr>
                                        <p:cTn id="82" dur="1" fill="hold">
                                          <p:stCondLst>
                                            <p:cond delay="0"/>
                                          </p:stCondLst>
                                        </p:cTn>
                                        <p:tgtEl>
                                          <p:spTgt spid="74"/>
                                        </p:tgtEl>
                                        <p:attrNameLst>
                                          <p:attrName>style.visibility</p:attrName>
                                        </p:attrNameLst>
                                      </p:cBhvr>
                                      <p:to>
                                        <p:strVal val="visible"/>
                                      </p:to>
                                    </p:set>
                                    <p:animEffect transition="in" filter="randombar(horizontal)">
                                      <p:cBhvr>
                                        <p:cTn id="83" dur="500"/>
                                        <p:tgtEl>
                                          <p:spTgt spid="7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61"/>
                                        </p:tgtEl>
                                        <p:attrNameLst>
                                          <p:attrName>style.visibility</p:attrName>
                                        </p:attrNameLst>
                                      </p:cBhvr>
                                      <p:to>
                                        <p:strVal val="visible"/>
                                      </p:to>
                                    </p:set>
                                    <p:animEffect transition="in" filter="wipe(left)">
                                      <p:cBhvr>
                                        <p:cTn id="88" dur="500"/>
                                        <p:tgtEl>
                                          <p:spTgt spid="61"/>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82"/>
                                        </p:tgtEl>
                                        <p:attrNameLst>
                                          <p:attrName>style.visibility</p:attrName>
                                        </p:attrNameLst>
                                      </p:cBhvr>
                                      <p:to>
                                        <p:strVal val="visible"/>
                                      </p:to>
                                    </p:set>
                                    <p:animEffect>
                                      <p:cBhvr>
                                        <p:cTn id="93" dur="500"/>
                                        <p:tgtEl>
                                          <p:spTgt spid="82"/>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72"/>
                                        </p:tgtEl>
                                        <p:attrNameLst>
                                          <p:attrName>style.visibility</p:attrName>
                                        </p:attrNameLst>
                                      </p:cBhvr>
                                      <p:to>
                                        <p:strVal val="visible"/>
                                      </p:to>
                                    </p:set>
                                    <p:animEffect>
                                      <p:cBhvr>
                                        <p:cTn id="96" dur="500"/>
                                        <p:tgtEl>
                                          <p:spTgt spid="7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grpId="0" nodeType="clickEffect">
                                  <p:stCondLst>
                                    <p:cond delay="0"/>
                                  </p:stCondLst>
                                  <p:childTnLst>
                                    <p:set>
                                      <p:cBhvr>
                                        <p:cTn id="100" dur="1" fill="hold">
                                          <p:stCondLst>
                                            <p:cond delay="0"/>
                                          </p:stCondLst>
                                        </p:cTn>
                                        <p:tgtEl>
                                          <p:spTgt spid="68"/>
                                        </p:tgtEl>
                                        <p:attrNameLst>
                                          <p:attrName>style.visibility</p:attrName>
                                        </p:attrNameLst>
                                      </p:cBhvr>
                                      <p:to>
                                        <p:strVal val="visible"/>
                                      </p:to>
                                    </p:set>
                                    <p:animEffect transition="in" filter="wipe(up)">
                                      <p:cBhvr>
                                        <p:cTn id="101" dur="500"/>
                                        <p:tgtEl>
                                          <p:spTgt spid="68"/>
                                        </p:tgtEl>
                                      </p:cBhvr>
                                    </p:animEffect>
                                  </p:childTnLst>
                                </p:cTn>
                              </p:par>
                            </p:childTnLst>
                          </p:cTn>
                        </p:par>
                      </p:childTnLst>
                    </p:cTn>
                  </p:par>
                  <p:par>
                    <p:cTn id="102" fill="hold">
                      <p:stCondLst>
                        <p:cond delay="indefinite"/>
                      </p:stCondLst>
                      <p:childTnLst>
                        <p:par>
                          <p:cTn id="103" fill="hold">
                            <p:stCondLst>
                              <p:cond delay="0"/>
                            </p:stCondLst>
                            <p:childTnLst>
                              <p:par>
                                <p:cTn id="104" presetID="14" presetClass="entr" presetSubtype="10" fill="hold" grpId="0" nodeType="clickEffect">
                                  <p:stCondLst>
                                    <p:cond delay="0"/>
                                  </p:stCondLst>
                                  <p:childTnLst>
                                    <p:set>
                                      <p:cBhvr>
                                        <p:cTn id="105" dur="1" fill="hold">
                                          <p:stCondLst>
                                            <p:cond delay="0"/>
                                          </p:stCondLst>
                                        </p:cTn>
                                        <p:tgtEl>
                                          <p:spTgt spid="55"/>
                                        </p:tgtEl>
                                        <p:attrNameLst>
                                          <p:attrName>style.visibility</p:attrName>
                                        </p:attrNameLst>
                                      </p:cBhvr>
                                      <p:to>
                                        <p:strVal val="visible"/>
                                      </p:to>
                                    </p:set>
                                    <p:animEffect transition="in" filter="randombar(horizontal)">
                                      <p:cBhvr>
                                        <p:cTn id="106" dur="500"/>
                                        <p:tgtEl>
                                          <p:spTgt spid="55"/>
                                        </p:tgtEl>
                                      </p:cBhvr>
                                    </p:animEffect>
                                  </p:childTnLst>
                                </p:cTn>
                              </p:par>
                            </p:childTnLst>
                          </p:cTn>
                        </p:par>
                      </p:childTnLst>
                    </p:cTn>
                  </p:par>
                  <p:par>
                    <p:cTn id="107" fill="hold">
                      <p:stCondLst>
                        <p:cond delay="indefinite"/>
                      </p:stCondLst>
                      <p:childTnLst>
                        <p:par>
                          <p:cTn id="108" fill="hold">
                            <p:stCondLst>
                              <p:cond delay="0"/>
                            </p:stCondLst>
                            <p:childTnLst>
                              <p:par>
                                <p:cTn id="109" presetID="14" presetClass="entr" presetSubtype="10" fill="hold" grpId="0" nodeType="clickEffect">
                                  <p:stCondLst>
                                    <p:cond delay="0"/>
                                  </p:stCondLst>
                                  <p:childTnLst>
                                    <p:set>
                                      <p:cBhvr>
                                        <p:cTn id="110" dur="1" fill="hold">
                                          <p:stCondLst>
                                            <p:cond delay="0"/>
                                          </p:stCondLst>
                                        </p:cTn>
                                        <p:tgtEl>
                                          <p:spTgt spid="79"/>
                                        </p:tgtEl>
                                        <p:attrNameLst>
                                          <p:attrName>style.visibility</p:attrName>
                                        </p:attrNameLst>
                                      </p:cBhvr>
                                      <p:to>
                                        <p:strVal val="visible"/>
                                      </p:to>
                                    </p:set>
                                    <p:animEffect transition="in" filter="randombar(horizontal)">
                                      <p:cBhvr>
                                        <p:cTn id="111" dur="500"/>
                                        <p:tgtEl>
                                          <p:spTgt spid="79"/>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4" fill="hold" grpId="0" nodeType="clickEffect">
                                  <p:stCondLst>
                                    <p:cond delay="0"/>
                                  </p:stCondLst>
                                  <p:childTnLst>
                                    <p:set>
                                      <p:cBhvr>
                                        <p:cTn id="115" dur="1" fill="hold">
                                          <p:stCondLst>
                                            <p:cond delay="0"/>
                                          </p:stCondLst>
                                        </p:cTn>
                                        <p:tgtEl>
                                          <p:spTgt spid="75"/>
                                        </p:tgtEl>
                                        <p:attrNameLst>
                                          <p:attrName>style.visibility</p:attrName>
                                        </p:attrNameLst>
                                      </p:cBhvr>
                                      <p:to>
                                        <p:strVal val="visible"/>
                                      </p:to>
                                    </p:set>
                                    <p:animEffect transition="in" filter="wipe(down)">
                                      <p:cBhvr>
                                        <p:cTn id="116" dur="500"/>
                                        <p:tgtEl>
                                          <p:spTgt spid="75"/>
                                        </p:tgtEl>
                                      </p:cBhvr>
                                    </p:animEffect>
                                  </p:childTnLst>
                                </p:cTn>
                              </p:par>
                            </p:childTnLst>
                          </p:cTn>
                        </p:par>
                      </p:childTnLst>
                    </p:cTn>
                  </p:par>
                  <p:par>
                    <p:cTn id="117" fill="hold">
                      <p:stCondLst>
                        <p:cond delay="indefinite"/>
                      </p:stCondLst>
                      <p:childTnLst>
                        <p:par>
                          <p:cTn id="118" fill="hold">
                            <p:stCondLst>
                              <p:cond delay="0"/>
                            </p:stCondLst>
                            <p:childTnLst>
                              <p:par>
                                <p:cTn id="119" presetID="14" presetClass="entr" presetSubtype="10" fill="hold" grpId="0" nodeType="clickEffect">
                                  <p:stCondLst>
                                    <p:cond delay="0"/>
                                  </p:stCondLst>
                                  <p:childTnLst>
                                    <p:set>
                                      <p:cBhvr>
                                        <p:cTn id="120" dur="1" fill="hold">
                                          <p:stCondLst>
                                            <p:cond delay="0"/>
                                          </p:stCondLst>
                                        </p:cTn>
                                        <p:tgtEl>
                                          <p:spTgt spid="80"/>
                                        </p:tgtEl>
                                        <p:attrNameLst>
                                          <p:attrName>style.visibility</p:attrName>
                                        </p:attrNameLst>
                                      </p:cBhvr>
                                      <p:to>
                                        <p:strVal val="visible"/>
                                      </p:to>
                                    </p:set>
                                    <p:animEffect transition="in" filter="randombar(horizontal)">
                                      <p:cBhvr>
                                        <p:cTn id="121" dur="500"/>
                                        <p:tgtEl>
                                          <p:spTgt spid="80"/>
                                        </p:tgtEl>
                                      </p:cBhvr>
                                    </p:animEffect>
                                  </p:childTnLst>
                                </p:cTn>
                              </p:par>
                            </p:childTnLst>
                          </p:cTn>
                        </p:par>
                      </p:childTnLst>
                    </p:cTn>
                  </p:par>
                  <p:par>
                    <p:cTn id="122" fill="hold">
                      <p:stCondLst>
                        <p:cond delay="indefinite"/>
                      </p:stCondLst>
                      <p:childTnLst>
                        <p:par>
                          <p:cTn id="123" fill="hold">
                            <p:stCondLst>
                              <p:cond delay="0"/>
                            </p:stCondLst>
                            <p:childTnLst>
                              <p:par>
                                <p:cTn id="124" presetID="14" presetClass="entr" presetSubtype="10" fill="hold" grpId="0" nodeType="clickEffect">
                                  <p:stCondLst>
                                    <p:cond delay="0"/>
                                  </p:stCondLst>
                                  <p:childTnLst>
                                    <p:set>
                                      <p:cBhvr>
                                        <p:cTn id="125" dur="1" fill="hold">
                                          <p:stCondLst>
                                            <p:cond delay="0"/>
                                          </p:stCondLst>
                                        </p:cTn>
                                        <p:tgtEl>
                                          <p:spTgt spid="62"/>
                                        </p:tgtEl>
                                        <p:attrNameLst>
                                          <p:attrName>style.visibility</p:attrName>
                                        </p:attrNameLst>
                                      </p:cBhvr>
                                      <p:to>
                                        <p:strVal val="visible"/>
                                      </p:to>
                                    </p:set>
                                    <p:animEffect transition="in" filter="randombar(horizontal)">
                                      <p:cBhvr>
                                        <p:cTn id="126" dur="500"/>
                                        <p:tgtEl>
                                          <p:spTgt spid="62"/>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60"/>
                                        </p:tgtEl>
                                        <p:attrNameLst>
                                          <p:attrName>style.visibility</p:attrName>
                                        </p:attrNameLst>
                                      </p:cBhvr>
                                      <p:to>
                                        <p:strVal val="visible"/>
                                      </p:to>
                                    </p:set>
                                    <p:animEffect transition="in" filter="wipe(left)">
                                      <p:cBhvr>
                                        <p:cTn id="131" dur="500"/>
                                        <p:tgtEl>
                                          <p:spTgt spid="60"/>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59"/>
                                        </p:tgtEl>
                                        <p:attrNameLst>
                                          <p:attrName>style.visibility</p:attrName>
                                        </p:attrNameLst>
                                      </p:cBhvr>
                                      <p:to>
                                        <p:strVal val="visible"/>
                                      </p:to>
                                    </p:set>
                                    <p:animEffect transition="in" filter="wipe(left)">
                                      <p:cBhvr>
                                        <p:cTn id="136" dur="500"/>
                                        <p:tgtEl>
                                          <p:spTgt spid="59"/>
                                        </p:tgtEl>
                                      </p:cBhvr>
                                    </p:animEffect>
                                  </p:childTnLst>
                                </p:cTn>
                              </p:par>
                            </p:childTnLst>
                          </p:cTn>
                        </p:par>
                      </p:childTnLst>
                    </p:cTn>
                  </p:par>
                  <p:par>
                    <p:cTn id="137" fill="hold">
                      <p:stCondLst>
                        <p:cond delay="indefinite"/>
                      </p:stCondLst>
                      <p:childTnLst>
                        <p:par>
                          <p:cTn id="138" fill="hold">
                            <p:stCondLst>
                              <p:cond delay="0"/>
                            </p:stCondLst>
                            <p:childTnLst>
                              <p:par>
                                <p:cTn id="139" presetID="14" presetClass="entr" presetSubtype="10" fill="hold" grpId="0" nodeType="clickEffect">
                                  <p:stCondLst>
                                    <p:cond delay="0"/>
                                  </p:stCondLst>
                                  <p:childTnLst>
                                    <p:set>
                                      <p:cBhvr>
                                        <p:cTn id="140" dur="1" fill="hold">
                                          <p:stCondLst>
                                            <p:cond delay="0"/>
                                          </p:stCondLst>
                                        </p:cTn>
                                        <p:tgtEl>
                                          <p:spTgt spid="67"/>
                                        </p:tgtEl>
                                        <p:attrNameLst>
                                          <p:attrName>style.visibility</p:attrName>
                                        </p:attrNameLst>
                                      </p:cBhvr>
                                      <p:to>
                                        <p:strVal val="visible"/>
                                      </p:to>
                                    </p:set>
                                    <p:animEffect transition="in" filter="randombar(horizontal)">
                                      <p:cBhvr>
                                        <p:cTn id="141" dur="500"/>
                                        <p:tgtEl>
                                          <p:spTgt spid="67"/>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1" fill="hold" grpId="0" nodeType="clickEffect">
                                  <p:stCondLst>
                                    <p:cond delay="0"/>
                                  </p:stCondLst>
                                  <p:childTnLst>
                                    <p:set>
                                      <p:cBhvr>
                                        <p:cTn id="145" dur="1" fill="hold">
                                          <p:stCondLst>
                                            <p:cond delay="0"/>
                                          </p:stCondLst>
                                        </p:cTn>
                                        <p:tgtEl>
                                          <p:spTgt spid="70"/>
                                        </p:tgtEl>
                                        <p:attrNameLst>
                                          <p:attrName>style.visibility</p:attrName>
                                        </p:attrNameLst>
                                      </p:cBhvr>
                                      <p:to>
                                        <p:strVal val="visible"/>
                                      </p:to>
                                    </p:set>
                                    <p:animEffect transition="in" filter="wipe(up)">
                                      <p:cBhvr>
                                        <p:cTn id="146" dur="500"/>
                                        <p:tgtEl>
                                          <p:spTgt spid="70"/>
                                        </p:tgtEl>
                                      </p:cBhvr>
                                    </p:animEffect>
                                  </p:childTnLst>
                                </p:cTn>
                              </p:par>
                            </p:childTnLst>
                          </p:cTn>
                        </p:par>
                      </p:childTnLst>
                    </p:cTn>
                  </p:par>
                  <p:par>
                    <p:cTn id="147" fill="hold">
                      <p:stCondLst>
                        <p:cond delay="indefinite"/>
                      </p:stCondLst>
                      <p:childTnLst>
                        <p:par>
                          <p:cTn id="148" fill="hold">
                            <p:stCondLst>
                              <p:cond delay="0"/>
                            </p:stCondLst>
                            <p:childTnLst>
                              <p:par>
                                <p:cTn id="149" presetID="14" presetClass="entr" presetSubtype="10" fill="hold" grpId="0" nodeType="clickEffect">
                                  <p:stCondLst>
                                    <p:cond delay="0"/>
                                  </p:stCondLst>
                                  <p:childTnLst>
                                    <p:set>
                                      <p:cBhvr>
                                        <p:cTn id="150" dur="1" fill="hold">
                                          <p:stCondLst>
                                            <p:cond delay="0"/>
                                          </p:stCondLst>
                                        </p:cTn>
                                        <p:tgtEl>
                                          <p:spTgt spid="64"/>
                                        </p:tgtEl>
                                        <p:attrNameLst>
                                          <p:attrName>style.visibility</p:attrName>
                                        </p:attrNameLst>
                                      </p:cBhvr>
                                      <p:to>
                                        <p:strVal val="visible"/>
                                      </p:to>
                                    </p:set>
                                    <p:animEffect transition="in" filter="randombar(horizontal)">
                                      <p:cBhvr>
                                        <p:cTn id="151" dur="500"/>
                                        <p:tgtEl>
                                          <p:spTgt spid="64"/>
                                        </p:tgtEl>
                                      </p:cBhvr>
                                    </p:animEffect>
                                  </p:childTnLst>
                                </p:cTn>
                              </p:par>
                            </p:childTnLst>
                          </p:cTn>
                        </p:par>
                      </p:childTnLst>
                    </p:cTn>
                  </p:par>
                  <p:par>
                    <p:cTn id="152" fill="hold">
                      <p:stCondLst>
                        <p:cond delay="indefinite"/>
                      </p:stCondLst>
                      <p:childTnLst>
                        <p:par>
                          <p:cTn id="153" fill="hold">
                            <p:stCondLst>
                              <p:cond delay="0"/>
                            </p:stCondLst>
                            <p:childTnLst>
                              <p:par>
                                <p:cTn id="154" presetID="14" presetClass="entr" presetSubtype="10" fill="hold" grpId="0" nodeType="clickEffect">
                                  <p:stCondLst>
                                    <p:cond delay="0"/>
                                  </p:stCondLst>
                                  <p:childTnLst>
                                    <p:set>
                                      <p:cBhvr>
                                        <p:cTn id="155" dur="1" fill="hold">
                                          <p:stCondLst>
                                            <p:cond delay="0"/>
                                          </p:stCondLst>
                                        </p:cTn>
                                        <p:tgtEl>
                                          <p:spTgt spid="84"/>
                                        </p:tgtEl>
                                        <p:attrNameLst>
                                          <p:attrName>style.visibility</p:attrName>
                                        </p:attrNameLst>
                                      </p:cBhvr>
                                      <p:to>
                                        <p:strVal val="visible"/>
                                      </p:to>
                                    </p:set>
                                    <p:animEffect transition="in" filter="randombar(horizontal)">
                                      <p:cBhvr>
                                        <p:cTn id="156" dur="500"/>
                                        <p:tgtEl>
                                          <p:spTgt spid="84"/>
                                        </p:tgtEl>
                                      </p:cBhvr>
                                    </p:animEffect>
                                  </p:childTnLst>
                                </p:cTn>
                              </p:par>
                              <p:par>
                                <p:cTn id="157" presetID="14" presetClass="entr" presetSubtype="10" fill="hold" grpId="0" nodeType="withEffect">
                                  <p:stCondLst>
                                    <p:cond delay="0"/>
                                  </p:stCondLst>
                                  <p:childTnLst>
                                    <p:set>
                                      <p:cBhvr>
                                        <p:cTn id="158" dur="1" fill="hold">
                                          <p:stCondLst>
                                            <p:cond delay="0"/>
                                          </p:stCondLst>
                                        </p:cTn>
                                        <p:tgtEl>
                                          <p:spTgt spid="71"/>
                                        </p:tgtEl>
                                        <p:attrNameLst>
                                          <p:attrName>style.visibility</p:attrName>
                                        </p:attrNameLst>
                                      </p:cBhvr>
                                      <p:to>
                                        <p:strVal val="visible"/>
                                      </p:to>
                                    </p:set>
                                    <p:animEffect transition="in" filter="randombar(horizontal)">
                                      <p:cBhvr>
                                        <p:cTn id="159" dur="500"/>
                                        <p:tgtEl>
                                          <p:spTgt spid="71"/>
                                        </p:tgtEl>
                                      </p:cBhvr>
                                    </p:animEffect>
                                  </p:childTnLst>
                                </p:cTn>
                              </p:par>
                            </p:childTnLst>
                          </p:cTn>
                        </p:par>
                      </p:childTnLst>
                    </p:cTn>
                  </p:par>
                  <p:par>
                    <p:cTn id="160" fill="hold">
                      <p:stCondLst>
                        <p:cond delay="indefinite"/>
                      </p:stCondLst>
                      <p:childTnLst>
                        <p:par>
                          <p:cTn id="161" fill="hold">
                            <p:stCondLst>
                              <p:cond delay="0"/>
                            </p:stCondLst>
                            <p:childTnLst>
                              <p:par>
                                <p:cTn id="162" presetID="14" presetClass="entr" presetSubtype="10" fill="hold" grpId="0" nodeType="clickEffect">
                                  <p:stCondLst>
                                    <p:cond delay="0"/>
                                  </p:stCondLst>
                                  <p:childTnLst>
                                    <p:set>
                                      <p:cBhvr>
                                        <p:cTn id="163" dur="1" fill="hold">
                                          <p:stCondLst>
                                            <p:cond delay="0"/>
                                          </p:stCondLst>
                                        </p:cTn>
                                        <p:tgtEl>
                                          <p:spTgt spid="81"/>
                                        </p:tgtEl>
                                        <p:attrNameLst>
                                          <p:attrName>style.visibility</p:attrName>
                                        </p:attrNameLst>
                                      </p:cBhvr>
                                      <p:to>
                                        <p:strVal val="visible"/>
                                      </p:to>
                                    </p:set>
                                    <p:animEffect transition="in" filter="randombar(horizontal)">
                                      <p:cBhvr>
                                        <p:cTn id="164"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1" grpId="0" animBg="1"/>
      <p:bldP spid="52" grpId="0" bldLvl="0" autoUpdateAnimBg="0"/>
      <p:bldP spid="53" grpId="0" bldLvl="0" autoUpdateAnimBg="0"/>
      <p:bldP spid="54" grpId="0" bldLvl="0" autoUpdateAnimBg="0"/>
      <p:bldP spid="55" grpId="0"/>
      <p:bldP spid="56" grpId="0" bldLvl="0" autoUpdateAnimBg="0"/>
      <p:bldP spid="57" grpId="0" bldLvl="0" autoUpdateAnimBg="0"/>
      <p:bldP spid="59" grpId="0" bldLvl="0" animBg="1" autoUpdateAnimBg="0"/>
      <p:bldP spid="60" grpId="0" animBg="1"/>
      <p:bldP spid="61" grpId="0" animBg="1"/>
      <p:bldP spid="62" grpId="0"/>
      <p:bldP spid="63" grpId="0" bldLvl="0" animBg="1" autoUpdateAnimBg="0"/>
      <p:bldP spid="64" grpId="0"/>
      <p:bldP spid="65" grpId="0" bldLvl="0" autoUpdateAnimBg="0"/>
      <p:bldP spid="66" grpId="0"/>
      <p:bldP spid="67" grpId="0"/>
      <p:bldP spid="68" grpId="0" animBg="1"/>
      <p:bldP spid="70" grpId="0" animBg="1"/>
      <p:bldP spid="71" grpId="0" bldLvl="0" autoUpdateAnimBg="0"/>
      <p:bldP spid="72" grpId="0" bldLvl="0" autoUpdateAnimBg="0"/>
      <p:bldP spid="73" grpId="0" bldLvl="0" autoUpdateAnimBg="0"/>
      <p:bldP spid="74" grpId="0"/>
      <p:bldP spid="75" grpId="0" bldLvl="0" animBg="1" autoUpdateAnimBg="0"/>
      <p:bldP spid="76" grpId="0" bldLvl="0" animBg="1" autoUpdateAnimBg="0"/>
      <p:bldP spid="77" grpId="0" bldLvl="0" animBg="1" autoUpdateAnimBg="0"/>
      <p:bldP spid="78" grpId="0" bldLvl="0" animBg="1" autoUpdateAnimBg="0"/>
      <p:bldP spid="79" grpId="0" bldLvl="0" animBg="1" autoUpdateAnimBg="0"/>
      <p:bldP spid="80" grpId="0" bldLvl="0" animBg="1" autoUpdateAnimBg="0"/>
      <p:bldP spid="81" grpId="0" bldLvl="0" animBg="1" autoUpdateAnimBg="0"/>
      <p:bldP spid="82" grpId="0" bldLvl="0" animBg="1" autoUpdateAnimBg="0"/>
      <p:bldP spid="83" grpId="0" bldLvl="0" animBg="1" autoUpdateAnimBg="0"/>
      <p:bldP spid="84" grpId="0" bldLvl="0" animBg="1"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68E5273-CD77-47B9-B841-9D29349C133D}"/>
              </a:ext>
            </a:extLst>
          </p:cNvPr>
          <p:cNvSpPr/>
          <p:nvPr/>
        </p:nvSpPr>
        <p:spPr>
          <a:xfrm>
            <a:off x="467544" y="548680"/>
            <a:ext cx="288037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四、长期供给曲线</a:t>
            </a:r>
          </a:p>
        </p:txBody>
      </p:sp>
      <p:sp>
        <p:nvSpPr>
          <p:cNvPr id="9" name="矩形 8">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41" name="Rectangle 3"/>
          <p:cNvSpPr txBox="1">
            <a:spLocks noChangeArrowheads="1"/>
          </p:cNvSpPr>
          <p:nvPr/>
        </p:nvSpPr>
        <p:spPr bwMode="auto">
          <a:xfrm flipV="1">
            <a:off x="324775" y="5710932"/>
            <a:ext cx="8229600"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defTabSz="0" rtl="0" eaLnBrk="0" fontAlgn="base" hangingPunct="0">
              <a:spcBef>
                <a:spcPct val="20000"/>
              </a:spcBef>
              <a:spcAft>
                <a:spcPct val="0"/>
              </a:spcAft>
              <a:buNone/>
              <a:defRPr sz="2400" b="1" kern="1200">
                <a:solidFill>
                  <a:srgbClr val="CC0000"/>
                </a:solidFill>
                <a:latin typeface="+mn-lt"/>
                <a:ea typeface="+mn-ea"/>
                <a:cs typeface="+mn-cs"/>
                <a:sym typeface="Arial" panose="020B0604020202020204" pitchFamily="34" charset="0"/>
              </a:defRPr>
            </a:lvl1pPr>
            <a:lvl2pPr marL="457200" indent="0" algn="ctr" defTabSz="0" rtl="0" eaLnBrk="0" fontAlgn="base" hangingPunct="0">
              <a:spcBef>
                <a:spcPct val="20000"/>
              </a:spcBef>
              <a:spcAft>
                <a:spcPct val="0"/>
              </a:spcAft>
              <a:buNone/>
              <a:defRPr sz="2000" b="1" kern="1200">
                <a:solidFill>
                  <a:schemeClr val="tx1"/>
                </a:solidFill>
                <a:latin typeface="+mn-lt"/>
                <a:ea typeface="+mn-ea"/>
                <a:cs typeface="+mn-cs"/>
                <a:sym typeface="Arial" panose="020B0604020202020204" pitchFamily="34" charset="0"/>
              </a:defRPr>
            </a:lvl2pPr>
            <a:lvl3pPr marL="914400" indent="0" algn="ctr" defTabSz="0" rtl="0" eaLnBrk="0" fontAlgn="base" hangingPunct="0">
              <a:spcBef>
                <a:spcPct val="20000"/>
              </a:spcBef>
              <a:spcAft>
                <a:spcPct val="0"/>
              </a:spcAft>
              <a:buNone/>
              <a:defRPr sz="1800" b="1" kern="1200">
                <a:solidFill>
                  <a:schemeClr val="tx1"/>
                </a:solidFill>
                <a:latin typeface="+mn-lt"/>
                <a:ea typeface="+mn-ea"/>
                <a:cs typeface="+mn-cs"/>
                <a:sym typeface="Arial" panose="020B0604020202020204" pitchFamily="34" charset="0"/>
              </a:defRPr>
            </a:lvl3pPr>
            <a:lvl4pPr marL="13716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4pPr>
            <a:lvl5pPr marL="18288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0" lvl="2" indent="-228600" algn="l" eaLnBrk="1" hangingPunct="1">
              <a:buFontTx/>
              <a:buChar char="•"/>
            </a:pPr>
            <a:endParaRPr lang="zh-CN" altLang="zh-CN" sz="2400"/>
          </a:p>
          <a:p>
            <a:pPr marL="1143000" lvl="2" indent="-228600" algn="l" eaLnBrk="1" hangingPunct="1">
              <a:buFontTx/>
              <a:buChar char="•"/>
            </a:pPr>
            <a:endParaRPr lang="zh-CN" altLang="zh-CN" sz="2400"/>
          </a:p>
        </p:txBody>
      </p:sp>
      <p:sp>
        <p:nvSpPr>
          <p:cNvPr id="42" name="直接箭头连接符 4"/>
          <p:cNvSpPr>
            <a:spLocks noChangeShapeType="1"/>
          </p:cNvSpPr>
          <p:nvPr/>
        </p:nvSpPr>
        <p:spPr bwMode="auto">
          <a:xfrm rot="5400000" flipH="1" flipV="1">
            <a:off x="1197900" y="4186932"/>
            <a:ext cx="2782888" cy="1588"/>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3" name="TextBox 5"/>
          <p:cNvSpPr>
            <a:spLocks noChangeArrowheads="1"/>
          </p:cNvSpPr>
          <p:nvPr/>
        </p:nvSpPr>
        <p:spPr bwMode="auto">
          <a:xfrm>
            <a:off x="2253588" y="2796282"/>
            <a:ext cx="393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P</a:t>
            </a:r>
            <a:endParaRPr lang="zh-CN" altLang="en-US" sz="1100">
              <a:solidFill>
                <a:srgbClr val="000000"/>
              </a:solidFill>
              <a:sym typeface="Arial" panose="020B0604020202020204" pitchFamily="34" charset="0"/>
            </a:endParaRPr>
          </a:p>
        </p:txBody>
      </p:sp>
      <p:sp>
        <p:nvSpPr>
          <p:cNvPr id="44" name="TextBox 6"/>
          <p:cNvSpPr>
            <a:spLocks noChangeArrowheads="1"/>
          </p:cNvSpPr>
          <p:nvPr/>
        </p:nvSpPr>
        <p:spPr bwMode="auto">
          <a:xfrm>
            <a:off x="2366300" y="5577582"/>
            <a:ext cx="39211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O</a:t>
            </a:r>
            <a:endParaRPr lang="zh-CN" altLang="en-US" sz="1100">
              <a:solidFill>
                <a:srgbClr val="000000"/>
              </a:solidFill>
              <a:sym typeface="Arial" panose="020B0604020202020204" pitchFamily="34" charset="0"/>
            </a:endParaRPr>
          </a:p>
        </p:txBody>
      </p:sp>
      <p:sp>
        <p:nvSpPr>
          <p:cNvPr id="45" name="TextBox 7"/>
          <p:cNvSpPr>
            <a:spLocks noChangeArrowheads="1"/>
          </p:cNvSpPr>
          <p:nvPr/>
        </p:nvSpPr>
        <p:spPr bwMode="auto">
          <a:xfrm>
            <a:off x="6574763" y="5577582"/>
            <a:ext cx="393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Q</a:t>
            </a:r>
            <a:endParaRPr lang="zh-CN" altLang="en-US">
              <a:solidFill>
                <a:srgbClr val="000000"/>
              </a:solidFill>
              <a:sym typeface="Arial" panose="020B0604020202020204" pitchFamily="34" charset="0"/>
            </a:endParaRPr>
          </a:p>
        </p:txBody>
      </p:sp>
      <p:sp>
        <p:nvSpPr>
          <p:cNvPr id="46" name="直接箭头连接符 8"/>
          <p:cNvSpPr>
            <a:spLocks noChangeShapeType="1"/>
          </p:cNvSpPr>
          <p:nvPr/>
        </p:nvSpPr>
        <p:spPr bwMode="auto">
          <a:xfrm>
            <a:off x="2590138" y="5590282"/>
            <a:ext cx="4210050" cy="1588"/>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7" name="直接连接符 10"/>
          <p:cNvSpPr>
            <a:spLocks noChangeShapeType="1"/>
          </p:cNvSpPr>
          <p:nvPr/>
        </p:nvSpPr>
        <p:spPr bwMode="auto">
          <a:xfrm flipV="1">
            <a:off x="3150525" y="3350320"/>
            <a:ext cx="2582863" cy="1492250"/>
          </a:xfrm>
          <a:prstGeom prst="line">
            <a:avLst/>
          </a:prstGeom>
          <a:noFill/>
          <a:ln w="28575"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直接连接符 17"/>
          <p:cNvSpPr>
            <a:spLocks noChangeShapeType="1"/>
          </p:cNvSpPr>
          <p:nvPr/>
        </p:nvSpPr>
        <p:spPr bwMode="auto">
          <a:xfrm>
            <a:off x="2588551" y="3620193"/>
            <a:ext cx="2528890" cy="76000"/>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 name="直接连接符 20"/>
          <p:cNvSpPr>
            <a:spLocks noChangeShapeType="1"/>
          </p:cNvSpPr>
          <p:nvPr/>
        </p:nvSpPr>
        <p:spPr bwMode="auto">
          <a:xfrm>
            <a:off x="2590138" y="4707632"/>
            <a:ext cx="728659" cy="20082"/>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直接连接符 26"/>
          <p:cNvSpPr>
            <a:spLocks noChangeShapeType="1"/>
          </p:cNvSpPr>
          <p:nvPr/>
        </p:nvSpPr>
        <p:spPr bwMode="auto">
          <a:xfrm rot="5400000" flipV="1">
            <a:off x="4179228" y="4639373"/>
            <a:ext cx="1876424" cy="0"/>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 name="直接连接符 27"/>
          <p:cNvSpPr>
            <a:spLocks noChangeShapeType="1"/>
          </p:cNvSpPr>
          <p:nvPr/>
        </p:nvSpPr>
        <p:spPr bwMode="auto">
          <a:xfrm rot="5400000" flipV="1">
            <a:off x="3609312" y="4869557"/>
            <a:ext cx="1414464" cy="26988"/>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直接连接符 29"/>
          <p:cNvSpPr>
            <a:spLocks noChangeShapeType="1"/>
          </p:cNvSpPr>
          <p:nvPr/>
        </p:nvSpPr>
        <p:spPr bwMode="auto">
          <a:xfrm rot="5400000" flipV="1">
            <a:off x="2893071" y="5164553"/>
            <a:ext cx="851455" cy="2"/>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TextBox 34"/>
          <p:cNvSpPr>
            <a:spLocks noChangeArrowheads="1"/>
          </p:cNvSpPr>
          <p:nvPr/>
        </p:nvSpPr>
        <p:spPr bwMode="auto">
          <a:xfrm>
            <a:off x="5790538" y="3080445"/>
            <a:ext cx="56038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LS</a:t>
            </a:r>
            <a:endParaRPr lang="zh-CN" altLang="en-US" sz="1100" dirty="0">
              <a:solidFill>
                <a:srgbClr val="000000"/>
              </a:solidFill>
              <a:sym typeface="Arial" panose="020B0604020202020204" pitchFamily="34" charset="0"/>
            </a:endParaRPr>
          </a:p>
        </p:txBody>
      </p:sp>
      <p:sp>
        <p:nvSpPr>
          <p:cNvPr id="90" name="TextBox 37"/>
          <p:cNvSpPr>
            <a:spLocks noChangeArrowheads="1"/>
          </p:cNvSpPr>
          <p:nvPr/>
        </p:nvSpPr>
        <p:spPr bwMode="auto">
          <a:xfrm>
            <a:off x="4947575" y="3350320"/>
            <a:ext cx="3365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B</a:t>
            </a:r>
            <a:endParaRPr lang="zh-CN" altLang="en-US" sz="1100" dirty="0">
              <a:solidFill>
                <a:srgbClr val="000000"/>
              </a:solidFill>
              <a:sym typeface="Arial" panose="020B0604020202020204" pitchFamily="34" charset="0"/>
            </a:endParaRPr>
          </a:p>
        </p:txBody>
      </p:sp>
      <p:sp>
        <p:nvSpPr>
          <p:cNvPr id="91" name="TextBox 38"/>
          <p:cNvSpPr>
            <a:spLocks noChangeArrowheads="1"/>
          </p:cNvSpPr>
          <p:nvPr/>
        </p:nvSpPr>
        <p:spPr bwMode="auto">
          <a:xfrm>
            <a:off x="3207675" y="4369495"/>
            <a:ext cx="3365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C</a:t>
            </a:r>
            <a:endParaRPr lang="zh-CN" altLang="en-US" sz="1100" dirty="0">
              <a:solidFill>
                <a:srgbClr val="000000"/>
              </a:solidFill>
              <a:sym typeface="Arial" panose="020B0604020202020204" pitchFamily="34" charset="0"/>
            </a:endParaRPr>
          </a:p>
        </p:txBody>
      </p:sp>
      <p:sp>
        <p:nvSpPr>
          <p:cNvPr id="92" name="TextBox 39"/>
          <p:cNvSpPr>
            <a:spLocks noChangeArrowheads="1"/>
          </p:cNvSpPr>
          <p:nvPr/>
        </p:nvSpPr>
        <p:spPr bwMode="auto">
          <a:xfrm>
            <a:off x="4193493" y="3917851"/>
            <a:ext cx="3365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A</a:t>
            </a:r>
            <a:endParaRPr lang="zh-CN" altLang="en-US" sz="1100" dirty="0">
              <a:solidFill>
                <a:srgbClr val="000000"/>
              </a:solidFill>
              <a:sym typeface="Arial" panose="020B0604020202020204" pitchFamily="34" charset="0"/>
            </a:endParaRPr>
          </a:p>
        </p:txBody>
      </p:sp>
      <p:sp>
        <p:nvSpPr>
          <p:cNvPr id="93" name="TextBox 45"/>
          <p:cNvSpPr>
            <a:spLocks noChangeArrowheads="1"/>
          </p:cNvSpPr>
          <p:nvPr/>
        </p:nvSpPr>
        <p:spPr bwMode="auto">
          <a:xfrm>
            <a:off x="2110713" y="3486845"/>
            <a:ext cx="5365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P</a:t>
            </a:r>
            <a:r>
              <a:rPr lang="en-US" altLang="zh-CN" sz="110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p:sp>
        <p:nvSpPr>
          <p:cNvPr id="94" name="TextBox 46"/>
          <p:cNvSpPr>
            <a:spLocks noChangeArrowheads="1"/>
          </p:cNvSpPr>
          <p:nvPr/>
        </p:nvSpPr>
        <p:spPr bwMode="auto">
          <a:xfrm>
            <a:off x="2182150" y="4029770"/>
            <a:ext cx="4651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P</a:t>
            </a:r>
            <a:r>
              <a:rPr lang="en-US" altLang="zh-CN" sz="1100">
                <a:solidFill>
                  <a:srgbClr val="000000"/>
                </a:solidFill>
                <a:sym typeface="Arial" panose="020B0604020202020204" pitchFamily="34" charset="0"/>
              </a:rPr>
              <a:t>0</a:t>
            </a:r>
            <a:endParaRPr lang="zh-CN" altLang="en-US" sz="1100">
              <a:solidFill>
                <a:srgbClr val="000000"/>
              </a:solidFill>
              <a:sym typeface="Arial" panose="020B0604020202020204" pitchFamily="34" charset="0"/>
            </a:endParaRPr>
          </a:p>
        </p:txBody>
      </p:sp>
      <p:sp>
        <p:nvSpPr>
          <p:cNvPr id="95" name="TextBox 47"/>
          <p:cNvSpPr>
            <a:spLocks noChangeArrowheads="1"/>
          </p:cNvSpPr>
          <p:nvPr/>
        </p:nvSpPr>
        <p:spPr bwMode="auto">
          <a:xfrm>
            <a:off x="2182150" y="4504432"/>
            <a:ext cx="465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P</a:t>
            </a:r>
            <a:r>
              <a:rPr lang="en-US" altLang="zh-CN" sz="1100">
                <a:solidFill>
                  <a:srgbClr val="000000"/>
                </a:solidFill>
                <a:sym typeface="Arial" panose="020B0604020202020204" pitchFamily="34" charset="0"/>
              </a:rPr>
              <a:t>2</a:t>
            </a:r>
            <a:endParaRPr lang="zh-CN" altLang="en-US" sz="1100">
              <a:solidFill>
                <a:srgbClr val="000000"/>
              </a:solidFill>
              <a:sym typeface="Arial" panose="020B0604020202020204" pitchFamily="34" charset="0"/>
            </a:endParaRPr>
          </a:p>
        </p:txBody>
      </p:sp>
      <p:sp>
        <p:nvSpPr>
          <p:cNvPr id="96" name="直接连接符 48"/>
          <p:cNvSpPr>
            <a:spLocks noChangeShapeType="1"/>
          </p:cNvSpPr>
          <p:nvPr/>
        </p:nvSpPr>
        <p:spPr bwMode="auto">
          <a:xfrm>
            <a:off x="2590138" y="4152006"/>
            <a:ext cx="1716067" cy="23813"/>
          </a:xfrm>
          <a:prstGeom prst="line">
            <a:avLst/>
          </a:prstGeom>
          <a:noFill/>
          <a:ln w="9525" cap="flat" cmpd="sng">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TextBox 54"/>
          <p:cNvSpPr>
            <a:spLocks noChangeArrowheads="1"/>
          </p:cNvSpPr>
          <p:nvPr/>
        </p:nvSpPr>
        <p:spPr bwMode="auto">
          <a:xfrm>
            <a:off x="4976150" y="5590281"/>
            <a:ext cx="11477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000000"/>
                </a:solidFill>
                <a:sym typeface="Arial" panose="020B0604020202020204" pitchFamily="34" charset="0"/>
              </a:rPr>
              <a:t>(n+m</a:t>
            </a:r>
            <a:r>
              <a:rPr lang="en-US" altLang="zh-CN" sz="1100" dirty="0">
                <a:solidFill>
                  <a:srgbClr val="000000"/>
                </a:solidFill>
                <a:sym typeface="Arial" panose="020B0604020202020204" pitchFamily="34" charset="0"/>
              </a:rPr>
              <a:t>1</a:t>
            </a:r>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1</a:t>
            </a:r>
            <a:endParaRPr lang="zh-CN" altLang="en-US" sz="1100" dirty="0">
              <a:solidFill>
                <a:srgbClr val="000000"/>
              </a:solidFill>
              <a:sym typeface="Arial" panose="020B0604020202020204" pitchFamily="34" charset="0"/>
            </a:endParaRPr>
          </a:p>
        </p:txBody>
      </p:sp>
      <p:sp>
        <p:nvSpPr>
          <p:cNvPr id="98" name="TextBox 55"/>
          <p:cNvSpPr>
            <a:spLocks noChangeArrowheads="1"/>
          </p:cNvSpPr>
          <p:nvPr/>
        </p:nvSpPr>
        <p:spPr bwMode="auto">
          <a:xfrm>
            <a:off x="2928275" y="5590282"/>
            <a:ext cx="106521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solidFill>
                  <a:srgbClr val="000000"/>
                </a:solidFill>
                <a:sym typeface="Arial" panose="020B0604020202020204" pitchFamily="34" charset="0"/>
              </a:rPr>
              <a:t>(n-m</a:t>
            </a:r>
            <a:r>
              <a:rPr lang="en-US" altLang="zh-CN" sz="1100" dirty="0">
                <a:solidFill>
                  <a:srgbClr val="000000"/>
                </a:solidFill>
                <a:sym typeface="Arial" panose="020B0604020202020204" pitchFamily="34" charset="0"/>
              </a:rPr>
              <a:t>2</a:t>
            </a:r>
            <a:r>
              <a:rPr lang="en-US" altLang="zh-CN" dirty="0">
                <a:solidFill>
                  <a:srgbClr val="000000"/>
                </a:solidFill>
                <a:sym typeface="Arial" panose="020B0604020202020204" pitchFamily="34" charset="0"/>
              </a:rPr>
              <a:t>)Q</a:t>
            </a:r>
            <a:r>
              <a:rPr lang="en-US" altLang="zh-CN" sz="1100" dirty="0">
                <a:solidFill>
                  <a:srgbClr val="000000"/>
                </a:solidFill>
                <a:sym typeface="Arial" panose="020B0604020202020204" pitchFamily="34" charset="0"/>
              </a:rPr>
              <a:t>2</a:t>
            </a:r>
            <a:endParaRPr lang="zh-CN" altLang="en-US" sz="1100" dirty="0">
              <a:solidFill>
                <a:srgbClr val="000000"/>
              </a:solidFill>
              <a:sym typeface="Arial" panose="020B0604020202020204" pitchFamily="34" charset="0"/>
            </a:endParaRPr>
          </a:p>
        </p:txBody>
      </p:sp>
      <p:sp>
        <p:nvSpPr>
          <p:cNvPr id="99" name="TextBox 56"/>
          <p:cNvSpPr>
            <a:spLocks noChangeArrowheads="1"/>
          </p:cNvSpPr>
          <p:nvPr/>
        </p:nvSpPr>
        <p:spPr bwMode="auto">
          <a:xfrm>
            <a:off x="4106200" y="5590282"/>
            <a:ext cx="6159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000000"/>
                </a:solidFill>
                <a:sym typeface="Arial" panose="020B0604020202020204" pitchFamily="34" charset="0"/>
              </a:rPr>
              <a:t>nQ</a:t>
            </a:r>
            <a:r>
              <a:rPr lang="en-US" altLang="zh-CN" sz="1100" dirty="0">
                <a:solidFill>
                  <a:srgbClr val="000000"/>
                </a:solidFill>
                <a:sym typeface="Arial" panose="020B0604020202020204" pitchFamily="34" charset="0"/>
              </a:rPr>
              <a:t>0</a:t>
            </a:r>
            <a:endParaRPr lang="zh-CN" altLang="en-US" sz="1100" dirty="0">
              <a:solidFill>
                <a:srgbClr val="000000"/>
              </a:solidFill>
              <a:sym typeface="Arial" panose="020B0604020202020204" pitchFamily="34" charset="0"/>
            </a:endParaRPr>
          </a:p>
        </p:txBody>
      </p:sp>
      <p:sp>
        <p:nvSpPr>
          <p:cNvPr id="100" name="圆角矩形标注 30"/>
          <p:cNvSpPr>
            <a:spLocks noChangeArrowheads="1"/>
          </p:cNvSpPr>
          <p:nvPr/>
        </p:nvSpPr>
        <p:spPr bwMode="auto">
          <a:xfrm>
            <a:off x="574807" y="1360344"/>
            <a:ext cx="3277144" cy="1340688"/>
          </a:xfrm>
          <a:prstGeom prst="wedgeRoundRectCallout">
            <a:avLst>
              <a:gd name="adj1" fmla="val 61495"/>
              <a:gd name="adj2" fmla="val 146731"/>
              <a:gd name="adj3" fmla="val 16667"/>
            </a:avLst>
          </a:prstGeom>
          <a:noFill/>
          <a:ln w="25400" cap="flat" cmpd="sng">
            <a:solidFill>
              <a:schemeClr val="accent3">
                <a:lumMod val="50000"/>
              </a:schemeClr>
            </a:solidFill>
            <a:miter lim="800000"/>
            <a:headEnd/>
            <a:tailEnd/>
          </a:ln>
        </p:spPr>
        <p:txBody>
          <a:bodyPr anchor="ctr"/>
          <a:lstStyle/>
          <a:p>
            <a:pPr>
              <a:lnSpc>
                <a:spcPct val="150000"/>
              </a:lnSpc>
            </a:pPr>
            <a:r>
              <a:rPr lang="zh-CN" altLang="en-US" sz="1600" dirty="0">
                <a:latin typeface="微软雅黑" panose="020B0503020204020204" pitchFamily="34" charset="-122"/>
                <a:ea typeface="微软雅黑" panose="020B0503020204020204" pitchFamily="34" charset="-122"/>
              </a:rPr>
              <a:t>长期均衡点</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a:t>
            </a:r>
            <a:r>
              <a:rPr lang="zh-CN" altLang="en-US" sz="1600" dirty="0">
                <a:latin typeface="微软雅黑" panose="020B0503020204020204" pitchFamily="34" charset="-122"/>
                <a:ea typeface="微软雅黑" panose="020B0503020204020204" pitchFamily="34" charset="-122"/>
              </a:rPr>
              <a:t>处</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企业的价格和产量分别为</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en-US" altLang="zh-CN" sz="12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0 </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2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0</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市场价格和产量则分别为</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en-US" altLang="zh-CN" sz="12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0</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nQ</a:t>
            </a:r>
            <a:r>
              <a:rPr lang="en-US" altLang="zh-CN" sz="12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0</a:t>
            </a:r>
            <a:r>
              <a:rPr lang="zh-CN" altLang="en-US" sz="12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endPar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101" name="圆角矩形标注 31"/>
          <p:cNvSpPr>
            <a:spLocks noChangeArrowheads="1"/>
          </p:cNvSpPr>
          <p:nvPr/>
        </p:nvSpPr>
        <p:spPr bwMode="auto">
          <a:xfrm>
            <a:off x="6123913" y="3212985"/>
            <a:ext cx="2915654" cy="2269347"/>
          </a:xfrm>
          <a:prstGeom prst="wedgeRoundRectCallout">
            <a:avLst>
              <a:gd name="adj1" fmla="val -78538"/>
              <a:gd name="adj2" fmla="val -27522"/>
              <a:gd name="adj3" fmla="val 16667"/>
            </a:avLst>
          </a:prstGeom>
          <a:noFill/>
          <a:ln w="25400" cap="flat" cmpd="sng">
            <a:solidFill>
              <a:schemeClr val="accent3">
                <a:lumMod val="50000"/>
              </a:schemeClr>
            </a:solidFill>
            <a:miter lim="800000"/>
            <a:headEnd/>
            <a:tailEnd/>
          </a:ln>
        </p:spPr>
        <p:txBody>
          <a:bodyPr anchor="ctr"/>
          <a:lstStyle/>
          <a:p>
            <a:pPr>
              <a:lnSpc>
                <a:spcPct val="150000"/>
              </a:lnSpc>
            </a:pPr>
            <a:r>
              <a:rPr lang="zh-CN" altLang="en-US" sz="1600" dirty="0">
                <a:latin typeface="微软雅黑" panose="020B0503020204020204" pitchFamily="34" charset="-122"/>
                <a:ea typeface="微软雅黑" panose="020B0503020204020204" pitchFamily="34" charset="-122"/>
              </a:rPr>
              <a:t>新长期均衡点</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B</a:t>
            </a:r>
            <a:r>
              <a:rPr lang="zh-CN" altLang="en-US" sz="1600" dirty="0">
                <a:latin typeface="微软雅黑" panose="020B0503020204020204" pitchFamily="34" charset="-122"/>
                <a:ea typeface="微软雅黑" panose="020B0503020204020204" pitchFamily="34" charset="-122"/>
              </a:rPr>
              <a:t>处</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企业的价格和产量分别为</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en-US" altLang="zh-CN" sz="12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1 </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05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1</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市场价格和产量则分别为</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en-US" altLang="zh-CN" sz="12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1</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(n+m</a:t>
            </a:r>
            <a:r>
              <a:rPr lang="en-US" altLang="zh-CN" sz="105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1</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05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1</a:t>
            </a:r>
            <a:r>
              <a:rPr lang="zh-CN" altLang="en-US" sz="105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n</a:t>
            </a:r>
            <a:r>
              <a:rPr lang="zh-CN" altLang="en-US" sz="1600" dirty="0">
                <a:latin typeface="微软雅黑" panose="020B0503020204020204" pitchFamily="34" charset="-122"/>
                <a:ea typeface="微软雅黑" panose="020B0503020204020204" pitchFamily="34" charset="-122"/>
              </a:rPr>
              <a:t>代表原有企业的数量</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m</a:t>
            </a:r>
            <a:r>
              <a:rPr lang="en-US" altLang="zh-CN" sz="11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1</a:t>
            </a:r>
            <a:r>
              <a:rPr lang="zh-CN" altLang="en-US" sz="1600" dirty="0">
                <a:latin typeface="微软雅黑" panose="020B0503020204020204" pitchFamily="34" charset="-122"/>
                <a:ea typeface="微软雅黑" panose="020B0503020204020204" pitchFamily="34" charset="-122"/>
              </a:rPr>
              <a:t>代表新进入企业的数量。</a:t>
            </a:r>
            <a:endParaRPr lang="zh-CN" altLang="en-US" sz="1600" dirty="0">
              <a:solidFill>
                <a:srgbClr val="FFFFFF"/>
              </a:solidFill>
              <a:latin typeface="微软雅黑" panose="020B0503020204020204" pitchFamily="34" charset="-122"/>
              <a:ea typeface="微软雅黑" panose="020B0503020204020204" pitchFamily="34" charset="-122"/>
            </a:endParaRPr>
          </a:p>
        </p:txBody>
      </p:sp>
      <p:sp>
        <p:nvSpPr>
          <p:cNvPr id="102" name="圆角矩形标注 32"/>
          <p:cNvSpPr>
            <a:spLocks noChangeArrowheads="1"/>
          </p:cNvSpPr>
          <p:nvPr/>
        </p:nvSpPr>
        <p:spPr bwMode="auto">
          <a:xfrm>
            <a:off x="8864" y="2830806"/>
            <a:ext cx="2157412" cy="3347251"/>
          </a:xfrm>
          <a:prstGeom prst="wedgeRoundRectCallout">
            <a:avLst>
              <a:gd name="adj1" fmla="val 106853"/>
              <a:gd name="adj2" fmla="val 5220"/>
              <a:gd name="adj3" fmla="val 16667"/>
            </a:avLst>
          </a:prstGeom>
          <a:noFill/>
          <a:ln w="25400" cap="flat" cmpd="sng">
            <a:solidFill>
              <a:schemeClr val="accent3">
                <a:lumMod val="50000"/>
              </a:schemeClr>
            </a:solidFill>
            <a:miter lim="800000"/>
            <a:headEnd/>
            <a:tailEnd/>
          </a:ln>
        </p:spPr>
        <p:txBody>
          <a:bodyPr anchor="ctr"/>
          <a:lstStyle/>
          <a:p>
            <a:pPr>
              <a:lnSpc>
                <a:spcPct val="150000"/>
              </a:lnSpc>
            </a:pPr>
            <a:r>
              <a:rPr lang="zh-CN" altLang="en-US" sz="1600" dirty="0">
                <a:latin typeface="微软雅黑" panose="020B0503020204020204" pitchFamily="34" charset="-122"/>
                <a:ea typeface="微软雅黑" panose="020B0503020204020204" pitchFamily="34" charset="-122"/>
              </a:rPr>
              <a:t>新长期均衡点</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C</a:t>
            </a:r>
            <a:r>
              <a:rPr lang="zh-CN" altLang="en-US" sz="1600" dirty="0">
                <a:latin typeface="微软雅黑" panose="020B0503020204020204" pitchFamily="34" charset="-122"/>
                <a:ea typeface="微软雅黑" panose="020B0503020204020204" pitchFamily="34" charset="-122"/>
              </a:rPr>
              <a:t>处</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企业的价格和产量分别为</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en-US" altLang="zh-CN" sz="12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2 </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1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2</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a:t>
            </a:r>
            <a:r>
              <a:rPr lang="zh-CN" altLang="en-US" sz="1600" dirty="0">
                <a:latin typeface="微软雅黑" panose="020B0503020204020204" pitchFamily="34" charset="-122"/>
                <a:ea typeface="微软雅黑" panose="020B0503020204020204" pitchFamily="34" charset="-122"/>
              </a:rPr>
              <a:t>市场价格和产量则分别为</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P</a:t>
            </a:r>
            <a:r>
              <a:rPr lang="en-US" altLang="zh-CN" sz="12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2</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(n-m</a:t>
            </a:r>
            <a:r>
              <a:rPr lang="en-US" altLang="zh-CN" sz="9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2</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)Q</a:t>
            </a:r>
            <a:r>
              <a:rPr lang="en-US" altLang="zh-CN" sz="11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2</a:t>
            </a:r>
            <a:r>
              <a:rPr lang="zh-CN" altLang="en-US" sz="11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n</a:t>
            </a:r>
            <a:r>
              <a:rPr lang="zh-CN" altLang="en-US" sz="1600" dirty="0">
                <a:latin typeface="微软雅黑" panose="020B0503020204020204" pitchFamily="34" charset="-122"/>
                <a:ea typeface="微软雅黑" panose="020B0503020204020204" pitchFamily="34" charset="-122"/>
              </a:rPr>
              <a:t>代表原有企业的数量</a:t>
            </a:r>
            <a:r>
              <a:rPr lang="en-US" altLang="zh-CN" sz="16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 m</a:t>
            </a:r>
            <a:r>
              <a:rPr lang="en-US" altLang="zh-CN" sz="900" dirty="0">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2</a:t>
            </a:r>
            <a:r>
              <a:rPr lang="zh-CN" altLang="en-US" sz="1600" dirty="0">
                <a:latin typeface="微软雅黑" panose="020B0503020204020204" pitchFamily="34" charset="-122"/>
                <a:ea typeface="微软雅黑" panose="020B0503020204020204" pitchFamily="34" charset="-122"/>
              </a:rPr>
              <a:t>代表退出企业的数量。</a:t>
            </a:r>
            <a:endParaRPr lang="zh-CN" altLang="en-US" sz="1600" dirty="0">
              <a:solidFill>
                <a:srgbClr val="FFFFFF"/>
              </a:solidFill>
              <a:latin typeface="微软雅黑" panose="020B0503020204020204" pitchFamily="34" charset="-122"/>
              <a:ea typeface="微软雅黑" panose="020B0503020204020204" pitchFamily="34" charset="-122"/>
            </a:endParaRPr>
          </a:p>
        </p:txBody>
      </p:sp>
      <p:sp>
        <p:nvSpPr>
          <p:cNvPr id="103" name="圆角矩形标注 35"/>
          <p:cNvSpPr>
            <a:spLocks noChangeArrowheads="1"/>
          </p:cNvSpPr>
          <p:nvPr/>
        </p:nvSpPr>
        <p:spPr bwMode="auto">
          <a:xfrm>
            <a:off x="4171627" y="1211835"/>
            <a:ext cx="4830100" cy="1736646"/>
          </a:xfrm>
          <a:prstGeom prst="wedgeRoundRectCallout">
            <a:avLst>
              <a:gd name="adj1" fmla="val -22929"/>
              <a:gd name="adj2" fmla="val 76463"/>
              <a:gd name="adj3" fmla="val 16667"/>
            </a:avLst>
          </a:prstGeom>
          <a:noFill/>
          <a:ln>
            <a:solidFill>
              <a:schemeClr val="accent3">
                <a:lumMod val="50000"/>
              </a:schemeClr>
            </a:solidFill>
          </a:ln>
        </p:spPr>
        <p:txBody>
          <a:bodyPr wrap="square">
            <a:spAutoFit/>
          </a:bodyPr>
          <a:lstStyle/>
          <a:p>
            <a:pPr>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新企业的进入引起要素价格上升时</a:t>
            </a:r>
            <a:r>
              <a:rPr lang="en-US" altLang="zh-CN"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或者当原有企业的退出引起要素价格下降时</a:t>
            </a:r>
            <a:r>
              <a:rPr lang="en-US" altLang="zh-CN"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完全竞争市场的长期供给量随产品价格的上升而增加</a:t>
            </a:r>
            <a:r>
              <a:rPr lang="en-US" altLang="zh-CN"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反之亦然。</a:t>
            </a:r>
            <a:r>
              <a:rPr lang="zh-CN" altLang="en-US" sz="1600" dirty="0">
                <a:solidFill>
                  <a:srgbClr val="BB1528"/>
                </a:solidFill>
                <a:latin typeface="微软雅黑" panose="020B0503020204020204" pitchFamily="34" charset="-122"/>
                <a:ea typeface="微软雅黑" panose="020B0503020204020204" pitchFamily="34" charset="-122"/>
                <a:sym typeface="Arial" panose="020B0604020202020204" pitchFamily="34" charset="0"/>
              </a:rPr>
              <a:t>完全竞争市场的长期供给曲线向右上方倾斜。</a:t>
            </a:r>
          </a:p>
        </p:txBody>
      </p:sp>
    </p:spTree>
    <p:extLst>
      <p:ext uri="{BB962C8B-B14F-4D97-AF65-F5344CB8AC3E}">
        <p14:creationId xmlns:p14="http://schemas.microsoft.com/office/powerpoint/2010/main" val="60126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randombar(horizontal)">
                                      <p:cBhvr>
                                        <p:cTn id="10" dur="500"/>
                                        <p:tgtEl>
                                          <p:spTgt spid="43"/>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randombar(horizontal)">
                                      <p:cBhvr>
                                        <p:cTn id="13" dur="500"/>
                                        <p:tgtEl>
                                          <p:spTgt spid="44"/>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randombar(horizontal)">
                                      <p:cBhvr>
                                        <p:cTn id="16" dur="500"/>
                                        <p:tgtEl>
                                          <p:spTgt spid="45"/>
                                        </p:tgtEl>
                                      </p:cBhvr>
                                    </p:animEffect>
                                  </p:childTnLst>
                                </p:cTn>
                              </p:par>
                              <p:par>
                                <p:cTn id="17" presetID="22" presetClass="entr" presetSubtype="8"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wipe(left)">
                                      <p:cBhvr>
                                        <p:cTn id="19" dur="500"/>
                                        <p:tgtEl>
                                          <p:spTgt spid="46"/>
                                        </p:tgtEl>
                                      </p:cBhvr>
                                    </p:animEffect>
                                  </p:childTnLst>
                                </p:cTn>
                              </p:par>
                              <p:par>
                                <p:cTn id="20" presetID="22" presetClass="entr" presetSubtype="4" fill="hold" nodeType="with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wipe(down)">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95"/>
                                        </p:tgtEl>
                                        <p:attrNameLst>
                                          <p:attrName>style.visibility</p:attrName>
                                        </p:attrNameLst>
                                      </p:cBhvr>
                                      <p:to>
                                        <p:strVal val="visible"/>
                                      </p:to>
                                    </p:set>
                                    <p:animEffect transition="in" filter="randombar(horizontal)">
                                      <p:cBhvr>
                                        <p:cTn id="27" dur="500"/>
                                        <p:tgtEl>
                                          <p:spTgt spid="95"/>
                                        </p:tgtEl>
                                      </p:cBhvr>
                                    </p:animEffect>
                                  </p:childTnLst>
                                </p:cTn>
                              </p:par>
                              <p:par>
                                <p:cTn id="28" presetID="22" presetClass="entr" presetSubtype="8" fill="hold" nodeType="withEffect">
                                  <p:stCondLst>
                                    <p:cond delay="0"/>
                                  </p:stCondLst>
                                  <p:childTnLst>
                                    <p:set>
                                      <p:cBhvr>
                                        <p:cTn id="29" dur="1" fill="hold">
                                          <p:stCondLst>
                                            <p:cond delay="0"/>
                                          </p:stCondLst>
                                        </p:cTn>
                                        <p:tgtEl>
                                          <p:spTgt spid="85"/>
                                        </p:tgtEl>
                                        <p:attrNameLst>
                                          <p:attrName>style.visibility</p:attrName>
                                        </p:attrNameLst>
                                      </p:cBhvr>
                                      <p:to>
                                        <p:strVal val="visible"/>
                                      </p:to>
                                    </p:set>
                                    <p:animEffect transition="in" filter="wipe(left)">
                                      <p:cBhvr>
                                        <p:cTn id="30" dur="500"/>
                                        <p:tgtEl>
                                          <p:spTgt spid="85"/>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91"/>
                                        </p:tgtEl>
                                        <p:attrNameLst>
                                          <p:attrName>style.visibility</p:attrName>
                                        </p:attrNameLst>
                                      </p:cBhvr>
                                      <p:to>
                                        <p:strVal val="visible"/>
                                      </p:to>
                                    </p:set>
                                    <p:animEffect transition="in" filter="randombar(horizontal)">
                                      <p:cBhvr>
                                        <p:cTn id="33" dur="500"/>
                                        <p:tgtEl>
                                          <p:spTgt spid="91"/>
                                        </p:tgtEl>
                                      </p:cBhvr>
                                    </p:animEffect>
                                  </p:childTnLst>
                                </p:cTn>
                              </p:par>
                              <p:par>
                                <p:cTn id="34" presetID="22" presetClass="entr" presetSubtype="1" fill="hold" nodeType="withEffect">
                                  <p:stCondLst>
                                    <p:cond delay="0"/>
                                  </p:stCondLst>
                                  <p:childTnLst>
                                    <p:set>
                                      <p:cBhvr>
                                        <p:cTn id="35" dur="1" fill="hold">
                                          <p:stCondLst>
                                            <p:cond delay="0"/>
                                          </p:stCondLst>
                                        </p:cTn>
                                        <p:tgtEl>
                                          <p:spTgt spid="88"/>
                                        </p:tgtEl>
                                        <p:attrNameLst>
                                          <p:attrName>style.visibility</p:attrName>
                                        </p:attrNameLst>
                                      </p:cBhvr>
                                      <p:to>
                                        <p:strVal val="visible"/>
                                      </p:to>
                                    </p:set>
                                    <p:animEffect transition="in" filter="wipe(up)">
                                      <p:cBhvr>
                                        <p:cTn id="36" dur="500"/>
                                        <p:tgtEl>
                                          <p:spTgt spid="88"/>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98"/>
                                        </p:tgtEl>
                                        <p:attrNameLst>
                                          <p:attrName>style.visibility</p:attrName>
                                        </p:attrNameLst>
                                      </p:cBhvr>
                                      <p:to>
                                        <p:strVal val="visible"/>
                                      </p:to>
                                    </p:set>
                                    <p:animEffect transition="in" filter="randombar(horizontal)">
                                      <p:cBhvr>
                                        <p:cTn id="41" dur="500"/>
                                        <p:tgtEl>
                                          <p:spTgt spid="98"/>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02"/>
                                        </p:tgtEl>
                                        <p:attrNameLst>
                                          <p:attrName>style.visibility</p:attrName>
                                        </p:attrNameLst>
                                      </p:cBhvr>
                                      <p:to>
                                        <p:strVal val="visible"/>
                                      </p:to>
                                    </p:set>
                                    <p:animEffect>
                                      <p:cBhvr>
                                        <p:cTn id="46" dur="500"/>
                                        <p:tgtEl>
                                          <p:spTgt spid="10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6"/>
                                        </p:tgtEl>
                                        <p:attrNameLst>
                                          <p:attrName>style.visibility</p:attrName>
                                        </p:attrNameLst>
                                      </p:cBhvr>
                                      <p:to>
                                        <p:strVal val="visible"/>
                                      </p:to>
                                    </p:set>
                                    <p:animEffect transition="in" filter="wipe(left)">
                                      <p:cBhvr>
                                        <p:cTn id="51" dur="500"/>
                                        <p:tgtEl>
                                          <p:spTgt spid="96"/>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94"/>
                                        </p:tgtEl>
                                        <p:attrNameLst>
                                          <p:attrName>style.visibility</p:attrName>
                                        </p:attrNameLst>
                                      </p:cBhvr>
                                      <p:to>
                                        <p:strVal val="visible"/>
                                      </p:to>
                                    </p:set>
                                    <p:animEffect>
                                      <p:cBhvr>
                                        <p:cTn id="54" dur="500"/>
                                        <p:tgtEl>
                                          <p:spTgt spid="94"/>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92"/>
                                        </p:tgtEl>
                                        <p:attrNameLst>
                                          <p:attrName>style.visibility</p:attrName>
                                        </p:attrNameLst>
                                      </p:cBhvr>
                                      <p:to>
                                        <p:strVal val="visible"/>
                                      </p:to>
                                    </p:set>
                                    <p:animEffect>
                                      <p:cBhvr>
                                        <p:cTn id="57" dur="500"/>
                                        <p:tgtEl>
                                          <p:spTgt spid="9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87"/>
                                        </p:tgtEl>
                                        <p:attrNameLst>
                                          <p:attrName>style.visibility</p:attrName>
                                        </p:attrNameLst>
                                      </p:cBhvr>
                                      <p:to>
                                        <p:strVal val="visible"/>
                                      </p:to>
                                    </p:set>
                                    <p:animEffect transition="in" filter="wipe(up)">
                                      <p:cBhvr>
                                        <p:cTn id="62" dur="500"/>
                                        <p:tgtEl>
                                          <p:spTgt spid="87"/>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99"/>
                                        </p:tgtEl>
                                        <p:attrNameLst>
                                          <p:attrName>style.visibility</p:attrName>
                                        </p:attrNameLst>
                                      </p:cBhvr>
                                      <p:to>
                                        <p:strVal val="visible"/>
                                      </p:to>
                                    </p:set>
                                    <p:animEffect transition="in" filter="randombar(horizontal)">
                                      <p:cBhvr>
                                        <p:cTn id="67" dur="500"/>
                                        <p:tgtEl>
                                          <p:spTgt spid="99"/>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100"/>
                                        </p:tgtEl>
                                        <p:attrNameLst>
                                          <p:attrName>style.visibility</p:attrName>
                                        </p:attrNameLst>
                                      </p:cBhvr>
                                      <p:to>
                                        <p:strVal val="visible"/>
                                      </p:to>
                                    </p:set>
                                    <p:animEffect transition="in" filter="randombar(horizontal)">
                                      <p:cBhvr>
                                        <p:cTn id="72" dur="500"/>
                                        <p:tgtEl>
                                          <p:spTgt spid="100"/>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grpId="0" nodeType="clickEffect">
                                  <p:stCondLst>
                                    <p:cond delay="0"/>
                                  </p:stCondLst>
                                  <p:childTnLst>
                                    <p:set>
                                      <p:cBhvr>
                                        <p:cTn id="76" dur="1" fill="hold">
                                          <p:stCondLst>
                                            <p:cond delay="0"/>
                                          </p:stCondLst>
                                        </p:cTn>
                                        <p:tgtEl>
                                          <p:spTgt spid="93"/>
                                        </p:tgtEl>
                                        <p:attrNameLst>
                                          <p:attrName>style.visibility</p:attrName>
                                        </p:attrNameLst>
                                      </p:cBhvr>
                                      <p:to>
                                        <p:strVal val="visible"/>
                                      </p:to>
                                    </p:set>
                                    <p:animEffect transition="in" filter="randombar(horizontal)">
                                      <p:cBhvr>
                                        <p:cTn id="77" dur="500"/>
                                        <p:tgtEl>
                                          <p:spTgt spid="9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wipe(left)">
                                      <p:cBhvr>
                                        <p:cTn id="82" dur="500"/>
                                        <p:tgtEl>
                                          <p:spTgt spid="48"/>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90"/>
                                        </p:tgtEl>
                                        <p:attrNameLst>
                                          <p:attrName>style.visibility</p:attrName>
                                        </p:attrNameLst>
                                      </p:cBhvr>
                                      <p:to>
                                        <p:strVal val="visible"/>
                                      </p:to>
                                    </p:set>
                                    <p:animEffect>
                                      <p:cBhvr>
                                        <p:cTn id="85" dur="500"/>
                                        <p:tgtEl>
                                          <p:spTgt spid="9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86"/>
                                        </p:tgtEl>
                                        <p:attrNameLst>
                                          <p:attrName>style.visibility</p:attrName>
                                        </p:attrNameLst>
                                      </p:cBhvr>
                                      <p:to>
                                        <p:strVal val="visible"/>
                                      </p:to>
                                    </p:set>
                                    <p:animEffect transition="in" filter="wipe(up)">
                                      <p:cBhvr>
                                        <p:cTn id="90" dur="500"/>
                                        <p:tgtEl>
                                          <p:spTgt spid="86"/>
                                        </p:tgtEl>
                                      </p:cBhvr>
                                    </p:animEffect>
                                  </p:childTnLst>
                                </p:cTn>
                              </p:par>
                            </p:childTnLst>
                          </p:cTn>
                        </p:par>
                      </p:childTnLst>
                    </p:cTn>
                  </p:par>
                  <p:par>
                    <p:cTn id="91" fill="hold">
                      <p:stCondLst>
                        <p:cond delay="indefinite"/>
                      </p:stCondLst>
                      <p:childTnLst>
                        <p:par>
                          <p:cTn id="92" fill="hold">
                            <p:stCondLst>
                              <p:cond delay="0"/>
                            </p:stCondLst>
                            <p:childTnLst>
                              <p:par>
                                <p:cTn id="93" presetID="14" presetClass="entr" presetSubtype="10" fill="hold" grpId="0" nodeType="clickEffect">
                                  <p:stCondLst>
                                    <p:cond delay="0"/>
                                  </p:stCondLst>
                                  <p:childTnLst>
                                    <p:set>
                                      <p:cBhvr>
                                        <p:cTn id="94" dur="1" fill="hold">
                                          <p:stCondLst>
                                            <p:cond delay="0"/>
                                          </p:stCondLst>
                                        </p:cTn>
                                        <p:tgtEl>
                                          <p:spTgt spid="97"/>
                                        </p:tgtEl>
                                        <p:attrNameLst>
                                          <p:attrName>style.visibility</p:attrName>
                                        </p:attrNameLst>
                                      </p:cBhvr>
                                      <p:to>
                                        <p:strVal val="visible"/>
                                      </p:to>
                                    </p:set>
                                    <p:animEffect transition="in" filter="randombar(horizontal)">
                                      <p:cBhvr>
                                        <p:cTn id="95" dur="500"/>
                                        <p:tgtEl>
                                          <p:spTgt spid="97"/>
                                        </p:tgtEl>
                                      </p:cBhvr>
                                    </p:animEffec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grpId="0" nodeType="clickEffect">
                                  <p:stCondLst>
                                    <p:cond delay="0"/>
                                  </p:stCondLst>
                                  <p:childTnLst>
                                    <p:set>
                                      <p:cBhvr>
                                        <p:cTn id="99" dur="1" fill="hold">
                                          <p:stCondLst>
                                            <p:cond delay="0"/>
                                          </p:stCondLst>
                                        </p:cTn>
                                        <p:tgtEl>
                                          <p:spTgt spid="101"/>
                                        </p:tgtEl>
                                        <p:attrNameLst>
                                          <p:attrName>style.visibility</p:attrName>
                                        </p:attrNameLst>
                                      </p:cBhvr>
                                      <p:to>
                                        <p:strVal val="visible"/>
                                      </p:to>
                                    </p:set>
                                    <p:animEffect transition="in" filter="randombar(horizontal)">
                                      <p:cBhvr>
                                        <p:cTn id="100" dur="500"/>
                                        <p:tgtEl>
                                          <p:spTgt spid="101"/>
                                        </p:tgtEl>
                                      </p:cBhvr>
                                    </p:animEffect>
                                  </p:childTnLst>
                                </p:cTn>
                              </p:par>
                            </p:childTnLst>
                          </p:cTn>
                        </p:par>
                      </p:childTnLst>
                    </p:cTn>
                  </p:par>
                  <p:par>
                    <p:cTn id="101" fill="hold">
                      <p:stCondLst>
                        <p:cond delay="indefinite"/>
                      </p:stCondLst>
                      <p:childTnLst>
                        <p:par>
                          <p:cTn id="102" fill="hold">
                            <p:stCondLst>
                              <p:cond delay="0"/>
                            </p:stCondLst>
                            <p:childTnLst>
                              <p:par>
                                <p:cTn id="103" presetID="14" presetClass="entr" presetSubtype="10" fill="hold" grpId="0" nodeType="clickEffect">
                                  <p:stCondLst>
                                    <p:cond delay="0"/>
                                  </p:stCondLst>
                                  <p:childTnLst>
                                    <p:set>
                                      <p:cBhvr>
                                        <p:cTn id="104" dur="1" fill="hold">
                                          <p:stCondLst>
                                            <p:cond delay="0"/>
                                          </p:stCondLst>
                                        </p:cTn>
                                        <p:tgtEl>
                                          <p:spTgt spid="89"/>
                                        </p:tgtEl>
                                        <p:attrNameLst>
                                          <p:attrName>style.visibility</p:attrName>
                                        </p:attrNameLst>
                                      </p:cBhvr>
                                      <p:to>
                                        <p:strVal val="visible"/>
                                      </p:to>
                                    </p:set>
                                    <p:animEffect transition="in" filter="randombar(horizontal)">
                                      <p:cBhvr>
                                        <p:cTn id="105" dur="500"/>
                                        <p:tgtEl>
                                          <p:spTgt spid="89"/>
                                        </p:tgtEl>
                                      </p:cBhvr>
                                    </p:animEffect>
                                  </p:childTnLst>
                                </p:cTn>
                              </p:par>
                            </p:childTnLst>
                          </p:cTn>
                        </p:par>
                      </p:childTnLst>
                    </p:cTn>
                  </p:par>
                  <p:par>
                    <p:cTn id="106" fill="hold">
                      <p:stCondLst>
                        <p:cond delay="indefinite"/>
                      </p:stCondLst>
                      <p:childTnLst>
                        <p:par>
                          <p:cTn id="107" fill="hold">
                            <p:stCondLst>
                              <p:cond delay="0"/>
                            </p:stCondLst>
                            <p:childTnLst>
                              <p:par>
                                <p:cTn id="108" presetID="14" presetClass="entr" presetSubtype="10" fill="hold" grpId="0" nodeType="clickEffect">
                                  <p:stCondLst>
                                    <p:cond delay="0"/>
                                  </p:stCondLst>
                                  <p:childTnLst>
                                    <p:set>
                                      <p:cBhvr>
                                        <p:cTn id="109" dur="1" fill="hold">
                                          <p:stCondLst>
                                            <p:cond delay="0"/>
                                          </p:stCondLst>
                                        </p:cTn>
                                        <p:tgtEl>
                                          <p:spTgt spid="103"/>
                                        </p:tgtEl>
                                        <p:attrNameLst>
                                          <p:attrName>style.visibility</p:attrName>
                                        </p:attrNameLst>
                                      </p:cBhvr>
                                      <p:to>
                                        <p:strVal val="visible"/>
                                      </p:to>
                                    </p:set>
                                    <p:animEffect transition="in" filter="randombar(horizontal)">
                                      <p:cBhvr>
                                        <p:cTn id="110"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utoUpdateAnimBg="0"/>
      <p:bldP spid="44" grpId="0" bldLvl="0" autoUpdateAnimBg="0"/>
      <p:bldP spid="45" grpId="0" bldLvl="0" autoUpdateAnimBg="0"/>
      <p:bldP spid="48" grpId="0" animBg="1"/>
      <p:bldP spid="86" grpId="0" animBg="1"/>
      <p:bldP spid="87" grpId="0" animBg="1"/>
      <p:bldP spid="89" grpId="0"/>
      <p:bldP spid="90" grpId="0" bldLvl="0" autoUpdateAnimBg="0"/>
      <p:bldP spid="91" grpId="0" bldLvl="0" autoUpdateAnimBg="0"/>
      <p:bldP spid="92" grpId="0" bldLvl="0" autoUpdateAnimBg="0"/>
      <p:bldP spid="93" grpId="0"/>
      <p:bldP spid="94" grpId="0" bldLvl="0" autoUpdateAnimBg="0"/>
      <p:bldP spid="95" grpId="0" bldLvl="0" autoUpdateAnimBg="0"/>
      <p:bldP spid="96" grpId="0" animBg="1"/>
      <p:bldP spid="97" grpId="0"/>
      <p:bldP spid="98" grpId="0"/>
      <p:bldP spid="99" grpId="0"/>
      <p:bldP spid="100" grpId="0" animBg="1"/>
      <p:bldP spid="101" grpId="0" animBg="1"/>
      <p:bldP spid="102" grpId="0" bldLvl="0" animBg="1" autoUpdateAnimBg="0"/>
      <p:bldP spid="103"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F68E5273-CD77-47B9-B841-9D29349C133D}"/>
              </a:ext>
            </a:extLst>
          </p:cNvPr>
          <p:cNvSpPr/>
          <p:nvPr/>
        </p:nvSpPr>
        <p:spPr>
          <a:xfrm>
            <a:off x="467544" y="548680"/>
            <a:ext cx="288037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r>
              <a:rPr lang="zh-CN" altLang="en-US" sz="2400" b="1" spc="150" dirty="0">
                <a:solidFill>
                  <a:srgbClr val="FFFFFF"/>
                </a:solidFill>
                <a:latin typeface="微软雅黑" panose="020B0503020204020204" pitchFamily="34" charset="-122"/>
                <a:ea typeface="微软雅黑" panose="020B0503020204020204" pitchFamily="34" charset="-122"/>
              </a:rPr>
              <a:t>四、长期供给曲线</a:t>
            </a:r>
          </a:p>
        </p:txBody>
      </p:sp>
      <p:sp>
        <p:nvSpPr>
          <p:cNvPr id="9" name="矩形 8">
            <a:extLst>
              <a:ext uri="{FF2B5EF4-FFF2-40B4-BE49-F238E27FC236}">
                <a16:creationId xmlns:a16="http://schemas.microsoft.com/office/drawing/2014/main" id="{88E64304-A318-44E5-8B2C-DCEFC99551AF}"/>
              </a:ext>
            </a:extLst>
          </p:cNvPr>
          <p:cNvSpPr/>
          <p:nvPr/>
        </p:nvSpPr>
        <p:spPr>
          <a:xfrm>
            <a:off x="4427990" y="0"/>
            <a:ext cx="4612160" cy="646331"/>
          </a:xfrm>
          <a:prstGeom prst="rect">
            <a:avLst/>
          </a:prstGeom>
        </p:spPr>
        <p:txBody>
          <a:bodyPr wrap="none">
            <a:spAutoFit/>
          </a:bodyPr>
          <a:lstStyle/>
          <a:p>
            <a:r>
              <a:rPr lang="zh-CN" altLang="en-US" spc="150" dirty="0">
                <a:solidFill>
                  <a:srgbClr val="000000"/>
                </a:solidFill>
                <a:latin typeface="微软雅黑" panose="020B0503020204020204" pitchFamily="34" charset="-122"/>
                <a:ea typeface="微软雅黑" panose="020B0503020204020204" pitchFamily="34" charset="-122"/>
              </a:rPr>
              <a:t>第四节  完全竞争企业和市场的长期均衡</a:t>
            </a:r>
            <a:br>
              <a:rPr lang="zh-CN" altLang="en-US" spc="150" dirty="0">
                <a:solidFill>
                  <a:srgbClr val="000000"/>
                </a:solidFill>
                <a:latin typeface="微软雅黑" panose="020B0503020204020204" pitchFamily="34" charset="-122"/>
                <a:ea typeface="微软雅黑" panose="020B0503020204020204" pitchFamily="34" charset="-122"/>
              </a:rPr>
            </a:br>
            <a:r>
              <a:rPr lang="zh-CN" altLang="en-US" spc="150" dirty="0">
                <a:solidFill>
                  <a:srgbClr val="000000"/>
                </a:solidFill>
                <a:latin typeface="微软雅黑" panose="020B0503020204020204" pitchFamily="34" charset="-122"/>
                <a:ea typeface="微软雅黑" panose="020B0503020204020204" pitchFamily="34" charset="-122"/>
              </a:rPr>
              <a:t> </a:t>
            </a:r>
          </a:p>
        </p:txBody>
      </p:sp>
      <p:sp>
        <p:nvSpPr>
          <p:cNvPr id="50" name="Rectangle 3"/>
          <p:cNvSpPr txBox="1">
            <a:spLocks noChangeArrowheads="1"/>
          </p:cNvSpPr>
          <p:nvPr/>
        </p:nvSpPr>
        <p:spPr bwMode="auto">
          <a:xfrm flipV="1">
            <a:off x="898755" y="6236633"/>
            <a:ext cx="822960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defTabSz="0" rtl="0" eaLnBrk="0" fontAlgn="base" hangingPunct="0">
              <a:spcBef>
                <a:spcPct val="20000"/>
              </a:spcBef>
              <a:spcAft>
                <a:spcPct val="0"/>
              </a:spcAft>
              <a:buNone/>
              <a:defRPr sz="2400" b="1" kern="1200">
                <a:solidFill>
                  <a:srgbClr val="CC0000"/>
                </a:solidFill>
                <a:latin typeface="+mn-lt"/>
                <a:ea typeface="+mn-ea"/>
                <a:cs typeface="+mn-cs"/>
                <a:sym typeface="Arial" panose="020B0604020202020204" pitchFamily="34" charset="0"/>
              </a:defRPr>
            </a:lvl1pPr>
            <a:lvl2pPr marL="457200" indent="0" algn="ctr" defTabSz="0" rtl="0" eaLnBrk="0" fontAlgn="base" hangingPunct="0">
              <a:spcBef>
                <a:spcPct val="20000"/>
              </a:spcBef>
              <a:spcAft>
                <a:spcPct val="0"/>
              </a:spcAft>
              <a:buNone/>
              <a:defRPr sz="2000" b="1" kern="1200">
                <a:solidFill>
                  <a:schemeClr val="tx1"/>
                </a:solidFill>
                <a:latin typeface="+mn-lt"/>
                <a:ea typeface="+mn-ea"/>
                <a:cs typeface="+mn-cs"/>
                <a:sym typeface="Arial" panose="020B0604020202020204" pitchFamily="34" charset="0"/>
              </a:defRPr>
            </a:lvl2pPr>
            <a:lvl3pPr marL="914400" indent="0" algn="ctr" defTabSz="0" rtl="0" eaLnBrk="0" fontAlgn="base" hangingPunct="0">
              <a:spcBef>
                <a:spcPct val="20000"/>
              </a:spcBef>
              <a:spcAft>
                <a:spcPct val="0"/>
              </a:spcAft>
              <a:buNone/>
              <a:defRPr sz="1800" b="1" kern="1200">
                <a:solidFill>
                  <a:schemeClr val="tx1"/>
                </a:solidFill>
                <a:latin typeface="+mn-lt"/>
                <a:ea typeface="+mn-ea"/>
                <a:cs typeface="+mn-cs"/>
                <a:sym typeface="Arial" panose="020B0604020202020204" pitchFamily="34" charset="0"/>
              </a:defRPr>
            </a:lvl3pPr>
            <a:lvl4pPr marL="13716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4pPr>
            <a:lvl5pPr marL="1828800" indent="0" algn="ctr" defTabSz="0" rtl="0" eaLnBrk="0" fontAlgn="base" hangingPunct="0">
              <a:spcBef>
                <a:spcPct val="20000"/>
              </a:spcBef>
              <a:spcAft>
                <a:spcPct val="0"/>
              </a:spcAft>
              <a:buNone/>
              <a:defRPr sz="1600" b="1" kern="1200">
                <a:solidFill>
                  <a:schemeClr val="tx1"/>
                </a:solidFill>
                <a:latin typeface="+mn-lt"/>
                <a:ea typeface="+mn-ea"/>
                <a:cs typeface="+mn-cs"/>
                <a:sym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143000" lvl="2" indent="-228600" algn="l" eaLnBrk="1" hangingPunct="1">
              <a:buFontTx/>
              <a:buChar char="•"/>
            </a:pPr>
            <a:endParaRPr lang="zh-CN" altLang="zh-CN" sz="2400" dirty="0"/>
          </a:p>
          <a:p>
            <a:pPr marL="1143000" lvl="2" indent="-228600" algn="l" eaLnBrk="1" hangingPunct="1">
              <a:buFontTx/>
              <a:buChar char="•"/>
            </a:pPr>
            <a:endParaRPr lang="zh-CN" altLang="zh-CN" sz="2400" dirty="0"/>
          </a:p>
        </p:txBody>
      </p:sp>
      <p:sp>
        <p:nvSpPr>
          <p:cNvPr id="51" name="直接箭头连接符 4"/>
          <p:cNvSpPr>
            <a:spLocks noChangeShapeType="1"/>
          </p:cNvSpPr>
          <p:nvPr/>
        </p:nvSpPr>
        <p:spPr bwMode="auto">
          <a:xfrm rot="5400000" flipH="1" flipV="1">
            <a:off x="2057630" y="3850620"/>
            <a:ext cx="2782888" cy="1588"/>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2" name="TextBox 5"/>
          <p:cNvSpPr>
            <a:spLocks noChangeArrowheads="1"/>
          </p:cNvSpPr>
          <p:nvPr/>
        </p:nvSpPr>
        <p:spPr bwMode="auto">
          <a:xfrm>
            <a:off x="3116121" y="2361545"/>
            <a:ext cx="393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P</a:t>
            </a:r>
            <a:endParaRPr lang="zh-CN" altLang="en-US" sz="1100">
              <a:solidFill>
                <a:srgbClr val="000000"/>
              </a:solidFill>
              <a:sym typeface="Arial" panose="020B0604020202020204" pitchFamily="34" charset="0"/>
            </a:endParaRPr>
          </a:p>
        </p:txBody>
      </p:sp>
      <p:sp>
        <p:nvSpPr>
          <p:cNvPr id="53" name="TextBox 6"/>
          <p:cNvSpPr>
            <a:spLocks noChangeArrowheads="1"/>
          </p:cNvSpPr>
          <p:nvPr/>
        </p:nvSpPr>
        <p:spPr bwMode="auto">
          <a:xfrm>
            <a:off x="3226030" y="5241270"/>
            <a:ext cx="39211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O</a:t>
            </a:r>
            <a:endParaRPr lang="zh-CN" altLang="en-US" sz="1100">
              <a:solidFill>
                <a:srgbClr val="000000"/>
              </a:solidFill>
              <a:sym typeface="Arial" panose="020B0604020202020204" pitchFamily="34" charset="0"/>
            </a:endParaRPr>
          </a:p>
        </p:txBody>
      </p:sp>
      <p:sp>
        <p:nvSpPr>
          <p:cNvPr id="54" name="TextBox 7"/>
          <p:cNvSpPr>
            <a:spLocks noChangeArrowheads="1"/>
          </p:cNvSpPr>
          <p:nvPr/>
        </p:nvSpPr>
        <p:spPr bwMode="auto">
          <a:xfrm>
            <a:off x="7434493" y="5241270"/>
            <a:ext cx="393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Q</a:t>
            </a:r>
            <a:endParaRPr lang="zh-CN" altLang="en-US">
              <a:solidFill>
                <a:srgbClr val="000000"/>
              </a:solidFill>
              <a:sym typeface="Arial" panose="020B0604020202020204" pitchFamily="34" charset="0"/>
            </a:endParaRPr>
          </a:p>
        </p:txBody>
      </p:sp>
      <p:sp>
        <p:nvSpPr>
          <p:cNvPr id="55" name="直接箭头连接符 8"/>
          <p:cNvSpPr>
            <a:spLocks noChangeShapeType="1"/>
          </p:cNvSpPr>
          <p:nvPr/>
        </p:nvSpPr>
        <p:spPr bwMode="auto">
          <a:xfrm>
            <a:off x="3449868" y="5236508"/>
            <a:ext cx="4210050" cy="1587"/>
          </a:xfrm>
          <a:prstGeom prst="straightConnector1">
            <a:avLst/>
          </a:prstGeom>
          <a:noFill/>
          <a:ln w="28575" cap="flat" cmpd="sng">
            <a:solidFill>
              <a:schemeClr val="tx1"/>
            </a:solidFill>
            <a:miter lim="800000"/>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56" name="直接连接符 12"/>
          <p:cNvSpPr>
            <a:spLocks noChangeShapeType="1"/>
          </p:cNvSpPr>
          <p:nvPr/>
        </p:nvSpPr>
        <p:spPr bwMode="auto">
          <a:xfrm>
            <a:off x="4067405" y="3355320"/>
            <a:ext cx="2638425" cy="1084263"/>
          </a:xfrm>
          <a:prstGeom prst="line">
            <a:avLst/>
          </a:prstGeom>
          <a:noFill/>
          <a:ln w="28575"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直接连接符 16"/>
          <p:cNvSpPr>
            <a:spLocks noChangeShapeType="1"/>
          </p:cNvSpPr>
          <p:nvPr/>
        </p:nvSpPr>
        <p:spPr bwMode="auto">
          <a:xfrm>
            <a:off x="4010255" y="3828395"/>
            <a:ext cx="2640013" cy="1588"/>
          </a:xfrm>
          <a:prstGeom prst="line">
            <a:avLst/>
          </a:prstGeom>
          <a:noFill/>
          <a:ln w="28575" cap="flat" cmpd="sng">
            <a:solidFill>
              <a:srgbClr val="0070C0"/>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TextBox 33"/>
          <p:cNvSpPr>
            <a:spLocks noChangeArrowheads="1"/>
          </p:cNvSpPr>
          <p:nvPr/>
        </p:nvSpPr>
        <p:spPr bwMode="auto">
          <a:xfrm>
            <a:off x="6481993" y="3450570"/>
            <a:ext cx="560387"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LS</a:t>
            </a:r>
            <a:r>
              <a:rPr lang="en-US" altLang="zh-CN" sz="1100">
                <a:solidFill>
                  <a:srgbClr val="000000"/>
                </a:solidFill>
                <a:sym typeface="Arial" panose="020B0604020202020204" pitchFamily="34" charset="0"/>
              </a:rPr>
              <a:t>1</a:t>
            </a:r>
            <a:endParaRPr lang="zh-CN" altLang="en-US" sz="1100">
              <a:solidFill>
                <a:srgbClr val="000000"/>
              </a:solidFill>
              <a:sym typeface="Arial" panose="020B0604020202020204" pitchFamily="34" charset="0"/>
            </a:endParaRPr>
          </a:p>
        </p:txBody>
      </p:sp>
      <p:sp>
        <p:nvSpPr>
          <p:cNvPr id="59" name="TextBox 35"/>
          <p:cNvSpPr>
            <a:spLocks noChangeArrowheads="1"/>
          </p:cNvSpPr>
          <p:nvPr/>
        </p:nvSpPr>
        <p:spPr bwMode="auto">
          <a:xfrm>
            <a:off x="6705830" y="4439583"/>
            <a:ext cx="56038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0000"/>
                </a:solidFill>
                <a:sym typeface="Arial" panose="020B0604020202020204" pitchFamily="34" charset="0"/>
              </a:rPr>
              <a:t>LS</a:t>
            </a:r>
            <a:r>
              <a:rPr lang="en-US" altLang="zh-CN" sz="1100">
                <a:solidFill>
                  <a:srgbClr val="000000"/>
                </a:solidFill>
                <a:sym typeface="Arial" panose="020B0604020202020204" pitchFamily="34" charset="0"/>
              </a:rPr>
              <a:t>2</a:t>
            </a:r>
            <a:endParaRPr lang="zh-CN" altLang="en-US" sz="1100">
              <a:solidFill>
                <a:srgbClr val="000000"/>
              </a:solidFill>
              <a:sym typeface="Arial" panose="020B0604020202020204" pitchFamily="34" charset="0"/>
            </a:endParaRPr>
          </a:p>
        </p:txBody>
      </p:sp>
      <p:sp>
        <p:nvSpPr>
          <p:cNvPr id="60" name="线形标注 1 35"/>
          <p:cNvSpPr>
            <a:spLocks/>
          </p:cNvSpPr>
          <p:nvPr/>
        </p:nvSpPr>
        <p:spPr bwMode="auto">
          <a:xfrm>
            <a:off x="688027" y="2713970"/>
            <a:ext cx="2630487" cy="2677656"/>
          </a:xfrm>
          <a:prstGeom prst="borderCallout1">
            <a:avLst>
              <a:gd name="adj1" fmla="val 33"/>
              <a:gd name="adj2" fmla="val 99732"/>
              <a:gd name="adj3" fmla="val 41958"/>
              <a:gd name="adj4" fmla="val 131800"/>
            </a:avLst>
          </a:prstGeom>
          <a:noFill/>
          <a:ln w="28575" cmpd="sng">
            <a:solidFill>
              <a:schemeClr val="accent3">
                <a:lumMod val="50000"/>
              </a:schemeClr>
            </a:solidFill>
            <a:miter lim="800000"/>
            <a:headEnd/>
            <a:tailEnd/>
          </a:ln>
        </p:spPr>
        <p:txBody>
          <a:bodyPr wrap="square">
            <a:spAutoFit/>
          </a:bodyPr>
          <a:lstStyle/>
          <a:p>
            <a:pPr>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当行业对生产要素的需求量只占要素市场需求量很小一部分时</a:t>
            </a:r>
            <a:r>
              <a:rPr lang="en-US" altLang="zh-CN"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进出的调整不会影响要素价格。</a:t>
            </a:r>
            <a:r>
              <a:rPr lang="zh-CN" altLang="en-US" sz="1600" dirty="0">
                <a:solidFill>
                  <a:srgbClr val="BB1528"/>
                </a:solidFill>
                <a:latin typeface="微软雅黑" panose="020B0503020204020204" pitchFamily="34" charset="-122"/>
                <a:ea typeface="微软雅黑" panose="020B0503020204020204" pitchFamily="34" charset="-122"/>
                <a:sym typeface="Arial" panose="020B0604020202020204" pitchFamily="34" charset="0"/>
              </a:rPr>
              <a:t>完全竞争市场的长期供给曲线水平</a:t>
            </a: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，产品价格不变，但厂商数量和市场产品供给量增加。</a:t>
            </a:r>
            <a:endParaRPr lang="zh-CN" altLang="en-US" sz="1600" dirty="0">
              <a:latin typeface="微软雅黑" panose="020B0503020204020204" pitchFamily="34" charset="-122"/>
              <a:ea typeface="微软雅黑" panose="020B0503020204020204" pitchFamily="34" charset="-122"/>
            </a:endParaRPr>
          </a:p>
        </p:txBody>
      </p:sp>
      <p:sp>
        <p:nvSpPr>
          <p:cNvPr id="61" name="圆角矩形标注 37"/>
          <p:cNvSpPr>
            <a:spLocks noChangeArrowheads="1"/>
          </p:cNvSpPr>
          <p:nvPr/>
        </p:nvSpPr>
        <p:spPr bwMode="auto">
          <a:xfrm>
            <a:off x="4067405" y="1538185"/>
            <a:ext cx="4612160" cy="1328023"/>
          </a:xfrm>
          <a:prstGeom prst="wedgeRoundRectCallout">
            <a:avLst>
              <a:gd name="adj1" fmla="val -31650"/>
              <a:gd name="adj2" fmla="val 77314"/>
              <a:gd name="adj3" fmla="val 16667"/>
            </a:avLst>
          </a:prstGeom>
          <a:noFill/>
          <a:ln w="28575">
            <a:solidFill>
              <a:schemeClr val="accent3">
                <a:lumMod val="50000"/>
              </a:schemeClr>
            </a:solidFill>
          </a:ln>
        </p:spPr>
        <p:txBody>
          <a:bodyPr wrap="square">
            <a:spAutoFit/>
          </a:bodyPr>
          <a:lstStyle/>
          <a:p>
            <a:pPr>
              <a:lnSpc>
                <a:spcPct val="150000"/>
              </a:lnSpc>
            </a:pP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如果在要素市场上存在“外部经济”当要素价格随着新企业的进入</a:t>
            </a:r>
            <a:r>
              <a:rPr lang="en-US" altLang="zh-CN"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或原有企业的退出</a:t>
            </a:r>
            <a:r>
              <a:rPr lang="en-US" altLang="zh-CN"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不升反降</a:t>
            </a:r>
            <a:r>
              <a:rPr lang="en-US" altLang="zh-CN"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或不降反升</a:t>
            </a:r>
            <a:r>
              <a:rPr lang="en-US" altLang="zh-CN"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时</a:t>
            </a:r>
            <a:r>
              <a:rPr lang="en-US" altLang="zh-CN" sz="1600" dirty="0">
                <a:solidFill>
                  <a:srgbClr val="00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1600" dirty="0">
                <a:solidFill>
                  <a:srgbClr val="BB1528"/>
                </a:solidFill>
                <a:latin typeface="微软雅黑" panose="020B0503020204020204" pitchFamily="34" charset="-122"/>
                <a:ea typeface="微软雅黑" panose="020B0503020204020204" pitchFamily="34" charset="-122"/>
                <a:sym typeface="Arial" panose="020B0604020202020204" pitchFamily="34" charset="0"/>
              </a:rPr>
              <a:t>长期供给曲线向右下方倾斜。</a:t>
            </a:r>
            <a:endParaRPr lang="zh-CN" altLang="en-US" sz="1600" dirty="0">
              <a:solidFill>
                <a:srgbClr val="BB1528"/>
              </a:solidFill>
              <a:latin typeface="微软雅黑" panose="020B0503020204020204" pitchFamily="34" charset="-122"/>
              <a:ea typeface="微软雅黑" panose="020B0503020204020204" pitchFamily="34" charset="-122"/>
            </a:endParaRPr>
          </a:p>
        </p:txBody>
      </p:sp>
      <p:sp>
        <p:nvSpPr>
          <p:cNvPr id="2" name="标注: 线形 1">
            <a:extLst>
              <a:ext uri="{FF2B5EF4-FFF2-40B4-BE49-F238E27FC236}">
                <a16:creationId xmlns:a16="http://schemas.microsoft.com/office/drawing/2014/main" id="{248E3123-DC73-452F-B16F-6B64B61ACD4B}"/>
              </a:ext>
            </a:extLst>
          </p:cNvPr>
          <p:cNvSpPr/>
          <p:nvPr/>
        </p:nvSpPr>
        <p:spPr bwMode="auto">
          <a:xfrm>
            <a:off x="7266218" y="2935228"/>
            <a:ext cx="1770754" cy="3220156"/>
          </a:xfrm>
          <a:prstGeom prst="borderCallout1">
            <a:avLst>
              <a:gd name="adj1" fmla="val 18750"/>
              <a:gd name="adj2" fmla="val -8333"/>
              <a:gd name="adj3" fmla="val 39348"/>
              <a:gd name="adj4" fmla="val -1921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结合前面可以总结：</a:t>
            </a:r>
            <a:endParaRPr lang="en-US" altLang="zh-CN" sz="1200" dirty="0"/>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 </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完全竞争条件下，如果产品价格上升导致相应的要素价格上涨，从而企业长期平均成本曲线最低点上升，则长期供给曲线是右上方倾斜的；</a:t>
            </a:r>
            <a:endParaRPr lang="en-US" altLang="zh-CN" sz="1200" dirty="0"/>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 </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如果产品价格上升导致要素价格下跌，从而长期平均成本曲线最低点下降，则长期供给曲线是右下倾斜的；</a:t>
            </a:r>
            <a:endParaRPr lang="en-US" altLang="zh-CN" sz="1200" dirty="0"/>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zh-CN"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r>
              <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如果产品价格上升后并没有引起要素价格变化，从而长期平均成本曲线最低点没有变化，则长期供给曲线是水平的。</a:t>
            </a:r>
          </a:p>
        </p:txBody>
      </p:sp>
    </p:spTree>
    <p:extLst>
      <p:ext uri="{BB962C8B-B14F-4D97-AF65-F5344CB8AC3E}">
        <p14:creationId xmlns:p14="http://schemas.microsoft.com/office/powerpoint/2010/main" val="36216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down)">
                                      <p:cBhvr>
                                        <p:cTn id="7" dur="500"/>
                                        <p:tgtEl>
                                          <p:spTgt spid="51"/>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randombar(horizontal)">
                                      <p:cBhvr>
                                        <p:cTn id="10" dur="500"/>
                                        <p:tgtEl>
                                          <p:spTgt spid="52"/>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randombar(horizontal)">
                                      <p:cBhvr>
                                        <p:cTn id="13" dur="500"/>
                                        <p:tgtEl>
                                          <p:spTgt spid="53"/>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randombar(horizontal)">
                                      <p:cBhvr>
                                        <p:cTn id="16" dur="500"/>
                                        <p:tgtEl>
                                          <p:spTgt spid="54"/>
                                        </p:tgtEl>
                                      </p:cBhvr>
                                    </p:animEffect>
                                  </p:childTnLst>
                                </p:cTn>
                              </p:par>
                              <p:par>
                                <p:cTn id="17" presetID="22" presetClass="entr" presetSubtype="8" fill="hold"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left)">
                                      <p:cBhvr>
                                        <p:cTn id="19" dur="500"/>
                                        <p:tgtEl>
                                          <p:spTgt spid="5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wipe(down)">
                                      <p:cBhvr>
                                        <p:cTn id="24" dur="500"/>
                                        <p:tgtEl>
                                          <p:spTgt spid="6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7"/>
                                        </p:tgtEl>
                                        <p:attrNameLst>
                                          <p:attrName>style.visibility</p:attrName>
                                        </p:attrNameLst>
                                      </p:cBhvr>
                                      <p:to>
                                        <p:strVal val="visible"/>
                                      </p:to>
                                    </p:set>
                                    <p:animEffect transition="in" filter="wipe(left)">
                                      <p:cBhvr>
                                        <p:cTn id="29" dur="500"/>
                                        <p:tgtEl>
                                          <p:spTgt spid="5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58"/>
                                        </p:tgtEl>
                                        <p:attrNameLst>
                                          <p:attrName>style.visibility</p:attrName>
                                        </p:attrNameLst>
                                      </p:cBhvr>
                                      <p:to>
                                        <p:strVal val="visible"/>
                                      </p:to>
                                    </p:set>
                                    <p:animEffect transition="in" filter="randombar(horizontal)">
                                      <p:cBhvr>
                                        <p:cTn id="32" dur="500"/>
                                        <p:tgtEl>
                                          <p:spTgt spid="5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wipe(left)">
                                      <p:cBhvr>
                                        <p:cTn id="37" dur="500"/>
                                        <p:tgtEl>
                                          <p:spTgt spid="56"/>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59"/>
                                        </p:tgtEl>
                                        <p:attrNameLst>
                                          <p:attrName>style.visibility</p:attrName>
                                        </p:attrNameLst>
                                      </p:cBhvr>
                                      <p:to>
                                        <p:strVal val="visible"/>
                                      </p:to>
                                    </p:set>
                                    <p:animEffect transition="in" filter="randombar(horizontal)">
                                      <p:cBhvr>
                                        <p:cTn id="40" dur="500"/>
                                        <p:tgtEl>
                                          <p:spTgt spid="59"/>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61"/>
                                        </p:tgtEl>
                                        <p:attrNameLst>
                                          <p:attrName>style.visibility</p:attrName>
                                        </p:attrNameLst>
                                      </p:cBhvr>
                                      <p:to>
                                        <p:strVal val="visible"/>
                                      </p:to>
                                    </p:set>
                                    <p:animEffect transition="in" filter="randombar(horizontal)">
                                      <p:cBhvr>
                                        <p:cTn id="45"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bldLvl="0" autoUpdateAnimBg="0"/>
      <p:bldP spid="53" grpId="0" bldLvl="0" autoUpdateAnimBg="0"/>
      <p:bldP spid="54" grpId="0" bldLvl="0" autoUpdateAnimBg="0"/>
      <p:bldP spid="58" grpId="0" bldLvl="0" autoUpdateAnimBg="0"/>
      <p:bldP spid="59" grpId="0" bldLvl="0" autoUpdateAnimBg="0"/>
      <p:bldP spid="60" grpId="0" bldLvl="0" animBg="1" autoUpdateAnimBg="0"/>
      <p:bldP spid="61"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Line 7">
            <a:extLst>
              <a:ext uri="{FF2B5EF4-FFF2-40B4-BE49-F238E27FC236}">
                <a16:creationId xmlns:a16="http://schemas.microsoft.com/office/drawing/2014/main" id="{01BBA022-3601-4BE4-BA8F-02D58A41BBB9}"/>
              </a:ext>
            </a:extLst>
          </p:cNvPr>
          <p:cNvSpPr>
            <a:spLocks noChangeShapeType="1"/>
          </p:cNvSpPr>
          <p:nvPr/>
        </p:nvSpPr>
        <p:spPr bwMode="auto">
          <a:xfrm>
            <a:off x="1066800" y="6248400"/>
            <a:ext cx="3657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22" name="Line 8">
            <a:extLst>
              <a:ext uri="{FF2B5EF4-FFF2-40B4-BE49-F238E27FC236}">
                <a16:creationId xmlns:a16="http://schemas.microsoft.com/office/drawing/2014/main" id="{061738AD-3503-4CE3-9CDE-7E5AFB5F7899}"/>
              </a:ext>
            </a:extLst>
          </p:cNvPr>
          <p:cNvSpPr>
            <a:spLocks noChangeShapeType="1"/>
          </p:cNvSpPr>
          <p:nvPr/>
        </p:nvSpPr>
        <p:spPr bwMode="auto">
          <a:xfrm flipV="1">
            <a:off x="1066800" y="3276600"/>
            <a:ext cx="0" cy="297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23" name="Line 9">
            <a:extLst>
              <a:ext uri="{FF2B5EF4-FFF2-40B4-BE49-F238E27FC236}">
                <a16:creationId xmlns:a16="http://schemas.microsoft.com/office/drawing/2014/main" id="{14D64623-4CF4-40E0-9E97-123CDEE3AF1D}"/>
              </a:ext>
            </a:extLst>
          </p:cNvPr>
          <p:cNvSpPr>
            <a:spLocks noChangeShapeType="1"/>
          </p:cNvSpPr>
          <p:nvPr/>
        </p:nvSpPr>
        <p:spPr bwMode="auto">
          <a:xfrm>
            <a:off x="5029200" y="6248400"/>
            <a:ext cx="3657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24" name="Line 10">
            <a:extLst>
              <a:ext uri="{FF2B5EF4-FFF2-40B4-BE49-F238E27FC236}">
                <a16:creationId xmlns:a16="http://schemas.microsoft.com/office/drawing/2014/main" id="{83CD478A-71B5-4839-A29D-DB7DF6C2CBBE}"/>
              </a:ext>
            </a:extLst>
          </p:cNvPr>
          <p:cNvSpPr>
            <a:spLocks noChangeShapeType="1"/>
          </p:cNvSpPr>
          <p:nvPr/>
        </p:nvSpPr>
        <p:spPr bwMode="auto">
          <a:xfrm flipV="1">
            <a:off x="5029200" y="3276600"/>
            <a:ext cx="0" cy="297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25" name="Line 11">
            <a:extLst>
              <a:ext uri="{FF2B5EF4-FFF2-40B4-BE49-F238E27FC236}">
                <a16:creationId xmlns:a16="http://schemas.microsoft.com/office/drawing/2014/main" id="{C2DFD0C7-9E5F-4233-AD09-3D8B300DDF0A}"/>
              </a:ext>
            </a:extLst>
          </p:cNvPr>
          <p:cNvSpPr>
            <a:spLocks noChangeShapeType="1"/>
          </p:cNvSpPr>
          <p:nvPr/>
        </p:nvSpPr>
        <p:spPr bwMode="auto">
          <a:xfrm>
            <a:off x="1066800" y="5029200"/>
            <a:ext cx="3352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26" name="Line 12">
            <a:extLst>
              <a:ext uri="{FF2B5EF4-FFF2-40B4-BE49-F238E27FC236}">
                <a16:creationId xmlns:a16="http://schemas.microsoft.com/office/drawing/2014/main" id="{E77AD959-7BF0-43F8-88FE-3D6DABF56FF0}"/>
              </a:ext>
            </a:extLst>
          </p:cNvPr>
          <p:cNvSpPr>
            <a:spLocks noChangeShapeType="1"/>
          </p:cNvSpPr>
          <p:nvPr/>
        </p:nvSpPr>
        <p:spPr bwMode="auto">
          <a:xfrm>
            <a:off x="1066800" y="3810000"/>
            <a:ext cx="3352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27" name="Line 13">
            <a:extLst>
              <a:ext uri="{FF2B5EF4-FFF2-40B4-BE49-F238E27FC236}">
                <a16:creationId xmlns:a16="http://schemas.microsoft.com/office/drawing/2014/main" id="{2D72BB8C-756E-47E2-B75F-9E8720BDEB89}"/>
              </a:ext>
            </a:extLst>
          </p:cNvPr>
          <p:cNvSpPr>
            <a:spLocks noChangeShapeType="1"/>
          </p:cNvSpPr>
          <p:nvPr/>
        </p:nvSpPr>
        <p:spPr bwMode="auto">
          <a:xfrm>
            <a:off x="2895600" y="3810000"/>
            <a:ext cx="0" cy="2438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28" name="Line 14">
            <a:extLst>
              <a:ext uri="{FF2B5EF4-FFF2-40B4-BE49-F238E27FC236}">
                <a16:creationId xmlns:a16="http://schemas.microsoft.com/office/drawing/2014/main" id="{22309B86-E7CF-4A9C-A68F-3FB41E733A5A}"/>
              </a:ext>
            </a:extLst>
          </p:cNvPr>
          <p:cNvSpPr>
            <a:spLocks noChangeShapeType="1"/>
          </p:cNvSpPr>
          <p:nvPr/>
        </p:nvSpPr>
        <p:spPr bwMode="auto">
          <a:xfrm>
            <a:off x="2590800" y="5029200"/>
            <a:ext cx="0" cy="1219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29" name="Arc 15">
            <a:extLst>
              <a:ext uri="{FF2B5EF4-FFF2-40B4-BE49-F238E27FC236}">
                <a16:creationId xmlns:a16="http://schemas.microsoft.com/office/drawing/2014/main" id="{E82080C5-99AF-43E8-831F-7533B5CAEB62}"/>
              </a:ext>
            </a:extLst>
          </p:cNvPr>
          <p:cNvSpPr>
            <a:spLocks/>
          </p:cNvSpPr>
          <p:nvPr/>
        </p:nvSpPr>
        <p:spPr bwMode="auto">
          <a:xfrm rot="5385677" flipV="1">
            <a:off x="2365375" y="4338638"/>
            <a:ext cx="447675" cy="914400"/>
          </a:xfrm>
          <a:custGeom>
            <a:avLst/>
            <a:gdLst>
              <a:gd name="T0" fmla="*/ 2147483646 w 21600"/>
              <a:gd name="T1" fmla="*/ 0 h 42251"/>
              <a:gd name="T2" fmla="*/ 2147483646 w 21600"/>
              <a:gd name="T3" fmla="*/ 2147483646 h 42251"/>
              <a:gd name="T4" fmla="*/ 0 w 21600"/>
              <a:gd name="T5" fmla="*/ 2147483646 h 42251"/>
              <a:gd name="T6" fmla="*/ 0 60000 65536"/>
              <a:gd name="T7" fmla="*/ 0 60000 65536"/>
              <a:gd name="T8" fmla="*/ 0 60000 65536"/>
              <a:gd name="T9" fmla="*/ 0 w 21600"/>
              <a:gd name="T10" fmla="*/ 0 h 42251"/>
              <a:gd name="T11" fmla="*/ 21600 w 21600"/>
              <a:gd name="T12" fmla="*/ 42251 h 42251"/>
            </a:gdLst>
            <a:ahLst/>
            <a:cxnLst>
              <a:cxn ang="T6">
                <a:pos x="T0" y="T1"/>
              </a:cxn>
              <a:cxn ang="T7">
                <a:pos x="T2" y="T3"/>
              </a:cxn>
              <a:cxn ang="T8">
                <a:pos x="T4" y="T5"/>
              </a:cxn>
            </a:cxnLst>
            <a:rect l="T9" t="T10" r="T11" b="T12"/>
            <a:pathLst>
              <a:path w="21600" h="42251" fill="none" extrusionOk="0">
                <a:moveTo>
                  <a:pt x="4217" y="-1"/>
                </a:moveTo>
                <a:cubicBezTo>
                  <a:pt x="14322" y="2011"/>
                  <a:pt x="21600" y="10880"/>
                  <a:pt x="21600" y="21184"/>
                </a:cubicBezTo>
                <a:cubicBezTo>
                  <a:pt x="21600" y="31275"/>
                  <a:pt x="14612" y="40022"/>
                  <a:pt x="4769" y="42250"/>
                </a:cubicBezTo>
              </a:path>
              <a:path w="21600" h="42251" stroke="0" extrusionOk="0">
                <a:moveTo>
                  <a:pt x="4217" y="-1"/>
                </a:moveTo>
                <a:cubicBezTo>
                  <a:pt x="14322" y="2011"/>
                  <a:pt x="21600" y="10880"/>
                  <a:pt x="21600" y="21184"/>
                </a:cubicBezTo>
                <a:cubicBezTo>
                  <a:pt x="21600" y="31275"/>
                  <a:pt x="14612" y="40022"/>
                  <a:pt x="4769" y="42250"/>
                </a:cubicBezTo>
                <a:lnTo>
                  <a:pt x="0" y="21184"/>
                </a:lnTo>
                <a:lnTo>
                  <a:pt x="4217"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830" name="Arc 16">
            <a:extLst>
              <a:ext uri="{FF2B5EF4-FFF2-40B4-BE49-F238E27FC236}">
                <a16:creationId xmlns:a16="http://schemas.microsoft.com/office/drawing/2014/main" id="{C98B07E6-4217-40B1-926E-A2583B151695}"/>
              </a:ext>
            </a:extLst>
          </p:cNvPr>
          <p:cNvSpPr>
            <a:spLocks/>
          </p:cNvSpPr>
          <p:nvPr/>
        </p:nvSpPr>
        <p:spPr bwMode="auto">
          <a:xfrm rot="5626637" flipV="1">
            <a:off x="2077244" y="3423444"/>
            <a:ext cx="838200" cy="2360612"/>
          </a:xfrm>
          <a:custGeom>
            <a:avLst/>
            <a:gdLst>
              <a:gd name="T0" fmla="*/ 2147483646 w 21600"/>
              <a:gd name="T1" fmla="*/ 0 h 39345"/>
              <a:gd name="T2" fmla="*/ 2147483646 w 21600"/>
              <a:gd name="T3" fmla="*/ 2147483646 h 39345"/>
              <a:gd name="T4" fmla="*/ 0 w 21600"/>
              <a:gd name="T5" fmla="*/ 2147483646 h 39345"/>
              <a:gd name="T6" fmla="*/ 0 60000 65536"/>
              <a:gd name="T7" fmla="*/ 0 60000 65536"/>
              <a:gd name="T8" fmla="*/ 0 60000 65536"/>
              <a:gd name="T9" fmla="*/ 0 w 21600"/>
              <a:gd name="T10" fmla="*/ 0 h 39345"/>
              <a:gd name="T11" fmla="*/ 21600 w 21600"/>
              <a:gd name="T12" fmla="*/ 39345 h 39345"/>
            </a:gdLst>
            <a:ahLst/>
            <a:cxnLst>
              <a:cxn ang="T6">
                <a:pos x="T0" y="T1"/>
              </a:cxn>
              <a:cxn ang="T7">
                <a:pos x="T2" y="T3"/>
              </a:cxn>
              <a:cxn ang="T8">
                <a:pos x="T4" y="T5"/>
              </a:cxn>
            </a:cxnLst>
            <a:rect l="T9" t="T10" r="T11" b="T12"/>
            <a:pathLst>
              <a:path w="21600" h="39345" fill="none" extrusionOk="0">
                <a:moveTo>
                  <a:pt x="10520" y="-1"/>
                </a:moveTo>
                <a:cubicBezTo>
                  <a:pt x="17360" y="3814"/>
                  <a:pt x="21600" y="11032"/>
                  <a:pt x="21600" y="18865"/>
                </a:cubicBezTo>
                <a:cubicBezTo>
                  <a:pt x="21600" y="28148"/>
                  <a:pt x="15667" y="36394"/>
                  <a:pt x="6865" y="39345"/>
                </a:cubicBezTo>
              </a:path>
              <a:path w="21600" h="39345" stroke="0" extrusionOk="0">
                <a:moveTo>
                  <a:pt x="10520" y="-1"/>
                </a:moveTo>
                <a:cubicBezTo>
                  <a:pt x="17360" y="3814"/>
                  <a:pt x="21600" y="11032"/>
                  <a:pt x="21600" y="18865"/>
                </a:cubicBezTo>
                <a:cubicBezTo>
                  <a:pt x="21600" y="28148"/>
                  <a:pt x="15667" y="36394"/>
                  <a:pt x="6865" y="39345"/>
                </a:cubicBezTo>
                <a:lnTo>
                  <a:pt x="0" y="18865"/>
                </a:lnTo>
                <a:lnTo>
                  <a:pt x="10520"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831" name="Line 17">
            <a:extLst>
              <a:ext uri="{FF2B5EF4-FFF2-40B4-BE49-F238E27FC236}">
                <a16:creationId xmlns:a16="http://schemas.microsoft.com/office/drawing/2014/main" id="{A6BAFD00-6D6C-42D8-AF36-1473A43C9E6A}"/>
              </a:ext>
            </a:extLst>
          </p:cNvPr>
          <p:cNvSpPr>
            <a:spLocks noChangeShapeType="1"/>
          </p:cNvSpPr>
          <p:nvPr/>
        </p:nvSpPr>
        <p:spPr bwMode="auto">
          <a:xfrm flipV="1">
            <a:off x="2409825" y="3352800"/>
            <a:ext cx="609600" cy="2362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2" name="Line 18">
            <a:extLst>
              <a:ext uri="{FF2B5EF4-FFF2-40B4-BE49-F238E27FC236}">
                <a16:creationId xmlns:a16="http://schemas.microsoft.com/office/drawing/2014/main" id="{31E2D3A7-A8F8-4F8C-BD47-959C9FBE0341}"/>
              </a:ext>
            </a:extLst>
          </p:cNvPr>
          <p:cNvSpPr>
            <a:spLocks noChangeShapeType="1"/>
          </p:cNvSpPr>
          <p:nvPr/>
        </p:nvSpPr>
        <p:spPr bwMode="auto">
          <a:xfrm>
            <a:off x="5029200" y="5029200"/>
            <a:ext cx="3352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3" name="Line 19">
            <a:extLst>
              <a:ext uri="{FF2B5EF4-FFF2-40B4-BE49-F238E27FC236}">
                <a16:creationId xmlns:a16="http://schemas.microsoft.com/office/drawing/2014/main" id="{1FA9D2E7-52EB-4CDD-B75C-5BB5016FDA3E}"/>
              </a:ext>
            </a:extLst>
          </p:cNvPr>
          <p:cNvSpPr>
            <a:spLocks noChangeShapeType="1"/>
          </p:cNvSpPr>
          <p:nvPr/>
        </p:nvSpPr>
        <p:spPr bwMode="auto">
          <a:xfrm>
            <a:off x="5105400" y="3810000"/>
            <a:ext cx="1752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4" name="Text Box 20">
            <a:extLst>
              <a:ext uri="{FF2B5EF4-FFF2-40B4-BE49-F238E27FC236}">
                <a16:creationId xmlns:a16="http://schemas.microsoft.com/office/drawing/2014/main" id="{45FFECC8-C595-4345-BC02-DF7C069CC68E}"/>
              </a:ext>
            </a:extLst>
          </p:cNvPr>
          <p:cNvSpPr txBox="1">
            <a:spLocks noChangeArrowheads="1"/>
          </p:cNvSpPr>
          <p:nvPr/>
        </p:nvSpPr>
        <p:spPr bwMode="auto">
          <a:xfrm>
            <a:off x="2895600" y="33909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SMC</a:t>
            </a:r>
          </a:p>
        </p:txBody>
      </p:sp>
      <p:sp>
        <p:nvSpPr>
          <p:cNvPr id="34835" name="Text Box 21">
            <a:extLst>
              <a:ext uri="{FF2B5EF4-FFF2-40B4-BE49-F238E27FC236}">
                <a16:creationId xmlns:a16="http://schemas.microsoft.com/office/drawing/2014/main" id="{23DC0875-CBB0-4AD2-A2FD-600ADE1D4971}"/>
              </a:ext>
            </a:extLst>
          </p:cNvPr>
          <p:cNvSpPr txBox="1">
            <a:spLocks noChangeArrowheads="1"/>
          </p:cNvSpPr>
          <p:nvPr/>
        </p:nvSpPr>
        <p:spPr bwMode="auto">
          <a:xfrm>
            <a:off x="2895600" y="43576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SAC</a:t>
            </a:r>
          </a:p>
        </p:txBody>
      </p:sp>
      <p:sp>
        <p:nvSpPr>
          <p:cNvPr id="34836" name="Text Box 22">
            <a:extLst>
              <a:ext uri="{FF2B5EF4-FFF2-40B4-BE49-F238E27FC236}">
                <a16:creationId xmlns:a16="http://schemas.microsoft.com/office/drawing/2014/main" id="{BCECEA0F-BC27-4650-BEF5-960E88F536B7}"/>
              </a:ext>
            </a:extLst>
          </p:cNvPr>
          <p:cNvSpPr txBox="1">
            <a:spLocks noChangeArrowheads="1"/>
          </p:cNvSpPr>
          <p:nvPr/>
        </p:nvSpPr>
        <p:spPr bwMode="auto">
          <a:xfrm>
            <a:off x="3543300" y="43434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LAC</a:t>
            </a:r>
          </a:p>
        </p:txBody>
      </p:sp>
      <p:sp>
        <p:nvSpPr>
          <p:cNvPr id="34837" name="Text Box 23">
            <a:extLst>
              <a:ext uri="{FF2B5EF4-FFF2-40B4-BE49-F238E27FC236}">
                <a16:creationId xmlns:a16="http://schemas.microsoft.com/office/drawing/2014/main" id="{99A44E3F-F6EA-45B3-9A2E-A9F95D1DA7A4}"/>
              </a:ext>
            </a:extLst>
          </p:cNvPr>
          <p:cNvSpPr txBox="1">
            <a:spLocks noChangeArrowheads="1"/>
          </p:cNvSpPr>
          <p:nvPr/>
        </p:nvSpPr>
        <p:spPr bwMode="auto">
          <a:xfrm>
            <a:off x="2286000" y="376713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C</a:t>
            </a:r>
          </a:p>
        </p:txBody>
      </p:sp>
      <p:sp>
        <p:nvSpPr>
          <p:cNvPr id="34838" name="Text Box 24">
            <a:extLst>
              <a:ext uri="{FF2B5EF4-FFF2-40B4-BE49-F238E27FC236}">
                <a16:creationId xmlns:a16="http://schemas.microsoft.com/office/drawing/2014/main" id="{C251CD7E-9E68-498C-9FF5-1D23C4A9778C}"/>
              </a:ext>
            </a:extLst>
          </p:cNvPr>
          <p:cNvSpPr txBox="1">
            <a:spLocks noChangeArrowheads="1"/>
          </p:cNvSpPr>
          <p:nvPr/>
        </p:nvSpPr>
        <p:spPr bwMode="auto">
          <a:xfrm>
            <a:off x="2076450" y="468153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E</a:t>
            </a:r>
          </a:p>
        </p:txBody>
      </p:sp>
      <p:sp>
        <p:nvSpPr>
          <p:cNvPr id="34839" name="Text Box 25">
            <a:extLst>
              <a:ext uri="{FF2B5EF4-FFF2-40B4-BE49-F238E27FC236}">
                <a16:creationId xmlns:a16="http://schemas.microsoft.com/office/drawing/2014/main" id="{2F2453A5-9CC9-4740-B824-F09326787109}"/>
              </a:ext>
            </a:extLst>
          </p:cNvPr>
          <p:cNvSpPr txBox="1">
            <a:spLocks noChangeArrowheads="1"/>
          </p:cNvSpPr>
          <p:nvPr/>
        </p:nvSpPr>
        <p:spPr bwMode="auto">
          <a:xfrm>
            <a:off x="2400300" y="466725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F</a:t>
            </a:r>
          </a:p>
        </p:txBody>
      </p:sp>
      <p:sp>
        <p:nvSpPr>
          <p:cNvPr id="34840" name="Text Box 26">
            <a:extLst>
              <a:ext uri="{FF2B5EF4-FFF2-40B4-BE49-F238E27FC236}">
                <a16:creationId xmlns:a16="http://schemas.microsoft.com/office/drawing/2014/main" id="{6CF9A610-364E-41E7-9C3B-62A87D1E9B36}"/>
              </a:ext>
            </a:extLst>
          </p:cNvPr>
          <p:cNvSpPr txBox="1">
            <a:spLocks noChangeArrowheads="1"/>
          </p:cNvSpPr>
          <p:nvPr/>
        </p:nvSpPr>
        <p:spPr bwMode="auto">
          <a:xfrm>
            <a:off x="704850" y="3352800"/>
            <a:ext cx="38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9</a:t>
            </a:r>
          </a:p>
        </p:txBody>
      </p:sp>
      <p:sp>
        <p:nvSpPr>
          <p:cNvPr id="34841" name="Text Box 27">
            <a:extLst>
              <a:ext uri="{FF2B5EF4-FFF2-40B4-BE49-F238E27FC236}">
                <a16:creationId xmlns:a16="http://schemas.microsoft.com/office/drawing/2014/main" id="{9F60504E-FC60-4E49-ABFC-0E01820FA0B1}"/>
              </a:ext>
            </a:extLst>
          </p:cNvPr>
          <p:cNvSpPr txBox="1">
            <a:spLocks noChangeArrowheads="1"/>
          </p:cNvSpPr>
          <p:nvPr/>
        </p:nvSpPr>
        <p:spPr bwMode="auto">
          <a:xfrm>
            <a:off x="762000" y="6186488"/>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0</a:t>
            </a:r>
          </a:p>
        </p:txBody>
      </p:sp>
      <p:sp>
        <p:nvSpPr>
          <p:cNvPr id="34842" name="Text Box 28">
            <a:extLst>
              <a:ext uri="{FF2B5EF4-FFF2-40B4-BE49-F238E27FC236}">
                <a16:creationId xmlns:a16="http://schemas.microsoft.com/office/drawing/2014/main" id="{1BC1CB07-96EA-4EF6-BBB5-B76CB9C6AB8C}"/>
              </a:ext>
            </a:extLst>
          </p:cNvPr>
          <p:cNvSpPr txBox="1">
            <a:spLocks noChangeArrowheads="1"/>
          </p:cNvSpPr>
          <p:nvPr/>
        </p:nvSpPr>
        <p:spPr bwMode="auto">
          <a:xfrm>
            <a:off x="381000" y="30480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P</a:t>
            </a:r>
          </a:p>
        </p:txBody>
      </p:sp>
      <p:sp>
        <p:nvSpPr>
          <p:cNvPr id="34843" name="Line 29">
            <a:extLst>
              <a:ext uri="{FF2B5EF4-FFF2-40B4-BE49-F238E27FC236}">
                <a16:creationId xmlns:a16="http://schemas.microsoft.com/office/drawing/2014/main" id="{38DEA251-C060-4ECB-90B9-42236540408E}"/>
              </a:ext>
            </a:extLst>
          </p:cNvPr>
          <p:cNvSpPr>
            <a:spLocks noChangeShapeType="1"/>
          </p:cNvSpPr>
          <p:nvPr/>
        </p:nvSpPr>
        <p:spPr bwMode="auto">
          <a:xfrm>
            <a:off x="6172200" y="5029200"/>
            <a:ext cx="1524000"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34844" name="Text Box 30">
            <a:extLst>
              <a:ext uri="{FF2B5EF4-FFF2-40B4-BE49-F238E27FC236}">
                <a16:creationId xmlns:a16="http://schemas.microsoft.com/office/drawing/2014/main" id="{17BAC5E1-5E3E-449B-B25A-C7802E6F0E0D}"/>
              </a:ext>
            </a:extLst>
          </p:cNvPr>
          <p:cNvSpPr txBox="1">
            <a:spLocks noChangeArrowheads="1"/>
          </p:cNvSpPr>
          <p:nvPr/>
        </p:nvSpPr>
        <p:spPr bwMode="auto">
          <a:xfrm>
            <a:off x="4724400" y="6191250"/>
            <a:ext cx="38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0</a:t>
            </a:r>
          </a:p>
        </p:txBody>
      </p:sp>
      <p:sp>
        <p:nvSpPr>
          <p:cNvPr id="34845" name="Line 31">
            <a:extLst>
              <a:ext uri="{FF2B5EF4-FFF2-40B4-BE49-F238E27FC236}">
                <a16:creationId xmlns:a16="http://schemas.microsoft.com/office/drawing/2014/main" id="{B808DD2D-FC7A-4852-9829-233AE5BCC8FF}"/>
              </a:ext>
            </a:extLst>
          </p:cNvPr>
          <p:cNvSpPr>
            <a:spLocks noChangeShapeType="1"/>
          </p:cNvSpPr>
          <p:nvPr/>
        </p:nvSpPr>
        <p:spPr bwMode="auto">
          <a:xfrm>
            <a:off x="5638800" y="3429000"/>
            <a:ext cx="137160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6" name="Line 32">
            <a:extLst>
              <a:ext uri="{FF2B5EF4-FFF2-40B4-BE49-F238E27FC236}">
                <a16:creationId xmlns:a16="http://schemas.microsoft.com/office/drawing/2014/main" id="{7A7C897F-3AA4-4F73-BCDD-F1824927B1E4}"/>
              </a:ext>
            </a:extLst>
          </p:cNvPr>
          <p:cNvSpPr>
            <a:spLocks noChangeShapeType="1"/>
          </p:cNvSpPr>
          <p:nvPr/>
        </p:nvSpPr>
        <p:spPr bwMode="auto">
          <a:xfrm>
            <a:off x="6629400" y="3390900"/>
            <a:ext cx="137160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7" name="Line 33">
            <a:extLst>
              <a:ext uri="{FF2B5EF4-FFF2-40B4-BE49-F238E27FC236}">
                <a16:creationId xmlns:a16="http://schemas.microsoft.com/office/drawing/2014/main" id="{236B5DD8-76B0-4C65-BE76-B0E330296C45}"/>
              </a:ext>
            </a:extLst>
          </p:cNvPr>
          <p:cNvSpPr>
            <a:spLocks noChangeShapeType="1"/>
          </p:cNvSpPr>
          <p:nvPr/>
        </p:nvSpPr>
        <p:spPr bwMode="auto">
          <a:xfrm flipV="1">
            <a:off x="6096000" y="3352800"/>
            <a:ext cx="866775"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8" name="Line 34">
            <a:extLst>
              <a:ext uri="{FF2B5EF4-FFF2-40B4-BE49-F238E27FC236}">
                <a16:creationId xmlns:a16="http://schemas.microsoft.com/office/drawing/2014/main" id="{33788A82-0C9A-4961-A6F6-2CB5CFE3A849}"/>
              </a:ext>
            </a:extLst>
          </p:cNvPr>
          <p:cNvSpPr>
            <a:spLocks noChangeShapeType="1"/>
          </p:cNvSpPr>
          <p:nvPr/>
        </p:nvSpPr>
        <p:spPr bwMode="auto">
          <a:xfrm flipV="1">
            <a:off x="7124700" y="3352800"/>
            <a:ext cx="83820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9" name="Text Box 35">
            <a:extLst>
              <a:ext uri="{FF2B5EF4-FFF2-40B4-BE49-F238E27FC236}">
                <a16:creationId xmlns:a16="http://schemas.microsoft.com/office/drawing/2014/main" id="{3A1E952A-80BE-43F2-9304-12615245308F}"/>
              </a:ext>
            </a:extLst>
          </p:cNvPr>
          <p:cNvSpPr txBox="1">
            <a:spLocks noChangeArrowheads="1"/>
          </p:cNvSpPr>
          <p:nvPr/>
        </p:nvSpPr>
        <p:spPr bwMode="auto">
          <a:xfrm>
            <a:off x="4343400" y="3100388"/>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P</a:t>
            </a:r>
          </a:p>
        </p:txBody>
      </p:sp>
      <p:sp>
        <p:nvSpPr>
          <p:cNvPr id="34850" name="Text Box 36">
            <a:extLst>
              <a:ext uri="{FF2B5EF4-FFF2-40B4-BE49-F238E27FC236}">
                <a16:creationId xmlns:a16="http://schemas.microsoft.com/office/drawing/2014/main" id="{9F420392-CB67-40F3-95D6-8FB0AA0AC5D5}"/>
              </a:ext>
            </a:extLst>
          </p:cNvPr>
          <p:cNvSpPr txBox="1">
            <a:spLocks noChangeArrowheads="1"/>
          </p:cNvSpPr>
          <p:nvPr/>
        </p:nvSpPr>
        <p:spPr bwMode="auto">
          <a:xfrm>
            <a:off x="6858000" y="36337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2</a:t>
            </a:r>
          </a:p>
        </p:txBody>
      </p:sp>
      <p:sp>
        <p:nvSpPr>
          <p:cNvPr id="34851" name="Text Box 37">
            <a:extLst>
              <a:ext uri="{FF2B5EF4-FFF2-40B4-BE49-F238E27FC236}">
                <a16:creationId xmlns:a16="http://schemas.microsoft.com/office/drawing/2014/main" id="{13010FBA-CE42-4176-8E8C-3ABC146CF942}"/>
              </a:ext>
            </a:extLst>
          </p:cNvPr>
          <p:cNvSpPr txBox="1">
            <a:spLocks noChangeArrowheads="1"/>
          </p:cNvSpPr>
          <p:nvPr/>
        </p:nvSpPr>
        <p:spPr bwMode="auto">
          <a:xfrm>
            <a:off x="6477000" y="470535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1</a:t>
            </a:r>
          </a:p>
        </p:txBody>
      </p:sp>
      <p:sp>
        <p:nvSpPr>
          <p:cNvPr id="34852" name="Text Box 38">
            <a:extLst>
              <a:ext uri="{FF2B5EF4-FFF2-40B4-BE49-F238E27FC236}">
                <a16:creationId xmlns:a16="http://schemas.microsoft.com/office/drawing/2014/main" id="{33023ED9-7C27-4ED1-8667-D05ED53FB7D8}"/>
              </a:ext>
            </a:extLst>
          </p:cNvPr>
          <p:cNvSpPr txBox="1">
            <a:spLocks noChangeArrowheads="1"/>
          </p:cNvSpPr>
          <p:nvPr/>
        </p:nvSpPr>
        <p:spPr bwMode="auto">
          <a:xfrm>
            <a:off x="7505700" y="470535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3</a:t>
            </a:r>
          </a:p>
        </p:txBody>
      </p:sp>
      <p:sp>
        <p:nvSpPr>
          <p:cNvPr id="34853" name="Text Box 39">
            <a:extLst>
              <a:ext uri="{FF2B5EF4-FFF2-40B4-BE49-F238E27FC236}">
                <a16:creationId xmlns:a16="http://schemas.microsoft.com/office/drawing/2014/main" id="{7AB4768A-4917-4E58-B675-6332F4EC3C79}"/>
              </a:ext>
            </a:extLst>
          </p:cNvPr>
          <p:cNvSpPr txBox="1">
            <a:spLocks noChangeArrowheads="1"/>
          </p:cNvSpPr>
          <p:nvPr/>
        </p:nvSpPr>
        <p:spPr bwMode="auto">
          <a:xfrm>
            <a:off x="7924800" y="4686300"/>
            <a:ext cx="750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2000" b="1">
                <a:latin typeface="Times New Roman" panose="02020603050405020304" pitchFamily="18" charset="0"/>
              </a:rPr>
              <a:t>LS</a:t>
            </a:r>
          </a:p>
        </p:txBody>
      </p:sp>
      <p:sp>
        <p:nvSpPr>
          <p:cNvPr id="34854" name="Text Box 40">
            <a:extLst>
              <a:ext uri="{FF2B5EF4-FFF2-40B4-BE49-F238E27FC236}">
                <a16:creationId xmlns:a16="http://schemas.microsoft.com/office/drawing/2014/main" id="{ACE618B0-52A6-4A43-9EA9-9DF2645EE9A7}"/>
              </a:ext>
            </a:extLst>
          </p:cNvPr>
          <p:cNvSpPr txBox="1">
            <a:spLocks noChangeArrowheads="1"/>
          </p:cNvSpPr>
          <p:nvPr/>
        </p:nvSpPr>
        <p:spPr bwMode="auto">
          <a:xfrm>
            <a:off x="6915150" y="33147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t>
            </a:r>
          </a:p>
        </p:txBody>
      </p:sp>
      <p:sp>
        <p:nvSpPr>
          <p:cNvPr id="34855" name="Text Box 41">
            <a:extLst>
              <a:ext uri="{FF2B5EF4-FFF2-40B4-BE49-F238E27FC236}">
                <a16:creationId xmlns:a16="http://schemas.microsoft.com/office/drawing/2014/main" id="{3572D100-3C5E-476E-AEDE-C9DE80017494}"/>
              </a:ext>
            </a:extLst>
          </p:cNvPr>
          <p:cNvSpPr txBox="1">
            <a:spLocks noChangeArrowheads="1"/>
          </p:cNvSpPr>
          <p:nvPr/>
        </p:nvSpPr>
        <p:spPr bwMode="auto">
          <a:xfrm>
            <a:off x="7924800" y="33147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t>
            </a:r>
          </a:p>
        </p:txBody>
      </p:sp>
      <p:sp>
        <p:nvSpPr>
          <p:cNvPr id="34856" name="Text Box 42">
            <a:extLst>
              <a:ext uri="{FF2B5EF4-FFF2-40B4-BE49-F238E27FC236}">
                <a16:creationId xmlns:a16="http://schemas.microsoft.com/office/drawing/2014/main" id="{A9514877-EAC5-44D9-92DB-F417B9000FF4}"/>
              </a:ext>
            </a:extLst>
          </p:cNvPr>
          <p:cNvSpPr txBox="1">
            <a:spLocks noChangeArrowheads="1"/>
          </p:cNvSpPr>
          <p:nvPr/>
        </p:nvSpPr>
        <p:spPr bwMode="auto">
          <a:xfrm>
            <a:off x="6781800" y="54102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D</a:t>
            </a:r>
          </a:p>
        </p:txBody>
      </p:sp>
      <p:sp>
        <p:nvSpPr>
          <p:cNvPr id="34857" name="Text Box 43">
            <a:extLst>
              <a:ext uri="{FF2B5EF4-FFF2-40B4-BE49-F238E27FC236}">
                <a16:creationId xmlns:a16="http://schemas.microsoft.com/office/drawing/2014/main" id="{2A4FF14F-35DD-499C-A69C-9E7C60FDD229}"/>
              </a:ext>
            </a:extLst>
          </p:cNvPr>
          <p:cNvSpPr txBox="1">
            <a:spLocks noChangeArrowheads="1"/>
          </p:cNvSpPr>
          <p:nvPr/>
        </p:nvSpPr>
        <p:spPr bwMode="auto">
          <a:xfrm>
            <a:off x="7772400" y="541020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D’</a:t>
            </a:r>
          </a:p>
        </p:txBody>
      </p:sp>
      <p:sp>
        <p:nvSpPr>
          <p:cNvPr id="34858" name="Text Box 44">
            <a:extLst>
              <a:ext uri="{FF2B5EF4-FFF2-40B4-BE49-F238E27FC236}">
                <a16:creationId xmlns:a16="http://schemas.microsoft.com/office/drawing/2014/main" id="{DAAD6607-C26C-4653-9F7D-8DD611539D06}"/>
              </a:ext>
            </a:extLst>
          </p:cNvPr>
          <p:cNvSpPr txBox="1">
            <a:spLocks noChangeArrowheads="1"/>
          </p:cNvSpPr>
          <p:nvPr/>
        </p:nvSpPr>
        <p:spPr bwMode="auto">
          <a:xfrm>
            <a:off x="3962400" y="622935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p>
        </p:txBody>
      </p:sp>
      <p:sp>
        <p:nvSpPr>
          <p:cNvPr id="34859" name="Text Box 45">
            <a:extLst>
              <a:ext uri="{FF2B5EF4-FFF2-40B4-BE49-F238E27FC236}">
                <a16:creationId xmlns:a16="http://schemas.microsoft.com/office/drawing/2014/main" id="{E985F54F-8902-4E92-9974-E05A64469D8F}"/>
              </a:ext>
            </a:extLst>
          </p:cNvPr>
          <p:cNvSpPr txBox="1">
            <a:spLocks noChangeArrowheads="1"/>
          </p:cNvSpPr>
          <p:nvPr/>
        </p:nvSpPr>
        <p:spPr bwMode="auto">
          <a:xfrm>
            <a:off x="8077200" y="622935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p>
        </p:txBody>
      </p:sp>
      <p:sp>
        <p:nvSpPr>
          <p:cNvPr id="2" name="标题 1">
            <a:extLst>
              <a:ext uri="{FF2B5EF4-FFF2-40B4-BE49-F238E27FC236}">
                <a16:creationId xmlns:a16="http://schemas.microsoft.com/office/drawing/2014/main" id="{9B8A17DD-F8A4-4F1D-A1DC-FB8DE16D1C90}"/>
              </a:ext>
            </a:extLst>
          </p:cNvPr>
          <p:cNvSpPr>
            <a:spLocks noGrp="1"/>
          </p:cNvSpPr>
          <p:nvPr>
            <p:ph type="title"/>
          </p:nvPr>
        </p:nvSpPr>
        <p:spPr>
          <a:xfrm>
            <a:off x="704850" y="46038"/>
            <a:ext cx="8229600" cy="868363"/>
          </a:xfrm>
        </p:spPr>
        <p:txBody>
          <a:bodyPr/>
          <a:lstStyle/>
          <a:p>
            <a:r>
              <a:rPr lang="zh-CN" altLang="en-US" dirty="0"/>
              <a:t>完全竞争市场的长期供给曲线</a:t>
            </a:r>
          </a:p>
        </p:txBody>
      </p:sp>
      <p:sp>
        <p:nvSpPr>
          <p:cNvPr id="3" name="内容占位符 2">
            <a:extLst>
              <a:ext uri="{FF2B5EF4-FFF2-40B4-BE49-F238E27FC236}">
                <a16:creationId xmlns:a16="http://schemas.microsoft.com/office/drawing/2014/main" id="{5DFE90AB-EB74-43DF-925A-39CC452AA6F8}"/>
              </a:ext>
            </a:extLst>
          </p:cNvPr>
          <p:cNvSpPr>
            <a:spLocks noGrp="1"/>
          </p:cNvSpPr>
          <p:nvPr>
            <p:ph idx="1"/>
          </p:nvPr>
        </p:nvSpPr>
        <p:spPr>
          <a:xfrm>
            <a:off x="762000" y="836712"/>
            <a:ext cx="7105650" cy="2211287"/>
          </a:xfrm>
        </p:spPr>
        <p:txBody>
          <a:bodyPr>
            <a:normAutofit fontScale="92500" lnSpcReduction="10000"/>
          </a:bodyPr>
          <a:lstStyle/>
          <a:p>
            <a:r>
              <a:rPr lang="zh-CN" altLang="en-US" dirty="0"/>
              <a:t>成本不变的行业</a:t>
            </a:r>
            <a:endParaRPr lang="en-US" altLang="zh-CN" dirty="0"/>
          </a:p>
          <a:p>
            <a:pPr lvl="1"/>
            <a:r>
              <a:rPr lang="zh-CN" altLang="en-US" dirty="0"/>
              <a:t> 当许多新厂商进入行业，必然要购买更多的生产要素，如果这些生产要素并不因购买量的增加而变化，仍保持在原价格水平上，这种产业就称为成本不变的行业。 </a:t>
            </a:r>
            <a:endParaRPr lang="en-US" altLang="zh-CN" dirty="0"/>
          </a:p>
          <a:p>
            <a:endParaRPr lang="zh-CN" altLang="en-US" dirty="0"/>
          </a:p>
        </p:txBody>
      </p:sp>
      <p:sp>
        <p:nvSpPr>
          <p:cNvPr id="4" name="文本框 3">
            <a:extLst>
              <a:ext uri="{FF2B5EF4-FFF2-40B4-BE49-F238E27FC236}">
                <a16:creationId xmlns:a16="http://schemas.microsoft.com/office/drawing/2014/main" id="{0C39CD98-2DA6-4283-8461-231E63400357}"/>
              </a:ext>
            </a:extLst>
          </p:cNvPr>
          <p:cNvSpPr txBox="1"/>
          <p:nvPr/>
        </p:nvSpPr>
        <p:spPr>
          <a:xfrm>
            <a:off x="590516" y="4888430"/>
            <a:ext cx="466794" cy="369332"/>
          </a:xfrm>
          <a:prstGeom prst="rect">
            <a:avLst/>
          </a:prstGeom>
          <a:noFill/>
        </p:spPr>
        <p:txBody>
          <a:bodyPr wrap="none" rtlCol="0">
            <a:spAutoFit/>
          </a:bodyPr>
          <a:lstStyle/>
          <a:p>
            <a:r>
              <a:rPr lang="en-US" altLang="zh-CN" dirty="0"/>
              <a:t>P1</a:t>
            </a:r>
            <a:endParaRPr lang="zh-CN" alt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Line 3">
            <a:extLst>
              <a:ext uri="{FF2B5EF4-FFF2-40B4-BE49-F238E27FC236}">
                <a16:creationId xmlns:a16="http://schemas.microsoft.com/office/drawing/2014/main" id="{6B87A56A-DAC2-4013-B24C-D6704069D9BE}"/>
              </a:ext>
            </a:extLst>
          </p:cNvPr>
          <p:cNvSpPr>
            <a:spLocks noChangeShapeType="1"/>
          </p:cNvSpPr>
          <p:nvPr/>
        </p:nvSpPr>
        <p:spPr bwMode="auto">
          <a:xfrm>
            <a:off x="1066800" y="6186488"/>
            <a:ext cx="3657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4" name="Line 4">
            <a:extLst>
              <a:ext uri="{FF2B5EF4-FFF2-40B4-BE49-F238E27FC236}">
                <a16:creationId xmlns:a16="http://schemas.microsoft.com/office/drawing/2014/main" id="{3062A738-B210-48A3-89BF-BD27E4446A52}"/>
              </a:ext>
            </a:extLst>
          </p:cNvPr>
          <p:cNvSpPr>
            <a:spLocks noChangeShapeType="1"/>
          </p:cNvSpPr>
          <p:nvPr/>
        </p:nvSpPr>
        <p:spPr bwMode="auto">
          <a:xfrm flipV="1">
            <a:off x="1066800" y="3214688"/>
            <a:ext cx="0" cy="297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5" name="Line 5">
            <a:extLst>
              <a:ext uri="{FF2B5EF4-FFF2-40B4-BE49-F238E27FC236}">
                <a16:creationId xmlns:a16="http://schemas.microsoft.com/office/drawing/2014/main" id="{DB3C4305-49A8-43E0-877A-97DD6449CE52}"/>
              </a:ext>
            </a:extLst>
          </p:cNvPr>
          <p:cNvSpPr>
            <a:spLocks noChangeShapeType="1"/>
          </p:cNvSpPr>
          <p:nvPr/>
        </p:nvSpPr>
        <p:spPr bwMode="auto">
          <a:xfrm>
            <a:off x="5029200" y="6186488"/>
            <a:ext cx="3657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6" name="Line 6">
            <a:extLst>
              <a:ext uri="{FF2B5EF4-FFF2-40B4-BE49-F238E27FC236}">
                <a16:creationId xmlns:a16="http://schemas.microsoft.com/office/drawing/2014/main" id="{3D15F7BC-BD94-4C47-92AC-403FDEBBE177}"/>
              </a:ext>
            </a:extLst>
          </p:cNvPr>
          <p:cNvSpPr>
            <a:spLocks noChangeShapeType="1"/>
          </p:cNvSpPr>
          <p:nvPr/>
        </p:nvSpPr>
        <p:spPr bwMode="auto">
          <a:xfrm flipV="1">
            <a:off x="5029200" y="3214688"/>
            <a:ext cx="0" cy="297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7" name="Line 7">
            <a:extLst>
              <a:ext uri="{FF2B5EF4-FFF2-40B4-BE49-F238E27FC236}">
                <a16:creationId xmlns:a16="http://schemas.microsoft.com/office/drawing/2014/main" id="{B6BCE51D-D43E-45BB-BE48-C8D4C2209CB0}"/>
              </a:ext>
            </a:extLst>
          </p:cNvPr>
          <p:cNvSpPr>
            <a:spLocks noChangeShapeType="1"/>
          </p:cNvSpPr>
          <p:nvPr/>
        </p:nvSpPr>
        <p:spPr bwMode="auto">
          <a:xfrm>
            <a:off x="1066800" y="4967288"/>
            <a:ext cx="3352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8" name="Line 8">
            <a:extLst>
              <a:ext uri="{FF2B5EF4-FFF2-40B4-BE49-F238E27FC236}">
                <a16:creationId xmlns:a16="http://schemas.microsoft.com/office/drawing/2014/main" id="{A9B3ADDF-FE7D-4D2E-AA3C-F1AB13270036}"/>
              </a:ext>
            </a:extLst>
          </p:cNvPr>
          <p:cNvSpPr>
            <a:spLocks noChangeShapeType="1"/>
          </p:cNvSpPr>
          <p:nvPr/>
        </p:nvSpPr>
        <p:spPr bwMode="auto">
          <a:xfrm>
            <a:off x="1066800" y="3748088"/>
            <a:ext cx="3352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9" name="Line 9">
            <a:extLst>
              <a:ext uri="{FF2B5EF4-FFF2-40B4-BE49-F238E27FC236}">
                <a16:creationId xmlns:a16="http://schemas.microsoft.com/office/drawing/2014/main" id="{B99180E0-0AF3-4104-966E-597A72222162}"/>
              </a:ext>
            </a:extLst>
          </p:cNvPr>
          <p:cNvSpPr>
            <a:spLocks noChangeShapeType="1"/>
          </p:cNvSpPr>
          <p:nvPr/>
        </p:nvSpPr>
        <p:spPr bwMode="auto">
          <a:xfrm>
            <a:off x="2895600" y="3748088"/>
            <a:ext cx="0" cy="2438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0" name="Line 10">
            <a:extLst>
              <a:ext uri="{FF2B5EF4-FFF2-40B4-BE49-F238E27FC236}">
                <a16:creationId xmlns:a16="http://schemas.microsoft.com/office/drawing/2014/main" id="{BFF01BA0-5CB7-4FDB-B05B-105A827E1D5B}"/>
              </a:ext>
            </a:extLst>
          </p:cNvPr>
          <p:cNvSpPr>
            <a:spLocks noChangeShapeType="1"/>
          </p:cNvSpPr>
          <p:nvPr/>
        </p:nvSpPr>
        <p:spPr bwMode="auto">
          <a:xfrm>
            <a:off x="2590800" y="4967288"/>
            <a:ext cx="0" cy="1219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1" name="Arc 11">
            <a:extLst>
              <a:ext uri="{FF2B5EF4-FFF2-40B4-BE49-F238E27FC236}">
                <a16:creationId xmlns:a16="http://schemas.microsoft.com/office/drawing/2014/main" id="{0D4DB997-FC75-4C1A-A461-42731CEC4A3D}"/>
              </a:ext>
            </a:extLst>
          </p:cNvPr>
          <p:cNvSpPr>
            <a:spLocks/>
          </p:cNvSpPr>
          <p:nvPr/>
        </p:nvSpPr>
        <p:spPr bwMode="auto">
          <a:xfrm rot="5385677" flipV="1">
            <a:off x="2365375" y="4276726"/>
            <a:ext cx="447675" cy="914400"/>
          </a:xfrm>
          <a:custGeom>
            <a:avLst/>
            <a:gdLst>
              <a:gd name="T0" fmla="*/ 2147483646 w 21600"/>
              <a:gd name="T1" fmla="*/ 0 h 42251"/>
              <a:gd name="T2" fmla="*/ 2147483646 w 21600"/>
              <a:gd name="T3" fmla="*/ 2147483646 h 42251"/>
              <a:gd name="T4" fmla="*/ 0 w 21600"/>
              <a:gd name="T5" fmla="*/ 2147483646 h 42251"/>
              <a:gd name="T6" fmla="*/ 0 60000 65536"/>
              <a:gd name="T7" fmla="*/ 0 60000 65536"/>
              <a:gd name="T8" fmla="*/ 0 60000 65536"/>
              <a:gd name="T9" fmla="*/ 0 w 21600"/>
              <a:gd name="T10" fmla="*/ 0 h 42251"/>
              <a:gd name="T11" fmla="*/ 21600 w 21600"/>
              <a:gd name="T12" fmla="*/ 42251 h 42251"/>
            </a:gdLst>
            <a:ahLst/>
            <a:cxnLst>
              <a:cxn ang="T6">
                <a:pos x="T0" y="T1"/>
              </a:cxn>
              <a:cxn ang="T7">
                <a:pos x="T2" y="T3"/>
              </a:cxn>
              <a:cxn ang="T8">
                <a:pos x="T4" y="T5"/>
              </a:cxn>
            </a:cxnLst>
            <a:rect l="T9" t="T10" r="T11" b="T12"/>
            <a:pathLst>
              <a:path w="21600" h="42251" fill="none" extrusionOk="0">
                <a:moveTo>
                  <a:pt x="4217" y="-1"/>
                </a:moveTo>
                <a:cubicBezTo>
                  <a:pt x="14322" y="2011"/>
                  <a:pt x="21600" y="10880"/>
                  <a:pt x="21600" y="21184"/>
                </a:cubicBezTo>
                <a:cubicBezTo>
                  <a:pt x="21600" y="31275"/>
                  <a:pt x="14612" y="40022"/>
                  <a:pt x="4769" y="42250"/>
                </a:cubicBezTo>
              </a:path>
              <a:path w="21600" h="42251" stroke="0" extrusionOk="0">
                <a:moveTo>
                  <a:pt x="4217" y="-1"/>
                </a:moveTo>
                <a:cubicBezTo>
                  <a:pt x="14322" y="2011"/>
                  <a:pt x="21600" y="10880"/>
                  <a:pt x="21600" y="21184"/>
                </a:cubicBezTo>
                <a:cubicBezTo>
                  <a:pt x="21600" y="31275"/>
                  <a:pt x="14612" y="40022"/>
                  <a:pt x="4769" y="42250"/>
                </a:cubicBezTo>
                <a:lnTo>
                  <a:pt x="0" y="21184"/>
                </a:lnTo>
                <a:lnTo>
                  <a:pt x="4217"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852" name="Arc 12">
            <a:extLst>
              <a:ext uri="{FF2B5EF4-FFF2-40B4-BE49-F238E27FC236}">
                <a16:creationId xmlns:a16="http://schemas.microsoft.com/office/drawing/2014/main" id="{87BA3A67-7927-47B8-B617-4CACD607D0E8}"/>
              </a:ext>
            </a:extLst>
          </p:cNvPr>
          <p:cNvSpPr>
            <a:spLocks/>
          </p:cNvSpPr>
          <p:nvPr/>
        </p:nvSpPr>
        <p:spPr bwMode="auto">
          <a:xfrm rot="5626637" flipV="1">
            <a:off x="2077244" y="3361532"/>
            <a:ext cx="838200" cy="2360612"/>
          </a:xfrm>
          <a:custGeom>
            <a:avLst/>
            <a:gdLst>
              <a:gd name="T0" fmla="*/ 2147483646 w 21600"/>
              <a:gd name="T1" fmla="*/ 0 h 39345"/>
              <a:gd name="T2" fmla="*/ 2147483646 w 21600"/>
              <a:gd name="T3" fmla="*/ 2147483646 h 39345"/>
              <a:gd name="T4" fmla="*/ 0 w 21600"/>
              <a:gd name="T5" fmla="*/ 2147483646 h 39345"/>
              <a:gd name="T6" fmla="*/ 0 60000 65536"/>
              <a:gd name="T7" fmla="*/ 0 60000 65536"/>
              <a:gd name="T8" fmla="*/ 0 60000 65536"/>
              <a:gd name="T9" fmla="*/ 0 w 21600"/>
              <a:gd name="T10" fmla="*/ 0 h 39345"/>
              <a:gd name="T11" fmla="*/ 21600 w 21600"/>
              <a:gd name="T12" fmla="*/ 39345 h 39345"/>
            </a:gdLst>
            <a:ahLst/>
            <a:cxnLst>
              <a:cxn ang="T6">
                <a:pos x="T0" y="T1"/>
              </a:cxn>
              <a:cxn ang="T7">
                <a:pos x="T2" y="T3"/>
              </a:cxn>
              <a:cxn ang="T8">
                <a:pos x="T4" y="T5"/>
              </a:cxn>
            </a:cxnLst>
            <a:rect l="T9" t="T10" r="T11" b="T12"/>
            <a:pathLst>
              <a:path w="21600" h="39345" fill="none" extrusionOk="0">
                <a:moveTo>
                  <a:pt x="10520" y="-1"/>
                </a:moveTo>
                <a:cubicBezTo>
                  <a:pt x="17360" y="3814"/>
                  <a:pt x="21600" y="11032"/>
                  <a:pt x="21600" y="18865"/>
                </a:cubicBezTo>
                <a:cubicBezTo>
                  <a:pt x="21600" y="28148"/>
                  <a:pt x="15667" y="36394"/>
                  <a:pt x="6865" y="39345"/>
                </a:cubicBezTo>
              </a:path>
              <a:path w="21600" h="39345" stroke="0" extrusionOk="0">
                <a:moveTo>
                  <a:pt x="10520" y="-1"/>
                </a:moveTo>
                <a:cubicBezTo>
                  <a:pt x="17360" y="3814"/>
                  <a:pt x="21600" y="11032"/>
                  <a:pt x="21600" y="18865"/>
                </a:cubicBezTo>
                <a:cubicBezTo>
                  <a:pt x="21600" y="28148"/>
                  <a:pt x="15667" y="36394"/>
                  <a:pt x="6865" y="39345"/>
                </a:cubicBezTo>
                <a:lnTo>
                  <a:pt x="0" y="18865"/>
                </a:lnTo>
                <a:lnTo>
                  <a:pt x="10520"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853" name="Line 13">
            <a:extLst>
              <a:ext uri="{FF2B5EF4-FFF2-40B4-BE49-F238E27FC236}">
                <a16:creationId xmlns:a16="http://schemas.microsoft.com/office/drawing/2014/main" id="{513319BD-00FA-41F1-A4F0-F0C9E586D13B}"/>
              </a:ext>
            </a:extLst>
          </p:cNvPr>
          <p:cNvSpPr>
            <a:spLocks noChangeShapeType="1"/>
          </p:cNvSpPr>
          <p:nvPr/>
        </p:nvSpPr>
        <p:spPr bwMode="auto">
          <a:xfrm flipV="1">
            <a:off x="2409825" y="3290888"/>
            <a:ext cx="609600" cy="2362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4" name="Line 14">
            <a:extLst>
              <a:ext uri="{FF2B5EF4-FFF2-40B4-BE49-F238E27FC236}">
                <a16:creationId xmlns:a16="http://schemas.microsoft.com/office/drawing/2014/main" id="{5BE51A34-C216-4D9A-AE5A-C4BFC0DC3398}"/>
              </a:ext>
            </a:extLst>
          </p:cNvPr>
          <p:cNvSpPr>
            <a:spLocks noChangeShapeType="1"/>
          </p:cNvSpPr>
          <p:nvPr/>
        </p:nvSpPr>
        <p:spPr bwMode="auto">
          <a:xfrm>
            <a:off x="5029200" y="4967288"/>
            <a:ext cx="1676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5" name="Line 15">
            <a:extLst>
              <a:ext uri="{FF2B5EF4-FFF2-40B4-BE49-F238E27FC236}">
                <a16:creationId xmlns:a16="http://schemas.microsoft.com/office/drawing/2014/main" id="{8C51C2F5-01D7-4269-8EE0-87F5E01CC710}"/>
              </a:ext>
            </a:extLst>
          </p:cNvPr>
          <p:cNvSpPr>
            <a:spLocks noChangeShapeType="1"/>
          </p:cNvSpPr>
          <p:nvPr/>
        </p:nvSpPr>
        <p:spPr bwMode="auto">
          <a:xfrm>
            <a:off x="5105400" y="3748088"/>
            <a:ext cx="1981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6" name="Text Box 16">
            <a:extLst>
              <a:ext uri="{FF2B5EF4-FFF2-40B4-BE49-F238E27FC236}">
                <a16:creationId xmlns:a16="http://schemas.microsoft.com/office/drawing/2014/main" id="{60C7B458-00CF-46B4-A347-1B193C8E56DB}"/>
              </a:ext>
            </a:extLst>
          </p:cNvPr>
          <p:cNvSpPr txBox="1">
            <a:spLocks noChangeArrowheads="1"/>
          </p:cNvSpPr>
          <p:nvPr/>
        </p:nvSpPr>
        <p:spPr bwMode="auto">
          <a:xfrm>
            <a:off x="2895600" y="33289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SMC</a:t>
            </a:r>
          </a:p>
        </p:txBody>
      </p:sp>
      <p:sp>
        <p:nvSpPr>
          <p:cNvPr id="35857" name="Text Box 17">
            <a:extLst>
              <a:ext uri="{FF2B5EF4-FFF2-40B4-BE49-F238E27FC236}">
                <a16:creationId xmlns:a16="http://schemas.microsoft.com/office/drawing/2014/main" id="{4C874600-9954-4202-A97F-CE4B36BC8B92}"/>
              </a:ext>
            </a:extLst>
          </p:cNvPr>
          <p:cNvSpPr txBox="1">
            <a:spLocks noChangeArrowheads="1"/>
          </p:cNvSpPr>
          <p:nvPr/>
        </p:nvSpPr>
        <p:spPr bwMode="auto">
          <a:xfrm>
            <a:off x="2895600" y="4295775"/>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SAC</a:t>
            </a:r>
          </a:p>
        </p:txBody>
      </p:sp>
      <p:sp>
        <p:nvSpPr>
          <p:cNvPr id="35858" name="Text Box 18">
            <a:extLst>
              <a:ext uri="{FF2B5EF4-FFF2-40B4-BE49-F238E27FC236}">
                <a16:creationId xmlns:a16="http://schemas.microsoft.com/office/drawing/2014/main" id="{21FE0DE9-B5F7-4A9E-B8FD-8C6D66D57B01}"/>
              </a:ext>
            </a:extLst>
          </p:cNvPr>
          <p:cNvSpPr txBox="1">
            <a:spLocks noChangeArrowheads="1"/>
          </p:cNvSpPr>
          <p:nvPr/>
        </p:nvSpPr>
        <p:spPr bwMode="auto">
          <a:xfrm>
            <a:off x="3543300" y="42814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LAC</a:t>
            </a:r>
          </a:p>
        </p:txBody>
      </p:sp>
      <p:sp>
        <p:nvSpPr>
          <p:cNvPr id="35859" name="Text Box 19">
            <a:extLst>
              <a:ext uri="{FF2B5EF4-FFF2-40B4-BE49-F238E27FC236}">
                <a16:creationId xmlns:a16="http://schemas.microsoft.com/office/drawing/2014/main" id="{75FA5891-0BCA-467F-8096-7668EA23E148}"/>
              </a:ext>
            </a:extLst>
          </p:cNvPr>
          <p:cNvSpPr txBox="1">
            <a:spLocks noChangeArrowheads="1"/>
          </p:cNvSpPr>
          <p:nvPr/>
        </p:nvSpPr>
        <p:spPr bwMode="auto">
          <a:xfrm>
            <a:off x="2076450" y="4619625"/>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E</a:t>
            </a:r>
          </a:p>
        </p:txBody>
      </p:sp>
      <p:sp>
        <p:nvSpPr>
          <p:cNvPr id="35860" name="Text Box 20">
            <a:extLst>
              <a:ext uri="{FF2B5EF4-FFF2-40B4-BE49-F238E27FC236}">
                <a16:creationId xmlns:a16="http://schemas.microsoft.com/office/drawing/2014/main" id="{422EFFA4-12B0-4380-9152-9F0759A07E5D}"/>
              </a:ext>
            </a:extLst>
          </p:cNvPr>
          <p:cNvSpPr txBox="1">
            <a:spLocks noChangeArrowheads="1"/>
          </p:cNvSpPr>
          <p:nvPr/>
        </p:nvSpPr>
        <p:spPr bwMode="auto">
          <a:xfrm>
            <a:off x="2400300" y="460533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F</a:t>
            </a:r>
          </a:p>
        </p:txBody>
      </p:sp>
      <p:sp>
        <p:nvSpPr>
          <p:cNvPr id="35861" name="Text Box 21">
            <a:extLst>
              <a:ext uri="{FF2B5EF4-FFF2-40B4-BE49-F238E27FC236}">
                <a16:creationId xmlns:a16="http://schemas.microsoft.com/office/drawing/2014/main" id="{9CB3327D-9773-4B32-B288-0BC2A7E718FC}"/>
              </a:ext>
            </a:extLst>
          </p:cNvPr>
          <p:cNvSpPr txBox="1">
            <a:spLocks noChangeArrowheads="1"/>
          </p:cNvSpPr>
          <p:nvPr/>
        </p:nvSpPr>
        <p:spPr bwMode="auto">
          <a:xfrm>
            <a:off x="762000" y="6124575"/>
            <a:ext cx="38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0</a:t>
            </a:r>
          </a:p>
        </p:txBody>
      </p:sp>
      <p:sp>
        <p:nvSpPr>
          <p:cNvPr id="35862" name="Text Box 22">
            <a:extLst>
              <a:ext uri="{FF2B5EF4-FFF2-40B4-BE49-F238E27FC236}">
                <a16:creationId xmlns:a16="http://schemas.microsoft.com/office/drawing/2014/main" id="{26A8C7EC-3275-4DC1-9F75-E2574CACDD15}"/>
              </a:ext>
            </a:extLst>
          </p:cNvPr>
          <p:cNvSpPr txBox="1">
            <a:spLocks noChangeArrowheads="1"/>
          </p:cNvSpPr>
          <p:nvPr/>
        </p:nvSpPr>
        <p:spPr bwMode="auto">
          <a:xfrm>
            <a:off x="381000" y="2986088"/>
            <a:ext cx="914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P</a:t>
            </a:r>
          </a:p>
        </p:txBody>
      </p:sp>
      <p:sp>
        <p:nvSpPr>
          <p:cNvPr id="35863" name="Text Box 23">
            <a:extLst>
              <a:ext uri="{FF2B5EF4-FFF2-40B4-BE49-F238E27FC236}">
                <a16:creationId xmlns:a16="http://schemas.microsoft.com/office/drawing/2014/main" id="{A2A24B52-3DD8-4C1D-AEA5-134BB6DC3A82}"/>
              </a:ext>
            </a:extLst>
          </p:cNvPr>
          <p:cNvSpPr txBox="1">
            <a:spLocks noChangeArrowheads="1"/>
          </p:cNvSpPr>
          <p:nvPr/>
        </p:nvSpPr>
        <p:spPr bwMode="auto">
          <a:xfrm>
            <a:off x="4724400" y="6129338"/>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0</a:t>
            </a:r>
          </a:p>
        </p:txBody>
      </p:sp>
      <p:sp>
        <p:nvSpPr>
          <p:cNvPr id="35864" name="Line 24">
            <a:extLst>
              <a:ext uri="{FF2B5EF4-FFF2-40B4-BE49-F238E27FC236}">
                <a16:creationId xmlns:a16="http://schemas.microsoft.com/office/drawing/2014/main" id="{72C6BC7A-3459-4B6F-807C-3A332EC9E73E}"/>
              </a:ext>
            </a:extLst>
          </p:cNvPr>
          <p:cNvSpPr>
            <a:spLocks noChangeShapeType="1"/>
          </p:cNvSpPr>
          <p:nvPr/>
        </p:nvSpPr>
        <p:spPr bwMode="auto">
          <a:xfrm>
            <a:off x="7010400" y="3443288"/>
            <a:ext cx="590550" cy="23907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5" name="Line 25">
            <a:extLst>
              <a:ext uri="{FF2B5EF4-FFF2-40B4-BE49-F238E27FC236}">
                <a16:creationId xmlns:a16="http://schemas.microsoft.com/office/drawing/2014/main" id="{F14BBFF8-9DDC-4F29-969F-DF59EDFD441A}"/>
              </a:ext>
            </a:extLst>
          </p:cNvPr>
          <p:cNvSpPr>
            <a:spLocks noChangeShapeType="1"/>
          </p:cNvSpPr>
          <p:nvPr/>
        </p:nvSpPr>
        <p:spPr bwMode="auto">
          <a:xfrm flipV="1">
            <a:off x="6372225" y="3290888"/>
            <a:ext cx="866775"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6" name="Line 26">
            <a:extLst>
              <a:ext uri="{FF2B5EF4-FFF2-40B4-BE49-F238E27FC236}">
                <a16:creationId xmlns:a16="http://schemas.microsoft.com/office/drawing/2014/main" id="{7ED44F39-9966-4491-AB66-584D39D48CB6}"/>
              </a:ext>
            </a:extLst>
          </p:cNvPr>
          <p:cNvSpPr>
            <a:spLocks noChangeShapeType="1"/>
          </p:cNvSpPr>
          <p:nvPr/>
        </p:nvSpPr>
        <p:spPr bwMode="auto">
          <a:xfrm flipV="1">
            <a:off x="6705600" y="3290888"/>
            <a:ext cx="83820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7" name="Text Box 27">
            <a:extLst>
              <a:ext uri="{FF2B5EF4-FFF2-40B4-BE49-F238E27FC236}">
                <a16:creationId xmlns:a16="http://schemas.microsoft.com/office/drawing/2014/main" id="{2C53E816-C536-4185-A97E-D9A9C7968E6E}"/>
              </a:ext>
            </a:extLst>
          </p:cNvPr>
          <p:cNvSpPr txBox="1">
            <a:spLocks noChangeArrowheads="1"/>
          </p:cNvSpPr>
          <p:nvPr/>
        </p:nvSpPr>
        <p:spPr bwMode="auto">
          <a:xfrm>
            <a:off x="4343400" y="3038475"/>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P</a:t>
            </a:r>
          </a:p>
        </p:txBody>
      </p:sp>
      <p:sp>
        <p:nvSpPr>
          <p:cNvPr id="35868" name="Text Box 28">
            <a:extLst>
              <a:ext uri="{FF2B5EF4-FFF2-40B4-BE49-F238E27FC236}">
                <a16:creationId xmlns:a16="http://schemas.microsoft.com/office/drawing/2014/main" id="{AB5E7CCE-5D68-42FF-8E92-846E6CACE57C}"/>
              </a:ext>
            </a:extLst>
          </p:cNvPr>
          <p:cNvSpPr txBox="1">
            <a:spLocks noChangeArrowheads="1"/>
          </p:cNvSpPr>
          <p:nvPr/>
        </p:nvSpPr>
        <p:spPr bwMode="auto">
          <a:xfrm>
            <a:off x="7086600" y="3571875"/>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2</a:t>
            </a:r>
          </a:p>
        </p:txBody>
      </p:sp>
      <p:sp>
        <p:nvSpPr>
          <p:cNvPr id="35869" name="Text Box 29">
            <a:extLst>
              <a:ext uri="{FF2B5EF4-FFF2-40B4-BE49-F238E27FC236}">
                <a16:creationId xmlns:a16="http://schemas.microsoft.com/office/drawing/2014/main" id="{FE73570B-BBD6-4249-982E-8EC45A127199}"/>
              </a:ext>
            </a:extLst>
          </p:cNvPr>
          <p:cNvSpPr txBox="1">
            <a:spLocks noChangeArrowheads="1"/>
          </p:cNvSpPr>
          <p:nvPr/>
        </p:nvSpPr>
        <p:spPr bwMode="auto">
          <a:xfrm>
            <a:off x="6686550" y="4810125"/>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1</a:t>
            </a:r>
          </a:p>
        </p:txBody>
      </p:sp>
      <p:sp>
        <p:nvSpPr>
          <p:cNvPr id="35870" name="Text Box 30">
            <a:extLst>
              <a:ext uri="{FF2B5EF4-FFF2-40B4-BE49-F238E27FC236}">
                <a16:creationId xmlns:a16="http://schemas.microsoft.com/office/drawing/2014/main" id="{DE0DB2F3-ACF3-4D32-BE33-892FF0D47A6C}"/>
              </a:ext>
            </a:extLst>
          </p:cNvPr>
          <p:cNvSpPr txBox="1">
            <a:spLocks noChangeArrowheads="1"/>
          </p:cNvSpPr>
          <p:nvPr/>
        </p:nvSpPr>
        <p:spPr bwMode="auto">
          <a:xfrm>
            <a:off x="7210425" y="42052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3</a:t>
            </a:r>
          </a:p>
        </p:txBody>
      </p:sp>
      <p:sp>
        <p:nvSpPr>
          <p:cNvPr id="35871" name="Text Box 31">
            <a:extLst>
              <a:ext uri="{FF2B5EF4-FFF2-40B4-BE49-F238E27FC236}">
                <a16:creationId xmlns:a16="http://schemas.microsoft.com/office/drawing/2014/main" id="{74A8E935-BC28-4ABF-8399-6E7A92B9706A}"/>
              </a:ext>
            </a:extLst>
          </p:cNvPr>
          <p:cNvSpPr txBox="1">
            <a:spLocks noChangeArrowheads="1"/>
          </p:cNvSpPr>
          <p:nvPr/>
        </p:nvSpPr>
        <p:spPr bwMode="auto">
          <a:xfrm>
            <a:off x="7620000" y="3748088"/>
            <a:ext cx="696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2000" b="1">
                <a:latin typeface="Times New Roman" panose="02020603050405020304" pitchFamily="18" charset="0"/>
              </a:rPr>
              <a:t>LS</a:t>
            </a:r>
          </a:p>
        </p:txBody>
      </p:sp>
      <p:sp>
        <p:nvSpPr>
          <p:cNvPr id="35872" name="Text Box 32">
            <a:extLst>
              <a:ext uri="{FF2B5EF4-FFF2-40B4-BE49-F238E27FC236}">
                <a16:creationId xmlns:a16="http://schemas.microsoft.com/office/drawing/2014/main" id="{981BE768-0EDC-414B-96EF-547F20205F01}"/>
              </a:ext>
            </a:extLst>
          </p:cNvPr>
          <p:cNvSpPr txBox="1">
            <a:spLocks noChangeArrowheads="1"/>
          </p:cNvSpPr>
          <p:nvPr/>
        </p:nvSpPr>
        <p:spPr bwMode="auto">
          <a:xfrm>
            <a:off x="7162800" y="32146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t>
            </a:r>
          </a:p>
        </p:txBody>
      </p:sp>
      <p:sp>
        <p:nvSpPr>
          <p:cNvPr id="35873" name="Text Box 33">
            <a:extLst>
              <a:ext uri="{FF2B5EF4-FFF2-40B4-BE49-F238E27FC236}">
                <a16:creationId xmlns:a16="http://schemas.microsoft.com/office/drawing/2014/main" id="{1A123EAD-F371-42B2-85AC-3D5A54A7BD71}"/>
              </a:ext>
            </a:extLst>
          </p:cNvPr>
          <p:cNvSpPr txBox="1">
            <a:spLocks noChangeArrowheads="1"/>
          </p:cNvSpPr>
          <p:nvPr/>
        </p:nvSpPr>
        <p:spPr bwMode="auto">
          <a:xfrm>
            <a:off x="7467600" y="32146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t>
            </a:r>
          </a:p>
        </p:txBody>
      </p:sp>
      <p:sp>
        <p:nvSpPr>
          <p:cNvPr id="35874" name="Text Box 34">
            <a:extLst>
              <a:ext uri="{FF2B5EF4-FFF2-40B4-BE49-F238E27FC236}">
                <a16:creationId xmlns:a16="http://schemas.microsoft.com/office/drawing/2014/main" id="{8BBF98A3-A293-4D4A-9CEF-0926638F0ACB}"/>
              </a:ext>
            </a:extLst>
          </p:cNvPr>
          <p:cNvSpPr txBox="1">
            <a:spLocks noChangeArrowheads="1"/>
          </p:cNvSpPr>
          <p:nvPr/>
        </p:nvSpPr>
        <p:spPr bwMode="auto">
          <a:xfrm>
            <a:off x="6934200" y="5591175"/>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D</a:t>
            </a:r>
          </a:p>
        </p:txBody>
      </p:sp>
      <p:sp>
        <p:nvSpPr>
          <p:cNvPr id="35875" name="Text Box 35">
            <a:extLst>
              <a:ext uri="{FF2B5EF4-FFF2-40B4-BE49-F238E27FC236}">
                <a16:creationId xmlns:a16="http://schemas.microsoft.com/office/drawing/2014/main" id="{090BC31D-9DCD-49C1-B6E1-E7A6049DE3EC}"/>
              </a:ext>
            </a:extLst>
          </p:cNvPr>
          <p:cNvSpPr txBox="1">
            <a:spLocks noChangeArrowheads="1"/>
          </p:cNvSpPr>
          <p:nvPr/>
        </p:nvSpPr>
        <p:spPr bwMode="auto">
          <a:xfrm>
            <a:off x="7467600" y="5514975"/>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D’</a:t>
            </a:r>
          </a:p>
        </p:txBody>
      </p:sp>
      <p:sp>
        <p:nvSpPr>
          <p:cNvPr id="35876" name="Text Box 36">
            <a:extLst>
              <a:ext uri="{FF2B5EF4-FFF2-40B4-BE49-F238E27FC236}">
                <a16:creationId xmlns:a16="http://schemas.microsoft.com/office/drawing/2014/main" id="{8C04F653-499E-4FC0-A931-07A9E71170AC}"/>
              </a:ext>
            </a:extLst>
          </p:cNvPr>
          <p:cNvSpPr txBox="1">
            <a:spLocks noChangeArrowheads="1"/>
          </p:cNvSpPr>
          <p:nvPr/>
        </p:nvSpPr>
        <p:spPr bwMode="auto">
          <a:xfrm>
            <a:off x="3962400" y="616743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p>
        </p:txBody>
      </p:sp>
      <p:sp>
        <p:nvSpPr>
          <p:cNvPr id="35877" name="Text Box 37">
            <a:extLst>
              <a:ext uri="{FF2B5EF4-FFF2-40B4-BE49-F238E27FC236}">
                <a16:creationId xmlns:a16="http://schemas.microsoft.com/office/drawing/2014/main" id="{170107F1-6DB0-4011-91A2-414B41EFB7B9}"/>
              </a:ext>
            </a:extLst>
          </p:cNvPr>
          <p:cNvSpPr txBox="1">
            <a:spLocks noChangeArrowheads="1"/>
          </p:cNvSpPr>
          <p:nvPr/>
        </p:nvSpPr>
        <p:spPr bwMode="auto">
          <a:xfrm>
            <a:off x="8077200" y="616743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p>
        </p:txBody>
      </p:sp>
      <p:sp>
        <p:nvSpPr>
          <p:cNvPr id="35878" name="Line 38">
            <a:extLst>
              <a:ext uri="{FF2B5EF4-FFF2-40B4-BE49-F238E27FC236}">
                <a16:creationId xmlns:a16="http://schemas.microsoft.com/office/drawing/2014/main" id="{962D99D1-5A82-40DE-A95B-6FFF6301B096}"/>
              </a:ext>
            </a:extLst>
          </p:cNvPr>
          <p:cNvSpPr>
            <a:spLocks noChangeShapeType="1"/>
          </p:cNvSpPr>
          <p:nvPr/>
        </p:nvSpPr>
        <p:spPr bwMode="auto">
          <a:xfrm>
            <a:off x="1066800" y="4357688"/>
            <a:ext cx="3352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79" name="Line 39">
            <a:extLst>
              <a:ext uri="{FF2B5EF4-FFF2-40B4-BE49-F238E27FC236}">
                <a16:creationId xmlns:a16="http://schemas.microsoft.com/office/drawing/2014/main" id="{AA2A0533-70B0-42A4-858A-A47794056B05}"/>
              </a:ext>
            </a:extLst>
          </p:cNvPr>
          <p:cNvSpPr>
            <a:spLocks noChangeShapeType="1"/>
          </p:cNvSpPr>
          <p:nvPr/>
        </p:nvSpPr>
        <p:spPr bwMode="auto">
          <a:xfrm>
            <a:off x="2286000" y="4357688"/>
            <a:ext cx="0" cy="182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80" name="Arc 40">
            <a:extLst>
              <a:ext uri="{FF2B5EF4-FFF2-40B4-BE49-F238E27FC236}">
                <a16:creationId xmlns:a16="http://schemas.microsoft.com/office/drawing/2014/main" id="{A5877D92-1A3B-4FC5-9F7F-6BBCF3BC198F}"/>
              </a:ext>
            </a:extLst>
          </p:cNvPr>
          <p:cNvSpPr>
            <a:spLocks/>
          </p:cNvSpPr>
          <p:nvPr/>
        </p:nvSpPr>
        <p:spPr bwMode="auto">
          <a:xfrm rot="5385677" flipV="1">
            <a:off x="2078037" y="3657601"/>
            <a:ext cx="447675" cy="914400"/>
          </a:xfrm>
          <a:custGeom>
            <a:avLst/>
            <a:gdLst>
              <a:gd name="T0" fmla="*/ 2147483646 w 21600"/>
              <a:gd name="T1" fmla="*/ 0 h 42251"/>
              <a:gd name="T2" fmla="*/ 2147483646 w 21600"/>
              <a:gd name="T3" fmla="*/ 2147483646 h 42251"/>
              <a:gd name="T4" fmla="*/ 0 w 21600"/>
              <a:gd name="T5" fmla="*/ 2147483646 h 42251"/>
              <a:gd name="T6" fmla="*/ 0 60000 65536"/>
              <a:gd name="T7" fmla="*/ 0 60000 65536"/>
              <a:gd name="T8" fmla="*/ 0 60000 65536"/>
              <a:gd name="T9" fmla="*/ 0 w 21600"/>
              <a:gd name="T10" fmla="*/ 0 h 42251"/>
              <a:gd name="T11" fmla="*/ 21600 w 21600"/>
              <a:gd name="T12" fmla="*/ 42251 h 42251"/>
            </a:gdLst>
            <a:ahLst/>
            <a:cxnLst>
              <a:cxn ang="T6">
                <a:pos x="T0" y="T1"/>
              </a:cxn>
              <a:cxn ang="T7">
                <a:pos x="T2" y="T3"/>
              </a:cxn>
              <a:cxn ang="T8">
                <a:pos x="T4" y="T5"/>
              </a:cxn>
            </a:cxnLst>
            <a:rect l="T9" t="T10" r="T11" b="T12"/>
            <a:pathLst>
              <a:path w="21600" h="42251" fill="none" extrusionOk="0">
                <a:moveTo>
                  <a:pt x="4217" y="-1"/>
                </a:moveTo>
                <a:cubicBezTo>
                  <a:pt x="14322" y="2011"/>
                  <a:pt x="21600" y="10880"/>
                  <a:pt x="21600" y="21184"/>
                </a:cubicBezTo>
                <a:cubicBezTo>
                  <a:pt x="21600" y="31275"/>
                  <a:pt x="14612" y="40022"/>
                  <a:pt x="4769" y="42250"/>
                </a:cubicBezTo>
              </a:path>
              <a:path w="21600" h="42251" stroke="0" extrusionOk="0">
                <a:moveTo>
                  <a:pt x="4217" y="-1"/>
                </a:moveTo>
                <a:cubicBezTo>
                  <a:pt x="14322" y="2011"/>
                  <a:pt x="21600" y="10880"/>
                  <a:pt x="21600" y="21184"/>
                </a:cubicBezTo>
                <a:cubicBezTo>
                  <a:pt x="21600" y="31275"/>
                  <a:pt x="14612" y="40022"/>
                  <a:pt x="4769" y="42250"/>
                </a:cubicBezTo>
                <a:lnTo>
                  <a:pt x="0" y="21184"/>
                </a:lnTo>
                <a:lnTo>
                  <a:pt x="4217"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881" name="Arc 41">
            <a:extLst>
              <a:ext uri="{FF2B5EF4-FFF2-40B4-BE49-F238E27FC236}">
                <a16:creationId xmlns:a16="http://schemas.microsoft.com/office/drawing/2014/main" id="{1DC218B0-176F-4B5F-B878-C3A847D50D16}"/>
              </a:ext>
            </a:extLst>
          </p:cNvPr>
          <p:cNvSpPr>
            <a:spLocks/>
          </p:cNvSpPr>
          <p:nvPr/>
        </p:nvSpPr>
        <p:spPr bwMode="auto">
          <a:xfrm rot="5626637" flipV="1">
            <a:off x="1878807" y="2905918"/>
            <a:ext cx="838200" cy="2074863"/>
          </a:xfrm>
          <a:custGeom>
            <a:avLst/>
            <a:gdLst>
              <a:gd name="T0" fmla="*/ 2147483646 w 21600"/>
              <a:gd name="T1" fmla="*/ 0 h 34579"/>
              <a:gd name="T2" fmla="*/ 2147483646 w 21600"/>
              <a:gd name="T3" fmla="*/ 2147483646 h 34579"/>
              <a:gd name="T4" fmla="*/ 0 w 21600"/>
              <a:gd name="T5" fmla="*/ 2147483646 h 34579"/>
              <a:gd name="T6" fmla="*/ 0 60000 65536"/>
              <a:gd name="T7" fmla="*/ 0 60000 65536"/>
              <a:gd name="T8" fmla="*/ 0 60000 65536"/>
              <a:gd name="T9" fmla="*/ 0 w 21600"/>
              <a:gd name="T10" fmla="*/ 0 h 34579"/>
              <a:gd name="T11" fmla="*/ 21600 w 21600"/>
              <a:gd name="T12" fmla="*/ 34579 h 34579"/>
            </a:gdLst>
            <a:ahLst/>
            <a:cxnLst>
              <a:cxn ang="T6">
                <a:pos x="T0" y="T1"/>
              </a:cxn>
              <a:cxn ang="T7">
                <a:pos x="T2" y="T3"/>
              </a:cxn>
              <a:cxn ang="T8">
                <a:pos x="T4" y="T5"/>
              </a:cxn>
            </a:cxnLst>
            <a:rect l="T9" t="T10" r="T11" b="T12"/>
            <a:pathLst>
              <a:path w="21600" h="34579" fill="none" extrusionOk="0">
                <a:moveTo>
                  <a:pt x="15134" y="-1"/>
                </a:moveTo>
                <a:cubicBezTo>
                  <a:pt x="19270" y="4061"/>
                  <a:pt x="21600" y="9614"/>
                  <a:pt x="21600" y="15411"/>
                </a:cubicBezTo>
                <a:cubicBezTo>
                  <a:pt x="21600" y="23472"/>
                  <a:pt x="17110" y="30863"/>
                  <a:pt x="9956" y="34579"/>
                </a:cubicBezTo>
              </a:path>
              <a:path w="21600" h="34579" stroke="0" extrusionOk="0">
                <a:moveTo>
                  <a:pt x="15134" y="-1"/>
                </a:moveTo>
                <a:cubicBezTo>
                  <a:pt x="19270" y="4061"/>
                  <a:pt x="21600" y="9614"/>
                  <a:pt x="21600" y="15411"/>
                </a:cubicBezTo>
                <a:cubicBezTo>
                  <a:pt x="21600" y="23472"/>
                  <a:pt x="17110" y="30863"/>
                  <a:pt x="9956" y="34579"/>
                </a:cubicBezTo>
                <a:lnTo>
                  <a:pt x="0" y="15411"/>
                </a:lnTo>
                <a:lnTo>
                  <a:pt x="15134"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5882" name="Text Box 42">
            <a:extLst>
              <a:ext uri="{FF2B5EF4-FFF2-40B4-BE49-F238E27FC236}">
                <a16:creationId xmlns:a16="http://schemas.microsoft.com/office/drawing/2014/main" id="{41B84298-6E91-4922-9F98-5DCE0EFE6CB3}"/>
              </a:ext>
            </a:extLst>
          </p:cNvPr>
          <p:cNvSpPr txBox="1">
            <a:spLocks noChangeArrowheads="1"/>
          </p:cNvSpPr>
          <p:nvPr/>
        </p:nvSpPr>
        <p:spPr bwMode="auto">
          <a:xfrm>
            <a:off x="1428750" y="3681413"/>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SAC’</a:t>
            </a:r>
          </a:p>
        </p:txBody>
      </p:sp>
      <p:sp>
        <p:nvSpPr>
          <p:cNvPr id="35883" name="Text Box 43">
            <a:extLst>
              <a:ext uri="{FF2B5EF4-FFF2-40B4-BE49-F238E27FC236}">
                <a16:creationId xmlns:a16="http://schemas.microsoft.com/office/drawing/2014/main" id="{ACC07D38-FE53-4A78-AF78-AFF7A87C5BE2}"/>
              </a:ext>
            </a:extLst>
          </p:cNvPr>
          <p:cNvSpPr txBox="1">
            <a:spLocks noChangeArrowheads="1"/>
          </p:cNvSpPr>
          <p:nvPr/>
        </p:nvSpPr>
        <p:spPr bwMode="auto">
          <a:xfrm>
            <a:off x="3143250" y="37480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LAC’</a:t>
            </a:r>
          </a:p>
        </p:txBody>
      </p:sp>
      <p:sp>
        <p:nvSpPr>
          <p:cNvPr id="35884" name="Line 44">
            <a:extLst>
              <a:ext uri="{FF2B5EF4-FFF2-40B4-BE49-F238E27FC236}">
                <a16:creationId xmlns:a16="http://schemas.microsoft.com/office/drawing/2014/main" id="{5299EA1E-9B20-4F52-A99F-DB4FF7DD4712}"/>
              </a:ext>
            </a:extLst>
          </p:cNvPr>
          <p:cNvSpPr>
            <a:spLocks noChangeShapeType="1"/>
          </p:cNvSpPr>
          <p:nvPr/>
        </p:nvSpPr>
        <p:spPr bwMode="auto">
          <a:xfrm flipV="1">
            <a:off x="1962150" y="3290888"/>
            <a:ext cx="609600" cy="2362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85" name="Text Box 45">
            <a:extLst>
              <a:ext uri="{FF2B5EF4-FFF2-40B4-BE49-F238E27FC236}">
                <a16:creationId xmlns:a16="http://schemas.microsoft.com/office/drawing/2014/main" id="{4E259CA9-9F33-4A34-86E3-7D567FECA958}"/>
              </a:ext>
            </a:extLst>
          </p:cNvPr>
          <p:cNvSpPr txBox="1">
            <a:spLocks noChangeArrowheads="1"/>
          </p:cNvSpPr>
          <p:nvPr/>
        </p:nvSpPr>
        <p:spPr bwMode="auto">
          <a:xfrm>
            <a:off x="1704975" y="42814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E’</a:t>
            </a:r>
          </a:p>
        </p:txBody>
      </p:sp>
      <p:sp>
        <p:nvSpPr>
          <p:cNvPr id="35886" name="Line 46">
            <a:extLst>
              <a:ext uri="{FF2B5EF4-FFF2-40B4-BE49-F238E27FC236}">
                <a16:creationId xmlns:a16="http://schemas.microsoft.com/office/drawing/2014/main" id="{1001BA5B-2F22-4102-98DF-53CA6F73A5B4}"/>
              </a:ext>
            </a:extLst>
          </p:cNvPr>
          <p:cNvSpPr>
            <a:spLocks noChangeShapeType="1"/>
          </p:cNvSpPr>
          <p:nvPr/>
        </p:nvSpPr>
        <p:spPr bwMode="auto">
          <a:xfrm>
            <a:off x="5105400" y="4357688"/>
            <a:ext cx="2133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87" name="Line 47">
            <a:extLst>
              <a:ext uri="{FF2B5EF4-FFF2-40B4-BE49-F238E27FC236}">
                <a16:creationId xmlns:a16="http://schemas.microsoft.com/office/drawing/2014/main" id="{11B42CC0-4DEE-4AA5-8F51-20351C15A0FE}"/>
              </a:ext>
            </a:extLst>
          </p:cNvPr>
          <p:cNvSpPr>
            <a:spLocks noChangeShapeType="1"/>
          </p:cNvSpPr>
          <p:nvPr/>
        </p:nvSpPr>
        <p:spPr bwMode="auto">
          <a:xfrm>
            <a:off x="6257925" y="3367088"/>
            <a:ext cx="742950" cy="2590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88" name="Line 48">
            <a:extLst>
              <a:ext uri="{FF2B5EF4-FFF2-40B4-BE49-F238E27FC236}">
                <a16:creationId xmlns:a16="http://schemas.microsoft.com/office/drawing/2014/main" id="{6D2A1392-7234-4F14-8E1D-50F34D5B50DC}"/>
              </a:ext>
            </a:extLst>
          </p:cNvPr>
          <p:cNvSpPr>
            <a:spLocks noChangeShapeType="1"/>
          </p:cNvSpPr>
          <p:nvPr/>
        </p:nvSpPr>
        <p:spPr bwMode="auto">
          <a:xfrm flipV="1">
            <a:off x="6248400" y="3729038"/>
            <a:ext cx="1524000" cy="175260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 name="内容占位符 3">
            <a:extLst>
              <a:ext uri="{FF2B5EF4-FFF2-40B4-BE49-F238E27FC236}">
                <a16:creationId xmlns:a16="http://schemas.microsoft.com/office/drawing/2014/main" id="{755C933B-54D7-4AB7-A210-749E172D85DA}"/>
              </a:ext>
            </a:extLst>
          </p:cNvPr>
          <p:cNvSpPr>
            <a:spLocks noGrp="1"/>
          </p:cNvSpPr>
          <p:nvPr>
            <p:ph idx="1"/>
          </p:nvPr>
        </p:nvSpPr>
        <p:spPr>
          <a:xfrm>
            <a:off x="457200" y="620688"/>
            <a:ext cx="8229600" cy="2448598"/>
          </a:xfrm>
        </p:spPr>
        <p:txBody>
          <a:bodyPr>
            <a:normAutofit fontScale="85000" lnSpcReduction="20000"/>
          </a:bodyPr>
          <a:lstStyle/>
          <a:p>
            <a:r>
              <a:rPr lang="zh-CN" altLang="en-US" dirty="0"/>
              <a:t>成本递增行业</a:t>
            </a:r>
            <a:endParaRPr lang="en-US" altLang="zh-CN" dirty="0"/>
          </a:p>
          <a:p>
            <a:pPr lvl="1"/>
            <a:r>
              <a:rPr lang="zh-CN" altLang="en-US" dirty="0"/>
              <a:t>新厂商进入的同时，因为供给增加，产品的价格回落，但价格不会回到原先的价格水平，因为平均成本已经上升，已超过原先的价格水平。随新厂商进入而下落的价格，落到新的长期平均成本曲线最低点时，新厂商的进入便会停止，整个行业处于新的均衡状态。这种行业称为成本递增的行业。 </a:t>
            </a:r>
          </a:p>
          <a:p>
            <a:endParaRPr lang="zh-CN" altLang="en-US" dirty="0"/>
          </a:p>
        </p:txBody>
      </p:sp>
      <p:sp>
        <p:nvSpPr>
          <p:cNvPr id="49" name="文本框 48">
            <a:extLst>
              <a:ext uri="{FF2B5EF4-FFF2-40B4-BE49-F238E27FC236}">
                <a16:creationId xmlns:a16="http://schemas.microsoft.com/office/drawing/2014/main" id="{E1B0957C-5FB4-4CB4-8B34-616AA0B13F0A}"/>
              </a:ext>
            </a:extLst>
          </p:cNvPr>
          <p:cNvSpPr txBox="1"/>
          <p:nvPr/>
        </p:nvSpPr>
        <p:spPr>
          <a:xfrm>
            <a:off x="590516" y="4888430"/>
            <a:ext cx="466794" cy="369332"/>
          </a:xfrm>
          <a:prstGeom prst="rect">
            <a:avLst/>
          </a:prstGeom>
          <a:noFill/>
        </p:spPr>
        <p:txBody>
          <a:bodyPr wrap="none" rtlCol="0">
            <a:spAutoFit/>
          </a:bodyPr>
          <a:lstStyle/>
          <a:p>
            <a:r>
              <a:rPr lang="en-US" altLang="zh-CN" dirty="0"/>
              <a:t>P1</a:t>
            </a:r>
            <a:endParaRPr lang="zh-CN" altLang="en-US" dirty="0"/>
          </a:p>
        </p:txBody>
      </p:sp>
      <p:sp>
        <p:nvSpPr>
          <p:cNvPr id="50" name="文本框 49">
            <a:extLst>
              <a:ext uri="{FF2B5EF4-FFF2-40B4-BE49-F238E27FC236}">
                <a16:creationId xmlns:a16="http://schemas.microsoft.com/office/drawing/2014/main" id="{7672396A-1A30-4B0C-9657-9D3A19934E15}"/>
              </a:ext>
            </a:extLst>
          </p:cNvPr>
          <p:cNvSpPr txBox="1"/>
          <p:nvPr/>
        </p:nvSpPr>
        <p:spPr>
          <a:xfrm>
            <a:off x="539720" y="4149050"/>
            <a:ext cx="466794" cy="369332"/>
          </a:xfrm>
          <a:prstGeom prst="rect">
            <a:avLst/>
          </a:prstGeom>
          <a:noFill/>
        </p:spPr>
        <p:txBody>
          <a:bodyPr wrap="none" rtlCol="0">
            <a:spAutoFit/>
          </a:bodyPr>
          <a:lstStyle/>
          <a:p>
            <a:r>
              <a:rPr lang="en-US" altLang="zh-CN" dirty="0"/>
              <a:t>P3</a:t>
            </a:r>
            <a:endParaRPr lang="zh-CN" altLang="en-US" dirty="0"/>
          </a:p>
        </p:txBody>
      </p:sp>
      <p:sp>
        <p:nvSpPr>
          <p:cNvPr id="51" name="文本框 50">
            <a:extLst>
              <a:ext uri="{FF2B5EF4-FFF2-40B4-BE49-F238E27FC236}">
                <a16:creationId xmlns:a16="http://schemas.microsoft.com/office/drawing/2014/main" id="{6F9DD967-7663-40A8-8554-D64618EBE806}"/>
              </a:ext>
            </a:extLst>
          </p:cNvPr>
          <p:cNvSpPr txBox="1"/>
          <p:nvPr/>
        </p:nvSpPr>
        <p:spPr>
          <a:xfrm>
            <a:off x="539720" y="3573010"/>
            <a:ext cx="466794" cy="369332"/>
          </a:xfrm>
          <a:prstGeom prst="rect">
            <a:avLst/>
          </a:prstGeom>
          <a:noFill/>
        </p:spPr>
        <p:txBody>
          <a:bodyPr wrap="none" rtlCol="0">
            <a:spAutoFit/>
          </a:bodyPr>
          <a:lstStyle/>
          <a:p>
            <a:r>
              <a:rPr lang="en-US" altLang="zh-CN" dirty="0"/>
              <a:t>P2</a:t>
            </a:r>
            <a:endParaRPr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Line 3">
            <a:extLst>
              <a:ext uri="{FF2B5EF4-FFF2-40B4-BE49-F238E27FC236}">
                <a16:creationId xmlns:a16="http://schemas.microsoft.com/office/drawing/2014/main" id="{8D8E0B24-08DD-403B-BE02-206D9482700D}"/>
              </a:ext>
            </a:extLst>
          </p:cNvPr>
          <p:cNvSpPr>
            <a:spLocks noChangeShapeType="1"/>
          </p:cNvSpPr>
          <p:nvPr/>
        </p:nvSpPr>
        <p:spPr bwMode="auto">
          <a:xfrm>
            <a:off x="1066800" y="6186488"/>
            <a:ext cx="3657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68" name="Line 4">
            <a:extLst>
              <a:ext uri="{FF2B5EF4-FFF2-40B4-BE49-F238E27FC236}">
                <a16:creationId xmlns:a16="http://schemas.microsoft.com/office/drawing/2014/main" id="{2C60E142-7FF2-47DD-982B-2B8FA8779CDB}"/>
              </a:ext>
            </a:extLst>
          </p:cNvPr>
          <p:cNvSpPr>
            <a:spLocks noChangeShapeType="1"/>
          </p:cNvSpPr>
          <p:nvPr/>
        </p:nvSpPr>
        <p:spPr bwMode="auto">
          <a:xfrm flipV="1">
            <a:off x="1066800" y="3214688"/>
            <a:ext cx="0" cy="297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69" name="Line 5">
            <a:extLst>
              <a:ext uri="{FF2B5EF4-FFF2-40B4-BE49-F238E27FC236}">
                <a16:creationId xmlns:a16="http://schemas.microsoft.com/office/drawing/2014/main" id="{F12291AE-32D9-4249-8059-E6B875F16F38}"/>
              </a:ext>
            </a:extLst>
          </p:cNvPr>
          <p:cNvSpPr>
            <a:spLocks noChangeShapeType="1"/>
          </p:cNvSpPr>
          <p:nvPr/>
        </p:nvSpPr>
        <p:spPr bwMode="auto">
          <a:xfrm>
            <a:off x="5029200" y="6186488"/>
            <a:ext cx="3657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0" name="Line 6">
            <a:extLst>
              <a:ext uri="{FF2B5EF4-FFF2-40B4-BE49-F238E27FC236}">
                <a16:creationId xmlns:a16="http://schemas.microsoft.com/office/drawing/2014/main" id="{6BE528FA-B57B-466E-8660-C3EAECD697BD}"/>
              </a:ext>
            </a:extLst>
          </p:cNvPr>
          <p:cNvSpPr>
            <a:spLocks noChangeShapeType="1"/>
          </p:cNvSpPr>
          <p:nvPr/>
        </p:nvSpPr>
        <p:spPr bwMode="auto">
          <a:xfrm flipV="1">
            <a:off x="5029200" y="3214688"/>
            <a:ext cx="0" cy="297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1" name="Line 7">
            <a:extLst>
              <a:ext uri="{FF2B5EF4-FFF2-40B4-BE49-F238E27FC236}">
                <a16:creationId xmlns:a16="http://schemas.microsoft.com/office/drawing/2014/main" id="{A56C3F08-BEF4-40C9-BF4E-20414785BD61}"/>
              </a:ext>
            </a:extLst>
          </p:cNvPr>
          <p:cNvSpPr>
            <a:spLocks noChangeShapeType="1"/>
          </p:cNvSpPr>
          <p:nvPr/>
        </p:nvSpPr>
        <p:spPr bwMode="auto">
          <a:xfrm>
            <a:off x="1066800" y="4967288"/>
            <a:ext cx="3352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2" name="Line 8">
            <a:extLst>
              <a:ext uri="{FF2B5EF4-FFF2-40B4-BE49-F238E27FC236}">
                <a16:creationId xmlns:a16="http://schemas.microsoft.com/office/drawing/2014/main" id="{5E1BE21E-B25E-400C-BD22-6F57FF40E648}"/>
              </a:ext>
            </a:extLst>
          </p:cNvPr>
          <p:cNvSpPr>
            <a:spLocks noChangeShapeType="1"/>
          </p:cNvSpPr>
          <p:nvPr/>
        </p:nvSpPr>
        <p:spPr bwMode="auto">
          <a:xfrm>
            <a:off x="1066800" y="3748088"/>
            <a:ext cx="3352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3" name="Line 9">
            <a:extLst>
              <a:ext uri="{FF2B5EF4-FFF2-40B4-BE49-F238E27FC236}">
                <a16:creationId xmlns:a16="http://schemas.microsoft.com/office/drawing/2014/main" id="{2FF7F451-FE27-4D3D-9862-0C4DD9B2A8D4}"/>
              </a:ext>
            </a:extLst>
          </p:cNvPr>
          <p:cNvSpPr>
            <a:spLocks noChangeShapeType="1"/>
          </p:cNvSpPr>
          <p:nvPr/>
        </p:nvSpPr>
        <p:spPr bwMode="auto">
          <a:xfrm>
            <a:off x="2895600" y="3748088"/>
            <a:ext cx="0" cy="2438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4" name="Line 10">
            <a:extLst>
              <a:ext uri="{FF2B5EF4-FFF2-40B4-BE49-F238E27FC236}">
                <a16:creationId xmlns:a16="http://schemas.microsoft.com/office/drawing/2014/main" id="{9912233E-494D-4AC1-97A0-27894E6FE0D7}"/>
              </a:ext>
            </a:extLst>
          </p:cNvPr>
          <p:cNvSpPr>
            <a:spLocks noChangeShapeType="1"/>
          </p:cNvSpPr>
          <p:nvPr/>
        </p:nvSpPr>
        <p:spPr bwMode="auto">
          <a:xfrm>
            <a:off x="2590800" y="4967288"/>
            <a:ext cx="0" cy="1219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5" name="Arc 11">
            <a:extLst>
              <a:ext uri="{FF2B5EF4-FFF2-40B4-BE49-F238E27FC236}">
                <a16:creationId xmlns:a16="http://schemas.microsoft.com/office/drawing/2014/main" id="{C725B254-2DEF-4833-BAED-34DF2510833E}"/>
              </a:ext>
            </a:extLst>
          </p:cNvPr>
          <p:cNvSpPr>
            <a:spLocks/>
          </p:cNvSpPr>
          <p:nvPr/>
        </p:nvSpPr>
        <p:spPr bwMode="auto">
          <a:xfrm rot="5385677" flipV="1">
            <a:off x="2365375" y="4276726"/>
            <a:ext cx="447675" cy="914400"/>
          </a:xfrm>
          <a:custGeom>
            <a:avLst/>
            <a:gdLst>
              <a:gd name="T0" fmla="*/ 2147483646 w 21600"/>
              <a:gd name="T1" fmla="*/ 0 h 42251"/>
              <a:gd name="T2" fmla="*/ 2147483646 w 21600"/>
              <a:gd name="T3" fmla="*/ 2147483646 h 42251"/>
              <a:gd name="T4" fmla="*/ 0 w 21600"/>
              <a:gd name="T5" fmla="*/ 2147483646 h 42251"/>
              <a:gd name="T6" fmla="*/ 0 60000 65536"/>
              <a:gd name="T7" fmla="*/ 0 60000 65536"/>
              <a:gd name="T8" fmla="*/ 0 60000 65536"/>
              <a:gd name="T9" fmla="*/ 0 w 21600"/>
              <a:gd name="T10" fmla="*/ 0 h 42251"/>
              <a:gd name="T11" fmla="*/ 21600 w 21600"/>
              <a:gd name="T12" fmla="*/ 42251 h 42251"/>
            </a:gdLst>
            <a:ahLst/>
            <a:cxnLst>
              <a:cxn ang="T6">
                <a:pos x="T0" y="T1"/>
              </a:cxn>
              <a:cxn ang="T7">
                <a:pos x="T2" y="T3"/>
              </a:cxn>
              <a:cxn ang="T8">
                <a:pos x="T4" y="T5"/>
              </a:cxn>
            </a:cxnLst>
            <a:rect l="T9" t="T10" r="T11" b="T12"/>
            <a:pathLst>
              <a:path w="21600" h="42251" fill="none" extrusionOk="0">
                <a:moveTo>
                  <a:pt x="4217" y="-1"/>
                </a:moveTo>
                <a:cubicBezTo>
                  <a:pt x="14322" y="2011"/>
                  <a:pt x="21600" y="10880"/>
                  <a:pt x="21600" y="21184"/>
                </a:cubicBezTo>
                <a:cubicBezTo>
                  <a:pt x="21600" y="31275"/>
                  <a:pt x="14612" y="40022"/>
                  <a:pt x="4769" y="42250"/>
                </a:cubicBezTo>
              </a:path>
              <a:path w="21600" h="42251" stroke="0" extrusionOk="0">
                <a:moveTo>
                  <a:pt x="4217" y="-1"/>
                </a:moveTo>
                <a:cubicBezTo>
                  <a:pt x="14322" y="2011"/>
                  <a:pt x="21600" y="10880"/>
                  <a:pt x="21600" y="21184"/>
                </a:cubicBezTo>
                <a:cubicBezTo>
                  <a:pt x="21600" y="31275"/>
                  <a:pt x="14612" y="40022"/>
                  <a:pt x="4769" y="42250"/>
                </a:cubicBezTo>
                <a:lnTo>
                  <a:pt x="0" y="21184"/>
                </a:lnTo>
                <a:lnTo>
                  <a:pt x="4217"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876" name="Arc 12">
            <a:extLst>
              <a:ext uri="{FF2B5EF4-FFF2-40B4-BE49-F238E27FC236}">
                <a16:creationId xmlns:a16="http://schemas.microsoft.com/office/drawing/2014/main" id="{A4C3780C-2EFB-4480-9F52-C5E8E8E013CB}"/>
              </a:ext>
            </a:extLst>
          </p:cNvPr>
          <p:cNvSpPr>
            <a:spLocks/>
          </p:cNvSpPr>
          <p:nvPr/>
        </p:nvSpPr>
        <p:spPr bwMode="auto">
          <a:xfrm rot="5626637" flipV="1">
            <a:off x="2077244" y="3361532"/>
            <a:ext cx="838200" cy="2360612"/>
          </a:xfrm>
          <a:custGeom>
            <a:avLst/>
            <a:gdLst>
              <a:gd name="T0" fmla="*/ 2147483646 w 21600"/>
              <a:gd name="T1" fmla="*/ 0 h 39345"/>
              <a:gd name="T2" fmla="*/ 2147483646 w 21600"/>
              <a:gd name="T3" fmla="*/ 2147483646 h 39345"/>
              <a:gd name="T4" fmla="*/ 0 w 21600"/>
              <a:gd name="T5" fmla="*/ 2147483646 h 39345"/>
              <a:gd name="T6" fmla="*/ 0 60000 65536"/>
              <a:gd name="T7" fmla="*/ 0 60000 65536"/>
              <a:gd name="T8" fmla="*/ 0 60000 65536"/>
              <a:gd name="T9" fmla="*/ 0 w 21600"/>
              <a:gd name="T10" fmla="*/ 0 h 39345"/>
              <a:gd name="T11" fmla="*/ 21600 w 21600"/>
              <a:gd name="T12" fmla="*/ 39345 h 39345"/>
            </a:gdLst>
            <a:ahLst/>
            <a:cxnLst>
              <a:cxn ang="T6">
                <a:pos x="T0" y="T1"/>
              </a:cxn>
              <a:cxn ang="T7">
                <a:pos x="T2" y="T3"/>
              </a:cxn>
              <a:cxn ang="T8">
                <a:pos x="T4" y="T5"/>
              </a:cxn>
            </a:cxnLst>
            <a:rect l="T9" t="T10" r="T11" b="T12"/>
            <a:pathLst>
              <a:path w="21600" h="39345" fill="none" extrusionOk="0">
                <a:moveTo>
                  <a:pt x="10520" y="-1"/>
                </a:moveTo>
                <a:cubicBezTo>
                  <a:pt x="17360" y="3814"/>
                  <a:pt x="21600" y="11032"/>
                  <a:pt x="21600" y="18865"/>
                </a:cubicBezTo>
                <a:cubicBezTo>
                  <a:pt x="21600" y="28148"/>
                  <a:pt x="15667" y="36394"/>
                  <a:pt x="6865" y="39345"/>
                </a:cubicBezTo>
              </a:path>
              <a:path w="21600" h="39345" stroke="0" extrusionOk="0">
                <a:moveTo>
                  <a:pt x="10520" y="-1"/>
                </a:moveTo>
                <a:cubicBezTo>
                  <a:pt x="17360" y="3814"/>
                  <a:pt x="21600" y="11032"/>
                  <a:pt x="21600" y="18865"/>
                </a:cubicBezTo>
                <a:cubicBezTo>
                  <a:pt x="21600" y="28148"/>
                  <a:pt x="15667" y="36394"/>
                  <a:pt x="6865" y="39345"/>
                </a:cubicBezTo>
                <a:lnTo>
                  <a:pt x="0" y="18865"/>
                </a:lnTo>
                <a:lnTo>
                  <a:pt x="10520"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877" name="Line 13">
            <a:extLst>
              <a:ext uri="{FF2B5EF4-FFF2-40B4-BE49-F238E27FC236}">
                <a16:creationId xmlns:a16="http://schemas.microsoft.com/office/drawing/2014/main" id="{9A53DC9A-B1DE-47B9-B990-48F0ED6335E3}"/>
              </a:ext>
            </a:extLst>
          </p:cNvPr>
          <p:cNvSpPr>
            <a:spLocks noChangeShapeType="1"/>
          </p:cNvSpPr>
          <p:nvPr/>
        </p:nvSpPr>
        <p:spPr bwMode="auto">
          <a:xfrm flipV="1">
            <a:off x="2409825" y="3290888"/>
            <a:ext cx="609600" cy="2362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8" name="Line 14">
            <a:extLst>
              <a:ext uri="{FF2B5EF4-FFF2-40B4-BE49-F238E27FC236}">
                <a16:creationId xmlns:a16="http://schemas.microsoft.com/office/drawing/2014/main" id="{C36F7F18-09E7-42A1-86DF-5DEA4CF54CC6}"/>
              </a:ext>
            </a:extLst>
          </p:cNvPr>
          <p:cNvSpPr>
            <a:spLocks noChangeShapeType="1"/>
          </p:cNvSpPr>
          <p:nvPr/>
        </p:nvSpPr>
        <p:spPr bwMode="auto">
          <a:xfrm flipV="1">
            <a:off x="5029200" y="4953000"/>
            <a:ext cx="2209800" cy="14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9" name="Line 15">
            <a:extLst>
              <a:ext uri="{FF2B5EF4-FFF2-40B4-BE49-F238E27FC236}">
                <a16:creationId xmlns:a16="http://schemas.microsoft.com/office/drawing/2014/main" id="{7C432E58-FFC1-47FA-AE73-4CCBBD87E66F}"/>
              </a:ext>
            </a:extLst>
          </p:cNvPr>
          <p:cNvSpPr>
            <a:spLocks noChangeShapeType="1"/>
          </p:cNvSpPr>
          <p:nvPr/>
        </p:nvSpPr>
        <p:spPr bwMode="auto">
          <a:xfrm>
            <a:off x="5105400" y="3748088"/>
            <a:ext cx="1981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0" name="Text Box 16">
            <a:extLst>
              <a:ext uri="{FF2B5EF4-FFF2-40B4-BE49-F238E27FC236}">
                <a16:creationId xmlns:a16="http://schemas.microsoft.com/office/drawing/2014/main" id="{7E7D16C4-DBC3-4A4D-914F-F3919D8290B5}"/>
              </a:ext>
            </a:extLst>
          </p:cNvPr>
          <p:cNvSpPr txBox="1">
            <a:spLocks noChangeArrowheads="1"/>
          </p:cNvSpPr>
          <p:nvPr/>
        </p:nvSpPr>
        <p:spPr bwMode="auto">
          <a:xfrm>
            <a:off x="1828800" y="30480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SMC</a:t>
            </a:r>
          </a:p>
        </p:txBody>
      </p:sp>
      <p:sp>
        <p:nvSpPr>
          <p:cNvPr id="36881" name="Text Box 17">
            <a:extLst>
              <a:ext uri="{FF2B5EF4-FFF2-40B4-BE49-F238E27FC236}">
                <a16:creationId xmlns:a16="http://schemas.microsoft.com/office/drawing/2014/main" id="{5A2802C8-09E0-4EFA-B888-618FF360FA13}"/>
              </a:ext>
            </a:extLst>
          </p:cNvPr>
          <p:cNvSpPr txBox="1">
            <a:spLocks noChangeArrowheads="1"/>
          </p:cNvSpPr>
          <p:nvPr/>
        </p:nvSpPr>
        <p:spPr bwMode="auto">
          <a:xfrm>
            <a:off x="2895600" y="4295775"/>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SAC’</a:t>
            </a:r>
          </a:p>
        </p:txBody>
      </p:sp>
      <p:sp>
        <p:nvSpPr>
          <p:cNvPr id="36882" name="Text Box 18">
            <a:extLst>
              <a:ext uri="{FF2B5EF4-FFF2-40B4-BE49-F238E27FC236}">
                <a16:creationId xmlns:a16="http://schemas.microsoft.com/office/drawing/2014/main" id="{6C0EC1E7-F503-4AB1-8950-699FA291789D}"/>
              </a:ext>
            </a:extLst>
          </p:cNvPr>
          <p:cNvSpPr txBox="1">
            <a:spLocks noChangeArrowheads="1"/>
          </p:cNvSpPr>
          <p:nvPr/>
        </p:nvSpPr>
        <p:spPr bwMode="auto">
          <a:xfrm>
            <a:off x="3543300" y="42814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LAC’</a:t>
            </a:r>
          </a:p>
        </p:txBody>
      </p:sp>
      <p:sp>
        <p:nvSpPr>
          <p:cNvPr id="36883" name="Text Box 19">
            <a:extLst>
              <a:ext uri="{FF2B5EF4-FFF2-40B4-BE49-F238E27FC236}">
                <a16:creationId xmlns:a16="http://schemas.microsoft.com/office/drawing/2014/main" id="{0BDBBE00-6A49-4970-89B5-4EA3CBE7EE81}"/>
              </a:ext>
            </a:extLst>
          </p:cNvPr>
          <p:cNvSpPr txBox="1">
            <a:spLocks noChangeArrowheads="1"/>
          </p:cNvSpPr>
          <p:nvPr/>
        </p:nvSpPr>
        <p:spPr bwMode="auto">
          <a:xfrm>
            <a:off x="2076450" y="4619625"/>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E’</a:t>
            </a:r>
          </a:p>
        </p:txBody>
      </p:sp>
      <p:sp>
        <p:nvSpPr>
          <p:cNvPr id="36884" name="Text Box 20">
            <a:extLst>
              <a:ext uri="{FF2B5EF4-FFF2-40B4-BE49-F238E27FC236}">
                <a16:creationId xmlns:a16="http://schemas.microsoft.com/office/drawing/2014/main" id="{9D1B2AF1-7D55-4011-B723-8861505F653B}"/>
              </a:ext>
            </a:extLst>
          </p:cNvPr>
          <p:cNvSpPr txBox="1">
            <a:spLocks noChangeArrowheads="1"/>
          </p:cNvSpPr>
          <p:nvPr/>
        </p:nvSpPr>
        <p:spPr bwMode="auto">
          <a:xfrm>
            <a:off x="2400300" y="460533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F</a:t>
            </a:r>
          </a:p>
        </p:txBody>
      </p:sp>
      <p:sp>
        <p:nvSpPr>
          <p:cNvPr id="36885" name="Text Box 21">
            <a:extLst>
              <a:ext uri="{FF2B5EF4-FFF2-40B4-BE49-F238E27FC236}">
                <a16:creationId xmlns:a16="http://schemas.microsoft.com/office/drawing/2014/main" id="{BC11F944-93C0-42AD-98EE-37B228C0D576}"/>
              </a:ext>
            </a:extLst>
          </p:cNvPr>
          <p:cNvSpPr txBox="1">
            <a:spLocks noChangeArrowheads="1"/>
          </p:cNvSpPr>
          <p:nvPr/>
        </p:nvSpPr>
        <p:spPr bwMode="auto">
          <a:xfrm>
            <a:off x="762000" y="6124575"/>
            <a:ext cx="38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0</a:t>
            </a:r>
          </a:p>
        </p:txBody>
      </p:sp>
      <p:sp>
        <p:nvSpPr>
          <p:cNvPr id="36886" name="Text Box 22">
            <a:extLst>
              <a:ext uri="{FF2B5EF4-FFF2-40B4-BE49-F238E27FC236}">
                <a16:creationId xmlns:a16="http://schemas.microsoft.com/office/drawing/2014/main" id="{B8AEC13C-8C78-45D2-B49B-75A2E182A21D}"/>
              </a:ext>
            </a:extLst>
          </p:cNvPr>
          <p:cNvSpPr txBox="1">
            <a:spLocks noChangeArrowheads="1"/>
          </p:cNvSpPr>
          <p:nvPr/>
        </p:nvSpPr>
        <p:spPr bwMode="auto">
          <a:xfrm>
            <a:off x="4724400" y="6129338"/>
            <a:ext cx="38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0</a:t>
            </a:r>
          </a:p>
        </p:txBody>
      </p:sp>
      <p:sp>
        <p:nvSpPr>
          <p:cNvPr id="36887" name="Line 23">
            <a:extLst>
              <a:ext uri="{FF2B5EF4-FFF2-40B4-BE49-F238E27FC236}">
                <a16:creationId xmlns:a16="http://schemas.microsoft.com/office/drawing/2014/main" id="{177EF3E7-29BD-48D6-876C-872665C53EE6}"/>
              </a:ext>
            </a:extLst>
          </p:cNvPr>
          <p:cNvSpPr>
            <a:spLocks noChangeShapeType="1"/>
          </p:cNvSpPr>
          <p:nvPr/>
        </p:nvSpPr>
        <p:spPr bwMode="auto">
          <a:xfrm>
            <a:off x="6648450" y="3443288"/>
            <a:ext cx="666750" cy="24241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8" name="Line 24">
            <a:extLst>
              <a:ext uri="{FF2B5EF4-FFF2-40B4-BE49-F238E27FC236}">
                <a16:creationId xmlns:a16="http://schemas.microsoft.com/office/drawing/2014/main" id="{C242217F-F05A-40A4-8A86-AF3E54A3B221}"/>
              </a:ext>
            </a:extLst>
          </p:cNvPr>
          <p:cNvSpPr>
            <a:spLocks noChangeShapeType="1"/>
          </p:cNvSpPr>
          <p:nvPr/>
        </p:nvSpPr>
        <p:spPr bwMode="auto">
          <a:xfrm flipV="1">
            <a:off x="6019800" y="3290888"/>
            <a:ext cx="866775"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9" name="Line 25">
            <a:extLst>
              <a:ext uri="{FF2B5EF4-FFF2-40B4-BE49-F238E27FC236}">
                <a16:creationId xmlns:a16="http://schemas.microsoft.com/office/drawing/2014/main" id="{4673C9B4-BC59-4C59-994A-C478A4FB6C68}"/>
              </a:ext>
            </a:extLst>
          </p:cNvPr>
          <p:cNvSpPr>
            <a:spLocks noChangeShapeType="1"/>
          </p:cNvSpPr>
          <p:nvPr/>
        </p:nvSpPr>
        <p:spPr bwMode="auto">
          <a:xfrm flipV="1">
            <a:off x="6705600" y="3290888"/>
            <a:ext cx="83820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90" name="Text Box 26">
            <a:extLst>
              <a:ext uri="{FF2B5EF4-FFF2-40B4-BE49-F238E27FC236}">
                <a16:creationId xmlns:a16="http://schemas.microsoft.com/office/drawing/2014/main" id="{86BCC6AE-57BB-40F6-B16F-DDB0A0363795}"/>
              </a:ext>
            </a:extLst>
          </p:cNvPr>
          <p:cNvSpPr txBox="1">
            <a:spLocks noChangeArrowheads="1"/>
          </p:cNvSpPr>
          <p:nvPr/>
        </p:nvSpPr>
        <p:spPr bwMode="auto">
          <a:xfrm>
            <a:off x="4343400" y="3038475"/>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P</a:t>
            </a:r>
          </a:p>
        </p:txBody>
      </p:sp>
      <p:sp>
        <p:nvSpPr>
          <p:cNvPr id="36891" name="Text Box 27">
            <a:extLst>
              <a:ext uri="{FF2B5EF4-FFF2-40B4-BE49-F238E27FC236}">
                <a16:creationId xmlns:a16="http://schemas.microsoft.com/office/drawing/2014/main" id="{9BE6BB1C-467F-4CE3-A1B8-66667A4D0E5E}"/>
              </a:ext>
            </a:extLst>
          </p:cNvPr>
          <p:cNvSpPr txBox="1">
            <a:spLocks noChangeArrowheads="1"/>
          </p:cNvSpPr>
          <p:nvPr/>
        </p:nvSpPr>
        <p:spPr bwMode="auto">
          <a:xfrm>
            <a:off x="6400800" y="34290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2</a:t>
            </a:r>
          </a:p>
        </p:txBody>
      </p:sp>
      <p:sp>
        <p:nvSpPr>
          <p:cNvPr id="36892" name="Text Box 28">
            <a:extLst>
              <a:ext uri="{FF2B5EF4-FFF2-40B4-BE49-F238E27FC236}">
                <a16:creationId xmlns:a16="http://schemas.microsoft.com/office/drawing/2014/main" id="{F393C62A-8954-44F0-A778-5E2AC973ACBC}"/>
              </a:ext>
            </a:extLst>
          </p:cNvPr>
          <p:cNvSpPr txBox="1">
            <a:spLocks noChangeArrowheads="1"/>
          </p:cNvSpPr>
          <p:nvPr/>
        </p:nvSpPr>
        <p:spPr bwMode="auto">
          <a:xfrm>
            <a:off x="6096000" y="40386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1</a:t>
            </a:r>
          </a:p>
        </p:txBody>
      </p:sp>
      <p:sp>
        <p:nvSpPr>
          <p:cNvPr id="36893" name="Text Box 29">
            <a:extLst>
              <a:ext uri="{FF2B5EF4-FFF2-40B4-BE49-F238E27FC236}">
                <a16:creationId xmlns:a16="http://schemas.microsoft.com/office/drawing/2014/main" id="{780FF599-2210-4369-A84B-328C7ED3E191}"/>
              </a:ext>
            </a:extLst>
          </p:cNvPr>
          <p:cNvSpPr txBox="1">
            <a:spLocks noChangeArrowheads="1"/>
          </p:cNvSpPr>
          <p:nvPr/>
        </p:nvSpPr>
        <p:spPr bwMode="auto">
          <a:xfrm>
            <a:off x="7210425" y="4738688"/>
            <a:ext cx="304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3</a:t>
            </a:r>
          </a:p>
        </p:txBody>
      </p:sp>
      <p:sp>
        <p:nvSpPr>
          <p:cNvPr id="36894" name="Text Box 30">
            <a:extLst>
              <a:ext uri="{FF2B5EF4-FFF2-40B4-BE49-F238E27FC236}">
                <a16:creationId xmlns:a16="http://schemas.microsoft.com/office/drawing/2014/main" id="{66292A6B-A952-4D01-A1DA-298C64A3B85D}"/>
              </a:ext>
            </a:extLst>
          </p:cNvPr>
          <p:cNvSpPr txBox="1">
            <a:spLocks noChangeArrowheads="1"/>
          </p:cNvSpPr>
          <p:nvPr/>
        </p:nvSpPr>
        <p:spPr bwMode="auto">
          <a:xfrm>
            <a:off x="7848600" y="5410200"/>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2000" b="1">
                <a:latin typeface="Times New Roman" panose="02020603050405020304" pitchFamily="18" charset="0"/>
              </a:rPr>
              <a:t>LS</a:t>
            </a:r>
          </a:p>
        </p:txBody>
      </p:sp>
      <p:sp>
        <p:nvSpPr>
          <p:cNvPr id="36895" name="Text Box 31">
            <a:extLst>
              <a:ext uri="{FF2B5EF4-FFF2-40B4-BE49-F238E27FC236}">
                <a16:creationId xmlns:a16="http://schemas.microsoft.com/office/drawing/2014/main" id="{5747B664-3C25-4D31-8846-C53CE1E459A1}"/>
              </a:ext>
            </a:extLst>
          </p:cNvPr>
          <p:cNvSpPr txBox="1">
            <a:spLocks noChangeArrowheads="1"/>
          </p:cNvSpPr>
          <p:nvPr/>
        </p:nvSpPr>
        <p:spPr bwMode="auto">
          <a:xfrm>
            <a:off x="6934200" y="30480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t>
            </a:r>
          </a:p>
        </p:txBody>
      </p:sp>
      <p:sp>
        <p:nvSpPr>
          <p:cNvPr id="36896" name="Text Box 32">
            <a:extLst>
              <a:ext uri="{FF2B5EF4-FFF2-40B4-BE49-F238E27FC236}">
                <a16:creationId xmlns:a16="http://schemas.microsoft.com/office/drawing/2014/main" id="{A909727B-DC86-4B2F-8B15-411AA40660E3}"/>
              </a:ext>
            </a:extLst>
          </p:cNvPr>
          <p:cNvSpPr txBox="1">
            <a:spLocks noChangeArrowheads="1"/>
          </p:cNvSpPr>
          <p:nvPr/>
        </p:nvSpPr>
        <p:spPr bwMode="auto">
          <a:xfrm>
            <a:off x="7543800" y="30480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t>
            </a:r>
          </a:p>
        </p:txBody>
      </p:sp>
      <p:sp>
        <p:nvSpPr>
          <p:cNvPr id="36897" name="Text Box 33">
            <a:extLst>
              <a:ext uri="{FF2B5EF4-FFF2-40B4-BE49-F238E27FC236}">
                <a16:creationId xmlns:a16="http://schemas.microsoft.com/office/drawing/2014/main" id="{A917C6FF-B176-4224-AA7A-70B661B5FD63}"/>
              </a:ext>
            </a:extLst>
          </p:cNvPr>
          <p:cNvSpPr txBox="1">
            <a:spLocks noChangeArrowheads="1"/>
          </p:cNvSpPr>
          <p:nvPr/>
        </p:nvSpPr>
        <p:spPr bwMode="auto">
          <a:xfrm>
            <a:off x="6934200" y="5591175"/>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D</a:t>
            </a:r>
          </a:p>
        </p:txBody>
      </p:sp>
      <p:sp>
        <p:nvSpPr>
          <p:cNvPr id="36898" name="Text Box 34">
            <a:extLst>
              <a:ext uri="{FF2B5EF4-FFF2-40B4-BE49-F238E27FC236}">
                <a16:creationId xmlns:a16="http://schemas.microsoft.com/office/drawing/2014/main" id="{D3726887-2DD8-48CE-BCE5-1B4A2935998D}"/>
              </a:ext>
            </a:extLst>
          </p:cNvPr>
          <p:cNvSpPr txBox="1">
            <a:spLocks noChangeArrowheads="1"/>
          </p:cNvSpPr>
          <p:nvPr/>
        </p:nvSpPr>
        <p:spPr bwMode="auto">
          <a:xfrm>
            <a:off x="7239000" y="556260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D’</a:t>
            </a:r>
          </a:p>
        </p:txBody>
      </p:sp>
      <p:sp>
        <p:nvSpPr>
          <p:cNvPr id="36899" name="Text Box 35">
            <a:extLst>
              <a:ext uri="{FF2B5EF4-FFF2-40B4-BE49-F238E27FC236}">
                <a16:creationId xmlns:a16="http://schemas.microsoft.com/office/drawing/2014/main" id="{D7CE699B-E529-4D1C-A19D-7ACA0A54D500}"/>
              </a:ext>
            </a:extLst>
          </p:cNvPr>
          <p:cNvSpPr txBox="1">
            <a:spLocks noChangeArrowheads="1"/>
          </p:cNvSpPr>
          <p:nvPr/>
        </p:nvSpPr>
        <p:spPr bwMode="auto">
          <a:xfrm>
            <a:off x="3962400" y="616743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p>
        </p:txBody>
      </p:sp>
      <p:sp>
        <p:nvSpPr>
          <p:cNvPr id="36900" name="Text Box 36">
            <a:extLst>
              <a:ext uri="{FF2B5EF4-FFF2-40B4-BE49-F238E27FC236}">
                <a16:creationId xmlns:a16="http://schemas.microsoft.com/office/drawing/2014/main" id="{988AC3A2-BCB0-4EB0-84CF-5EE2873B3EE9}"/>
              </a:ext>
            </a:extLst>
          </p:cNvPr>
          <p:cNvSpPr txBox="1">
            <a:spLocks noChangeArrowheads="1"/>
          </p:cNvSpPr>
          <p:nvPr/>
        </p:nvSpPr>
        <p:spPr bwMode="auto">
          <a:xfrm>
            <a:off x="8077200" y="6167438"/>
            <a:ext cx="685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Q</a:t>
            </a:r>
          </a:p>
        </p:txBody>
      </p:sp>
      <p:sp>
        <p:nvSpPr>
          <p:cNvPr id="36901" name="Line 37">
            <a:extLst>
              <a:ext uri="{FF2B5EF4-FFF2-40B4-BE49-F238E27FC236}">
                <a16:creationId xmlns:a16="http://schemas.microsoft.com/office/drawing/2014/main" id="{A7A583FE-2EDF-4648-8A26-56378611EDA6}"/>
              </a:ext>
            </a:extLst>
          </p:cNvPr>
          <p:cNvSpPr>
            <a:spLocks noChangeShapeType="1"/>
          </p:cNvSpPr>
          <p:nvPr/>
        </p:nvSpPr>
        <p:spPr bwMode="auto">
          <a:xfrm>
            <a:off x="1066800" y="4357688"/>
            <a:ext cx="33528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02" name="Line 38">
            <a:extLst>
              <a:ext uri="{FF2B5EF4-FFF2-40B4-BE49-F238E27FC236}">
                <a16:creationId xmlns:a16="http://schemas.microsoft.com/office/drawing/2014/main" id="{9A8B903B-ACBF-4621-AFAA-2ECBAEA10B6D}"/>
              </a:ext>
            </a:extLst>
          </p:cNvPr>
          <p:cNvSpPr>
            <a:spLocks noChangeShapeType="1"/>
          </p:cNvSpPr>
          <p:nvPr/>
        </p:nvSpPr>
        <p:spPr bwMode="auto">
          <a:xfrm>
            <a:off x="2286000" y="4357688"/>
            <a:ext cx="0" cy="182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03" name="Arc 39">
            <a:extLst>
              <a:ext uri="{FF2B5EF4-FFF2-40B4-BE49-F238E27FC236}">
                <a16:creationId xmlns:a16="http://schemas.microsoft.com/office/drawing/2014/main" id="{7F1C6939-A004-4788-893F-282130B463A7}"/>
              </a:ext>
            </a:extLst>
          </p:cNvPr>
          <p:cNvSpPr>
            <a:spLocks/>
          </p:cNvSpPr>
          <p:nvPr/>
        </p:nvSpPr>
        <p:spPr bwMode="auto">
          <a:xfrm rot="5385677" flipV="1">
            <a:off x="2078037" y="3657601"/>
            <a:ext cx="447675" cy="914400"/>
          </a:xfrm>
          <a:custGeom>
            <a:avLst/>
            <a:gdLst>
              <a:gd name="T0" fmla="*/ 2147483646 w 21600"/>
              <a:gd name="T1" fmla="*/ 0 h 42251"/>
              <a:gd name="T2" fmla="*/ 2147483646 w 21600"/>
              <a:gd name="T3" fmla="*/ 2147483646 h 42251"/>
              <a:gd name="T4" fmla="*/ 0 w 21600"/>
              <a:gd name="T5" fmla="*/ 2147483646 h 42251"/>
              <a:gd name="T6" fmla="*/ 0 60000 65536"/>
              <a:gd name="T7" fmla="*/ 0 60000 65536"/>
              <a:gd name="T8" fmla="*/ 0 60000 65536"/>
              <a:gd name="T9" fmla="*/ 0 w 21600"/>
              <a:gd name="T10" fmla="*/ 0 h 42251"/>
              <a:gd name="T11" fmla="*/ 21600 w 21600"/>
              <a:gd name="T12" fmla="*/ 42251 h 42251"/>
            </a:gdLst>
            <a:ahLst/>
            <a:cxnLst>
              <a:cxn ang="T6">
                <a:pos x="T0" y="T1"/>
              </a:cxn>
              <a:cxn ang="T7">
                <a:pos x="T2" y="T3"/>
              </a:cxn>
              <a:cxn ang="T8">
                <a:pos x="T4" y="T5"/>
              </a:cxn>
            </a:cxnLst>
            <a:rect l="T9" t="T10" r="T11" b="T12"/>
            <a:pathLst>
              <a:path w="21600" h="42251" fill="none" extrusionOk="0">
                <a:moveTo>
                  <a:pt x="4217" y="-1"/>
                </a:moveTo>
                <a:cubicBezTo>
                  <a:pt x="14322" y="2011"/>
                  <a:pt x="21600" y="10880"/>
                  <a:pt x="21600" y="21184"/>
                </a:cubicBezTo>
                <a:cubicBezTo>
                  <a:pt x="21600" y="31275"/>
                  <a:pt x="14612" y="40022"/>
                  <a:pt x="4769" y="42250"/>
                </a:cubicBezTo>
              </a:path>
              <a:path w="21600" h="42251" stroke="0" extrusionOk="0">
                <a:moveTo>
                  <a:pt x="4217" y="-1"/>
                </a:moveTo>
                <a:cubicBezTo>
                  <a:pt x="14322" y="2011"/>
                  <a:pt x="21600" y="10880"/>
                  <a:pt x="21600" y="21184"/>
                </a:cubicBezTo>
                <a:cubicBezTo>
                  <a:pt x="21600" y="31275"/>
                  <a:pt x="14612" y="40022"/>
                  <a:pt x="4769" y="42250"/>
                </a:cubicBezTo>
                <a:lnTo>
                  <a:pt x="0" y="21184"/>
                </a:lnTo>
                <a:lnTo>
                  <a:pt x="4217"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904" name="Arc 40">
            <a:extLst>
              <a:ext uri="{FF2B5EF4-FFF2-40B4-BE49-F238E27FC236}">
                <a16:creationId xmlns:a16="http://schemas.microsoft.com/office/drawing/2014/main" id="{6B51B520-5C81-4CB5-8630-769625605A3F}"/>
              </a:ext>
            </a:extLst>
          </p:cNvPr>
          <p:cNvSpPr>
            <a:spLocks/>
          </p:cNvSpPr>
          <p:nvPr/>
        </p:nvSpPr>
        <p:spPr bwMode="auto">
          <a:xfrm rot="5626637" flipV="1">
            <a:off x="1878807" y="2905918"/>
            <a:ext cx="838200" cy="2074863"/>
          </a:xfrm>
          <a:custGeom>
            <a:avLst/>
            <a:gdLst>
              <a:gd name="T0" fmla="*/ 2147483646 w 21600"/>
              <a:gd name="T1" fmla="*/ 0 h 34579"/>
              <a:gd name="T2" fmla="*/ 2147483646 w 21600"/>
              <a:gd name="T3" fmla="*/ 2147483646 h 34579"/>
              <a:gd name="T4" fmla="*/ 0 w 21600"/>
              <a:gd name="T5" fmla="*/ 2147483646 h 34579"/>
              <a:gd name="T6" fmla="*/ 0 60000 65536"/>
              <a:gd name="T7" fmla="*/ 0 60000 65536"/>
              <a:gd name="T8" fmla="*/ 0 60000 65536"/>
              <a:gd name="T9" fmla="*/ 0 w 21600"/>
              <a:gd name="T10" fmla="*/ 0 h 34579"/>
              <a:gd name="T11" fmla="*/ 21600 w 21600"/>
              <a:gd name="T12" fmla="*/ 34579 h 34579"/>
            </a:gdLst>
            <a:ahLst/>
            <a:cxnLst>
              <a:cxn ang="T6">
                <a:pos x="T0" y="T1"/>
              </a:cxn>
              <a:cxn ang="T7">
                <a:pos x="T2" y="T3"/>
              </a:cxn>
              <a:cxn ang="T8">
                <a:pos x="T4" y="T5"/>
              </a:cxn>
            </a:cxnLst>
            <a:rect l="T9" t="T10" r="T11" b="T12"/>
            <a:pathLst>
              <a:path w="21600" h="34579" fill="none" extrusionOk="0">
                <a:moveTo>
                  <a:pt x="15134" y="-1"/>
                </a:moveTo>
                <a:cubicBezTo>
                  <a:pt x="19270" y="4061"/>
                  <a:pt x="21600" y="9614"/>
                  <a:pt x="21600" y="15411"/>
                </a:cubicBezTo>
                <a:cubicBezTo>
                  <a:pt x="21600" y="23472"/>
                  <a:pt x="17110" y="30863"/>
                  <a:pt x="9956" y="34579"/>
                </a:cubicBezTo>
              </a:path>
              <a:path w="21600" h="34579" stroke="0" extrusionOk="0">
                <a:moveTo>
                  <a:pt x="15134" y="-1"/>
                </a:moveTo>
                <a:cubicBezTo>
                  <a:pt x="19270" y="4061"/>
                  <a:pt x="21600" y="9614"/>
                  <a:pt x="21600" y="15411"/>
                </a:cubicBezTo>
                <a:cubicBezTo>
                  <a:pt x="21600" y="23472"/>
                  <a:pt x="17110" y="30863"/>
                  <a:pt x="9956" y="34579"/>
                </a:cubicBezTo>
                <a:lnTo>
                  <a:pt x="0" y="15411"/>
                </a:lnTo>
                <a:lnTo>
                  <a:pt x="15134"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6905" name="Text Box 41">
            <a:extLst>
              <a:ext uri="{FF2B5EF4-FFF2-40B4-BE49-F238E27FC236}">
                <a16:creationId xmlns:a16="http://schemas.microsoft.com/office/drawing/2014/main" id="{ADC1073F-8CCE-49A0-B368-4CC00381DF87}"/>
              </a:ext>
            </a:extLst>
          </p:cNvPr>
          <p:cNvSpPr txBox="1">
            <a:spLocks noChangeArrowheads="1"/>
          </p:cNvSpPr>
          <p:nvPr/>
        </p:nvSpPr>
        <p:spPr bwMode="auto">
          <a:xfrm>
            <a:off x="1428750" y="3681413"/>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SAC</a:t>
            </a:r>
          </a:p>
        </p:txBody>
      </p:sp>
      <p:sp>
        <p:nvSpPr>
          <p:cNvPr id="36906" name="Text Box 42">
            <a:extLst>
              <a:ext uri="{FF2B5EF4-FFF2-40B4-BE49-F238E27FC236}">
                <a16:creationId xmlns:a16="http://schemas.microsoft.com/office/drawing/2014/main" id="{4B40F928-4392-485F-921D-796C4991F5C5}"/>
              </a:ext>
            </a:extLst>
          </p:cNvPr>
          <p:cNvSpPr txBox="1">
            <a:spLocks noChangeArrowheads="1"/>
          </p:cNvSpPr>
          <p:nvPr/>
        </p:nvSpPr>
        <p:spPr bwMode="auto">
          <a:xfrm>
            <a:off x="3200400" y="37480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LAC</a:t>
            </a:r>
          </a:p>
        </p:txBody>
      </p:sp>
      <p:sp>
        <p:nvSpPr>
          <p:cNvPr id="36907" name="Line 43">
            <a:extLst>
              <a:ext uri="{FF2B5EF4-FFF2-40B4-BE49-F238E27FC236}">
                <a16:creationId xmlns:a16="http://schemas.microsoft.com/office/drawing/2014/main" id="{0E9DD628-43FB-4B36-8EF5-40B652CAA37D}"/>
              </a:ext>
            </a:extLst>
          </p:cNvPr>
          <p:cNvSpPr>
            <a:spLocks noChangeShapeType="1"/>
          </p:cNvSpPr>
          <p:nvPr/>
        </p:nvSpPr>
        <p:spPr bwMode="auto">
          <a:xfrm flipV="1">
            <a:off x="1962150" y="3290888"/>
            <a:ext cx="609600" cy="2362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08" name="Text Box 44">
            <a:extLst>
              <a:ext uri="{FF2B5EF4-FFF2-40B4-BE49-F238E27FC236}">
                <a16:creationId xmlns:a16="http://schemas.microsoft.com/office/drawing/2014/main" id="{72D5FEB4-0A3F-4E0D-AB67-860528DB8B5A}"/>
              </a:ext>
            </a:extLst>
          </p:cNvPr>
          <p:cNvSpPr txBox="1">
            <a:spLocks noChangeArrowheads="1"/>
          </p:cNvSpPr>
          <p:nvPr/>
        </p:nvSpPr>
        <p:spPr bwMode="auto">
          <a:xfrm>
            <a:off x="1704975" y="4281488"/>
            <a:ext cx="838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E</a:t>
            </a:r>
          </a:p>
        </p:txBody>
      </p:sp>
      <p:sp>
        <p:nvSpPr>
          <p:cNvPr id="36909" name="Line 45">
            <a:extLst>
              <a:ext uri="{FF2B5EF4-FFF2-40B4-BE49-F238E27FC236}">
                <a16:creationId xmlns:a16="http://schemas.microsoft.com/office/drawing/2014/main" id="{944B9C4E-45CE-43B6-83E9-000D341A837F}"/>
              </a:ext>
            </a:extLst>
          </p:cNvPr>
          <p:cNvSpPr>
            <a:spLocks noChangeShapeType="1"/>
          </p:cNvSpPr>
          <p:nvPr/>
        </p:nvSpPr>
        <p:spPr bwMode="auto">
          <a:xfrm>
            <a:off x="5105400" y="4357688"/>
            <a:ext cx="2133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10" name="Line 46">
            <a:extLst>
              <a:ext uri="{FF2B5EF4-FFF2-40B4-BE49-F238E27FC236}">
                <a16:creationId xmlns:a16="http://schemas.microsoft.com/office/drawing/2014/main" id="{28A7CC9D-72A5-4F6F-8193-CD7CBB6A1878}"/>
              </a:ext>
            </a:extLst>
          </p:cNvPr>
          <p:cNvSpPr>
            <a:spLocks noChangeShapeType="1"/>
          </p:cNvSpPr>
          <p:nvPr/>
        </p:nvSpPr>
        <p:spPr bwMode="auto">
          <a:xfrm>
            <a:off x="6248400" y="3352800"/>
            <a:ext cx="742950" cy="2590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11" name="Line 47">
            <a:extLst>
              <a:ext uri="{FF2B5EF4-FFF2-40B4-BE49-F238E27FC236}">
                <a16:creationId xmlns:a16="http://schemas.microsoft.com/office/drawing/2014/main" id="{271BF44E-9DD2-4A2C-8A5D-7A8C3F8D40E4}"/>
              </a:ext>
            </a:extLst>
          </p:cNvPr>
          <p:cNvSpPr>
            <a:spLocks noChangeShapeType="1"/>
          </p:cNvSpPr>
          <p:nvPr/>
        </p:nvSpPr>
        <p:spPr bwMode="auto">
          <a:xfrm flipH="1" flipV="1">
            <a:off x="6096000" y="3886200"/>
            <a:ext cx="1828800" cy="1981200"/>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913" name="Text Box 49">
            <a:extLst>
              <a:ext uri="{FF2B5EF4-FFF2-40B4-BE49-F238E27FC236}">
                <a16:creationId xmlns:a16="http://schemas.microsoft.com/office/drawing/2014/main" id="{ECBEF22F-5EEE-4EBD-B3EC-E4D16DC1F404}"/>
              </a:ext>
            </a:extLst>
          </p:cNvPr>
          <p:cNvSpPr txBox="1">
            <a:spLocks noChangeArrowheads="1"/>
          </p:cNvSpPr>
          <p:nvPr/>
        </p:nvSpPr>
        <p:spPr bwMode="auto">
          <a:xfrm>
            <a:off x="381000" y="30480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kumimoji="1" lang="en-US" altLang="zh-CN" sz="1800">
                <a:latin typeface="Times New Roman" panose="02020603050405020304" pitchFamily="18" charset="0"/>
              </a:rPr>
              <a:t>P</a:t>
            </a:r>
          </a:p>
        </p:txBody>
      </p:sp>
      <p:sp>
        <p:nvSpPr>
          <p:cNvPr id="3" name="内容占位符 2">
            <a:extLst>
              <a:ext uri="{FF2B5EF4-FFF2-40B4-BE49-F238E27FC236}">
                <a16:creationId xmlns:a16="http://schemas.microsoft.com/office/drawing/2014/main" id="{420FFF66-C87C-4002-BE5C-1DF32A8919FA}"/>
              </a:ext>
            </a:extLst>
          </p:cNvPr>
          <p:cNvSpPr>
            <a:spLocks noGrp="1"/>
          </p:cNvSpPr>
          <p:nvPr>
            <p:ph idx="1"/>
          </p:nvPr>
        </p:nvSpPr>
        <p:spPr>
          <a:xfrm>
            <a:off x="457200" y="620688"/>
            <a:ext cx="8229600" cy="2398737"/>
          </a:xfrm>
        </p:spPr>
        <p:txBody>
          <a:bodyPr>
            <a:normAutofit fontScale="85000" lnSpcReduction="20000"/>
          </a:bodyPr>
          <a:lstStyle/>
          <a:p>
            <a:r>
              <a:rPr lang="zh-CN" altLang="en-US" dirty="0"/>
              <a:t>成本递减行业</a:t>
            </a:r>
            <a:endParaRPr lang="en-US" altLang="zh-CN" dirty="0"/>
          </a:p>
          <a:p>
            <a:pPr lvl="1"/>
            <a:r>
              <a:rPr lang="zh-CN" altLang="en-US" dirty="0"/>
              <a:t>假如在市场需求增加，行业中原厂商扩大生产规模，新厂商进入该行业时，生产要素的价格下跌。下跌的原因可能是由于对生产要素的需求增加，促进了生产要素供给的专业化，效率提高，因而生产要素的价格随着需求的增加反而下降，这种行业称为成本递减的行业。 </a:t>
            </a:r>
          </a:p>
        </p:txBody>
      </p:sp>
      <p:sp>
        <p:nvSpPr>
          <p:cNvPr id="49" name="文本框 48">
            <a:extLst>
              <a:ext uri="{FF2B5EF4-FFF2-40B4-BE49-F238E27FC236}">
                <a16:creationId xmlns:a16="http://schemas.microsoft.com/office/drawing/2014/main" id="{B0E4E06A-EA39-4628-99D9-36D01F06BBF2}"/>
              </a:ext>
            </a:extLst>
          </p:cNvPr>
          <p:cNvSpPr txBox="1"/>
          <p:nvPr/>
        </p:nvSpPr>
        <p:spPr>
          <a:xfrm>
            <a:off x="460683" y="4209794"/>
            <a:ext cx="466794" cy="369332"/>
          </a:xfrm>
          <a:prstGeom prst="rect">
            <a:avLst/>
          </a:prstGeom>
          <a:noFill/>
        </p:spPr>
        <p:txBody>
          <a:bodyPr wrap="none" rtlCol="0">
            <a:spAutoFit/>
          </a:bodyPr>
          <a:lstStyle/>
          <a:p>
            <a:r>
              <a:rPr lang="en-US" altLang="zh-CN" dirty="0"/>
              <a:t>P1</a:t>
            </a:r>
            <a:endParaRPr lang="zh-CN" altLang="en-US" dirty="0"/>
          </a:p>
        </p:txBody>
      </p:sp>
      <p:sp>
        <p:nvSpPr>
          <p:cNvPr id="50" name="文本框 49">
            <a:extLst>
              <a:ext uri="{FF2B5EF4-FFF2-40B4-BE49-F238E27FC236}">
                <a16:creationId xmlns:a16="http://schemas.microsoft.com/office/drawing/2014/main" id="{96C7E430-B13B-4569-AE18-8C6D67B5F2FE}"/>
              </a:ext>
            </a:extLst>
          </p:cNvPr>
          <p:cNvSpPr txBox="1"/>
          <p:nvPr/>
        </p:nvSpPr>
        <p:spPr>
          <a:xfrm>
            <a:off x="454684" y="4801378"/>
            <a:ext cx="507340" cy="369332"/>
          </a:xfrm>
          <a:prstGeom prst="rect">
            <a:avLst/>
          </a:prstGeom>
          <a:noFill/>
        </p:spPr>
        <p:txBody>
          <a:bodyPr wrap="square" rtlCol="0">
            <a:spAutoFit/>
          </a:bodyPr>
          <a:lstStyle/>
          <a:p>
            <a:r>
              <a:rPr lang="en-US" altLang="zh-CN" dirty="0"/>
              <a:t>P3</a:t>
            </a:r>
            <a:endParaRPr lang="zh-CN" altLang="en-US" dirty="0"/>
          </a:p>
        </p:txBody>
      </p:sp>
      <p:sp>
        <p:nvSpPr>
          <p:cNvPr id="51" name="文本框 50">
            <a:extLst>
              <a:ext uri="{FF2B5EF4-FFF2-40B4-BE49-F238E27FC236}">
                <a16:creationId xmlns:a16="http://schemas.microsoft.com/office/drawing/2014/main" id="{A6B89CA9-F7CF-47E7-9017-434F6F33496A}"/>
              </a:ext>
            </a:extLst>
          </p:cNvPr>
          <p:cNvSpPr txBox="1"/>
          <p:nvPr/>
        </p:nvSpPr>
        <p:spPr>
          <a:xfrm>
            <a:off x="444441" y="3618210"/>
            <a:ext cx="466794" cy="369332"/>
          </a:xfrm>
          <a:prstGeom prst="rect">
            <a:avLst/>
          </a:prstGeom>
          <a:noFill/>
        </p:spPr>
        <p:txBody>
          <a:bodyPr wrap="none" rtlCol="0">
            <a:spAutoFit/>
          </a:bodyPr>
          <a:lstStyle/>
          <a:p>
            <a:r>
              <a:rPr lang="en-US" altLang="zh-CN" dirty="0"/>
              <a:t>P2</a:t>
            </a:r>
            <a:endParaRPr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F311EBC-290C-425F-9736-8A6F41381E9A}"/>
              </a:ext>
            </a:extLst>
          </p:cNvPr>
          <p:cNvSpPr>
            <a:spLocks noGrp="1"/>
          </p:cNvSpPr>
          <p:nvPr>
            <p:ph idx="1"/>
          </p:nvPr>
        </p:nvSpPr>
        <p:spPr>
          <a:xfrm>
            <a:off x="457200" y="692696"/>
            <a:ext cx="8229600" cy="5631904"/>
          </a:xfrm>
        </p:spPr>
        <p:txBody>
          <a:bodyPr>
            <a:normAutofit/>
          </a:bodyPr>
          <a:lstStyle/>
          <a:p>
            <a:r>
              <a:rPr lang="zh-CN" altLang="en-US" dirty="0">
                <a:solidFill>
                  <a:srgbClr val="0070C0"/>
                </a:solidFill>
              </a:rPr>
              <a:t>完全竞争企业的长期均衡条件是价格等于长期边际成本，且等于长期平均成本。根据长期边际成本和长期平均成本的关系，该条件又意味着，价格总是等于长期平均成本曲线的最低点。</a:t>
            </a:r>
            <a:endParaRPr lang="en-US" altLang="zh-CN" dirty="0">
              <a:solidFill>
                <a:srgbClr val="0070C0"/>
              </a:solidFill>
            </a:endParaRPr>
          </a:p>
          <a:p>
            <a:pPr lvl="1"/>
            <a:r>
              <a:rPr lang="zh-CN" altLang="en-US" dirty="0"/>
              <a:t>产品价格上升导致相应的要素价格上升，长期供给曲线向右上方倾斜。</a:t>
            </a:r>
          </a:p>
          <a:p>
            <a:pPr lvl="1"/>
            <a:r>
              <a:rPr lang="zh-CN" altLang="en-US" dirty="0"/>
              <a:t>产品价格上升导致相应的要素价格下降，长期供给曲线向右下方倾斜。</a:t>
            </a:r>
          </a:p>
          <a:p>
            <a:pPr lvl="1"/>
            <a:r>
              <a:rPr lang="zh-CN" altLang="en-US" dirty="0"/>
              <a:t>产品价格上升没有引起相应的要素价格变化，长期供给曲线水平。</a:t>
            </a:r>
          </a:p>
          <a:p>
            <a:pPr lvl="1"/>
            <a:endParaRPr lang="zh-CN" altLang="en-US" dirty="0"/>
          </a:p>
          <a:p>
            <a:endParaRPr lang="zh-CN" altLang="en-US" dirty="0"/>
          </a:p>
        </p:txBody>
      </p:sp>
    </p:spTree>
    <p:extLst>
      <p:ext uri="{BB962C8B-B14F-4D97-AF65-F5344CB8AC3E}">
        <p14:creationId xmlns:p14="http://schemas.microsoft.com/office/powerpoint/2010/main" val="228423071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42CF34C8-5975-4C13-A154-6EE1C7145B72}"/>
              </a:ext>
            </a:extLst>
          </p:cNvPr>
          <p:cNvGrpSpPr/>
          <p:nvPr/>
        </p:nvGrpSpPr>
        <p:grpSpPr>
          <a:xfrm>
            <a:off x="827584" y="1196752"/>
            <a:ext cx="7128792" cy="5040560"/>
            <a:chOff x="5074401" y="2572027"/>
            <a:chExt cx="5770056" cy="4172084"/>
          </a:xfrm>
        </p:grpSpPr>
        <p:sp>
          <p:nvSpPr>
            <p:cNvPr id="5" name="Rectangle 2" descr="10%">
              <a:extLst>
                <a:ext uri="{FF2B5EF4-FFF2-40B4-BE49-F238E27FC236}">
                  <a16:creationId xmlns:a16="http://schemas.microsoft.com/office/drawing/2014/main" id="{3E115133-A70E-4D65-AEDB-28F5A7A307C6}"/>
                </a:ext>
              </a:extLst>
            </p:cNvPr>
            <p:cNvSpPr>
              <a:spLocks noChangeArrowheads="1"/>
            </p:cNvSpPr>
            <p:nvPr/>
          </p:nvSpPr>
          <p:spPr bwMode="auto">
            <a:xfrm rot="5400000">
              <a:off x="6158205" y="1488223"/>
              <a:ext cx="3602448" cy="5770056"/>
            </a:xfrm>
            <a:prstGeom prst="rect">
              <a:avLst/>
            </a:prstGeom>
            <a:pattFill prst="pct5">
              <a:fgClr>
                <a:srgbClr val="FFCC66"/>
              </a:fgClr>
              <a:bgClr>
                <a:srgbClr val="FFFFFF"/>
              </a:bgClr>
            </a:pattFill>
            <a:ln w="9525">
              <a:solidFill>
                <a:schemeClr val="accent5"/>
              </a:solidFill>
              <a:miter lim="800000"/>
            </a:ln>
            <a:effectLst/>
          </p:spPr>
          <p:txBody>
            <a:bodyPr wrap="none" lIns="90000" tIns="46800" rIns="90000" bIns="46800" anchor="ctr"/>
            <a:lstStyle/>
            <a:p>
              <a:endParaRPr lang="zh-CN" altLang="en-US"/>
            </a:p>
          </p:txBody>
        </p:sp>
        <p:sp>
          <p:nvSpPr>
            <p:cNvPr id="6" name="Line 10">
              <a:extLst>
                <a:ext uri="{FF2B5EF4-FFF2-40B4-BE49-F238E27FC236}">
                  <a16:creationId xmlns:a16="http://schemas.microsoft.com/office/drawing/2014/main" id="{B6073B80-A80D-4FDD-BCD7-9006B373C1A2}"/>
                </a:ext>
              </a:extLst>
            </p:cNvPr>
            <p:cNvSpPr>
              <a:spLocks noChangeShapeType="1"/>
            </p:cNvSpPr>
            <p:nvPr/>
          </p:nvSpPr>
          <p:spPr bwMode="auto">
            <a:xfrm>
              <a:off x="6659494" y="3705406"/>
              <a:ext cx="3418954" cy="1157477"/>
            </a:xfrm>
            <a:prstGeom prst="line">
              <a:avLst/>
            </a:prstGeom>
            <a:noFill/>
            <a:ln w="3810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7" name="Rectangle 11">
              <a:extLst>
                <a:ext uri="{FF2B5EF4-FFF2-40B4-BE49-F238E27FC236}">
                  <a16:creationId xmlns:a16="http://schemas.microsoft.com/office/drawing/2014/main" id="{158FA47A-25F0-47DA-A4DB-7EC4C51F75A1}"/>
                </a:ext>
              </a:extLst>
            </p:cNvPr>
            <p:cNvSpPr>
              <a:spLocks noChangeArrowheads="1"/>
            </p:cNvSpPr>
            <p:nvPr/>
          </p:nvSpPr>
          <p:spPr bwMode="auto">
            <a:xfrm>
              <a:off x="10166070" y="4721483"/>
              <a:ext cx="619992" cy="4208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dirty="0">
                  <a:solidFill>
                    <a:srgbClr val="FF9900"/>
                  </a:solidFill>
                  <a:effectLst>
                    <a:outerShdw blurRad="38100" dist="38100" dir="2700000" algn="tl">
                      <a:srgbClr val="C0C0C0"/>
                    </a:outerShdw>
                  </a:effectLst>
                </a:rPr>
                <a:t>LS</a:t>
              </a:r>
              <a:r>
                <a:rPr lang="en-US" altLang="zh-CN" sz="2000" b="1" dirty="0">
                  <a:solidFill>
                    <a:srgbClr val="FF9900"/>
                  </a:solidFill>
                  <a:effectLst>
                    <a:outerShdw blurRad="38100" dist="38100" dir="2700000" algn="tl">
                      <a:srgbClr val="C0C0C0"/>
                    </a:outerShdw>
                  </a:effectLst>
                </a:rPr>
                <a:t>2</a:t>
              </a:r>
              <a:endParaRPr lang="en-US" altLang="zh-CN" sz="2800" b="1" dirty="0">
                <a:solidFill>
                  <a:srgbClr val="FF9900"/>
                </a:solidFill>
                <a:effectLst>
                  <a:outerShdw blurRad="38100" dist="38100" dir="2700000" algn="tl">
                    <a:srgbClr val="C0C0C0"/>
                  </a:outerShdw>
                </a:effectLst>
              </a:endParaRPr>
            </a:p>
          </p:txBody>
        </p:sp>
        <p:sp>
          <p:nvSpPr>
            <p:cNvPr id="8" name="Line 12">
              <a:extLst>
                <a:ext uri="{FF2B5EF4-FFF2-40B4-BE49-F238E27FC236}">
                  <a16:creationId xmlns:a16="http://schemas.microsoft.com/office/drawing/2014/main" id="{1759FB65-787C-4132-81BD-670F164DCCFC}"/>
                </a:ext>
              </a:extLst>
            </p:cNvPr>
            <p:cNvSpPr>
              <a:spLocks noChangeShapeType="1"/>
            </p:cNvSpPr>
            <p:nvPr/>
          </p:nvSpPr>
          <p:spPr bwMode="auto">
            <a:xfrm flipV="1">
              <a:off x="6349382" y="3193628"/>
              <a:ext cx="3412438" cy="1518673"/>
            </a:xfrm>
            <a:prstGeom prst="line">
              <a:avLst/>
            </a:prstGeom>
            <a:noFill/>
            <a:ln w="38100">
              <a:solidFill>
                <a:srgbClr val="6A9435"/>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9" name="Rectangle 13">
              <a:extLst>
                <a:ext uri="{FF2B5EF4-FFF2-40B4-BE49-F238E27FC236}">
                  <a16:creationId xmlns:a16="http://schemas.microsoft.com/office/drawing/2014/main" id="{5CE725AC-C618-48DF-8C37-A2D3C2F14200}"/>
                </a:ext>
              </a:extLst>
            </p:cNvPr>
            <p:cNvSpPr>
              <a:spLocks noChangeArrowheads="1"/>
            </p:cNvSpPr>
            <p:nvPr/>
          </p:nvSpPr>
          <p:spPr bwMode="auto">
            <a:xfrm>
              <a:off x="9289789" y="2835376"/>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dirty="0">
                  <a:solidFill>
                    <a:srgbClr val="008000"/>
                  </a:solidFill>
                  <a:effectLst>
                    <a:outerShdw blurRad="38100" dist="38100" dir="2700000" algn="tl">
                      <a:srgbClr val="C0C0C0"/>
                    </a:outerShdw>
                  </a:effectLst>
                </a:rPr>
                <a:t>LS</a:t>
              </a:r>
            </a:p>
          </p:txBody>
        </p:sp>
        <p:sp>
          <p:nvSpPr>
            <p:cNvPr id="10" name="Rectangle 14">
              <a:extLst>
                <a:ext uri="{FF2B5EF4-FFF2-40B4-BE49-F238E27FC236}">
                  <a16:creationId xmlns:a16="http://schemas.microsoft.com/office/drawing/2014/main" id="{13789A14-6439-4031-ACEA-93A7BFCAFA6D}"/>
                </a:ext>
              </a:extLst>
            </p:cNvPr>
            <p:cNvSpPr>
              <a:spLocks noChangeArrowheads="1"/>
            </p:cNvSpPr>
            <p:nvPr/>
          </p:nvSpPr>
          <p:spPr bwMode="auto">
            <a:xfrm>
              <a:off x="5291928" y="3848497"/>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effectLst>
                    <a:outerShdw blurRad="38100" dist="38100" dir="2700000" algn="tl">
                      <a:srgbClr val="C0C0C0"/>
                    </a:outerShdw>
                  </a:effectLst>
                </a:rPr>
                <a:t>P</a:t>
              </a:r>
              <a:r>
                <a:rPr lang="en-US" altLang="zh-CN" sz="2000" b="1" baseline="-25000" dirty="0">
                  <a:effectLst>
                    <a:outerShdw blurRad="38100" dist="38100" dir="2700000" algn="tl">
                      <a:srgbClr val="C0C0C0"/>
                    </a:outerShdw>
                  </a:effectLst>
                </a:rPr>
                <a:t>0</a:t>
              </a:r>
              <a:endParaRPr lang="en-US" altLang="zh-CN" sz="2000" b="1" dirty="0">
                <a:effectLst>
                  <a:outerShdw blurRad="38100" dist="38100" dir="2700000" algn="tl">
                    <a:srgbClr val="C0C0C0"/>
                  </a:outerShdw>
                </a:effectLst>
              </a:endParaRPr>
            </a:p>
          </p:txBody>
        </p:sp>
        <p:sp>
          <p:nvSpPr>
            <p:cNvPr id="11" name="Line 15">
              <a:extLst>
                <a:ext uri="{FF2B5EF4-FFF2-40B4-BE49-F238E27FC236}">
                  <a16:creationId xmlns:a16="http://schemas.microsoft.com/office/drawing/2014/main" id="{12679C9A-2351-41FC-B1DC-FA25F1D243F8}"/>
                </a:ext>
              </a:extLst>
            </p:cNvPr>
            <p:cNvSpPr>
              <a:spLocks noChangeShapeType="1"/>
            </p:cNvSpPr>
            <p:nvPr/>
          </p:nvSpPr>
          <p:spPr bwMode="auto">
            <a:xfrm>
              <a:off x="5723016" y="4055709"/>
              <a:ext cx="2118973" cy="0"/>
            </a:xfrm>
            <a:prstGeom prst="line">
              <a:avLst/>
            </a:prstGeom>
            <a:noFill/>
            <a:ln w="31750"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2" name="Line 16">
              <a:extLst>
                <a:ext uri="{FF2B5EF4-FFF2-40B4-BE49-F238E27FC236}">
                  <a16:creationId xmlns:a16="http://schemas.microsoft.com/office/drawing/2014/main" id="{4BFFF4C7-6137-417C-8C68-C8085510FB96}"/>
                </a:ext>
              </a:extLst>
            </p:cNvPr>
            <p:cNvSpPr>
              <a:spLocks noChangeShapeType="1"/>
            </p:cNvSpPr>
            <p:nvPr/>
          </p:nvSpPr>
          <p:spPr bwMode="auto">
            <a:xfrm>
              <a:off x="7804702" y="4166363"/>
              <a:ext cx="0" cy="1670697"/>
            </a:xfrm>
            <a:prstGeom prst="line">
              <a:avLst/>
            </a:prstGeom>
            <a:noFill/>
            <a:ln w="2857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3" name="Rectangle 17">
              <a:extLst>
                <a:ext uri="{FF2B5EF4-FFF2-40B4-BE49-F238E27FC236}">
                  <a16:creationId xmlns:a16="http://schemas.microsoft.com/office/drawing/2014/main" id="{AEA763F3-5C9E-41BC-8301-68A92D16263F}"/>
                </a:ext>
              </a:extLst>
            </p:cNvPr>
            <p:cNvSpPr>
              <a:spLocks noChangeArrowheads="1"/>
            </p:cNvSpPr>
            <p:nvPr/>
          </p:nvSpPr>
          <p:spPr bwMode="auto">
            <a:xfrm>
              <a:off x="7613919" y="5844556"/>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effectLst>
                    <a:outerShdw blurRad="38100" dist="38100" dir="2700000" algn="tl">
                      <a:srgbClr val="C0C0C0"/>
                    </a:outerShdw>
                  </a:effectLst>
                </a:rPr>
                <a:t>nQ</a:t>
              </a:r>
              <a:r>
                <a:rPr lang="en-US" altLang="zh-CN" sz="2000" b="1" baseline="-25000" dirty="0">
                  <a:effectLst>
                    <a:outerShdw blurRad="38100" dist="38100" dir="2700000" algn="tl">
                      <a:srgbClr val="C0C0C0"/>
                    </a:outerShdw>
                  </a:effectLst>
                </a:rPr>
                <a:t>0</a:t>
              </a:r>
              <a:endParaRPr lang="en-US" altLang="zh-CN" sz="2000" b="1" dirty="0">
                <a:effectLst>
                  <a:outerShdw blurRad="38100" dist="38100" dir="2700000" algn="tl">
                    <a:srgbClr val="C0C0C0"/>
                  </a:outerShdw>
                </a:effectLst>
              </a:endParaRPr>
            </a:p>
          </p:txBody>
        </p:sp>
        <p:grpSp>
          <p:nvGrpSpPr>
            <p:cNvPr id="14" name="Group 42">
              <a:extLst>
                <a:ext uri="{FF2B5EF4-FFF2-40B4-BE49-F238E27FC236}">
                  <a16:creationId xmlns:a16="http://schemas.microsoft.com/office/drawing/2014/main" id="{1FA233B2-1829-4AEC-A9A7-C1B5996B48CA}"/>
                </a:ext>
              </a:extLst>
            </p:cNvPr>
            <p:cNvGrpSpPr/>
            <p:nvPr/>
          </p:nvGrpSpPr>
          <p:grpSpPr bwMode="auto">
            <a:xfrm rot="2887672">
              <a:off x="7227456" y="2547675"/>
              <a:ext cx="2878881" cy="3128910"/>
              <a:chOff x="1728" y="742"/>
              <a:chExt cx="1539" cy="1466"/>
            </a:xfrm>
          </p:grpSpPr>
          <p:sp>
            <p:nvSpPr>
              <p:cNvPr id="31" name="Line 22">
                <a:extLst>
                  <a:ext uri="{FF2B5EF4-FFF2-40B4-BE49-F238E27FC236}">
                    <a16:creationId xmlns:a16="http://schemas.microsoft.com/office/drawing/2014/main" id="{029CE3F6-2385-48FA-89B7-172CCC58FA70}"/>
                  </a:ext>
                </a:extLst>
              </p:cNvPr>
              <p:cNvSpPr>
                <a:spLocks noChangeShapeType="1"/>
              </p:cNvSpPr>
              <p:nvPr/>
            </p:nvSpPr>
            <p:spPr bwMode="auto">
              <a:xfrm flipV="1">
                <a:off x="1728" y="960"/>
                <a:ext cx="1248" cy="1248"/>
              </a:xfrm>
              <a:prstGeom prst="line">
                <a:avLst/>
              </a:prstGeom>
              <a:noFill/>
              <a:ln w="3810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dirty="0"/>
              </a:p>
            </p:txBody>
          </p:sp>
          <p:sp>
            <p:nvSpPr>
              <p:cNvPr id="32" name="Rectangle 23">
                <a:extLst>
                  <a:ext uri="{FF2B5EF4-FFF2-40B4-BE49-F238E27FC236}">
                    <a16:creationId xmlns:a16="http://schemas.microsoft.com/office/drawing/2014/main" id="{B1A6391B-6F40-4692-95B6-4D9CC68EE726}"/>
                  </a:ext>
                </a:extLst>
              </p:cNvPr>
              <p:cNvSpPr>
                <a:spLocks noChangeArrowheads="1"/>
              </p:cNvSpPr>
              <p:nvPr/>
            </p:nvSpPr>
            <p:spPr bwMode="auto">
              <a:xfrm rot="18712328">
                <a:off x="3025" y="765"/>
                <a:ext cx="266"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dirty="0">
                    <a:solidFill>
                      <a:srgbClr val="FF80FF"/>
                    </a:solidFill>
                    <a:effectLst>
                      <a:outerShdw blurRad="38100" dist="38100" dir="2700000" algn="tl">
                        <a:srgbClr val="C0C0C0"/>
                      </a:outerShdw>
                    </a:effectLst>
                  </a:rPr>
                  <a:t>LS</a:t>
                </a:r>
                <a:r>
                  <a:rPr lang="en-US" altLang="zh-CN" b="1" dirty="0">
                    <a:solidFill>
                      <a:srgbClr val="FF80FF"/>
                    </a:solidFill>
                    <a:effectLst>
                      <a:outerShdw blurRad="38100" dist="38100" dir="2700000" algn="tl">
                        <a:srgbClr val="C0C0C0"/>
                      </a:outerShdw>
                    </a:effectLst>
                  </a:rPr>
                  <a:t>1</a:t>
                </a:r>
                <a:endParaRPr lang="en-US" altLang="zh-CN" sz="2800" b="1" dirty="0">
                  <a:solidFill>
                    <a:srgbClr val="FF80FF"/>
                  </a:solidFill>
                  <a:effectLst>
                    <a:outerShdw blurRad="38100" dist="38100" dir="2700000" algn="tl">
                      <a:srgbClr val="C0C0C0"/>
                    </a:outerShdw>
                  </a:effectLst>
                </a:endParaRPr>
              </a:p>
            </p:txBody>
          </p:sp>
        </p:grpSp>
        <p:grpSp>
          <p:nvGrpSpPr>
            <p:cNvPr id="15" name="Group 46">
              <a:extLst>
                <a:ext uri="{FF2B5EF4-FFF2-40B4-BE49-F238E27FC236}">
                  <a16:creationId xmlns:a16="http://schemas.microsoft.com/office/drawing/2014/main" id="{18057097-0110-4E9B-9F5C-0DE20C7D3BD4}"/>
                </a:ext>
              </a:extLst>
            </p:cNvPr>
            <p:cNvGrpSpPr/>
            <p:nvPr/>
          </p:nvGrpSpPr>
          <p:grpSpPr bwMode="auto">
            <a:xfrm>
              <a:off x="5322285" y="3303802"/>
              <a:ext cx="3848950" cy="2863858"/>
              <a:chOff x="1222" y="1422"/>
              <a:chExt cx="1191" cy="1710"/>
            </a:xfrm>
          </p:grpSpPr>
          <p:sp>
            <p:nvSpPr>
              <p:cNvPr id="27" name="Rectangle 25">
                <a:extLst>
                  <a:ext uri="{FF2B5EF4-FFF2-40B4-BE49-F238E27FC236}">
                    <a16:creationId xmlns:a16="http://schemas.microsoft.com/office/drawing/2014/main" id="{6CE142D8-B43B-4FB2-8D89-077687D1E470}"/>
                  </a:ext>
                </a:extLst>
              </p:cNvPr>
              <p:cNvSpPr>
                <a:spLocks noChangeArrowheads="1"/>
              </p:cNvSpPr>
              <p:nvPr/>
            </p:nvSpPr>
            <p:spPr bwMode="auto">
              <a:xfrm>
                <a:off x="1222" y="1422"/>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effectLst>
                      <a:outerShdw blurRad="38100" dist="38100" dir="2700000" algn="tl">
                        <a:srgbClr val="C0C0C0"/>
                      </a:outerShdw>
                    </a:effectLst>
                  </a:rPr>
                  <a:t>P</a:t>
                </a:r>
                <a:r>
                  <a:rPr lang="en-US" altLang="zh-CN" sz="2000" b="1" baseline="-25000" dirty="0">
                    <a:effectLst>
                      <a:outerShdw blurRad="38100" dist="38100" dir="2700000" algn="tl">
                        <a:srgbClr val="C0C0C0"/>
                      </a:outerShdw>
                    </a:effectLst>
                  </a:rPr>
                  <a:t>1</a:t>
                </a:r>
                <a:endParaRPr lang="en-US" altLang="zh-CN" sz="2000" b="1" dirty="0">
                  <a:effectLst>
                    <a:outerShdw blurRad="38100" dist="38100" dir="2700000" algn="tl">
                      <a:srgbClr val="C0C0C0"/>
                    </a:outerShdw>
                  </a:effectLst>
                </a:endParaRPr>
              </a:p>
            </p:txBody>
          </p:sp>
          <p:sp>
            <p:nvSpPr>
              <p:cNvPr id="28" name="Line 26">
                <a:extLst>
                  <a:ext uri="{FF2B5EF4-FFF2-40B4-BE49-F238E27FC236}">
                    <a16:creationId xmlns:a16="http://schemas.microsoft.com/office/drawing/2014/main" id="{DCA91BA5-AE56-4A08-ABF8-9E2F2EE333AD}"/>
                  </a:ext>
                </a:extLst>
              </p:cNvPr>
              <p:cNvSpPr>
                <a:spLocks noChangeShapeType="1"/>
              </p:cNvSpPr>
              <p:nvPr/>
            </p:nvSpPr>
            <p:spPr bwMode="auto">
              <a:xfrm>
                <a:off x="1346" y="1536"/>
                <a:ext cx="1054" cy="0"/>
              </a:xfrm>
              <a:prstGeom prst="line">
                <a:avLst/>
              </a:prstGeom>
              <a:noFill/>
              <a:ln w="2857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dirty="0"/>
              </a:p>
            </p:txBody>
          </p:sp>
          <p:sp>
            <p:nvSpPr>
              <p:cNvPr id="29" name="Line 27">
                <a:extLst>
                  <a:ext uri="{FF2B5EF4-FFF2-40B4-BE49-F238E27FC236}">
                    <a16:creationId xmlns:a16="http://schemas.microsoft.com/office/drawing/2014/main" id="{3C5A6036-89CF-4D71-900B-613BFA325873}"/>
                  </a:ext>
                </a:extLst>
              </p:cNvPr>
              <p:cNvSpPr>
                <a:spLocks noChangeShapeType="1"/>
              </p:cNvSpPr>
              <p:nvPr/>
            </p:nvSpPr>
            <p:spPr bwMode="auto">
              <a:xfrm>
                <a:off x="2400" y="1536"/>
                <a:ext cx="0" cy="1392"/>
              </a:xfrm>
              <a:prstGeom prst="line">
                <a:avLst/>
              </a:prstGeom>
              <a:noFill/>
              <a:ln w="2857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mc:AlternateContent xmlns:mc="http://schemas.openxmlformats.org/markup-compatibility/2006" xmlns:a14="http://schemas.microsoft.com/office/drawing/2010/main">
            <mc:Choice Requires="a14">
              <p:sp>
                <p:nvSpPr>
                  <p:cNvPr id="30" name="Rectangle 28">
                    <a:extLst>
                      <a:ext uri="{FF2B5EF4-FFF2-40B4-BE49-F238E27FC236}">
                        <a16:creationId xmlns:a16="http://schemas.microsoft.com/office/drawing/2014/main" id="{450121C7-1A10-4CED-B634-E07EA218B8ED}"/>
                      </a:ext>
                    </a:extLst>
                  </p:cNvPr>
                  <p:cNvSpPr>
                    <a:spLocks noChangeArrowheads="1"/>
                  </p:cNvSpPr>
                  <p:nvPr/>
                </p:nvSpPr>
                <p:spPr bwMode="auto">
                  <a:xfrm>
                    <a:off x="2221" y="2940"/>
                    <a:ext cx="192" cy="19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none" lIns="90000" tIns="46800" rIns="90000" bIns="46800" anchor="ctr"/>
                  <a:lstStyle/>
                  <a:p>
                    <a:r>
                      <a:rPr lang="en-US" altLang="zh-CN" sz="2000" b="1" dirty="0">
                        <a:effectLst>
                          <a:outerShdw blurRad="38100" dist="38100" dir="2700000" algn="tl">
                            <a:srgbClr val="C0C0C0"/>
                          </a:outerShdw>
                        </a:effectLst>
                      </a:rPr>
                      <a:t>(n+</a:t>
                    </a:r>
                    <a14:m>
                      <m:oMath xmlns:m="http://schemas.openxmlformats.org/officeDocument/2006/math">
                        <m:sSub>
                          <m:sSubPr>
                            <m:ctrlPr>
                              <a:rPr lang="en-US" altLang="zh-CN" sz="2000" b="1" i="1">
                                <a:effectLst>
                                  <a:outerShdw blurRad="38100" dist="38100" dir="2700000" algn="tl">
                                    <a:srgbClr val="C0C0C0"/>
                                  </a:outerShdw>
                                </a:effectLst>
                                <a:latin typeface="Cambria Math" panose="02040503050406030204" pitchFamily="18" charset="0"/>
                              </a:rPr>
                            </m:ctrlPr>
                          </m:sSubPr>
                          <m:e>
                            <m:r>
                              <a:rPr lang="en-US" altLang="zh-CN" sz="2000" b="1" i="1">
                                <a:effectLst>
                                  <a:outerShdw blurRad="38100" dist="38100" dir="2700000" algn="tl">
                                    <a:srgbClr val="C0C0C0"/>
                                  </a:outerShdw>
                                </a:effectLst>
                                <a:latin typeface="Cambria Math" panose="02040503050406030204" pitchFamily="18" charset="0"/>
                              </a:rPr>
                              <m:t>𝑚</m:t>
                            </m:r>
                          </m:e>
                          <m:sub>
                            <m:r>
                              <a:rPr lang="en-US" altLang="zh-CN" sz="2000" b="1" i="0" smtClean="0">
                                <a:effectLst>
                                  <a:outerShdw blurRad="38100" dist="38100" dir="2700000" algn="tl">
                                    <a:srgbClr val="C0C0C0"/>
                                  </a:outerShdw>
                                </a:effectLst>
                                <a:latin typeface="Cambria Math" panose="02040503050406030204" pitchFamily="18" charset="0"/>
                              </a:rPr>
                              <m:t>𝟏</m:t>
                            </m:r>
                          </m:sub>
                        </m:sSub>
                      </m:oMath>
                    </a14:m>
                    <a:r>
                      <a:rPr lang="en-US" altLang="zh-CN" sz="2000" b="1" dirty="0">
                        <a:effectLst>
                          <a:outerShdw blurRad="38100" dist="38100" dir="2700000" algn="tl">
                            <a:srgbClr val="C0C0C0"/>
                          </a:outerShdw>
                        </a:effectLst>
                      </a:rPr>
                      <a:t>) Q</a:t>
                    </a:r>
                    <a:r>
                      <a:rPr lang="en-US" altLang="zh-CN" sz="2000" b="1" baseline="-25000" dirty="0">
                        <a:effectLst>
                          <a:outerShdw blurRad="38100" dist="38100" dir="2700000" algn="tl">
                            <a:srgbClr val="C0C0C0"/>
                          </a:outerShdw>
                        </a:effectLst>
                      </a:rPr>
                      <a:t>1</a:t>
                    </a:r>
                    <a:endParaRPr lang="en-US" altLang="zh-CN" sz="2000" b="1" dirty="0">
                      <a:effectLst>
                        <a:outerShdw blurRad="38100" dist="38100" dir="2700000" algn="tl">
                          <a:srgbClr val="C0C0C0"/>
                        </a:outerShdw>
                      </a:effectLst>
                    </a:endParaRPr>
                  </a:p>
                </p:txBody>
              </p:sp>
            </mc:Choice>
            <mc:Fallback xmlns="">
              <p:sp>
                <p:nvSpPr>
                  <p:cNvPr id="37" name="Rectangle 28"/>
                  <p:cNvSpPr>
                    <a:spLocks noRot="1" noChangeAspect="1" noMove="1" noResize="1" noEditPoints="1" noAdjustHandles="1" noChangeArrowheads="1" noChangeShapeType="1" noTextEdit="1"/>
                  </p:cNvSpPr>
                  <p:nvPr/>
                </p:nvSpPr>
                <p:spPr bwMode="auto">
                  <a:xfrm>
                    <a:off x="2221" y="2940"/>
                    <a:ext cx="192" cy="192"/>
                  </a:xfrm>
                  <a:prstGeom prst="rect">
                    <a:avLst/>
                  </a:prstGeom>
                  <a:blipFill rotWithShape="1">
                    <a:blip r:embed="rId2" cstate="print"/>
                    <a:stretch>
                      <a:fillRect l="-10784" t="-22642" r="-109804" b="-54717"/>
                    </a:stretch>
                  </a:blip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p>
                    <a:r>
                      <a:rPr lang="zh-CN" altLang="en-US">
                        <a:noFill/>
                      </a:rPr>
                      <a:t> </a:t>
                    </a:r>
                  </a:p>
                </p:txBody>
              </p:sp>
            </mc:Fallback>
          </mc:AlternateContent>
        </p:grpSp>
        <p:grpSp>
          <p:nvGrpSpPr>
            <p:cNvPr id="16" name="Group 45">
              <a:extLst>
                <a:ext uri="{FF2B5EF4-FFF2-40B4-BE49-F238E27FC236}">
                  <a16:creationId xmlns:a16="http://schemas.microsoft.com/office/drawing/2014/main" id="{8FB6C321-6BFE-4BE5-A09F-844FB305D9E7}"/>
                </a:ext>
              </a:extLst>
            </p:cNvPr>
            <p:cNvGrpSpPr/>
            <p:nvPr/>
          </p:nvGrpSpPr>
          <p:grpSpPr bwMode="auto">
            <a:xfrm>
              <a:off x="5291656" y="4279745"/>
              <a:ext cx="1584773" cy="1910590"/>
              <a:chOff x="1249" y="1941"/>
              <a:chExt cx="1919" cy="1206"/>
            </a:xfrm>
          </p:grpSpPr>
          <p:sp>
            <p:nvSpPr>
              <p:cNvPr id="23" name="Rectangle 31">
                <a:extLst>
                  <a:ext uri="{FF2B5EF4-FFF2-40B4-BE49-F238E27FC236}">
                    <a16:creationId xmlns:a16="http://schemas.microsoft.com/office/drawing/2014/main" id="{EBAC61CB-FEF1-44BA-84CC-74E4585ADA68}"/>
                  </a:ext>
                </a:extLst>
              </p:cNvPr>
              <p:cNvSpPr>
                <a:spLocks noChangeArrowheads="1"/>
              </p:cNvSpPr>
              <p:nvPr/>
            </p:nvSpPr>
            <p:spPr bwMode="auto">
              <a:xfrm>
                <a:off x="1249" y="1941"/>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000" b="1" dirty="0">
                    <a:effectLst>
                      <a:outerShdw blurRad="38100" dist="38100" dir="2700000" algn="tl">
                        <a:srgbClr val="C0C0C0"/>
                      </a:outerShdw>
                    </a:effectLst>
                  </a:rPr>
                  <a:t>P</a:t>
                </a:r>
                <a:r>
                  <a:rPr lang="en-US" altLang="zh-CN" sz="2000" b="1" baseline="-25000" dirty="0">
                    <a:effectLst>
                      <a:outerShdw blurRad="38100" dist="38100" dir="2700000" algn="tl">
                        <a:srgbClr val="C0C0C0"/>
                      </a:outerShdw>
                    </a:effectLst>
                  </a:rPr>
                  <a:t>2</a:t>
                </a:r>
                <a:endParaRPr lang="en-US" altLang="zh-CN" sz="2000" b="1" dirty="0">
                  <a:effectLst>
                    <a:outerShdw blurRad="38100" dist="38100" dir="2700000" algn="tl">
                      <a:srgbClr val="C0C0C0"/>
                    </a:outerShdw>
                  </a:effectLst>
                </a:endParaRPr>
              </a:p>
            </p:txBody>
          </p:sp>
          <p:sp>
            <p:nvSpPr>
              <p:cNvPr id="24" name="Line 32">
                <a:extLst>
                  <a:ext uri="{FF2B5EF4-FFF2-40B4-BE49-F238E27FC236}">
                    <a16:creationId xmlns:a16="http://schemas.microsoft.com/office/drawing/2014/main" id="{65DEB23F-C1EB-4175-906C-6EB6BF8391B2}"/>
                  </a:ext>
                </a:extLst>
              </p:cNvPr>
              <p:cNvSpPr>
                <a:spLocks noChangeShapeType="1"/>
              </p:cNvSpPr>
              <p:nvPr/>
            </p:nvSpPr>
            <p:spPr bwMode="auto">
              <a:xfrm>
                <a:off x="1768" y="2064"/>
                <a:ext cx="1400" cy="0"/>
              </a:xfrm>
              <a:prstGeom prst="line">
                <a:avLst/>
              </a:prstGeom>
              <a:noFill/>
              <a:ln w="349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dirty="0"/>
              </a:p>
            </p:txBody>
          </p:sp>
          <p:sp>
            <p:nvSpPr>
              <p:cNvPr id="25" name="Line 33">
                <a:extLst>
                  <a:ext uri="{FF2B5EF4-FFF2-40B4-BE49-F238E27FC236}">
                    <a16:creationId xmlns:a16="http://schemas.microsoft.com/office/drawing/2014/main" id="{82240E89-044E-493B-A67D-B84430E8023A}"/>
                  </a:ext>
                </a:extLst>
              </p:cNvPr>
              <p:cNvSpPr>
                <a:spLocks noChangeShapeType="1"/>
              </p:cNvSpPr>
              <p:nvPr/>
            </p:nvSpPr>
            <p:spPr bwMode="auto">
              <a:xfrm>
                <a:off x="3168" y="2112"/>
                <a:ext cx="0" cy="812"/>
              </a:xfrm>
              <a:prstGeom prst="line">
                <a:avLst/>
              </a:prstGeom>
              <a:noFill/>
              <a:ln w="2857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mc:AlternateContent xmlns:mc="http://schemas.openxmlformats.org/markup-compatibility/2006" xmlns:a14="http://schemas.microsoft.com/office/drawing/2010/main">
            <mc:Choice Requires="a14">
              <p:sp>
                <p:nvSpPr>
                  <p:cNvPr id="26" name="Rectangle 34">
                    <a:extLst>
                      <a:ext uri="{FF2B5EF4-FFF2-40B4-BE49-F238E27FC236}">
                        <a16:creationId xmlns:a16="http://schemas.microsoft.com/office/drawing/2014/main" id="{0D487027-1004-4B9D-A4FB-314A63DD12BD}"/>
                      </a:ext>
                    </a:extLst>
                  </p:cNvPr>
                  <p:cNvSpPr>
                    <a:spLocks noChangeArrowheads="1"/>
                  </p:cNvSpPr>
                  <p:nvPr/>
                </p:nvSpPr>
                <p:spPr bwMode="auto">
                  <a:xfrm>
                    <a:off x="2453" y="2955"/>
                    <a:ext cx="192" cy="192"/>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none" lIns="90000" tIns="46800" rIns="90000" bIns="46800" anchor="ctr"/>
                  <a:lstStyle/>
                  <a:p>
                    <a:r>
                      <a:rPr lang="en-US" altLang="zh-CN" sz="2000" b="1" dirty="0">
                        <a:solidFill>
                          <a:schemeClr val="tx1"/>
                        </a:solidFill>
                        <a:effectLst>
                          <a:outerShdw blurRad="38100" dist="38100" dir="2700000" algn="tl">
                            <a:srgbClr val="C0C0C0"/>
                          </a:outerShdw>
                        </a:effectLst>
                      </a:rPr>
                      <a:t>(n-</a:t>
                    </a:r>
                    <a14:m>
                      <m:oMath xmlns:m="http://schemas.openxmlformats.org/officeDocument/2006/math">
                        <m:sSub>
                          <m:sSubPr>
                            <m:ctrlPr>
                              <a:rPr lang="en-US" altLang="zh-CN" sz="2000" b="1" i="1" smtClean="0">
                                <a:solidFill>
                                  <a:schemeClr val="tx1"/>
                                </a:solidFill>
                                <a:effectLst>
                                  <a:outerShdw blurRad="38100" dist="38100" dir="2700000" algn="tl">
                                    <a:srgbClr val="C0C0C0"/>
                                  </a:outerShdw>
                                </a:effectLst>
                                <a:latin typeface="Cambria Math" panose="02040503050406030204" pitchFamily="18" charset="0"/>
                              </a:rPr>
                            </m:ctrlPr>
                          </m:sSubPr>
                          <m:e>
                            <m:r>
                              <a:rPr lang="en-US" altLang="zh-CN" sz="2000" b="1" i="1" smtClean="0">
                                <a:solidFill>
                                  <a:schemeClr val="tx1"/>
                                </a:solidFill>
                                <a:effectLst>
                                  <a:outerShdw blurRad="38100" dist="38100" dir="2700000" algn="tl">
                                    <a:srgbClr val="C0C0C0"/>
                                  </a:outerShdw>
                                </a:effectLst>
                                <a:latin typeface="Cambria Math" panose="02040503050406030204" pitchFamily="18" charset="0"/>
                              </a:rPr>
                              <m:t>𝑚</m:t>
                            </m:r>
                          </m:e>
                          <m:sub>
                            <m:r>
                              <a:rPr lang="en-US" altLang="zh-CN" sz="2000" b="1" i="0" smtClean="0">
                                <a:solidFill>
                                  <a:schemeClr val="tx1"/>
                                </a:solidFill>
                                <a:effectLst>
                                  <a:outerShdw blurRad="38100" dist="38100" dir="2700000" algn="tl">
                                    <a:srgbClr val="C0C0C0"/>
                                  </a:outerShdw>
                                </a:effectLst>
                                <a:latin typeface="Cambria Math" panose="02040503050406030204" pitchFamily="18" charset="0"/>
                              </a:rPr>
                              <m:t>2</m:t>
                            </m:r>
                          </m:sub>
                        </m:sSub>
                      </m:oMath>
                    </a14:m>
                    <a:r>
                      <a:rPr lang="en-US" altLang="zh-CN" sz="2000" b="1" dirty="0">
                        <a:solidFill>
                          <a:schemeClr val="tx1"/>
                        </a:solidFill>
                        <a:effectLst>
                          <a:outerShdw blurRad="38100" dist="38100" dir="2700000" algn="tl">
                            <a:srgbClr val="C0C0C0"/>
                          </a:outerShdw>
                        </a:effectLst>
                      </a:rPr>
                      <a:t>)Q</a:t>
                    </a:r>
                    <a:r>
                      <a:rPr lang="en-US" altLang="zh-CN" sz="2000" b="1" baseline="-25000" dirty="0">
                        <a:solidFill>
                          <a:schemeClr val="tx1"/>
                        </a:solidFill>
                        <a:effectLst>
                          <a:outerShdw blurRad="38100" dist="38100" dir="2700000" algn="tl">
                            <a:srgbClr val="C0C0C0"/>
                          </a:outerShdw>
                        </a:effectLst>
                      </a:rPr>
                      <a:t>2</a:t>
                    </a:r>
                    <a:endParaRPr lang="en-US" altLang="zh-CN" sz="2000" b="1" dirty="0">
                      <a:solidFill>
                        <a:schemeClr val="tx1"/>
                      </a:solidFill>
                      <a:effectLst>
                        <a:outerShdw blurRad="38100" dist="38100" dir="2700000" algn="tl">
                          <a:srgbClr val="C0C0C0"/>
                        </a:outerShdw>
                      </a:effectLst>
                    </a:endParaRPr>
                  </a:p>
                </p:txBody>
              </p:sp>
            </mc:Choice>
            <mc:Fallback xmlns="">
              <p:sp>
                <p:nvSpPr>
                  <p:cNvPr id="43" name="Rectangle 34"/>
                  <p:cNvSpPr>
                    <a:spLocks noRot="1" noChangeAspect="1" noMove="1" noResize="1" noEditPoints="1" noAdjustHandles="1" noChangeArrowheads="1" noChangeShapeType="1" noTextEdit="1"/>
                  </p:cNvSpPr>
                  <p:nvPr/>
                </p:nvSpPr>
                <p:spPr bwMode="auto">
                  <a:xfrm>
                    <a:off x="2453" y="2955"/>
                    <a:ext cx="192" cy="192"/>
                  </a:xfrm>
                  <a:prstGeom prst="rect">
                    <a:avLst/>
                  </a:prstGeom>
                  <a:blipFill rotWithShape="1">
                    <a:blip r:embed="rId3" cstate="print"/>
                    <a:stretch>
                      <a:fillRect l="-53846" t="-28000" r="-646154" b="-60000"/>
                    </a:stretch>
                  </a:blip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a:lstStyle/>
                  <a:p>
                    <a:r>
                      <a:rPr lang="zh-CN" altLang="en-US">
                        <a:noFill/>
                      </a:rPr>
                      <a:t> </a:t>
                    </a:r>
                  </a:p>
                </p:txBody>
              </p:sp>
            </mc:Fallback>
          </mc:AlternateContent>
        </p:grpSp>
        <p:sp>
          <p:nvSpPr>
            <p:cNvPr id="17" name="Line 37">
              <a:extLst>
                <a:ext uri="{FF2B5EF4-FFF2-40B4-BE49-F238E27FC236}">
                  <a16:creationId xmlns:a16="http://schemas.microsoft.com/office/drawing/2014/main" id="{77E91D7B-F305-4544-A605-4D332787DAC8}"/>
                </a:ext>
              </a:extLst>
            </p:cNvPr>
            <p:cNvSpPr>
              <a:spLocks noChangeShapeType="1"/>
            </p:cNvSpPr>
            <p:nvPr/>
          </p:nvSpPr>
          <p:spPr bwMode="auto">
            <a:xfrm flipH="1" flipV="1">
              <a:off x="5695753" y="2835375"/>
              <a:ext cx="12637" cy="3026437"/>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dirty="0"/>
            </a:p>
          </p:txBody>
        </p:sp>
        <p:sp>
          <p:nvSpPr>
            <p:cNvPr id="18" name="Line 38">
              <a:extLst>
                <a:ext uri="{FF2B5EF4-FFF2-40B4-BE49-F238E27FC236}">
                  <a16:creationId xmlns:a16="http://schemas.microsoft.com/office/drawing/2014/main" id="{415139D8-D5B8-4CF0-9BA1-435160A799A6}"/>
                </a:ext>
              </a:extLst>
            </p:cNvPr>
            <p:cNvSpPr>
              <a:spLocks noChangeShapeType="1"/>
            </p:cNvSpPr>
            <p:nvPr/>
          </p:nvSpPr>
          <p:spPr bwMode="auto">
            <a:xfrm>
              <a:off x="5708390" y="5842763"/>
              <a:ext cx="4821578"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p>
              <a:endParaRPr lang="zh-CN" altLang="en-US"/>
            </a:p>
          </p:txBody>
        </p:sp>
        <p:sp>
          <p:nvSpPr>
            <p:cNvPr id="19" name="Rectangle 39">
              <a:extLst>
                <a:ext uri="{FF2B5EF4-FFF2-40B4-BE49-F238E27FC236}">
                  <a16:creationId xmlns:a16="http://schemas.microsoft.com/office/drawing/2014/main" id="{73BEB056-6D6A-45F2-AC1D-E0F11BCFD689}"/>
                </a:ext>
              </a:extLst>
            </p:cNvPr>
            <p:cNvSpPr>
              <a:spLocks noChangeArrowheads="1"/>
            </p:cNvSpPr>
            <p:nvPr/>
          </p:nvSpPr>
          <p:spPr bwMode="auto">
            <a:xfrm>
              <a:off x="5307700" y="2753728"/>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dirty="0">
                  <a:effectLst>
                    <a:outerShdw blurRad="38100" dist="38100" dir="2700000" algn="tl">
                      <a:srgbClr val="C0C0C0"/>
                    </a:outerShdw>
                  </a:effectLst>
                </a:rPr>
                <a:t>P</a:t>
              </a:r>
            </a:p>
          </p:txBody>
        </p:sp>
        <p:sp>
          <p:nvSpPr>
            <p:cNvPr id="20" name="Rectangle 40">
              <a:extLst>
                <a:ext uri="{FF2B5EF4-FFF2-40B4-BE49-F238E27FC236}">
                  <a16:creationId xmlns:a16="http://schemas.microsoft.com/office/drawing/2014/main" id="{18CB181E-CE1D-47D5-9781-8B0246E50B67}"/>
                </a:ext>
              </a:extLst>
            </p:cNvPr>
            <p:cNvSpPr>
              <a:spLocks noChangeArrowheads="1"/>
            </p:cNvSpPr>
            <p:nvPr/>
          </p:nvSpPr>
          <p:spPr bwMode="auto">
            <a:xfrm>
              <a:off x="5327390" y="5766563"/>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a:effectLst>
                    <a:outerShdw blurRad="38100" dist="38100" dir="2700000" algn="tl">
                      <a:srgbClr val="C0C0C0"/>
                    </a:outerShdw>
                  </a:effectLst>
                </a:rPr>
                <a:t>O</a:t>
              </a:r>
            </a:p>
          </p:txBody>
        </p:sp>
        <p:sp>
          <p:nvSpPr>
            <p:cNvPr id="21" name="Rectangle 41">
              <a:extLst>
                <a:ext uri="{FF2B5EF4-FFF2-40B4-BE49-F238E27FC236}">
                  <a16:creationId xmlns:a16="http://schemas.microsoft.com/office/drawing/2014/main" id="{81F7E0CA-C077-46B1-B19F-0301A965741E}"/>
                </a:ext>
              </a:extLst>
            </p:cNvPr>
            <p:cNvSpPr>
              <a:spLocks noChangeArrowheads="1"/>
            </p:cNvSpPr>
            <p:nvPr/>
          </p:nvSpPr>
          <p:spPr bwMode="auto">
            <a:xfrm>
              <a:off x="10118974" y="5940013"/>
              <a:ext cx="304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r>
                <a:rPr lang="en-US" altLang="zh-CN" sz="2800" b="1" dirty="0">
                  <a:effectLst>
                    <a:outerShdw blurRad="38100" dist="38100" dir="2700000" algn="tl">
                      <a:srgbClr val="C0C0C0"/>
                    </a:outerShdw>
                  </a:effectLst>
                </a:rPr>
                <a:t>Q</a:t>
              </a:r>
            </a:p>
          </p:txBody>
        </p:sp>
        <p:sp>
          <p:nvSpPr>
            <p:cNvPr id="22" name="文本框 21">
              <a:extLst>
                <a:ext uri="{FF2B5EF4-FFF2-40B4-BE49-F238E27FC236}">
                  <a16:creationId xmlns:a16="http://schemas.microsoft.com/office/drawing/2014/main" id="{3BE194C9-5B2A-47A0-AE65-5E4A7CFA6A00}"/>
                </a:ext>
              </a:extLst>
            </p:cNvPr>
            <p:cNvSpPr txBox="1"/>
            <p:nvPr/>
          </p:nvSpPr>
          <p:spPr>
            <a:xfrm>
              <a:off x="6404679" y="6405557"/>
              <a:ext cx="3429000"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完全竞争市场的长期供给曲线</a:t>
              </a:r>
            </a:p>
          </p:txBody>
        </p:sp>
      </p:grpSp>
    </p:spTree>
    <p:extLst>
      <p:ext uri="{BB962C8B-B14F-4D97-AF65-F5344CB8AC3E}">
        <p14:creationId xmlns:p14="http://schemas.microsoft.com/office/powerpoint/2010/main" val="32691777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9.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SubTitle"/>
  <p:tag name="MH_ORDER" val="1"/>
</p:tagLst>
</file>

<file path=ppt/tags/tag10.xml><?xml version="1.0" encoding="utf-8"?>
<p:tagLst xmlns:a="http://schemas.openxmlformats.org/drawingml/2006/main" xmlns:r="http://schemas.openxmlformats.org/officeDocument/2006/relationships" xmlns:p="http://schemas.openxmlformats.org/presentationml/2006/main">
  <p:tag name="MH" val="20190815111608"/>
  <p:tag name="MH_LIBRARY" val="GRAPHIC"/>
  <p:tag name="MH_TYPE" val="SubTitle"/>
  <p:tag name="MH_ORDER" val="2"/>
</p:tagLst>
</file>

<file path=ppt/tags/tag1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1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2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2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2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2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2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2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3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3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3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3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3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4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4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4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4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4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4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8"/>
</p:tagLst>
</file>

<file path=ppt/tags/tag4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5"/>
</p:tagLst>
</file>

<file path=ppt/tags/tag4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9"/>
</p:tagLst>
</file>

<file path=ppt/tags/tag4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4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6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6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1"/>
</p:tagLst>
</file>

<file path=ppt/tags/tag63.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1"/>
</p:tagLst>
</file>

<file path=ppt/tags/tag64.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2"/>
</p:tagLst>
</file>

<file path=ppt/tags/tag65.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2"/>
</p:tagLst>
</file>

<file path=ppt/tags/tag66.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3"/>
</p:tagLst>
</file>

<file path=ppt/tags/tag67.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3"/>
</p:tagLst>
</file>

<file path=ppt/tags/tag68.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4"/>
</p:tagLst>
</file>

<file path=ppt/tags/tag69.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SubTitle"/>
  <p:tag name="MH_ORDER" val="4"/>
</p:tagLst>
</file>

<file path=ppt/tags/tag70.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5"/>
</p:tagLst>
</file>

<file path=ppt/tags/tag71.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6"/>
</p:tagLst>
</file>

<file path=ppt/tags/tag72.xml><?xml version="1.0" encoding="utf-8"?>
<p:tagLst xmlns:a="http://schemas.openxmlformats.org/drawingml/2006/main" xmlns:r="http://schemas.openxmlformats.org/officeDocument/2006/relationships" xmlns:p="http://schemas.openxmlformats.org/presentationml/2006/main">
  <p:tag name="MH" val="20190814183304"/>
  <p:tag name="MH_LIBRARY" val="GRAPHIC"/>
  <p:tag name="MH_TYPE" val="Other"/>
  <p:tag name="MH_ORDER" val="7"/>
</p:tagLst>
</file>

<file path=ppt/tags/tag7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7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7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8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8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8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8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8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8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8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87.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88.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89.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90.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9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9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4874</TotalTime>
  <Pages>0</Pages>
  <Words>11370</Words>
  <Characters>0</Characters>
  <Application>Microsoft Office PowerPoint</Application>
  <DocSecurity>0</DocSecurity>
  <PresentationFormat>全屏显示(4:3)</PresentationFormat>
  <Lines>0</Lines>
  <Paragraphs>1965</Paragraphs>
  <Slides>123</Slides>
  <Notes>60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123</vt:i4>
      </vt:variant>
    </vt:vector>
  </HeadingPairs>
  <TitlesOfParts>
    <vt:vector size="134" baseType="lpstr">
      <vt:lpstr>黑体</vt:lpstr>
      <vt:lpstr>宋体</vt:lpstr>
      <vt:lpstr>微软雅黑</vt:lpstr>
      <vt:lpstr>Arial</vt:lpstr>
      <vt:lpstr>Calibri</vt:lpstr>
      <vt:lpstr>Cambria Math</vt:lpstr>
      <vt:lpstr>Times New Roman</vt:lpstr>
      <vt:lpstr>Wingdings</vt:lpstr>
      <vt:lpstr>默认设计模板</vt:lpstr>
      <vt:lpstr>Equation</vt:lpstr>
      <vt:lpstr>Microsoft Excel Chart</vt:lpstr>
      <vt:lpstr>第四章 完全竞争市场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竞争性厂商面临的需求曲线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竞争性厂商招致的亏损</vt:lpstr>
      <vt:lpstr>一个例子</vt:lpstr>
      <vt:lpstr>选择短期产量</vt:lpstr>
      <vt:lpstr>厂商如何选择短期产量</vt:lpstr>
      <vt:lpstr>PowerPoint 演示文稿</vt:lpstr>
      <vt:lpstr>PowerPoint 演示文稿</vt:lpstr>
      <vt:lpstr>PowerPoint 演示文稿</vt:lpstr>
      <vt:lpstr>PowerPoint 演示文稿</vt:lpstr>
      <vt:lpstr>PowerPoint 演示文稿</vt:lpstr>
      <vt:lpstr>PowerPoint 演示文稿</vt:lpstr>
      <vt:lpstr>短期市场供给曲线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对上一页的详细说明</vt:lpstr>
      <vt:lpstr>PowerPoint 演示文稿</vt:lpstr>
      <vt:lpstr>PowerPoint 演示文稿</vt:lpstr>
      <vt:lpstr>社会总剩余分析的应用之一：价格管制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税收效应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完全竞争市场的长期供给曲线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第**章 章名称</dc:title>
  <dc:subject/>
  <dc:creator>weihairui</dc:creator>
  <cp:keywords/>
  <dc:description/>
  <cp:lastModifiedBy>qiang wu</cp:lastModifiedBy>
  <cp:revision>756</cp:revision>
  <dcterms:created xsi:type="dcterms:W3CDTF">2015-04-07T08:53:39Z</dcterms:created>
  <dcterms:modified xsi:type="dcterms:W3CDTF">2024-04-25T01:43:48Z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2052-9.1.0.5060</vt:lpwstr>
  </property>
</Properties>
</file>