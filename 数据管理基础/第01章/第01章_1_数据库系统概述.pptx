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61"/>
  </p:handoutMasterIdLst>
  <p:sldIdLst>
    <p:sldId id="687" r:id="rId3"/>
    <p:sldId id="331" r:id="rId5"/>
    <p:sldId id="763" r:id="rId6"/>
    <p:sldId id="262" r:id="rId7"/>
    <p:sldId id="404" r:id="rId8"/>
    <p:sldId id="263" r:id="rId9"/>
    <p:sldId id="764" r:id="rId10"/>
    <p:sldId id="765" r:id="rId11"/>
    <p:sldId id="545" r:id="rId12"/>
    <p:sldId id="476" r:id="rId13"/>
    <p:sldId id="266" r:id="rId14"/>
    <p:sldId id="267" r:id="rId15"/>
    <p:sldId id="268" r:id="rId16"/>
    <p:sldId id="269" r:id="rId17"/>
    <p:sldId id="271" r:id="rId18"/>
    <p:sldId id="272" r:id="rId19"/>
    <p:sldId id="273" r:id="rId20"/>
    <p:sldId id="274" r:id="rId21"/>
    <p:sldId id="767" r:id="rId22"/>
    <p:sldId id="275" r:id="rId23"/>
    <p:sldId id="277" r:id="rId24"/>
    <p:sldId id="278" r:id="rId25"/>
    <p:sldId id="839" r:id="rId26"/>
    <p:sldId id="893" r:id="rId27"/>
    <p:sldId id="913" r:id="rId28"/>
    <p:sldId id="279" r:id="rId29"/>
    <p:sldId id="895" r:id="rId30"/>
    <p:sldId id="914" r:id="rId31"/>
    <p:sldId id="912" r:id="rId32"/>
    <p:sldId id="915" r:id="rId33"/>
    <p:sldId id="917" r:id="rId34"/>
    <p:sldId id="916" r:id="rId35"/>
    <p:sldId id="918" r:id="rId36"/>
    <p:sldId id="919" r:id="rId37"/>
    <p:sldId id="920" r:id="rId38"/>
    <p:sldId id="921" r:id="rId39"/>
    <p:sldId id="977" r:id="rId40"/>
    <p:sldId id="922" r:id="rId41"/>
    <p:sldId id="900" r:id="rId42"/>
    <p:sldId id="901" r:id="rId43"/>
    <p:sldId id="902" r:id="rId44"/>
    <p:sldId id="904" r:id="rId45"/>
    <p:sldId id="905" r:id="rId46"/>
    <p:sldId id="906" r:id="rId47"/>
    <p:sldId id="896" r:id="rId48"/>
    <p:sldId id="979" r:id="rId49"/>
    <p:sldId id="982" r:id="rId50"/>
    <p:sldId id="981" r:id="rId51"/>
    <p:sldId id="980" r:id="rId52"/>
    <p:sldId id="984" r:id="rId53"/>
    <p:sldId id="983" r:id="rId54"/>
    <p:sldId id="985" r:id="rId55"/>
    <p:sldId id="986" r:id="rId56"/>
    <p:sldId id="987" r:id="rId57"/>
    <p:sldId id="988" r:id="rId58"/>
    <p:sldId id="1002" r:id="rId59"/>
    <p:sldId id="989" r:id="rId60"/>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gs" Target="tags/tag144.xml"/><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2024.3.15  17:17</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dirty="0">
                <a:sym typeface="+mn-ea"/>
              </a:rPr>
              <a:t>‘</a:t>
            </a:r>
            <a:r>
              <a:rPr lang="zh-CN" altLang="en-US" dirty="0">
                <a:sym typeface="+mn-ea"/>
              </a:rPr>
              <a:t>信息</a:t>
            </a:r>
            <a:r>
              <a:rPr lang="en-US" altLang="zh-CN" dirty="0">
                <a:sym typeface="+mn-ea"/>
              </a:rPr>
              <a:t>’</a:t>
            </a:r>
            <a:r>
              <a:rPr lang="zh-CN" altLang="en-US" dirty="0">
                <a:sym typeface="+mn-ea"/>
              </a:rPr>
              <a:t>泛指人类社会传播的一切内容。</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zh-CN" altLang="en-US"/>
              <a:t>数据是一种</a:t>
            </a:r>
            <a:r>
              <a:rPr lang="en-US" altLang="zh-CN"/>
              <a:t>  </a:t>
            </a:r>
            <a:r>
              <a:rPr lang="zh-CN" altLang="en-US"/>
              <a:t>新资源、新资产、新资本</a:t>
            </a:r>
            <a:endParaRPr lang="en-US" altLang="zh-CN"/>
          </a:p>
          <a:p>
            <a:r>
              <a:rPr lang="zh-CN" altLang="en-US"/>
              <a:t>数字经济</a:t>
            </a:r>
            <a:r>
              <a:rPr lang="en-US" altLang="zh-CN"/>
              <a:t>  --&gt; 2022</a:t>
            </a:r>
            <a:r>
              <a:rPr lang="zh-CN" altLang="en-US"/>
              <a:t>年，我国数字经济的</a:t>
            </a:r>
            <a:r>
              <a:rPr lang="en-US" altLang="zh-CN"/>
              <a:t>GDP</a:t>
            </a:r>
            <a:r>
              <a:rPr lang="zh-CN" altLang="en-US"/>
              <a:t>占比已超过</a:t>
            </a:r>
            <a:r>
              <a:rPr lang="en-US" altLang="zh-CN"/>
              <a:t>40%</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r>
              <a:rPr lang="en-US" altLang="zh-CN"/>
              <a:t>SQL</a:t>
            </a:r>
            <a:r>
              <a:rPr lang="zh-CN" altLang="en-US"/>
              <a:t>：Structured Query Language</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Cassandra</a:t>
            </a:r>
            <a:r>
              <a:rPr lang="zh-CN" altLang="en-US">
                <a:sym typeface="+mn-ea"/>
              </a:rPr>
              <a:t>：阿里云基于</a:t>
            </a:r>
            <a:r>
              <a:rPr lang="en-US" altLang="zh-CN">
                <a:sym typeface="+mn-ea"/>
              </a:rPr>
              <a:t>Apache</a:t>
            </a:r>
            <a:r>
              <a:rPr lang="zh-CN" altLang="en-US">
                <a:sym typeface="+mn-ea"/>
              </a:rPr>
              <a:t>架构、列存储、分布式数据库</a:t>
            </a:r>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4815" y="615950"/>
            <a:ext cx="557974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615950"/>
            <a:ext cx="558863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11"/>
          </p:nvPr>
        </p:nvSpPr>
        <p:spPr/>
        <p:txBody>
          <a:bodyPr/>
          <a:lstStyle/>
          <a:p>
            <a:r>
              <a:rPr lang="zh-CN" altLang="en-US"/>
              <a:t>ch01_绪论</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800" y="604520"/>
            <a:ext cx="558000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4815" y="1229995"/>
            <a:ext cx="5579745"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604520"/>
            <a:ext cx="558927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1229995"/>
            <a:ext cx="5589270"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页脚占位符 7"/>
          <p:cNvSpPr>
            <a:spLocks noGrp="1"/>
          </p:cNvSpPr>
          <p:nvPr>
            <p:ph type="ftr" sz="quarter" idx="11"/>
          </p:nvPr>
        </p:nvSpPr>
        <p:spPr/>
        <p:txBody>
          <a:bodyPr/>
          <a:lstStyle/>
          <a:p>
            <a:r>
              <a:rPr lang="zh-CN" altLang="en-US"/>
              <a:t>ch01_绪论</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p:txBody>
          <a:bodyPr/>
          <a:lstStyle/>
          <a:p>
            <a:r>
              <a:rPr lang="zh-CN" altLang="en-US"/>
              <a:t>ch01_绪论</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ch01_绪论</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horz"/>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1"/>
            <p:custDataLst>
              <p:tags r:id="rId2"/>
            </p:custDataLst>
          </p:nvPr>
        </p:nvSpPr>
        <p:spPr/>
        <p:txBody>
          <a:bodyPr/>
          <a:p>
            <a:r>
              <a:rPr lang="zh-CN" altLang="en-US"/>
              <a:t>ch01_绪论</a:t>
            </a:r>
            <a:endParaRPr lang="zh-CN" altLang="en-US"/>
          </a:p>
        </p:txBody>
      </p:sp>
      <p:sp>
        <p:nvSpPr>
          <p:cNvPr id="7" name="灯片编号占位符 6"/>
          <p:cNvSpPr>
            <a:spLocks noGrp="1"/>
          </p:cNvSpPr>
          <p:nvPr>
            <p:ph type="sldNum" sz="quarter" idx="12"/>
            <p:custDataLst>
              <p:tags r:id="rId3"/>
            </p:custDataLst>
          </p:nvPr>
        </p:nvSpPr>
        <p:spPr/>
        <p:txBody>
          <a:bodyPr/>
          <a:p>
            <a:fld id="{565CE74E-AB26-4998-AD42-012C4C1AD076}"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3"/>
          </p:nvPr>
        </p:nvSpPr>
        <p:spPr>
          <a:xfrm>
            <a:off x="0" y="6695365"/>
            <a:ext cx="4114800" cy="153670"/>
          </a:xfrm>
          <a:prstGeom prst="rect">
            <a:avLst/>
          </a:prstGeom>
        </p:spPr>
        <p:txBody>
          <a:bodyPr vert="horz" lIns="91440" tIns="0" rIns="91440" bIns="0" rtlCol="0" anchor="ctr">
            <a:spAutoFit/>
          </a:bodyPr>
          <a:lstStyle>
            <a:lvl1pPr algn="l">
              <a:defRPr sz="1000" b="1" i="0">
                <a:solidFill>
                  <a:schemeClr val="tx1">
                    <a:tint val="75000"/>
                  </a:schemeClr>
                </a:solidFill>
                <a:latin typeface="+mn-lt"/>
                <a:ea typeface="楷体" panose="02010609060101010101" charset="-122"/>
                <a:cs typeface="+mn-lt"/>
              </a:defRPr>
            </a:lvl1pPr>
          </a:lstStyle>
          <a:p>
            <a:r>
              <a:rPr lang="zh-CN" altLang="en-US"/>
              <a:t>ch01_绪论</a:t>
            </a:r>
            <a:endParaRPr lang="zh-CN" altLang="en-US"/>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360680" indent="-36068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楷体" panose="02010609060101010101" charset="-122"/>
          <a:ea typeface="楷体" panose="02010609060101010101" charset="-122"/>
          <a:cs typeface="+mn-cs"/>
        </a:defRPr>
      </a:lvl1pPr>
      <a:lvl2pPr marL="6858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4pPr>
      <a:lvl5pPr marL="20574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
        <a:defRPr sz="24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2.png"/><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7" Type="http://schemas.openxmlformats.org/officeDocument/2006/relationships/slideLayout" Target="../slideLayouts/slideLayout5.xml"/><Relationship Id="rId16" Type="http://schemas.openxmlformats.org/officeDocument/2006/relationships/tags" Target="../tags/tag36.xml"/><Relationship Id="rId15" Type="http://schemas.openxmlformats.org/officeDocument/2006/relationships/image" Target="../media/image4.png"/><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image" Target="../media/image2.png"/><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5" Type="http://schemas.openxmlformats.org/officeDocument/2006/relationships/slideLayout" Target="../slideLayouts/slideLayout5.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25.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4" Type="http://schemas.openxmlformats.org/officeDocument/2006/relationships/slideLayout" Target="../slideLayouts/slideLayout5.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tags" Target="../tags/tag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6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6.xml"/></Relationships>
</file>

<file path=ppt/slides/_rels/slide32.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1" Type="http://schemas.openxmlformats.org/officeDocument/2006/relationships/slideLayout" Target="../slideLayouts/slideLayout5.xml"/><Relationship Id="rId10" Type="http://schemas.openxmlformats.org/officeDocument/2006/relationships/tags" Target="../tags/tag76.xml"/><Relationship Id="rId1" Type="http://schemas.openxmlformats.org/officeDocument/2006/relationships/tags" Target="../tags/tag6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0" Type="http://schemas.openxmlformats.org/officeDocument/2006/relationships/slideLayout" Target="../slideLayouts/slideLayout5.xml"/><Relationship Id="rId2" Type="http://schemas.openxmlformats.org/officeDocument/2006/relationships/tags" Target="../tags/tag78.xml"/><Relationship Id="rId19" Type="http://schemas.openxmlformats.org/officeDocument/2006/relationships/tags" Target="../tags/tag95.xml"/><Relationship Id="rId18" Type="http://schemas.openxmlformats.org/officeDocument/2006/relationships/tags" Target="../tags/tag94.xml"/><Relationship Id="rId17" Type="http://schemas.openxmlformats.org/officeDocument/2006/relationships/tags" Target="../tags/tag93.xml"/><Relationship Id="rId16" Type="http://schemas.openxmlformats.org/officeDocument/2006/relationships/tags" Target="../tags/tag92.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tags" Target="../tags/tag7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9" Type="http://schemas.openxmlformats.org/officeDocument/2006/relationships/slideLayout" Target="../slideLayouts/slideLayout5.xml"/><Relationship Id="rId28" Type="http://schemas.openxmlformats.org/officeDocument/2006/relationships/tags" Target="../tags/tag123.xml"/><Relationship Id="rId27" Type="http://schemas.openxmlformats.org/officeDocument/2006/relationships/tags" Target="../tags/tag122.xml"/><Relationship Id="rId26" Type="http://schemas.openxmlformats.org/officeDocument/2006/relationships/tags" Target="../tags/tag121.xml"/><Relationship Id="rId25" Type="http://schemas.openxmlformats.org/officeDocument/2006/relationships/tags" Target="../tags/tag120.xml"/><Relationship Id="rId24" Type="http://schemas.openxmlformats.org/officeDocument/2006/relationships/tags" Target="../tags/tag119.xml"/><Relationship Id="rId23" Type="http://schemas.openxmlformats.org/officeDocument/2006/relationships/tags" Target="../tags/tag118.xml"/><Relationship Id="rId22" Type="http://schemas.openxmlformats.org/officeDocument/2006/relationships/tags" Target="../tags/tag117.xml"/><Relationship Id="rId21" Type="http://schemas.openxmlformats.org/officeDocument/2006/relationships/tags" Target="../tags/tag116.xml"/><Relationship Id="rId20" Type="http://schemas.openxmlformats.org/officeDocument/2006/relationships/tags" Target="../tags/tag115.xml"/><Relationship Id="rId2" Type="http://schemas.openxmlformats.org/officeDocument/2006/relationships/tags" Target="../tags/tag97.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6.xml"/></Relationships>
</file>

<file path=ppt/slides/_rels/slide39.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image" Target="../media/image11.jpeg"/><Relationship Id="rId5" Type="http://schemas.openxmlformats.org/officeDocument/2006/relationships/tags" Target="../tags/tag126.xml"/><Relationship Id="rId4" Type="http://schemas.openxmlformats.org/officeDocument/2006/relationships/image" Target="../media/image10.jpeg"/><Relationship Id="rId3" Type="http://schemas.openxmlformats.org/officeDocument/2006/relationships/tags" Target="../tags/tag125.xml"/><Relationship Id="rId2" Type="http://schemas.openxmlformats.org/officeDocument/2006/relationships/image" Target="../media/image9.jpeg"/><Relationship Id="rId13" Type="http://schemas.openxmlformats.org/officeDocument/2006/relationships/slideLayout" Target="../slideLayouts/slideLayout2.xml"/><Relationship Id="rId12" Type="http://schemas.openxmlformats.org/officeDocument/2006/relationships/image" Target="../media/image12.tiff"/><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tags" Target="../tags/tag1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www.modb.pro/dbrank" TargetMode="External"/><Relationship Id="rId4" Type="http://schemas.openxmlformats.org/officeDocument/2006/relationships/tags" Target="../tags/tag133.xml"/><Relationship Id="rId3" Type="http://schemas.openxmlformats.org/officeDocument/2006/relationships/hyperlink" Target="https://db-engines.com/en/ranking" TargetMode="External"/><Relationship Id="rId2" Type="http://schemas.openxmlformats.org/officeDocument/2006/relationships/tags" Target="../tags/tag132.xml"/><Relationship Id="rId1" Type="http://schemas.openxmlformats.org/officeDocument/2006/relationships/hyperlink" Target="database.ppt" TargetMode="Externa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image" Target="../media/image14.png"/><Relationship Id="rId3" Type="http://schemas.openxmlformats.org/officeDocument/2006/relationships/tags" Target="../tags/tag136.xml"/><Relationship Id="rId2" Type="http://schemas.openxmlformats.org/officeDocument/2006/relationships/image" Target="../media/image13.png"/><Relationship Id="rId1" Type="http://schemas.openxmlformats.org/officeDocument/2006/relationships/tags" Target="../tags/tag1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14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（2025 春季）</a:t>
            </a:r>
            <a:endPar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sp>
        <p:nvSpPr>
          <p:cNvPr id="8" name="文本框 7"/>
          <p:cNvSpPr txBox="1"/>
          <p:nvPr>
            <p:custDataLst>
              <p:tags r:id="rId3"/>
            </p:custDataLst>
          </p:nvPr>
        </p:nvSpPr>
        <p:spPr>
          <a:xfrm>
            <a:off x="2484000" y="1924685"/>
            <a:ext cx="7228840" cy="1014730"/>
          </a:xfrm>
          <a:prstGeom prst="rect">
            <a:avLst/>
          </a:prstGeom>
          <a:noFill/>
        </p:spPr>
        <p:txBody>
          <a:bodyPr wrap="square" rtlCol="0">
            <a:spAutoFit/>
          </a:bodyPr>
          <a:p>
            <a:pPr algn="ct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第</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1</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章</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  </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绪论</a:t>
            </a:r>
            <a:endPar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4"/>
            </p:custDataLst>
          </p:nvPr>
        </p:nvSpPr>
        <p:spPr>
          <a:xfrm>
            <a:off x="4690110" y="3429000"/>
            <a:ext cx="2817495" cy="645160"/>
          </a:xfrm>
          <a:prstGeom prst="rect">
            <a:avLst/>
          </a:prstGeom>
          <a:noFill/>
        </p:spPr>
        <p:txBody>
          <a:bodyPr wrap="square" rtlCol="0">
            <a:spAutoFit/>
          </a:bodyPr>
          <a:p>
            <a:pPr algn="ctr"/>
            <a:r>
              <a:rPr lang="zh-CN" altLang="en-US" sz="3600" b="1">
                <a:solidFill>
                  <a:schemeClr val="bg1"/>
                </a:solidFill>
              </a:rPr>
              <a:t>（</a:t>
            </a:r>
            <a:r>
              <a:rPr lang="en-US" altLang="zh-CN" sz="3600" b="1">
                <a:solidFill>
                  <a:schemeClr val="bg1"/>
                </a:solidFill>
              </a:rPr>
              <a:t>1</a:t>
            </a:r>
            <a:r>
              <a:rPr lang="zh-CN" altLang="en-US" sz="3600" b="1">
                <a:solidFill>
                  <a:schemeClr val="bg1"/>
                </a:solidFill>
              </a:rPr>
              <a:t>）</a:t>
            </a:r>
            <a:endParaRPr lang="zh-CN" altLang="en-US" sz="3600" b="1">
              <a:solidFill>
                <a:schemeClr val="bg1"/>
              </a:solidFill>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dirty="0">
                <a:sym typeface="+mn-ea"/>
              </a:rPr>
              <a:t>第</a:t>
            </a:r>
            <a:r>
              <a:rPr lang="en-US" altLang="zh-CN" dirty="0">
                <a:sym typeface="+mn-ea"/>
              </a:rPr>
              <a:t> 1 </a:t>
            </a:r>
            <a:r>
              <a:rPr lang="zh-CN" altLang="en-US" dirty="0">
                <a:sym typeface="+mn-ea"/>
              </a:rPr>
              <a:t>章  </a:t>
            </a:r>
            <a:r>
              <a:rPr lang="en-US" altLang="zh-CN" dirty="0">
                <a:sym typeface="+mn-ea"/>
              </a:rPr>
              <a:t> </a:t>
            </a:r>
            <a:r>
              <a:rPr lang="zh-CN" altLang="en-US" dirty="0">
                <a:sym typeface="+mn-ea"/>
              </a:rPr>
              <a:t>绪</a:t>
            </a:r>
            <a:r>
              <a:rPr lang="en-US" altLang="zh-CN" dirty="0">
                <a:sym typeface="+mn-ea"/>
              </a:rPr>
              <a:t>  </a:t>
            </a:r>
            <a:r>
              <a:rPr lang="zh-CN" altLang="en-US" dirty="0">
                <a:sym typeface="+mn-ea"/>
              </a:rPr>
              <a:t>论</a:t>
            </a:r>
            <a:endParaRPr lang="en-US" altLang="zh-CN" dirty="0">
              <a:sym typeface="+mn-ea"/>
            </a:endParaRPr>
          </a:p>
        </p:txBody>
      </p:sp>
      <p:sp>
        <p:nvSpPr>
          <p:cNvPr id="5" name="内容占位符 4"/>
          <p:cNvSpPr>
            <a:spLocks noGrp="1"/>
          </p:cNvSpPr>
          <p:nvPr>
            <p:ph idx="1"/>
          </p:nvPr>
        </p:nvSpPr>
        <p:spPr/>
        <p:txBody>
          <a:bodyPr/>
          <a:p>
            <a:pPr>
              <a:lnSpc>
                <a:spcPct val="100000"/>
              </a:lnSpc>
              <a:spcBef>
                <a:spcPts val="1000"/>
              </a:spcBef>
            </a:pPr>
            <a:r>
              <a:rPr lang="zh-CN" altLang="en-US"/>
              <a:t>当今，信息资源已经成为社会的重要财富和资源，计算机信息系统也已成为一个企业或组织生存和发展的重要条件。</a:t>
            </a:r>
            <a:endParaRPr lang="zh-CN" altLang="en-US"/>
          </a:p>
          <a:p>
            <a:pPr>
              <a:lnSpc>
                <a:spcPct val="100000"/>
              </a:lnSpc>
              <a:spcBef>
                <a:spcPts val="1000"/>
              </a:spcBef>
            </a:pPr>
            <a:r>
              <a:rPr lang="zh-CN" altLang="en-US"/>
              <a:t>作为信息系统核心和基础的数据库技术得到越来越广泛的应用。</a:t>
            </a:r>
            <a:endParaRPr lang="zh-CN" altLang="en-US"/>
          </a:p>
        </p:txBody>
      </p:sp>
      <p:sp>
        <p:nvSpPr>
          <p:cNvPr id="3" name="灯片编号占位符 2"/>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grpSp>
        <p:nvGrpSpPr>
          <p:cNvPr id="8" name="组合 7"/>
          <p:cNvGrpSpPr/>
          <p:nvPr>
            <p:custDataLst>
              <p:tags r:id="rId1"/>
            </p:custDataLst>
          </p:nvPr>
        </p:nvGrpSpPr>
        <p:grpSpPr>
          <a:xfrm>
            <a:off x="972185" y="2814955"/>
            <a:ext cx="10180321" cy="1075254"/>
            <a:chOff x="1531" y="4481"/>
            <a:chExt cx="16032" cy="1693"/>
          </a:xfrm>
        </p:grpSpPr>
        <p:sp>
          <p:nvSpPr>
            <p:cNvPr id="16" name="矩形 15"/>
            <p:cNvSpPr/>
            <p:nvPr>
              <p:custDataLst>
                <p:tags r:id="rId2"/>
              </p:custDataLst>
            </p:nvPr>
          </p:nvSpPr>
          <p:spPr>
            <a:xfrm>
              <a:off x="1641" y="4580"/>
              <a:ext cx="15799" cy="1501"/>
            </a:xfrm>
            <a:prstGeom prst="rect">
              <a:avLst/>
            </a:prstGeom>
            <a:solidFill>
              <a:schemeClr val="accent1">
                <a:lumMod val="20000"/>
                <a:lumOff val="80000"/>
                <a:alpha val="30000"/>
              </a:schemeClr>
            </a:solid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wrap="square" lIns="252095" rtlCol="0" anchor="ctr" anchorCtr="0">
              <a:spAutoFit/>
            </a:bodyPr>
            <a:p>
              <a:pPr algn="l"/>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从</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联机事务处理</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(On-Line Transaction Processing, OLTP)</a:t>
              </a:r>
              <a:endPar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endParaRPr>
            </a:p>
            <a:p>
              <a:pPr lvl="1" algn="l"/>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到</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联机分析处理</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(On-Line Analysis Processing, OLAP)</a:t>
              </a:r>
              <a:endPar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endParaRPr>
            </a:p>
          </p:txBody>
        </p:sp>
        <p:sp>
          <p:nvSpPr>
            <p:cNvPr id="18" name="任意多边形 17"/>
            <p:cNvSpPr/>
            <p:nvPr>
              <p:custDataLst>
                <p:tags r:id="rId3"/>
              </p:custDataLst>
            </p:nvPr>
          </p:nvSpPr>
          <p:spPr>
            <a:xfrm flipV="1">
              <a:off x="1531" y="4481"/>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pitchFamily="2" charset="0"/>
                <a:cs typeface="Times New Roman" panose="02020603050405020304" pitchFamily="2" charset="0"/>
              </a:endParaRPr>
            </a:p>
          </p:txBody>
        </p:sp>
        <p:sp>
          <p:nvSpPr>
            <p:cNvPr id="19" name="任意多边形 18"/>
            <p:cNvSpPr/>
            <p:nvPr>
              <p:custDataLst>
                <p:tags r:id="rId4"/>
              </p:custDataLst>
            </p:nvPr>
          </p:nvSpPr>
          <p:spPr>
            <a:xfrm flipH="1">
              <a:off x="15724" y="5828"/>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pitchFamily="2" charset="0"/>
                <a:cs typeface="Times New Roman" panose="02020603050405020304" pitchFamily="2" charset="0"/>
              </a:endParaRPr>
            </a:p>
          </p:txBody>
        </p:sp>
      </p:grpSp>
      <p:grpSp>
        <p:nvGrpSpPr>
          <p:cNvPr id="9" name="组合 8"/>
          <p:cNvGrpSpPr/>
          <p:nvPr>
            <p:custDataLst>
              <p:tags r:id="rId5"/>
            </p:custDataLst>
          </p:nvPr>
        </p:nvGrpSpPr>
        <p:grpSpPr>
          <a:xfrm>
            <a:off x="972022" y="4297372"/>
            <a:ext cx="10180297" cy="1951048"/>
            <a:chOff x="1531" y="6768"/>
            <a:chExt cx="16032" cy="3073"/>
          </a:xfrm>
        </p:grpSpPr>
        <p:sp>
          <p:nvSpPr>
            <p:cNvPr id="28" name="矩形 27"/>
            <p:cNvSpPr/>
            <p:nvPr>
              <p:custDataLst>
                <p:tags r:id="rId6"/>
              </p:custDataLst>
            </p:nvPr>
          </p:nvSpPr>
          <p:spPr>
            <a:xfrm>
              <a:off x="1641" y="6869"/>
              <a:ext cx="15799" cy="2858"/>
            </a:xfrm>
            <a:prstGeom prst="rect">
              <a:avLst/>
            </a:prstGeom>
            <a:solidFill>
              <a:schemeClr val="accent1">
                <a:lumMod val="20000"/>
                <a:lumOff val="80000"/>
                <a:alpha val="30000"/>
              </a:schemeClr>
            </a:solid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wrap="square" lIns="252095" rtlCol="0" anchor="ctr" anchorCtr="0">
              <a:spAutoFit/>
            </a:bodyPr>
            <a:p>
              <a:pPr algn="l"/>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从一般</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科学计算</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到</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 </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企业资源计划</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(ERP)</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计算机辅助设计与制造</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(CAD/CAM)</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计算机集成制造系统</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(CIMS)</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电子政务</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(e-Government)</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电子商务</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(e-Commerce)</a:t>
              </a:r>
              <a:r>
                <a:rPr lang="zh-CN" altLang="en-US"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a:t>
              </a:r>
              <a:r>
                <a:rPr lang="zh-CN" altLang="en-US" sz="2800" b="1" i="1" spc="150" dirty="0">
                  <a:solidFill>
                    <a:srgbClr val="FF0000"/>
                  </a:solidFill>
                  <a:latin typeface="Times New Roman" panose="02020603050405020304" pitchFamily="2" charset="0"/>
                  <a:ea typeface="仿宋" panose="02010609060101010101" charset="-122"/>
                  <a:cs typeface="Times New Roman" panose="02020603050405020304" pitchFamily="2" charset="0"/>
                  <a:sym typeface="+mn-ea"/>
                </a:rPr>
                <a:t>地理信息系统</a:t>
              </a:r>
              <a:r>
                <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rPr>
                <a:t>(GIS) ...</a:t>
              </a:r>
              <a:endParaRPr lang="en-US" altLang="zh-CN" sz="2800" b="1" i="1" spc="150" dirty="0">
                <a:solidFill>
                  <a:schemeClr val="tx1">
                    <a:lumMod val="85000"/>
                    <a:lumOff val="15000"/>
                  </a:schemeClr>
                </a:solidFill>
                <a:latin typeface="Times New Roman" panose="02020603050405020304" pitchFamily="2" charset="0"/>
                <a:ea typeface="仿宋" panose="02010609060101010101" charset="-122"/>
                <a:cs typeface="Times New Roman" panose="02020603050405020304" pitchFamily="2" charset="0"/>
                <a:sym typeface="+mn-ea"/>
              </a:endParaRPr>
            </a:p>
          </p:txBody>
        </p:sp>
        <p:sp>
          <p:nvSpPr>
            <p:cNvPr id="30" name="任意多边形 29"/>
            <p:cNvSpPr/>
            <p:nvPr>
              <p:custDataLst>
                <p:tags r:id="rId7"/>
              </p:custDataLst>
            </p:nvPr>
          </p:nvSpPr>
          <p:spPr>
            <a:xfrm flipV="1">
              <a:off x="1531" y="6768"/>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pitchFamily="2" charset="0"/>
                <a:cs typeface="Times New Roman" panose="02020603050405020304" pitchFamily="2" charset="0"/>
              </a:endParaRPr>
            </a:p>
          </p:txBody>
        </p:sp>
        <p:sp>
          <p:nvSpPr>
            <p:cNvPr id="31" name="任意多边形 30"/>
            <p:cNvSpPr/>
            <p:nvPr>
              <p:custDataLst>
                <p:tags r:id="rId8"/>
              </p:custDataLst>
            </p:nvPr>
          </p:nvSpPr>
          <p:spPr>
            <a:xfrm flipH="1">
              <a:off x="15724" y="9494"/>
              <a:ext cx="1839" cy="346"/>
            </a:xfrm>
            <a:custGeom>
              <a:avLst/>
              <a:gdLst>
                <a:gd name="connsiteX0" fmla="*/ 0 w 469"/>
                <a:gd name="connsiteY0" fmla="*/ 0 h 303"/>
                <a:gd name="connsiteX1" fmla="*/ 0 w 469"/>
                <a:gd name="connsiteY1" fmla="*/ 300 h 303"/>
                <a:gd name="connsiteX2" fmla="*/ 469 w 469"/>
                <a:gd name="connsiteY2" fmla="*/ 303 h 303"/>
              </a:gdLst>
              <a:ahLst/>
              <a:cxnLst>
                <a:cxn ang="0">
                  <a:pos x="connsiteX0" y="connsiteY0"/>
                </a:cxn>
                <a:cxn ang="0">
                  <a:pos x="connsiteX1" y="connsiteY1"/>
                </a:cxn>
                <a:cxn ang="0">
                  <a:pos x="connsiteX2" y="connsiteY2"/>
                </a:cxn>
              </a:cxnLst>
              <a:rect l="l" t="t" r="r" b="b"/>
              <a:pathLst>
                <a:path w="469" h="303">
                  <a:moveTo>
                    <a:pt x="0" y="0"/>
                  </a:moveTo>
                  <a:lnTo>
                    <a:pt x="0" y="300"/>
                  </a:lnTo>
                  <a:lnTo>
                    <a:pt x="469" y="303"/>
                  </a:lnTo>
                </a:path>
              </a:pathLst>
            </a:cu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panose="02020603050405020304" pitchFamily="2" charset="0"/>
                <a:cs typeface="Times New Roman" panose="02020603050405020304" pitchFamily="2" charset="0"/>
              </a:endParaRPr>
            </a:p>
          </p:txBody>
        </p:sp>
      </p:gr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to="" calcmode="lin" valueType="num">
                                      <p:cBhvr>
                                        <p:cTn id="12"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dirty="0">
                <a:sym typeface="+mn-ea"/>
              </a:rPr>
              <a:t>第</a:t>
            </a:r>
            <a:r>
              <a:rPr lang="en-US" altLang="zh-CN" dirty="0">
                <a:sym typeface="+mn-ea"/>
              </a:rPr>
              <a:t> 1 </a:t>
            </a:r>
            <a:r>
              <a:rPr lang="zh-CN" altLang="en-US" dirty="0">
                <a:sym typeface="+mn-ea"/>
              </a:rPr>
              <a:t>章  </a:t>
            </a:r>
            <a:r>
              <a:rPr lang="en-US" altLang="zh-CN" dirty="0">
                <a:sym typeface="+mn-ea"/>
              </a:rPr>
              <a:t> </a:t>
            </a:r>
            <a:r>
              <a:rPr lang="zh-CN" altLang="en-US" dirty="0">
                <a:sym typeface="+mn-ea"/>
              </a:rPr>
              <a:t>绪</a:t>
            </a:r>
            <a:r>
              <a:rPr lang="en-US" altLang="zh-CN" dirty="0">
                <a:sym typeface="+mn-ea"/>
              </a:rPr>
              <a:t>  </a:t>
            </a:r>
            <a:r>
              <a:rPr lang="zh-CN" altLang="en-US" dirty="0">
                <a:sym typeface="+mn-ea"/>
              </a:rPr>
              <a:t>论</a:t>
            </a:r>
            <a:endParaRPr lang="en-US" altLang="zh-CN" dirty="0">
              <a:sym typeface="+mn-ea"/>
            </a:endParaRPr>
          </a:p>
        </p:txBody>
      </p:sp>
      <p:sp>
        <p:nvSpPr>
          <p:cNvPr id="5" name="内容占位符 4"/>
          <p:cNvSpPr>
            <a:spLocks noGrp="1"/>
          </p:cNvSpPr>
          <p:nvPr>
            <p:ph idx="1"/>
          </p:nvPr>
        </p:nvSpPr>
        <p:spPr/>
        <p:txBody>
          <a:bodyPr/>
          <a:p>
            <a:pPr>
              <a:lnSpc>
                <a:spcPct val="100000"/>
              </a:lnSpc>
              <a:spcBef>
                <a:spcPts val="1000"/>
              </a:spcBef>
            </a:pPr>
            <a:r>
              <a:rPr lang="zh-CN" altLang="en-US"/>
              <a:t>数据库是数据管理的有效技术，是计算机科学的</a:t>
            </a:r>
            <a:r>
              <a:rPr lang="zh-CN" altLang="en-US"/>
              <a:t>一个重要</a:t>
            </a:r>
            <a:r>
              <a:rPr lang="zh-CN" altLang="en-US"/>
              <a:t>分支。</a:t>
            </a:r>
            <a:endParaRPr lang="zh-CN" altLang="en-US"/>
          </a:p>
          <a:p>
            <a:pPr>
              <a:lnSpc>
                <a:spcPct val="100000"/>
              </a:lnSpc>
              <a:spcBef>
                <a:spcPts val="1000"/>
              </a:spcBef>
            </a:pPr>
            <a:r>
              <a:rPr lang="zh-CN" altLang="en-US">
                <a:sym typeface="+mn-ea"/>
              </a:rPr>
              <a:t>数据库课程不仅是计算机类专业、信息管理专业的重要课程，也是许多非计算机专业的选修课程。</a:t>
            </a:r>
            <a:endParaRPr lang="zh-CN" altLang="en-US">
              <a:sym typeface="+mn-ea"/>
            </a:endParaRPr>
          </a:p>
          <a:p>
            <a:pPr>
              <a:lnSpc>
                <a:spcPct val="100000"/>
              </a:lnSpc>
              <a:spcBef>
                <a:spcPts val="1000"/>
              </a:spcBef>
            </a:pPr>
            <a:endParaRPr lang="zh-CN" altLang="en-US">
              <a:sym typeface="+mn-ea"/>
            </a:endParaRPr>
          </a:p>
          <a:p>
            <a:pPr>
              <a:lnSpc>
                <a:spcPct val="100000"/>
              </a:lnSpc>
              <a:spcBef>
                <a:spcPts val="1000"/>
              </a:spcBef>
            </a:pPr>
            <a:r>
              <a:rPr lang="zh-CN" altLang="en-US">
                <a:solidFill>
                  <a:srgbClr val="FF0000"/>
                </a:solidFill>
              </a:rPr>
              <a:t>本章主要内容</a:t>
            </a:r>
            <a:r>
              <a:rPr lang="zh-CN" altLang="en-US">
                <a:solidFill>
                  <a:srgbClr val="1F2DA8"/>
                </a:solidFill>
              </a:rPr>
              <a:t>（初步介绍）</a:t>
            </a:r>
            <a:endParaRPr lang="zh-CN" altLang="en-US"/>
          </a:p>
          <a:p>
            <a:pPr lvl="1">
              <a:lnSpc>
                <a:spcPct val="100000"/>
              </a:lnSpc>
              <a:spcBef>
                <a:spcPts val="1000"/>
              </a:spcBef>
            </a:pPr>
            <a:r>
              <a:rPr lang="zh-CN" altLang="en-US"/>
              <a:t>数据库的基本</a:t>
            </a:r>
            <a:r>
              <a:rPr lang="zh-CN" altLang="en-US"/>
              <a:t>概念</a:t>
            </a:r>
            <a:endParaRPr lang="zh-CN" altLang="en-US"/>
          </a:p>
          <a:p>
            <a:pPr lvl="1">
              <a:lnSpc>
                <a:spcPct val="100000"/>
              </a:lnSpc>
              <a:spcBef>
                <a:spcPts val="1000"/>
              </a:spcBef>
            </a:pPr>
            <a:r>
              <a:rPr lang="zh-CN" altLang="en-US"/>
              <a:t>数据模型的组成要素</a:t>
            </a:r>
            <a:r>
              <a:rPr lang="en-US" altLang="zh-CN"/>
              <a:t> </a:t>
            </a:r>
            <a:r>
              <a:rPr lang="zh-CN" altLang="en-US"/>
              <a:t>和</a:t>
            </a:r>
            <a:r>
              <a:rPr lang="en-US" altLang="zh-CN"/>
              <a:t> </a:t>
            </a:r>
            <a:r>
              <a:rPr lang="zh-CN" altLang="en-US"/>
              <a:t>常用数据</a:t>
            </a:r>
            <a:r>
              <a:rPr lang="zh-CN" altLang="en-US"/>
              <a:t>模型</a:t>
            </a:r>
            <a:endParaRPr lang="zh-CN" altLang="en-US"/>
          </a:p>
          <a:p>
            <a:pPr lvl="1">
              <a:lnSpc>
                <a:spcPct val="100000"/>
              </a:lnSpc>
              <a:spcBef>
                <a:spcPts val="1000"/>
              </a:spcBef>
            </a:pPr>
            <a:r>
              <a:rPr lang="zh-CN" altLang="en-US"/>
              <a:t>数据库的三级模式</a:t>
            </a:r>
            <a:r>
              <a:rPr lang="en-US" altLang="zh-CN"/>
              <a:t> </a:t>
            </a:r>
            <a:r>
              <a:rPr lang="zh-CN" altLang="en-US"/>
              <a:t>和</a:t>
            </a:r>
            <a:r>
              <a:rPr lang="en-US" altLang="zh-CN"/>
              <a:t> </a:t>
            </a:r>
            <a:r>
              <a:rPr lang="zh-CN" altLang="en-US"/>
              <a:t>数据库系统的主要组成</a:t>
            </a:r>
            <a:r>
              <a:rPr lang="zh-CN" altLang="en-US"/>
              <a:t>部分</a:t>
            </a:r>
            <a:endParaRPr lang="zh-CN" altLang="en-US"/>
          </a:p>
        </p:txBody>
      </p:sp>
      <p:sp>
        <p:nvSpPr>
          <p:cNvPr id="3" name="灯片编号占位符 2"/>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blinds(horizontal)">
                                      <p:cBhvr>
                                        <p:cTn id="7" dur="500"/>
                                        <p:tgtEl>
                                          <p:spTgt spid="5">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blinds(horizontal)">
                                      <p:cBhvr>
                                        <p:cTn id="10" dur="500"/>
                                        <p:tgtEl>
                                          <p:spTgt spid="5">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Effect transition="in" filter="blinds(horizontal)">
                                      <p:cBhvr>
                                        <p:cTn id="13" dur="500"/>
                                        <p:tgtEl>
                                          <p:spTgt spid="5">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animEffect transition="in" filter="blinds(horizontal)">
                                      <p:cBhvr>
                                        <p:cTn id="16"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  数据库系统概述</a:t>
            </a:r>
            <a:endParaRPr lang="zh-CN" altLang="en-US"/>
          </a:p>
        </p:txBody>
      </p:sp>
      <p:sp>
        <p:nvSpPr>
          <p:cNvPr id="3" name="内容占位符 2"/>
          <p:cNvSpPr>
            <a:spLocks noGrp="1"/>
          </p:cNvSpPr>
          <p:nvPr>
            <p:ph idx="1"/>
          </p:nvPr>
        </p:nvSpPr>
        <p:spPr/>
        <p:txBody>
          <a:bodyPr/>
          <a:p>
            <a:pPr marL="0" indent="0">
              <a:lnSpc>
                <a:spcPct val="150000"/>
              </a:lnSpc>
              <a:buNone/>
            </a:pPr>
            <a:r>
              <a:rPr lang="en-US" altLang="zh-CN"/>
              <a:t>1.1.1 </a:t>
            </a:r>
            <a:r>
              <a:rPr lang="zh-CN" altLang="en-US"/>
              <a:t>数据库的四个基本</a:t>
            </a:r>
            <a:r>
              <a:rPr lang="zh-CN" altLang="en-US"/>
              <a:t>概念</a:t>
            </a:r>
            <a:endParaRPr lang="zh-CN" altLang="en-US"/>
          </a:p>
          <a:p>
            <a:pPr marL="0" indent="0">
              <a:lnSpc>
                <a:spcPct val="150000"/>
              </a:lnSpc>
              <a:buNone/>
            </a:pPr>
            <a:r>
              <a:rPr lang="en-US" altLang="zh-CN"/>
              <a:t>1.1.2 </a:t>
            </a:r>
            <a:r>
              <a:rPr lang="zh-CN" altLang="en-US"/>
              <a:t>数据管理技术的产生和</a:t>
            </a:r>
            <a:r>
              <a:rPr lang="zh-CN" altLang="en-US"/>
              <a:t>发展</a:t>
            </a:r>
            <a:endParaRPr lang="zh-CN" altLang="en-US"/>
          </a:p>
          <a:p>
            <a:pPr marL="0" indent="0">
              <a:lnSpc>
                <a:spcPct val="150000"/>
              </a:lnSpc>
              <a:buNone/>
            </a:pPr>
            <a:r>
              <a:rPr lang="en-US" altLang="zh-CN"/>
              <a:t>1.1.3 </a:t>
            </a:r>
            <a:r>
              <a:rPr lang="zh-CN" altLang="en-US"/>
              <a:t>数据库系统的</a:t>
            </a:r>
            <a:r>
              <a:rPr lang="zh-CN" altLang="en-US"/>
              <a:t>特点</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2"/>
          <p:cNvSpPr>
            <a:spLocks noGrp="1"/>
          </p:cNvSpPr>
          <p:nvPr>
            <p:ph type="title"/>
          </p:nvPr>
        </p:nvSpPr>
        <p:spPr/>
        <p:txBody>
          <a:bodyPr wrap="square" tIns="0" bIns="0" anchor="ctr"/>
          <a:p>
            <a:pPr eaLnBrk="1" hangingPunct="1"/>
            <a:r>
              <a:rPr lang="en-US" altLang="zh-CN"/>
              <a:t>1.1.1  数据库</a:t>
            </a:r>
            <a:r>
              <a:rPr lang="zh-CN" altLang="en-US"/>
              <a:t>的四个基本</a:t>
            </a:r>
            <a:r>
              <a:rPr lang="zh-CN" altLang="en-US"/>
              <a:t>概念</a:t>
            </a:r>
            <a:endParaRPr lang="zh-CN" altLang="en-US"/>
          </a:p>
        </p:txBody>
      </p:sp>
      <p:sp>
        <p:nvSpPr>
          <p:cNvPr id="6148" name="Rectangle 3"/>
          <p:cNvSpPr>
            <a:spLocks noGrp="1"/>
          </p:cNvSpPr>
          <p:nvPr>
            <p:ph idx="1"/>
          </p:nvPr>
        </p:nvSpPr>
        <p:spPr/>
        <p:txBody>
          <a:bodyPr wrap="square" anchor="t"/>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a:t>
            </a:r>
            <a:r>
              <a:rPr lang="en-US" altLang="zh-CN">
                <a:latin typeface="楷体" panose="02010609060101010101" charset="-122"/>
                <a:ea typeface="楷体" panose="02010609060101010101" charset="-122"/>
                <a:cs typeface="楷体" panose="02010609060101010101" charset="-122"/>
                <a:sym typeface="Wingdings 3" panose="05040102010807070707" pitchFamily="2" charset="2"/>
              </a:rPr>
              <a:t>d</a:t>
            </a:r>
            <a:r>
              <a:rPr lang="en-US" altLang="zh-CN">
                <a:latin typeface="楷体" panose="02010609060101010101" charset="-122"/>
                <a:ea typeface="楷体" panose="02010609060101010101" charset="-122"/>
                <a:cs typeface="楷体" panose="02010609060101010101" charset="-122"/>
                <a:sym typeface="Wingdings 3" panose="05040102010807070707" pitchFamily="2" charset="2"/>
              </a:rPr>
              <a:t>ata</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endParaRPr lang="en-US" altLang="zh-CN">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数据库（</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ata</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B</a:t>
            </a:r>
            <a:r>
              <a:rPr lang="en-US" altLang="zh-CN">
                <a:latin typeface="楷体" panose="02010609060101010101" charset="-122"/>
                <a:ea typeface="楷体" panose="02010609060101010101" charset="-122"/>
                <a:cs typeface="楷体" panose="02010609060101010101" charset="-122"/>
                <a:sym typeface="Wingdings 3" panose="05040102010807070707" pitchFamily="2" charset="2"/>
              </a:rPr>
              <a:t>ase</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DB</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endParaRPr lang="en-US" altLang="zh-CN">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数据库管理系统（</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ata</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B</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ase </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M</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anagement </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S</a:t>
            </a:r>
            <a:r>
              <a:rPr lang="en-US" altLang="zh-CN">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y</a:t>
            </a:r>
            <a:r>
              <a:rPr lang="en-US" altLang="zh-CN">
                <a:latin typeface="楷体" panose="02010609060101010101" charset="-122"/>
                <a:ea typeface="楷体" panose="02010609060101010101" charset="-122"/>
                <a:cs typeface="楷体" panose="02010609060101010101" charset="-122"/>
                <a:sym typeface="Wingdings 3" panose="05040102010807070707" pitchFamily="2" charset="2"/>
              </a:rPr>
              <a:t>stem</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DBMS</a:t>
            </a: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a:t>
            </a:r>
            <a:endParaRPr lang="en-US" altLang="zh-CN">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50000"/>
              </a:lnSpc>
            </a:pPr>
            <a:r>
              <a:rPr lang="zh-CN" altLang="en-US">
                <a:latin typeface="楷体" panose="02010609060101010101" charset="-122"/>
                <a:ea typeface="楷体" panose="02010609060101010101" charset="-122"/>
                <a:cs typeface="楷体" panose="02010609060101010101" charset="-122"/>
                <a:sym typeface="Wingdings 3" panose="05040102010807070707" pitchFamily="2" charset="2"/>
              </a:rPr>
              <a:t>数据库系统</a:t>
            </a:r>
            <a:r>
              <a:rPr lang="zh-CN">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a:solidFill>
                  <a:srgbClr val="FF0000"/>
                </a:solidFill>
                <a:cs typeface="楷体" panose="02010609060101010101" charset="-122"/>
                <a:sym typeface="Wingdings 3" panose="05040102010807070707" pitchFamily="2" charset="2"/>
              </a:rPr>
              <a:t>D</a:t>
            </a:r>
            <a:r>
              <a:rPr lang="en-US" altLang="zh-CN">
                <a:solidFill>
                  <a:srgbClr val="1F2DA8"/>
                </a:solidFill>
                <a:cs typeface="楷体" panose="02010609060101010101" charset="-122"/>
                <a:sym typeface="Wingdings 3" panose="05040102010807070707" pitchFamily="2" charset="2"/>
              </a:rPr>
              <a:t>ata</a:t>
            </a:r>
            <a:r>
              <a:rPr lang="en-US" altLang="zh-CN">
                <a:solidFill>
                  <a:srgbClr val="FF0000"/>
                </a:solidFill>
                <a:cs typeface="楷体" panose="02010609060101010101" charset="-122"/>
                <a:sym typeface="Wingdings 3" panose="05040102010807070707" pitchFamily="2" charset="2"/>
              </a:rPr>
              <a:t>B</a:t>
            </a:r>
            <a:r>
              <a:rPr lang="en-US" altLang="zh-CN">
                <a:cs typeface="楷体" panose="02010609060101010101" charset="-122"/>
                <a:sym typeface="Wingdings 3" panose="05040102010807070707" pitchFamily="2" charset="2"/>
              </a:rPr>
              <a:t>ase </a:t>
            </a:r>
            <a:r>
              <a:rPr lang="en-US" altLang="zh-CN">
                <a:solidFill>
                  <a:srgbClr val="FF0000"/>
                </a:solidFill>
                <a:cs typeface="楷体" panose="02010609060101010101" charset="-122"/>
                <a:sym typeface="Wingdings 3" panose="05040102010807070707" pitchFamily="2" charset="2"/>
              </a:rPr>
              <a:t>S</a:t>
            </a:r>
            <a:r>
              <a:rPr lang="en-US" altLang="zh-CN">
                <a:cs typeface="楷体" panose="02010609060101010101" charset="-122"/>
                <a:sym typeface="Wingdings 3" panose="05040102010807070707" pitchFamily="2" charset="2"/>
              </a:rPr>
              <a:t>ystem</a:t>
            </a:r>
            <a:r>
              <a:rPr lang="zh-CN" altLang="en-US">
                <a:cs typeface="楷体" panose="02010609060101010101" charset="-122"/>
                <a:sym typeface="Wingdings 3" panose="05040102010807070707" pitchFamily="2" charset="2"/>
              </a:rPr>
              <a:t>，</a:t>
            </a:r>
            <a:r>
              <a:rPr lang="en-US" altLang="zh-CN">
                <a:solidFill>
                  <a:srgbClr val="FF0000"/>
                </a:solidFill>
                <a:cs typeface="楷体" panose="02010609060101010101" charset="-122"/>
                <a:sym typeface="Wingdings 3" panose="05040102010807070707" pitchFamily="2" charset="2"/>
              </a:rPr>
              <a:t>DBS</a:t>
            </a:r>
            <a:r>
              <a:rPr lang="zh-CN">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5" name="文本框 4"/>
          <p:cNvSpPr txBox="1"/>
          <p:nvPr/>
        </p:nvSpPr>
        <p:spPr>
          <a:xfrm>
            <a:off x="907415" y="4018915"/>
            <a:ext cx="9834245" cy="1976120"/>
          </a:xfrm>
          <a:prstGeom prst="rect">
            <a:avLst/>
          </a:prstGeom>
          <a:noFill/>
        </p:spPr>
        <p:txBody>
          <a:bodyPr wrap="square" rtlCol="0">
            <a:spAutoFit/>
          </a:bodyPr>
          <a:p>
            <a:pPr marL="457200" indent="-457200">
              <a:lnSpc>
                <a:spcPct val="125000"/>
              </a:lnSpc>
              <a:spcBef>
                <a:spcPts val="600"/>
              </a:spcBef>
              <a:spcAft>
                <a:spcPts val="0"/>
              </a:spcAft>
              <a:buClr>
                <a:srgbClr val="C00000"/>
              </a:buClr>
              <a:buSzPct val="85000"/>
              <a:buFont typeface="Wingdings" panose="05000000000000000000" charset="0"/>
              <a:buChar char="Ø"/>
            </a:pPr>
            <a:r>
              <a:rPr lang="zh-CN" altLang="en-US" sz="3000" b="1">
                <a:solidFill>
                  <a:srgbClr val="1F2DA8"/>
                </a:solidFill>
                <a:latin typeface="楷体" panose="02010609060101010101" charset="-122"/>
                <a:ea typeface="楷体" panose="02010609060101010101" charset="-122"/>
                <a:cs typeface="楷体" panose="02010609060101010101" charset="-122"/>
              </a:rPr>
              <a:t>数据库用户（</a:t>
            </a:r>
            <a:r>
              <a:rPr lang="en-US" altLang="zh-CN" sz="3000" b="1">
                <a:solidFill>
                  <a:srgbClr val="1F2DA8"/>
                </a:solidFill>
                <a:latin typeface="楷体" panose="02010609060101010101" charset="-122"/>
                <a:ea typeface="楷体" panose="02010609060101010101" charset="-122"/>
                <a:cs typeface="楷体" panose="02010609060101010101" charset="-122"/>
              </a:rPr>
              <a:t>Database User</a:t>
            </a:r>
            <a:r>
              <a:rPr lang="zh-CN" altLang="en-US" sz="3000" b="1">
                <a:solidFill>
                  <a:srgbClr val="1F2DA8"/>
                </a:solidFill>
                <a:latin typeface="楷体" panose="02010609060101010101" charset="-122"/>
                <a:ea typeface="楷体" panose="02010609060101010101" charset="-122"/>
                <a:cs typeface="楷体" panose="02010609060101010101" charset="-122"/>
              </a:rPr>
              <a:t>）</a:t>
            </a:r>
            <a:endParaRPr lang="en-US" altLang="zh-CN" sz="3000" b="1">
              <a:solidFill>
                <a:srgbClr val="1F2DA8"/>
              </a:solidFill>
              <a:latin typeface="楷体" panose="02010609060101010101" charset="-122"/>
              <a:ea typeface="楷体" panose="02010609060101010101" charset="-122"/>
              <a:cs typeface="楷体" panose="02010609060101010101" charset="-122"/>
            </a:endParaRPr>
          </a:p>
          <a:p>
            <a:pPr marL="457200" indent="-457200">
              <a:lnSpc>
                <a:spcPct val="125000"/>
              </a:lnSpc>
              <a:spcBef>
                <a:spcPts val="600"/>
              </a:spcBef>
              <a:spcAft>
                <a:spcPts val="0"/>
              </a:spcAft>
              <a:buClr>
                <a:srgbClr val="C00000"/>
              </a:buClr>
              <a:buSzPct val="85000"/>
              <a:buFont typeface="Wingdings" panose="05000000000000000000" charset="0"/>
              <a:buChar char="Ø"/>
            </a:pPr>
            <a:r>
              <a:rPr lang="zh-CN" altLang="en-US" sz="3000" b="1">
                <a:solidFill>
                  <a:srgbClr val="1F2DA8"/>
                </a:solidFill>
                <a:latin typeface="楷体" panose="02010609060101010101" charset="-122"/>
                <a:ea typeface="楷体" panose="02010609060101010101" charset="-122"/>
                <a:cs typeface="楷体" panose="02010609060101010101" charset="-122"/>
              </a:rPr>
              <a:t>数据库管理员（</a:t>
            </a:r>
            <a:r>
              <a:rPr lang="en-US" altLang="zh-CN" sz="3000" b="1">
                <a:solidFill>
                  <a:srgbClr val="FF0000"/>
                </a:solidFill>
                <a:latin typeface="楷体" panose="02010609060101010101" charset="-122"/>
                <a:ea typeface="楷体" panose="02010609060101010101" charset="-122"/>
                <a:cs typeface="楷体" panose="02010609060101010101" charset="-122"/>
              </a:rPr>
              <a:t>D</a:t>
            </a:r>
            <a:r>
              <a:rPr lang="en-US" altLang="zh-CN" sz="3000" b="1">
                <a:solidFill>
                  <a:srgbClr val="1F2DA8"/>
                </a:solidFill>
                <a:latin typeface="楷体" panose="02010609060101010101" charset="-122"/>
                <a:ea typeface="楷体" panose="02010609060101010101" charset="-122"/>
                <a:cs typeface="楷体" panose="02010609060101010101" charset="-122"/>
              </a:rPr>
              <a:t>ata</a:t>
            </a:r>
            <a:r>
              <a:rPr lang="en-US" altLang="zh-CN" sz="3000" b="1">
                <a:solidFill>
                  <a:srgbClr val="FF0000"/>
                </a:solidFill>
                <a:latin typeface="楷体" panose="02010609060101010101" charset="-122"/>
                <a:ea typeface="楷体" panose="02010609060101010101" charset="-122"/>
                <a:cs typeface="楷体" panose="02010609060101010101" charset="-122"/>
              </a:rPr>
              <a:t>B</a:t>
            </a:r>
            <a:r>
              <a:rPr lang="en-US" altLang="zh-CN" sz="3000" b="1">
                <a:solidFill>
                  <a:srgbClr val="1F2DA8"/>
                </a:solidFill>
                <a:latin typeface="楷体" panose="02010609060101010101" charset="-122"/>
                <a:ea typeface="楷体" panose="02010609060101010101" charset="-122"/>
                <a:cs typeface="楷体" panose="02010609060101010101" charset="-122"/>
              </a:rPr>
              <a:t>ase </a:t>
            </a:r>
            <a:r>
              <a:rPr lang="en-US" altLang="zh-CN" sz="3000" b="1">
                <a:solidFill>
                  <a:srgbClr val="FF0000"/>
                </a:solidFill>
                <a:latin typeface="楷体" panose="02010609060101010101" charset="-122"/>
                <a:ea typeface="楷体" panose="02010609060101010101" charset="-122"/>
                <a:cs typeface="楷体" panose="02010609060101010101" charset="-122"/>
              </a:rPr>
              <a:t>A</a:t>
            </a:r>
            <a:r>
              <a:rPr lang="en-US" altLang="zh-CN" sz="3000" b="1">
                <a:solidFill>
                  <a:srgbClr val="1F2DA8"/>
                </a:solidFill>
                <a:latin typeface="楷体" panose="02010609060101010101" charset="-122"/>
                <a:ea typeface="楷体" panose="02010609060101010101" charset="-122"/>
                <a:cs typeface="楷体" panose="02010609060101010101" charset="-122"/>
              </a:rPr>
              <a:t>dministrator</a:t>
            </a:r>
            <a:r>
              <a:rPr lang="zh-CN" altLang="en-US" sz="3000" b="1">
                <a:solidFill>
                  <a:srgbClr val="1F2DA8"/>
                </a:solidFill>
                <a:latin typeface="楷体" panose="02010609060101010101" charset="-122"/>
                <a:ea typeface="楷体" panose="02010609060101010101" charset="-122"/>
                <a:cs typeface="楷体" panose="02010609060101010101" charset="-122"/>
              </a:rPr>
              <a:t>，</a:t>
            </a:r>
            <a:r>
              <a:rPr lang="en-US" altLang="zh-CN" sz="3000" b="1">
                <a:solidFill>
                  <a:srgbClr val="FF0000"/>
                </a:solidFill>
                <a:latin typeface="楷体" panose="02010609060101010101" charset="-122"/>
                <a:ea typeface="楷体" panose="02010609060101010101" charset="-122"/>
                <a:cs typeface="楷体" panose="02010609060101010101" charset="-122"/>
              </a:rPr>
              <a:t>DBA</a:t>
            </a:r>
            <a:r>
              <a:rPr lang="zh-CN" altLang="en-US" sz="3000" b="1">
                <a:solidFill>
                  <a:srgbClr val="1F2DA8"/>
                </a:solidFill>
                <a:latin typeface="楷体" panose="02010609060101010101" charset="-122"/>
                <a:ea typeface="楷体" panose="02010609060101010101" charset="-122"/>
                <a:cs typeface="楷体" panose="02010609060101010101" charset="-122"/>
              </a:rPr>
              <a:t>）</a:t>
            </a:r>
            <a:endParaRPr lang="zh-CN" altLang="en-US" sz="3000" b="1">
              <a:solidFill>
                <a:srgbClr val="1F2DA8"/>
              </a:solidFill>
              <a:latin typeface="楷体" panose="02010609060101010101" charset="-122"/>
              <a:ea typeface="楷体" panose="02010609060101010101" charset="-122"/>
              <a:cs typeface="楷体" panose="02010609060101010101" charset="-122"/>
            </a:endParaRPr>
          </a:p>
          <a:p>
            <a:pPr marL="457200" indent="-457200">
              <a:lnSpc>
                <a:spcPct val="125000"/>
              </a:lnSpc>
              <a:spcBef>
                <a:spcPts val="600"/>
              </a:spcBef>
              <a:spcAft>
                <a:spcPts val="0"/>
              </a:spcAft>
              <a:buClr>
                <a:srgbClr val="C00000"/>
              </a:buClr>
              <a:buSzPct val="85000"/>
              <a:buFont typeface="Wingdings" panose="05000000000000000000" charset="0"/>
              <a:buChar char="Ø"/>
            </a:pPr>
            <a:r>
              <a:rPr lang="zh-CN" altLang="en-US" sz="3000" b="1">
                <a:solidFill>
                  <a:srgbClr val="1F2DA8"/>
                </a:solidFill>
                <a:latin typeface="楷体" panose="02010609060101010101" charset="-122"/>
                <a:ea typeface="楷体" panose="02010609060101010101" charset="-122"/>
                <a:cs typeface="楷体" panose="02010609060101010101" charset="-122"/>
              </a:rPr>
              <a:t>数据库应用系统（</a:t>
            </a:r>
            <a:r>
              <a:rPr lang="en-US" altLang="zh-CN" sz="3000" b="1">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DataBase Application System</a:t>
            </a:r>
            <a:r>
              <a:rPr lang="zh-CN" altLang="en-US" sz="3000" b="1">
                <a:solidFill>
                  <a:srgbClr val="1F2DA8"/>
                </a:solidFill>
                <a:latin typeface="楷体" panose="02010609060101010101" charset="-122"/>
                <a:ea typeface="楷体" panose="02010609060101010101" charset="-122"/>
                <a:cs typeface="楷体" panose="02010609060101010101" charset="-122"/>
              </a:rPr>
              <a:t>）</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7172" name="Rectangle 3"/>
          <p:cNvSpPr>
            <a:spLocks noGrp="1"/>
          </p:cNvSpPr>
          <p:nvPr>
            <p:ph idx="1"/>
          </p:nvPr>
        </p:nvSpPr>
        <p:spPr>
          <a:xfrm>
            <a:off x="424180" y="615950"/>
            <a:ext cx="11343005" cy="4897755"/>
          </a:xfrm>
        </p:spPr>
        <p:txBody>
          <a:bodyPr wrap="square" anchor="t">
            <a:spAutoFit/>
          </a:bodyPr>
          <a:p>
            <a:pPr marL="457200" indent="-457200" eaLnBrk="1" hangingPunct="1">
              <a:lnSpc>
                <a:spcPct val="100000"/>
              </a:lnSpc>
              <a:spcBef>
                <a:spcPts val="1000"/>
              </a:spcBef>
              <a:buFont typeface="+mj-lt"/>
              <a:buAutoNum type="arabicPeriod"/>
            </a:pPr>
            <a:r>
              <a:rPr lang="zh-CN" altLang="en-US" dirty="0">
                <a:solidFill>
                  <a:srgbClr val="FF0000"/>
                </a:solidFill>
                <a:latin typeface="楷体" panose="02010609060101010101" charset="-122"/>
                <a:ea typeface="楷体" panose="02010609060101010101" charset="-122"/>
                <a:cs typeface="楷体" panose="02010609060101010101" charset="-122"/>
              </a:rPr>
              <a:t>数据</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data）</a:t>
            </a:r>
            <a:endParaRPr lang="en-US" altLang="zh-CN" dirty="0">
              <a:latin typeface="楷体" panose="02010609060101010101" charset="-122"/>
              <a:ea typeface="楷体" panose="02010609060101010101" charset="-122"/>
              <a:cs typeface="楷体" panose="02010609060101010101" charset="-122"/>
            </a:endParaRPr>
          </a:p>
          <a:p>
            <a:pPr lvl="1" eaLnBrk="1" hangingPunct="1">
              <a:lnSpc>
                <a:spcPct val="100000"/>
              </a:lnSpc>
              <a:spcBef>
                <a:spcPts val="1000"/>
              </a:spcBef>
              <a:spcAft>
                <a:spcPts val="2000"/>
              </a:spcAft>
            </a:pP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solidFill>
                  <a:srgbClr val="FF0000"/>
                </a:solidFill>
                <a:latin typeface="Arial" panose="020B0604020202020204" pitchFamily="34" charset="0"/>
                <a:ea typeface="楷体" panose="02010609060101010101" charset="-122"/>
                <a:cs typeface="Arial" panose="020B0604020202020204" pitchFamily="34" charset="0"/>
              </a:rPr>
              <a:t>数据</a:t>
            </a: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latin typeface="楷体" panose="02010609060101010101" charset="-122"/>
                <a:ea typeface="楷体" panose="02010609060101010101" charset="-122"/>
                <a:cs typeface="楷体" panose="02010609060101010101" charset="-122"/>
              </a:rPr>
              <a:t>是指具有一定的</a:t>
            </a:r>
            <a:r>
              <a:rPr lang="zh-CN" altLang="en-US" dirty="0">
                <a:solidFill>
                  <a:srgbClr val="FF0000"/>
                </a:solidFill>
                <a:latin typeface="楷体" panose="02010609060101010101" charset="-122"/>
                <a:ea typeface="楷体" panose="02010609060101010101" charset="-122"/>
                <a:cs typeface="楷体" panose="02010609060101010101" charset="-122"/>
              </a:rPr>
              <a:t>语义</a:t>
            </a:r>
            <a:r>
              <a:rPr lang="en-US" altLang="zh-CN" dirty="0">
                <a:solidFill>
                  <a:srgbClr val="1F2DA8"/>
                </a:solidFill>
                <a:latin typeface="楷体" panose="02010609060101010101" charset="-122"/>
                <a:ea typeface="楷体" panose="02010609060101010101" charset="-122"/>
                <a:cs typeface="楷体" panose="02010609060101010101" charset="-122"/>
              </a:rPr>
              <a:t>(semantic)</a:t>
            </a:r>
            <a:r>
              <a:rPr lang="zh-CN" altLang="en-US" dirty="0">
                <a:latin typeface="楷体" panose="02010609060101010101" charset="-122"/>
                <a:ea typeface="楷体" panose="02010609060101010101" charset="-122"/>
                <a:cs typeface="楷体" panose="02010609060101010101" charset="-122"/>
              </a:rPr>
              <a:t>含义，并且可以被记录下来的已知</a:t>
            </a:r>
            <a:r>
              <a:rPr lang="zh-CN" altLang="en-US" dirty="0">
                <a:latin typeface="楷体" panose="02010609060101010101" charset="-122"/>
                <a:ea typeface="楷体" panose="02010609060101010101" charset="-122"/>
                <a:cs typeface="楷体" panose="02010609060101010101" charset="-122"/>
              </a:rPr>
              <a:t>信息。</a:t>
            </a:r>
            <a:endParaRPr lang="zh-CN" altLang="en-US" dirty="0">
              <a:latin typeface="楷体" panose="02010609060101010101" charset="-122"/>
              <a:ea typeface="楷体" panose="02010609060101010101" charset="-122"/>
              <a:cs typeface="楷体" panose="02010609060101010101" charset="-122"/>
            </a:endParaRPr>
          </a:p>
          <a:p>
            <a:pPr lvl="1" eaLnBrk="1" hangingPunct="1">
              <a:lnSpc>
                <a:spcPct val="100000"/>
              </a:lnSpc>
              <a:spcBef>
                <a:spcPts val="1000"/>
              </a:spcBef>
            </a:pPr>
            <a:r>
              <a:rPr lang="zh-CN" altLang="en-US" dirty="0">
                <a:highlight>
                  <a:srgbClr val="FFFF00"/>
                </a:highlight>
                <a:latin typeface="楷体" panose="02010609060101010101" charset="-122"/>
                <a:ea typeface="楷体" panose="02010609060101010101" charset="-122"/>
                <a:cs typeface="楷体" panose="02010609060101010101" charset="-122"/>
                <a:sym typeface="Wingdings 3" panose="05040102010807070707" pitchFamily="2" charset="2"/>
              </a:rPr>
              <a:t>什么是</a:t>
            </a:r>
            <a:r>
              <a:rPr lang="en-US" altLang="zh-CN" dirty="0">
                <a:highlight>
                  <a:srgbClr val="FFFF00"/>
                </a:highlight>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solidFill>
                  <a:srgbClr val="FF0000"/>
                </a:solidFill>
                <a:highlight>
                  <a:srgbClr val="FFFF00"/>
                </a:highlight>
                <a:latin typeface="Arial" panose="020B0604020202020204" pitchFamily="34" charset="0"/>
                <a:ea typeface="楷体" panose="02010609060101010101" charset="-122"/>
                <a:cs typeface="Arial" panose="020B0604020202020204" pitchFamily="34" charset="0"/>
                <a:sym typeface="Wingdings 3" panose="05040102010807070707" pitchFamily="2" charset="2"/>
              </a:rPr>
              <a:t>语义</a:t>
            </a:r>
            <a:r>
              <a:rPr lang="en-US" altLang="zh-CN" dirty="0">
                <a:highlight>
                  <a:srgbClr val="FFFF00"/>
                </a:highlight>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highlight>
                  <a:srgbClr val="FFFF00"/>
                </a:highlight>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spcBef>
                <a:spcPts val="100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在计算机中，</a:t>
            </a: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被表示为</a:t>
            </a:r>
            <a:r>
              <a:rPr lang="zh-CN" altLang="en-US" i="1"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具有一定格式或结构的符号串</a:t>
            </a: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solidFill>
                  <a:srgbClr val="1F2DA8"/>
                </a:solidFill>
                <a:highlight>
                  <a:srgbClr val="FFFF00"/>
                </a:highlight>
                <a:latin typeface="楷体" panose="02010609060101010101" charset="-122"/>
                <a:ea typeface="楷体" panose="02010609060101010101" charset="-122"/>
                <a:cs typeface="楷体" panose="02010609060101010101" charset="-122"/>
                <a:sym typeface="Wingdings 3" panose="05040102010807070707" pitchFamily="2" charset="2"/>
              </a:rPr>
              <a:t>描述事物的符号串</a:t>
            </a: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spcBef>
                <a:spcPts val="1000"/>
              </a:spcBef>
            </a:pP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单纯的符号没有任何意义，需要给予解释，说明其含义。数据的含义即</a:t>
            </a:r>
            <a:r>
              <a:rPr lang="en-US" altLang="zh-CN" dirty="0">
                <a:solidFill>
                  <a:srgbClr val="1F2DA8"/>
                </a:solidFill>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solidFill>
                  <a:srgbClr val="FF0000"/>
                </a:solidFill>
                <a:latin typeface="Arial" panose="020B0604020202020204" pitchFamily="34" charset="0"/>
                <a:ea typeface="楷体" panose="02010609060101010101" charset="-122"/>
                <a:cs typeface="Arial" panose="020B0604020202020204" pitchFamily="34" charset="0"/>
                <a:sym typeface="Wingdings 3" panose="05040102010807070707" pitchFamily="2" charset="2"/>
              </a:rPr>
              <a:t>语义</a:t>
            </a:r>
            <a:r>
              <a:rPr lang="en-US" altLang="zh-CN" dirty="0">
                <a:solidFill>
                  <a:srgbClr val="1F2DA8"/>
                </a:solidFill>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spcBef>
                <a:spcPts val="1000"/>
              </a:spcBef>
            </a:pP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只有被赋予确定含义后，</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数据</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才能变成人们可用的</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信息</a:t>
            </a:r>
            <a:r>
              <a:rPr lang="en-US" altLang="zh-CN"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r>
              <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rPr>
              <a:t>。</a:t>
            </a:r>
            <a:endPar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animEffect transition="in" filter="blinds(horizontal)">
                                      <p:cBhvr>
                                        <p:cTn id="7" dur="500"/>
                                        <p:tgtEl>
                                          <p:spTgt spid="717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xEl>
                                              <p:pRg st="2" end="2"/>
                                            </p:txEl>
                                          </p:spTgt>
                                        </p:tgtEl>
                                        <p:attrNameLst>
                                          <p:attrName>style.visibility</p:attrName>
                                        </p:attrNameLst>
                                      </p:cBhvr>
                                      <p:to>
                                        <p:strVal val="visible"/>
                                      </p:to>
                                    </p:set>
                                    <p:animEffect transition="in" filter="blinds(horizontal)">
                                      <p:cBhvr>
                                        <p:cTn id="12" dur="500"/>
                                        <p:tgtEl>
                                          <p:spTgt spid="717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2">
                                            <p:txEl>
                                              <p:pRg st="3" end="3"/>
                                            </p:txEl>
                                          </p:spTgt>
                                        </p:tgtEl>
                                        <p:attrNameLst>
                                          <p:attrName>style.visibility</p:attrName>
                                        </p:attrNameLst>
                                      </p:cBhvr>
                                      <p:to>
                                        <p:strVal val="visible"/>
                                      </p:to>
                                    </p:set>
                                    <p:animEffect transition="in" filter="blinds(horizontal)">
                                      <p:cBhvr>
                                        <p:cTn id="17" dur="500"/>
                                        <p:tgtEl>
                                          <p:spTgt spid="717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72">
                                            <p:txEl>
                                              <p:pRg st="4" end="4"/>
                                            </p:txEl>
                                          </p:spTgt>
                                        </p:tgtEl>
                                        <p:attrNameLst>
                                          <p:attrName>style.visibility</p:attrName>
                                        </p:attrNameLst>
                                      </p:cBhvr>
                                      <p:to>
                                        <p:strVal val="visible"/>
                                      </p:to>
                                    </p:set>
                                    <p:animEffect transition="in" filter="blinds(horizontal)">
                                      <p:cBhvr>
                                        <p:cTn id="22" dur="500"/>
                                        <p:tgtEl>
                                          <p:spTgt spid="717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72">
                                            <p:txEl>
                                              <p:pRg st="5" end="5"/>
                                            </p:txEl>
                                          </p:spTgt>
                                        </p:tgtEl>
                                        <p:attrNameLst>
                                          <p:attrName>style.visibility</p:attrName>
                                        </p:attrNameLst>
                                      </p:cBhvr>
                                      <p:to>
                                        <p:strVal val="visible"/>
                                      </p:to>
                                    </p:set>
                                    <p:animEffect transition="in" filter="blinds(horizontal)">
                                      <p:cBhvr>
                                        <p:cTn id="27" dur="500"/>
                                        <p:tgtEl>
                                          <p:spTgt spid="71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a:spLocks noGrp="1"/>
          </p:cNvSpPr>
          <p:nvPr>
            <p:ph type="title"/>
          </p:nvPr>
        </p:nvSpPr>
        <p:spPr/>
        <p:txBody>
          <a:bodyPr wrap="square" tIns="0" bIns="0" anchor="ctr"/>
          <a:p>
            <a:pPr eaLnBrk="1" hangingPunct="1"/>
            <a:r>
              <a:rPr lang="zh-CN" altLang="en-US">
                <a:sym typeface="+mn-ea"/>
              </a:rPr>
              <a:t>数据</a:t>
            </a:r>
            <a:r>
              <a:rPr lang="en-US" altLang="zh-CN">
                <a:sym typeface="+mn-ea"/>
              </a:rPr>
              <a:t> &amp; </a:t>
            </a:r>
            <a:r>
              <a:rPr lang="zh-CN" altLang="en-US">
                <a:sym typeface="+mn-ea"/>
              </a:rPr>
              <a:t>信息（</a:t>
            </a:r>
            <a:r>
              <a:rPr lang="en-US" altLang="zh-CN">
                <a:sym typeface="+mn-ea"/>
              </a:rPr>
              <a:t>1</a:t>
            </a:r>
            <a:r>
              <a:rPr lang="zh-CN" altLang="en-US">
                <a:sym typeface="+mn-ea"/>
              </a:rPr>
              <a:t>）</a:t>
            </a:r>
            <a:endParaRPr lang="zh-CN" altLang="en-US">
              <a:sym typeface="+mn-ea"/>
            </a:endParaRPr>
          </a:p>
        </p:txBody>
      </p:sp>
      <p:sp>
        <p:nvSpPr>
          <p:cNvPr id="7172" name="Rectangle 3"/>
          <p:cNvSpPr>
            <a:spLocks noGrp="1"/>
          </p:cNvSpPr>
          <p:nvPr>
            <p:ph idx="1"/>
          </p:nvPr>
        </p:nvSpPr>
        <p:spPr>
          <a:xfrm>
            <a:off x="424180" y="615950"/>
            <a:ext cx="11343005" cy="3522980"/>
          </a:xfrm>
        </p:spPr>
        <p:txBody>
          <a:bodyPr wrap="square" anchor="t">
            <a:spAutoFit/>
          </a:bodyPr>
          <a:p>
            <a:pPr lvl="0" eaLnBrk="1" hangingPunct="1">
              <a:lnSpc>
                <a:spcPct val="100000"/>
              </a:lnSpc>
              <a:spcBef>
                <a:spcPts val="1000"/>
              </a:spcBef>
            </a:pPr>
            <a:r>
              <a:rPr lang="zh-CN" altLang="en-US" dirty="0">
                <a:solidFill>
                  <a:srgbClr val="1F2DA8"/>
                </a:solidFill>
                <a:highlight>
                  <a:srgbClr val="FFFF00"/>
                </a:highlight>
                <a:latin typeface="Arial" panose="020B0604020202020204" pitchFamily="34" charset="0"/>
                <a:cs typeface="Arial" panose="020B0604020202020204" pitchFamily="34" charset="0"/>
                <a:sym typeface="+mn-ea"/>
              </a:rPr>
              <a:t>什么是</a:t>
            </a:r>
            <a:r>
              <a:rPr lang="en-US" altLang="zh-CN" dirty="0">
                <a:solidFill>
                  <a:srgbClr val="1F2DA8"/>
                </a:solidFill>
                <a:highlight>
                  <a:srgbClr val="FFFF00"/>
                </a:highlight>
                <a:latin typeface="Arial" panose="020B0604020202020204" pitchFamily="34" charset="0"/>
                <a:cs typeface="Arial" panose="020B0604020202020204" pitchFamily="34" charset="0"/>
                <a:sym typeface="+mn-ea"/>
              </a:rPr>
              <a:t>‘</a:t>
            </a:r>
            <a:r>
              <a:rPr lang="zh-CN" altLang="en-US" dirty="0">
                <a:solidFill>
                  <a:srgbClr val="FF0000"/>
                </a:solidFill>
                <a:highlight>
                  <a:srgbClr val="FFFF00"/>
                </a:highlight>
                <a:latin typeface="Arial" panose="020B0604020202020204" pitchFamily="34" charset="0"/>
                <a:cs typeface="Arial" panose="020B0604020202020204" pitchFamily="34" charset="0"/>
                <a:sym typeface="+mn-ea"/>
              </a:rPr>
              <a:t>信息</a:t>
            </a:r>
            <a:r>
              <a:rPr lang="en-US" altLang="zh-CN" dirty="0">
                <a:solidFill>
                  <a:srgbClr val="1F2DA8"/>
                </a:solidFill>
                <a:highlight>
                  <a:srgbClr val="FFFF00"/>
                </a:highlight>
                <a:latin typeface="Arial" panose="020B0604020202020204" pitchFamily="34" charset="0"/>
                <a:cs typeface="Arial" panose="020B0604020202020204" pitchFamily="34" charset="0"/>
                <a:sym typeface="+mn-ea"/>
              </a:rPr>
              <a:t>’</a:t>
            </a:r>
            <a:r>
              <a:rPr lang="en-US" altLang="zh-CN" dirty="0">
                <a:solidFill>
                  <a:srgbClr val="1F2DA8"/>
                </a:solidFill>
                <a:highlight>
                  <a:srgbClr val="FFFF00"/>
                </a:highlight>
                <a:latin typeface="Times New Roman" panose="02020603050405020304" pitchFamily="2" charset="0"/>
                <a:cs typeface="Times New Roman" panose="02020603050405020304" pitchFamily="2" charset="0"/>
                <a:sym typeface="+mn-ea"/>
              </a:rPr>
              <a:t> (information)</a:t>
            </a:r>
            <a:r>
              <a:rPr lang="zh-CN" altLang="en-US" dirty="0">
                <a:solidFill>
                  <a:srgbClr val="1F2DA8"/>
                </a:solidFill>
                <a:highlight>
                  <a:srgbClr val="FFFF00"/>
                </a:highlight>
                <a:latin typeface="Arial" panose="020B0604020202020204" pitchFamily="34" charset="0"/>
                <a:cs typeface="Arial" panose="020B0604020202020204" pitchFamily="34" charset="0"/>
                <a:sym typeface="+mn-ea"/>
              </a:rPr>
              <a:t>？</a:t>
            </a:r>
            <a:endParaRPr lang="en-US" altLang="zh-CN" dirty="0">
              <a:solidFill>
                <a:srgbClr val="FF0000"/>
              </a:solidFill>
              <a:latin typeface="Arial" panose="020B0604020202020204" pitchFamily="34" charset="0"/>
              <a:cs typeface="Arial" panose="020B0604020202020204" pitchFamily="34" charset="0"/>
              <a:sym typeface="+mn-ea"/>
            </a:endParaRPr>
          </a:p>
          <a:p>
            <a:pPr lvl="1" eaLnBrk="1" hangingPunct="1">
              <a:lnSpc>
                <a:spcPct val="100000"/>
              </a:lnSpc>
              <a:spcBef>
                <a:spcPts val="1000"/>
              </a:spcBef>
            </a:pPr>
            <a:r>
              <a:rPr lang="zh-CN" altLang="en-US" dirty="0">
                <a:sym typeface="+mn-ea"/>
              </a:rPr>
              <a:t>信息是用来消除随机不确定性的东西。</a:t>
            </a:r>
            <a:r>
              <a:rPr lang="en-US" altLang="zh-CN" dirty="0">
                <a:sym typeface="+mn-ea"/>
              </a:rPr>
              <a:t>[</a:t>
            </a:r>
            <a:r>
              <a:rPr lang="zh-CN" altLang="en-US" dirty="0">
                <a:sym typeface="+mn-ea"/>
              </a:rPr>
              <a:t>Shannon</a:t>
            </a:r>
            <a:r>
              <a:rPr lang="en-US" altLang="zh-CN" dirty="0">
                <a:sym typeface="+mn-ea"/>
              </a:rPr>
              <a:t>]</a:t>
            </a:r>
            <a:endParaRPr lang="zh-CN" altLang="en-US" dirty="0">
              <a:sym typeface="+mn-ea"/>
            </a:endParaRPr>
          </a:p>
          <a:p>
            <a:pPr lvl="1" eaLnBrk="1" hangingPunct="1">
              <a:lnSpc>
                <a:spcPct val="100000"/>
              </a:lnSpc>
              <a:spcBef>
                <a:spcPts val="1000"/>
              </a:spcBef>
            </a:pPr>
            <a:r>
              <a:rPr lang="zh-CN" altLang="en-US" dirty="0">
                <a:sym typeface="+mn-ea"/>
              </a:rPr>
              <a:t>信息是人们在适应外部世界，并使这种适应反作用于外部世界的过程中，同外部世界进行互相交换的内容和名称。</a:t>
            </a:r>
            <a:r>
              <a:rPr lang="en-US" altLang="zh-CN" dirty="0">
                <a:sym typeface="+mn-ea"/>
              </a:rPr>
              <a:t>[</a:t>
            </a:r>
            <a:r>
              <a:rPr lang="zh-CN" altLang="en-US" dirty="0">
                <a:sym typeface="+mn-ea"/>
              </a:rPr>
              <a:t>Norbert Wiener</a:t>
            </a:r>
            <a:r>
              <a:rPr lang="en-US" altLang="zh-CN" dirty="0">
                <a:sym typeface="+mn-ea"/>
              </a:rPr>
              <a:t>]</a:t>
            </a:r>
            <a:endParaRPr lang="zh-CN" altLang="en-US" dirty="0">
              <a:sym typeface="+mn-ea"/>
            </a:endParaRPr>
          </a:p>
          <a:p>
            <a:pPr lvl="1" eaLnBrk="1" hangingPunct="1">
              <a:lnSpc>
                <a:spcPct val="100000"/>
              </a:lnSpc>
              <a:spcBef>
                <a:spcPts val="1000"/>
              </a:spcBef>
            </a:pPr>
            <a:r>
              <a:rPr lang="zh-CN" altLang="en-US" dirty="0">
                <a:sym typeface="+mn-ea"/>
              </a:rPr>
              <a:t>信息是对客观世界中各种事物的物理状态及其变化的反映，是客观事物之间相互联系和相互作用的表征，表现的是客观事物运动状态和变化的实质内容。</a:t>
            </a:r>
            <a:endParaRPr lang="zh-CN" altLang="en-US" dirty="0">
              <a:latin typeface="Arial" panose="020B0604020202020204" pitchFamily="34" charset="0"/>
              <a:ea typeface="楷体" panose="02010609060101010101" charset="-122"/>
              <a:cs typeface="Arial" panose="020B0604020202020204" pitchFamily="34" charset="0"/>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Rectangle 3"/>
          <p:cNvSpPr>
            <a:spLocks noGrp="1"/>
          </p:cNvSpPr>
          <p:nvPr/>
        </p:nvSpPr>
        <p:spPr>
          <a:xfrm>
            <a:off x="424180" y="4466590"/>
            <a:ext cx="11343005" cy="1732915"/>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spcBef>
                <a:spcPts val="1000"/>
              </a:spcBef>
            </a:pPr>
            <a:r>
              <a:rPr lang="zh-CN" altLang="en-US" sz="3000" dirty="0">
                <a:solidFill>
                  <a:srgbClr val="1F2DA8"/>
                </a:solidFill>
                <a:latin typeface="楷体" panose="02010609060101010101" charset="-122"/>
                <a:ea typeface="楷体" panose="02010609060101010101" charset="-122"/>
                <a:cs typeface="楷体" panose="02010609060101010101" charset="-122"/>
              </a:rPr>
              <a:t>例如，在计算机</a:t>
            </a:r>
            <a:r>
              <a:rPr lang="zh-CN" altLang="en-US" sz="3000" dirty="0">
                <a:solidFill>
                  <a:srgbClr val="1F2DA8"/>
                </a:solidFill>
                <a:latin typeface="楷体" panose="02010609060101010101" charset="-122"/>
                <a:ea typeface="楷体" panose="02010609060101010101" charset="-122"/>
                <a:cs typeface="楷体" panose="02010609060101010101" charset="-122"/>
              </a:rPr>
              <a:t>中有这样一个符号串</a:t>
            </a:r>
            <a:endParaRPr lang="zh-CN" altLang="en-US" sz="3000" dirty="0">
              <a:solidFill>
                <a:srgbClr val="1F2DA8"/>
              </a:solidFill>
              <a:latin typeface="楷体" panose="02010609060101010101" charset="-122"/>
              <a:ea typeface="楷体" panose="02010609060101010101" charset="-122"/>
              <a:cs typeface="楷体" panose="02010609060101010101" charset="-122"/>
            </a:endParaRPr>
          </a:p>
          <a:p>
            <a:pPr marL="457200" lvl="1" indent="0" eaLnBrk="1" hangingPunct="1">
              <a:lnSpc>
                <a:spcPct val="100000"/>
              </a:lnSpc>
              <a:spcBef>
                <a:spcPts val="1000"/>
              </a:spcBef>
              <a:buNone/>
            </a:pPr>
            <a:r>
              <a:rPr lang="en-US" altLang="zh-CN" sz="3000" i="1" dirty="0">
                <a:solidFill>
                  <a:srgbClr val="FF0000"/>
                </a:solidFill>
                <a:latin typeface="楷体" panose="02010609060101010101" charset="-122"/>
                <a:ea typeface="楷体" panose="02010609060101010101" charset="-122"/>
                <a:cs typeface="楷体" panose="02010609060101010101" charset="-122"/>
              </a:rPr>
              <a:t>(</a:t>
            </a:r>
            <a:r>
              <a:rPr lang="zh-CN" altLang="en-US" sz="3000" i="1" dirty="0">
                <a:solidFill>
                  <a:srgbClr val="FF0000"/>
                </a:solidFill>
                <a:latin typeface="楷体" panose="02010609060101010101" charset="-122"/>
                <a:ea typeface="楷体" panose="02010609060101010101" charset="-122"/>
                <a:cs typeface="楷体" panose="02010609060101010101" charset="-122"/>
              </a:rPr>
              <a:t>李明，男，</a:t>
            </a:r>
            <a:r>
              <a:rPr lang="en-US" altLang="zh-CN" sz="3000" i="1" dirty="0">
                <a:solidFill>
                  <a:srgbClr val="FF0000"/>
                </a:solidFill>
                <a:latin typeface="楷体" panose="02010609060101010101" charset="-122"/>
                <a:ea typeface="楷体" panose="02010609060101010101" charset="-122"/>
                <a:cs typeface="楷体" panose="02010609060101010101" charset="-122"/>
              </a:rPr>
              <a:t>199505</a:t>
            </a:r>
            <a:r>
              <a:rPr lang="zh-CN" altLang="en-US" sz="3000" i="1" dirty="0">
                <a:solidFill>
                  <a:srgbClr val="FF0000"/>
                </a:solidFill>
                <a:latin typeface="楷体" panose="02010609060101010101" charset="-122"/>
                <a:ea typeface="楷体" panose="02010609060101010101" charset="-122"/>
                <a:cs typeface="楷体" panose="02010609060101010101" charset="-122"/>
              </a:rPr>
              <a:t>，江苏省南京市，计算机系，</a:t>
            </a:r>
            <a:r>
              <a:rPr lang="en-US" altLang="zh-CN" sz="3000" i="1" dirty="0">
                <a:solidFill>
                  <a:srgbClr val="FF0000"/>
                </a:solidFill>
                <a:latin typeface="楷体" panose="02010609060101010101" charset="-122"/>
                <a:ea typeface="楷体" panose="02010609060101010101" charset="-122"/>
                <a:cs typeface="楷体" panose="02010609060101010101" charset="-122"/>
              </a:rPr>
              <a:t>2013)</a:t>
            </a:r>
            <a:endParaRPr lang="zh-CN" altLang="en-US" sz="3000" dirty="0">
              <a:solidFill>
                <a:srgbClr val="1F2DA8"/>
              </a:solidFill>
              <a:latin typeface="楷体" panose="02010609060101010101" charset="-122"/>
              <a:ea typeface="楷体" panose="02010609060101010101" charset="-122"/>
              <a:cs typeface="楷体" panose="02010609060101010101" charset="-122"/>
            </a:endParaRPr>
          </a:p>
          <a:p>
            <a:pPr marL="457200" lvl="1" indent="0" eaLnBrk="1" hangingPunct="1">
              <a:lnSpc>
                <a:spcPct val="100000"/>
              </a:lnSpc>
              <a:spcBef>
                <a:spcPts val="1000"/>
              </a:spcBef>
              <a:buNone/>
            </a:pPr>
            <a:r>
              <a:rPr lang="zh-CN" altLang="en-US" sz="3000" dirty="0">
                <a:solidFill>
                  <a:srgbClr val="1F2DA8"/>
                </a:solidFill>
                <a:latin typeface="楷体" panose="02010609060101010101" charset="-122"/>
                <a:ea typeface="楷体" panose="02010609060101010101" charset="-122"/>
                <a:cs typeface="楷体" panose="02010609060101010101" charset="-122"/>
              </a:rPr>
              <a:t>如果没有附加的语义解释和</a:t>
            </a:r>
            <a:r>
              <a:rPr lang="zh-CN" altLang="en-US" sz="3000" dirty="0">
                <a:solidFill>
                  <a:srgbClr val="1F2DA8"/>
                </a:solidFill>
                <a:latin typeface="楷体" panose="02010609060101010101" charset="-122"/>
                <a:ea typeface="楷体" panose="02010609060101010101" charset="-122"/>
                <a:cs typeface="楷体" panose="02010609060101010101" charset="-122"/>
              </a:rPr>
              <a:t>定义，这样的符号串是无法使用的。</a:t>
            </a:r>
            <a:endParaRPr lang="en-US" altLang="zh-CN" sz="3000"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blinds(horizontal)">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2" dur="500"/>
                                        <p:tgtEl>
                                          <p:spTgt spid="71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2">
                                            <p:txEl>
                                              <p:pRg st="2" end="2"/>
                                            </p:txEl>
                                          </p:spTgt>
                                        </p:tgtEl>
                                        <p:attrNameLst>
                                          <p:attrName>style.visibility</p:attrName>
                                        </p:attrNameLst>
                                      </p:cBhvr>
                                      <p:to>
                                        <p:strVal val="visible"/>
                                      </p:to>
                                    </p:set>
                                    <p:animEffect transition="in" filter="blinds(horizontal)">
                                      <p:cBhvr>
                                        <p:cTn id="17" dur="500"/>
                                        <p:tgtEl>
                                          <p:spTgt spid="71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72">
                                            <p:txEl>
                                              <p:pRg st="3" end="3"/>
                                            </p:txEl>
                                          </p:spTgt>
                                        </p:tgtEl>
                                        <p:attrNameLst>
                                          <p:attrName>style.visibility</p:attrName>
                                        </p:attrNameLst>
                                      </p:cBhvr>
                                      <p:to>
                                        <p:strVal val="visible"/>
                                      </p:to>
                                    </p:set>
                                    <p:animEffect transition="in" filter="blinds(horizontal)">
                                      <p:cBhvr>
                                        <p:cTn id="22" dur="500"/>
                                        <p:tgtEl>
                                          <p:spTgt spid="71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a:spLocks noGrp="1"/>
          </p:cNvSpPr>
          <p:nvPr>
            <p:ph type="title"/>
          </p:nvPr>
        </p:nvSpPr>
        <p:spPr/>
        <p:txBody>
          <a:bodyPr wrap="square" tIns="0" bIns="0" anchor="ctr"/>
          <a:p>
            <a:pPr eaLnBrk="1" hangingPunct="1"/>
            <a:r>
              <a:rPr lang="zh-CN" altLang="en-US"/>
              <a:t>数据</a:t>
            </a:r>
            <a:r>
              <a:rPr lang="en-US" altLang="zh-CN"/>
              <a:t> &amp; </a:t>
            </a:r>
            <a:r>
              <a:rPr lang="zh-CN" altLang="en-US"/>
              <a:t>信息（</a:t>
            </a:r>
            <a:r>
              <a:rPr lang="en-US" altLang="zh-CN"/>
              <a:t>2</a:t>
            </a:r>
            <a:r>
              <a:rPr lang="zh-CN" altLang="en-US"/>
              <a:t>）</a:t>
            </a:r>
            <a:endParaRPr lang="zh-CN" altLang="en-US"/>
          </a:p>
        </p:txBody>
      </p:sp>
      <p:sp>
        <p:nvSpPr>
          <p:cNvPr id="7172" name="Rectangle 3"/>
          <p:cNvSpPr>
            <a:spLocks noGrp="1"/>
          </p:cNvSpPr>
          <p:nvPr>
            <p:ph idx="1"/>
          </p:nvPr>
        </p:nvSpPr>
        <p:spPr>
          <a:xfrm>
            <a:off x="424180" y="615950"/>
            <a:ext cx="11343005" cy="1143000"/>
          </a:xfrm>
        </p:spPr>
        <p:txBody>
          <a:bodyPr wrap="square" anchor="t">
            <a:spAutoFit/>
          </a:bodyPr>
          <a:p>
            <a:pPr eaLnBrk="1" hangingPunct="1">
              <a:lnSpc>
                <a:spcPct val="100000"/>
              </a:lnSpc>
              <a:spcBef>
                <a:spcPts val="1000"/>
              </a:spcBef>
            </a:pPr>
            <a:r>
              <a:rPr lang="zh-CN" altLang="en-US" dirty="0">
                <a:cs typeface="楷体" panose="02010609060101010101" charset="-122"/>
                <a:sym typeface="+mn-ea"/>
              </a:rPr>
              <a:t>现实世界中的信息是多种多样的！</a:t>
            </a:r>
            <a:endParaRPr lang="zh-CN" altLang="en-US" dirty="0">
              <a:cs typeface="楷体" panose="02010609060101010101" charset="-122"/>
              <a:sym typeface="+mn-ea"/>
            </a:endParaRPr>
          </a:p>
          <a:p>
            <a:pPr eaLnBrk="1" hangingPunct="1">
              <a:lnSpc>
                <a:spcPct val="100000"/>
              </a:lnSpc>
              <a:spcBef>
                <a:spcPts val="1000"/>
              </a:spcBef>
            </a:pPr>
            <a:r>
              <a:rPr lang="zh-CN" altLang="en-US" dirty="0">
                <a:cs typeface="楷体" panose="02010609060101010101" charset="-122"/>
                <a:sym typeface="+mn-ea"/>
              </a:rPr>
              <a:t>可以从中抽取出人们感兴趣的</a:t>
            </a:r>
            <a:r>
              <a:rPr lang="zh-CN" altLang="en-US" dirty="0">
                <a:cs typeface="楷体" panose="02010609060101010101" charset="-122"/>
                <a:sym typeface="+mn-ea"/>
              </a:rPr>
              <a:t>内容，抽象成为计算机中的</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数据</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a:t>
            </a:r>
            <a:endPar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Rectangle 3"/>
          <p:cNvSpPr>
            <a:spLocks noGrp="1"/>
          </p:cNvSpPr>
          <p:nvPr>
            <p:custDataLst>
              <p:tags r:id="rId1"/>
            </p:custDataLst>
          </p:nvPr>
        </p:nvSpPr>
        <p:spPr>
          <a:xfrm>
            <a:off x="424180" y="2342515"/>
            <a:ext cx="11343005" cy="553085"/>
          </a:xfrm>
          <a:prstGeom prst="rect">
            <a:avLst/>
          </a:prstGeom>
        </p:spPr>
        <p:txBody>
          <a:bodyPr vert="horz" wrap="square" lIns="91440" tIns="45720" rIns="91440" bIns="45720" rtlCol="0" anchor="t">
            <a:spAutoFit/>
          </a:bodyPr>
          <a:lstStyle>
            <a:lvl1pPr marL="2286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q"/>
              <a:defRPr sz="24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4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spcBef>
                <a:spcPts val="1000"/>
              </a:spcBef>
            </a:pPr>
            <a:r>
              <a:rPr lang="zh-CN" altLang="en-US" sz="3000" dirty="0">
                <a:latin typeface="楷体" panose="02010609060101010101" charset="-122"/>
                <a:ea typeface="楷体" panose="02010609060101010101" charset="-122"/>
                <a:cs typeface="楷体" panose="02010609060101010101" charset="-122"/>
                <a:sym typeface="Wingdings 3" panose="05040102010807070707" pitchFamily="2" charset="2"/>
              </a:rPr>
              <a:t>例：</a:t>
            </a:r>
            <a:endParaRPr lang="zh-CN" altLang="en-US" sz="3000"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pic>
        <p:nvPicPr>
          <p:cNvPr id="7" name="图片 6"/>
          <p:cNvPicPr>
            <a:picLocks noChangeAspect="1"/>
          </p:cNvPicPr>
          <p:nvPr>
            <p:custDataLst>
              <p:tags r:id="rId2"/>
            </p:custDataLst>
          </p:nvPr>
        </p:nvPicPr>
        <p:blipFill>
          <a:blip r:embed="rId3"/>
          <a:stretch>
            <a:fillRect/>
          </a:stretch>
        </p:blipFill>
        <p:spPr>
          <a:xfrm>
            <a:off x="644525" y="3395345"/>
            <a:ext cx="4507230" cy="2515870"/>
          </a:xfrm>
          <a:prstGeom prst="rect">
            <a:avLst/>
          </a:prstGeom>
        </p:spPr>
      </p:pic>
      <p:grpSp>
        <p:nvGrpSpPr>
          <p:cNvPr id="11" name="组合 10"/>
          <p:cNvGrpSpPr/>
          <p:nvPr/>
        </p:nvGrpSpPr>
        <p:grpSpPr>
          <a:xfrm>
            <a:off x="5297170" y="3039745"/>
            <a:ext cx="6040755" cy="3046095"/>
            <a:chOff x="6294" y="5747"/>
            <a:chExt cx="9513" cy="4797"/>
          </a:xfrm>
        </p:grpSpPr>
        <p:sp>
          <p:nvSpPr>
            <p:cNvPr id="8" name="文本框 7"/>
            <p:cNvSpPr txBox="1"/>
            <p:nvPr>
              <p:custDataLst>
                <p:tags r:id="rId4"/>
              </p:custDataLst>
            </p:nvPr>
          </p:nvSpPr>
          <p:spPr>
            <a:xfrm>
              <a:off x="7624" y="5747"/>
              <a:ext cx="8183" cy="4797"/>
            </a:xfrm>
            <a:prstGeom prst="rect">
              <a:avLst/>
            </a:prstGeom>
            <a:solidFill>
              <a:schemeClr val="accent1">
                <a:lumMod val="20000"/>
                <a:lumOff val="80000"/>
                <a:alpha val="50000"/>
              </a:schemeClr>
            </a:solidFill>
          </p:spPr>
          <p:txBody>
            <a:bodyPr wrap="square" rtlCol="0">
              <a:spAutoFit/>
            </a:bodyPr>
            <a:p>
              <a:pPr>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姓名：</a:t>
              </a:r>
              <a:r>
                <a:rPr lang="zh-CN" altLang="en-US" sz="2400">
                  <a:latin typeface="华文新魏" panose="02010800040101010101" charset="-122"/>
                  <a:ea typeface="华文新魏" panose="02010800040101010101" charset="-122"/>
                  <a:cs typeface="华文新魏" panose="02010800040101010101" charset="-122"/>
                </a:rPr>
                <a:t>王东杰</a:t>
              </a:r>
              <a:endParaRPr lang="zh-CN" altLang="en-US" sz="2400">
                <a:latin typeface="华文新魏" panose="02010800040101010101" charset="-122"/>
                <a:ea typeface="华文新魏" panose="02010800040101010101" charset="-122"/>
                <a:cs typeface="华文新魏" panose="02010800040101010101" charset="-122"/>
              </a:endParaRPr>
            </a:p>
            <a:p>
              <a:pPr>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电话：</a:t>
              </a:r>
              <a:r>
                <a:rPr lang="en-US" altLang="zh-CN" sz="2400">
                  <a:latin typeface="华文新魏" panose="02010800040101010101" charset="-122"/>
                  <a:ea typeface="华文新魏" panose="02010800040101010101" charset="-122"/>
                  <a:cs typeface="华文新魏" panose="02010800040101010101" charset="-122"/>
                </a:rPr>
                <a:t>18637161988</a:t>
              </a:r>
              <a:endParaRPr lang="en-US" altLang="zh-CN" sz="2400">
                <a:latin typeface="华文新魏" panose="02010800040101010101" charset="-122"/>
                <a:ea typeface="华文新魏" panose="02010800040101010101" charset="-122"/>
                <a:cs typeface="华文新魏" panose="02010800040101010101" charset="-122"/>
              </a:endParaRPr>
            </a:p>
            <a:p>
              <a:pPr lvl="2">
                <a:lnSpc>
                  <a:spcPct val="100000"/>
                </a:lnSpc>
                <a:spcBef>
                  <a:spcPts val="0"/>
                </a:spcBef>
                <a:spcAft>
                  <a:spcPts val="0"/>
                </a:spcAft>
              </a:pPr>
              <a:r>
                <a:rPr lang="en-US" altLang="zh-CN" sz="2400">
                  <a:latin typeface="华文新魏" panose="02010800040101010101" charset="-122"/>
                  <a:ea typeface="华文新魏" panose="02010800040101010101" charset="-122"/>
                  <a:cs typeface="华文新魏" panose="02010800040101010101" charset="-122"/>
                </a:rPr>
                <a:t>0371-65832568</a:t>
              </a:r>
              <a:endParaRPr lang="en-US" altLang="zh-CN" sz="2400">
                <a:latin typeface="华文新魏" panose="02010800040101010101" charset="-122"/>
                <a:ea typeface="华文新魏" panose="02010800040101010101" charset="-122"/>
                <a:cs typeface="华文新魏" panose="02010800040101010101" charset="-122"/>
              </a:endParaRPr>
            </a:p>
            <a:p>
              <a:pPr lvl="0">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传真：</a:t>
              </a:r>
              <a:r>
                <a:rPr lang="en-US" altLang="zh-CN" sz="2400">
                  <a:latin typeface="华文新魏" panose="02010800040101010101" charset="-122"/>
                  <a:ea typeface="华文新魏" panose="02010800040101010101" charset="-122"/>
                  <a:cs typeface="华文新魏" panose="02010800040101010101" charset="-122"/>
                  <a:sym typeface="+mn-ea"/>
                </a:rPr>
                <a:t>0371-65832578</a:t>
              </a:r>
              <a:endParaRPr lang="en-US" altLang="zh-CN" sz="2400">
                <a:latin typeface="华文新魏" panose="02010800040101010101" charset="-122"/>
                <a:ea typeface="华文新魏" panose="02010800040101010101" charset="-122"/>
                <a:cs typeface="华文新魏" panose="02010800040101010101" charset="-122"/>
                <a:sym typeface="+mn-ea"/>
              </a:endParaRPr>
            </a:p>
            <a:p>
              <a:pPr lvl="0">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网址：</a:t>
              </a:r>
              <a:r>
                <a:rPr lang="en-US" altLang="zh-CN" sz="2400">
                  <a:latin typeface="华文新魏" panose="02010800040101010101" charset="-122"/>
                  <a:ea typeface="华文新魏" panose="02010800040101010101" charset="-122"/>
                  <a:cs typeface="华文新魏" panose="02010800040101010101" charset="-122"/>
                </a:rPr>
                <a:t>www.hnhrfs.com</a:t>
              </a:r>
              <a:endParaRPr lang="en-US" altLang="zh-CN" sz="2400">
                <a:latin typeface="华文新魏" panose="02010800040101010101" charset="-122"/>
                <a:ea typeface="华文新魏" panose="02010800040101010101" charset="-122"/>
                <a:cs typeface="华文新魏" panose="02010800040101010101" charset="-122"/>
              </a:endParaRPr>
            </a:p>
            <a:p>
              <a:pPr lvl="0">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邮箱：</a:t>
              </a:r>
              <a:r>
                <a:rPr lang="en-US" altLang="zh-CN" sz="2400">
                  <a:latin typeface="华文新魏" panose="02010800040101010101" charset="-122"/>
                  <a:ea typeface="华文新魏" panose="02010800040101010101" charset="-122"/>
                  <a:cs typeface="华文新魏" panose="02010800040101010101" charset="-122"/>
                </a:rPr>
                <a:t>hnhrfs@126.com</a:t>
              </a:r>
              <a:endParaRPr lang="en-US" altLang="zh-CN" sz="2400">
                <a:latin typeface="华文新魏" panose="02010800040101010101" charset="-122"/>
                <a:ea typeface="华文新魏" panose="02010800040101010101" charset="-122"/>
                <a:cs typeface="华文新魏" panose="02010800040101010101" charset="-122"/>
              </a:endParaRPr>
            </a:p>
            <a:p>
              <a:pPr marL="899795" lvl="0" indent="-899795">
                <a:lnSpc>
                  <a:spcPct val="100000"/>
                </a:lnSpc>
                <a:spcBef>
                  <a:spcPts val="0"/>
                </a:spcBef>
                <a:spcAft>
                  <a:spcPts val="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公司：</a:t>
              </a:r>
              <a:r>
                <a:rPr lang="zh-CN" altLang="en-US" sz="2400">
                  <a:latin typeface="华文新魏" panose="02010800040101010101" charset="-122"/>
                  <a:ea typeface="华文新魏" panose="02010800040101010101" charset="-122"/>
                  <a:cs typeface="华文新魏" panose="02010800040101010101" charset="-122"/>
                  <a:sym typeface="+mn-ea"/>
                </a:rPr>
                <a:t>河南省华瑞防水防腐有限公司</a:t>
              </a:r>
              <a:endParaRPr lang="en-US" altLang="zh-CN" sz="2400">
                <a:latin typeface="华文新魏" panose="02010800040101010101" charset="-122"/>
                <a:ea typeface="华文新魏" panose="02010800040101010101" charset="-122"/>
                <a:cs typeface="华文新魏" panose="02010800040101010101" charset="-122"/>
              </a:endParaRPr>
            </a:p>
            <a:p>
              <a:pPr lvl="0">
                <a:lnSpc>
                  <a:spcPct val="100000"/>
                </a:lnSpc>
                <a:spcBef>
                  <a:spcPts val="0"/>
                </a:spcBef>
                <a:spcAft>
                  <a:spcPts val="0"/>
                </a:spcAft>
              </a:pPr>
              <a:r>
                <a:rPr lang="en-US" altLang="zh-CN" sz="2400">
                  <a:latin typeface="华文新魏" panose="02010800040101010101" charset="-122"/>
                  <a:ea typeface="华文新魏" panose="02010800040101010101" charset="-122"/>
                  <a:cs typeface="华文新魏" panose="02010800040101010101" charset="-122"/>
                </a:rPr>
                <a:t>......</a:t>
              </a:r>
              <a:r>
                <a:rPr lang="en-US" altLang="zh-CN" sz="2400">
                  <a:latin typeface="华文新魏" panose="02010800040101010101" charset="-122"/>
                  <a:ea typeface="华文新魏" panose="02010800040101010101" charset="-122"/>
                  <a:cs typeface="华文新魏" panose="02010800040101010101" charset="-122"/>
                  <a:sym typeface="+mn-ea"/>
                </a:rPr>
                <a:t>......</a:t>
              </a:r>
              <a:endParaRPr lang="en-US" altLang="zh-CN" sz="2400">
                <a:latin typeface="华文新魏" panose="02010800040101010101" charset="-122"/>
                <a:ea typeface="华文新魏" panose="02010800040101010101" charset="-122"/>
                <a:cs typeface="华文新魏" panose="02010800040101010101" charset="-122"/>
              </a:endParaRPr>
            </a:p>
          </p:txBody>
        </p:sp>
        <p:sp>
          <p:nvSpPr>
            <p:cNvPr id="9" name="右箭头 8"/>
            <p:cNvSpPr/>
            <p:nvPr>
              <p:custDataLst>
                <p:tags r:id="rId5"/>
              </p:custDataLst>
            </p:nvPr>
          </p:nvSpPr>
          <p:spPr>
            <a:xfrm>
              <a:off x="6294" y="7894"/>
              <a:ext cx="1021" cy="4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左大括号 9"/>
            <p:cNvSpPr/>
            <p:nvPr>
              <p:custDataLst>
                <p:tags r:id="rId6"/>
              </p:custDataLst>
            </p:nvPr>
          </p:nvSpPr>
          <p:spPr>
            <a:xfrm>
              <a:off x="7436" y="5818"/>
              <a:ext cx="331" cy="4572"/>
            </a:xfrm>
            <a:prstGeom prst="leftBrace">
              <a:avLst>
                <a:gd name="adj1" fmla="val 58308"/>
                <a:gd name="adj2" fmla="val 50196"/>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5" name="线形标注 2(带强调线) 4"/>
          <p:cNvSpPr/>
          <p:nvPr/>
        </p:nvSpPr>
        <p:spPr>
          <a:xfrm>
            <a:off x="9258935" y="2291715"/>
            <a:ext cx="1231900" cy="478155"/>
          </a:xfrm>
          <a:prstGeom prst="accentCallout2">
            <a:avLst>
              <a:gd name="adj1" fmla="val 18750"/>
              <a:gd name="adj2" fmla="val -8333"/>
              <a:gd name="adj3" fmla="val 18750"/>
              <a:gd name="adj4" fmla="val -16667"/>
              <a:gd name="adj5" fmla="val 205710"/>
              <a:gd name="adj6" fmla="val -73350"/>
            </a:avLst>
          </a:prstGeom>
          <a:noFill/>
          <a:ln w="19050">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2800" b="1">
                <a:solidFill>
                  <a:srgbClr val="1F2DA8"/>
                </a:solidFill>
                <a:latin typeface="楷体" panose="02010609060101010101" charset="-122"/>
                <a:ea typeface="楷体" panose="02010609060101010101" charset="-122"/>
              </a:rPr>
              <a:t>数据</a:t>
            </a:r>
            <a:endParaRPr lang="zh-CN" altLang="en-US" sz="2800" b="1">
              <a:solidFill>
                <a:srgbClr val="1F2DA8"/>
              </a:solidFill>
              <a:latin typeface="楷体" panose="02010609060101010101" charset="-122"/>
              <a:ea typeface="楷体" panose="02010609060101010101" charset="-122"/>
            </a:endParaRPr>
          </a:p>
        </p:txBody>
      </p:sp>
      <p:sp>
        <p:nvSpPr>
          <p:cNvPr id="6" name="线形标注 2(带强调线) 5"/>
          <p:cNvSpPr/>
          <p:nvPr/>
        </p:nvSpPr>
        <p:spPr>
          <a:xfrm>
            <a:off x="4115435" y="2291715"/>
            <a:ext cx="2026285" cy="478155"/>
          </a:xfrm>
          <a:prstGeom prst="accentCallout2">
            <a:avLst>
              <a:gd name="adj1" fmla="val 14342"/>
              <a:gd name="adj2" fmla="val 104587"/>
              <a:gd name="adj3" fmla="val 32005"/>
              <a:gd name="adj4" fmla="val 114381"/>
              <a:gd name="adj5" fmla="val 172509"/>
              <a:gd name="adj6" fmla="val 122093"/>
            </a:avLst>
          </a:prstGeom>
          <a:noFill/>
          <a:ln w="19050">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2800" b="1">
                <a:solidFill>
                  <a:srgbClr val="1F2DA8"/>
                </a:solidFill>
                <a:latin typeface="楷体" panose="02010609060101010101" charset="-122"/>
                <a:ea typeface="楷体" panose="02010609060101010101" charset="-122"/>
              </a:rPr>
              <a:t>数据的语义</a:t>
            </a:r>
            <a:endParaRPr lang="zh-CN" altLang="en-US" sz="2800" b="1">
              <a:solidFill>
                <a:srgbClr val="1F2DA8"/>
              </a:solidFill>
              <a:latin typeface="楷体" panose="02010609060101010101" charset="-122"/>
              <a:ea typeface="楷体" panose="02010609060101010101" charset="-122"/>
            </a:endParaRPr>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数据</a:t>
            </a:r>
            <a:r>
              <a:rPr lang="en-US" altLang="zh-CN">
                <a:sym typeface="+mn-ea"/>
              </a:rPr>
              <a:t> &amp; </a:t>
            </a:r>
            <a:r>
              <a:rPr lang="zh-CN" altLang="en-US">
                <a:sym typeface="+mn-ea"/>
              </a:rPr>
              <a:t>信息（</a:t>
            </a:r>
            <a:r>
              <a:rPr lang="en-US" altLang="zh-CN">
                <a:sym typeface="+mn-ea"/>
              </a:rPr>
              <a:t>3</a:t>
            </a:r>
            <a:r>
              <a:rPr lang="zh-CN" altLang="en-US">
                <a:sym typeface="+mn-ea"/>
              </a:rPr>
              <a:t>）</a:t>
            </a:r>
            <a:endParaRPr lang="zh-CN" altLang="en-US">
              <a:sym typeface="+mn-ea"/>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pic>
        <p:nvPicPr>
          <p:cNvPr id="9" name="图片 8"/>
          <p:cNvPicPr>
            <a:picLocks noChangeAspect="1"/>
          </p:cNvPicPr>
          <p:nvPr/>
        </p:nvPicPr>
        <p:blipFill>
          <a:blip r:embed="rId1"/>
          <a:stretch>
            <a:fillRect/>
          </a:stretch>
        </p:blipFill>
        <p:spPr>
          <a:xfrm>
            <a:off x="514985" y="953770"/>
            <a:ext cx="6381750" cy="5107305"/>
          </a:xfrm>
          <a:prstGeom prst="rect">
            <a:avLst/>
          </a:prstGeom>
          <a:ln>
            <a:noFill/>
          </a:ln>
        </p:spPr>
      </p:pic>
      <p:grpSp>
        <p:nvGrpSpPr>
          <p:cNvPr id="11" name="组合 10"/>
          <p:cNvGrpSpPr/>
          <p:nvPr/>
        </p:nvGrpSpPr>
        <p:grpSpPr>
          <a:xfrm>
            <a:off x="6358890" y="720090"/>
            <a:ext cx="5704205" cy="5507990"/>
            <a:chOff x="6039" y="5763"/>
            <a:chExt cx="8983" cy="8674"/>
          </a:xfrm>
        </p:grpSpPr>
        <p:sp>
          <p:nvSpPr>
            <p:cNvPr id="8" name="文本框 7"/>
            <p:cNvSpPr txBox="1"/>
            <p:nvPr>
              <p:custDataLst>
                <p:tags r:id="rId2"/>
              </p:custDataLst>
            </p:nvPr>
          </p:nvSpPr>
          <p:spPr>
            <a:xfrm>
              <a:off x="7624" y="5763"/>
              <a:ext cx="7398" cy="8674"/>
            </a:xfrm>
            <a:prstGeom prst="rect">
              <a:avLst/>
            </a:prstGeom>
            <a:solidFill>
              <a:schemeClr val="accent1">
                <a:lumMod val="20000"/>
                <a:lumOff val="80000"/>
                <a:alpha val="50000"/>
              </a:schemeClr>
            </a:solidFill>
          </p:spPr>
          <p:txBody>
            <a:bodyPr wrap="square" rtlCol="0">
              <a:spAutoFit/>
            </a:bodyPr>
            <a:p>
              <a:pPr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书名：</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数据库系统概论</a:t>
              </a:r>
              <a:endParaRPr lang="zh-CN" altLang="en-US" sz="2400">
                <a:solidFill>
                  <a:srgbClr val="1F2DA8"/>
                </a:solidFill>
                <a:latin typeface="华文新魏" panose="02010800040101010101" charset="-122"/>
                <a:ea typeface="华文新魏" panose="02010800040101010101" charset="-122"/>
                <a:cs typeface="华文新魏" panose="02010800040101010101" charset="-122"/>
              </a:endParaRPr>
            </a:p>
            <a:p>
              <a:pPr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作者：</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王珊，萨师煊</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endParaRPr>
            </a:p>
            <a:p>
              <a:pPr lvl="0"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出版社：</a:t>
              </a:r>
              <a:r>
                <a:rPr lang="zh-CN" altLang="en-US" sz="2400">
                  <a:solidFill>
                    <a:srgbClr val="1F2DA8"/>
                  </a:solidFill>
                  <a:latin typeface="华文新魏" panose="02010800040101010101" charset="-122"/>
                  <a:ea typeface="华文新魏" panose="02010800040101010101" charset="-122"/>
                  <a:cs typeface="华文新魏" panose="02010800040101010101" charset="-122"/>
                  <a:sym typeface="+mn-ea"/>
                </a:rPr>
                <a:t>高等教育出版社</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endParaRPr>
            </a:p>
            <a:p>
              <a:pPr lvl="0"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书号：</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9787040406641</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endParaRP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开本：</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16</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endParaRP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页码：</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418</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endParaRP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出版日期：</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2014-09-01</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endParaRPr>
            </a:p>
            <a:p>
              <a:pPr marL="899795" lvl="0" indent="-89979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sym typeface="+mn-ea"/>
                </a:rPr>
                <a:t>版次：</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5</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endParaRPr>
            </a:p>
            <a:p>
              <a:pPr marL="409575" lvl="0" indent="-409575" fontAlgn="auto">
                <a:lnSpc>
                  <a:spcPct val="100000"/>
                </a:lnSpc>
                <a:spcBef>
                  <a:spcPts val="0"/>
                </a:spcBef>
                <a:spcAft>
                  <a:spcPts val="600"/>
                </a:spcAft>
              </a:pPr>
              <a:r>
                <a:rPr lang="zh-CN" altLang="en-US" sz="2400">
                  <a:solidFill>
                    <a:srgbClr val="FF0000"/>
                  </a:solidFill>
                  <a:latin typeface="华文新魏" panose="02010800040101010101" charset="-122"/>
                  <a:ea typeface="华文新魏" panose="02010800040101010101" charset="-122"/>
                  <a:cs typeface="华文新魏" panose="02010800040101010101" charset="-122"/>
                </a:rPr>
                <a:t>内容提要：</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本书第</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1</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版于</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1983</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年出版，至今已修订至第</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5</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版。第</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5</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版被列入</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十二五</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a:t>
              </a:r>
              <a:r>
                <a:rPr lang="zh-CN" altLang="en-US" sz="2400">
                  <a:solidFill>
                    <a:srgbClr val="1F2DA8"/>
                  </a:solidFill>
                  <a:latin typeface="华文新魏" panose="02010800040101010101" charset="-122"/>
                  <a:ea typeface="华文新魏" panose="02010800040101010101" charset="-122"/>
                  <a:cs typeface="华文新魏" panose="02010800040101010101" charset="-122"/>
                </a:rPr>
                <a:t>普通高等教育本科国家级规划教材。</a:t>
              </a:r>
              <a:r>
                <a:rPr lang="en-US" altLang="zh-CN" sz="2400">
                  <a:solidFill>
                    <a:srgbClr val="1F2DA8"/>
                  </a:solidFill>
                  <a:latin typeface="华文新魏" panose="02010800040101010101" charset="-122"/>
                  <a:ea typeface="华文新魏" panose="02010800040101010101" charset="-122"/>
                  <a:cs typeface="华文新魏" panose="02010800040101010101" charset="-122"/>
                </a:rPr>
                <a:t>......</a:t>
              </a:r>
              <a:r>
                <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rPr>
                <a:t>......</a:t>
              </a:r>
              <a:endParaRPr lang="en-US" altLang="zh-CN" sz="2400">
                <a:solidFill>
                  <a:srgbClr val="1F2DA8"/>
                </a:solidFill>
                <a:latin typeface="华文新魏" panose="02010800040101010101" charset="-122"/>
                <a:ea typeface="华文新魏" panose="02010800040101010101" charset="-122"/>
                <a:cs typeface="华文新魏" panose="02010800040101010101" charset="-122"/>
                <a:sym typeface="+mn-ea"/>
              </a:endParaRPr>
            </a:p>
          </p:txBody>
        </p:sp>
        <p:sp>
          <p:nvSpPr>
            <p:cNvPr id="6" name="右箭头 5"/>
            <p:cNvSpPr/>
            <p:nvPr>
              <p:custDataLst>
                <p:tags r:id="rId3"/>
              </p:custDataLst>
            </p:nvPr>
          </p:nvSpPr>
          <p:spPr>
            <a:xfrm>
              <a:off x="6039" y="9900"/>
              <a:ext cx="1021" cy="4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左大括号 9"/>
            <p:cNvSpPr/>
            <p:nvPr>
              <p:custDataLst>
                <p:tags r:id="rId4"/>
              </p:custDataLst>
            </p:nvPr>
          </p:nvSpPr>
          <p:spPr>
            <a:xfrm>
              <a:off x="7436" y="5818"/>
              <a:ext cx="188" cy="8618"/>
            </a:xfrm>
            <a:prstGeom prst="leftBrace">
              <a:avLst>
                <a:gd name="adj1" fmla="val 58308"/>
                <a:gd name="adj2" fmla="val 50196"/>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3" name="内容占位符 2"/>
          <p:cNvSpPr>
            <a:spLocks noGrp="1"/>
          </p:cNvSpPr>
          <p:nvPr>
            <p:ph idx="1"/>
          </p:nvPr>
        </p:nvSpPr>
        <p:spPr/>
        <p:txBody>
          <a:bodyPr/>
          <a:p>
            <a:r>
              <a:rPr lang="zh-CN" altLang="en-US" dirty="0">
                <a:solidFill>
                  <a:srgbClr val="FF0000"/>
                </a:solidFill>
                <a:cs typeface="楷体" panose="02010609060101010101" charset="-122"/>
                <a:sym typeface="+mn-ea"/>
              </a:rPr>
              <a:t>例：</a:t>
            </a:r>
            <a:endParaRPr lang="zh-CN" altLang="en-US" dirty="0">
              <a:solidFill>
                <a:srgbClr val="FF0000"/>
              </a:solidFill>
              <a:cs typeface="楷体" panose="02010609060101010101" charset="-122"/>
              <a:sym typeface="+mn-ea"/>
            </a:endParaRPr>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vertic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Rectangle 2"/>
          <p:cNvSpPr>
            <a:spLocks noGrp="1"/>
          </p:cNvSpPr>
          <p:nvPr>
            <p:ph type="title"/>
          </p:nvPr>
        </p:nvSpPr>
        <p:spPr/>
        <p:txBody>
          <a:bodyPr wrap="square" tIns="0" bIns="0" anchor="ctr"/>
          <a:p>
            <a:pPr eaLnBrk="1" hangingPunct="1"/>
            <a:r>
              <a:rPr lang="zh-CN" altLang="en-US">
                <a:sym typeface="+mn-ea"/>
              </a:rPr>
              <a:t>数据</a:t>
            </a:r>
            <a:r>
              <a:rPr lang="en-US" altLang="zh-CN">
                <a:sym typeface="+mn-ea"/>
              </a:rPr>
              <a:t> &amp; </a:t>
            </a:r>
            <a:r>
              <a:rPr lang="zh-CN" altLang="en-US">
                <a:sym typeface="+mn-ea"/>
              </a:rPr>
              <a:t>信息（</a:t>
            </a:r>
            <a:r>
              <a:rPr lang="en-US" altLang="zh-CN">
                <a:sym typeface="+mn-ea"/>
              </a:rPr>
              <a:t>4</a:t>
            </a:r>
            <a:r>
              <a:rPr lang="zh-CN" altLang="en-US">
                <a:sym typeface="+mn-ea"/>
              </a:rPr>
              <a:t>）</a:t>
            </a:r>
            <a:endParaRPr lang="zh-CN" altLang="en-US">
              <a:sym typeface="+mn-ea"/>
            </a:endParaRPr>
          </a:p>
        </p:txBody>
      </p:sp>
      <p:grpSp>
        <p:nvGrpSpPr>
          <p:cNvPr id="8197" name="组合 7173"/>
          <p:cNvGrpSpPr/>
          <p:nvPr>
            <p:custDataLst>
              <p:tags r:id="rId1"/>
            </p:custDataLst>
          </p:nvPr>
        </p:nvGrpSpPr>
        <p:grpSpPr>
          <a:xfrm>
            <a:off x="5747385" y="3825875"/>
            <a:ext cx="5135245" cy="2157983"/>
            <a:chOff x="0" y="0"/>
            <a:chExt cx="3235" cy="760"/>
          </a:xfrm>
        </p:grpSpPr>
        <p:sp>
          <p:nvSpPr>
            <p:cNvPr id="8198" name="AutoShape 4"/>
            <p:cNvSpPr/>
            <p:nvPr>
              <p:custDataLst>
                <p:tags r:id="rId2"/>
              </p:custDataLst>
            </p:nvPr>
          </p:nvSpPr>
          <p:spPr>
            <a:xfrm>
              <a:off x="0" y="0"/>
              <a:ext cx="3235" cy="544"/>
            </a:xfrm>
            <a:prstGeom prst="cloudCallout">
              <a:avLst>
                <a:gd name="adj1" fmla="val 477"/>
                <a:gd name="adj2" fmla="val -42463"/>
              </a:avLst>
            </a:prstGeom>
            <a:solidFill>
              <a:srgbClr val="CCFFFF"/>
            </a:solidFill>
            <a:ln w="9525" cap="flat" cmpd="sng">
              <a:solidFill>
                <a:schemeClr val="tx1"/>
              </a:solidFill>
              <a:prstDash val="solid"/>
              <a:round/>
              <a:headEnd type="none" w="med" len="med"/>
              <a:tailEnd type="none" w="med" len="med"/>
            </a:ln>
          </p:spPr>
          <p:txBody>
            <a:bodyPr lIns="0" tIns="0" rIns="0" bIns="0" anchor="t"/>
            <a:p>
              <a:pPr algn="ctr"/>
              <a:r>
                <a:rPr lang="zh-CN" altLang="en-US" sz="2800" b="1" dirty="0">
                  <a:latin typeface="Times New Roman" panose="02020603050405020304" pitchFamily="2" charset="0"/>
                </a:rPr>
                <a:t>信息（</a:t>
              </a:r>
              <a:r>
                <a:rPr lang="en-US" altLang="zh-CN" sz="2800" b="1" dirty="0">
                  <a:latin typeface="Times New Roman" panose="02020603050405020304" pitchFamily="2" charset="0"/>
                </a:rPr>
                <a:t>Information）</a:t>
              </a:r>
              <a:endParaRPr lang="en-US" altLang="zh-CN" sz="2800" b="1" dirty="0">
                <a:latin typeface="Times New Roman" panose="02020603050405020304" pitchFamily="2" charset="0"/>
              </a:endParaRPr>
            </a:p>
          </p:txBody>
        </p:sp>
        <p:sp>
          <p:nvSpPr>
            <p:cNvPr id="8199" name="Text Box 6"/>
            <p:cNvSpPr txBox="1"/>
            <p:nvPr>
              <p:custDataLst>
                <p:tags r:id="rId3"/>
              </p:custDataLst>
            </p:nvPr>
          </p:nvSpPr>
          <p:spPr>
            <a:xfrm>
              <a:off x="1123" y="576"/>
              <a:ext cx="1353" cy="184"/>
            </a:xfrm>
            <a:prstGeom prst="rect">
              <a:avLst/>
            </a:prstGeom>
            <a:noFill/>
            <a:ln w="9525">
              <a:noFill/>
            </a:ln>
          </p:spPr>
          <p:txBody>
            <a:bodyPr wrap="square" anchor="t">
              <a:spAutoFit/>
            </a:bodyPr>
            <a:p>
              <a:pPr algn="dist">
                <a:spcBef>
                  <a:spcPct val="50000"/>
                </a:spcBef>
              </a:pPr>
              <a:r>
                <a:rPr lang="zh-CN" altLang="en-US" sz="2800" b="1" dirty="0">
                  <a:solidFill>
                    <a:srgbClr val="1F2DA8"/>
                  </a:solidFill>
                  <a:latin typeface="Times New Roman" panose="02020603050405020304" pitchFamily="2" charset="0"/>
                </a:rPr>
                <a:t>现实世界</a:t>
              </a:r>
              <a:endParaRPr lang="zh-CN" altLang="en-US" sz="2800" b="1" dirty="0">
                <a:solidFill>
                  <a:srgbClr val="1F2DA8"/>
                </a:solidFill>
                <a:latin typeface="Times New Roman" panose="02020603050405020304" pitchFamily="2" charset="0"/>
              </a:endParaRPr>
            </a:p>
          </p:txBody>
        </p:sp>
      </p:grpSp>
      <p:grpSp>
        <p:nvGrpSpPr>
          <p:cNvPr id="8203" name="组合 7179"/>
          <p:cNvGrpSpPr/>
          <p:nvPr>
            <p:custDataLst>
              <p:tags r:id="rId4"/>
            </p:custDataLst>
          </p:nvPr>
        </p:nvGrpSpPr>
        <p:grpSpPr>
          <a:xfrm>
            <a:off x="3720465" y="3984625"/>
            <a:ext cx="2026920" cy="990600"/>
            <a:chOff x="0" y="0"/>
            <a:chExt cx="720" cy="624"/>
          </a:xfrm>
        </p:grpSpPr>
        <p:sp>
          <p:nvSpPr>
            <p:cNvPr id="8204" name="Freeform 10"/>
            <p:cNvSpPr/>
            <p:nvPr>
              <p:custDataLst>
                <p:tags r:id="rId5"/>
              </p:custDataLst>
            </p:nvPr>
          </p:nvSpPr>
          <p:spPr>
            <a:xfrm>
              <a:off x="0" y="0"/>
              <a:ext cx="720" cy="624"/>
            </a:xfrm>
            <a:custGeom>
              <a:avLst/>
              <a:gdLst/>
              <a:ahLst/>
              <a:cxnLst>
                <a:cxn ang="0">
                  <a:pos x="720" y="624"/>
                </a:cxn>
                <a:cxn ang="0">
                  <a:pos x="192" y="480"/>
                </a:cxn>
                <a:cxn ang="0">
                  <a:pos x="0" y="0"/>
                </a:cxn>
              </a:cxnLst>
              <a:pathLst>
                <a:path w="720" h="624">
                  <a:moveTo>
                    <a:pt x="720" y="624"/>
                  </a:moveTo>
                  <a:cubicBezTo>
                    <a:pt x="516" y="604"/>
                    <a:pt x="312" y="584"/>
                    <a:pt x="192" y="480"/>
                  </a:cubicBezTo>
                  <a:cubicBezTo>
                    <a:pt x="72" y="376"/>
                    <a:pt x="36" y="188"/>
                    <a:pt x="0" y="0"/>
                  </a:cubicBezTo>
                </a:path>
              </a:pathLst>
            </a:custGeom>
            <a:noFill/>
            <a:ln w="38100" cap="flat" cmpd="sng">
              <a:solidFill>
                <a:schemeClr val="tx1"/>
              </a:solidFill>
              <a:prstDash val="solid"/>
              <a:round/>
              <a:headEnd type="none" w="med" len="med"/>
              <a:tailEnd type="arrow" w="lg" len="med"/>
            </a:ln>
          </p:spPr>
          <p:txBody>
            <a:bodyPr/>
            <a:p>
              <a:endParaRPr lang="zh-CN" altLang="en-US" sz="2800"/>
            </a:p>
          </p:txBody>
        </p:sp>
        <p:sp>
          <p:nvSpPr>
            <p:cNvPr id="8205" name="Text Box 11"/>
            <p:cNvSpPr txBox="1"/>
            <p:nvPr>
              <p:custDataLst>
                <p:tags r:id="rId6"/>
              </p:custDataLst>
            </p:nvPr>
          </p:nvSpPr>
          <p:spPr>
            <a:xfrm>
              <a:off x="84" y="216"/>
              <a:ext cx="528" cy="329"/>
            </a:xfrm>
            <a:prstGeom prst="rect">
              <a:avLst/>
            </a:prstGeom>
            <a:noFill/>
            <a:ln w="9525">
              <a:noFill/>
            </a:ln>
          </p:spPr>
          <p:txBody>
            <a:bodyPr anchor="t">
              <a:spAutoFit/>
            </a:bodyPr>
            <a:p>
              <a:pPr algn="ctr">
                <a:spcBef>
                  <a:spcPct val="50000"/>
                </a:spcBef>
              </a:pPr>
              <a:r>
                <a:rPr lang="zh-CN" altLang="en-US" sz="2800" b="1" dirty="0">
                  <a:solidFill>
                    <a:srgbClr val="1F2DA8"/>
                  </a:solidFill>
                  <a:latin typeface="Times New Roman" panose="02020603050405020304" pitchFamily="2" charset="0"/>
                </a:rPr>
                <a:t>抽</a:t>
              </a:r>
              <a:r>
                <a:rPr lang="en-US" altLang="zh-CN" sz="2800" b="1" dirty="0">
                  <a:solidFill>
                    <a:srgbClr val="1F2DA8"/>
                  </a:solidFill>
                  <a:latin typeface="Times New Roman" panose="02020603050405020304" pitchFamily="2" charset="0"/>
                </a:rPr>
                <a:t> </a:t>
              </a:r>
              <a:r>
                <a:rPr lang="zh-CN" altLang="en-US" sz="2800" b="1" dirty="0">
                  <a:solidFill>
                    <a:srgbClr val="1F2DA8"/>
                  </a:solidFill>
                  <a:latin typeface="Times New Roman" panose="02020603050405020304" pitchFamily="2" charset="0"/>
                </a:rPr>
                <a:t>象</a:t>
              </a:r>
              <a:endParaRPr lang="zh-CN" altLang="en-US" sz="2800" b="1" dirty="0">
                <a:solidFill>
                  <a:srgbClr val="1F2DA8"/>
                </a:solidFill>
                <a:latin typeface="Times New Roman" panose="02020603050405020304" pitchFamily="2" charset="0"/>
              </a:endParaRPr>
            </a:p>
          </p:txBody>
        </p:sp>
      </p:grpSp>
      <p:grpSp>
        <p:nvGrpSpPr>
          <p:cNvPr id="8206" name="组合 7182"/>
          <p:cNvGrpSpPr/>
          <p:nvPr>
            <p:custDataLst>
              <p:tags r:id="rId7"/>
            </p:custDataLst>
          </p:nvPr>
        </p:nvGrpSpPr>
        <p:grpSpPr>
          <a:xfrm>
            <a:off x="4189730" y="2064385"/>
            <a:ext cx="2973070" cy="1880870"/>
            <a:chOff x="0" y="0"/>
            <a:chExt cx="1488" cy="1152"/>
          </a:xfrm>
        </p:grpSpPr>
        <p:sp>
          <p:nvSpPr>
            <p:cNvPr id="8207" name="Freeform 12"/>
            <p:cNvSpPr/>
            <p:nvPr>
              <p:custDataLst>
                <p:tags r:id="rId8"/>
              </p:custDataLst>
            </p:nvPr>
          </p:nvSpPr>
          <p:spPr>
            <a:xfrm>
              <a:off x="0" y="0"/>
              <a:ext cx="1488" cy="1152"/>
            </a:xfrm>
            <a:custGeom>
              <a:avLst/>
              <a:gdLst/>
              <a:ahLst/>
              <a:cxnLst>
                <a:cxn ang="0">
                  <a:pos x="0" y="0"/>
                </a:cxn>
                <a:cxn ang="0">
                  <a:pos x="912" y="336"/>
                </a:cxn>
                <a:cxn ang="0">
                  <a:pos x="1488" y="1152"/>
                </a:cxn>
              </a:cxnLst>
              <a:pathLst>
                <a:path w="1488" h="1152">
                  <a:moveTo>
                    <a:pt x="0" y="0"/>
                  </a:moveTo>
                  <a:cubicBezTo>
                    <a:pt x="332" y="72"/>
                    <a:pt x="664" y="144"/>
                    <a:pt x="912" y="336"/>
                  </a:cubicBezTo>
                  <a:cubicBezTo>
                    <a:pt x="1160" y="528"/>
                    <a:pt x="1324" y="840"/>
                    <a:pt x="1488" y="1152"/>
                  </a:cubicBezTo>
                </a:path>
              </a:pathLst>
            </a:custGeom>
            <a:noFill/>
            <a:ln w="38100" cap="flat" cmpd="sng">
              <a:solidFill>
                <a:schemeClr val="tx1"/>
              </a:solidFill>
              <a:prstDash val="solid"/>
              <a:round/>
              <a:headEnd type="none" w="med" len="med"/>
              <a:tailEnd type="arrow" w="lg" len="med"/>
            </a:ln>
          </p:spPr>
          <p:txBody>
            <a:bodyPr/>
            <a:p>
              <a:endParaRPr lang="zh-CN" altLang="en-US" sz="2800"/>
            </a:p>
          </p:txBody>
        </p:sp>
        <p:sp>
          <p:nvSpPr>
            <p:cNvPr id="8208" name="Text Box 13"/>
            <p:cNvSpPr txBox="1"/>
            <p:nvPr>
              <p:custDataLst>
                <p:tags r:id="rId9"/>
              </p:custDataLst>
            </p:nvPr>
          </p:nvSpPr>
          <p:spPr>
            <a:xfrm>
              <a:off x="351" y="336"/>
              <a:ext cx="675" cy="320"/>
            </a:xfrm>
            <a:prstGeom prst="rect">
              <a:avLst/>
            </a:prstGeom>
            <a:noFill/>
            <a:ln w="9525">
              <a:noFill/>
            </a:ln>
          </p:spPr>
          <p:txBody>
            <a:bodyPr wrap="square" anchor="t">
              <a:spAutoFit/>
            </a:bodyPr>
            <a:p>
              <a:pPr algn="ctr">
                <a:spcBef>
                  <a:spcPct val="50000"/>
                </a:spcBef>
              </a:pPr>
              <a:r>
                <a:rPr lang="zh-CN" altLang="en-US" sz="2800" b="1" dirty="0">
                  <a:solidFill>
                    <a:srgbClr val="1F2DA8"/>
                  </a:solidFill>
                  <a:latin typeface="Times New Roman" panose="02020603050405020304" pitchFamily="2" charset="0"/>
                </a:rPr>
                <a:t>蕴</a:t>
              </a:r>
              <a:r>
                <a:rPr lang="en-US" altLang="zh-CN" sz="2800" b="1" dirty="0">
                  <a:solidFill>
                    <a:srgbClr val="1F2DA8"/>
                  </a:solidFill>
                  <a:latin typeface="Times New Roman" panose="02020603050405020304" pitchFamily="2" charset="0"/>
                </a:rPr>
                <a:t> </a:t>
              </a:r>
              <a:r>
                <a:rPr lang="zh-CN" altLang="en-US" sz="2800" b="1" dirty="0">
                  <a:solidFill>
                    <a:srgbClr val="1F2DA8"/>
                  </a:solidFill>
                  <a:latin typeface="Times New Roman" panose="02020603050405020304" pitchFamily="2" charset="0"/>
                </a:rPr>
                <a:t>涵</a:t>
              </a:r>
              <a:endParaRPr lang="zh-CN" altLang="en-US" sz="2800" b="1" dirty="0">
                <a:solidFill>
                  <a:srgbClr val="1F2DA8"/>
                </a:solidFill>
                <a:latin typeface="Times New Roman" panose="02020603050405020304" pitchFamily="2" charset="0"/>
              </a:endParaRPr>
            </a:p>
          </p:txBody>
        </p:sp>
      </p:grpSp>
      <p:sp>
        <p:nvSpPr>
          <p:cNvPr id="3" name="文本框 2"/>
          <p:cNvSpPr txBox="1"/>
          <p:nvPr>
            <p:custDataLst>
              <p:tags r:id="rId10"/>
            </p:custDataLst>
          </p:nvPr>
        </p:nvSpPr>
        <p:spPr>
          <a:xfrm>
            <a:off x="5747385" y="1971675"/>
            <a:ext cx="4462780" cy="521970"/>
          </a:xfrm>
          <a:prstGeom prst="rect">
            <a:avLst/>
          </a:prstGeom>
          <a:noFill/>
        </p:spPr>
        <p:txBody>
          <a:bodyPr wrap="square" rtlCol="0">
            <a:spAutoFit/>
          </a:bodyPr>
          <a:p>
            <a:pPr lvl="1" indent="-457200">
              <a:buClr>
                <a:srgbClr val="C00000"/>
              </a:buClr>
              <a:buSzPct val="85000"/>
              <a:buFont typeface="Arial" panose="020B0604020202020204" pitchFamily="34" charset="0"/>
              <a:buChar char="•"/>
            </a:pPr>
            <a:r>
              <a:rPr lang="zh-CN" altLang="en-US" sz="2800" b="1">
                <a:solidFill>
                  <a:srgbClr val="FF0000"/>
                </a:solidFill>
                <a:sym typeface="+mn-ea"/>
              </a:rPr>
              <a:t>信息是数据的内涵</a:t>
            </a:r>
            <a:endParaRPr lang="zh-CN" altLang="en-US" sz="2800" b="1">
              <a:solidFill>
                <a:srgbClr val="FF0000"/>
              </a:solidFill>
              <a:sym typeface="+mn-ea"/>
            </a:endParaRPr>
          </a:p>
        </p:txBody>
      </p:sp>
      <p:pic>
        <p:nvPicPr>
          <p:cNvPr id="7" name="图片 6"/>
          <p:cNvPicPr>
            <a:picLocks noChangeAspect="1"/>
          </p:cNvPicPr>
          <p:nvPr>
            <p:custDataLst>
              <p:tags r:id="rId11"/>
            </p:custDataLst>
          </p:nvPr>
        </p:nvPicPr>
        <p:blipFill>
          <a:blip r:embed="rId12"/>
          <a:stretch>
            <a:fillRect/>
          </a:stretch>
        </p:blipFill>
        <p:spPr>
          <a:xfrm>
            <a:off x="7824470" y="4593590"/>
            <a:ext cx="981710" cy="548005"/>
          </a:xfrm>
          <a:prstGeom prst="rect">
            <a:avLst/>
          </a:prstGeom>
        </p:spPr>
      </p:pic>
      <p:grpSp>
        <p:nvGrpSpPr>
          <p:cNvPr id="4" name="组合 3"/>
          <p:cNvGrpSpPr/>
          <p:nvPr>
            <p:custDataLst>
              <p:tags r:id="rId13"/>
            </p:custDataLst>
          </p:nvPr>
        </p:nvGrpSpPr>
        <p:grpSpPr>
          <a:xfrm>
            <a:off x="1163524" y="694690"/>
            <a:ext cx="2934131" cy="3863976"/>
            <a:chOff x="458" y="1704"/>
            <a:chExt cx="4620" cy="6086"/>
          </a:xfrm>
        </p:grpSpPr>
        <p:grpSp>
          <p:nvGrpSpPr>
            <p:cNvPr id="8200" name="组合 7176"/>
            <p:cNvGrpSpPr/>
            <p:nvPr/>
          </p:nvGrpSpPr>
          <p:grpSpPr>
            <a:xfrm>
              <a:off x="458" y="1704"/>
              <a:ext cx="4620" cy="6086"/>
              <a:chOff x="-50" y="0"/>
              <a:chExt cx="1634" cy="2434"/>
            </a:xfrm>
          </p:grpSpPr>
          <p:sp>
            <p:nvSpPr>
              <p:cNvPr id="8201" name="AutoShape 5"/>
              <p:cNvSpPr/>
              <p:nvPr/>
            </p:nvSpPr>
            <p:spPr>
              <a:xfrm>
                <a:off x="367" y="0"/>
                <a:ext cx="1217" cy="2434"/>
              </a:xfrm>
              <a:prstGeom prst="flowChartMultidocument">
                <a:avLst/>
              </a:prstGeom>
              <a:solidFill>
                <a:srgbClr val="FFFF99"/>
              </a:solidFill>
              <a:ln w="9525" cap="flat" cmpd="sng">
                <a:solidFill>
                  <a:schemeClr val="tx1"/>
                </a:solidFill>
                <a:prstDash val="solid"/>
                <a:miter/>
                <a:headEnd type="none" w="med" len="med"/>
                <a:tailEnd type="none" w="med" len="med"/>
              </a:ln>
            </p:spPr>
            <p:txBody>
              <a:bodyPr tIns="226695" anchor="t">
                <a:spAutoFit/>
              </a:bodyPr>
              <a:p>
                <a:pPr algn="ctr">
                  <a:lnSpc>
                    <a:spcPct val="100000"/>
                  </a:lnSpc>
                  <a:spcBef>
                    <a:spcPts val="100"/>
                  </a:spcBef>
                  <a:spcAft>
                    <a:spcPts val="0"/>
                  </a:spcAft>
                </a:pPr>
                <a:r>
                  <a:rPr lang="zh-CN" altLang="en-US" sz="2800" b="1" dirty="0">
                    <a:latin typeface="Times New Roman" panose="02020603050405020304" pitchFamily="2" charset="0"/>
                  </a:rPr>
                  <a:t>数  据</a:t>
                </a:r>
                <a:endParaRPr lang="zh-CN" altLang="en-US" sz="2800" b="1" dirty="0">
                  <a:latin typeface="Times New Roman" panose="02020603050405020304" pitchFamily="2" charset="0"/>
                </a:endParaRPr>
              </a:p>
              <a:p>
                <a:pPr algn="ctr">
                  <a:lnSpc>
                    <a:spcPct val="100000"/>
                  </a:lnSpc>
                  <a:spcBef>
                    <a:spcPts val="50"/>
                  </a:spcBef>
                  <a:spcAft>
                    <a:spcPts val="0"/>
                  </a:spcAft>
                </a:pPr>
                <a:r>
                  <a:rPr lang="zh-CN" altLang="en-US" sz="2800" b="1" dirty="0">
                    <a:latin typeface="Times New Roman" panose="02020603050405020304" pitchFamily="2" charset="0"/>
                  </a:rPr>
                  <a:t>（</a:t>
                </a:r>
                <a:r>
                  <a:rPr lang="en-US" altLang="zh-CN" sz="2800" b="1" dirty="0">
                    <a:latin typeface="Times New Roman" panose="02020603050405020304" pitchFamily="2" charset="0"/>
                  </a:rPr>
                  <a:t>data）</a:t>
                </a:r>
                <a:endParaRPr lang="en-US" altLang="zh-CN" sz="2800" b="1" dirty="0">
                  <a:latin typeface="Times New Roman" panose="02020603050405020304" pitchFamily="2" charset="0"/>
                </a:endParaRPr>
              </a:p>
              <a:p>
                <a:pPr algn="ctr">
                  <a:spcBef>
                    <a:spcPct val="50000"/>
                  </a:spcBef>
                </a:pPr>
                <a:endParaRPr lang="zh-CN" altLang="en-US" sz="2800" b="1" dirty="0">
                  <a:latin typeface="Times New Roman" panose="02020603050405020304" pitchFamily="2" charset="0"/>
                </a:endParaRPr>
              </a:p>
              <a:p>
                <a:pPr algn="ctr">
                  <a:spcBef>
                    <a:spcPct val="50000"/>
                  </a:spcBef>
                </a:pPr>
                <a:endParaRPr lang="zh-CN" altLang="en-US" sz="2800" b="1" dirty="0">
                  <a:latin typeface="Times New Roman" panose="02020603050405020304" pitchFamily="2" charset="0"/>
                </a:endParaRPr>
              </a:p>
              <a:p>
                <a:pPr algn="ctr">
                  <a:spcBef>
                    <a:spcPct val="50000"/>
                  </a:spcBef>
                </a:pPr>
                <a:endParaRPr lang="zh-CN" altLang="en-US" sz="2800" b="1" dirty="0">
                  <a:latin typeface="Times New Roman" panose="02020603050405020304" pitchFamily="2" charset="0"/>
                </a:endParaRPr>
              </a:p>
            </p:txBody>
          </p:sp>
          <p:sp>
            <p:nvSpPr>
              <p:cNvPr id="8202" name="Text Box 7"/>
              <p:cNvSpPr txBox="1"/>
              <p:nvPr/>
            </p:nvSpPr>
            <p:spPr>
              <a:xfrm>
                <a:off x="-50" y="202"/>
                <a:ext cx="366" cy="1374"/>
              </a:xfrm>
              <a:prstGeom prst="rect">
                <a:avLst/>
              </a:prstGeom>
              <a:noFill/>
              <a:ln w="9525">
                <a:noFill/>
              </a:ln>
            </p:spPr>
            <p:txBody>
              <a:bodyPr vert="eaVert" wrap="square" anchor="t">
                <a:spAutoFit/>
              </a:bodyPr>
              <a:p>
                <a:pPr algn="dist">
                  <a:lnSpc>
                    <a:spcPct val="110000"/>
                  </a:lnSpc>
                  <a:spcBef>
                    <a:spcPct val="50000"/>
                  </a:spcBef>
                </a:pPr>
                <a:r>
                  <a:rPr lang="zh-CN" altLang="en-US" sz="2800" b="1" spc="100" dirty="0">
                    <a:solidFill>
                      <a:srgbClr val="1F2DA8"/>
                    </a:solidFill>
                    <a:uFillTx/>
                    <a:latin typeface="Times New Roman" panose="02020603050405020304" pitchFamily="2" charset="0"/>
                  </a:rPr>
                  <a:t>计算机世界</a:t>
                </a:r>
                <a:endParaRPr lang="zh-CN" altLang="en-US" sz="2800" b="1" spc="100" dirty="0">
                  <a:solidFill>
                    <a:srgbClr val="1F2DA8"/>
                  </a:solidFill>
                  <a:uFillTx/>
                  <a:latin typeface="Times New Roman" panose="02020603050405020304" pitchFamily="2" charset="0"/>
                </a:endParaRPr>
              </a:p>
            </p:txBody>
          </p:sp>
        </p:grpSp>
        <p:pic>
          <p:nvPicPr>
            <p:cNvPr id="12" name="图片 11"/>
            <p:cNvPicPr>
              <a:picLocks noChangeAspect="1"/>
            </p:cNvPicPr>
            <p:nvPr>
              <p:custDataLst>
                <p:tags r:id="rId14"/>
              </p:custDataLst>
            </p:nvPr>
          </p:nvPicPr>
          <p:blipFill>
            <a:blip r:embed="rId15"/>
            <a:stretch>
              <a:fillRect/>
            </a:stretch>
          </p:blipFill>
          <p:spPr>
            <a:xfrm>
              <a:off x="1770" y="4542"/>
              <a:ext cx="2661" cy="1923"/>
            </a:xfrm>
            <a:prstGeom prst="rect">
              <a:avLst/>
            </a:prstGeom>
          </p:spPr>
        </p:pic>
      </p:grpSp>
      <p:sp>
        <p:nvSpPr>
          <p:cNvPr id="2" name="文本框 1"/>
          <p:cNvSpPr txBox="1"/>
          <p:nvPr>
            <p:custDataLst>
              <p:tags r:id="rId16"/>
            </p:custDataLst>
          </p:nvPr>
        </p:nvSpPr>
        <p:spPr>
          <a:xfrm>
            <a:off x="1839595" y="5014595"/>
            <a:ext cx="3518535" cy="521970"/>
          </a:xfrm>
          <a:prstGeom prst="rect">
            <a:avLst/>
          </a:prstGeom>
          <a:noFill/>
        </p:spPr>
        <p:txBody>
          <a:bodyPr wrap="square" rtlCol="0">
            <a:spAutoFit/>
          </a:bodyPr>
          <a:p>
            <a:pPr lvl="1" indent="-457200">
              <a:buClr>
                <a:srgbClr val="C00000"/>
              </a:buClr>
              <a:buSzPct val="85000"/>
              <a:buFont typeface="Arial" panose="020B0604020202020204" pitchFamily="34" charset="0"/>
              <a:buChar char="•"/>
            </a:pPr>
            <a:r>
              <a:rPr lang="zh-CN" altLang="en-US" sz="2800" b="1">
                <a:solidFill>
                  <a:srgbClr val="FF0000"/>
                </a:solidFill>
                <a:sym typeface="+mn-ea"/>
              </a:rPr>
              <a:t>数据是信息的载体</a:t>
            </a:r>
            <a:endParaRPr lang="zh-CN" altLang="en-US" sz="2800" b="1">
              <a:solidFill>
                <a:srgbClr val="FF0000"/>
              </a:solidFill>
              <a:sym typeface="+mn-ea"/>
            </a:endParaRPr>
          </a:p>
        </p:txBody>
      </p:sp>
      <p:sp>
        <p:nvSpPr>
          <p:cNvPr id="6" name="灯片编号占位符 5"/>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5" name="页脚占位符 4"/>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03"/>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206"/>
                                        </p:tgtEl>
                                        <p:attrNameLst>
                                          <p:attrName>style.visibility</p:attrName>
                                        </p:attrNameLst>
                                      </p:cBhvr>
                                      <p:to>
                                        <p:strVal val="visible"/>
                                      </p:to>
                                    </p:set>
                                    <p:animEffect transition="in" filter="blinds(horizontal)">
                                      <p:cBhvr>
                                        <p:cTn id="15" dur="500"/>
                                        <p:tgtEl>
                                          <p:spTgt spid="8206"/>
                                        </p:tgtEl>
                                      </p:cBhvr>
                                    </p:animEffec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9220" name="Rectangle 3"/>
          <p:cNvSpPr>
            <a:spLocks noGrp="1"/>
          </p:cNvSpPr>
          <p:nvPr>
            <p:ph idx="1"/>
          </p:nvPr>
        </p:nvSpPr>
        <p:spPr/>
        <p:txBody>
          <a:bodyPr wrap="square" anchor="t"/>
          <a:p>
            <a:pPr eaLnBrk="1" hangingPunct="1">
              <a:lnSpc>
                <a:spcPct val="100000"/>
              </a:lnSpc>
            </a:pP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数据</a:t>
            </a: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的特性</a:t>
            </a:r>
            <a:endPar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endParaRPr>
          </a:p>
          <a:p>
            <a:pPr marL="914400" lvl="1" indent="-457200"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1) </a:t>
            </a:r>
            <a:r>
              <a:rPr lang="zh-CN" altLang="en-US" dirty="0">
                <a:solidFill>
                  <a:srgbClr val="FF0000"/>
                </a:solidFill>
                <a:latin typeface="楷体" panose="02010609060101010101" charset="-122"/>
                <a:ea typeface="楷体" panose="02010609060101010101" charset="-122"/>
                <a:cs typeface="楷体" panose="02010609060101010101" charset="-122"/>
              </a:rPr>
              <a:t>数据表现的多样性</a:t>
            </a:r>
            <a:r>
              <a:rPr lang="zh-CN" altLang="en-US" dirty="0">
                <a:sym typeface="+mn-ea"/>
              </a:rPr>
              <a:t>：</a:t>
            </a:r>
            <a:r>
              <a:rPr lang="zh-CN" altLang="en-US" dirty="0">
                <a:sym typeface="+mn-ea"/>
              </a:rPr>
              <a:t>数字、文字、日期</a:t>
            </a:r>
            <a:r>
              <a:rPr lang="en-US" altLang="zh-CN" dirty="0">
                <a:sym typeface="+mn-ea"/>
              </a:rPr>
              <a:t>/</a:t>
            </a:r>
            <a:r>
              <a:rPr lang="zh-CN" altLang="en-US" dirty="0">
                <a:sym typeface="+mn-ea"/>
              </a:rPr>
              <a:t>时间、图形</a:t>
            </a:r>
            <a:r>
              <a:rPr lang="en-US" altLang="zh-CN" dirty="0">
                <a:sym typeface="+mn-ea"/>
              </a:rPr>
              <a:t>/</a:t>
            </a:r>
            <a:r>
              <a:rPr lang="zh-CN" altLang="en-US" dirty="0">
                <a:sym typeface="+mn-ea"/>
              </a:rPr>
              <a:t>图像、音频</a:t>
            </a:r>
            <a:r>
              <a:rPr lang="en-US" altLang="zh-CN" dirty="0">
                <a:sym typeface="+mn-ea"/>
              </a:rPr>
              <a:t>/</a:t>
            </a:r>
            <a:r>
              <a:rPr lang="zh-CN" altLang="en-US" dirty="0">
                <a:sym typeface="+mn-ea"/>
              </a:rPr>
              <a:t>视频</a:t>
            </a:r>
            <a:r>
              <a:rPr lang="zh-CN" altLang="en-US" dirty="0">
                <a:sym typeface="+mn-ea"/>
              </a:rPr>
              <a:t>、二进制串、文档、抽象数据类型等</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spcAft>
                <a:spcPts val="1000"/>
              </a:spcAft>
            </a:pP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3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2) </a:t>
            </a:r>
            <a:r>
              <a:rPr lang="zh-CN" altLang="en-US" dirty="0">
                <a:solidFill>
                  <a:srgbClr val="FF0000"/>
                </a:solidFill>
                <a:latin typeface="楷体" panose="02010609060101010101" charset="-122"/>
                <a:ea typeface="楷体" panose="02010609060101010101" charset="-122"/>
                <a:cs typeface="楷体" panose="02010609060101010101" charset="-122"/>
              </a:rPr>
              <a:t>数据的可构造性</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pP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3) </a:t>
            </a:r>
            <a:r>
              <a:rPr lang="zh-CN" altLang="en-US" dirty="0">
                <a:solidFill>
                  <a:srgbClr val="FF0000"/>
                </a:solidFill>
                <a:latin typeface="楷体" panose="02010609060101010101" charset="-122"/>
                <a:ea typeface="楷体" panose="02010609060101010101" charset="-122"/>
                <a:cs typeface="楷体" panose="02010609060101010101" charset="-122"/>
              </a:rPr>
              <a:t>数据的挥发性</a:t>
            </a:r>
            <a:r>
              <a:rPr lang="en-US" altLang="zh-CN" dirty="0">
                <a:solidFill>
                  <a:srgbClr val="FF0000"/>
                </a:solidFill>
                <a:latin typeface="楷体" panose="02010609060101010101" charset="-122"/>
                <a:ea typeface="楷体" panose="02010609060101010101" charset="-122"/>
                <a:cs typeface="楷体" panose="02010609060101010101" charset="-122"/>
              </a:rPr>
              <a:t>/</a:t>
            </a:r>
            <a:r>
              <a:rPr lang="zh-CN" altLang="en-US" dirty="0">
                <a:solidFill>
                  <a:srgbClr val="FF0000"/>
                </a:solidFill>
                <a:latin typeface="楷体" panose="02010609060101010101" charset="-122"/>
                <a:ea typeface="楷体" panose="02010609060101010101" charset="-122"/>
                <a:cs typeface="楷体" panose="02010609060101010101" charset="-122"/>
              </a:rPr>
              <a:t>持久性</a:t>
            </a:r>
            <a:endParaRPr lang="en-US" altLang="zh-CN"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4) </a:t>
            </a:r>
            <a:r>
              <a:rPr lang="zh-CN" altLang="en-US" dirty="0">
                <a:solidFill>
                  <a:srgbClr val="FF0000"/>
                </a:solidFill>
                <a:latin typeface="楷体" panose="02010609060101010101" charset="-122"/>
                <a:ea typeface="楷体" panose="02010609060101010101" charset="-122"/>
                <a:cs typeface="楷体" panose="02010609060101010101" charset="-122"/>
              </a:rPr>
              <a:t>数据的私有性</a:t>
            </a:r>
            <a:r>
              <a:rPr lang="en-US" altLang="zh-CN" dirty="0">
                <a:solidFill>
                  <a:srgbClr val="FF0000"/>
                </a:solidFill>
                <a:latin typeface="楷体" panose="02010609060101010101" charset="-122"/>
                <a:ea typeface="楷体" panose="02010609060101010101" charset="-122"/>
                <a:cs typeface="楷体" panose="02010609060101010101" charset="-122"/>
              </a:rPr>
              <a:t>/</a:t>
            </a:r>
            <a:r>
              <a:rPr lang="zh-CN" altLang="en-US" dirty="0">
                <a:solidFill>
                  <a:srgbClr val="FF0000"/>
                </a:solidFill>
                <a:latin typeface="楷体" panose="02010609060101010101" charset="-122"/>
                <a:ea typeface="楷体" panose="02010609060101010101" charset="-122"/>
                <a:cs typeface="楷体" panose="02010609060101010101" charset="-122"/>
              </a:rPr>
              <a:t>共享性</a:t>
            </a:r>
            <a:endParaRPr lang="en-US" altLang="zh-CN" dirty="0">
              <a:solidFill>
                <a:srgbClr val="FF0000"/>
              </a:solidFill>
              <a:latin typeface="楷体" panose="02010609060101010101" charset="-122"/>
              <a:ea typeface="楷体" panose="02010609060101010101" charset="-122"/>
              <a:cs typeface="楷体" panose="02010609060101010101" charset="-122"/>
            </a:endParaRPr>
          </a:p>
          <a:p>
            <a:pPr marL="914400" lvl="1" indent="-457200" algn="just" eaLnBrk="1" hangingPunct="1">
              <a:lnSpc>
                <a:spcPct val="100000"/>
              </a:lnSpc>
              <a:spcBef>
                <a:spcPts val="1000"/>
              </a:spcBef>
              <a:buNone/>
            </a:pPr>
            <a:r>
              <a:rPr lang="en-US" altLang="zh-CN" dirty="0">
                <a:solidFill>
                  <a:srgbClr val="1F2DA8"/>
                </a:solidFill>
                <a:latin typeface="楷体" panose="02010609060101010101" charset="-122"/>
                <a:ea typeface="楷体" panose="02010609060101010101" charset="-122"/>
                <a:cs typeface="楷体" panose="02010609060101010101" charset="-122"/>
              </a:rPr>
              <a:t>5) </a:t>
            </a:r>
            <a:r>
              <a:rPr lang="zh-CN" altLang="en-US" dirty="0">
                <a:solidFill>
                  <a:srgbClr val="FF0000"/>
                </a:solidFill>
                <a:latin typeface="楷体" panose="02010609060101010101" charset="-122"/>
                <a:ea typeface="楷体" panose="02010609060101010101" charset="-122"/>
                <a:cs typeface="楷体" panose="02010609060101010101" charset="-122"/>
              </a:rPr>
              <a:t>数据的</a:t>
            </a:r>
            <a:r>
              <a:rPr lang="en-US" altLang="zh-CN" dirty="0">
                <a:solidFill>
                  <a:srgbClr val="FF0000"/>
                </a:solidFill>
                <a:latin typeface="楷体" panose="02010609060101010101" charset="-122"/>
                <a:ea typeface="楷体" panose="02010609060101010101" charset="-122"/>
                <a:cs typeface="楷体" panose="02010609060101010101" charset="-122"/>
              </a:rPr>
              <a:t> </a:t>
            </a: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solidFill>
                  <a:srgbClr val="FF0000"/>
                </a:solidFill>
                <a:latin typeface="Arial" panose="020B0604020202020204" pitchFamily="34" charset="0"/>
                <a:ea typeface="楷体" panose="02010609060101010101" charset="-122"/>
                <a:cs typeface="Arial" panose="020B0604020202020204" pitchFamily="34" charset="0"/>
              </a:rPr>
              <a:t>量</a:t>
            </a:r>
            <a:r>
              <a:rPr lang="en-US" altLang="zh-CN" dirty="0">
                <a:solidFill>
                  <a:srgbClr val="FF0000"/>
                </a:solidFill>
                <a:latin typeface="Arial" panose="020B0604020202020204" pitchFamily="34" charset="0"/>
                <a:ea typeface="楷体" panose="02010609060101010101" charset="-122"/>
                <a:cs typeface="Arial" panose="020B0604020202020204" pitchFamily="34" charset="0"/>
              </a:rPr>
              <a:t>’</a:t>
            </a:r>
            <a:r>
              <a:rPr lang="zh-CN" altLang="en-US" dirty="0">
                <a:latin typeface="Arial" panose="020B0604020202020204" pitchFamily="34" charset="0"/>
                <a:cs typeface="Arial" panose="020B0604020202020204" pitchFamily="34" charset="0"/>
                <a:sym typeface="+mn-ea"/>
              </a:rPr>
              <a:t>：从</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少量</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到</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大量</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海量</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，再到</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大数据</a:t>
            </a:r>
            <a:r>
              <a:rPr lang="en-US" altLang="zh-CN" dirty="0">
                <a:latin typeface="Arial" panose="020B0604020202020204" pitchFamily="34" charset="0"/>
                <a:cs typeface="Arial" panose="020B0604020202020204" pitchFamily="34" charset="0"/>
                <a:sym typeface="+mn-ea"/>
              </a:rPr>
              <a:t>’(Big Data)</a:t>
            </a:r>
            <a:endParaRPr lang="en-US" altLang="zh-CN" dirty="0">
              <a:solidFill>
                <a:srgbClr val="1F2DA8"/>
              </a:solidFill>
              <a:latin typeface="Arial" panose="020B0604020202020204" pitchFamily="34" charset="0"/>
              <a:ea typeface="楷体" panose="02010609060101010101" charset="-122"/>
              <a:cs typeface="Arial" panose="020B0604020202020204" pitchFamily="34" charset="0"/>
            </a:endParaRPr>
          </a:p>
        </p:txBody>
      </p:sp>
      <p:grpSp>
        <p:nvGrpSpPr>
          <p:cNvPr id="8198" name="组合 8197"/>
          <p:cNvGrpSpPr/>
          <p:nvPr/>
        </p:nvGrpSpPr>
        <p:grpSpPr>
          <a:xfrm>
            <a:off x="4155440" y="2565400"/>
            <a:ext cx="2546350" cy="1595438"/>
            <a:chOff x="0" y="0"/>
            <a:chExt cx="1604" cy="1005"/>
          </a:xfrm>
        </p:grpSpPr>
        <p:sp>
          <p:nvSpPr>
            <p:cNvPr id="9222" name="Rectangle 12"/>
            <p:cNvSpPr/>
            <p:nvPr/>
          </p:nvSpPr>
          <p:spPr>
            <a:xfrm>
              <a:off x="0" y="0"/>
              <a:ext cx="1152" cy="796"/>
            </a:xfrm>
            <a:prstGeom prst="rect">
              <a:avLst/>
            </a:prstGeom>
            <a:solidFill>
              <a:schemeClr val="bg1"/>
            </a:solidFill>
            <a:ln w="9525">
              <a:noFill/>
            </a:ln>
          </p:spPr>
          <p:txBody>
            <a:bodyPr wrap="none" anchor="ctr"/>
            <a:p>
              <a:pPr algn="ctr"/>
              <a:endParaRPr lang="zh-CN" altLang="en-US" sz="2800" dirty="0">
                <a:latin typeface="楷体" panose="02010609060101010101" charset="-122"/>
                <a:ea typeface="楷体" panose="02010609060101010101" charset="-122"/>
              </a:endParaRPr>
            </a:p>
          </p:txBody>
        </p:sp>
        <p:sp>
          <p:nvSpPr>
            <p:cNvPr id="9223" name="AutoShape 5"/>
            <p:cNvSpPr/>
            <p:nvPr/>
          </p:nvSpPr>
          <p:spPr>
            <a:xfrm>
              <a:off x="108" y="218"/>
              <a:ext cx="148" cy="676"/>
            </a:xfrm>
            <a:prstGeom prst="leftBrace">
              <a:avLst>
                <a:gd name="adj1" fmla="val 30264"/>
                <a:gd name="adj2" fmla="val 50000"/>
              </a:avLst>
            </a:prstGeom>
            <a:noFill/>
            <a:ln w="25400" cap="flat" cmpd="sng">
              <a:solidFill>
                <a:schemeClr val="tx1"/>
              </a:solidFill>
              <a:prstDash val="solid"/>
              <a:round/>
              <a:headEnd type="none" w="med" len="med"/>
              <a:tailEnd type="none" w="med" len="med"/>
            </a:ln>
          </p:spPr>
          <p:txBody>
            <a:bodyPr wrap="none" anchor="ctr"/>
            <a:p>
              <a:pPr algn="ctr"/>
              <a:endParaRPr lang="zh-CN" altLang="en-US" sz="2800" dirty="0">
                <a:latin typeface="楷体" panose="02010609060101010101" charset="-122"/>
                <a:ea typeface="楷体" panose="02010609060101010101" charset="-122"/>
              </a:endParaRPr>
            </a:p>
          </p:txBody>
        </p:sp>
        <p:sp>
          <p:nvSpPr>
            <p:cNvPr id="9224" name="Text Box 6"/>
            <p:cNvSpPr txBox="1"/>
            <p:nvPr/>
          </p:nvSpPr>
          <p:spPr>
            <a:xfrm>
              <a:off x="256" y="57"/>
              <a:ext cx="1348" cy="329"/>
            </a:xfrm>
            <a:prstGeom prst="rect">
              <a:avLst/>
            </a:prstGeom>
            <a:noFill/>
            <a:ln w="9525">
              <a:noFill/>
            </a:ln>
          </p:spPr>
          <p:txBody>
            <a:bodyPr wrap="square" anchor="t">
              <a:spAutoFit/>
            </a:bodyPr>
            <a:p>
              <a:r>
                <a:rPr lang="zh-CN" altLang="en-US" sz="2800" b="1" dirty="0">
                  <a:solidFill>
                    <a:srgbClr val="1F2DA8"/>
                  </a:solidFill>
                  <a:latin typeface="楷体" panose="02010609060101010101" charset="-122"/>
                  <a:ea typeface="楷体" panose="02010609060101010101" charset="-122"/>
                  <a:cs typeface="楷体" panose="02010609060101010101" charset="-122"/>
                </a:rPr>
                <a:t>型  </a:t>
              </a:r>
              <a:r>
                <a:rPr lang="en-US" altLang="zh-CN" sz="2800" b="1" dirty="0">
                  <a:solidFill>
                    <a:srgbClr val="1F2DA8"/>
                  </a:solidFill>
                  <a:latin typeface="楷体" panose="02010609060101010101" charset="-122"/>
                  <a:ea typeface="楷体" panose="02010609060101010101" charset="-122"/>
                  <a:cs typeface="楷体" panose="02010609060101010101" charset="-122"/>
                </a:rPr>
                <a:t>type</a:t>
              </a:r>
              <a:endParaRPr lang="en-US" altLang="zh-CN" sz="2800" b="1" dirty="0">
                <a:solidFill>
                  <a:srgbClr val="1F2DA8"/>
                </a:solidFill>
                <a:latin typeface="楷体" panose="02010609060101010101" charset="-122"/>
                <a:ea typeface="楷体" panose="02010609060101010101" charset="-122"/>
                <a:cs typeface="楷体" panose="02010609060101010101" charset="-122"/>
              </a:endParaRPr>
            </a:p>
          </p:txBody>
        </p:sp>
        <p:sp>
          <p:nvSpPr>
            <p:cNvPr id="9225" name="Text Box 7"/>
            <p:cNvSpPr txBox="1"/>
            <p:nvPr/>
          </p:nvSpPr>
          <p:spPr>
            <a:xfrm>
              <a:off x="265" y="676"/>
              <a:ext cx="1334" cy="329"/>
            </a:xfrm>
            <a:prstGeom prst="rect">
              <a:avLst/>
            </a:prstGeom>
            <a:noFill/>
            <a:ln w="9525">
              <a:noFill/>
            </a:ln>
          </p:spPr>
          <p:txBody>
            <a:bodyPr wrap="square" anchor="t">
              <a:spAutoFit/>
            </a:bodyPr>
            <a:p>
              <a:r>
                <a:rPr lang="zh-CN" altLang="en-US" sz="2800" b="1" dirty="0">
                  <a:solidFill>
                    <a:srgbClr val="1F2DA8"/>
                  </a:solidFill>
                  <a:latin typeface="楷体" panose="02010609060101010101" charset="-122"/>
                  <a:ea typeface="楷体" panose="02010609060101010101" charset="-122"/>
                  <a:cs typeface="楷体" panose="02010609060101010101" charset="-122"/>
                </a:rPr>
                <a:t>值 </a:t>
              </a:r>
              <a:r>
                <a:rPr lang="en-US" altLang="zh-CN" sz="2800" b="1" dirty="0">
                  <a:solidFill>
                    <a:srgbClr val="1F2DA8"/>
                  </a:solidFill>
                  <a:latin typeface="楷体" panose="02010609060101010101" charset="-122"/>
                  <a:ea typeface="楷体" panose="02010609060101010101" charset="-122"/>
                  <a:cs typeface="楷体" panose="02010609060101010101" charset="-122"/>
                </a:rPr>
                <a:t>value</a:t>
              </a:r>
              <a:endParaRPr lang="en-US" altLang="zh-CN" sz="2800" b="1" dirty="0">
                <a:solidFill>
                  <a:srgbClr val="1F2DA8"/>
                </a:solidFill>
                <a:latin typeface="楷体" panose="02010609060101010101" charset="-122"/>
                <a:ea typeface="楷体" panose="02010609060101010101" charset="-122"/>
                <a:cs typeface="楷体" panose="02010609060101010101" charset="-122"/>
              </a:endParaRPr>
            </a:p>
          </p:txBody>
        </p:sp>
      </p:grpSp>
      <p:grpSp>
        <p:nvGrpSpPr>
          <p:cNvPr id="8203" name="组合 8202"/>
          <p:cNvGrpSpPr/>
          <p:nvPr/>
        </p:nvGrpSpPr>
        <p:grpSpPr>
          <a:xfrm>
            <a:off x="6409690" y="2268855"/>
            <a:ext cx="3937000" cy="1384301"/>
            <a:chOff x="80" y="0"/>
            <a:chExt cx="2480" cy="872"/>
          </a:xfrm>
        </p:grpSpPr>
        <p:sp>
          <p:nvSpPr>
            <p:cNvPr id="9227" name="Text Box 8"/>
            <p:cNvSpPr txBox="1"/>
            <p:nvPr/>
          </p:nvSpPr>
          <p:spPr>
            <a:xfrm>
              <a:off x="200" y="0"/>
              <a:ext cx="2360" cy="872"/>
            </a:xfrm>
            <a:prstGeom prst="rect">
              <a:avLst/>
            </a:prstGeom>
            <a:solidFill>
              <a:schemeClr val="bg1"/>
            </a:solidFill>
            <a:ln w="9525">
              <a:noFill/>
            </a:ln>
          </p:spPr>
          <p:txBody>
            <a:bodyPr wrap="square" anchor="t">
              <a:spAutoFit/>
            </a:bodyPr>
            <a:p>
              <a:r>
                <a:rPr lang="zh-CN" altLang="en-US" sz="2800" b="1" dirty="0">
                  <a:solidFill>
                    <a:srgbClr val="1F2DA8"/>
                  </a:solidFill>
                  <a:latin typeface="楷体" panose="02010609060101010101" charset="-122"/>
                  <a:ea typeface="楷体" panose="02010609060101010101" charset="-122"/>
                  <a:cs typeface="楷体" panose="02010609060101010101" charset="-122"/>
                </a:rPr>
                <a:t>数据类型 </a:t>
              </a:r>
              <a:r>
                <a:rPr lang="en-US" altLang="zh-CN" sz="2800" b="1" dirty="0">
                  <a:solidFill>
                    <a:srgbClr val="1F2DA8"/>
                  </a:solidFill>
                  <a:latin typeface="楷体" panose="02010609060101010101" charset="-122"/>
                  <a:ea typeface="楷体" panose="02010609060101010101" charset="-122"/>
                  <a:cs typeface="楷体" panose="02010609060101010101" charset="-122"/>
                </a:rPr>
                <a:t>type</a:t>
              </a:r>
              <a:endParaRPr lang="en-US" altLang="zh-CN" sz="2800" b="1" dirty="0">
                <a:solidFill>
                  <a:srgbClr val="1F2DA8"/>
                </a:solidFill>
                <a:latin typeface="楷体" panose="02010609060101010101" charset="-122"/>
                <a:ea typeface="楷体" panose="02010609060101010101" charset="-122"/>
                <a:cs typeface="楷体" panose="02010609060101010101" charset="-122"/>
              </a:endParaRPr>
            </a:p>
            <a:p>
              <a:r>
                <a:rPr lang="zh-CN" altLang="en-US" sz="2800" b="1" dirty="0">
                  <a:solidFill>
                    <a:srgbClr val="1F2DA8"/>
                  </a:solidFill>
                  <a:latin typeface="楷体" panose="02010609060101010101" charset="-122"/>
                  <a:ea typeface="楷体" panose="02010609060101010101" charset="-122"/>
                  <a:cs typeface="楷体" panose="02010609060101010101" charset="-122"/>
                </a:rPr>
                <a:t>数据结构 </a:t>
              </a:r>
              <a:r>
                <a:rPr lang="en-US" altLang="zh-CN" sz="2800" b="1" dirty="0">
                  <a:solidFill>
                    <a:srgbClr val="1F2DA8"/>
                  </a:solidFill>
                  <a:latin typeface="楷体" panose="02010609060101010101" charset="-122"/>
                  <a:ea typeface="楷体" panose="02010609060101010101" charset="-122"/>
                  <a:cs typeface="楷体" panose="02010609060101010101" charset="-122"/>
                </a:rPr>
                <a:t>structure</a:t>
              </a:r>
              <a:endParaRPr lang="en-US" altLang="zh-CN" sz="2800" b="1" dirty="0">
                <a:solidFill>
                  <a:srgbClr val="1F2DA8"/>
                </a:solidFill>
                <a:latin typeface="楷体" panose="02010609060101010101" charset="-122"/>
                <a:ea typeface="楷体" panose="02010609060101010101" charset="-122"/>
                <a:cs typeface="楷体" panose="02010609060101010101" charset="-122"/>
              </a:endParaRPr>
            </a:p>
            <a:p>
              <a:r>
                <a:rPr lang="zh-CN" altLang="en-US" sz="2800" b="1" dirty="0">
                  <a:solidFill>
                    <a:srgbClr val="1F2DA8"/>
                  </a:solidFill>
                  <a:latin typeface="楷体" panose="02010609060101010101" charset="-122"/>
                  <a:ea typeface="楷体" panose="02010609060101010101" charset="-122"/>
                  <a:cs typeface="楷体" panose="02010609060101010101" charset="-122"/>
                </a:rPr>
                <a:t>数据模式 </a:t>
              </a:r>
              <a:r>
                <a:rPr lang="en-US" altLang="zh-CN" sz="2800" b="1" dirty="0">
                  <a:solidFill>
                    <a:srgbClr val="1F2DA8"/>
                  </a:solidFill>
                  <a:latin typeface="楷体" panose="02010609060101010101" charset="-122"/>
                  <a:ea typeface="楷体" panose="02010609060101010101" charset="-122"/>
                  <a:cs typeface="楷体" panose="02010609060101010101" charset="-122"/>
                </a:rPr>
                <a:t>schema</a:t>
              </a:r>
              <a:endParaRPr lang="en-US" altLang="zh-CN" sz="2800" b="1" dirty="0">
                <a:solidFill>
                  <a:srgbClr val="1F2DA8"/>
                </a:solidFill>
                <a:latin typeface="楷体" panose="02010609060101010101" charset="-122"/>
                <a:ea typeface="楷体" panose="02010609060101010101" charset="-122"/>
                <a:cs typeface="楷体" panose="02010609060101010101" charset="-122"/>
              </a:endParaRPr>
            </a:p>
          </p:txBody>
        </p:sp>
        <p:sp>
          <p:nvSpPr>
            <p:cNvPr id="9228" name="AutoShape 9"/>
            <p:cNvSpPr/>
            <p:nvPr/>
          </p:nvSpPr>
          <p:spPr>
            <a:xfrm>
              <a:off x="80" y="102"/>
              <a:ext cx="120" cy="660"/>
            </a:xfrm>
            <a:prstGeom prst="leftBrace">
              <a:avLst>
                <a:gd name="adj1" fmla="val 21145"/>
                <a:gd name="adj2" fmla="val 50000"/>
              </a:avLst>
            </a:prstGeom>
            <a:solidFill>
              <a:schemeClr val="bg1"/>
            </a:solidFill>
            <a:ln w="25400" cap="flat" cmpd="sng">
              <a:solidFill>
                <a:schemeClr val="tx1"/>
              </a:solidFill>
              <a:prstDash val="solid"/>
              <a:round/>
              <a:headEnd type="none" w="med" len="med"/>
              <a:tailEnd type="none" w="med" len="med"/>
            </a:ln>
          </p:spPr>
          <p:txBody>
            <a:bodyPr wrap="none" anchor="ctr"/>
            <a:p>
              <a:pPr algn="ctr"/>
              <a:endParaRPr lang="zh-CN" altLang="en-US" sz="2800" dirty="0">
                <a:solidFill>
                  <a:srgbClr val="1F2DA8"/>
                </a:solidFill>
                <a:latin typeface="楷体" panose="02010609060101010101" charset="-122"/>
                <a:ea typeface="楷体" panose="02010609060101010101" charset="-122"/>
              </a:endParaRPr>
            </a:p>
          </p:txBody>
        </p:sp>
      </p:gr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0">
                                            <p:txEl>
                                              <p:pRg st="3" end="3"/>
                                            </p:txEl>
                                          </p:spTgt>
                                        </p:tgtEl>
                                        <p:attrNameLst>
                                          <p:attrName>style.visibility</p:attrName>
                                        </p:attrNameLst>
                                      </p:cBhvr>
                                      <p:to>
                                        <p:strVal val="visible"/>
                                      </p:to>
                                    </p:set>
                                    <p:anim calcmode="lin" valueType="num">
                                      <p:cBhvr additive="base">
                                        <p:cTn id="7" dur="500" fill="hold"/>
                                        <p:tgtEl>
                                          <p:spTgt spid="922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198"/>
                                        </p:tgtEl>
                                        <p:attrNameLst>
                                          <p:attrName>style.visibility</p:attrName>
                                        </p:attrNameLst>
                                      </p:cBhvr>
                                      <p:to>
                                        <p:strVal val="visible"/>
                                      </p:to>
                                    </p:set>
                                    <p:anim calcmode="lin" valueType="num">
                                      <p:cBhvr>
                                        <p:cTn id="13" dur="500" fill="hold"/>
                                        <p:tgtEl>
                                          <p:spTgt spid="8198"/>
                                        </p:tgtEl>
                                        <p:attrNameLst>
                                          <p:attrName>ppt_x</p:attrName>
                                        </p:attrNameLst>
                                      </p:cBhvr>
                                      <p:tavLst>
                                        <p:tav tm="0">
                                          <p:val>
                                            <p:strVal val="1+#ppt_w/2"/>
                                          </p:val>
                                        </p:tav>
                                        <p:tav tm="100000">
                                          <p:val>
                                            <p:strVal val="#ppt_x"/>
                                          </p:val>
                                        </p:tav>
                                      </p:tavLst>
                                    </p:anim>
                                    <p:anim calcmode="lin" valueType="num">
                                      <p:cBhvr>
                                        <p:cTn id="14" dur="500" fill="hold"/>
                                        <p:tgtEl>
                                          <p:spTgt spid="819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203"/>
                                        </p:tgtEl>
                                        <p:attrNameLst>
                                          <p:attrName>style.visibility</p:attrName>
                                        </p:attrNameLst>
                                      </p:cBhvr>
                                      <p:to>
                                        <p:strVal val="visible"/>
                                      </p:to>
                                    </p:set>
                                    <p:anim calcmode="lin" valueType="num">
                                      <p:cBhvr>
                                        <p:cTn id="19" dur="500" fill="hold"/>
                                        <p:tgtEl>
                                          <p:spTgt spid="8203"/>
                                        </p:tgtEl>
                                        <p:attrNameLst>
                                          <p:attrName>ppt_x</p:attrName>
                                        </p:attrNameLst>
                                      </p:cBhvr>
                                      <p:tavLst>
                                        <p:tav tm="0">
                                          <p:val>
                                            <p:strVal val="1+#ppt_w/2"/>
                                          </p:val>
                                        </p:tav>
                                        <p:tav tm="100000">
                                          <p:val>
                                            <p:strVal val="#ppt_x"/>
                                          </p:val>
                                        </p:tav>
                                      </p:tavLst>
                                    </p:anim>
                                    <p:anim calcmode="lin" valueType="num">
                                      <p:cBhvr>
                                        <p:cTn id="20" dur="500" fill="hold"/>
                                        <p:tgtEl>
                                          <p:spTgt spid="820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220">
                                            <p:txEl>
                                              <p:pRg st="5" end="5"/>
                                            </p:txEl>
                                          </p:spTgt>
                                        </p:tgtEl>
                                        <p:attrNameLst>
                                          <p:attrName>style.visibility</p:attrName>
                                        </p:attrNameLst>
                                      </p:cBhvr>
                                      <p:to>
                                        <p:strVal val="visible"/>
                                      </p:to>
                                    </p:set>
                                    <p:anim calcmode="lin" valueType="num">
                                      <p:cBhvr additive="base">
                                        <p:cTn id="25" dur="500" fill="hold"/>
                                        <p:tgtEl>
                                          <p:spTgt spid="9220">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2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anim calcmode="lin" valueType="num">
                                      <p:cBhvr additive="base">
                                        <p:cTn id="31" dur="500" fill="hold"/>
                                        <p:tgtEl>
                                          <p:spTgt spid="9220">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2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220">
                                            <p:txEl>
                                              <p:pRg st="7" end="7"/>
                                            </p:txEl>
                                          </p:spTgt>
                                        </p:tgtEl>
                                        <p:attrNameLst>
                                          <p:attrName>style.visibility</p:attrName>
                                        </p:attrNameLst>
                                      </p:cBhvr>
                                      <p:to>
                                        <p:strVal val="visible"/>
                                      </p:to>
                                    </p:set>
                                    <p:anim calcmode="lin" valueType="num">
                                      <p:cBhvr additive="base">
                                        <p:cTn id="37" dur="500" fill="hold"/>
                                        <p:tgtEl>
                                          <p:spTgt spid="9220">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22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10244" name="Rectangle 3"/>
          <p:cNvSpPr>
            <a:spLocks noGrp="1"/>
          </p:cNvSpPr>
          <p:nvPr>
            <p:ph idx="1"/>
          </p:nvPr>
        </p:nvSpPr>
        <p:spPr/>
        <p:txBody>
          <a:bodyPr wrap="square" anchor="t"/>
          <a:p>
            <a:pPr eaLnBrk="1" hangingPunct="1">
              <a:lnSpc>
                <a:spcPct val="120000"/>
              </a:lnSpc>
              <a:spcBef>
                <a:spcPts val="1000"/>
              </a:spcBef>
            </a:pPr>
            <a:r>
              <a:rPr lang="zh-CN" altLang="en-US" dirty="0">
                <a:latin typeface="楷体" panose="02010609060101010101" charset="-122"/>
                <a:ea typeface="楷体" panose="02010609060101010101" charset="-122"/>
                <a:cs typeface="楷体" panose="02010609060101010101" charset="-122"/>
              </a:rPr>
              <a:t>数据特性的变化</a:t>
            </a:r>
            <a:r>
              <a:rPr lang="zh-CN" altLang="en-US" dirty="0">
                <a:latin typeface="楷体" panose="02010609060101010101" charset="-122"/>
                <a:ea typeface="楷体" panose="02010609060101010101" charset="-122"/>
                <a:cs typeface="楷体" panose="02010609060101010101" charset="-122"/>
              </a:rPr>
              <a:t>趋势</a:t>
            </a:r>
            <a:endParaRPr lang="zh-CN" altLang="en-US" dirty="0">
              <a:latin typeface="楷体" panose="02010609060101010101" charset="-122"/>
              <a:ea typeface="楷体" panose="02010609060101010101" charset="-122"/>
              <a:cs typeface="楷体" panose="02010609060101010101" charset="-122"/>
            </a:endParaRP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1) </a:t>
            </a:r>
            <a:r>
              <a:rPr lang="zh-CN" altLang="en-US" dirty="0">
                <a:solidFill>
                  <a:srgbClr val="FF0000"/>
                </a:solidFill>
                <a:latin typeface="楷体" panose="02010609060101010101" charset="-122"/>
                <a:ea typeface="楷体" panose="02010609060101010101" charset="-122"/>
                <a:cs typeface="楷体" panose="02010609060101010101" charset="-122"/>
              </a:rPr>
              <a:t>数据的量</a:t>
            </a:r>
            <a:r>
              <a:rPr lang="zh-CN" altLang="en-US" dirty="0">
                <a:latin typeface="楷体" panose="02010609060101010101" charset="-122"/>
                <a:ea typeface="楷体" panose="02010609060101010101" charset="-122"/>
                <a:cs typeface="楷体" panose="02010609060101010101" charset="-122"/>
              </a:rPr>
              <a:t>：少量     大量     海量      </a:t>
            </a:r>
            <a:r>
              <a:rPr lang="zh-CN" altLang="en-US" dirty="0">
                <a:latin typeface="楷体" panose="02010609060101010101" charset="-122"/>
                <a:ea typeface="楷体" panose="02010609060101010101" charset="-122"/>
                <a:cs typeface="楷体" panose="02010609060101010101" charset="-122"/>
              </a:rPr>
              <a:t>大数据 (Big Data)</a:t>
            </a:r>
            <a:endParaRPr lang="zh-CN" altLang="en-US" dirty="0">
              <a:latin typeface="楷体" panose="02010609060101010101" charset="-122"/>
              <a:ea typeface="楷体" panose="02010609060101010101" charset="-122"/>
              <a:cs typeface="楷体" panose="02010609060101010101" charset="-122"/>
            </a:endParaRP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2) </a:t>
            </a:r>
            <a:r>
              <a:rPr lang="zh-CN" altLang="en-US" dirty="0">
                <a:solidFill>
                  <a:srgbClr val="FF0000"/>
                </a:solidFill>
                <a:latin typeface="楷体" panose="02010609060101010101" charset="-122"/>
                <a:ea typeface="楷体" panose="02010609060101010101" charset="-122"/>
                <a:cs typeface="楷体" panose="02010609060101010101" charset="-122"/>
              </a:rPr>
              <a:t>数据的结构</a:t>
            </a:r>
            <a:r>
              <a:rPr lang="zh-CN" altLang="en-US" dirty="0">
                <a:latin typeface="楷体" panose="02010609060101010101" charset="-122"/>
                <a:ea typeface="楷体" panose="02010609060101010101" charset="-122"/>
                <a:cs typeface="楷体" panose="02010609060101010101" charset="-122"/>
              </a:rPr>
              <a:t>：简单      复杂      无结构</a:t>
            </a:r>
            <a:endParaRPr lang="zh-CN" altLang="en-US" dirty="0">
              <a:latin typeface="楷体" panose="02010609060101010101" charset="-122"/>
              <a:ea typeface="楷体" panose="02010609060101010101" charset="-122"/>
              <a:cs typeface="楷体" panose="02010609060101010101" charset="-122"/>
            </a:endParaRP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3) </a:t>
            </a:r>
            <a:r>
              <a:rPr lang="zh-CN" altLang="en-US" dirty="0">
                <a:solidFill>
                  <a:srgbClr val="FF0000"/>
                </a:solidFill>
                <a:latin typeface="楷体" panose="02010609060101010101" charset="-122"/>
                <a:ea typeface="楷体" panose="02010609060101010101" charset="-122"/>
                <a:cs typeface="楷体" panose="02010609060101010101" charset="-122"/>
              </a:rPr>
              <a:t>数据的服务范围</a:t>
            </a:r>
            <a:r>
              <a:rPr lang="zh-CN" altLang="en-US" dirty="0">
                <a:latin typeface="楷体" panose="02010609060101010101" charset="-122"/>
                <a:ea typeface="楷体" panose="02010609060101010101" charset="-122"/>
                <a:cs typeface="楷体" panose="02010609060101010101" charset="-122"/>
              </a:rPr>
              <a:t>：私有       共享</a:t>
            </a:r>
            <a:endParaRPr lang="zh-CN" altLang="en-US" dirty="0">
              <a:latin typeface="楷体" panose="02010609060101010101" charset="-122"/>
              <a:ea typeface="楷体" panose="02010609060101010101" charset="-122"/>
              <a:cs typeface="楷体" panose="02010609060101010101" charset="-122"/>
            </a:endParaRPr>
          </a:p>
          <a:p>
            <a:pPr marL="914400" lvl="1" indent="-457200" eaLnBrk="1" hangingPunct="1">
              <a:lnSpc>
                <a:spcPct val="120000"/>
              </a:lnSpc>
              <a:spcBef>
                <a:spcPts val="2000"/>
              </a:spcBef>
              <a:buNone/>
            </a:pPr>
            <a:r>
              <a:rPr lang="en-US" altLang="zh-CN" dirty="0">
                <a:latin typeface="楷体" panose="02010609060101010101" charset="-122"/>
                <a:ea typeface="楷体" panose="02010609060101010101" charset="-122"/>
                <a:cs typeface="楷体" panose="02010609060101010101" charset="-122"/>
              </a:rPr>
              <a:t>4) </a:t>
            </a:r>
            <a:r>
              <a:rPr lang="zh-CN" altLang="en-US" dirty="0">
                <a:solidFill>
                  <a:srgbClr val="FF0000"/>
                </a:solidFill>
                <a:latin typeface="楷体" panose="02010609060101010101" charset="-122"/>
                <a:ea typeface="楷体" panose="02010609060101010101" charset="-122"/>
                <a:cs typeface="楷体" panose="02010609060101010101" charset="-122"/>
              </a:rPr>
              <a:t>数据在软件中的地位</a:t>
            </a:r>
            <a:endParaRPr lang="zh-CN" altLang="en-US" dirty="0">
              <a:solidFill>
                <a:srgbClr val="FF0000"/>
              </a:solidFill>
              <a:latin typeface="楷体" panose="02010609060101010101" charset="-122"/>
              <a:ea typeface="楷体" panose="02010609060101010101" charset="-122"/>
              <a:cs typeface="楷体" panose="02010609060101010101" charset="-122"/>
            </a:endParaRPr>
          </a:p>
        </p:txBody>
      </p:sp>
      <p:grpSp>
        <p:nvGrpSpPr>
          <p:cNvPr id="10245" name="组合 9221"/>
          <p:cNvGrpSpPr/>
          <p:nvPr/>
        </p:nvGrpSpPr>
        <p:grpSpPr>
          <a:xfrm>
            <a:off x="2102803" y="4451985"/>
            <a:ext cx="7245350" cy="952501"/>
            <a:chOff x="-341" y="0"/>
            <a:chExt cx="4564" cy="600"/>
          </a:xfrm>
        </p:grpSpPr>
        <p:sp>
          <p:nvSpPr>
            <p:cNvPr id="10246" name="Text Box 4"/>
            <p:cNvSpPr txBox="1"/>
            <p:nvPr/>
          </p:nvSpPr>
          <p:spPr>
            <a:xfrm>
              <a:off x="-341" y="0"/>
              <a:ext cx="1973" cy="600"/>
            </a:xfrm>
            <a:prstGeom prst="rect">
              <a:avLst/>
            </a:prstGeom>
            <a:solidFill>
              <a:srgbClr val="CCFFFF"/>
            </a:solidFill>
            <a:ln w="9525" cap="flat" cmpd="sng">
              <a:solidFill>
                <a:schemeClr val="tx1"/>
              </a:solidFill>
              <a:prstDash val="solid"/>
              <a:miter/>
              <a:headEnd type="none" w="med" len="med"/>
              <a:tailEnd type="none" w="med" len="med"/>
            </a:ln>
          </p:spPr>
          <p:txBody>
            <a:bodyPr wrap="square" anchor="t">
              <a:spAutoFit/>
            </a:bodyPr>
            <a:p>
              <a:pPr algn="ctr"/>
              <a:r>
                <a:rPr lang="zh-CN" altLang="en-US" sz="2800" b="1" dirty="0">
                  <a:solidFill>
                    <a:srgbClr val="1F2DA8"/>
                  </a:solidFill>
                  <a:latin typeface="楷体" panose="02010609060101010101" charset="-122"/>
                  <a:ea typeface="楷体" panose="02010609060101010101" charset="-122"/>
                  <a:cs typeface="楷体" panose="02010609060101010101" charset="-122"/>
                </a:rPr>
                <a:t>附 属 地 位</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algn="ctr"/>
              <a:r>
                <a:rPr lang="zh-CN" altLang="en-US" sz="2800" b="1" dirty="0">
                  <a:latin typeface="楷体" panose="02010609060101010101" charset="-122"/>
                  <a:ea typeface="楷体" panose="02010609060101010101" charset="-122"/>
                  <a:cs typeface="楷体" panose="02010609060101010101" charset="-122"/>
                </a:rPr>
                <a:t>（以程序为主体）</a:t>
              </a:r>
              <a:endParaRPr lang="zh-CN" altLang="en-US" sz="2800" b="1" dirty="0">
                <a:latin typeface="楷体" panose="02010609060101010101" charset="-122"/>
                <a:ea typeface="楷体" panose="02010609060101010101" charset="-122"/>
                <a:cs typeface="楷体" panose="02010609060101010101" charset="-122"/>
              </a:endParaRPr>
            </a:p>
          </p:txBody>
        </p:sp>
        <p:sp>
          <p:nvSpPr>
            <p:cNvPr id="10247" name="Text Box 5"/>
            <p:cNvSpPr txBox="1"/>
            <p:nvPr/>
          </p:nvSpPr>
          <p:spPr>
            <a:xfrm>
              <a:off x="2304" y="0"/>
              <a:ext cx="1919" cy="600"/>
            </a:xfrm>
            <a:prstGeom prst="rect">
              <a:avLst/>
            </a:prstGeom>
            <a:solidFill>
              <a:srgbClr val="CCFFFF"/>
            </a:solidFill>
            <a:ln w="9525" cap="flat" cmpd="sng">
              <a:solidFill>
                <a:schemeClr val="tx1"/>
              </a:solidFill>
              <a:prstDash val="solid"/>
              <a:miter/>
              <a:headEnd type="none" w="med" len="med"/>
              <a:tailEnd type="none" w="med" len="med"/>
            </a:ln>
          </p:spPr>
          <p:txBody>
            <a:bodyPr wrap="square" anchor="t">
              <a:spAutoFit/>
            </a:bodyPr>
            <a:p>
              <a:pPr algn="ctr"/>
              <a:r>
                <a:rPr lang="zh-CN" altLang="en-US" sz="2800" b="1" dirty="0">
                  <a:solidFill>
                    <a:srgbClr val="1F2DA8"/>
                  </a:solidFill>
                  <a:latin typeface="楷体" panose="02010609060101010101" charset="-122"/>
                  <a:ea typeface="楷体" panose="02010609060101010101" charset="-122"/>
                  <a:cs typeface="楷体" panose="02010609060101010101" charset="-122"/>
                </a:rPr>
                <a:t>主</a:t>
              </a:r>
              <a:r>
                <a:rPr lang="en-US" altLang="zh-CN" sz="2800" b="1" dirty="0">
                  <a:solidFill>
                    <a:srgbClr val="1F2DA8"/>
                  </a:solidFill>
                  <a:latin typeface="楷体" panose="02010609060101010101" charset="-122"/>
                  <a:ea typeface="楷体" panose="02010609060101010101" charset="-122"/>
                  <a:cs typeface="楷体" panose="02010609060101010101" charset="-122"/>
                </a:rPr>
                <a:t> </a:t>
              </a:r>
              <a:r>
                <a:rPr lang="zh-CN" altLang="en-US" sz="2800" b="1" dirty="0">
                  <a:solidFill>
                    <a:srgbClr val="1F2DA8"/>
                  </a:solidFill>
                  <a:latin typeface="楷体" panose="02010609060101010101" charset="-122"/>
                  <a:ea typeface="楷体" panose="02010609060101010101" charset="-122"/>
                  <a:cs typeface="楷体" panose="02010609060101010101" charset="-122"/>
                </a:rPr>
                <a:t>导 地 位</a:t>
              </a:r>
              <a:endParaRPr lang="zh-CN" altLang="en-US" sz="2800" b="1" dirty="0">
                <a:solidFill>
                  <a:schemeClr val="accent2"/>
                </a:solidFill>
                <a:latin typeface="楷体" panose="02010609060101010101" charset="-122"/>
                <a:ea typeface="楷体" panose="02010609060101010101" charset="-122"/>
                <a:cs typeface="楷体" panose="02010609060101010101" charset="-122"/>
              </a:endParaRPr>
            </a:p>
            <a:p>
              <a:pPr algn="ctr"/>
              <a:r>
                <a:rPr lang="zh-CN" altLang="en-US" sz="2800" b="1" dirty="0">
                  <a:latin typeface="楷体" panose="02010609060101010101" charset="-122"/>
                  <a:ea typeface="楷体" panose="02010609060101010101" charset="-122"/>
                  <a:cs typeface="楷体" panose="02010609060101010101" charset="-122"/>
                </a:rPr>
                <a:t>（以数据为中心）</a:t>
              </a:r>
              <a:endParaRPr lang="zh-CN" altLang="en-US" sz="2800" b="1" dirty="0">
                <a:latin typeface="楷体" panose="02010609060101010101" charset="-122"/>
                <a:ea typeface="楷体" panose="02010609060101010101" charset="-122"/>
                <a:cs typeface="楷体" panose="02010609060101010101" charset="-122"/>
              </a:endParaRPr>
            </a:p>
          </p:txBody>
        </p:sp>
        <p:sp>
          <p:nvSpPr>
            <p:cNvPr id="10248" name="Line 6"/>
            <p:cNvSpPr/>
            <p:nvPr/>
          </p:nvSpPr>
          <p:spPr>
            <a:xfrm>
              <a:off x="1824" y="288"/>
              <a:ext cx="288" cy="0"/>
            </a:xfrm>
            <a:prstGeom prst="line">
              <a:avLst/>
            </a:prstGeom>
            <a:ln w="38100" cap="flat" cmpd="dbl">
              <a:solidFill>
                <a:srgbClr val="1F2DA8"/>
              </a:solidFill>
              <a:prstDash val="solid"/>
              <a:round/>
              <a:headEnd type="none" w="med" len="med"/>
              <a:tailEnd type="arrow" w="sm" len="med"/>
            </a:ln>
          </p:spPr>
        </p:sp>
      </p:grpSp>
      <p:sp>
        <p:nvSpPr>
          <p:cNvPr id="10249" name="Line 7"/>
          <p:cNvSpPr/>
          <p:nvPr/>
        </p:nvSpPr>
        <p:spPr>
          <a:xfrm>
            <a:off x="4197350" y="1808480"/>
            <a:ext cx="457200" cy="0"/>
          </a:xfrm>
          <a:prstGeom prst="line">
            <a:avLst/>
          </a:prstGeom>
          <a:ln w="38100" cap="flat" cmpd="dbl">
            <a:solidFill>
              <a:srgbClr val="1F2DA8"/>
            </a:solidFill>
            <a:prstDash val="solid"/>
            <a:round/>
            <a:headEnd type="none" w="med" len="med"/>
            <a:tailEnd type="arrow" w="sm" len="med"/>
          </a:ln>
        </p:spPr>
      </p:sp>
      <p:sp>
        <p:nvSpPr>
          <p:cNvPr id="10250" name="Line 8"/>
          <p:cNvSpPr/>
          <p:nvPr/>
        </p:nvSpPr>
        <p:spPr>
          <a:xfrm>
            <a:off x="4675505" y="2585720"/>
            <a:ext cx="457200" cy="0"/>
          </a:xfrm>
          <a:prstGeom prst="line">
            <a:avLst/>
          </a:prstGeom>
          <a:ln w="38100" cap="flat" cmpd="dbl">
            <a:solidFill>
              <a:srgbClr val="1F2DA8"/>
            </a:solidFill>
            <a:prstDash val="solid"/>
            <a:round/>
            <a:headEnd type="none" w="med" len="med"/>
            <a:tailEnd type="arrow" w="sm" len="med"/>
          </a:ln>
        </p:spPr>
      </p:sp>
      <p:sp>
        <p:nvSpPr>
          <p:cNvPr id="10251" name="Line 9"/>
          <p:cNvSpPr/>
          <p:nvPr/>
        </p:nvSpPr>
        <p:spPr>
          <a:xfrm>
            <a:off x="5746115" y="1808480"/>
            <a:ext cx="457200" cy="0"/>
          </a:xfrm>
          <a:prstGeom prst="line">
            <a:avLst/>
          </a:prstGeom>
          <a:ln w="38100" cap="flat" cmpd="dbl">
            <a:solidFill>
              <a:srgbClr val="1F2DA8"/>
            </a:solidFill>
            <a:prstDash val="solid"/>
            <a:round/>
            <a:headEnd type="none" w="med" len="med"/>
            <a:tailEnd type="arrow" w="sm" len="med"/>
          </a:ln>
        </p:spPr>
      </p:sp>
      <p:sp>
        <p:nvSpPr>
          <p:cNvPr id="10252" name="Line 11"/>
          <p:cNvSpPr/>
          <p:nvPr/>
        </p:nvSpPr>
        <p:spPr>
          <a:xfrm>
            <a:off x="5456555" y="3358515"/>
            <a:ext cx="457200" cy="0"/>
          </a:xfrm>
          <a:prstGeom prst="line">
            <a:avLst/>
          </a:prstGeom>
          <a:ln w="38100" cap="flat" cmpd="dbl">
            <a:solidFill>
              <a:srgbClr val="1F2DA8"/>
            </a:solidFill>
            <a:prstDash val="solid"/>
            <a:round/>
            <a:headEnd type="none" w="med" len="med"/>
            <a:tailEnd type="arrow" w="sm" len="med"/>
          </a:ln>
        </p:spPr>
      </p:sp>
      <p:sp>
        <p:nvSpPr>
          <p:cNvPr id="10253" name="Line 9"/>
          <p:cNvSpPr/>
          <p:nvPr/>
        </p:nvSpPr>
        <p:spPr>
          <a:xfrm>
            <a:off x="7455535" y="1808480"/>
            <a:ext cx="457200" cy="0"/>
          </a:xfrm>
          <a:prstGeom prst="line">
            <a:avLst/>
          </a:prstGeom>
          <a:ln w="38100" cap="flat" cmpd="dbl">
            <a:solidFill>
              <a:srgbClr val="1F2DA8"/>
            </a:solidFill>
            <a:prstDash val="solid"/>
            <a:round/>
            <a:headEnd type="none" w="med" len="med"/>
            <a:tailEnd type="arrow" w="sm" len="med"/>
          </a:ln>
        </p:spPr>
      </p:sp>
      <p:sp>
        <p:nvSpPr>
          <p:cNvPr id="10254" name="Line 8"/>
          <p:cNvSpPr/>
          <p:nvPr/>
        </p:nvSpPr>
        <p:spPr>
          <a:xfrm>
            <a:off x="6362383" y="2601595"/>
            <a:ext cx="457200" cy="0"/>
          </a:xfrm>
          <a:prstGeom prst="line">
            <a:avLst/>
          </a:prstGeom>
          <a:ln w="38100" cap="flat" cmpd="dbl">
            <a:solidFill>
              <a:srgbClr val="1F2DA8"/>
            </a:solidFill>
            <a:prstDash val="solid"/>
            <a:round/>
            <a:headEnd type="none" w="med" len="med"/>
            <a:tailEnd type="arrow" w="sm" len="med"/>
          </a:ln>
        </p:spPr>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custDataLst>
              <p:tags r:id="rId1"/>
            </p:custDataLst>
          </p:nvPr>
        </p:nvPicPr>
        <p:blipFill>
          <a:blip r:embed="rId2"/>
          <a:stretch>
            <a:fillRect/>
          </a:stretch>
        </p:blipFill>
        <p:spPr>
          <a:xfrm>
            <a:off x="3262630" y="3365500"/>
            <a:ext cx="5666105" cy="3169285"/>
          </a:xfrm>
          <a:prstGeom prst="rect">
            <a:avLst/>
          </a:prstGeom>
        </p:spPr>
      </p:pic>
      <p:sp>
        <p:nvSpPr>
          <p:cNvPr id="11267"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11268" name="Rectangle 3"/>
          <p:cNvSpPr>
            <a:spLocks noGrp="1"/>
          </p:cNvSpPr>
          <p:nvPr>
            <p:ph idx="1"/>
          </p:nvPr>
        </p:nvSpPr>
        <p:spPr>
          <a:xfrm>
            <a:off x="424180" y="615950"/>
            <a:ext cx="11343005" cy="2588895"/>
          </a:xfrm>
        </p:spPr>
        <p:txBody>
          <a:bodyPr wrap="square" anchor="t">
            <a:spAutoFit/>
          </a:bodyPr>
          <a:p>
            <a:pPr fontAlgn="auto">
              <a:spcBef>
                <a:spcPts val="1000"/>
              </a:spcBef>
            </a:pPr>
            <a:r>
              <a:rPr lang="zh-CN" altLang="en-US">
                <a:latin typeface="Times New Roman" panose="02020603050405020304" pitchFamily="2" charset="0"/>
                <a:ea typeface="楷体" panose="02010609060101010101" charset="-122"/>
                <a:cs typeface="Times New Roman" panose="02020603050405020304" pitchFamily="2" charset="0"/>
              </a:rPr>
              <a:t>传统的以程序为中心的数据管理方式已经无法适应上述数据特性的</a:t>
            </a:r>
            <a:r>
              <a:rPr lang="en-US" altLang="zh-CN">
                <a:latin typeface="Arial" panose="020B0604020202020204" pitchFamily="34" charset="0"/>
                <a:ea typeface="楷体" panose="02010609060101010101" charset="-122"/>
                <a:cs typeface="Arial" panose="020B0604020202020204" pitchFamily="34" charset="0"/>
              </a:rPr>
              <a:t>‘</a:t>
            </a:r>
            <a:r>
              <a:rPr lang="zh-CN" altLang="en-US">
                <a:latin typeface="Arial" panose="020B0604020202020204" pitchFamily="34" charset="0"/>
                <a:ea typeface="楷体" panose="02010609060101010101" charset="-122"/>
                <a:cs typeface="Arial" panose="020B0604020202020204" pitchFamily="34" charset="0"/>
              </a:rPr>
              <a:t>变化</a:t>
            </a:r>
            <a:r>
              <a:rPr lang="en-US" altLang="zh-CN">
                <a:latin typeface="Arial" panose="020B0604020202020204" pitchFamily="34" charset="0"/>
                <a:ea typeface="楷体" panose="02010609060101010101" charset="-122"/>
                <a:cs typeface="Arial" panose="020B0604020202020204" pitchFamily="34" charset="0"/>
              </a:rPr>
              <a:t>’</a:t>
            </a:r>
            <a:r>
              <a:rPr lang="zh-CN" altLang="en-US">
                <a:latin typeface="Times New Roman" panose="02020603050405020304" pitchFamily="2" charset="0"/>
                <a:ea typeface="楷体" panose="02010609060101010101" charset="-122"/>
                <a:cs typeface="Times New Roman" panose="02020603050405020304" pitchFamily="2" charset="0"/>
              </a:rPr>
              <a:t>情况，需要有新的数据管理技术，以便对数据作集中、统一的管理并使其对应用（程序）共享。</a:t>
            </a:r>
            <a:endParaRPr lang="zh-CN" altLang="en-US">
              <a:latin typeface="Times New Roman" panose="02020603050405020304" pitchFamily="2" charset="0"/>
              <a:ea typeface="楷体" panose="02010609060101010101" charset="-122"/>
              <a:cs typeface="Times New Roman" panose="02020603050405020304" pitchFamily="2" charset="0"/>
            </a:endParaRPr>
          </a:p>
          <a:p>
            <a:pPr fontAlgn="auto">
              <a:spcBef>
                <a:spcPts val="1000"/>
              </a:spcBef>
            </a:pPr>
            <a:r>
              <a:rPr lang="zh-CN" altLang="en-US">
                <a:latin typeface="Times New Roman" panose="02020603050405020304" pitchFamily="2" charset="0"/>
                <a:ea typeface="楷体" panose="02010609060101010101" charset="-122"/>
                <a:cs typeface="Times New Roman" panose="02020603050405020304" pitchFamily="2" charset="0"/>
              </a:rPr>
              <a:t>数据不再是依赖于处理过程的附属品，而是在现实世界中独立存在的对象。</a:t>
            </a:r>
            <a:r>
              <a:rPr lang="zh-CN" altLang="en-US" u="sng">
                <a:solidFill>
                  <a:srgbClr val="C00000"/>
                </a:solidFill>
                <a:latin typeface="Times New Roman" panose="02020603050405020304" pitchFamily="2" charset="0"/>
                <a:ea typeface="楷体" panose="02010609060101010101" charset="-122"/>
                <a:cs typeface="Times New Roman" panose="02020603050405020304" pitchFamily="2" charset="0"/>
              </a:rPr>
              <a:t>数据已成为了一种新的生产要素！</a:t>
            </a:r>
            <a:endParaRPr lang="zh-CN" altLang="en-US">
              <a:latin typeface="Times New Roman" panose="02020603050405020304" pitchFamily="2" charset="0"/>
              <a:ea typeface="楷体" panose="02010609060101010101" charset="-122"/>
              <a:cs typeface="Times New Roman" panose="02020603050405020304" pitchFamily="2" charset="0"/>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12293" name="Rectangle 3"/>
          <p:cNvSpPr>
            <a:spLocks noGrp="1"/>
          </p:cNvSpPr>
          <p:nvPr>
            <p:ph idx="1"/>
          </p:nvPr>
        </p:nvSpPr>
        <p:spPr/>
        <p:txBody>
          <a:bodyPr wrap="square" anchor="t"/>
          <a:p>
            <a:pPr marL="457200" indent="-457200" fontAlgn="auto">
              <a:lnSpc>
                <a:spcPct val="100000"/>
              </a:lnSpc>
              <a:spcBef>
                <a:spcPts val="1000"/>
              </a:spcBef>
              <a:buFont typeface="+mj-lt"/>
              <a:buAutoNum type="arabicPeriod" startAt="2"/>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数据库</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DataBase，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 DB）</a:t>
            </a:r>
            <a:endPar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fontAlgn="auto">
              <a:lnSpc>
                <a:spcPct val="100000"/>
              </a:lnSpc>
              <a:spcBef>
                <a:spcPts val="100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是</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指长期储存在计算机内、有组织的、可共享的大量数据的集合。</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fontAlgn="auto">
              <a:lnSpc>
                <a:spcPct val="100000"/>
              </a:lnSpc>
              <a:spcBef>
                <a:spcPts val="1000"/>
              </a:spcBef>
            </a:pP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数据库中的数据按一定的</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数据模型</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组织、描述和储存，具有较小的</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数据冗余</a:t>
            </a:r>
            <a:r>
              <a:rPr lang="en-US" altLang="zh-CN"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(data redundancy)</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、较高的</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数据独立性</a:t>
            </a:r>
            <a:r>
              <a:rPr lang="en-US" altLang="zh-CN"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(data independency)</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和</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易扩展性</a:t>
            </a:r>
            <a:r>
              <a:rPr lang="en-US" altLang="zh-CN"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(scalability)</a:t>
            </a:r>
            <a:r>
              <a:rPr lang="zh-CN" altLang="en-US" dirty="0">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，并可为各种用户</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sym typeface="Wingdings 3" panose="05040102010807070707" pitchFamily="2" charset="2"/>
              </a:rPr>
              <a:t>共享</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fontAlgn="auto">
              <a:lnSpc>
                <a:spcPct val="100000"/>
              </a:lnSpc>
              <a:spcBef>
                <a:spcPts val="100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数据库中的数据具有以下</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特点</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Rectangle 3"/>
          <p:cNvSpPr>
            <a:spLocks noGrp="1"/>
          </p:cNvSpPr>
          <p:nvPr/>
        </p:nvSpPr>
        <p:spPr>
          <a:xfrm>
            <a:off x="1401445" y="3665220"/>
            <a:ext cx="7433945" cy="3107690"/>
          </a:xfrm>
          <a:prstGeom prst="rect">
            <a:avLst/>
          </a:prstGeom>
          <a:noFill/>
        </p:spPr>
        <p:txBody>
          <a:bodyPr vert="horz" wrap="square" lIns="91440" tIns="45720" rIns="91440" bIns="45720" rtlCol="0" anchor="t">
            <a:spAutoFit/>
          </a:bodyPr>
          <a:lstStyle>
            <a:lvl1pPr marL="2286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q"/>
              <a:defRPr sz="24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00000"/>
              </a:lnSpc>
              <a:spcBef>
                <a:spcPct val="0"/>
              </a:spcBef>
              <a:spcAft>
                <a:spcPts val="0"/>
              </a:spcAft>
              <a:buClr>
                <a:srgbClr val="C00000"/>
              </a:buClr>
              <a:buSzPct val="85000"/>
              <a:buFont typeface="Wingdings" panose="05000000000000000000" charset="0"/>
              <a:buChar char="Ø"/>
              <a:defRPr sz="24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00000"/>
              </a:lnSpc>
              <a:spcBef>
                <a:spcPct val="0"/>
              </a:spcBef>
              <a:spcAft>
                <a:spcPts val="0"/>
              </a:spcAft>
              <a:buClr>
                <a:srgbClr val="C00000"/>
              </a:buClr>
              <a:buSzPct val="85000"/>
              <a:buFont typeface="Arial" panose="020B0604020202020204" pitchFamily="34" charset="0"/>
              <a:buChar char="‒"/>
              <a:defRPr sz="20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eaLnBrk="1" hangingPunct="1">
              <a:lnSpc>
                <a:spcPct val="100000"/>
              </a:lnSpc>
              <a:buSzPct val="70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永久存储</a:t>
            </a: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：存储在计算机的持久存储</a:t>
            </a: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设备上</a:t>
            </a:r>
            <a:endPar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00000"/>
              </a:lnSpc>
              <a:buSzPct val="70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有组织</a:t>
            </a: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按一定的数据模型组织、描述和储存</a:t>
            </a:r>
            <a:endPar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统一组织、集中存储</a:t>
            </a:r>
            <a:endPar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较小的</a:t>
            </a: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数据冗余度</a:t>
            </a:r>
            <a:endPar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0"/>
              </a:spcBef>
              <a:buSzPct val="70000"/>
              <a:buFont typeface="Wingdings" panose="05000000000000000000" charset="0"/>
              <a:buChar char="©"/>
            </a:pP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较高的数据</a:t>
            </a:r>
            <a:r>
              <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rPr>
              <a:t>独立性</a:t>
            </a:r>
            <a:endParaRPr lang="zh-CN" altLang="en-US" sz="28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0" eaLnBrk="1" hangingPunct="1">
              <a:lnSpc>
                <a:spcPct val="100000"/>
              </a:lnSpc>
              <a:buSzPct val="70000"/>
              <a:buFont typeface="Wingdings 2" panose="05020102010507070707" charset="0"/>
              <a:buChar char="¡"/>
            </a:pPr>
            <a:r>
              <a:rPr lang="zh-CN" altLang="en-US" sz="2800"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可共享</a:t>
            </a:r>
            <a:endParaRPr lang="zh-CN" altLang="en-US" sz="2800"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endParaRPr>
          </a:p>
        </p:txBody>
      </p:sp>
      <p:grpSp>
        <p:nvGrpSpPr>
          <p:cNvPr id="7" name="组合 6"/>
          <p:cNvGrpSpPr/>
          <p:nvPr/>
        </p:nvGrpSpPr>
        <p:grpSpPr>
          <a:xfrm>
            <a:off x="8946515" y="3665220"/>
            <a:ext cx="1892935" cy="3082290"/>
            <a:chOff x="14089" y="5772"/>
            <a:chExt cx="2981" cy="4854"/>
          </a:xfrm>
        </p:grpSpPr>
        <p:sp>
          <p:nvSpPr>
            <p:cNvPr id="5" name="文本框 4"/>
            <p:cNvSpPr txBox="1"/>
            <p:nvPr/>
          </p:nvSpPr>
          <p:spPr>
            <a:xfrm>
              <a:off x="14439" y="6591"/>
              <a:ext cx="2631" cy="3197"/>
            </a:xfrm>
            <a:prstGeom prst="rect">
              <a:avLst/>
            </a:prstGeom>
            <a:noFill/>
          </p:spPr>
          <p:txBody>
            <a:bodyPr wrap="square" rtlCol="0">
              <a:spAutoFit/>
            </a:bodyPr>
            <a:p>
              <a:pPr>
                <a:lnSpc>
                  <a:spcPct val="150000"/>
                </a:lnSpc>
              </a:pPr>
              <a:r>
                <a:rPr lang="zh-CN" altLang="en-US" sz="2800" b="1">
                  <a:solidFill>
                    <a:srgbClr val="FF0000"/>
                  </a:solidFill>
                  <a:latin typeface="楷体" panose="02010609060101010101" charset="-122"/>
                  <a:ea typeface="楷体" panose="02010609060101010101" charset="-122"/>
                </a:rPr>
                <a:t>结构化</a:t>
              </a:r>
              <a:endParaRPr lang="zh-CN" altLang="en-US" sz="2800" b="1">
                <a:solidFill>
                  <a:srgbClr val="FF0000"/>
                </a:solidFill>
                <a:latin typeface="楷体" panose="02010609060101010101" charset="-122"/>
                <a:ea typeface="楷体" panose="02010609060101010101" charset="-122"/>
              </a:endParaRPr>
            </a:p>
            <a:p>
              <a:pPr>
                <a:lnSpc>
                  <a:spcPct val="150000"/>
                </a:lnSpc>
              </a:pPr>
              <a:r>
                <a:rPr lang="zh-CN" altLang="en-US" sz="2800" b="1">
                  <a:solidFill>
                    <a:srgbClr val="FF0000"/>
                  </a:solidFill>
                  <a:latin typeface="楷体" panose="02010609060101010101" charset="-122"/>
                  <a:ea typeface="楷体" panose="02010609060101010101" charset="-122"/>
                </a:rPr>
                <a:t>集成化</a:t>
              </a:r>
              <a:endParaRPr lang="zh-CN" altLang="en-US" sz="2800" b="1">
                <a:solidFill>
                  <a:srgbClr val="FF0000"/>
                </a:solidFill>
                <a:latin typeface="楷体" panose="02010609060101010101" charset="-122"/>
                <a:ea typeface="楷体" panose="02010609060101010101" charset="-122"/>
              </a:endParaRPr>
            </a:p>
            <a:p>
              <a:pPr>
                <a:lnSpc>
                  <a:spcPct val="150000"/>
                </a:lnSpc>
              </a:pPr>
              <a:r>
                <a:rPr lang="zh-CN" altLang="en-US" sz="2800" b="1">
                  <a:solidFill>
                    <a:srgbClr val="FF0000"/>
                  </a:solidFill>
                  <a:latin typeface="楷体" panose="02010609060101010101" charset="-122"/>
                  <a:ea typeface="楷体" panose="02010609060101010101" charset="-122"/>
                </a:rPr>
                <a:t>集中管理</a:t>
              </a:r>
              <a:endParaRPr lang="zh-CN" altLang="en-US" sz="2800" b="1">
                <a:solidFill>
                  <a:srgbClr val="FF0000"/>
                </a:solidFill>
                <a:latin typeface="楷体" panose="02010609060101010101" charset="-122"/>
                <a:ea typeface="楷体" panose="02010609060101010101" charset="-122"/>
              </a:endParaRPr>
            </a:p>
          </p:txBody>
        </p:sp>
        <p:sp>
          <p:nvSpPr>
            <p:cNvPr id="6" name="右大括号 5"/>
            <p:cNvSpPr/>
            <p:nvPr/>
          </p:nvSpPr>
          <p:spPr>
            <a:xfrm>
              <a:off x="14089" y="5772"/>
              <a:ext cx="254" cy="4854"/>
            </a:xfrm>
            <a:prstGeom prst="rightBrace">
              <a:avLst>
                <a:gd name="adj1" fmla="val 80991"/>
                <a:gd name="adj2" fmla="val 50020"/>
              </a:avLst>
            </a:prstGeom>
            <a:ln w="22225">
              <a:solidFill>
                <a:srgbClr val="C0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3">
                                            <p:txEl>
                                              <p:pRg st="1" end="1"/>
                                            </p:txEl>
                                          </p:spTgt>
                                        </p:tgtEl>
                                        <p:attrNameLst>
                                          <p:attrName>style.visibility</p:attrName>
                                        </p:attrNameLst>
                                      </p:cBhvr>
                                      <p:to>
                                        <p:strVal val="visible"/>
                                      </p:to>
                                    </p:set>
                                    <p:animEffect transition="in" filter="blinds(horizontal)">
                                      <p:cBhvr>
                                        <p:cTn id="7" dur="500"/>
                                        <p:tgtEl>
                                          <p:spTgt spid="1229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93">
                                            <p:txEl>
                                              <p:pRg st="2" end="2"/>
                                            </p:txEl>
                                          </p:spTgt>
                                        </p:tgtEl>
                                        <p:attrNameLst>
                                          <p:attrName>style.visibility</p:attrName>
                                        </p:attrNameLst>
                                      </p:cBhvr>
                                      <p:to>
                                        <p:strVal val="visible"/>
                                      </p:to>
                                    </p:set>
                                    <p:animEffect transition="in" filter="blinds(horizontal)">
                                      <p:cBhvr>
                                        <p:cTn id="12" dur="500"/>
                                        <p:tgtEl>
                                          <p:spTgt spid="1229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293">
                                            <p:txEl>
                                              <p:pRg st="3" end="3"/>
                                            </p:txEl>
                                          </p:spTgt>
                                        </p:tgtEl>
                                        <p:attrNameLst>
                                          <p:attrName>style.visibility</p:attrName>
                                        </p:attrNameLst>
                                      </p:cBhvr>
                                      <p:to>
                                        <p:strVal val="visible"/>
                                      </p:to>
                                    </p:set>
                                    <p:animEffect transition="in" filter="blinds(horizontal)">
                                      <p:cBhvr>
                                        <p:cTn id="17" dur="500"/>
                                        <p:tgtEl>
                                          <p:spTgt spid="1229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1+#ppt_w/2"/>
                                          </p:val>
                                        </p:tav>
                                        <p:tav tm="100000">
                                          <p:val>
                                            <p:strVal val="#ppt_x"/>
                                          </p:val>
                                        </p:tav>
                                      </p:tavLst>
                                    </p:anim>
                                    <p:anim calcmode="lin" valueType="num">
                                      <p:cBhvr additive="base">
                                        <p:cTn id="29"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数据库的</a:t>
            </a:r>
            <a:r>
              <a:rPr lang="zh-CN" altLang="en-US"/>
              <a:t>示例</a:t>
            </a:r>
            <a:endParaRPr lang="zh-CN" altLang="en-US"/>
          </a:p>
        </p:txBody>
      </p:sp>
      <p:sp>
        <p:nvSpPr>
          <p:cNvPr id="3" name="内容占位符 2"/>
          <p:cNvSpPr>
            <a:spLocks noGrp="1"/>
          </p:cNvSpPr>
          <p:nvPr>
            <p:ph idx="1"/>
          </p:nvPr>
        </p:nvSpPr>
        <p:spPr>
          <a:xfrm>
            <a:off x="424180" y="615950"/>
            <a:ext cx="11343005" cy="2905125"/>
          </a:xfrm>
        </p:spPr>
        <p:txBody>
          <a:bodyPr>
            <a:spAutoFit/>
          </a:bodyPr>
          <a:p>
            <a:pPr>
              <a:lnSpc>
                <a:spcPct val="110000"/>
              </a:lnSpc>
              <a:spcBef>
                <a:spcPts val="800"/>
              </a:spcBef>
            </a:pPr>
            <a:r>
              <a:rPr lang="en-US" altLang="zh-CN">
                <a:latin typeface="楷体" panose="02010609060101010101" charset="-122"/>
                <a:ea typeface="楷体" panose="02010609060101010101" charset="-122"/>
                <a:cs typeface="楷体" panose="02010609060101010101" charset="-122"/>
              </a:rPr>
              <a:t>Example 1: </a:t>
            </a:r>
            <a:r>
              <a:rPr lang="zh-CN" altLang="en-US">
                <a:latin typeface="楷体" panose="02010609060101010101" charset="-122"/>
                <a:ea typeface="楷体" panose="02010609060101010101" charset="-122"/>
                <a:cs typeface="楷体" panose="02010609060101010101" charset="-122"/>
              </a:rPr>
              <a:t>高校数据库</a:t>
            </a:r>
            <a:endParaRPr lang="zh-CN" altLang="en-US">
              <a:latin typeface="楷体" panose="02010609060101010101" charset="-122"/>
              <a:ea typeface="楷体" panose="02010609060101010101" charset="-122"/>
              <a:cs typeface="楷体" panose="02010609060101010101" charset="-122"/>
            </a:endParaRPr>
          </a:p>
          <a:p>
            <a:pPr lvl="1">
              <a:lnSpc>
                <a:spcPct val="110000"/>
              </a:lnSpc>
              <a:spcBef>
                <a:spcPts val="800"/>
              </a:spcBef>
            </a:pPr>
            <a:r>
              <a:rPr lang="zh-CN" altLang="en-US" u="sng">
                <a:latin typeface="楷体" panose="02010609060101010101" charset="-122"/>
                <a:ea typeface="楷体" panose="02010609060101010101" charset="-122"/>
                <a:cs typeface="楷体" panose="02010609060101010101" charset="-122"/>
              </a:rPr>
              <a:t>人员信息</a:t>
            </a:r>
            <a:r>
              <a:rPr lang="zh-CN" altLang="en-US">
                <a:latin typeface="楷体" panose="02010609060101010101" charset="-122"/>
                <a:ea typeface="楷体" panose="02010609060101010101" charset="-122"/>
                <a:cs typeface="楷体" panose="02010609060101010101" charset="-122"/>
              </a:rPr>
              <a:t>：学生</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教师</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职员</a:t>
            </a:r>
            <a:r>
              <a:rPr lang="en-US" altLang="zh-CN">
                <a:latin typeface="楷体" panose="02010609060101010101" charset="-122"/>
                <a:ea typeface="楷体" panose="02010609060101010101" charset="-122"/>
                <a:cs typeface="楷体" panose="02010609060101010101" charset="-122"/>
              </a:rPr>
              <a:t>, </a:t>
            </a:r>
            <a:r>
              <a:rPr lang="en-US" altLang="zh-CN">
                <a:latin typeface="楷体" panose="02010609060101010101" charset="-122"/>
                <a:ea typeface="楷体" panose="02010609060101010101" charset="-122"/>
                <a:cs typeface="楷体" panose="02010609060101010101" charset="-122"/>
              </a:rPr>
              <a:t>...</a:t>
            </a:r>
            <a:endParaRPr lang="zh-CN" altLang="en-US">
              <a:latin typeface="楷体" panose="02010609060101010101" charset="-122"/>
              <a:ea typeface="楷体" panose="02010609060101010101" charset="-122"/>
              <a:cs typeface="楷体" panose="02010609060101010101" charset="-122"/>
            </a:endParaRPr>
          </a:p>
          <a:p>
            <a:pPr lvl="1">
              <a:lnSpc>
                <a:spcPct val="110000"/>
              </a:lnSpc>
              <a:spcBef>
                <a:spcPts val="800"/>
              </a:spcBef>
            </a:pPr>
            <a:r>
              <a:rPr lang="zh-CN" altLang="en-US" u="sng">
                <a:latin typeface="楷体" panose="02010609060101010101" charset="-122"/>
                <a:ea typeface="楷体" panose="02010609060101010101" charset="-122"/>
                <a:cs typeface="楷体" panose="02010609060101010101" charset="-122"/>
              </a:rPr>
              <a:t>机构信息</a:t>
            </a:r>
            <a:r>
              <a:rPr lang="zh-CN" altLang="en-US">
                <a:latin typeface="楷体" panose="02010609060101010101" charset="-122"/>
                <a:ea typeface="楷体" panose="02010609060101010101" charset="-122"/>
                <a:cs typeface="楷体" panose="02010609060101010101" charset="-122"/>
              </a:rPr>
              <a:t>：院系</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部门</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机构</a:t>
            </a:r>
            <a:r>
              <a:rPr lang="en-US" altLang="zh-CN">
                <a:latin typeface="楷体" panose="02010609060101010101" charset="-122"/>
                <a:ea typeface="楷体" panose="02010609060101010101" charset="-122"/>
                <a:cs typeface="楷体" panose="02010609060101010101" charset="-122"/>
              </a:rPr>
              <a:t>, </a:t>
            </a:r>
            <a:r>
              <a:rPr lang="en-US" altLang="zh-CN">
                <a:latin typeface="楷体" panose="02010609060101010101" charset="-122"/>
                <a:ea typeface="楷体" panose="02010609060101010101" charset="-122"/>
                <a:cs typeface="楷体" panose="02010609060101010101" charset="-122"/>
              </a:rPr>
              <a:t>...</a:t>
            </a:r>
            <a:endParaRPr lang="en-US" altLang="zh-CN">
              <a:latin typeface="楷体" panose="02010609060101010101" charset="-122"/>
              <a:ea typeface="楷体" panose="02010609060101010101" charset="-122"/>
              <a:cs typeface="楷体" panose="02010609060101010101" charset="-122"/>
            </a:endParaRPr>
          </a:p>
          <a:p>
            <a:pPr lvl="1">
              <a:lnSpc>
                <a:spcPct val="110000"/>
              </a:lnSpc>
              <a:spcBef>
                <a:spcPts val="800"/>
              </a:spcBef>
            </a:pPr>
            <a:r>
              <a:rPr lang="zh-CN" altLang="en-US" u="sng">
                <a:latin typeface="楷体" panose="02010609060101010101" charset="-122"/>
                <a:ea typeface="楷体" panose="02010609060101010101" charset="-122"/>
                <a:cs typeface="楷体" panose="02010609060101010101" charset="-122"/>
              </a:rPr>
              <a:t>教务信息</a:t>
            </a:r>
            <a:r>
              <a:rPr lang="zh-CN" altLang="en-US">
                <a:latin typeface="楷体" panose="02010609060101010101" charset="-122"/>
                <a:ea typeface="楷体" panose="02010609060101010101" charset="-122"/>
                <a:cs typeface="楷体" panose="02010609060101010101" charset="-122"/>
              </a:rPr>
              <a:t>：课程</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班级</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选课</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成绩</a:t>
            </a:r>
            <a:r>
              <a:rPr lang="en-US" altLang="zh-CN">
                <a:latin typeface="楷体" panose="02010609060101010101" charset="-122"/>
                <a:ea typeface="楷体" panose="02010609060101010101" charset="-122"/>
                <a:cs typeface="楷体" panose="02010609060101010101" charset="-122"/>
              </a:rPr>
              <a:t>, </a:t>
            </a:r>
            <a:r>
              <a:rPr lang="en-US" altLang="zh-CN">
                <a:latin typeface="楷体" panose="02010609060101010101" charset="-122"/>
                <a:ea typeface="楷体" panose="02010609060101010101" charset="-122"/>
                <a:cs typeface="楷体" panose="02010609060101010101" charset="-122"/>
              </a:rPr>
              <a:t>...</a:t>
            </a:r>
            <a:endParaRPr lang="en-US" altLang="zh-CN">
              <a:latin typeface="楷体" panose="02010609060101010101" charset="-122"/>
              <a:ea typeface="楷体" panose="02010609060101010101" charset="-122"/>
              <a:cs typeface="楷体" panose="02010609060101010101" charset="-122"/>
            </a:endParaRPr>
          </a:p>
          <a:p>
            <a:pPr lvl="1">
              <a:lnSpc>
                <a:spcPct val="110000"/>
              </a:lnSpc>
              <a:spcBef>
                <a:spcPts val="800"/>
              </a:spcBef>
            </a:pPr>
            <a:r>
              <a:rPr lang="en-US" altLang="zh-CN">
                <a:latin typeface="楷体" panose="02010609060101010101" charset="-122"/>
                <a:ea typeface="楷体" panose="02010609060101010101" charset="-122"/>
                <a:cs typeface="楷体" panose="02010609060101010101" charset="-122"/>
              </a:rPr>
              <a:t>......</a:t>
            </a:r>
            <a:endParaRPr lang="zh-CN" altLang="en-US">
              <a:latin typeface="楷体" panose="02010609060101010101" charset="-122"/>
              <a:ea typeface="楷体" panose="02010609060101010101" charset="-122"/>
              <a:cs typeface="楷体" panose="02010609060101010101" charset="-122"/>
            </a:endParaRPr>
          </a:p>
        </p:txBody>
      </p:sp>
      <p:sp>
        <p:nvSpPr>
          <p:cNvPr id="4" name="内容占位符 2"/>
          <p:cNvSpPr>
            <a:spLocks noGrp="1"/>
          </p:cNvSpPr>
          <p:nvPr/>
        </p:nvSpPr>
        <p:spPr>
          <a:xfrm>
            <a:off x="4319270" y="3644900"/>
            <a:ext cx="7539990" cy="3041015"/>
          </a:xfrm>
          <a:prstGeom prst="rect">
            <a:avLst/>
          </a:prstGeom>
          <a:no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q"/>
              <a:defRPr sz="2400" b="1" i="0" u="none" kern="1200" baseline="0">
                <a:solidFill>
                  <a:schemeClr val="accent2"/>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Ø"/>
              <a:defRPr sz="24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i="0" u="none" kern="1200" baseline="0">
                <a:solidFill>
                  <a:schemeClr val="accent2"/>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
              <a:defRPr sz="2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Font typeface="Wingdings" panose="05000000000000000000" pitchFamily="2" charset="2"/>
              <a:buChar char="³"/>
              <a:defRPr sz="2000" b="1" i="0" u="none" kern="1200" baseline="0">
                <a:solidFill>
                  <a:schemeClr val="accent2"/>
                </a:solidFill>
                <a:latin typeface="+mn-lt"/>
                <a:ea typeface="+mn-ea"/>
                <a:cs typeface="+mn-cs"/>
              </a:defRPr>
            </a:lvl9pPr>
          </a:lstStyle>
          <a:p>
            <a:pPr lvl="0">
              <a:lnSpc>
                <a:spcPct val="110000"/>
              </a:lnSpc>
              <a:spcBef>
                <a:spcPts val="800"/>
              </a:spcBef>
              <a:spcAft>
                <a:spcPts val="0"/>
              </a:spcAft>
              <a:buClr>
                <a:srgbClr val="C00000"/>
              </a:buClr>
              <a:buSzPct val="85000"/>
            </a:pPr>
            <a:r>
              <a:rPr lang="en-US" altLang="zh-CN" sz="3000">
                <a:solidFill>
                  <a:srgbClr val="1F2DA8"/>
                </a:solidFill>
                <a:latin typeface="楷体" panose="02010609060101010101" charset="-122"/>
                <a:ea typeface="楷体" panose="02010609060101010101" charset="-122"/>
                <a:cs typeface="楷体" panose="02010609060101010101" charset="-122"/>
              </a:rPr>
              <a:t>Example 2: </a:t>
            </a:r>
            <a:r>
              <a:rPr lang="zh-CN" altLang="en-US" sz="3000">
                <a:solidFill>
                  <a:srgbClr val="1F2DA8"/>
                </a:solidFill>
                <a:latin typeface="楷体" panose="02010609060101010101" charset="-122"/>
                <a:ea typeface="楷体" panose="02010609060101010101" charset="-122"/>
                <a:cs typeface="楷体" panose="02010609060101010101" charset="-122"/>
              </a:rPr>
              <a:t>企业数据库</a:t>
            </a:r>
            <a:endParaRPr lang="zh-CN" altLang="en-US" sz="3000">
              <a:solidFill>
                <a:srgbClr val="1F2DA8"/>
              </a:solidFill>
              <a:latin typeface="楷体" panose="02010609060101010101" charset="-122"/>
              <a:ea typeface="楷体" panose="02010609060101010101" charset="-122"/>
              <a:cs typeface="楷体" panose="02010609060101010101" charset="-122"/>
            </a:endParaRPr>
          </a:p>
          <a:p>
            <a:pPr lvl="1">
              <a:lnSpc>
                <a:spcPct val="110000"/>
              </a:lnSpc>
              <a:spcBef>
                <a:spcPts val="800"/>
              </a:spcBef>
              <a:spcAft>
                <a:spcPts val="0"/>
              </a:spcAft>
              <a:buClr>
                <a:srgbClr val="C00000"/>
              </a:buClr>
              <a:buSzPct val="85000"/>
            </a:pPr>
            <a:r>
              <a:rPr lang="zh-CN" altLang="en-US" sz="3000" u="sng">
                <a:solidFill>
                  <a:srgbClr val="1F2DA8"/>
                </a:solidFill>
                <a:latin typeface="楷体" panose="02010609060101010101" charset="-122"/>
                <a:ea typeface="楷体" panose="02010609060101010101" charset="-122"/>
                <a:cs typeface="楷体" panose="02010609060101010101" charset="-122"/>
              </a:rPr>
              <a:t>企业信息</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员工</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部门</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薪水</a:t>
            </a:r>
            <a:r>
              <a:rPr lang="en-US" altLang="zh-CN" sz="3000">
                <a:solidFill>
                  <a:srgbClr val="1F2DA8"/>
                </a:solidFill>
                <a:latin typeface="楷体" panose="02010609060101010101" charset="-122"/>
                <a:ea typeface="楷体" panose="02010609060101010101" charset="-122"/>
                <a:cs typeface="楷体" panose="02010609060101010101" charset="-122"/>
              </a:rPr>
              <a:t>, </a:t>
            </a:r>
            <a:r>
              <a:rPr lang="en-US" altLang="zh-CN" sz="3000">
                <a:solidFill>
                  <a:srgbClr val="1F2DA8"/>
                </a:solidFill>
                <a:latin typeface="楷体" panose="02010609060101010101" charset="-122"/>
                <a:ea typeface="楷体" panose="02010609060101010101" charset="-122"/>
                <a:cs typeface="楷体" panose="02010609060101010101" charset="-122"/>
              </a:rPr>
              <a:t>...</a:t>
            </a:r>
            <a:endParaRPr lang="en-US" altLang="zh-CN" sz="3000">
              <a:solidFill>
                <a:srgbClr val="1F2DA8"/>
              </a:solidFill>
              <a:latin typeface="楷体" panose="02010609060101010101" charset="-122"/>
              <a:ea typeface="楷体" panose="02010609060101010101" charset="-122"/>
              <a:cs typeface="楷体" panose="02010609060101010101" charset="-122"/>
            </a:endParaRPr>
          </a:p>
          <a:p>
            <a:pPr lvl="1">
              <a:lnSpc>
                <a:spcPct val="110000"/>
              </a:lnSpc>
              <a:spcBef>
                <a:spcPts val="800"/>
              </a:spcBef>
              <a:spcAft>
                <a:spcPts val="0"/>
              </a:spcAft>
              <a:buClr>
                <a:srgbClr val="C00000"/>
              </a:buClr>
              <a:buSzPct val="85000"/>
            </a:pPr>
            <a:r>
              <a:rPr lang="zh-CN" altLang="en-US" sz="3000" u="sng">
                <a:solidFill>
                  <a:srgbClr val="1F2DA8"/>
                </a:solidFill>
                <a:latin typeface="楷体" panose="02010609060101010101" charset="-122"/>
                <a:ea typeface="楷体" panose="02010609060101010101" charset="-122"/>
                <a:cs typeface="楷体" panose="02010609060101010101" charset="-122"/>
              </a:rPr>
              <a:t>生产信息</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产品</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仓库</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供应链</a:t>
            </a:r>
            <a:r>
              <a:rPr lang="en-US" altLang="zh-CN" sz="3000">
                <a:solidFill>
                  <a:srgbClr val="1F2DA8"/>
                </a:solidFill>
                <a:latin typeface="楷体" panose="02010609060101010101" charset="-122"/>
                <a:ea typeface="楷体" panose="02010609060101010101" charset="-122"/>
                <a:cs typeface="楷体" panose="02010609060101010101" charset="-122"/>
              </a:rPr>
              <a:t>, </a:t>
            </a:r>
            <a:r>
              <a:rPr lang="en-US" altLang="zh-CN" sz="3000">
                <a:solidFill>
                  <a:srgbClr val="1F2DA8"/>
                </a:solidFill>
                <a:latin typeface="楷体" panose="02010609060101010101" charset="-122"/>
                <a:ea typeface="楷体" panose="02010609060101010101" charset="-122"/>
                <a:cs typeface="楷体" panose="02010609060101010101" charset="-122"/>
              </a:rPr>
              <a:t>...</a:t>
            </a:r>
            <a:endParaRPr lang="zh-CN" altLang="en-US" sz="3000">
              <a:solidFill>
                <a:srgbClr val="1F2DA8"/>
              </a:solidFill>
              <a:latin typeface="楷体" panose="02010609060101010101" charset="-122"/>
              <a:ea typeface="楷体" panose="02010609060101010101" charset="-122"/>
              <a:cs typeface="楷体" panose="02010609060101010101" charset="-122"/>
            </a:endParaRPr>
          </a:p>
          <a:p>
            <a:pPr lvl="1">
              <a:lnSpc>
                <a:spcPct val="110000"/>
              </a:lnSpc>
              <a:spcBef>
                <a:spcPts val="800"/>
              </a:spcBef>
              <a:spcAft>
                <a:spcPts val="0"/>
              </a:spcAft>
              <a:buClr>
                <a:srgbClr val="C00000"/>
              </a:buClr>
              <a:buSzPct val="85000"/>
            </a:pPr>
            <a:r>
              <a:rPr lang="zh-CN" altLang="en-US" sz="3000" u="sng">
                <a:solidFill>
                  <a:srgbClr val="1F2DA8"/>
                </a:solidFill>
                <a:latin typeface="楷体" panose="02010609060101010101" charset="-122"/>
                <a:ea typeface="楷体" panose="02010609060101010101" charset="-122"/>
                <a:cs typeface="楷体" panose="02010609060101010101" charset="-122"/>
              </a:rPr>
              <a:t>销售信息</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客户</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经销商</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订单</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zh-CN" altLang="en-US" sz="3000">
                <a:solidFill>
                  <a:srgbClr val="1F2DA8"/>
                </a:solidFill>
                <a:latin typeface="楷体" panose="02010609060101010101" charset="-122"/>
                <a:ea typeface="楷体" panose="02010609060101010101" charset="-122"/>
                <a:cs typeface="楷体" panose="02010609060101010101" charset="-122"/>
              </a:rPr>
              <a:t>支付</a:t>
            </a:r>
            <a:r>
              <a:rPr lang="en-US" altLang="zh-CN" sz="3000">
                <a:solidFill>
                  <a:srgbClr val="1F2DA8"/>
                </a:solidFill>
                <a:latin typeface="楷体" panose="02010609060101010101" charset="-122"/>
                <a:ea typeface="楷体" panose="02010609060101010101" charset="-122"/>
                <a:cs typeface="楷体" panose="02010609060101010101" charset="-122"/>
              </a:rPr>
              <a:t>,</a:t>
            </a:r>
            <a:r>
              <a:rPr lang="en-US" altLang="zh-CN" sz="3000">
                <a:solidFill>
                  <a:srgbClr val="1F2DA8"/>
                </a:solidFill>
                <a:latin typeface="楷体" panose="02010609060101010101" charset="-122"/>
                <a:ea typeface="楷体" panose="02010609060101010101" charset="-122"/>
                <a:cs typeface="楷体" panose="02010609060101010101" charset="-122"/>
              </a:rPr>
              <a:t>...</a:t>
            </a:r>
            <a:endParaRPr lang="en-US" altLang="zh-CN" sz="3000">
              <a:solidFill>
                <a:srgbClr val="1F2DA8"/>
              </a:solidFill>
              <a:latin typeface="楷体" panose="02010609060101010101" charset="-122"/>
              <a:ea typeface="楷体" panose="02010609060101010101" charset="-122"/>
              <a:cs typeface="楷体" panose="02010609060101010101" charset="-122"/>
            </a:endParaRPr>
          </a:p>
          <a:p>
            <a:pPr lvl="1">
              <a:lnSpc>
                <a:spcPct val="110000"/>
              </a:lnSpc>
              <a:spcBef>
                <a:spcPts val="800"/>
              </a:spcBef>
              <a:spcAft>
                <a:spcPts val="0"/>
              </a:spcAft>
              <a:buClr>
                <a:srgbClr val="C00000"/>
              </a:buClr>
              <a:buSzPct val="85000"/>
            </a:pPr>
            <a:r>
              <a:rPr lang="en-US" altLang="zh-CN" sz="3000">
                <a:solidFill>
                  <a:srgbClr val="1F2DA8"/>
                </a:solidFill>
                <a:latin typeface="楷体" panose="02010609060101010101" charset="-122"/>
                <a:ea typeface="楷体" panose="02010609060101010101" charset="-122"/>
                <a:cs typeface="楷体" panose="02010609060101010101" charset="-122"/>
              </a:rPr>
              <a:t>......</a:t>
            </a:r>
            <a:endParaRPr lang="en-US" altLang="zh-CN" sz="3000">
              <a:solidFill>
                <a:srgbClr val="1F2DA8"/>
              </a:solidFill>
              <a:latin typeface="楷体" panose="02010609060101010101" charset="-122"/>
              <a:ea typeface="楷体" panose="02010609060101010101" charset="-122"/>
              <a:cs typeface="楷体" panose="02010609060101010101" charset="-122"/>
            </a:endParaRPr>
          </a:p>
        </p:txBody>
      </p:sp>
      <p:sp>
        <p:nvSpPr>
          <p:cNvPr id="6" name="灯片编号占位符 5"/>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pic>
        <p:nvPicPr>
          <p:cNvPr id="100" name="图片 99"/>
          <p:cNvPicPr>
            <a:picLocks noChangeAspect="1"/>
          </p:cNvPicPr>
          <p:nvPr/>
        </p:nvPicPr>
        <p:blipFill>
          <a:blip r:embed="rId1"/>
          <a:stretch>
            <a:fillRect/>
          </a:stretch>
        </p:blipFill>
        <p:spPr>
          <a:xfrm>
            <a:off x="7383145" y="614045"/>
            <a:ext cx="4271087" cy="2664000"/>
          </a:xfrm>
          <a:prstGeom prst="rect">
            <a:avLst/>
          </a:prstGeom>
          <a:noFill/>
          <a:ln w="9525">
            <a:noFill/>
          </a:ln>
        </p:spPr>
      </p:pic>
      <p:pic>
        <p:nvPicPr>
          <p:cNvPr id="101" name="图片 100"/>
          <p:cNvPicPr>
            <a:picLocks noChangeAspect="1"/>
          </p:cNvPicPr>
          <p:nvPr/>
        </p:nvPicPr>
        <p:blipFill>
          <a:blip r:embed="rId2"/>
          <a:stretch>
            <a:fillRect/>
          </a:stretch>
        </p:blipFill>
        <p:spPr>
          <a:xfrm>
            <a:off x="424180" y="3796348"/>
            <a:ext cx="3894873" cy="2664000"/>
          </a:xfrm>
          <a:prstGeom prst="rect">
            <a:avLst/>
          </a:prstGeom>
          <a:noFill/>
          <a:ln w="9525">
            <a:noFill/>
          </a:ln>
        </p:spPr>
      </p:pic>
      <p:sp>
        <p:nvSpPr>
          <p:cNvPr id="5" name="页脚占位符 4"/>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500" fill="hold"/>
                                        <p:tgtEl>
                                          <p:spTgt spid="100"/>
                                        </p:tgtEl>
                                        <p:attrNameLst>
                                          <p:attrName>ppt_x</p:attrName>
                                        </p:attrNameLst>
                                      </p:cBhvr>
                                      <p:tavLst>
                                        <p:tav tm="0">
                                          <p:val>
                                            <p:strVal val="1+#ppt_w/2"/>
                                          </p:val>
                                        </p:tav>
                                        <p:tav tm="100000">
                                          <p:val>
                                            <p:strVal val="#ppt_x"/>
                                          </p:val>
                                        </p:tav>
                                      </p:tavLst>
                                    </p:anim>
                                    <p:anim calcmode="lin" valueType="num">
                                      <p:cBhvr additive="base">
                                        <p:cTn id="12"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1"/>
                                        </p:tgtEl>
                                        <p:attrNameLst>
                                          <p:attrName>style.visibility</p:attrName>
                                        </p:attrNameLst>
                                      </p:cBhvr>
                                      <p:to>
                                        <p:strVal val="visible"/>
                                      </p:to>
                                    </p:set>
                                    <p:anim calcmode="lin" valueType="num">
                                      <p:cBhvr additive="base">
                                        <p:cTn id="17" dur="500" fill="hold"/>
                                        <p:tgtEl>
                                          <p:spTgt spid="101"/>
                                        </p:tgtEl>
                                        <p:attrNameLst>
                                          <p:attrName>ppt_x</p:attrName>
                                        </p:attrNameLst>
                                      </p:cBhvr>
                                      <p:tavLst>
                                        <p:tav tm="0">
                                          <p:val>
                                            <p:strVal val="0-#ppt_w/2"/>
                                          </p:val>
                                        </p:tav>
                                        <p:tav tm="100000">
                                          <p:val>
                                            <p:strVal val="#ppt_x"/>
                                          </p:val>
                                        </p:tav>
                                      </p:tavLst>
                                    </p:anim>
                                    <p:anim calcmode="lin" valueType="num">
                                      <p:cBhvr additive="base">
                                        <p:cTn id="18" dur="500" fill="hold"/>
                                        <p:tgtEl>
                                          <p:spTgt spid="101"/>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Rectangle 2"/>
          <p:cNvSpPr>
            <a:spLocks noGrp="1"/>
          </p:cNvSpPr>
          <p:nvPr>
            <p:ph type="title"/>
          </p:nvPr>
        </p:nvSpPr>
        <p:spPr/>
        <p:txBody>
          <a:bodyPr wrap="square" tIns="0" bIns="0" anchor="ctr"/>
          <a:p>
            <a:pPr eaLnBrk="1" hangingPunct="1"/>
            <a:r>
              <a:rPr lang="zh-CN" altLang="en-US" sz="2400"/>
              <a:t>一个关系数据库的例子</a:t>
            </a:r>
            <a:endParaRPr lang="zh-CN" altLang="en-US" sz="2400"/>
          </a:p>
        </p:txBody>
      </p:sp>
      <p:grpSp>
        <p:nvGrpSpPr>
          <p:cNvPr id="5" name="组合 4"/>
          <p:cNvGrpSpPr/>
          <p:nvPr/>
        </p:nvGrpSpPr>
        <p:grpSpPr>
          <a:xfrm>
            <a:off x="1289050" y="695960"/>
            <a:ext cx="5153025" cy="2641600"/>
            <a:chOff x="3385" y="1550"/>
            <a:chExt cx="8115" cy="4160"/>
          </a:xfrm>
        </p:grpSpPr>
        <p:sp>
          <p:nvSpPr>
            <p:cNvPr id="13318" name="Rectangle 6"/>
            <p:cNvSpPr/>
            <p:nvPr/>
          </p:nvSpPr>
          <p:spPr>
            <a:xfrm>
              <a:off x="9198" y="5010"/>
              <a:ext cx="2302"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555-3344</a:t>
              </a:r>
              <a:endParaRPr lang="zh-CN" altLang="en-US" sz="2000" b="1" dirty="0">
                <a:solidFill>
                  <a:srgbClr val="1F2DA8"/>
                </a:solidFill>
                <a:latin typeface="Times New Roman" panose="02020603050405020304" pitchFamily="2" charset="0"/>
              </a:endParaRPr>
            </a:p>
          </p:txBody>
        </p:sp>
        <p:sp>
          <p:nvSpPr>
            <p:cNvPr id="13319" name="Rectangle 7"/>
            <p:cNvSpPr/>
            <p:nvPr/>
          </p:nvSpPr>
          <p:spPr>
            <a:xfrm>
              <a:off x="7865" y="5010"/>
              <a:ext cx="1333"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endParaRPr lang="zh-CN" altLang="en-US" sz="2000" b="1" dirty="0">
                <a:solidFill>
                  <a:srgbClr val="1F2DA8"/>
                </a:solidFill>
                <a:latin typeface="Times New Roman" panose="02020603050405020304" pitchFamily="2" charset="0"/>
              </a:endParaRPr>
            </a:p>
          </p:txBody>
        </p:sp>
        <p:sp>
          <p:nvSpPr>
            <p:cNvPr id="13320" name="Rectangle 8"/>
            <p:cNvSpPr/>
            <p:nvPr/>
          </p:nvSpPr>
          <p:spPr>
            <a:xfrm>
              <a:off x="6050" y="5010"/>
              <a:ext cx="1815"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Edward</a:t>
              </a:r>
              <a:endParaRPr lang="en-US" altLang="zh-CN" sz="2000" b="1" dirty="0">
                <a:solidFill>
                  <a:srgbClr val="1F2DA8"/>
                </a:solidFill>
                <a:latin typeface="Times New Roman" panose="02020603050405020304" pitchFamily="2" charset="0"/>
              </a:endParaRPr>
            </a:p>
          </p:txBody>
        </p:sp>
        <p:sp>
          <p:nvSpPr>
            <p:cNvPr id="13321" name="Rectangle 9"/>
            <p:cNvSpPr/>
            <p:nvPr/>
          </p:nvSpPr>
          <p:spPr>
            <a:xfrm>
              <a:off x="4355" y="5010"/>
              <a:ext cx="1695"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White</a:t>
              </a:r>
              <a:endParaRPr lang="en-US" altLang="zh-CN" sz="2000" b="1" dirty="0">
                <a:solidFill>
                  <a:srgbClr val="1F2DA8"/>
                </a:solidFill>
                <a:latin typeface="Times New Roman" panose="02020603050405020304" pitchFamily="2" charset="0"/>
              </a:endParaRPr>
            </a:p>
          </p:txBody>
        </p:sp>
        <p:sp>
          <p:nvSpPr>
            <p:cNvPr id="13322" name="Rectangle 10"/>
            <p:cNvSpPr/>
            <p:nvPr/>
          </p:nvSpPr>
          <p:spPr>
            <a:xfrm>
              <a:off x="3385" y="5010"/>
              <a:ext cx="970"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a:t>
              </a:r>
              <a:endParaRPr lang="zh-CN" altLang="en-US" sz="2000" b="1" dirty="0">
                <a:solidFill>
                  <a:srgbClr val="1F2DA8"/>
                </a:solidFill>
                <a:latin typeface="Times New Roman" panose="02020603050405020304" pitchFamily="2" charset="0"/>
              </a:endParaRPr>
            </a:p>
          </p:txBody>
        </p:sp>
        <p:sp>
          <p:nvSpPr>
            <p:cNvPr id="13323" name="Rectangle 11"/>
            <p:cNvSpPr/>
            <p:nvPr/>
          </p:nvSpPr>
          <p:spPr>
            <a:xfrm>
              <a:off x="9198" y="4308"/>
              <a:ext cx="2302"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555-1122</a:t>
              </a:r>
              <a:endParaRPr lang="zh-CN" altLang="en-US" sz="2000" b="1" dirty="0">
                <a:solidFill>
                  <a:srgbClr val="1F2DA8"/>
                </a:solidFill>
                <a:latin typeface="Times New Roman" panose="02020603050405020304" pitchFamily="2" charset="0"/>
              </a:endParaRPr>
            </a:p>
          </p:txBody>
        </p:sp>
        <p:sp>
          <p:nvSpPr>
            <p:cNvPr id="13324" name="Rectangle 12"/>
            <p:cNvSpPr/>
            <p:nvPr/>
          </p:nvSpPr>
          <p:spPr>
            <a:xfrm>
              <a:off x="7865" y="4308"/>
              <a:ext cx="1333"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endParaRPr lang="zh-CN" altLang="en-US" sz="2000" b="1" dirty="0">
                <a:solidFill>
                  <a:srgbClr val="1F2DA8"/>
                </a:solidFill>
                <a:latin typeface="Times New Roman" panose="02020603050405020304" pitchFamily="2" charset="0"/>
              </a:endParaRPr>
            </a:p>
          </p:txBody>
        </p:sp>
        <p:sp>
          <p:nvSpPr>
            <p:cNvPr id="13325" name="Rectangle 13"/>
            <p:cNvSpPr/>
            <p:nvPr/>
          </p:nvSpPr>
          <p:spPr>
            <a:xfrm>
              <a:off x="6050" y="4308"/>
              <a:ext cx="1815"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Harry</a:t>
              </a:r>
              <a:endParaRPr lang="en-US" altLang="zh-CN" sz="2000" b="1" dirty="0">
                <a:solidFill>
                  <a:srgbClr val="1F2DA8"/>
                </a:solidFill>
                <a:latin typeface="Times New Roman" panose="02020603050405020304" pitchFamily="2" charset="0"/>
              </a:endParaRPr>
            </a:p>
          </p:txBody>
        </p:sp>
        <p:sp>
          <p:nvSpPr>
            <p:cNvPr id="13326" name="Rectangle 14"/>
            <p:cNvSpPr/>
            <p:nvPr/>
          </p:nvSpPr>
          <p:spPr>
            <a:xfrm>
              <a:off x="4355" y="4308"/>
              <a:ext cx="1695"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Brown</a:t>
              </a:r>
              <a:endParaRPr lang="en-US" altLang="zh-CN" sz="2000" b="1" dirty="0">
                <a:solidFill>
                  <a:srgbClr val="1F2DA8"/>
                </a:solidFill>
                <a:latin typeface="Times New Roman" panose="02020603050405020304" pitchFamily="2" charset="0"/>
              </a:endParaRPr>
            </a:p>
          </p:txBody>
        </p:sp>
        <p:sp>
          <p:nvSpPr>
            <p:cNvPr id="13327" name="Rectangle 15"/>
            <p:cNvSpPr/>
            <p:nvPr/>
          </p:nvSpPr>
          <p:spPr>
            <a:xfrm>
              <a:off x="3385" y="4308"/>
              <a:ext cx="970"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endParaRPr lang="zh-CN" altLang="en-US" sz="2000" b="1" dirty="0">
                <a:solidFill>
                  <a:srgbClr val="1F2DA8"/>
                </a:solidFill>
                <a:latin typeface="Times New Roman" panose="02020603050405020304" pitchFamily="2" charset="0"/>
              </a:endParaRPr>
            </a:p>
          </p:txBody>
        </p:sp>
        <p:sp>
          <p:nvSpPr>
            <p:cNvPr id="13328" name="Rectangle 16"/>
            <p:cNvSpPr/>
            <p:nvPr/>
          </p:nvSpPr>
          <p:spPr>
            <a:xfrm>
              <a:off x="9198" y="3603"/>
              <a:ext cx="2302"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555-4321</a:t>
              </a:r>
              <a:endParaRPr lang="zh-CN" altLang="en-US" sz="2000" b="1" dirty="0">
                <a:solidFill>
                  <a:srgbClr val="1F2DA8"/>
                </a:solidFill>
                <a:latin typeface="Times New Roman" panose="02020603050405020304" pitchFamily="2" charset="0"/>
              </a:endParaRPr>
            </a:p>
          </p:txBody>
        </p:sp>
        <p:sp>
          <p:nvSpPr>
            <p:cNvPr id="13329" name="Rectangle 17"/>
            <p:cNvSpPr/>
            <p:nvPr/>
          </p:nvSpPr>
          <p:spPr>
            <a:xfrm>
              <a:off x="7865" y="3603"/>
              <a:ext cx="1333"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endParaRPr lang="zh-CN" altLang="en-US" sz="2000" b="1" dirty="0">
                <a:solidFill>
                  <a:srgbClr val="1F2DA8"/>
                </a:solidFill>
                <a:latin typeface="Times New Roman" panose="02020603050405020304" pitchFamily="2" charset="0"/>
              </a:endParaRPr>
            </a:p>
          </p:txBody>
        </p:sp>
        <p:sp>
          <p:nvSpPr>
            <p:cNvPr id="13330" name="Rectangle 18"/>
            <p:cNvSpPr/>
            <p:nvPr/>
          </p:nvSpPr>
          <p:spPr>
            <a:xfrm>
              <a:off x="6050" y="3603"/>
              <a:ext cx="1815"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John</a:t>
              </a:r>
              <a:endParaRPr lang="en-US" altLang="zh-CN" sz="2000" b="1" dirty="0">
                <a:solidFill>
                  <a:srgbClr val="1F2DA8"/>
                </a:solidFill>
                <a:latin typeface="Times New Roman" panose="02020603050405020304" pitchFamily="2" charset="0"/>
              </a:endParaRPr>
            </a:p>
          </p:txBody>
        </p:sp>
        <p:sp>
          <p:nvSpPr>
            <p:cNvPr id="13331" name="Rectangle 19"/>
            <p:cNvSpPr/>
            <p:nvPr/>
          </p:nvSpPr>
          <p:spPr>
            <a:xfrm>
              <a:off x="4355" y="3603"/>
              <a:ext cx="1695"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Smith</a:t>
              </a:r>
              <a:endParaRPr lang="en-US" altLang="zh-CN" sz="2000" b="1" dirty="0">
                <a:solidFill>
                  <a:srgbClr val="1F2DA8"/>
                </a:solidFill>
                <a:latin typeface="Times New Roman" panose="02020603050405020304" pitchFamily="2" charset="0"/>
              </a:endParaRPr>
            </a:p>
          </p:txBody>
        </p:sp>
        <p:sp>
          <p:nvSpPr>
            <p:cNvPr id="13332" name="Rectangle 20"/>
            <p:cNvSpPr/>
            <p:nvPr/>
          </p:nvSpPr>
          <p:spPr>
            <a:xfrm>
              <a:off x="3385" y="3603"/>
              <a:ext cx="970"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endParaRPr lang="zh-CN" altLang="en-US" sz="2000" b="1" dirty="0">
                <a:solidFill>
                  <a:srgbClr val="1F2DA8"/>
                </a:solidFill>
                <a:latin typeface="Times New Roman" panose="02020603050405020304" pitchFamily="2" charset="0"/>
              </a:endParaRPr>
            </a:p>
          </p:txBody>
        </p:sp>
        <p:sp>
          <p:nvSpPr>
            <p:cNvPr id="13333" name="Rectangle 21"/>
            <p:cNvSpPr/>
            <p:nvPr/>
          </p:nvSpPr>
          <p:spPr>
            <a:xfrm>
              <a:off x="9198" y="2903"/>
              <a:ext cx="2302"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555-1234</a:t>
              </a:r>
              <a:endParaRPr lang="zh-CN" altLang="en-US" sz="2000" b="1" dirty="0">
                <a:solidFill>
                  <a:srgbClr val="1F2DA8"/>
                </a:solidFill>
                <a:latin typeface="Times New Roman" panose="02020603050405020304" pitchFamily="2" charset="0"/>
              </a:endParaRPr>
            </a:p>
          </p:txBody>
        </p:sp>
        <p:sp>
          <p:nvSpPr>
            <p:cNvPr id="13334" name="Rectangle 22"/>
            <p:cNvSpPr/>
            <p:nvPr/>
          </p:nvSpPr>
          <p:spPr>
            <a:xfrm>
              <a:off x="7865" y="2903"/>
              <a:ext cx="1333"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endParaRPr lang="zh-CN" altLang="en-US" sz="2000" b="1" dirty="0">
                <a:solidFill>
                  <a:srgbClr val="1F2DA8"/>
                </a:solidFill>
                <a:latin typeface="Times New Roman" panose="02020603050405020304" pitchFamily="2" charset="0"/>
              </a:endParaRPr>
            </a:p>
          </p:txBody>
        </p:sp>
        <p:sp>
          <p:nvSpPr>
            <p:cNvPr id="13335" name="Rectangle 23"/>
            <p:cNvSpPr/>
            <p:nvPr/>
          </p:nvSpPr>
          <p:spPr>
            <a:xfrm>
              <a:off x="6050" y="2903"/>
              <a:ext cx="1815"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Allan</a:t>
              </a:r>
              <a:endParaRPr lang="en-US" altLang="zh-CN" sz="2000" b="1" dirty="0">
                <a:solidFill>
                  <a:srgbClr val="1F2DA8"/>
                </a:solidFill>
                <a:latin typeface="Times New Roman" panose="02020603050405020304" pitchFamily="2" charset="0"/>
              </a:endParaRPr>
            </a:p>
          </p:txBody>
        </p:sp>
        <p:sp>
          <p:nvSpPr>
            <p:cNvPr id="13336" name="Rectangle 24"/>
            <p:cNvSpPr/>
            <p:nvPr/>
          </p:nvSpPr>
          <p:spPr>
            <a:xfrm>
              <a:off x="4355" y="2903"/>
              <a:ext cx="1695"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Jones</a:t>
              </a:r>
              <a:endParaRPr lang="en-US" altLang="zh-CN" sz="2000" b="1" dirty="0">
                <a:solidFill>
                  <a:srgbClr val="1F2DA8"/>
                </a:solidFill>
                <a:latin typeface="Times New Roman" panose="02020603050405020304" pitchFamily="2" charset="0"/>
              </a:endParaRPr>
            </a:p>
          </p:txBody>
        </p:sp>
        <p:sp>
          <p:nvSpPr>
            <p:cNvPr id="13337" name="Rectangle 25"/>
            <p:cNvSpPr/>
            <p:nvPr/>
          </p:nvSpPr>
          <p:spPr>
            <a:xfrm>
              <a:off x="3385" y="2903"/>
              <a:ext cx="970" cy="700"/>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a:t>
              </a:r>
              <a:endParaRPr lang="zh-CN" altLang="en-US" sz="2000" b="1" dirty="0">
                <a:solidFill>
                  <a:srgbClr val="1F2DA8"/>
                </a:solidFill>
                <a:latin typeface="Times New Roman" panose="02020603050405020304" pitchFamily="2" charset="0"/>
              </a:endParaRPr>
            </a:p>
          </p:txBody>
        </p:sp>
        <p:sp>
          <p:nvSpPr>
            <p:cNvPr id="13338" name="Rectangle 26"/>
            <p:cNvSpPr/>
            <p:nvPr/>
          </p:nvSpPr>
          <p:spPr>
            <a:xfrm>
              <a:off x="9198" y="2228"/>
              <a:ext cx="2302"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telephone</a:t>
              </a:r>
              <a:endParaRPr lang="en-US" altLang="zh-CN" sz="2000" b="1" dirty="0">
                <a:solidFill>
                  <a:srgbClr val="FF0000"/>
                </a:solidFill>
                <a:latin typeface="Times New Roman" panose="02020603050405020304" pitchFamily="2" charset="0"/>
              </a:endParaRPr>
            </a:p>
          </p:txBody>
        </p:sp>
        <p:sp>
          <p:nvSpPr>
            <p:cNvPr id="13339" name="Rectangle 27"/>
            <p:cNvSpPr/>
            <p:nvPr/>
          </p:nvSpPr>
          <p:spPr>
            <a:xfrm>
              <a:off x="7865" y="2228"/>
              <a:ext cx="1333"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class</a:t>
              </a:r>
              <a:endParaRPr lang="en-US" altLang="zh-CN" sz="2000" b="1" dirty="0">
                <a:solidFill>
                  <a:srgbClr val="FF0000"/>
                </a:solidFill>
                <a:latin typeface="Times New Roman" panose="02020603050405020304" pitchFamily="2" charset="0"/>
              </a:endParaRPr>
            </a:p>
          </p:txBody>
        </p:sp>
        <p:sp>
          <p:nvSpPr>
            <p:cNvPr id="13340" name="Rectangle 28"/>
            <p:cNvSpPr/>
            <p:nvPr/>
          </p:nvSpPr>
          <p:spPr>
            <a:xfrm>
              <a:off x="6050" y="2228"/>
              <a:ext cx="1815"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fname</a:t>
              </a:r>
              <a:endParaRPr lang="en-US" altLang="zh-CN" sz="2000" b="1" dirty="0">
                <a:solidFill>
                  <a:srgbClr val="FF0000"/>
                </a:solidFill>
                <a:latin typeface="Times New Roman" panose="02020603050405020304" pitchFamily="2" charset="0"/>
              </a:endParaRPr>
            </a:p>
          </p:txBody>
        </p:sp>
        <p:sp>
          <p:nvSpPr>
            <p:cNvPr id="13341" name="Rectangle 29"/>
            <p:cNvSpPr/>
            <p:nvPr/>
          </p:nvSpPr>
          <p:spPr>
            <a:xfrm>
              <a:off x="4355" y="2228"/>
              <a:ext cx="1695"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lname</a:t>
              </a:r>
              <a:endParaRPr lang="en-US" altLang="zh-CN" sz="2000" b="1" dirty="0">
                <a:solidFill>
                  <a:srgbClr val="FF0000"/>
                </a:solidFill>
                <a:latin typeface="Times New Roman" panose="02020603050405020304" pitchFamily="2" charset="0"/>
              </a:endParaRPr>
            </a:p>
          </p:txBody>
        </p:sp>
        <p:sp>
          <p:nvSpPr>
            <p:cNvPr id="13342" name="Rectangle 30"/>
            <p:cNvSpPr/>
            <p:nvPr/>
          </p:nvSpPr>
          <p:spPr>
            <a:xfrm>
              <a:off x="3385" y="2228"/>
              <a:ext cx="970"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sid</a:t>
              </a:r>
              <a:endParaRPr lang="en-US" altLang="zh-CN" sz="2000" b="1" dirty="0">
                <a:solidFill>
                  <a:srgbClr val="FF0000"/>
                </a:solidFill>
                <a:latin typeface="Times New Roman" panose="02020603050405020304" pitchFamily="2" charset="0"/>
              </a:endParaRPr>
            </a:p>
          </p:txBody>
        </p:sp>
        <p:sp>
          <p:nvSpPr>
            <p:cNvPr id="13343" name="Line 31"/>
            <p:cNvSpPr/>
            <p:nvPr/>
          </p:nvSpPr>
          <p:spPr>
            <a:xfrm>
              <a:off x="3385" y="2228"/>
              <a:ext cx="8115" cy="0"/>
            </a:xfrm>
            <a:prstGeom prst="line">
              <a:avLst/>
            </a:prstGeom>
            <a:ln w="28575" cap="sq" cmpd="sng">
              <a:solidFill>
                <a:schemeClr val="tx1"/>
              </a:solidFill>
              <a:prstDash val="solid"/>
              <a:round/>
              <a:headEnd type="none" w="med" len="med"/>
              <a:tailEnd type="none" w="med" len="med"/>
            </a:ln>
          </p:spPr>
        </p:sp>
        <p:sp>
          <p:nvSpPr>
            <p:cNvPr id="13344" name="Line 32"/>
            <p:cNvSpPr/>
            <p:nvPr/>
          </p:nvSpPr>
          <p:spPr>
            <a:xfrm>
              <a:off x="3385" y="2903"/>
              <a:ext cx="8115" cy="0"/>
            </a:xfrm>
            <a:prstGeom prst="line">
              <a:avLst/>
            </a:prstGeom>
            <a:ln w="12700" cap="flat" cmpd="sng">
              <a:solidFill>
                <a:schemeClr val="tx1"/>
              </a:solidFill>
              <a:prstDash val="solid"/>
              <a:round/>
              <a:headEnd type="none" w="med" len="med"/>
              <a:tailEnd type="none" w="med" len="med"/>
            </a:ln>
          </p:spPr>
        </p:sp>
        <p:sp>
          <p:nvSpPr>
            <p:cNvPr id="13345" name="Line 33"/>
            <p:cNvSpPr/>
            <p:nvPr/>
          </p:nvSpPr>
          <p:spPr>
            <a:xfrm>
              <a:off x="3385" y="3603"/>
              <a:ext cx="8115" cy="0"/>
            </a:xfrm>
            <a:prstGeom prst="line">
              <a:avLst/>
            </a:prstGeom>
            <a:ln w="12700" cap="flat" cmpd="sng">
              <a:solidFill>
                <a:schemeClr val="tx1"/>
              </a:solidFill>
              <a:prstDash val="solid"/>
              <a:round/>
              <a:headEnd type="none" w="med" len="med"/>
              <a:tailEnd type="none" w="med" len="med"/>
            </a:ln>
          </p:spPr>
        </p:sp>
        <p:sp>
          <p:nvSpPr>
            <p:cNvPr id="13346" name="Line 34"/>
            <p:cNvSpPr/>
            <p:nvPr/>
          </p:nvSpPr>
          <p:spPr>
            <a:xfrm>
              <a:off x="3385" y="4308"/>
              <a:ext cx="8115" cy="0"/>
            </a:xfrm>
            <a:prstGeom prst="line">
              <a:avLst/>
            </a:prstGeom>
            <a:ln w="12700" cap="flat" cmpd="sng">
              <a:solidFill>
                <a:schemeClr val="tx1"/>
              </a:solidFill>
              <a:prstDash val="solid"/>
              <a:round/>
              <a:headEnd type="none" w="med" len="med"/>
              <a:tailEnd type="none" w="med" len="med"/>
            </a:ln>
          </p:spPr>
        </p:sp>
        <p:sp>
          <p:nvSpPr>
            <p:cNvPr id="13347" name="Line 35"/>
            <p:cNvSpPr/>
            <p:nvPr/>
          </p:nvSpPr>
          <p:spPr>
            <a:xfrm>
              <a:off x="3385" y="5010"/>
              <a:ext cx="8115" cy="0"/>
            </a:xfrm>
            <a:prstGeom prst="line">
              <a:avLst/>
            </a:prstGeom>
            <a:ln w="12700" cap="flat" cmpd="sng">
              <a:solidFill>
                <a:schemeClr val="tx1"/>
              </a:solidFill>
              <a:prstDash val="solid"/>
              <a:round/>
              <a:headEnd type="none" w="med" len="med"/>
              <a:tailEnd type="none" w="med" len="med"/>
            </a:ln>
          </p:spPr>
        </p:sp>
        <p:sp>
          <p:nvSpPr>
            <p:cNvPr id="13348" name="Line 36"/>
            <p:cNvSpPr/>
            <p:nvPr/>
          </p:nvSpPr>
          <p:spPr>
            <a:xfrm>
              <a:off x="3385" y="5710"/>
              <a:ext cx="8115" cy="0"/>
            </a:xfrm>
            <a:prstGeom prst="line">
              <a:avLst/>
            </a:prstGeom>
            <a:ln w="28575" cap="sq" cmpd="sng">
              <a:solidFill>
                <a:schemeClr val="tx1"/>
              </a:solidFill>
              <a:prstDash val="solid"/>
              <a:round/>
              <a:headEnd type="none" w="med" len="med"/>
              <a:tailEnd type="none" w="med" len="med"/>
            </a:ln>
          </p:spPr>
        </p:sp>
        <p:sp>
          <p:nvSpPr>
            <p:cNvPr id="13349" name="Line 37"/>
            <p:cNvSpPr/>
            <p:nvPr/>
          </p:nvSpPr>
          <p:spPr>
            <a:xfrm>
              <a:off x="3385" y="2228"/>
              <a:ext cx="0" cy="3482"/>
            </a:xfrm>
            <a:prstGeom prst="line">
              <a:avLst/>
            </a:prstGeom>
            <a:ln w="28575" cap="sq" cmpd="sng">
              <a:solidFill>
                <a:schemeClr val="tx1"/>
              </a:solidFill>
              <a:prstDash val="solid"/>
              <a:round/>
              <a:headEnd type="none" w="med" len="med"/>
              <a:tailEnd type="none" w="med" len="med"/>
            </a:ln>
          </p:spPr>
        </p:sp>
        <p:sp>
          <p:nvSpPr>
            <p:cNvPr id="13350" name="Line 38"/>
            <p:cNvSpPr/>
            <p:nvPr/>
          </p:nvSpPr>
          <p:spPr>
            <a:xfrm>
              <a:off x="4355" y="2228"/>
              <a:ext cx="0" cy="3482"/>
            </a:xfrm>
            <a:prstGeom prst="line">
              <a:avLst/>
            </a:prstGeom>
            <a:ln w="12700" cap="flat" cmpd="sng">
              <a:solidFill>
                <a:schemeClr val="tx1"/>
              </a:solidFill>
              <a:prstDash val="solid"/>
              <a:round/>
              <a:headEnd type="none" w="med" len="med"/>
              <a:tailEnd type="none" w="med" len="med"/>
            </a:ln>
          </p:spPr>
        </p:sp>
        <p:sp>
          <p:nvSpPr>
            <p:cNvPr id="13351" name="Line 39"/>
            <p:cNvSpPr/>
            <p:nvPr/>
          </p:nvSpPr>
          <p:spPr>
            <a:xfrm>
              <a:off x="6050" y="2228"/>
              <a:ext cx="0" cy="3482"/>
            </a:xfrm>
            <a:prstGeom prst="line">
              <a:avLst/>
            </a:prstGeom>
            <a:ln w="12700" cap="flat" cmpd="sng">
              <a:solidFill>
                <a:schemeClr val="tx1"/>
              </a:solidFill>
              <a:prstDash val="solid"/>
              <a:round/>
              <a:headEnd type="none" w="med" len="med"/>
              <a:tailEnd type="none" w="med" len="med"/>
            </a:ln>
          </p:spPr>
        </p:sp>
        <p:sp>
          <p:nvSpPr>
            <p:cNvPr id="13352" name="Line 40"/>
            <p:cNvSpPr/>
            <p:nvPr/>
          </p:nvSpPr>
          <p:spPr>
            <a:xfrm>
              <a:off x="7865" y="2228"/>
              <a:ext cx="0" cy="3482"/>
            </a:xfrm>
            <a:prstGeom prst="line">
              <a:avLst/>
            </a:prstGeom>
            <a:ln w="12700" cap="flat" cmpd="sng">
              <a:solidFill>
                <a:schemeClr val="tx1"/>
              </a:solidFill>
              <a:prstDash val="solid"/>
              <a:round/>
              <a:headEnd type="none" w="med" len="med"/>
              <a:tailEnd type="none" w="med" len="med"/>
            </a:ln>
          </p:spPr>
        </p:sp>
        <p:sp>
          <p:nvSpPr>
            <p:cNvPr id="13353" name="Line 41"/>
            <p:cNvSpPr/>
            <p:nvPr/>
          </p:nvSpPr>
          <p:spPr>
            <a:xfrm>
              <a:off x="9198" y="2228"/>
              <a:ext cx="0" cy="3482"/>
            </a:xfrm>
            <a:prstGeom prst="line">
              <a:avLst/>
            </a:prstGeom>
            <a:ln w="12700" cap="flat" cmpd="sng">
              <a:solidFill>
                <a:schemeClr val="tx1"/>
              </a:solidFill>
              <a:prstDash val="solid"/>
              <a:round/>
              <a:headEnd type="none" w="med" len="med"/>
              <a:tailEnd type="none" w="med" len="med"/>
            </a:ln>
          </p:spPr>
        </p:sp>
        <p:sp>
          <p:nvSpPr>
            <p:cNvPr id="13354" name="Line 42"/>
            <p:cNvSpPr/>
            <p:nvPr/>
          </p:nvSpPr>
          <p:spPr>
            <a:xfrm>
              <a:off x="11500" y="2228"/>
              <a:ext cx="0" cy="3482"/>
            </a:xfrm>
            <a:prstGeom prst="line">
              <a:avLst/>
            </a:prstGeom>
            <a:ln w="28575" cap="sq" cmpd="sng">
              <a:solidFill>
                <a:schemeClr val="tx1"/>
              </a:solidFill>
              <a:prstDash val="solid"/>
              <a:round/>
              <a:headEnd type="none" w="med" len="med"/>
              <a:tailEnd type="none" w="med" len="med"/>
            </a:ln>
          </p:spPr>
        </p:sp>
        <p:sp>
          <p:nvSpPr>
            <p:cNvPr id="13355" name="Text Box 111"/>
            <p:cNvSpPr txBox="1"/>
            <p:nvPr/>
          </p:nvSpPr>
          <p:spPr>
            <a:xfrm>
              <a:off x="3508" y="1550"/>
              <a:ext cx="2422" cy="580"/>
            </a:xfrm>
            <a:prstGeom prst="rect">
              <a:avLst/>
            </a:prstGeom>
            <a:noFill/>
            <a:ln w="9525">
              <a:noFill/>
            </a:ln>
          </p:spPr>
          <p:txBody>
            <a:bodyPr anchor="t">
              <a:spAutoFit/>
            </a:bodyPr>
            <a:p>
              <a:pPr>
                <a:spcBef>
                  <a:spcPct val="50000"/>
                </a:spcBef>
              </a:pPr>
              <a:r>
                <a:rPr lang="en-US" altLang="zh-CN" b="1" dirty="0">
                  <a:latin typeface="Arial" panose="020B0604020202020204" pitchFamily="34" charset="0"/>
                </a:rPr>
                <a:t>students</a:t>
              </a:r>
              <a:endParaRPr lang="en-US" altLang="zh-CN" b="1" dirty="0">
                <a:latin typeface="Arial" panose="020B0604020202020204" pitchFamily="34" charset="0"/>
              </a:endParaRPr>
            </a:p>
          </p:txBody>
        </p:sp>
      </p:grpSp>
      <p:grpSp>
        <p:nvGrpSpPr>
          <p:cNvPr id="12333" name="组合 12332"/>
          <p:cNvGrpSpPr/>
          <p:nvPr/>
        </p:nvGrpSpPr>
        <p:grpSpPr>
          <a:xfrm>
            <a:off x="1366520" y="3658222"/>
            <a:ext cx="3844925" cy="2629866"/>
            <a:chOff x="0" y="176"/>
            <a:chExt cx="6054" cy="4142"/>
          </a:xfrm>
        </p:grpSpPr>
        <p:sp>
          <p:nvSpPr>
            <p:cNvPr id="13357" name="Rectangle 43"/>
            <p:cNvSpPr/>
            <p:nvPr/>
          </p:nvSpPr>
          <p:spPr>
            <a:xfrm>
              <a:off x="4722" y="3616"/>
              <a:ext cx="1332"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MW4</a:t>
              </a:r>
              <a:endParaRPr lang="en-US" altLang="zh-CN" sz="2000" b="1" dirty="0">
                <a:solidFill>
                  <a:srgbClr val="1F2DA8"/>
                </a:solidFill>
                <a:latin typeface="Times New Roman" panose="02020603050405020304" pitchFamily="2" charset="0"/>
              </a:endParaRPr>
            </a:p>
          </p:txBody>
        </p:sp>
        <p:sp>
          <p:nvSpPr>
            <p:cNvPr id="13358" name="Rectangle 44"/>
            <p:cNvSpPr/>
            <p:nvPr/>
          </p:nvSpPr>
          <p:spPr>
            <a:xfrm>
              <a:off x="3148" y="3616"/>
              <a:ext cx="1574"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2-113</a:t>
              </a:r>
              <a:endParaRPr lang="zh-CN" altLang="en-US" sz="2000" b="1" dirty="0">
                <a:solidFill>
                  <a:srgbClr val="1F2DA8"/>
                </a:solidFill>
                <a:latin typeface="Times New Roman" panose="02020603050405020304" pitchFamily="2" charset="0"/>
              </a:endParaRPr>
            </a:p>
          </p:txBody>
        </p:sp>
        <p:sp>
          <p:nvSpPr>
            <p:cNvPr id="13359" name="Rectangle 45"/>
            <p:cNvSpPr/>
            <p:nvPr/>
          </p:nvSpPr>
          <p:spPr>
            <a:xfrm>
              <a:off x="1090" y="3616"/>
              <a:ext cx="2058"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Calculus</a:t>
              </a:r>
              <a:endParaRPr lang="en-US" altLang="zh-CN" sz="2000" b="1" dirty="0">
                <a:solidFill>
                  <a:srgbClr val="1F2DA8"/>
                </a:solidFill>
                <a:latin typeface="Times New Roman" panose="02020603050405020304" pitchFamily="2" charset="0"/>
              </a:endParaRPr>
            </a:p>
          </p:txBody>
        </p:sp>
        <p:sp>
          <p:nvSpPr>
            <p:cNvPr id="13360" name="Rectangle 46"/>
            <p:cNvSpPr/>
            <p:nvPr/>
          </p:nvSpPr>
          <p:spPr>
            <a:xfrm>
              <a:off x="0" y="3616"/>
              <a:ext cx="1090"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108</a:t>
              </a:r>
              <a:endParaRPr lang="zh-CN" altLang="en-US" sz="2000" b="1" dirty="0">
                <a:solidFill>
                  <a:srgbClr val="1F2DA8"/>
                </a:solidFill>
                <a:latin typeface="Times New Roman" panose="02020603050405020304" pitchFamily="2" charset="0"/>
              </a:endParaRPr>
            </a:p>
          </p:txBody>
        </p:sp>
        <p:sp>
          <p:nvSpPr>
            <p:cNvPr id="13361" name="Rectangle 47"/>
            <p:cNvSpPr/>
            <p:nvPr/>
          </p:nvSpPr>
          <p:spPr>
            <a:xfrm>
              <a:off x="4722" y="2915"/>
              <a:ext cx="1332"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MW2</a:t>
              </a:r>
              <a:endParaRPr lang="en-US" altLang="zh-CN" sz="2000" b="1" dirty="0">
                <a:solidFill>
                  <a:srgbClr val="1F2DA8"/>
                </a:solidFill>
                <a:latin typeface="Times New Roman" panose="02020603050405020304" pitchFamily="2" charset="0"/>
              </a:endParaRPr>
            </a:p>
          </p:txBody>
        </p:sp>
        <p:sp>
          <p:nvSpPr>
            <p:cNvPr id="13362" name="Rectangle 48"/>
            <p:cNvSpPr/>
            <p:nvPr/>
          </p:nvSpPr>
          <p:spPr>
            <a:xfrm>
              <a:off x="3148" y="2915"/>
              <a:ext cx="1574"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3-105</a:t>
              </a:r>
              <a:endParaRPr lang="zh-CN" altLang="en-US" sz="2000" b="1" dirty="0">
                <a:solidFill>
                  <a:srgbClr val="1F2DA8"/>
                </a:solidFill>
                <a:latin typeface="Times New Roman" panose="02020603050405020304" pitchFamily="2" charset="0"/>
              </a:endParaRPr>
            </a:p>
          </p:txBody>
        </p:sp>
        <p:sp>
          <p:nvSpPr>
            <p:cNvPr id="13363" name="Rectangle 49"/>
            <p:cNvSpPr/>
            <p:nvPr/>
          </p:nvSpPr>
          <p:spPr>
            <a:xfrm>
              <a:off x="1090" y="2915"/>
              <a:ext cx="2058"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Algebra</a:t>
              </a:r>
              <a:endParaRPr lang="en-US" altLang="zh-CN" sz="2000" b="1" dirty="0">
                <a:solidFill>
                  <a:srgbClr val="1F2DA8"/>
                </a:solidFill>
                <a:latin typeface="Times New Roman" panose="02020603050405020304" pitchFamily="2" charset="0"/>
              </a:endParaRPr>
            </a:p>
          </p:txBody>
        </p:sp>
        <p:sp>
          <p:nvSpPr>
            <p:cNvPr id="13364" name="Rectangle 50"/>
            <p:cNvSpPr/>
            <p:nvPr/>
          </p:nvSpPr>
          <p:spPr>
            <a:xfrm>
              <a:off x="0" y="2915"/>
              <a:ext cx="1090"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105</a:t>
              </a:r>
              <a:endParaRPr lang="zh-CN" altLang="en-US" sz="2000" b="1" dirty="0">
                <a:solidFill>
                  <a:srgbClr val="1F2DA8"/>
                </a:solidFill>
                <a:latin typeface="Times New Roman" panose="02020603050405020304" pitchFamily="2" charset="0"/>
              </a:endParaRPr>
            </a:p>
          </p:txBody>
        </p:sp>
        <p:sp>
          <p:nvSpPr>
            <p:cNvPr id="13365" name="Rectangle 51"/>
            <p:cNvSpPr/>
            <p:nvPr/>
          </p:nvSpPr>
          <p:spPr>
            <a:xfrm>
              <a:off x="4722" y="2210"/>
              <a:ext cx="1332"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MW3</a:t>
              </a:r>
              <a:endParaRPr lang="en-US" altLang="zh-CN" sz="2000" b="1" dirty="0">
                <a:solidFill>
                  <a:srgbClr val="1F2DA8"/>
                </a:solidFill>
                <a:latin typeface="Times New Roman" panose="02020603050405020304" pitchFamily="2" charset="0"/>
              </a:endParaRPr>
            </a:p>
          </p:txBody>
        </p:sp>
        <p:sp>
          <p:nvSpPr>
            <p:cNvPr id="13366" name="Rectangle 52"/>
            <p:cNvSpPr/>
            <p:nvPr/>
          </p:nvSpPr>
          <p:spPr>
            <a:xfrm>
              <a:off x="3148" y="2210"/>
              <a:ext cx="1574"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2-113</a:t>
              </a:r>
              <a:endParaRPr lang="zh-CN" altLang="en-US" sz="2000" b="1" dirty="0">
                <a:solidFill>
                  <a:srgbClr val="1F2DA8"/>
                </a:solidFill>
                <a:latin typeface="Times New Roman" panose="02020603050405020304" pitchFamily="2" charset="0"/>
              </a:endParaRPr>
            </a:p>
          </p:txBody>
        </p:sp>
        <p:sp>
          <p:nvSpPr>
            <p:cNvPr id="13367" name="Rectangle 53"/>
            <p:cNvSpPr/>
            <p:nvPr/>
          </p:nvSpPr>
          <p:spPr>
            <a:xfrm>
              <a:off x="1090" y="2210"/>
              <a:ext cx="2058"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French II</a:t>
              </a:r>
              <a:endParaRPr lang="en-US" altLang="zh-CN" sz="2000" b="1" dirty="0">
                <a:solidFill>
                  <a:srgbClr val="1F2DA8"/>
                </a:solidFill>
                <a:latin typeface="Times New Roman" panose="02020603050405020304" pitchFamily="2" charset="0"/>
              </a:endParaRPr>
            </a:p>
          </p:txBody>
        </p:sp>
        <p:sp>
          <p:nvSpPr>
            <p:cNvPr id="13368" name="Rectangle 54"/>
            <p:cNvSpPr/>
            <p:nvPr/>
          </p:nvSpPr>
          <p:spPr>
            <a:xfrm>
              <a:off x="0" y="2210"/>
              <a:ext cx="1090"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102</a:t>
              </a:r>
              <a:endParaRPr lang="zh-CN" altLang="en-US" sz="2000" b="1" dirty="0">
                <a:solidFill>
                  <a:srgbClr val="1F2DA8"/>
                </a:solidFill>
                <a:latin typeface="Times New Roman" panose="02020603050405020304" pitchFamily="2" charset="0"/>
              </a:endParaRPr>
            </a:p>
          </p:txBody>
        </p:sp>
        <p:sp>
          <p:nvSpPr>
            <p:cNvPr id="13369" name="Rectangle 55"/>
            <p:cNvSpPr/>
            <p:nvPr/>
          </p:nvSpPr>
          <p:spPr>
            <a:xfrm>
              <a:off x="4722" y="1455"/>
              <a:ext cx="1332" cy="75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MW2</a:t>
              </a:r>
              <a:endParaRPr lang="en-US" altLang="zh-CN" sz="2000" b="1" dirty="0">
                <a:solidFill>
                  <a:srgbClr val="1F2DA8"/>
                </a:solidFill>
                <a:latin typeface="Times New Roman" panose="02020603050405020304" pitchFamily="2" charset="0"/>
              </a:endParaRPr>
            </a:p>
          </p:txBody>
        </p:sp>
        <p:sp>
          <p:nvSpPr>
            <p:cNvPr id="13370" name="Rectangle 56"/>
            <p:cNvSpPr/>
            <p:nvPr/>
          </p:nvSpPr>
          <p:spPr>
            <a:xfrm>
              <a:off x="3148" y="1455"/>
              <a:ext cx="1574" cy="75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2-104</a:t>
              </a:r>
              <a:endParaRPr lang="zh-CN" altLang="en-US" sz="2000" b="1" dirty="0">
                <a:solidFill>
                  <a:srgbClr val="1F2DA8"/>
                </a:solidFill>
                <a:latin typeface="Times New Roman" panose="02020603050405020304" pitchFamily="2" charset="0"/>
              </a:endParaRPr>
            </a:p>
          </p:txBody>
        </p:sp>
        <p:sp>
          <p:nvSpPr>
            <p:cNvPr id="13371" name="Rectangle 57"/>
            <p:cNvSpPr/>
            <p:nvPr/>
          </p:nvSpPr>
          <p:spPr>
            <a:xfrm>
              <a:off x="1090" y="1455"/>
              <a:ext cx="2058" cy="75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French I</a:t>
              </a:r>
              <a:endParaRPr lang="en-US" altLang="zh-CN" sz="2000" b="1" dirty="0">
                <a:solidFill>
                  <a:srgbClr val="1F2DA8"/>
                </a:solidFill>
                <a:latin typeface="Times New Roman" panose="02020603050405020304" pitchFamily="2" charset="0"/>
              </a:endParaRPr>
            </a:p>
          </p:txBody>
        </p:sp>
        <p:sp>
          <p:nvSpPr>
            <p:cNvPr id="13372" name="Rectangle 58"/>
            <p:cNvSpPr/>
            <p:nvPr/>
          </p:nvSpPr>
          <p:spPr>
            <a:xfrm>
              <a:off x="0" y="1455"/>
              <a:ext cx="1090" cy="75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101</a:t>
              </a:r>
              <a:endParaRPr lang="zh-CN" altLang="en-US" sz="2000" b="1" dirty="0">
                <a:solidFill>
                  <a:srgbClr val="1F2DA8"/>
                </a:solidFill>
                <a:latin typeface="Times New Roman" panose="02020603050405020304" pitchFamily="2" charset="0"/>
              </a:endParaRPr>
            </a:p>
          </p:txBody>
        </p:sp>
        <p:sp>
          <p:nvSpPr>
            <p:cNvPr id="13373" name="Rectangle 59"/>
            <p:cNvSpPr/>
            <p:nvPr/>
          </p:nvSpPr>
          <p:spPr>
            <a:xfrm>
              <a:off x="4722" y="780"/>
              <a:ext cx="1332"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time</a:t>
              </a:r>
              <a:endParaRPr lang="en-US" altLang="zh-CN" sz="2000" b="1" dirty="0">
                <a:solidFill>
                  <a:srgbClr val="FF0000"/>
                </a:solidFill>
                <a:latin typeface="Times New Roman" panose="02020603050405020304" pitchFamily="2" charset="0"/>
              </a:endParaRPr>
            </a:p>
          </p:txBody>
        </p:sp>
        <p:sp>
          <p:nvSpPr>
            <p:cNvPr id="13374" name="Rectangle 60"/>
            <p:cNvSpPr/>
            <p:nvPr/>
          </p:nvSpPr>
          <p:spPr>
            <a:xfrm>
              <a:off x="3148" y="780"/>
              <a:ext cx="1574"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croom</a:t>
              </a:r>
              <a:endParaRPr lang="en-US" altLang="zh-CN" sz="2000" b="1" dirty="0">
                <a:solidFill>
                  <a:srgbClr val="FF0000"/>
                </a:solidFill>
                <a:latin typeface="Times New Roman" panose="02020603050405020304" pitchFamily="2" charset="0"/>
              </a:endParaRPr>
            </a:p>
          </p:txBody>
        </p:sp>
        <p:sp>
          <p:nvSpPr>
            <p:cNvPr id="13375" name="Rectangle 61"/>
            <p:cNvSpPr/>
            <p:nvPr/>
          </p:nvSpPr>
          <p:spPr>
            <a:xfrm>
              <a:off x="1090" y="780"/>
              <a:ext cx="2058"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cname</a:t>
              </a:r>
              <a:endParaRPr lang="en-US" altLang="zh-CN" sz="2000" b="1" dirty="0">
                <a:solidFill>
                  <a:srgbClr val="FF0000"/>
                </a:solidFill>
                <a:latin typeface="Times New Roman" panose="02020603050405020304" pitchFamily="2" charset="0"/>
              </a:endParaRPr>
            </a:p>
          </p:txBody>
        </p:sp>
        <p:sp>
          <p:nvSpPr>
            <p:cNvPr id="13376" name="Rectangle 62"/>
            <p:cNvSpPr/>
            <p:nvPr/>
          </p:nvSpPr>
          <p:spPr>
            <a:xfrm>
              <a:off x="0" y="780"/>
              <a:ext cx="1090"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cno</a:t>
              </a:r>
              <a:endParaRPr lang="en-US" altLang="zh-CN" sz="2000" b="1" dirty="0">
                <a:solidFill>
                  <a:srgbClr val="FF0000"/>
                </a:solidFill>
                <a:latin typeface="Times New Roman" panose="02020603050405020304" pitchFamily="2" charset="0"/>
              </a:endParaRPr>
            </a:p>
          </p:txBody>
        </p:sp>
        <p:sp>
          <p:nvSpPr>
            <p:cNvPr id="13377" name="Line 63"/>
            <p:cNvSpPr/>
            <p:nvPr/>
          </p:nvSpPr>
          <p:spPr>
            <a:xfrm>
              <a:off x="0" y="780"/>
              <a:ext cx="6054" cy="0"/>
            </a:xfrm>
            <a:prstGeom prst="line">
              <a:avLst/>
            </a:prstGeom>
            <a:ln w="28575" cap="sq" cmpd="sng">
              <a:solidFill>
                <a:schemeClr val="tx1"/>
              </a:solidFill>
              <a:prstDash val="solid"/>
              <a:round/>
              <a:headEnd type="none" w="med" len="med"/>
              <a:tailEnd type="none" w="med" len="med"/>
            </a:ln>
          </p:spPr>
        </p:sp>
        <p:sp>
          <p:nvSpPr>
            <p:cNvPr id="13378" name="Line 64"/>
            <p:cNvSpPr/>
            <p:nvPr/>
          </p:nvSpPr>
          <p:spPr>
            <a:xfrm>
              <a:off x="0" y="1455"/>
              <a:ext cx="6054" cy="0"/>
            </a:xfrm>
            <a:prstGeom prst="line">
              <a:avLst/>
            </a:prstGeom>
            <a:ln w="12700" cap="flat" cmpd="sng">
              <a:solidFill>
                <a:schemeClr val="tx1"/>
              </a:solidFill>
              <a:prstDash val="solid"/>
              <a:round/>
              <a:headEnd type="none" w="med" len="med"/>
              <a:tailEnd type="none" w="med" len="med"/>
            </a:ln>
          </p:spPr>
        </p:sp>
        <p:sp>
          <p:nvSpPr>
            <p:cNvPr id="13379" name="Line 65"/>
            <p:cNvSpPr/>
            <p:nvPr/>
          </p:nvSpPr>
          <p:spPr>
            <a:xfrm>
              <a:off x="0" y="2210"/>
              <a:ext cx="6054" cy="0"/>
            </a:xfrm>
            <a:prstGeom prst="line">
              <a:avLst/>
            </a:prstGeom>
            <a:ln w="12700" cap="flat" cmpd="sng">
              <a:solidFill>
                <a:schemeClr val="tx1"/>
              </a:solidFill>
              <a:prstDash val="solid"/>
              <a:round/>
              <a:headEnd type="none" w="med" len="med"/>
              <a:tailEnd type="none" w="med" len="med"/>
            </a:ln>
          </p:spPr>
        </p:sp>
        <p:sp>
          <p:nvSpPr>
            <p:cNvPr id="13380" name="Line 66"/>
            <p:cNvSpPr/>
            <p:nvPr/>
          </p:nvSpPr>
          <p:spPr>
            <a:xfrm>
              <a:off x="0" y="2915"/>
              <a:ext cx="6054" cy="0"/>
            </a:xfrm>
            <a:prstGeom prst="line">
              <a:avLst/>
            </a:prstGeom>
            <a:ln w="12700" cap="flat" cmpd="sng">
              <a:solidFill>
                <a:schemeClr val="tx1"/>
              </a:solidFill>
              <a:prstDash val="solid"/>
              <a:round/>
              <a:headEnd type="none" w="med" len="med"/>
              <a:tailEnd type="none" w="med" len="med"/>
            </a:ln>
          </p:spPr>
        </p:sp>
        <p:sp>
          <p:nvSpPr>
            <p:cNvPr id="13381" name="Line 67"/>
            <p:cNvSpPr/>
            <p:nvPr/>
          </p:nvSpPr>
          <p:spPr>
            <a:xfrm>
              <a:off x="0" y="3616"/>
              <a:ext cx="6054" cy="0"/>
            </a:xfrm>
            <a:prstGeom prst="line">
              <a:avLst/>
            </a:prstGeom>
            <a:ln w="12700" cap="flat" cmpd="sng">
              <a:solidFill>
                <a:schemeClr val="tx1"/>
              </a:solidFill>
              <a:prstDash val="solid"/>
              <a:round/>
              <a:headEnd type="none" w="med" len="med"/>
              <a:tailEnd type="none" w="med" len="med"/>
            </a:ln>
          </p:spPr>
        </p:sp>
        <p:sp>
          <p:nvSpPr>
            <p:cNvPr id="13382" name="Line 68"/>
            <p:cNvSpPr/>
            <p:nvPr/>
          </p:nvSpPr>
          <p:spPr>
            <a:xfrm>
              <a:off x="0" y="4318"/>
              <a:ext cx="6054" cy="0"/>
            </a:xfrm>
            <a:prstGeom prst="line">
              <a:avLst/>
            </a:prstGeom>
            <a:ln w="28575" cap="sq" cmpd="sng">
              <a:solidFill>
                <a:schemeClr val="tx1"/>
              </a:solidFill>
              <a:prstDash val="solid"/>
              <a:round/>
              <a:headEnd type="none" w="med" len="med"/>
              <a:tailEnd type="none" w="med" len="med"/>
            </a:ln>
          </p:spPr>
        </p:sp>
        <p:sp>
          <p:nvSpPr>
            <p:cNvPr id="13383" name="Line 69"/>
            <p:cNvSpPr/>
            <p:nvPr/>
          </p:nvSpPr>
          <p:spPr>
            <a:xfrm>
              <a:off x="0" y="780"/>
              <a:ext cx="0" cy="3538"/>
            </a:xfrm>
            <a:prstGeom prst="line">
              <a:avLst/>
            </a:prstGeom>
            <a:ln w="28575" cap="sq" cmpd="sng">
              <a:solidFill>
                <a:schemeClr val="tx1"/>
              </a:solidFill>
              <a:prstDash val="solid"/>
              <a:round/>
              <a:headEnd type="none" w="med" len="med"/>
              <a:tailEnd type="none" w="med" len="med"/>
            </a:ln>
          </p:spPr>
        </p:sp>
        <p:sp>
          <p:nvSpPr>
            <p:cNvPr id="13384" name="Line 70"/>
            <p:cNvSpPr/>
            <p:nvPr/>
          </p:nvSpPr>
          <p:spPr>
            <a:xfrm>
              <a:off x="1090" y="780"/>
              <a:ext cx="0" cy="3538"/>
            </a:xfrm>
            <a:prstGeom prst="line">
              <a:avLst/>
            </a:prstGeom>
            <a:ln w="12700" cap="flat" cmpd="sng">
              <a:solidFill>
                <a:schemeClr val="tx1"/>
              </a:solidFill>
              <a:prstDash val="solid"/>
              <a:round/>
              <a:headEnd type="none" w="med" len="med"/>
              <a:tailEnd type="none" w="med" len="med"/>
            </a:ln>
          </p:spPr>
        </p:sp>
        <p:sp>
          <p:nvSpPr>
            <p:cNvPr id="13385" name="Line 71"/>
            <p:cNvSpPr/>
            <p:nvPr/>
          </p:nvSpPr>
          <p:spPr>
            <a:xfrm>
              <a:off x="3148" y="780"/>
              <a:ext cx="0" cy="3538"/>
            </a:xfrm>
            <a:prstGeom prst="line">
              <a:avLst/>
            </a:prstGeom>
            <a:ln w="12700" cap="flat" cmpd="sng">
              <a:solidFill>
                <a:schemeClr val="tx1"/>
              </a:solidFill>
              <a:prstDash val="solid"/>
              <a:round/>
              <a:headEnd type="none" w="med" len="med"/>
              <a:tailEnd type="none" w="med" len="med"/>
            </a:ln>
          </p:spPr>
        </p:sp>
        <p:sp>
          <p:nvSpPr>
            <p:cNvPr id="13386" name="Line 72"/>
            <p:cNvSpPr/>
            <p:nvPr/>
          </p:nvSpPr>
          <p:spPr>
            <a:xfrm>
              <a:off x="4722" y="780"/>
              <a:ext cx="0" cy="3538"/>
            </a:xfrm>
            <a:prstGeom prst="line">
              <a:avLst/>
            </a:prstGeom>
            <a:ln w="12700" cap="flat" cmpd="sng">
              <a:solidFill>
                <a:schemeClr val="tx1"/>
              </a:solidFill>
              <a:prstDash val="solid"/>
              <a:round/>
              <a:headEnd type="none" w="med" len="med"/>
              <a:tailEnd type="none" w="med" len="med"/>
            </a:ln>
          </p:spPr>
        </p:sp>
        <p:sp>
          <p:nvSpPr>
            <p:cNvPr id="13387" name="Line 73"/>
            <p:cNvSpPr/>
            <p:nvPr/>
          </p:nvSpPr>
          <p:spPr>
            <a:xfrm>
              <a:off x="6054" y="780"/>
              <a:ext cx="0" cy="3538"/>
            </a:xfrm>
            <a:prstGeom prst="line">
              <a:avLst/>
            </a:prstGeom>
            <a:ln w="28575" cap="sq" cmpd="sng">
              <a:solidFill>
                <a:schemeClr val="tx1"/>
              </a:solidFill>
              <a:prstDash val="solid"/>
              <a:round/>
              <a:headEnd type="none" w="med" len="med"/>
              <a:tailEnd type="none" w="med" len="med"/>
            </a:ln>
          </p:spPr>
        </p:sp>
        <p:sp>
          <p:nvSpPr>
            <p:cNvPr id="13388" name="Text Box 112"/>
            <p:cNvSpPr txBox="1"/>
            <p:nvPr/>
          </p:nvSpPr>
          <p:spPr>
            <a:xfrm>
              <a:off x="121" y="176"/>
              <a:ext cx="2422" cy="580"/>
            </a:xfrm>
            <a:prstGeom prst="rect">
              <a:avLst/>
            </a:prstGeom>
            <a:noFill/>
            <a:ln w="9525">
              <a:noFill/>
            </a:ln>
          </p:spPr>
          <p:txBody>
            <a:bodyPr anchor="t">
              <a:spAutoFit/>
            </a:bodyPr>
            <a:p>
              <a:pPr>
                <a:spcBef>
                  <a:spcPct val="50000"/>
                </a:spcBef>
              </a:pPr>
              <a:r>
                <a:rPr lang="en-US" altLang="zh-CN" b="1" dirty="0">
                  <a:solidFill>
                    <a:schemeClr val="tx1"/>
                  </a:solidFill>
                  <a:latin typeface="Arial" panose="020B0604020202020204" pitchFamily="34" charset="0"/>
                </a:rPr>
                <a:t>courses</a:t>
              </a:r>
              <a:endParaRPr lang="en-US" altLang="zh-CN" b="1" dirty="0">
                <a:solidFill>
                  <a:schemeClr val="tx1"/>
                </a:solidFill>
                <a:latin typeface="Arial" panose="020B0604020202020204" pitchFamily="34" charset="0"/>
              </a:endParaRPr>
            </a:p>
          </p:txBody>
        </p:sp>
      </p:grpSp>
      <p:grpSp>
        <p:nvGrpSpPr>
          <p:cNvPr id="12366" name="组合 12365"/>
          <p:cNvGrpSpPr/>
          <p:nvPr/>
        </p:nvGrpSpPr>
        <p:grpSpPr>
          <a:xfrm>
            <a:off x="7916863" y="695960"/>
            <a:ext cx="2230437" cy="3995738"/>
            <a:chOff x="0" y="0"/>
            <a:chExt cx="3511" cy="6292"/>
          </a:xfrm>
        </p:grpSpPr>
        <p:sp>
          <p:nvSpPr>
            <p:cNvPr id="13390" name="Rectangle 74"/>
            <p:cNvSpPr/>
            <p:nvPr/>
          </p:nvSpPr>
          <p:spPr>
            <a:xfrm>
              <a:off x="2058" y="4188"/>
              <a:ext cx="1453"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endParaRPr lang="en-US" altLang="zh-CN" sz="2000" b="1" dirty="0">
                <a:solidFill>
                  <a:srgbClr val="1F2DA8"/>
                </a:solidFill>
                <a:latin typeface="Times New Roman" panose="02020603050405020304" pitchFamily="2" charset="0"/>
              </a:endParaRPr>
            </a:p>
          </p:txBody>
        </p:sp>
        <p:sp>
          <p:nvSpPr>
            <p:cNvPr id="13391" name="Rectangle 75"/>
            <p:cNvSpPr/>
            <p:nvPr/>
          </p:nvSpPr>
          <p:spPr>
            <a:xfrm>
              <a:off x="968" y="4188"/>
              <a:ext cx="1090"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108</a:t>
              </a:r>
              <a:endParaRPr lang="zh-CN" altLang="en-US" sz="2000" b="1" dirty="0">
                <a:solidFill>
                  <a:srgbClr val="1F2DA8"/>
                </a:solidFill>
                <a:latin typeface="Times New Roman" panose="02020603050405020304" pitchFamily="2" charset="0"/>
              </a:endParaRPr>
            </a:p>
          </p:txBody>
        </p:sp>
        <p:sp>
          <p:nvSpPr>
            <p:cNvPr id="13392" name="Rectangle 76"/>
            <p:cNvSpPr/>
            <p:nvPr/>
          </p:nvSpPr>
          <p:spPr>
            <a:xfrm>
              <a:off x="0" y="4188"/>
              <a:ext cx="968"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endParaRPr lang="zh-CN" altLang="en-US" sz="2000" b="1" dirty="0">
                <a:solidFill>
                  <a:srgbClr val="1F2DA8"/>
                </a:solidFill>
                <a:latin typeface="Times New Roman" panose="02020603050405020304" pitchFamily="2" charset="0"/>
              </a:endParaRPr>
            </a:p>
          </p:txBody>
        </p:sp>
        <p:sp>
          <p:nvSpPr>
            <p:cNvPr id="13393" name="Rectangle 77"/>
            <p:cNvSpPr/>
            <p:nvPr/>
          </p:nvSpPr>
          <p:spPr>
            <a:xfrm>
              <a:off x="2058" y="4889"/>
              <a:ext cx="1453"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endParaRPr lang="en-US" altLang="zh-CN" sz="2000" b="1" dirty="0">
                <a:solidFill>
                  <a:srgbClr val="1F2DA8"/>
                </a:solidFill>
                <a:latin typeface="Times New Roman" panose="02020603050405020304" pitchFamily="2" charset="0"/>
              </a:endParaRPr>
            </a:p>
          </p:txBody>
        </p:sp>
        <p:sp>
          <p:nvSpPr>
            <p:cNvPr id="13394" name="Rectangle 78"/>
            <p:cNvSpPr/>
            <p:nvPr/>
          </p:nvSpPr>
          <p:spPr>
            <a:xfrm>
              <a:off x="968" y="4889"/>
              <a:ext cx="1090"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102</a:t>
              </a:r>
              <a:endParaRPr lang="zh-CN" altLang="en-US" sz="2000" b="1" dirty="0">
                <a:solidFill>
                  <a:srgbClr val="1F2DA8"/>
                </a:solidFill>
                <a:latin typeface="Times New Roman" panose="02020603050405020304" pitchFamily="2" charset="0"/>
              </a:endParaRPr>
            </a:p>
          </p:txBody>
        </p:sp>
        <p:sp>
          <p:nvSpPr>
            <p:cNvPr id="13395" name="Rectangle 79"/>
            <p:cNvSpPr/>
            <p:nvPr/>
          </p:nvSpPr>
          <p:spPr>
            <a:xfrm>
              <a:off x="0" y="4889"/>
              <a:ext cx="968"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a:t>
              </a:r>
              <a:endParaRPr lang="zh-CN" altLang="en-US" sz="2000" b="1" dirty="0">
                <a:solidFill>
                  <a:srgbClr val="1F2DA8"/>
                </a:solidFill>
                <a:latin typeface="Times New Roman" panose="02020603050405020304" pitchFamily="2" charset="0"/>
              </a:endParaRPr>
            </a:p>
          </p:txBody>
        </p:sp>
        <p:sp>
          <p:nvSpPr>
            <p:cNvPr id="13396" name="Rectangle 80"/>
            <p:cNvSpPr/>
            <p:nvPr/>
          </p:nvSpPr>
          <p:spPr>
            <a:xfrm>
              <a:off x="2058" y="5590"/>
              <a:ext cx="1453"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endParaRPr lang="en-US" altLang="zh-CN" sz="2000" b="1" dirty="0">
                <a:solidFill>
                  <a:srgbClr val="1F2DA8"/>
                </a:solidFill>
                <a:latin typeface="Times New Roman" panose="02020603050405020304" pitchFamily="2" charset="0"/>
              </a:endParaRPr>
            </a:p>
          </p:txBody>
        </p:sp>
        <p:sp>
          <p:nvSpPr>
            <p:cNvPr id="13397" name="Rectangle 81"/>
            <p:cNvSpPr/>
            <p:nvPr/>
          </p:nvSpPr>
          <p:spPr>
            <a:xfrm>
              <a:off x="968" y="5590"/>
              <a:ext cx="1090"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105</a:t>
              </a:r>
              <a:endParaRPr lang="zh-CN" altLang="en-US" sz="2000" b="1" dirty="0">
                <a:solidFill>
                  <a:srgbClr val="1F2DA8"/>
                </a:solidFill>
                <a:latin typeface="Times New Roman" panose="02020603050405020304" pitchFamily="2" charset="0"/>
              </a:endParaRPr>
            </a:p>
          </p:txBody>
        </p:sp>
        <p:sp>
          <p:nvSpPr>
            <p:cNvPr id="13398" name="Rectangle 82"/>
            <p:cNvSpPr/>
            <p:nvPr/>
          </p:nvSpPr>
          <p:spPr>
            <a:xfrm>
              <a:off x="0" y="5590"/>
              <a:ext cx="968"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5</a:t>
              </a:r>
              <a:endParaRPr lang="zh-CN" altLang="en-US" sz="2000" b="1" dirty="0">
                <a:solidFill>
                  <a:srgbClr val="1F2DA8"/>
                </a:solidFill>
                <a:latin typeface="Times New Roman" panose="02020603050405020304" pitchFamily="2" charset="0"/>
              </a:endParaRPr>
            </a:p>
          </p:txBody>
        </p:sp>
        <p:sp>
          <p:nvSpPr>
            <p:cNvPr id="13399" name="Rectangle 83"/>
            <p:cNvSpPr/>
            <p:nvPr/>
          </p:nvSpPr>
          <p:spPr>
            <a:xfrm>
              <a:off x="2058" y="3486"/>
              <a:ext cx="1453"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Yes</a:t>
              </a:r>
              <a:endParaRPr lang="en-US" altLang="zh-CN" sz="2000" b="1" dirty="0">
                <a:solidFill>
                  <a:srgbClr val="1F2DA8"/>
                </a:solidFill>
                <a:latin typeface="Times New Roman" panose="02020603050405020304" pitchFamily="2" charset="0"/>
              </a:endParaRPr>
            </a:p>
          </p:txBody>
        </p:sp>
        <p:sp>
          <p:nvSpPr>
            <p:cNvPr id="13400" name="Rectangle 84"/>
            <p:cNvSpPr/>
            <p:nvPr/>
          </p:nvSpPr>
          <p:spPr>
            <a:xfrm>
              <a:off x="968" y="3486"/>
              <a:ext cx="1090"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101</a:t>
              </a:r>
              <a:endParaRPr lang="zh-CN" altLang="en-US" sz="2000" b="1" dirty="0">
                <a:solidFill>
                  <a:srgbClr val="1F2DA8"/>
                </a:solidFill>
                <a:latin typeface="Times New Roman" panose="02020603050405020304" pitchFamily="2" charset="0"/>
              </a:endParaRPr>
            </a:p>
          </p:txBody>
        </p:sp>
        <p:sp>
          <p:nvSpPr>
            <p:cNvPr id="13401" name="Rectangle 85"/>
            <p:cNvSpPr/>
            <p:nvPr/>
          </p:nvSpPr>
          <p:spPr>
            <a:xfrm>
              <a:off x="0" y="3486"/>
              <a:ext cx="968" cy="702"/>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3</a:t>
              </a:r>
              <a:endParaRPr lang="zh-CN" altLang="en-US" sz="2000" b="1" dirty="0">
                <a:solidFill>
                  <a:srgbClr val="1F2DA8"/>
                </a:solidFill>
                <a:latin typeface="Times New Roman" panose="02020603050405020304" pitchFamily="2" charset="0"/>
              </a:endParaRPr>
            </a:p>
          </p:txBody>
        </p:sp>
        <p:sp>
          <p:nvSpPr>
            <p:cNvPr id="13402" name="Rectangle 86"/>
            <p:cNvSpPr/>
            <p:nvPr/>
          </p:nvSpPr>
          <p:spPr>
            <a:xfrm>
              <a:off x="2058" y="2785"/>
              <a:ext cx="1453"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endParaRPr lang="en-US" altLang="zh-CN" sz="2000" b="1" dirty="0">
                <a:solidFill>
                  <a:srgbClr val="1F2DA8"/>
                </a:solidFill>
                <a:latin typeface="Times New Roman" panose="02020603050405020304" pitchFamily="2" charset="0"/>
              </a:endParaRPr>
            </a:p>
          </p:txBody>
        </p:sp>
        <p:sp>
          <p:nvSpPr>
            <p:cNvPr id="13403" name="Rectangle 87"/>
            <p:cNvSpPr/>
            <p:nvPr/>
          </p:nvSpPr>
          <p:spPr>
            <a:xfrm>
              <a:off x="968" y="2785"/>
              <a:ext cx="1090"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105</a:t>
              </a:r>
              <a:endParaRPr lang="zh-CN" altLang="en-US" sz="2000" b="1" dirty="0">
                <a:solidFill>
                  <a:srgbClr val="1F2DA8"/>
                </a:solidFill>
                <a:latin typeface="Times New Roman" panose="02020603050405020304" pitchFamily="2" charset="0"/>
              </a:endParaRPr>
            </a:p>
          </p:txBody>
        </p:sp>
        <p:sp>
          <p:nvSpPr>
            <p:cNvPr id="13404" name="Rectangle 88"/>
            <p:cNvSpPr/>
            <p:nvPr/>
          </p:nvSpPr>
          <p:spPr>
            <a:xfrm>
              <a:off x="0" y="2785"/>
              <a:ext cx="968" cy="701"/>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2</a:t>
              </a:r>
              <a:endParaRPr lang="zh-CN" altLang="en-US" sz="2000" b="1" dirty="0">
                <a:solidFill>
                  <a:srgbClr val="1F2DA8"/>
                </a:solidFill>
                <a:latin typeface="Times New Roman" panose="02020603050405020304" pitchFamily="2" charset="0"/>
              </a:endParaRPr>
            </a:p>
          </p:txBody>
        </p:sp>
        <p:sp>
          <p:nvSpPr>
            <p:cNvPr id="13405" name="Rectangle 89"/>
            <p:cNvSpPr/>
            <p:nvPr/>
          </p:nvSpPr>
          <p:spPr>
            <a:xfrm>
              <a:off x="2058" y="2080"/>
              <a:ext cx="1453"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Yes</a:t>
              </a:r>
              <a:endParaRPr lang="en-US" altLang="zh-CN" sz="2000" b="1" dirty="0">
                <a:solidFill>
                  <a:srgbClr val="1F2DA8"/>
                </a:solidFill>
                <a:latin typeface="Times New Roman" panose="02020603050405020304" pitchFamily="2" charset="0"/>
              </a:endParaRPr>
            </a:p>
          </p:txBody>
        </p:sp>
        <p:sp>
          <p:nvSpPr>
            <p:cNvPr id="13406" name="Rectangle 90"/>
            <p:cNvSpPr/>
            <p:nvPr/>
          </p:nvSpPr>
          <p:spPr>
            <a:xfrm>
              <a:off x="968" y="2080"/>
              <a:ext cx="1090"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108</a:t>
              </a:r>
              <a:endParaRPr lang="zh-CN" altLang="en-US" sz="2000" b="1" dirty="0">
                <a:solidFill>
                  <a:srgbClr val="1F2DA8"/>
                </a:solidFill>
                <a:latin typeface="Times New Roman" panose="02020603050405020304" pitchFamily="2" charset="0"/>
              </a:endParaRPr>
            </a:p>
          </p:txBody>
        </p:sp>
        <p:sp>
          <p:nvSpPr>
            <p:cNvPr id="13407" name="Rectangle 91"/>
            <p:cNvSpPr/>
            <p:nvPr/>
          </p:nvSpPr>
          <p:spPr>
            <a:xfrm>
              <a:off x="0" y="2080"/>
              <a:ext cx="968" cy="70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a:t>
              </a:r>
              <a:endParaRPr lang="zh-CN" altLang="en-US" sz="2000" b="1" dirty="0">
                <a:solidFill>
                  <a:srgbClr val="1F2DA8"/>
                </a:solidFill>
                <a:latin typeface="Times New Roman" panose="02020603050405020304" pitchFamily="2" charset="0"/>
              </a:endParaRPr>
            </a:p>
          </p:txBody>
        </p:sp>
        <p:sp>
          <p:nvSpPr>
            <p:cNvPr id="13408" name="Rectangle 92"/>
            <p:cNvSpPr/>
            <p:nvPr/>
          </p:nvSpPr>
          <p:spPr>
            <a:xfrm>
              <a:off x="2058" y="1325"/>
              <a:ext cx="1453" cy="75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1F2DA8"/>
                  </a:solidFill>
                  <a:latin typeface="Times New Roman" panose="02020603050405020304" pitchFamily="2" charset="0"/>
                </a:rPr>
                <a:t>No</a:t>
              </a:r>
              <a:endParaRPr lang="en-US" altLang="zh-CN" sz="2000" b="1" dirty="0">
                <a:solidFill>
                  <a:srgbClr val="1F2DA8"/>
                </a:solidFill>
                <a:latin typeface="Times New Roman" panose="02020603050405020304" pitchFamily="2" charset="0"/>
              </a:endParaRPr>
            </a:p>
          </p:txBody>
        </p:sp>
        <p:sp>
          <p:nvSpPr>
            <p:cNvPr id="13409" name="Rectangle 93"/>
            <p:cNvSpPr/>
            <p:nvPr/>
          </p:nvSpPr>
          <p:spPr>
            <a:xfrm>
              <a:off x="968" y="1325"/>
              <a:ext cx="1090" cy="75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101</a:t>
              </a:r>
              <a:endParaRPr lang="zh-CN" altLang="en-US" sz="2000" b="1" dirty="0">
                <a:solidFill>
                  <a:srgbClr val="1F2DA8"/>
                </a:solidFill>
                <a:latin typeface="Times New Roman" panose="02020603050405020304" pitchFamily="2" charset="0"/>
              </a:endParaRPr>
            </a:p>
          </p:txBody>
        </p:sp>
        <p:sp>
          <p:nvSpPr>
            <p:cNvPr id="13410" name="Rectangle 94"/>
            <p:cNvSpPr/>
            <p:nvPr/>
          </p:nvSpPr>
          <p:spPr>
            <a:xfrm>
              <a:off x="0" y="1325"/>
              <a:ext cx="968" cy="755"/>
            </a:xfrm>
            <a:prstGeom prst="rect">
              <a:avLst/>
            </a:prstGeom>
            <a:noFill/>
            <a:ln w="9525">
              <a:noFill/>
            </a:ln>
          </p:spPr>
          <p:txBody>
            <a:bodyPr anchor="ctr"/>
            <a:p>
              <a:pPr algn="ctr">
                <a:spcBef>
                  <a:spcPct val="20000"/>
                </a:spcBef>
                <a:buClr>
                  <a:schemeClr val="accent1"/>
                </a:buClr>
                <a:buFont typeface="Wingdings" panose="05000000000000000000" pitchFamily="2" charset="2"/>
                <a:buNone/>
              </a:pPr>
              <a:r>
                <a:rPr lang="zh-CN" altLang="en-US" sz="2000" b="1" dirty="0">
                  <a:solidFill>
                    <a:srgbClr val="1F2DA8"/>
                  </a:solidFill>
                  <a:latin typeface="Times New Roman" panose="02020603050405020304" pitchFamily="2" charset="0"/>
                </a:rPr>
                <a:t>1</a:t>
              </a:r>
              <a:endParaRPr lang="zh-CN" altLang="en-US" sz="2000" b="1" dirty="0">
                <a:solidFill>
                  <a:srgbClr val="1F2DA8"/>
                </a:solidFill>
                <a:latin typeface="Times New Roman" panose="02020603050405020304" pitchFamily="2" charset="0"/>
              </a:endParaRPr>
            </a:p>
          </p:txBody>
        </p:sp>
        <p:sp>
          <p:nvSpPr>
            <p:cNvPr id="13411" name="Rectangle 95"/>
            <p:cNvSpPr/>
            <p:nvPr/>
          </p:nvSpPr>
          <p:spPr>
            <a:xfrm>
              <a:off x="2058" y="650"/>
              <a:ext cx="1453"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major</a:t>
              </a:r>
              <a:endParaRPr lang="en-US" altLang="zh-CN" sz="2000" b="1" dirty="0">
                <a:solidFill>
                  <a:srgbClr val="FF0000"/>
                </a:solidFill>
                <a:latin typeface="Times New Roman" panose="02020603050405020304" pitchFamily="2" charset="0"/>
              </a:endParaRPr>
            </a:p>
          </p:txBody>
        </p:sp>
        <p:sp>
          <p:nvSpPr>
            <p:cNvPr id="13412" name="Rectangle 96"/>
            <p:cNvSpPr/>
            <p:nvPr/>
          </p:nvSpPr>
          <p:spPr>
            <a:xfrm>
              <a:off x="968" y="650"/>
              <a:ext cx="1090"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cno</a:t>
              </a:r>
              <a:endParaRPr lang="en-US" altLang="zh-CN" sz="2000" b="1" dirty="0">
                <a:solidFill>
                  <a:srgbClr val="FF0000"/>
                </a:solidFill>
                <a:latin typeface="Times New Roman" panose="02020603050405020304" pitchFamily="2" charset="0"/>
              </a:endParaRPr>
            </a:p>
          </p:txBody>
        </p:sp>
        <p:sp>
          <p:nvSpPr>
            <p:cNvPr id="13413" name="Rectangle 97"/>
            <p:cNvSpPr/>
            <p:nvPr/>
          </p:nvSpPr>
          <p:spPr>
            <a:xfrm>
              <a:off x="0" y="650"/>
              <a:ext cx="968" cy="675"/>
            </a:xfrm>
            <a:prstGeom prst="rect">
              <a:avLst/>
            </a:prstGeom>
            <a:solidFill>
              <a:srgbClr val="EAEAEA"/>
            </a:solidFill>
            <a:ln w="9525">
              <a:noFill/>
            </a:ln>
          </p:spPr>
          <p:txBody>
            <a:bodyPr anchor="ctr"/>
            <a:p>
              <a:pPr algn="ctr">
                <a:spcBef>
                  <a:spcPct val="20000"/>
                </a:spcBef>
                <a:buClr>
                  <a:schemeClr val="accent1"/>
                </a:buClr>
                <a:buFont typeface="Wingdings" panose="05000000000000000000" pitchFamily="2" charset="2"/>
                <a:buNone/>
              </a:pPr>
              <a:r>
                <a:rPr lang="en-US" altLang="zh-CN" sz="2000" b="1" dirty="0">
                  <a:solidFill>
                    <a:srgbClr val="FF0000"/>
                  </a:solidFill>
                  <a:latin typeface="Times New Roman" panose="02020603050405020304" pitchFamily="2" charset="0"/>
                </a:rPr>
                <a:t>sid</a:t>
              </a:r>
              <a:endParaRPr lang="en-US" altLang="zh-CN" sz="2000" b="1" dirty="0">
                <a:solidFill>
                  <a:srgbClr val="FF0000"/>
                </a:solidFill>
                <a:latin typeface="Times New Roman" panose="02020603050405020304" pitchFamily="2" charset="0"/>
              </a:endParaRPr>
            </a:p>
          </p:txBody>
        </p:sp>
        <p:sp>
          <p:nvSpPr>
            <p:cNvPr id="13414" name="Line 98"/>
            <p:cNvSpPr/>
            <p:nvPr/>
          </p:nvSpPr>
          <p:spPr>
            <a:xfrm>
              <a:off x="0" y="650"/>
              <a:ext cx="3511" cy="0"/>
            </a:xfrm>
            <a:prstGeom prst="line">
              <a:avLst/>
            </a:prstGeom>
            <a:ln w="28575" cap="sq" cmpd="sng">
              <a:solidFill>
                <a:schemeClr val="tx1"/>
              </a:solidFill>
              <a:prstDash val="solid"/>
              <a:round/>
              <a:headEnd type="none" w="med" len="med"/>
              <a:tailEnd type="none" w="med" len="med"/>
            </a:ln>
          </p:spPr>
        </p:sp>
        <p:sp>
          <p:nvSpPr>
            <p:cNvPr id="13415" name="Line 99"/>
            <p:cNvSpPr/>
            <p:nvPr/>
          </p:nvSpPr>
          <p:spPr>
            <a:xfrm>
              <a:off x="0" y="1325"/>
              <a:ext cx="3511" cy="0"/>
            </a:xfrm>
            <a:prstGeom prst="line">
              <a:avLst/>
            </a:prstGeom>
            <a:ln w="12700" cap="flat" cmpd="sng">
              <a:solidFill>
                <a:schemeClr val="tx1"/>
              </a:solidFill>
              <a:prstDash val="solid"/>
              <a:round/>
              <a:headEnd type="none" w="med" len="med"/>
              <a:tailEnd type="none" w="med" len="med"/>
            </a:ln>
          </p:spPr>
        </p:sp>
        <p:sp>
          <p:nvSpPr>
            <p:cNvPr id="13416" name="Line 100"/>
            <p:cNvSpPr/>
            <p:nvPr/>
          </p:nvSpPr>
          <p:spPr>
            <a:xfrm>
              <a:off x="0" y="2080"/>
              <a:ext cx="3511" cy="0"/>
            </a:xfrm>
            <a:prstGeom prst="line">
              <a:avLst/>
            </a:prstGeom>
            <a:ln w="12700" cap="flat" cmpd="sng">
              <a:solidFill>
                <a:schemeClr val="tx1"/>
              </a:solidFill>
              <a:prstDash val="solid"/>
              <a:round/>
              <a:headEnd type="none" w="med" len="med"/>
              <a:tailEnd type="none" w="med" len="med"/>
            </a:ln>
          </p:spPr>
        </p:sp>
        <p:sp>
          <p:nvSpPr>
            <p:cNvPr id="13417" name="Line 101"/>
            <p:cNvSpPr/>
            <p:nvPr/>
          </p:nvSpPr>
          <p:spPr>
            <a:xfrm>
              <a:off x="0" y="2785"/>
              <a:ext cx="3511" cy="0"/>
            </a:xfrm>
            <a:prstGeom prst="line">
              <a:avLst/>
            </a:prstGeom>
            <a:ln w="12700" cap="flat" cmpd="sng">
              <a:solidFill>
                <a:schemeClr val="tx1"/>
              </a:solidFill>
              <a:prstDash val="solid"/>
              <a:round/>
              <a:headEnd type="none" w="med" len="med"/>
              <a:tailEnd type="none" w="med" len="med"/>
            </a:ln>
          </p:spPr>
        </p:sp>
        <p:sp>
          <p:nvSpPr>
            <p:cNvPr id="13418" name="Line 102"/>
            <p:cNvSpPr/>
            <p:nvPr/>
          </p:nvSpPr>
          <p:spPr>
            <a:xfrm>
              <a:off x="0" y="3486"/>
              <a:ext cx="3511" cy="0"/>
            </a:xfrm>
            <a:prstGeom prst="line">
              <a:avLst/>
            </a:prstGeom>
            <a:ln w="12700" cap="flat" cmpd="sng">
              <a:solidFill>
                <a:schemeClr val="tx1"/>
              </a:solidFill>
              <a:prstDash val="solid"/>
              <a:round/>
              <a:headEnd type="none" w="med" len="med"/>
              <a:tailEnd type="none" w="med" len="med"/>
            </a:ln>
          </p:spPr>
        </p:sp>
        <p:sp>
          <p:nvSpPr>
            <p:cNvPr id="13419" name="Line 103"/>
            <p:cNvSpPr/>
            <p:nvPr/>
          </p:nvSpPr>
          <p:spPr>
            <a:xfrm>
              <a:off x="0" y="6292"/>
              <a:ext cx="3511" cy="0"/>
            </a:xfrm>
            <a:prstGeom prst="line">
              <a:avLst/>
            </a:prstGeom>
            <a:ln w="28575" cap="sq" cmpd="sng">
              <a:solidFill>
                <a:schemeClr val="tx1"/>
              </a:solidFill>
              <a:prstDash val="solid"/>
              <a:round/>
              <a:headEnd type="none" w="med" len="med"/>
              <a:tailEnd type="none" w="med" len="med"/>
            </a:ln>
          </p:spPr>
        </p:sp>
        <p:sp>
          <p:nvSpPr>
            <p:cNvPr id="13420" name="Line 104"/>
            <p:cNvSpPr/>
            <p:nvPr/>
          </p:nvSpPr>
          <p:spPr>
            <a:xfrm>
              <a:off x="0" y="650"/>
              <a:ext cx="0" cy="5642"/>
            </a:xfrm>
            <a:prstGeom prst="line">
              <a:avLst/>
            </a:prstGeom>
            <a:ln w="28575" cap="sq" cmpd="sng">
              <a:solidFill>
                <a:schemeClr val="tx1"/>
              </a:solidFill>
              <a:prstDash val="solid"/>
              <a:round/>
              <a:headEnd type="none" w="med" len="med"/>
              <a:tailEnd type="none" w="med" len="med"/>
            </a:ln>
          </p:spPr>
        </p:sp>
        <p:sp>
          <p:nvSpPr>
            <p:cNvPr id="13421" name="Line 105"/>
            <p:cNvSpPr/>
            <p:nvPr/>
          </p:nvSpPr>
          <p:spPr>
            <a:xfrm>
              <a:off x="968" y="650"/>
              <a:ext cx="0" cy="5642"/>
            </a:xfrm>
            <a:prstGeom prst="line">
              <a:avLst/>
            </a:prstGeom>
            <a:ln w="12700" cap="flat" cmpd="sng">
              <a:solidFill>
                <a:schemeClr val="tx1"/>
              </a:solidFill>
              <a:prstDash val="solid"/>
              <a:round/>
              <a:headEnd type="none" w="med" len="med"/>
              <a:tailEnd type="none" w="med" len="med"/>
            </a:ln>
          </p:spPr>
        </p:sp>
        <p:sp>
          <p:nvSpPr>
            <p:cNvPr id="13422" name="Line 106"/>
            <p:cNvSpPr/>
            <p:nvPr/>
          </p:nvSpPr>
          <p:spPr>
            <a:xfrm>
              <a:off x="2058" y="650"/>
              <a:ext cx="0" cy="5642"/>
            </a:xfrm>
            <a:prstGeom prst="line">
              <a:avLst/>
            </a:prstGeom>
            <a:ln w="12700" cap="flat" cmpd="sng">
              <a:solidFill>
                <a:schemeClr val="tx1"/>
              </a:solidFill>
              <a:prstDash val="solid"/>
              <a:round/>
              <a:headEnd type="none" w="med" len="med"/>
              <a:tailEnd type="none" w="med" len="med"/>
            </a:ln>
          </p:spPr>
        </p:sp>
        <p:sp>
          <p:nvSpPr>
            <p:cNvPr id="13423" name="Line 107"/>
            <p:cNvSpPr/>
            <p:nvPr/>
          </p:nvSpPr>
          <p:spPr>
            <a:xfrm>
              <a:off x="3511" y="650"/>
              <a:ext cx="0" cy="5642"/>
            </a:xfrm>
            <a:prstGeom prst="line">
              <a:avLst/>
            </a:prstGeom>
            <a:ln w="28575" cap="sq" cmpd="sng">
              <a:solidFill>
                <a:schemeClr val="tx1"/>
              </a:solidFill>
              <a:prstDash val="solid"/>
              <a:round/>
              <a:headEnd type="none" w="med" len="med"/>
              <a:tailEnd type="none" w="med" len="med"/>
            </a:ln>
          </p:spPr>
        </p:sp>
        <p:sp>
          <p:nvSpPr>
            <p:cNvPr id="13424" name="Line 108"/>
            <p:cNvSpPr/>
            <p:nvPr/>
          </p:nvSpPr>
          <p:spPr>
            <a:xfrm>
              <a:off x="0" y="4188"/>
              <a:ext cx="3511" cy="0"/>
            </a:xfrm>
            <a:prstGeom prst="line">
              <a:avLst/>
            </a:prstGeom>
            <a:ln w="12700" cap="flat" cmpd="sng">
              <a:solidFill>
                <a:schemeClr val="tx1"/>
              </a:solidFill>
              <a:prstDash val="solid"/>
              <a:round/>
              <a:headEnd type="none" w="med" len="med"/>
              <a:tailEnd type="none" w="med" len="med"/>
            </a:ln>
          </p:spPr>
        </p:sp>
        <p:sp>
          <p:nvSpPr>
            <p:cNvPr id="13425" name="Line 109"/>
            <p:cNvSpPr/>
            <p:nvPr/>
          </p:nvSpPr>
          <p:spPr>
            <a:xfrm>
              <a:off x="0" y="5590"/>
              <a:ext cx="3511" cy="0"/>
            </a:xfrm>
            <a:prstGeom prst="line">
              <a:avLst/>
            </a:prstGeom>
            <a:ln w="12700" cap="flat" cmpd="sng">
              <a:solidFill>
                <a:schemeClr val="tx1"/>
              </a:solidFill>
              <a:prstDash val="solid"/>
              <a:round/>
              <a:headEnd type="none" w="med" len="med"/>
              <a:tailEnd type="none" w="med" len="med"/>
            </a:ln>
          </p:spPr>
        </p:sp>
        <p:sp>
          <p:nvSpPr>
            <p:cNvPr id="13426" name="Line 110"/>
            <p:cNvSpPr/>
            <p:nvPr/>
          </p:nvSpPr>
          <p:spPr>
            <a:xfrm>
              <a:off x="0" y="4889"/>
              <a:ext cx="3511" cy="0"/>
            </a:xfrm>
            <a:prstGeom prst="line">
              <a:avLst/>
            </a:prstGeom>
            <a:ln w="12700" cap="flat" cmpd="sng">
              <a:solidFill>
                <a:schemeClr val="tx1"/>
              </a:solidFill>
              <a:prstDash val="solid"/>
              <a:round/>
              <a:headEnd type="none" w="med" len="med"/>
              <a:tailEnd type="none" w="med" len="med"/>
            </a:ln>
          </p:spPr>
        </p:sp>
        <p:sp>
          <p:nvSpPr>
            <p:cNvPr id="13427" name="Text Box 113"/>
            <p:cNvSpPr txBox="1"/>
            <p:nvPr/>
          </p:nvSpPr>
          <p:spPr>
            <a:xfrm>
              <a:off x="0" y="0"/>
              <a:ext cx="2782" cy="580"/>
            </a:xfrm>
            <a:prstGeom prst="rect">
              <a:avLst/>
            </a:prstGeom>
            <a:noFill/>
            <a:ln w="9525">
              <a:noFill/>
            </a:ln>
          </p:spPr>
          <p:txBody>
            <a:bodyPr anchor="t">
              <a:spAutoFit/>
            </a:bodyPr>
            <a:p>
              <a:pPr>
                <a:spcBef>
                  <a:spcPct val="50000"/>
                </a:spcBef>
              </a:pPr>
              <a:r>
                <a:rPr lang="en-US" altLang="zh-CN" b="1" dirty="0">
                  <a:solidFill>
                    <a:schemeClr val="tx1"/>
                  </a:solidFill>
                  <a:latin typeface="Arial" panose="020B0604020202020204" pitchFamily="34" charset="0"/>
                </a:rPr>
                <a:t>enrollment</a:t>
              </a:r>
              <a:endParaRPr lang="en-US" altLang="zh-CN" b="1" dirty="0">
                <a:solidFill>
                  <a:schemeClr val="tx1"/>
                </a:solidFill>
                <a:latin typeface="Arial" panose="020B0604020202020204" pitchFamily="34" charset="0"/>
              </a:endParaRPr>
            </a:p>
          </p:txBody>
        </p:sp>
      </p:gr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333"/>
                                        </p:tgtEl>
                                        <p:attrNameLst>
                                          <p:attrName>style.visibility</p:attrName>
                                        </p:attrNameLst>
                                      </p:cBhvr>
                                      <p:to>
                                        <p:strVal val="visible"/>
                                      </p:to>
                                    </p:set>
                                    <p:anim calcmode="lin" valueType="num">
                                      <p:cBhvr>
                                        <p:cTn id="7" dur="500" fill="hold"/>
                                        <p:tgtEl>
                                          <p:spTgt spid="12333"/>
                                        </p:tgtEl>
                                        <p:attrNameLst>
                                          <p:attrName>ppt_x</p:attrName>
                                        </p:attrNameLst>
                                      </p:cBhvr>
                                      <p:tavLst>
                                        <p:tav tm="0">
                                          <p:val>
                                            <p:strVal val="#ppt_x"/>
                                          </p:val>
                                        </p:tav>
                                        <p:tav tm="100000">
                                          <p:val>
                                            <p:strVal val="#ppt_x"/>
                                          </p:val>
                                        </p:tav>
                                      </p:tavLst>
                                    </p:anim>
                                    <p:anim calcmode="lin" valueType="num">
                                      <p:cBhvr>
                                        <p:cTn id="8" dur="500" fill="hold"/>
                                        <p:tgtEl>
                                          <p:spTgt spid="1233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nodeType="afterEffect">
                                  <p:stCondLst>
                                    <p:cond delay="0"/>
                                  </p:stCondLst>
                                  <p:childTnLst>
                                    <p:set>
                                      <p:cBhvr>
                                        <p:cTn id="11" dur="1" fill="hold">
                                          <p:stCondLst>
                                            <p:cond delay="0"/>
                                          </p:stCondLst>
                                        </p:cTn>
                                        <p:tgtEl>
                                          <p:spTgt spid="12366"/>
                                        </p:tgtEl>
                                        <p:attrNameLst>
                                          <p:attrName>style.visibility</p:attrName>
                                        </p:attrNameLst>
                                      </p:cBhvr>
                                      <p:to>
                                        <p:strVal val="visible"/>
                                      </p:to>
                                    </p:set>
                                    <p:anim calcmode="lin" valueType="num">
                                      <p:cBhvr>
                                        <p:cTn id="12" dur="500" fill="hold"/>
                                        <p:tgtEl>
                                          <p:spTgt spid="12366"/>
                                        </p:tgtEl>
                                        <p:attrNameLst>
                                          <p:attrName>ppt_x</p:attrName>
                                        </p:attrNameLst>
                                      </p:cBhvr>
                                      <p:tavLst>
                                        <p:tav tm="0">
                                          <p:val>
                                            <p:strVal val="1+#ppt_w/2"/>
                                          </p:val>
                                        </p:tav>
                                        <p:tav tm="100000">
                                          <p:val>
                                            <p:strVal val="#ppt_x"/>
                                          </p:val>
                                        </p:tav>
                                      </p:tavLst>
                                    </p:anim>
                                    <p:anim calcmode="lin" valueType="num">
                                      <p:cBhvr>
                                        <p:cTn id="13" dur="500" fill="hold"/>
                                        <p:tgtEl>
                                          <p:spTgt spid="12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14340" name="Rectangle 3"/>
          <p:cNvSpPr>
            <a:spLocks noGrp="1"/>
          </p:cNvSpPr>
          <p:nvPr>
            <p:ph idx="1"/>
          </p:nvPr>
        </p:nvSpPr>
        <p:spPr/>
        <p:txBody>
          <a:bodyPr wrap="square" anchor="t"/>
          <a:p>
            <a:pPr marL="457200" indent="-457200" eaLnBrk="1" hangingPunct="1">
              <a:lnSpc>
                <a:spcPct val="100000"/>
              </a:lnSpc>
              <a:spcBef>
                <a:spcPct val="0"/>
              </a:spcBef>
              <a:buFont typeface="+mj-lt"/>
              <a:buAutoNum type="arabicPeriod" startAt="3"/>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数据库管理系统</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Database Management System，</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 </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DBMS</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endPar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ct val="0"/>
              </a:spcBef>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位于用户（应用程序）与数据库（操作系统）之间的一层数据管理软件，</a:t>
            </a:r>
            <a:r>
              <a:rPr lang="zh-CN" altLang="en-US" dirty="0">
                <a:cs typeface="楷体" panose="02010609060101010101" charset="-122"/>
                <a:sym typeface="Wingdings 3" panose="05040102010807070707" pitchFamily="2" charset="2"/>
              </a:rPr>
              <a:t>是一种用于</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管理数据库的大型</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系统软件。</a:t>
            </a:r>
            <a:endParaRPr lang="zh-CN" altLang="en-US" sz="12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2000"/>
              </a:spcBef>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DBMS</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是在文件管理系统的基础上发展起来的，它区别于其它计算机软件系统的特点在于：</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能对持久性数据进行管理</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能对大量数据进行有效存取</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可实现数据共享（众多用户可使用同一数据</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a:t>
            </a:r>
            <a:endParaRPr lang="zh-CN" altLang="en-US" sz="1200"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2000"/>
              </a:spcBef>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DBMS</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的作用：</a:t>
            </a:r>
            <a:r>
              <a:rPr lang="zh-CN" altLang="en-US" dirty="0">
                <a:solidFill>
                  <a:srgbClr val="FF0000"/>
                </a:solidFill>
                <a:sym typeface="+mn-ea"/>
              </a:rPr>
              <a:t>科学地组织和存储数据、高效地获取和维护数据</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是数据库应用程序与数据库之间的</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访问接口</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marL="1371600" lvl="2" indent="-457200" eaLnBrk="1" hangingPunct="1">
              <a:lnSpc>
                <a:spcPct val="100000"/>
              </a:lnSpc>
              <a:spcBef>
                <a:spcPct val="0"/>
              </a:spcBef>
              <a:buFont typeface="宋体" panose="02010600030101010101" pitchFamily="2" charset="-122"/>
              <a:buAutoNum type="circleNumDbPlain"/>
            </a:pP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在保证数据安全、可靠的同时，提高数据库应用时的简明性和方便性</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40">
                                            <p:txEl>
                                              <p:pRg st="2" end="2"/>
                                            </p:txEl>
                                          </p:spTgt>
                                        </p:tgtEl>
                                        <p:attrNameLst>
                                          <p:attrName>style.visibility</p:attrName>
                                        </p:attrNameLst>
                                      </p:cBhvr>
                                      <p:to>
                                        <p:strVal val="visible"/>
                                      </p:to>
                                    </p:set>
                                    <p:animEffect transition="in" filter="blinds(horizontal)">
                                      <p:cBhvr>
                                        <p:cTn id="7" dur="500"/>
                                        <p:tgtEl>
                                          <p:spTgt spid="14340">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40">
                                            <p:txEl>
                                              <p:pRg st="3" end="3"/>
                                            </p:txEl>
                                          </p:spTgt>
                                        </p:tgtEl>
                                        <p:attrNameLst>
                                          <p:attrName>style.visibility</p:attrName>
                                        </p:attrNameLst>
                                      </p:cBhvr>
                                      <p:to>
                                        <p:strVal val="visible"/>
                                      </p:to>
                                    </p:set>
                                    <p:animEffect transition="in" filter="blinds(horizontal)">
                                      <p:cBhvr>
                                        <p:cTn id="10" dur="500"/>
                                        <p:tgtEl>
                                          <p:spTgt spid="14340">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340">
                                            <p:txEl>
                                              <p:pRg st="4" end="4"/>
                                            </p:txEl>
                                          </p:spTgt>
                                        </p:tgtEl>
                                        <p:attrNameLst>
                                          <p:attrName>style.visibility</p:attrName>
                                        </p:attrNameLst>
                                      </p:cBhvr>
                                      <p:to>
                                        <p:strVal val="visible"/>
                                      </p:to>
                                    </p:set>
                                    <p:animEffect transition="in" filter="blinds(horizontal)">
                                      <p:cBhvr>
                                        <p:cTn id="13" dur="500"/>
                                        <p:tgtEl>
                                          <p:spTgt spid="14340">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4340">
                                            <p:txEl>
                                              <p:pRg st="5" end="5"/>
                                            </p:txEl>
                                          </p:spTgt>
                                        </p:tgtEl>
                                        <p:attrNameLst>
                                          <p:attrName>style.visibility</p:attrName>
                                        </p:attrNameLst>
                                      </p:cBhvr>
                                      <p:to>
                                        <p:strVal val="visible"/>
                                      </p:to>
                                    </p:set>
                                    <p:animEffect transition="in" filter="blinds(horizontal)">
                                      <p:cBhvr>
                                        <p:cTn id="16" dur="500"/>
                                        <p:tgtEl>
                                          <p:spTgt spid="14340">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4340">
                                            <p:txEl>
                                              <p:pRg st="6" end="6"/>
                                            </p:txEl>
                                          </p:spTgt>
                                        </p:tgtEl>
                                        <p:attrNameLst>
                                          <p:attrName>style.visibility</p:attrName>
                                        </p:attrNameLst>
                                      </p:cBhvr>
                                      <p:to>
                                        <p:strVal val="visible"/>
                                      </p:to>
                                    </p:set>
                                    <p:animEffect transition="in" filter="blinds(horizontal)">
                                      <p:cBhvr>
                                        <p:cTn id="21" dur="500"/>
                                        <p:tgtEl>
                                          <p:spTgt spid="14340">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4340">
                                            <p:txEl>
                                              <p:pRg st="7" end="7"/>
                                            </p:txEl>
                                          </p:spTgt>
                                        </p:tgtEl>
                                        <p:attrNameLst>
                                          <p:attrName>style.visibility</p:attrName>
                                        </p:attrNameLst>
                                      </p:cBhvr>
                                      <p:to>
                                        <p:strVal val="visible"/>
                                      </p:to>
                                    </p:set>
                                    <p:animEffect transition="in" filter="blinds(horizontal)">
                                      <p:cBhvr>
                                        <p:cTn id="24" dur="500"/>
                                        <p:tgtEl>
                                          <p:spTgt spid="14340">
                                            <p:txEl>
                                              <p:pRg st="7" end="7"/>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4340">
                                            <p:txEl>
                                              <p:pRg st="8" end="8"/>
                                            </p:txEl>
                                          </p:spTgt>
                                        </p:tgtEl>
                                        <p:attrNameLst>
                                          <p:attrName>style.visibility</p:attrName>
                                        </p:attrNameLst>
                                      </p:cBhvr>
                                      <p:to>
                                        <p:strVal val="visible"/>
                                      </p:to>
                                    </p:set>
                                    <p:animEffect transition="in" filter="blinds(horizontal)">
                                      <p:cBhvr>
                                        <p:cTn id="27" dur="500"/>
                                        <p:tgtEl>
                                          <p:spTgt spid="1434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4" name="Rectangle 3"/>
          <p:cNvSpPr>
            <a:spLocks noGrp="1"/>
          </p:cNvSpPr>
          <p:nvPr>
            <p:ph type="title"/>
          </p:nvPr>
        </p:nvSpPr>
        <p:spPr/>
        <p:txBody>
          <a:bodyPr wrap="square" tIns="0" bIns="0" anchor="ctr"/>
          <a:p>
            <a:pPr algn="ctr" eaLnBrk="1" hangingPunct="1"/>
            <a:r>
              <a:rPr lang="zh-CN" altLang="en-US" sz="2800"/>
              <a:t>数据库管理系统的功能（</a:t>
            </a:r>
            <a:r>
              <a:rPr lang="en-US" altLang="zh-CN" sz="2800"/>
              <a:t>1</a:t>
            </a:r>
            <a:r>
              <a:rPr lang="zh-CN" altLang="en-US" sz="2800"/>
              <a:t>）</a:t>
            </a:r>
            <a:endParaRPr lang="zh-CN" altLang="en-US" sz="2800"/>
          </a:p>
        </p:txBody>
      </p:sp>
      <p:sp>
        <p:nvSpPr>
          <p:cNvPr id="2" name="内容占位符 1"/>
          <p:cNvSpPr>
            <a:spLocks noGrp="1"/>
          </p:cNvSpPr>
          <p:nvPr>
            <p:ph idx="1"/>
          </p:nvPr>
        </p:nvSpPr>
        <p:spPr/>
        <p:txBody>
          <a:bodyPr>
            <a:noAutofit/>
          </a:bodyPr>
          <a:p>
            <a:pPr marL="0" indent="0">
              <a:lnSpc>
                <a:spcPct val="100000"/>
              </a:lnSpc>
              <a:spcBef>
                <a:spcPct val="0"/>
              </a:spcBef>
              <a:buNone/>
            </a:pPr>
            <a:r>
              <a:rPr lang="zh-CN" altLang="en-US">
                <a:solidFill>
                  <a:srgbClr val="FF0000"/>
                </a:solidFill>
              </a:rPr>
              <a:t>（</a:t>
            </a:r>
            <a:r>
              <a:rPr lang="en-US" altLang="zh-CN">
                <a:solidFill>
                  <a:srgbClr val="FF0000"/>
                </a:solidFill>
              </a:rPr>
              <a:t>1）数据定义功能</a:t>
            </a:r>
            <a:endParaRPr lang="zh-CN" altLang="en-US">
              <a:solidFill>
                <a:srgbClr val="FF0000"/>
              </a:solidFill>
            </a:endParaRPr>
          </a:p>
          <a:p>
            <a:pPr lvl="1">
              <a:lnSpc>
                <a:spcPct val="100000"/>
              </a:lnSpc>
              <a:spcBef>
                <a:spcPct val="0"/>
              </a:spcBef>
            </a:pPr>
            <a:r>
              <a:rPr lang="zh-CN" altLang="en-US"/>
              <a:t>提供数据定义语言</a:t>
            </a:r>
            <a:r>
              <a:rPr lang="en-US" altLang="zh-CN"/>
              <a:t>(Data Definition Language,DDL)</a:t>
            </a:r>
            <a:endParaRPr lang="zh-CN" altLang="en-US"/>
          </a:p>
          <a:p>
            <a:pPr lvl="1">
              <a:lnSpc>
                <a:spcPct val="100000"/>
              </a:lnSpc>
              <a:spcBef>
                <a:spcPct val="0"/>
              </a:spcBef>
            </a:pPr>
            <a:r>
              <a:rPr lang="zh-CN" altLang="en-US"/>
              <a:t>定义数据库中的数据对象（数据模式</a:t>
            </a:r>
            <a:r>
              <a:rPr lang="en-US" altLang="zh-CN"/>
              <a:t> data schema</a:t>
            </a:r>
            <a:r>
              <a:rPr lang="zh-CN" altLang="en-US"/>
              <a:t>）</a:t>
            </a:r>
            <a:endParaRPr lang="zh-CN" altLang="en-US"/>
          </a:p>
          <a:p>
            <a:pPr marL="0" indent="0">
              <a:lnSpc>
                <a:spcPct val="100000"/>
              </a:lnSpc>
              <a:spcBef>
                <a:spcPts val="2000"/>
              </a:spcBef>
              <a:buNone/>
            </a:pPr>
            <a:r>
              <a:rPr lang="zh-CN" altLang="en-US">
                <a:solidFill>
                  <a:srgbClr val="FF0000"/>
                </a:solidFill>
              </a:rPr>
              <a:t>（</a:t>
            </a:r>
            <a:r>
              <a:rPr lang="en-US" altLang="zh-CN">
                <a:solidFill>
                  <a:srgbClr val="FF0000"/>
                </a:solidFill>
              </a:rPr>
              <a:t>2</a:t>
            </a:r>
            <a:r>
              <a:rPr lang="zh-CN" altLang="en-US">
                <a:solidFill>
                  <a:srgbClr val="FF0000"/>
                </a:solidFill>
              </a:rPr>
              <a:t>）数据组织、存储和管理</a:t>
            </a:r>
            <a:endParaRPr lang="zh-CN" altLang="en-US">
              <a:solidFill>
                <a:srgbClr val="FF0000"/>
              </a:solidFill>
            </a:endParaRPr>
          </a:p>
          <a:p>
            <a:pPr lvl="1">
              <a:lnSpc>
                <a:spcPct val="100000"/>
              </a:lnSpc>
              <a:spcBef>
                <a:spcPct val="0"/>
              </a:spcBef>
            </a:pPr>
            <a:r>
              <a:rPr lang="zh-CN" altLang="en-US" dirty="0">
                <a:sym typeface="+mn-ea"/>
              </a:rPr>
              <a:t>分类组织、存储和管理各种数据</a:t>
            </a:r>
            <a:endParaRPr lang="zh-CN" altLang="en-US" dirty="0">
              <a:sym typeface="+mn-ea"/>
            </a:endParaRPr>
          </a:p>
          <a:p>
            <a:pPr lvl="1">
              <a:lnSpc>
                <a:spcPct val="100000"/>
              </a:lnSpc>
              <a:spcBef>
                <a:spcPct val="0"/>
              </a:spcBef>
            </a:pPr>
            <a:r>
              <a:rPr lang="zh-CN" altLang="en-US"/>
              <a:t>确定数据的存储方式（文件结构、存储组织等），实现数据之间的</a:t>
            </a:r>
            <a:r>
              <a:rPr lang="zh-CN" altLang="en-US"/>
              <a:t>联系</a:t>
            </a:r>
            <a:endParaRPr lang="zh-CN" altLang="en-US"/>
          </a:p>
          <a:p>
            <a:pPr lvl="1">
              <a:lnSpc>
                <a:spcPct val="100000"/>
              </a:lnSpc>
              <a:spcBef>
                <a:spcPct val="0"/>
              </a:spcBef>
            </a:pPr>
            <a:r>
              <a:rPr lang="zh-CN" altLang="en-US"/>
              <a:t>提供多种存取方法（顺序扫描、索引扫描、</a:t>
            </a:r>
            <a:r>
              <a:rPr lang="en-US" altLang="zh-CN"/>
              <a:t>HASH</a:t>
            </a:r>
            <a:r>
              <a:rPr lang="zh-CN" altLang="en-US"/>
              <a:t>扫描等），提高存取</a:t>
            </a:r>
            <a:r>
              <a:rPr lang="zh-CN" altLang="en-US"/>
              <a:t>效率</a:t>
            </a:r>
            <a:endParaRPr lang="zh-CN" altLang="en-US"/>
          </a:p>
          <a:p>
            <a:pPr marL="0" indent="0">
              <a:lnSpc>
                <a:spcPct val="100000"/>
              </a:lnSpc>
              <a:spcBef>
                <a:spcPts val="2000"/>
              </a:spcBef>
              <a:buNone/>
            </a:pPr>
            <a:r>
              <a:rPr lang="zh-CN" altLang="en-US">
                <a:solidFill>
                  <a:srgbClr val="FF0000"/>
                </a:solidFill>
              </a:rPr>
              <a:t>（</a:t>
            </a:r>
            <a:r>
              <a:rPr lang="en-US" altLang="zh-CN">
                <a:solidFill>
                  <a:srgbClr val="FF0000"/>
                </a:solidFill>
              </a:rPr>
              <a:t>3）数据操纵功能</a:t>
            </a:r>
            <a:endParaRPr lang="zh-CN" altLang="en-US">
              <a:solidFill>
                <a:srgbClr val="FF0000"/>
              </a:solidFill>
            </a:endParaRPr>
          </a:p>
          <a:p>
            <a:pPr lvl="1">
              <a:lnSpc>
                <a:spcPct val="100000"/>
              </a:lnSpc>
              <a:spcBef>
                <a:spcPct val="0"/>
              </a:spcBef>
            </a:pPr>
            <a:r>
              <a:rPr lang="zh-CN" altLang="en-US"/>
              <a:t>提供数据操纵语言</a:t>
            </a:r>
            <a:r>
              <a:rPr lang="en-US" altLang="zh-CN"/>
              <a:t>(Data Manipulation Language,DML)</a:t>
            </a:r>
            <a:endParaRPr lang="zh-CN" altLang="en-US"/>
          </a:p>
          <a:p>
            <a:pPr lvl="1">
              <a:lnSpc>
                <a:spcPct val="100000"/>
              </a:lnSpc>
              <a:spcBef>
                <a:spcPct val="0"/>
              </a:spcBef>
            </a:pPr>
            <a:r>
              <a:rPr lang="zh-CN" altLang="en-US"/>
              <a:t>实现对数据库中数据的基本操作</a:t>
            </a:r>
            <a:r>
              <a:rPr lang="en-US" altLang="zh-CN"/>
              <a:t>(</a:t>
            </a:r>
            <a:r>
              <a:rPr lang="zh-CN" altLang="en-US"/>
              <a:t>查询</a:t>
            </a:r>
            <a:r>
              <a:rPr lang="en-US" altLang="zh-CN"/>
              <a:t>,</a:t>
            </a:r>
            <a:r>
              <a:rPr lang="zh-CN" altLang="en-US"/>
              <a:t>插入</a:t>
            </a:r>
            <a:r>
              <a:rPr lang="en-US" altLang="zh-CN"/>
              <a:t>,</a:t>
            </a:r>
            <a:r>
              <a:rPr lang="zh-CN" altLang="en-US"/>
              <a:t>删除</a:t>
            </a:r>
            <a:r>
              <a:rPr lang="en-US" altLang="zh-CN"/>
              <a:t>,</a:t>
            </a:r>
            <a:r>
              <a:rPr lang="zh-CN" altLang="en-US"/>
              <a:t>修改等）</a:t>
            </a:r>
            <a:endParaRPr lang="zh-CN" altLang="en-US">
              <a:solidFill>
                <a:srgbClr val="FF0000"/>
              </a:solidFill>
            </a:endParaRPr>
          </a:p>
        </p:txBody>
      </p:sp>
      <p:sp>
        <p:nvSpPr>
          <p:cNvPr id="5" name="灯片编号占位符 4"/>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 calcmode="lin" valueType="num">
                                      <p:cBhvr additive="base">
                                        <p:cTn id="3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anim calcmode="lin" valueType="num">
                                      <p:cBhvr additive="base">
                                        <p:cTn id="3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 calcmode="lin" valueType="num">
                                      <p:cBhvr additive="base">
                                        <p:cTn id="43"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 calcmode="lin" valueType="num">
                                      <p:cBhvr additive="base">
                                        <p:cTn id="47"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4" name="Rectangle 3"/>
          <p:cNvSpPr>
            <a:spLocks noGrp="1"/>
          </p:cNvSpPr>
          <p:nvPr>
            <p:ph type="title"/>
          </p:nvPr>
        </p:nvSpPr>
        <p:spPr/>
        <p:txBody>
          <a:bodyPr wrap="square" tIns="0" bIns="0" anchor="ctr"/>
          <a:p>
            <a:pPr algn="ctr" eaLnBrk="1" hangingPunct="1"/>
            <a:r>
              <a:rPr lang="zh-CN" altLang="en-US" sz="2800"/>
              <a:t>数据库管理系统的功能（</a:t>
            </a:r>
            <a:r>
              <a:rPr lang="en-US" altLang="zh-CN" sz="2800"/>
              <a:t>2</a:t>
            </a:r>
            <a:r>
              <a:rPr lang="zh-CN" altLang="en-US" sz="2800"/>
              <a:t>）</a:t>
            </a:r>
            <a:endParaRPr lang="zh-CN" altLang="en-US" sz="2800"/>
          </a:p>
        </p:txBody>
      </p:sp>
      <p:sp>
        <p:nvSpPr>
          <p:cNvPr id="2" name="内容占位符 1"/>
          <p:cNvSpPr>
            <a:spLocks noGrp="1"/>
          </p:cNvSpPr>
          <p:nvPr>
            <p:ph idx="1"/>
          </p:nvPr>
        </p:nvSpPr>
        <p:spPr/>
        <p:txBody>
          <a:bodyPr>
            <a:noAutofit/>
          </a:bodyPr>
          <a:p>
            <a:pPr marL="0" indent="0">
              <a:lnSpc>
                <a:spcPct val="100000"/>
              </a:lnSpc>
              <a:spcBef>
                <a:spcPct val="0"/>
              </a:spcBef>
              <a:buNone/>
            </a:pPr>
            <a:r>
              <a:rPr lang="zh-CN" altLang="en-US">
                <a:solidFill>
                  <a:srgbClr val="FF0000"/>
                </a:solidFill>
              </a:rPr>
              <a:t>（</a:t>
            </a:r>
            <a:r>
              <a:rPr lang="en-US" altLang="zh-CN">
                <a:solidFill>
                  <a:srgbClr val="FF0000"/>
                </a:solidFill>
              </a:rPr>
              <a:t>4</a:t>
            </a:r>
            <a:r>
              <a:rPr lang="zh-CN" altLang="en-US">
                <a:solidFill>
                  <a:srgbClr val="FF0000"/>
                </a:solidFill>
              </a:rPr>
              <a:t>）数据库的事务管理和运行管理</a:t>
            </a:r>
            <a:endParaRPr lang="zh-CN" altLang="en-US"/>
          </a:p>
          <a:p>
            <a:pPr lvl="1">
              <a:lnSpc>
                <a:spcPct val="100000"/>
              </a:lnSpc>
              <a:spcBef>
                <a:spcPct val="0"/>
              </a:spcBef>
            </a:pPr>
            <a:r>
              <a:rPr lang="zh-CN" altLang="en-US" dirty="0">
                <a:sym typeface="+mn-ea"/>
              </a:rPr>
              <a:t>数据库在建立、运行和维护时由数据库管理系统统一管理和控制</a:t>
            </a:r>
            <a:endParaRPr lang="zh-CN" altLang="en-US" dirty="0"/>
          </a:p>
          <a:p>
            <a:pPr lvl="1">
              <a:lnSpc>
                <a:spcPct val="100000"/>
              </a:lnSpc>
              <a:spcBef>
                <a:spcPct val="0"/>
              </a:spcBef>
            </a:pPr>
            <a:r>
              <a:rPr lang="zh-CN" altLang="en-US" dirty="0">
                <a:sym typeface="+mn-ea"/>
              </a:rPr>
              <a:t>保证数据的安全性、完整性、多用户对数据的并发使用（</a:t>
            </a:r>
            <a:r>
              <a:rPr lang="zh-CN" altLang="en-US" dirty="0">
                <a:solidFill>
                  <a:srgbClr val="FF0000"/>
                </a:solidFill>
                <a:sym typeface="+mn-ea"/>
              </a:rPr>
              <a:t>事务管理</a:t>
            </a:r>
            <a:r>
              <a:rPr lang="zh-CN" altLang="en-US" dirty="0">
                <a:sym typeface="+mn-ea"/>
              </a:rPr>
              <a:t>）</a:t>
            </a:r>
            <a:endParaRPr lang="zh-CN" altLang="en-US" dirty="0"/>
          </a:p>
          <a:p>
            <a:pPr lvl="1">
              <a:lnSpc>
                <a:spcPct val="100000"/>
              </a:lnSpc>
              <a:spcBef>
                <a:spcPct val="0"/>
              </a:spcBef>
            </a:pPr>
            <a:r>
              <a:rPr lang="zh-CN" altLang="en-US" dirty="0">
                <a:sym typeface="+mn-ea"/>
              </a:rPr>
              <a:t>发生故障后的系统恢复（数据库</a:t>
            </a:r>
            <a:r>
              <a:rPr lang="zh-CN" altLang="en-US" dirty="0">
                <a:sym typeface="+mn-ea"/>
              </a:rPr>
              <a:t>恢复）</a:t>
            </a:r>
            <a:endParaRPr lang="zh-CN" altLang="en-US" dirty="0">
              <a:sym typeface="+mn-ea"/>
            </a:endParaRPr>
          </a:p>
          <a:p>
            <a:pPr marL="0" indent="0">
              <a:lnSpc>
                <a:spcPct val="100000"/>
              </a:lnSpc>
              <a:spcBef>
                <a:spcPts val="2000"/>
              </a:spcBef>
              <a:buNone/>
            </a:pPr>
            <a:r>
              <a:rPr lang="zh-CN" altLang="en-US">
                <a:solidFill>
                  <a:srgbClr val="FF0000"/>
                </a:solidFill>
              </a:rPr>
              <a:t>（</a:t>
            </a:r>
            <a:r>
              <a:rPr lang="en-US" altLang="zh-CN">
                <a:solidFill>
                  <a:srgbClr val="FF0000"/>
                </a:solidFill>
              </a:rPr>
              <a:t>5</a:t>
            </a:r>
            <a:r>
              <a:rPr lang="zh-CN" altLang="en-US">
                <a:solidFill>
                  <a:srgbClr val="FF0000"/>
                </a:solidFill>
              </a:rPr>
              <a:t>）数据库的建立和维护功能</a:t>
            </a:r>
            <a:endParaRPr lang="zh-CN" altLang="en-US">
              <a:solidFill>
                <a:srgbClr val="FF0000"/>
              </a:solidFill>
            </a:endParaRPr>
          </a:p>
          <a:p>
            <a:pPr lvl="1">
              <a:lnSpc>
                <a:spcPct val="100000"/>
              </a:lnSpc>
              <a:spcBef>
                <a:spcPct val="0"/>
              </a:spcBef>
            </a:pPr>
            <a:r>
              <a:rPr lang="zh-CN" altLang="en-US"/>
              <a:t>数据库的建立，初始数据加载与</a:t>
            </a:r>
            <a:r>
              <a:rPr lang="zh-CN" altLang="en-US"/>
              <a:t>转换</a:t>
            </a:r>
            <a:endParaRPr lang="zh-CN" altLang="en-US"/>
          </a:p>
          <a:p>
            <a:pPr lvl="1">
              <a:lnSpc>
                <a:spcPct val="100000"/>
              </a:lnSpc>
              <a:spcBef>
                <a:spcPct val="0"/>
              </a:spcBef>
            </a:pPr>
            <a:r>
              <a:rPr lang="zh-CN" altLang="en-US"/>
              <a:t>数据库转储，数据库恢复</a:t>
            </a:r>
            <a:endParaRPr lang="zh-CN" altLang="en-US"/>
          </a:p>
          <a:p>
            <a:pPr lvl="1">
              <a:lnSpc>
                <a:spcPct val="100000"/>
              </a:lnSpc>
              <a:spcBef>
                <a:spcPct val="0"/>
              </a:spcBef>
            </a:pPr>
            <a:r>
              <a:rPr lang="zh-CN" altLang="en-US"/>
              <a:t>数据库的重组，性能监视</a:t>
            </a:r>
            <a:r>
              <a:rPr lang="zh-CN" altLang="en-US"/>
              <a:t>与分析</a:t>
            </a:r>
            <a:r>
              <a:rPr lang="zh-CN" altLang="en-US"/>
              <a:t>等</a:t>
            </a:r>
            <a:endParaRPr lang="zh-CN" altLang="en-US"/>
          </a:p>
          <a:p>
            <a:pPr marL="0" indent="0">
              <a:lnSpc>
                <a:spcPct val="100000"/>
              </a:lnSpc>
              <a:spcBef>
                <a:spcPts val="2000"/>
              </a:spcBef>
              <a:buNone/>
            </a:pPr>
            <a:r>
              <a:rPr lang="zh-CN" altLang="en-US">
                <a:solidFill>
                  <a:srgbClr val="FF0000"/>
                </a:solidFill>
              </a:rPr>
              <a:t>（</a:t>
            </a:r>
            <a:r>
              <a:rPr lang="en-US" altLang="zh-CN">
                <a:solidFill>
                  <a:srgbClr val="FF0000"/>
                </a:solidFill>
              </a:rPr>
              <a:t>6</a:t>
            </a:r>
            <a:r>
              <a:rPr lang="zh-CN" altLang="en-US">
                <a:solidFill>
                  <a:srgbClr val="FF0000"/>
                </a:solidFill>
              </a:rPr>
              <a:t>）其他功能</a:t>
            </a:r>
            <a:endParaRPr lang="zh-CN" altLang="en-US">
              <a:solidFill>
                <a:srgbClr val="FF0000"/>
              </a:solidFill>
            </a:endParaRPr>
          </a:p>
          <a:p>
            <a:pPr lvl="1" algn="l">
              <a:lnSpc>
                <a:spcPct val="100000"/>
              </a:lnSpc>
              <a:spcBef>
                <a:spcPct val="0"/>
              </a:spcBef>
            </a:pPr>
            <a:r>
              <a:rPr lang="zh-CN" altLang="en-US"/>
              <a:t>与网络中其他软件系统的</a:t>
            </a:r>
            <a:r>
              <a:rPr lang="zh-CN" altLang="en-US"/>
              <a:t>通信</a:t>
            </a:r>
            <a:endParaRPr lang="zh-CN" altLang="en-US"/>
          </a:p>
          <a:p>
            <a:pPr lvl="1" algn="l">
              <a:lnSpc>
                <a:spcPct val="100000"/>
              </a:lnSpc>
              <a:spcBef>
                <a:spcPct val="0"/>
              </a:spcBef>
            </a:pPr>
            <a:r>
              <a:rPr lang="zh-CN" altLang="en-US"/>
              <a:t>数据库</a:t>
            </a:r>
            <a:r>
              <a:rPr lang="zh-CN" altLang="en-US"/>
              <a:t>管理系统之间的数据</a:t>
            </a:r>
            <a:r>
              <a:rPr lang="zh-CN" altLang="en-US"/>
              <a:t>转换</a:t>
            </a:r>
            <a:endParaRPr lang="zh-CN" altLang="en-US"/>
          </a:p>
          <a:p>
            <a:pPr lvl="1" algn="l">
              <a:lnSpc>
                <a:spcPct val="100000"/>
              </a:lnSpc>
              <a:spcBef>
                <a:spcPct val="0"/>
              </a:spcBef>
            </a:pPr>
            <a:r>
              <a:rPr lang="zh-CN" altLang="en-US">
                <a:sym typeface="+mn-ea"/>
              </a:rPr>
              <a:t>异构数据库系统之间的</a:t>
            </a:r>
            <a:r>
              <a:rPr lang="zh-CN" altLang="en-US"/>
              <a:t>互访/互操作</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blinds(horizontal)">
                                      <p:cBhvr>
                                        <p:cTn id="21" dur="500"/>
                                        <p:tgtEl>
                                          <p:spTgt spid="2">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blinds(horizontal)">
                                      <p:cBhvr>
                                        <p:cTn id="24" dur="500"/>
                                        <p:tgtEl>
                                          <p:spTgt spid="2">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blinds(horizontal)">
                                      <p:cBhvr>
                                        <p:cTn id="27" dur="500"/>
                                        <p:tgtEl>
                                          <p:spTgt spid="2">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blinds(horizontal)">
                                      <p:cBhvr>
                                        <p:cTn id="30" dur="500"/>
                                        <p:tgtEl>
                                          <p:spTgt spid="2">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blinds(horizontal)">
                                      <p:cBhvr>
                                        <p:cTn id="35" dur="500"/>
                                        <p:tgtEl>
                                          <p:spTgt spid="2">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blinds(horizontal)">
                                      <p:cBhvr>
                                        <p:cTn id="38" dur="500"/>
                                        <p:tgtEl>
                                          <p:spTgt spid="2">
                                            <p:txEl>
                                              <p:pRg st="9" end="9"/>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animEffect transition="in" filter="blinds(horizontal)">
                                      <p:cBhvr>
                                        <p:cTn id="41" dur="500"/>
                                        <p:tgtEl>
                                          <p:spTgt spid="2">
                                            <p:txEl>
                                              <p:pRg st="10" end="10"/>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
                                            <p:txEl>
                                              <p:pRg st="11" end="11"/>
                                            </p:txEl>
                                          </p:spTgt>
                                        </p:tgtEl>
                                        <p:attrNameLst>
                                          <p:attrName>style.visibility</p:attrName>
                                        </p:attrNameLst>
                                      </p:cBhvr>
                                      <p:to>
                                        <p:strVal val="visible"/>
                                      </p:to>
                                    </p:set>
                                    <p:animEffect transition="in" filter="blinds(horizontal)">
                                      <p:cBhvr>
                                        <p:cTn id="44"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7" name="Rectangle 2"/>
          <p:cNvSpPr>
            <a:spLocks noGrp="1"/>
          </p:cNvSpPr>
          <p:nvPr>
            <p:ph type="title"/>
          </p:nvPr>
        </p:nvSpPr>
        <p:spPr/>
        <p:txBody>
          <a:bodyPr wrap="square" tIns="0" bIns="0" anchor="ctr"/>
          <a:p>
            <a:pPr eaLnBrk="1" hangingPunct="1"/>
            <a:r>
              <a:rPr lang="zh-CN" altLang="en-US" sz="2800"/>
              <a:t>数据库子语言（</a:t>
            </a:r>
            <a:r>
              <a:rPr lang="en-US" altLang="zh-CN" sz="2800"/>
              <a:t>1</a:t>
            </a:r>
            <a:r>
              <a:rPr lang="zh-CN" altLang="en-US" sz="2800"/>
              <a:t>）</a:t>
            </a:r>
            <a:endParaRPr lang="zh-CN" altLang="en-US" sz="2800"/>
          </a:p>
        </p:txBody>
      </p:sp>
      <p:sp>
        <p:nvSpPr>
          <p:cNvPr id="15365" name="Rectangle 3"/>
          <p:cNvSpPr>
            <a:spLocks noGrp="1"/>
          </p:cNvSpPr>
          <p:nvPr>
            <p:ph idx="1"/>
          </p:nvPr>
        </p:nvSpPr>
        <p:spPr>
          <a:xfrm>
            <a:off x="424180" y="615950"/>
            <a:ext cx="9442450" cy="5502910"/>
          </a:xfrm>
        </p:spPr>
        <p:txBody>
          <a:bodyPr wrap="square" anchor="t">
            <a:spAutoFit/>
          </a:bodyPr>
          <a:p>
            <a:pPr eaLnBrk="1" hangingPunct="1">
              <a:lnSpc>
                <a:spcPct val="100000"/>
              </a:lnSpc>
              <a:spcBef>
                <a:spcPts val="1000"/>
              </a:spcBef>
            </a:pPr>
            <a:r>
              <a:rPr lang="zh-CN" altLang="en-US"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数据子语言（</a:t>
            </a:r>
            <a:r>
              <a:rPr lang="en-US" altLang="zh-CN" dirty="0">
                <a:solidFill>
                  <a:srgbClr val="1F2DA8"/>
                </a:solidFill>
                <a:latin typeface="楷体" panose="02010609060101010101" charset="-122"/>
                <a:ea typeface="楷体" panose="02010609060101010101" charset="-122"/>
                <a:cs typeface="楷体" panose="02010609060101010101" charset="-122"/>
                <a:sym typeface="Wingdings 3" panose="05040102010807070707" pitchFamily="2" charset="2"/>
              </a:rPr>
              <a:t>data sub_language）</a:t>
            </a:r>
            <a:endParaRPr lang="en-US" altLang="zh-CN" dirty="0">
              <a:solidFill>
                <a:schemeClr val="tx2"/>
              </a:solidFill>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1000"/>
              </a:spcBef>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数据定义语言</a:t>
            </a:r>
            <a:endPar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 Definition Language，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DDL</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负责数据模式的定义及数据存取方法的</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选择</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2000"/>
              </a:spcBef>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数据操纵语言</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 Manipulation Language，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DML</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负责数据的操纵，包括查询及增、删、改等操作</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1" eaLnBrk="1" hangingPunct="1">
              <a:lnSpc>
                <a:spcPct val="100000"/>
              </a:lnSpc>
              <a:spcBef>
                <a:spcPts val="2000"/>
              </a:spcBef>
            </a:pPr>
            <a:r>
              <a:rPr lang="zh-CN" altLang="en-US"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数据控制语言</a:t>
            </a:r>
            <a:endPar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endParaRPr>
          </a:p>
          <a:p>
            <a:pPr lvl="2" eaLnBrk="1" hangingPunct="1">
              <a:lnSpc>
                <a:spcPct val="100000"/>
              </a:lnSpc>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Data Control Language，</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简称</a:t>
            </a:r>
            <a:r>
              <a:rPr lang="en-US" altLang="zh-CN" dirty="0">
                <a:solidFill>
                  <a:srgbClr val="FF0000"/>
                </a:solidFill>
                <a:latin typeface="楷体" panose="02010609060101010101" charset="-122"/>
                <a:ea typeface="楷体" panose="02010609060101010101" charset="-122"/>
                <a:cs typeface="楷体" panose="02010609060101010101" charset="-122"/>
                <a:sym typeface="Wingdings 3" panose="05040102010807070707" pitchFamily="2" charset="2"/>
              </a:rPr>
              <a:t>DCL</a:t>
            </a:r>
            <a:r>
              <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rPr>
              <a:t>，</a:t>
            </a:r>
            <a:r>
              <a:rPr lang="zh-CN" altLang="en-US" dirty="0">
                <a:latin typeface="楷体" panose="02010609060101010101" charset="-122"/>
                <a:ea typeface="楷体" panose="02010609060101010101" charset="-122"/>
                <a:cs typeface="楷体" panose="02010609060101010101" charset="-122"/>
                <a:sym typeface="Wingdings 3" panose="05040102010807070707" pitchFamily="2" charset="2"/>
              </a:rPr>
              <a:t>负责数据的完整性、安全性的定义与检查以及并发控制、故障恢复等功能</a:t>
            </a:r>
            <a:endParaRPr lang="en-US" altLang="zh-CN" dirty="0">
              <a:latin typeface="楷体" panose="02010609060101010101" charset="-122"/>
              <a:ea typeface="楷体" panose="02010609060101010101" charset="-122"/>
              <a:cs typeface="楷体" panose="02010609060101010101" charset="-122"/>
              <a:sym typeface="Wingdings 3" panose="05040102010807070707" pitchFamily="2" charset="2"/>
            </a:endParaRPr>
          </a:p>
        </p:txBody>
      </p:sp>
      <p:grpSp>
        <p:nvGrpSpPr>
          <p:cNvPr id="15366" name="组合 15365"/>
          <p:cNvGrpSpPr/>
          <p:nvPr/>
        </p:nvGrpSpPr>
        <p:grpSpPr>
          <a:xfrm>
            <a:off x="10270490" y="1197722"/>
            <a:ext cx="917575" cy="4842232"/>
            <a:chOff x="152" y="-187"/>
            <a:chExt cx="578" cy="3287"/>
          </a:xfrm>
        </p:grpSpPr>
        <p:sp>
          <p:nvSpPr>
            <p:cNvPr id="16390" name="AutoShape 4"/>
            <p:cNvSpPr/>
            <p:nvPr/>
          </p:nvSpPr>
          <p:spPr>
            <a:xfrm>
              <a:off x="152" y="0"/>
              <a:ext cx="157" cy="3048"/>
            </a:xfrm>
            <a:prstGeom prst="rightBrace">
              <a:avLst>
                <a:gd name="adj1" fmla="val 70003"/>
                <a:gd name="adj2" fmla="val 51273"/>
              </a:avLst>
            </a:prstGeom>
            <a:noFill/>
            <a:ln w="25400" cap="flat" cmpd="sng">
              <a:solidFill>
                <a:schemeClr val="tx1"/>
              </a:solidFill>
              <a:prstDash val="solid"/>
              <a:round/>
              <a:headEnd type="none" w="med" len="med"/>
              <a:tailEnd type="none" w="med" len="med"/>
            </a:ln>
          </p:spPr>
          <p:txBody>
            <a:bodyPr wrap="none" anchor="ctr"/>
            <a:p>
              <a:pPr algn="ctr"/>
              <a:endParaRPr lang="zh-CN" altLang="en-US" dirty="0">
                <a:latin typeface="Times New Roman" panose="02020603050405020304" pitchFamily="2" charset="0"/>
              </a:endParaRPr>
            </a:p>
          </p:txBody>
        </p:sp>
        <p:sp>
          <p:nvSpPr>
            <p:cNvPr id="16391" name="Text Box 5"/>
            <p:cNvSpPr txBox="1"/>
            <p:nvPr/>
          </p:nvSpPr>
          <p:spPr>
            <a:xfrm>
              <a:off x="344" y="-187"/>
              <a:ext cx="386" cy="3287"/>
            </a:xfrm>
            <a:prstGeom prst="rect">
              <a:avLst/>
            </a:prstGeom>
            <a:noFill/>
            <a:ln w="9525">
              <a:noFill/>
            </a:ln>
          </p:spPr>
          <p:txBody>
            <a:bodyPr vert="eaVert" wrap="square" anchor="t">
              <a:spAutoFit/>
            </a:bodyPr>
            <a:p>
              <a:pPr algn="ctr">
                <a:spcBef>
                  <a:spcPct val="50000"/>
                </a:spcBef>
              </a:pPr>
              <a:r>
                <a:rPr lang="zh-CN" altLang="en-US" sz="2800" dirty="0">
                  <a:solidFill>
                    <a:srgbClr val="FF0000"/>
                  </a:solidFill>
                  <a:latin typeface="Arial" panose="020B0604020202020204" pitchFamily="34" charset="0"/>
                </a:rPr>
                <a:t>统一的关系数据子语言</a:t>
              </a:r>
              <a:r>
                <a:rPr lang="en-US" altLang="zh-CN" sz="2800" dirty="0">
                  <a:solidFill>
                    <a:srgbClr val="FF0000"/>
                  </a:solidFill>
                  <a:latin typeface="Arial" panose="020B0604020202020204" pitchFamily="34" charset="0"/>
                </a:rPr>
                <a:t>  SQL </a:t>
              </a:r>
              <a:endParaRPr lang="zh-CN" altLang="en-US" sz="2800" dirty="0">
                <a:solidFill>
                  <a:srgbClr val="FF0000"/>
                </a:solidFill>
                <a:latin typeface="Arial" panose="020B0604020202020204" pitchFamily="34" charset="0"/>
              </a:endParaRPr>
            </a:p>
          </p:txBody>
        </p:sp>
      </p:grpSp>
      <p:sp>
        <p:nvSpPr>
          <p:cNvPr id="2" name="文本框 1"/>
          <p:cNvSpPr txBox="1"/>
          <p:nvPr/>
        </p:nvSpPr>
        <p:spPr>
          <a:xfrm>
            <a:off x="7625080" y="6039485"/>
            <a:ext cx="4553585" cy="521970"/>
          </a:xfrm>
          <a:prstGeom prst="rect">
            <a:avLst/>
          </a:prstGeom>
          <a:noFill/>
        </p:spPr>
        <p:txBody>
          <a:bodyPr wrap="square" rtlCol="0">
            <a:spAutoFit/>
          </a:bodyPr>
          <a:p>
            <a:r>
              <a:rPr lang="en-US" altLang="zh-CN" sz="2800">
                <a:sym typeface="+mn-ea"/>
              </a:rPr>
              <a:t>( </a:t>
            </a:r>
            <a:r>
              <a:rPr lang="zh-CN" altLang="en-US" sz="2800">
                <a:solidFill>
                  <a:srgbClr val="FF0000"/>
                </a:solidFill>
                <a:sym typeface="+mn-ea"/>
              </a:rPr>
              <a:t>S</a:t>
            </a:r>
            <a:r>
              <a:rPr lang="zh-CN" altLang="en-US" sz="2800">
                <a:sym typeface="+mn-ea"/>
              </a:rPr>
              <a:t>tructured </a:t>
            </a:r>
            <a:r>
              <a:rPr lang="zh-CN" altLang="en-US" sz="2800">
                <a:solidFill>
                  <a:srgbClr val="FF0000"/>
                </a:solidFill>
                <a:sym typeface="+mn-ea"/>
              </a:rPr>
              <a:t>Q</a:t>
            </a:r>
            <a:r>
              <a:rPr lang="zh-CN" altLang="en-US" sz="2800">
                <a:sym typeface="+mn-ea"/>
              </a:rPr>
              <a:t>uery </a:t>
            </a:r>
            <a:r>
              <a:rPr lang="zh-CN" altLang="en-US" sz="2800">
                <a:solidFill>
                  <a:srgbClr val="FF0000"/>
                </a:solidFill>
                <a:sym typeface="+mn-ea"/>
              </a:rPr>
              <a:t>L</a:t>
            </a:r>
            <a:r>
              <a:rPr lang="zh-CN" altLang="en-US" sz="2800">
                <a:sym typeface="+mn-ea"/>
              </a:rPr>
              <a:t>anguage</a:t>
            </a:r>
            <a:r>
              <a:rPr lang="en-US" altLang="zh-CN" sz="2800">
                <a:sym typeface="+mn-ea"/>
              </a:rPr>
              <a:t> )</a:t>
            </a:r>
            <a:endParaRPr lang="en-US" altLang="zh-CN" sz="2800">
              <a:sym typeface="+mn-ea"/>
            </a:endParaRPr>
          </a:p>
        </p:txBody>
      </p:sp>
      <p:sp>
        <p:nvSpPr>
          <p:cNvPr id="4" name="灯片编号占位符 3"/>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5">
                                            <p:txEl>
                                              <p:pRg st="2" end="2"/>
                                            </p:txEl>
                                          </p:spTgt>
                                        </p:tgtEl>
                                        <p:attrNameLst>
                                          <p:attrName>style.visibility</p:attrName>
                                        </p:attrNameLst>
                                      </p:cBhvr>
                                      <p:to>
                                        <p:strVal val="visible"/>
                                      </p:to>
                                    </p:set>
                                    <p:animEffect transition="in" filter="blinds(horizontal)">
                                      <p:cBhvr>
                                        <p:cTn id="7" dur="500"/>
                                        <p:tgtEl>
                                          <p:spTgt spid="1536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5">
                                            <p:txEl>
                                              <p:pRg st="4" end="4"/>
                                            </p:txEl>
                                          </p:spTgt>
                                        </p:tgtEl>
                                        <p:attrNameLst>
                                          <p:attrName>style.visibility</p:attrName>
                                        </p:attrNameLst>
                                      </p:cBhvr>
                                      <p:to>
                                        <p:strVal val="visible"/>
                                      </p:to>
                                    </p:set>
                                    <p:animEffect transition="in" filter="blinds(horizontal)">
                                      <p:cBhvr>
                                        <p:cTn id="12" dur="500"/>
                                        <p:tgtEl>
                                          <p:spTgt spid="1536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5">
                                            <p:txEl>
                                              <p:pRg st="6" end="6"/>
                                            </p:txEl>
                                          </p:spTgt>
                                        </p:tgtEl>
                                        <p:attrNameLst>
                                          <p:attrName>style.visibility</p:attrName>
                                        </p:attrNameLst>
                                      </p:cBhvr>
                                      <p:to>
                                        <p:strVal val="visible"/>
                                      </p:to>
                                    </p:set>
                                    <p:animEffect transition="in" filter="blinds(horizontal)">
                                      <p:cBhvr>
                                        <p:cTn id="17" dur="500"/>
                                        <p:tgtEl>
                                          <p:spTgt spid="15365">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nodeType="clickEffect">
                                  <p:stCondLst>
                                    <p:cond delay="0"/>
                                  </p:stCondLst>
                                  <p:childTnLst>
                                    <p:set>
                                      <p:cBhvr>
                                        <p:cTn id="21" dur="1" fill="hold">
                                          <p:stCondLst>
                                            <p:cond delay="0"/>
                                          </p:stCondLst>
                                        </p:cTn>
                                        <p:tgtEl>
                                          <p:spTgt spid="15366"/>
                                        </p:tgtEl>
                                        <p:attrNameLst>
                                          <p:attrName>style.visibility</p:attrName>
                                        </p:attrNameLst>
                                      </p:cBhvr>
                                      <p:to>
                                        <p:strVal val="visible"/>
                                      </p:to>
                                    </p:set>
                                    <p:anim calcmode="lin" valueType="num">
                                      <p:cBhvr>
                                        <p:cTn id="22" dur="500" fill="hold"/>
                                        <p:tgtEl>
                                          <p:spTgt spid="15366"/>
                                        </p:tgtEl>
                                        <p:attrNameLst>
                                          <p:attrName>ppt_x</p:attrName>
                                        </p:attrNameLst>
                                      </p:cBhvr>
                                      <p:tavLst>
                                        <p:tav tm="0">
                                          <p:val>
                                            <p:strVal val="#ppt_x-#ppt_w/2"/>
                                          </p:val>
                                        </p:tav>
                                        <p:tav tm="100000">
                                          <p:val>
                                            <p:strVal val="#ppt_x"/>
                                          </p:val>
                                        </p:tav>
                                      </p:tavLst>
                                    </p:anim>
                                    <p:anim calcmode="lin" valueType="num">
                                      <p:cBhvr>
                                        <p:cTn id="23" dur="500" fill="hold"/>
                                        <p:tgtEl>
                                          <p:spTgt spid="15366"/>
                                        </p:tgtEl>
                                        <p:attrNameLst>
                                          <p:attrName>ppt_y</p:attrName>
                                        </p:attrNameLst>
                                      </p:cBhvr>
                                      <p:tavLst>
                                        <p:tav tm="0">
                                          <p:val>
                                            <p:strVal val="#ppt_y"/>
                                          </p:val>
                                        </p:tav>
                                        <p:tav tm="100000">
                                          <p:val>
                                            <p:strVal val="#ppt_y"/>
                                          </p:val>
                                        </p:tav>
                                      </p:tavLst>
                                    </p:anim>
                                    <p:anim calcmode="lin" valueType="num">
                                      <p:cBhvr>
                                        <p:cTn id="24" dur="500" fill="hold"/>
                                        <p:tgtEl>
                                          <p:spTgt spid="15366"/>
                                        </p:tgtEl>
                                        <p:attrNameLst>
                                          <p:attrName>ppt_w</p:attrName>
                                        </p:attrNameLst>
                                      </p:cBhvr>
                                      <p:tavLst>
                                        <p:tav tm="0">
                                          <p:val>
                                            <p:fltVal val="0.000000"/>
                                          </p:val>
                                        </p:tav>
                                        <p:tav tm="100000">
                                          <p:val>
                                            <p:strVal val="#ppt_w"/>
                                          </p:val>
                                        </p:tav>
                                      </p:tavLst>
                                    </p:anim>
                                    <p:anim calcmode="lin" valueType="num">
                                      <p:cBhvr>
                                        <p:cTn id="25" dur="500" fill="hold"/>
                                        <p:tgtEl>
                                          <p:spTgt spid="15366"/>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Rectangle 2"/>
          <p:cNvSpPr>
            <a:spLocks noGrp="1"/>
          </p:cNvSpPr>
          <p:nvPr>
            <p:ph type="title"/>
          </p:nvPr>
        </p:nvSpPr>
        <p:spPr/>
        <p:txBody>
          <a:bodyPr wrap="square" tIns="0" bIns="0" anchor="ctr"/>
          <a:p>
            <a:pPr eaLnBrk="1" hangingPunct="1"/>
            <a:r>
              <a:rPr lang="zh-CN" altLang="en-US" sz="2800"/>
              <a:t>数据库子语言（</a:t>
            </a:r>
            <a:r>
              <a:rPr lang="en-US" altLang="zh-CN" sz="2800"/>
              <a:t>2</a:t>
            </a:r>
            <a:r>
              <a:rPr lang="zh-CN" altLang="en-US" sz="2800"/>
              <a:t>）</a:t>
            </a:r>
            <a:endParaRPr lang="zh-CN" altLang="en-US" sz="2800"/>
          </a:p>
        </p:txBody>
      </p:sp>
      <p:sp>
        <p:nvSpPr>
          <p:cNvPr id="17412" name="Rectangle 3"/>
          <p:cNvSpPr>
            <a:spLocks noGrp="1"/>
          </p:cNvSpPr>
          <p:nvPr>
            <p:ph idx="1"/>
          </p:nvPr>
        </p:nvSpPr>
        <p:spPr>
          <a:xfrm>
            <a:off x="424180" y="615950"/>
            <a:ext cx="11343005" cy="5328920"/>
          </a:xfrm>
        </p:spPr>
        <p:txBody>
          <a:bodyPr wrap="square" anchor="t">
            <a:spAutoFit/>
          </a:bodyPr>
          <a:p>
            <a:pPr eaLnBrk="1" hangingPunct="1">
              <a:lnSpc>
                <a:spcPct val="100000"/>
              </a:lnSpc>
              <a:spcBef>
                <a:spcPts val="1000"/>
              </a:spcBef>
              <a:spcAft>
                <a:spcPts val="0"/>
              </a:spcAft>
            </a:pPr>
            <a:r>
              <a:rPr lang="zh-CN" altLang="en-US" dirty="0">
                <a:solidFill>
                  <a:srgbClr val="1F2DA8"/>
                </a:solidFill>
                <a:latin typeface="楷体" panose="02010609060101010101" charset="-122"/>
                <a:ea typeface="楷体" panose="02010609060101010101" charset="-122"/>
                <a:sym typeface="Wingdings 3" panose="05040102010807070707" pitchFamily="2" charset="2"/>
              </a:rPr>
              <a:t>数据子语言的使用方式</a:t>
            </a:r>
            <a:endParaRPr lang="zh-CN" altLang="en-US" sz="1200" dirty="0">
              <a:solidFill>
                <a:srgbClr val="1F2DA8"/>
              </a:solidFill>
              <a:latin typeface="楷体" panose="02010609060101010101" charset="-122"/>
              <a:ea typeface="楷体" panose="02010609060101010101" charset="-122"/>
              <a:sym typeface="Wingdings 3" panose="05040102010807070707" pitchFamily="2" charset="2"/>
            </a:endParaRPr>
          </a:p>
          <a:p>
            <a:pPr lvl="1" eaLnBrk="1" hangingPunct="1">
              <a:lnSpc>
                <a:spcPct val="100000"/>
              </a:lnSpc>
              <a:spcBef>
                <a:spcPts val="1000"/>
              </a:spcBef>
              <a:spcAft>
                <a:spcPts val="0"/>
              </a:spcAft>
            </a:pPr>
            <a:r>
              <a:rPr lang="zh-CN" altLang="en-US" u="sng" dirty="0">
                <a:solidFill>
                  <a:srgbClr val="FF0000"/>
                </a:solidFill>
                <a:latin typeface="楷体" panose="02010609060101010101" charset="-122"/>
                <a:ea typeface="楷体" panose="02010609060101010101" charset="-122"/>
              </a:rPr>
              <a:t>交互式命令语言</a:t>
            </a:r>
            <a:endParaRPr lang="zh-CN" altLang="en-US" dirty="0">
              <a:solidFill>
                <a:schemeClr val="tx2"/>
              </a:solidFill>
              <a:latin typeface="楷体" panose="02010609060101010101" charset="-122"/>
              <a:ea typeface="楷体" panose="02010609060101010101" charset="-122"/>
            </a:endParaRPr>
          </a:p>
          <a:p>
            <a:pPr lvl="2" algn="just" eaLnBrk="1" hangingPunct="1">
              <a:lnSpc>
                <a:spcPct val="100000"/>
              </a:lnSpc>
              <a:spcBef>
                <a:spcPts val="1000"/>
              </a:spcBef>
              <a:spcAft>
                <a:spcPts val="0"/>
              </a:spcAft>
            </a:pPr>
            <a:r>
              <a:rPr lang="zh-CN" altLang="en-US" dirty="0">
                <a:latin typeface="楷体" panose="02010609060101010101" charset="-122"/>
                <a:ea typeface="楷体" panose="02010609060101010101" charset="-122"/>
              </a:rPr>
              <a:t>能在终端上即席操作，又被称为</a:t>
            </a:r>
            <a:r>
              <a:rPr lang="zh-CN" altLang="en-US" dirty="0">
                <a:solidFill>
                  <a:srgbClr val="FF0000"/>
                </a:solidFill>
                <a:latin typeface="楷体" panose="02010609060101010101" charset="-122"/>
                <a:ea typeface="楷体" panose="02010609060101010101" charset="-122"/>
              </a:rPr>
              <a:t>自含型</a:t>
            </a:r>
            <a:r>
              <a:rPr lang="zh-CN" altLang="en-US" dirty="0">
                <a:latin typeface="楷体" panose="02010609060101010101" charset="-122"/>
                <a:ea typeface="楷体" panose="02010609060101010101" charset="-122"/>
              </a:rPr>
              <a:t>或</a:t>
            </a:r>
            <a:r>
              <a:rPr lang="zh-CN" altLang="en-US" dirty="0">
                <a:solidFill>
                  <a:srgbClr val="FF0000"/>
                </a:solidFill>
                <a:latin typeface="楷体" panose="02010609060101010101" charset="-122"/>
                <a:ea typeface="楷体" panose="02010609060101010101" charset="-122"/>
              </a:rPr>
              <a:t>自主型</a:t>
            </a:r>
            <a:r>
              <a:rPr lang="zh-CN" altLang="en-US" dirty="0">
                <a:latin typeface="楷体" panose="02010609060101010101" charset="-122"/>
                <a:ea typeface="楷体" panose="02010609060101010101" charset="-122"/>
              </a:rPr>
              <a:t>语言</a:t>
            </a:r>
            <a:endParaRPr lang="zh-CN" altLang="en-US" dirty="0">
              <a:latin typeface="楷体" panose="02010609060101010101" charset="-122"/>
              <a:ea typeface="楷体" panose="02010609060101010101" charset="-122"/>
            </a:endParaRPr>
          </a:p>
          <a:p>
            <a:pPr lvl="2" algn="just" eaLnBrk="1" hangingPunct="1">
              <a:lnSpc>
                <a:spcPct val="100000"/>
              </a:lnSpc>
              <a:spcBef>
                <a:spcPts val="1000"/>
              </a:spcBef>
              <a:spcAft>
                <a:spcPts val="0"/>
              </a:spcAft>
            </a:pPr>
            <a:r>
              <a:rPr lang="zh-CN" altLang="en-US" dirty="0">
                <a:latin typeface="楷体" panose="02010609060101010101" charset="-122"/>
                <a:ea typeface="楷体" panose="02010609060101010101" charset="-122"/>
              </a:rPr>
              <a:t>能够以</a:t>
            </a:r>
            <a:r>
              <a:rPr lang="zh-CN" altLang="en-US" dirty="0">
                <a:solidFill>
                  <a:srgbClr val="FF0000"/>
                </a:solidFill>
                <a:latin typeface="楷体" panose="02010609060101010101" charset="-122"/>
                <a:ea typeface="楷体" panose="02010609060101010101" charset="-122"/>
              </a:rPr>
              <a:t>命令行交互</a:t>
            </a:r>
            <a:r>
              <a:rPr lang="zh-CN" altLang="en-US" dirty="0">
                <a:latin typeface="楷体" panose="02010609060101010101" charset="-122"/>
                <a:ea typeface="楷体" panose="02010609060101010101" charset="-122"/>
              </a:rPr>
              <a:t>方式或</a:t>
            </a:r>
            <a:r>
              <a:rPr lang="zh-CN" altLang="en-US" dirty="0">
                <a:solidFill>
                  <a:srgbClr val="FF0000"/>
                </a:solidFill>
                <a:latin typeface="楷体" panose="02010609060101010101" charset="-122"/>
                <a:ea typeface="楷体" panose="02010609060101010101" charset="-122"/>
              </a:rPr>
              <a:t>批处理</a:t>
            </a:r>
            <a:r>
              <a:rPr lang="zh-CN" altLang="en-US" dirty="0">
                <a:latin typeface="楷体" panose="02010609060101010101" charset="-122"/>
                <a:ea typeface="楷体" panose="02010609060101010101" charset="-122"/>
              </a:rPr>
              <a:t>方式</a:t>
            </a:r>
            <a:r>
              <a:rPr lang="zh-CN" altLang="en-US" dirty="0">
                <a:latin typeface="楷体" panose="02010609060101010101" charset="-122"/>
                <a:ea typeface="楷体" panose="02010609060101010101" charset="-122"/>
              </a:rPr>
              <a:t>独立运行</a:t>
            </a:r>
            <a:endParaRPr lang="zh-CN" altLang="en-US" dirty="0">
              <a:latin typeface="楷体" panose="02010609060101010101" charset="-122"/>
              <a:ea typeface="楷体" panose="02010609060101010101" charset="-122"/>
            </a:endParaRPr>
          </a:p>
          <a:p>
            <a:pPr lvl="2" algn="just" eaLnBrk="1" hangingPunct="1">
              <a:lnSpc>
                <a:spcPct val="100000"/>
              </a:lnSpc>
              <a:spcBef>
                <a:spcPts val="1000"/>
              </a:spcBef>
              <a:spcAft>
                <a:spcPts val="0"/>
              </a:spcAft>
              <a:buFont typeface="Arial" panose="020B0604020202020204" pitchFamily="34" charset="0"/>
              <a:buChar char="•"/>
            </a:pPr>
            <a:endParaRPr lang="zh-CN" altLang="en-US" dirty="0">
              <a:solidFill>
                <a:schemeClr val="tx2"/>
              </a:solidFill>
              <a:latin typeface="楷体" panose="02010609060101010101" charset="-122"/>
              <a:ea typeface="楷体" panose="02010609060101010101" charset="-122"/>
            </a:endParaRPr>
          </a:p>
          <a:p>
            <a:pPr lvl="1" eaLnBrk="1" hangingPunct="1">
              <a:lnSpc>
                <a:spcPct val="100000"/>
              </a:lnSpc>
              <a:spcBef>
                <a:spcPts val="1000"/>
              </a:spcBef>
              <a:spcAft>
                <a:spcPts val="0"/>
              </a:spcAft>
            </a:pPr>
            <a:r>
              <a:rPr lang="zh-CN" altLang="en-US" u="sng" dirty="0">
                <a:solidFill>
                  <a:srgbClr val="FF0000"/>
                </a:solidFill>
                <a:latin typeface="楷体" panose="02010609060101010101" charset="-122"/>
                <a:ea typeface="楷体" panose="02010609060101010101" charset="-122"/>
              </a:rPr>
              <a:t>宿主型语言</a:t>
            </a:r>
            <a:endParaRPr lang="zh-CN" altLang="en-US" dirty="0">
              <a:solidFill>
                <a:schemeClr val="tx2"/>
              </a:solidFill>
              <a:latin typeface="楷体" panose="02010609060101010101" charset="-122"/>
              <a:ea typeface="楷体" panose="02010609060101010101" charset="-122"/>
            </a:endParaRPr>
          </a:p>
          <a:p>
            <a:pPr lvl="2" eaLnBrk="1" hangingPunct="1">
              <a:lnSpc>
                <a:spcPct val="100000"/>
              </a:lnSpc>
              <a:spcBef>
                <a:spcPts val="1000"/>
              </a:spcBef>
              <a:spcAft>
                <a:spcPts val="0"/>
              </a:spcAft>
            </a:pPr>
            <a:r>
              <a:rPr lang="zh-CN" altLang="en-US" dirty="0">
                <a:latin typeface="楷体" panose="02010609060101010101" charset="-122"/>
                <a:ea typeface="楷体" panose="02010609060101010101" charset="-122"/>
              </a:rPr>
              <a:t>需要被嵌入到某种</a:t>
            </a:r>
            <a:r>
              <a:rPr lang="en-US" altLang="zh-CN" dirty="0">
                <a:latin typeface="楷体" panose="02010609060101010101" charset="-122"/>
                <a:ea typeface="楷体" panose="02010609060101010101" charset="-122"/>
              </a:rPr>
              <a:t> </a:t>
            </a:r>
            <a:r>
              <a:rPr lang="zh-CN" altLang="en-US" u="sng" dirty="0">
                <a:solidFill>
                  <a:srgbClr val="FF0000"/>
                </a:solidFill>
                <a:latin typeface="楷体" panose="02010609060101010101" charset="-122"/>
                <a:ea typeface="楷体" panose="02010609060101010101" charset="-122"/>
              </a:rPr>
              <a:t>宿主语言</a:t>
            </a:r>
            <a:r>
              <a:rPr lang="en-US" altLang="zh-CN" dirty="0">
                <a:solidFill>
                  <a:srgbClr val="FF0000"/>
                </a:solidFill>
                <a:latin typeface="楷体" panose="02010609060101010101" charset="-122"/>
                <a:ea typeface="楷体" panose="02010609060101010101" charset="-122"/>
              </a:rPr>
              <a:t> </a:t>
            </a:r>
            <a:r>
              <a:rPr lang="zh-CN" altLang="en-US" dirty="0">
                <a:latin typeface="楷体" panose="02010609060101010101" charset="-122"/>
                <a:ea typeface="楷体" panose="02010609060101010101" charset="-122"/>
              </a:rPr>
              <a:t>中</a:t>
            </a:r>
            <a:endParaRPr lang="zh-CN" altLang="en-US" dirty="0">
              <a:latin typeface="楷体" panose="02010609060101010101" charset="-122"/>
              <a:ea typeface="楷体" panose="02010609060101010101" charset="-122"/>
            </a:endParaRPr>
          </a:p>
          <a:p>
            <a:pPr lvl="2" eaLnBrk="1" hangingPunct="1">
              <a:lnSpc>
                <a:spcPct val="100000"/>
              </a:lnSpc>
              <a:spcBef>
                <a:spcPts val="1000"/>
              </a:spcBef>
              <a:spcAft>
                <a:spcPts val="0"/>
              </a:spcAft>
            </a:pP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solidFill>
                  <a:srgbClr val="1F2DA8"/>
                </a:solidFill>
                <a:uFillTx/>
                <a:latin typeface="Arial" panose="020B0604020202020204" pitchFamily="34" charset="0"/>
                <a:ea typeface="楷体" panose="02010609060101010101" charset="-122"/>
                <a:cs typeface="楷体" panose="02010609060101010101" charset="-122"/>
                <a:sym typeface="+mn-ea"/>
              </a:rPr>
              <a:t>宿主语言</a:t>
            </a: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sym typeface="+mn-ea"/>
              </a:rPr>
              <a:t>通常是一种高级过程性程序设计语言，从早期的 </a:t>
            </a:r>
            <a:r>
              <a:rPr lang="en-US" altLang="zh-CN" dirty="0">
                <a:latin typeface="楷体" panose="02010609060101010101" charset="-122"/>
                <a:ea typeface="楷体" panose="02010609060101010101" charset="-122"/>
                <a:cs typeface="楷体" panose="02010609060101010101" charset="-122"/>
                <a:sym typeface="+mn-ea"/>
              </a:rPr>
              <a:t>Fortran, Cobol, C/C</a:t>
            </a:r>
            <a:r>
              <a:rPr lang="en-US" altLang="zh-CN" baseline="30000" dirty="0">
                <a:latin typeface="楷体" panose="02010609060101010101" charset="-122"/>
                <a:ea typeface="楷体" panose="02010609060101010101" charset="-122"/>
                <a:cs typeface="楷体" panose="02010609060101010101" charset="-122"/>
                <a:sym typeface="+mn-ea"/>
              </a:rPr>
              <a:t>＋＋ </a:t>
            </a:r>
            <a:r>
              <a:rPr lang="zh-CN" altLang="en-US" dirty="0">
                <a:latin typeface="楷体" panose="02010609060101010101" charset="-122"/>
                <a:ea typeface="楷体" panose="02010609060101010101" charset="-122"/>
                <a:cs typeface="楷体" panose="02010609060101010101" charset="-122"/>
                <a:sym typeface="+mn-ea"/>
              </a:rPr>
              <a:t>到现在的 </a:t>
            </a:r>
            <a:r>
              <a:rPr lang="en-US" altLang="zh-CN" dirty="0">
                <a:latin typeface="楷体" panose="02010609060101010101" charset="-122"/>
                <a:ea typeface="楷体" panose="02010609060101010101" charset="-122"/>
                <a:cs typeface="楷体" panose="02010609060101010101" charset="-122"/>
                <a:sym typeface="+mn-ea"/>
              </a:rPr>
              <a:t>JAVA , Python </a:t>
            </a:r>
            <a:r>
              <a:rPr lang="zh-CN" altLang="en-US" dirty="0">
                <a:latin typeface="楷体" panose="02010609060101010101" charset="-122"/>
                <a:ea typeface="楷体" panose="02010609060101010101" charset="-122"/>
                <a:cs typeface="楷体" panose="02010609060101010101" charset="-122"/>
                <a:sym typeface="+mn-ea"/>
              </a:rPr>
              <a:t>等，可以在其程序中使用</a:t>
            </a: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solidFill>
                  <a:srgbClr val="1F2DA8"/>
                </a:solidFill>
                <a:uFillTx/>
                <a:latin typeface="Arial" panose="020B0604020202020204" pitchFamily="34" charset="0"/>
                <a:ea typeface="楷体" panose="02010609060101010101" charset="-122"/>
                <a:cs typeface="楷体" panose="02010609060101010101" charset="-122"/>
                <a:sym typeface="+mn-ea"/>
              </a:rPr>
              <a:t>数据子语言</a:t>
            </a:r>
            <a:r>
              <a:rPr lang="en-US" altLang="zh-CN" dirty="0">
                <a:solidFill>
                  <a:srgbClr val="1F2DA8"/>
                </a:solidFill>
                <a:uFillTx/>
                <a:latin typeface="Arial" panose="020B0604020202020204" pitchFamily="34" charset="0"/>
                <a:ea typeface="楷体" panose="02010609060101010101" charset="-122"/>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sym typeface="+mn-ea"/>
              </a:rPr>
              <a:t>来访问</a:t>
            </a:r>
            <a:r>
              <a:rPr lang="zh-CN" altLang="en-US" dirty="0">
                <a:latin typeface="楷体" panose="02010609060101010101" charset="-122"/>
                <a:ea typeface="楷体" panose="02010609060101010101" charset="-122"/>
                <a:cs typeface="楷体" panose="02010609060101010101" charset="-122"/>
                <a:sym typeface="+mn-ea"/>
              </a:rPr>
              <a:t>数据库。</a:t>
            </a:r>
            <a:endParaRPr lang="zh-CN" altLang="en-US" dirty="0">
              <a:latin typeface="楷体" panose="02010609060101010101" charset="-122"/>
              <a:ea typeface="楷体" panose="02010609060101010101" charset="-122"/>
              <a:cs typeface="楷体" panose="02010609060101010101" charset="-122"/>
              <a:sym typeface="+mn-ea"/>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2">
                                            <p:txEl>
                                              <p:pRg st="2" end="2"/>
                                            </p:txEl>
                                          </p:spTgt>
                                        </p:tgtEl>
                                        <p:attrNameLst>
                                          <p:attrName>style.visibility</p:attrName>
                                        </p:attrNameLst>
                                      </p:cBhvr>
                                      <p:to>
                                        <p:strVal val="visible"/>
                                      </p:to>
                                    </p:set>
                                    <p:animEffect transition="in" filter="blinds(horizontal)">
                                      <p:cBhvr>
                                        <p:cTn id="7" dur="500"/>
                                        <p:tgtEl>
                                          <p:spTgt spid="17412">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412">
                                            <p:txEl>
                                              <p:pRg st="3" end="3"/>
                                            </p:txEl>
                                          </p:spTgt>
                                        </p:tgtEl>
                                        <p:attrNameLst>
                                          <p:attrName>style.visibility</p:attrName>
                                        </p:attrNameLst>
                                      </p:cBhvr>
                                      <p:to>
                                        <p:strVal val="visible"/>
                                      </p:to>
                                    </p:set>
                                    <p:animEffect transition="in" filter="blinds(horizontal)">
                                      <p:cBhvr>
                                        <p:cTn id="10" dur="500"/>
                                        <p:tgtEl>
                                          <p:spTgt spid="1741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7412">
                                            <p:txEl>
                                              <p:pRg st="6" end="6"/>
                                            </p:txEl>
                                          </p:spTgt>
                                        </p:tgtEl>
                                        <p:attrNameLst>
                                          <p:attrName>style.visibility</p:attrName>
                                        </p:attrNameLst>
                                      </p:cBhvr>
                                      <p:to>
                                        <p:strVal val="visible"/>
                                      </p:to>
                                    </p:set>
                                    <p:animEffect transition="in" filter="blinds(horizontal)">
                                      <p:cBhvr>
                                        <p:cTn id="15" dur="500"/>
                                        <p:tgtEl>
                                          <p:spTgt spid="17412">
                                            <p:txEl>
                                              <p:pRg st="6" end="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7412">
                                            <p:txEl>
                                              <p:pRg st="7" end="7"/>
                                            </p:txEl>
                                          </p:spTgt>
                                        </p:tgtEl>
                                        <p:attrNameLst>
                                          <p:attrName>style.visibility</p:attrName>
                                        </p:attrNameLst>
                                      </p:cBhvr>
                                      <p:to>
                                        <p:strVal val="visible"/>
                                      </p:to>
                                    </p:set>
                                    <p:animEffect transition="in" filter="blinds(horizontal)">
                                      <p:cBhvr>
                                        <p:cTn id="18" dur="500"/>
                                        <p:tgtEl>
                                          <p:spTgt spid="174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18437" name="Rectangle 3"/>
          <p:cNvSpPr>
            <a:spLocks noGrp="1"/>
          </p:cNvSpPr>
          <p:nvPr>
            <p:ph idx="1"/>
          </p:nvPr>
        </p:nvSpPr>
        <p:spPr/>
        <p:txBody>
          <a:bodyPr wrap="square" anchor="t"/>
          <a:p>
            <a:pPr marL="514350" indent="-514350" eaLnBrk="1" hangingPunct="1">
              <a:lnSpc>
                <a:spcPct val="100000"/>
              </a:lnSpc>
              <a:spcBef>
                <a:spcPct val="0"/>
              </a:spcBef>
              <a:buFont typeface="+mj-lt"/>
              <a:buAutoNum type="arabicPeriod" startAt="4"/>
            </a:pPr>
            <a:r>
              <a:rPr lang="zh-CN" altLang="en-US" dirty="0">
                <a:solidFill>
                  <a:srgbClr val="1F2DA8"/>
                </a:solidFill>
                <a:latin typeface="楷体" panose="02010609060101010101" charset="-122"/>
                <a:ea typeface="楷体" panose="02010609060101010101" charset="-122"/>
                <a:cs typeface="楷体" panose="02010609060101010101" charset="-122"/>
              </a:rPr>
              <a:t>数据库系统</a:t>
            </a:r>
            <a:r>
              <a:rPr lang="en-US" altLang="zh-CN" dirty="0">
                <a:solidFill>
                  <a:srgbClr val="1F2DA8"/>
                </a:solidFill>
                <a:latin typeface="楷体" panose="02010609060101010101" charset="-122"/>
                <a:ea typeface="楷体" panose="02010609060101010101" charset="-122"/>
                <a:cs typeface="楷体" panose="02010609060101010101" charset="-122"/>
              </a:rPr>
              <a:t> </a:t>
            </a:r>
            <a:r>
              <a:rPr lang="zh-CN" altLang="en-US" dirty="0">
                <a:solidFill>
                  <a:srgbClr val="1F2DA8"/>
                </a:solidFill>
                <a:latin typeface="楷体" panose="02010609060101010101" charset="-122"/>
                <a:ea typeface="楷体" panose="02010609060101010101" charset="-122"/>
                <a:cs typeface="楷体" panose="02010609060101010101" charset="-122"/>
              </a:rPr>
              <a:t>与</a:t>
            </a:r>
            <a:r>
              <a:rPr lang="en-US" altLang="zh-CN" dirty="0">
                <a:solidFill>
                  <a:srgbClr val="1F2DA8"/>
                </a:solidFill>
                <a:latin typeface="楷体" panose="02010609060101010101" charset="-122"/>
                <a:ea typeface="楷体" panose="02010609060101010101" charset="-122"/>
                <a:cs typeface="楷体" panose="02010609060101010101" charset="-122"/>
              </a:rPr>
              <a:t> </a:t>
            </a:r>
            <a:r>
              <a:rPr lang="zh-CN" altLang="en-US" dirty="0">
                <a:solidFill>
                  <a:srgbClr val="1F2DA8"/>
                </a:solidFill>
                <a:latin typeface="楷体" panose="02010609060101010101" charset="-122"/>
                <a:ea typeface="楷体" panose="02010609060101010101" charset="-122"/>
                <a:cs typeface="楷体" panose="02010609060101010101" charset="-122"/>
              </a:rPr>
              <a:t>数据库应用系统</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lvl="1" eaLnBrk="1" hangingPunct="1">
              <a:lnSpc>
                <a:spcPct val="100000"/>
              </a:lnSpc>
              <a:spcBef>
                <a:spcPts val="100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数据库系统</a:t>
            </a:r>
            <a:r>
              <a:rPr lang="zh-CN" altLang="en-US" dirty="0">
                <a:cs typeface="楷体" panose="02010609060101010101" charset="-122"/>
                <a:sym typeface="+mn-ea"/>
              </a:rPr>
              <a:t>（</a:t>
            </a:r>
            <a:r>
              <a:rPr lang="en-US" altLang="zh-CN" dirty="0">
                <a:cs typeface="楷体" panose="02010609060101010101" charset="-122"/>
                <a:sym typeface="+mn-ea"/>
              </a:rPr>
              <a:t>Database System，</a:t>
            </a:r>
            <a:r>
              <a:rPr lang="zh-CN" altLang="en-US" dirty="0">
                <a:cs typeface="楷体" panose="02010609060101010101" charset="-122"/>
                <a:sym typeface="+mn-ea"/>
              </a:rPr>
              <a:t>简称</a:t>
            </a:r>
            <a:r>
              <a:rPr lang="en-US" altLang="zh-CN" dirty="0">
                <a:cs typeface="楷体" panose="02010609060101010101" charset="-122"/>
                <a:sym typeface="+mn-ea"/>
              </a:rPr>
              <a:t> </a:t>
            </a:r>
            <a:r>
              <a:rPr lang="en-US" altLang="zh-CN" dirty="0">
                <a:solidFill>
                  <a:srgbClr val="FF0000"/>
                </a:solidFill>
                <a:cs typeface="楷体" panose="02010609060101010101" charset="-122"/>
                <a:sym typeface="+mn-ea"/>
              </a:rPr>
              <a:t>DBS</a:t>
            </a:r>
            <a:r>
              <a:rPr lang="en-US" altLang="zh-CN" dirty="0">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rPr>
              <a:t>是由数据库、数据库管理系统、数据库管理员、</a:t>
            </a:r>
            <a:r>
              <a:rPr lang="zh-CN" altLang="en-US" dirty="0">
                <a:cs typeface="楷体" panose="02010609060101010101" charset="-122"/>
                <a:sym typeface="+mn-ea"/>
              </a:rPr>
              <a:t>支撑系统运行所必须的系统软件和硬件平台</a:t>
            </a:r>
            <a:r>
              <a:rPr lang="zh-CN" altLang="en-US" dirty="0">
                <a:latin typeface="楷体" panose="02010609060101010101" charset="-122"/>
                <a:ea typeface="楷体" panose="02010609060101010101" charset="-122"/>
                <a:cs typeface="楷体" panose="02010609060101010101" charset="-122"/>
              </a:rPr>
              <a:t>组成的存储、管理、处理和维护数据的</a:t>
            </a:r>
            <a:r>
              <a:rPr lang="zh-CN" altLang="en-US" dirty="0">
                <a:latin typeface="楷体" panose="02010609060101010101" charset="-122"/>
                <a:ea typeface="楷体" panose="02010609060101010101" charset="-122"/>
                <a:cs typeface="楷体" panose="02010609060101010101" charset="-122"/>
              </a:rPr>
              <a:t>系统。</a:t>
            </a:r>
            <a:endParaRPr lang="zh-CN" altLang="en-US" dirty="0">
              <a:latin typeface="楷体" panose="02010609060101010101" charset="-122"/>
              <a:ea typeface="楷体" panose="02010609060101010101" charset="-122"/>
              <a:cs typeface="楷体" panose="02010609060101010101" charset="-122"/>
            </a:endParaRPr>
          </a:p>
          <a:p>
            <a:pPr lvl="1" eaLnBrk="1" hangingPunct="1">
              <a:lnSpc>
                <a:spcPct val="100000"/>
              </a:lnSpc>
              <a:spcBef>
                <a:spcPts val="200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数据库应用系统</a:t>
            </a:r>
            <a:r>
              <a:rPr lang="zh-CN" altLang="en-US" dirty="0">
                <a:latin typeface="楷体" panose="02010609060101010101" charset="-122"/>
                <a:ea typeface="楷体" panose="02010609060101010101" charset="-122"/>
                <a:cs typeface="楷体" panose="02010609060101010101" charset="-122"/>
              </a:rPr>
              <a:t>（</a:t>
            </a:r>
            <a:r>
              <a:rPr lang="en-US" altLang="zh-CN" dirty="0">
                <a:cs typeface="楷体" panose="02010609060101010101" charset="-122"/>
                <a:sym typeface="+mn-ea"/>
              </a:rPr>
              <a:t>Database Application System</a:t>
            </a:r>
            <a:r>
              <a:rPr lang="zh-CN" altLang="en-US" dirty="0">
                <a:latin typeface="楷体" panose="02010609060101010101" charset="-122"/>
                <a:ea typeface="楷体" panose="02010609060101010101" charset="-122"/>
                <a:cs typeface="楷体" panose="02010609060101010101" charset="-122"/>
              </a:rPr>
              <a:t>）是由数据库系统、应用开发工具、应用系统、</a:t>
            </a:r>
            <a:r>
              <a:rPr lang="zh-CN" altLang="en-US" dirty="0">
                <a:latin typeface="楷体" panose="02010609060101010101" charset="-122"/>
                <a:ea typeface="楷体" panose="02010609060101010101" charset="-122"/>
                <a:cs typeface="楷体" panose="02010609060101010101" charset="-122"/>
              </a:rPr>
              <a:t>数据库用户</a:t>
            </a:r>
            <a:r>
              <a:rPr lang="zh-CN" altLang="en-US" dirty="0">
                <a:cs typeface="楷体" panose="02010609060101010101" charset="-122"/>
                <a:sym typeface="+mn-ea"/>
              </a:rPr>
              <a:t>组成的计算机系统。</a:t>
            </a:r>
            <a:endParaRPr lang="zh-CN" altLang="en-US" dirty="0">
              <a:cs typeface="楷体" panose="02010609060101010101" charset="-122"/>
              <a:sym typeface="+mn-ea"/>
            </a:endParaRPr>
          </a:p>
          <a:p>
            <a:pPr lvl="1" eaLnBrk="1" hangingPunct="1">
              <a:lnSpc>
                <a:spcPct val="100000"/>
              </a:lnSpc>
              <a:spcBef>
                <a:spcPts val="1000"/>
              </a:spcBef>
            </a:pPr>
            <a:r>
              <a:rPr lang="zh-CN" altLang="en-US" dirty="0">
                <a:cs typeface="楷体" panose="02010609060101010101" charset="-122"/>
                <a:sym typeface="+mn-ea"/>
              </a:rPr>
              <a:t>在不引起混淆的情况下，常常把两者都统称为</a:t>
            </a:r>
            <a:r>
              <a:rPr lang="en-US" altLang="zh-CN" dirty="0">
                <a:cs typeface="楷体" panose="02010609060101010101" charset="-122"/>
                <a:sym typeface="+mn-ea"/>
              </a:rPr>
              <a:t> </a:t>
            </a:r>
            <a:r>
              <a:rPr lang="en-US" altLang="zh-CN" dirty="0">
                <a:latin typeface="Times New Roman" panose="02020603050405020304" pitchFamily="2" charset="0"/>
                <a:cs typeface="Times New Roman" panose="02020603050405020304" pitchFamily="2" charset="0"/>
                <a:sym typeface="+mn-ea"/>
              </a:rPr>
              <a:t>‘</a:t>
            </a:r>
            <a:r>
              <a:rPr lang="zh-CN" altLang="en-US" dirty="0">
                <a:latin typeface="Times New Roman" panose="02020603050405020304" pitchFamily="2" charset="0"/>
                <a:cs typeface="Times New Roman" panose="02020603050405020304" pitchFamily="2" charset="0"/>
                <a:sym typeface="+mn-ea"/>
              </a:rPr>
              <a:t>数据库系统</a:t>
            </a:r>
            <a:r>
              <a:rPr lang="en-US" altLang="zh-CN" dirty="0">
                <a:latin typeface="Times New Roman" panose="02020603050405020304" pitchFamily="2" charset="0"/>
                <a:cs typeface="Times New Roman" panose="02020603050405020304" pitchFamily="2" charset="0"/>
                <a:sym typeface="+mn-ea"/>
              </a:rPr>
              <a:t>’</a:t>
            </a:r>
            <a:r>
              <a:rPr lang="zh-CN" altLang="en-US" dirty="0">
                <a:cs typeface="楷体" panose="02010609060101010101" charset="-122"/>
                <a:sym typeface="+mn-ea"/>
              </a:rPr>
              <a:t>。</a:t>
            </a:r>
            <a:endParaRPr lang="zh-CN" altLang="en-US" dirty="0">
              <a:latin typeface="楷体" panose="02010609060101010101" charset="-122"/>
              <a:ea typeface="楷体" panose="02010609060101010101" charset="-122"/>
              <a:cs typeface="楷体" panose="02010609060101010101" charset="-122"/>
            </a:endParaRPr>
          </a:p>
          <a:p>
            <a:pPr lvl="1" eaLnBrk="1" hangingPunct="1">
              <a:lnSpc>
                <a:spcPct val="100000"/>
              </a:lnSpc>
              <a:spcBef>
                <a:spcPts val="2000"/>
              </a:spcBef>
            </a:pPr>
            <a:r>
              <a:rPr lang="zh-CN" altLang="en-US" dirty="0">
                <a:latin typeface="楷体" panose="02010609060101010101" charset="-122"/>
                <a:ea typeface="楷体" panose="02010609060101010101" charset="-122"/>
                <a:cs typeface="楷体" panose="02010609060101010101" charset="-122"/>
              </a:rPr>
              <a:t>数据库</a:t>
            </a:r>
            <a:r>
              <a:rPr lang="zh-CN" altLang="en-US" dirty="0">
                <a:latin typeface="楷体" panose="02010609060101010101" charset="-122"/>
                <a:ea typeface="楷体" panose="02010609060101010101" charset="-122"/>
                <a:cs typeface="楷体" panose="02010609060101010101" charset="-122"/>
              </a:rPr>
              <a:t>系统的</a:t>
            </a:r>
            <a:r>
              <a:rPr lang="zh-CN" altLang="en-US" dirty="0">
                <a:latin typeface="楷体" panose="02010609060101010101" charset="-122"/>
                <a:ea typeface="楷体" panose="02010609060101010101" charset="-122"/>
                <a:cs typeface="楷体" panose="02010609060101010101" charset="-122"/>
              </a:rPr>
              <a:t>构成</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数据库管理系统</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solidFill>
                  <a:srgbClr val="FF0000"/>
                </a:solidFill>
                <a:latin typeface="楷体" panose="02010609060101010101" charset="-122"/>
                <a:ea typeface="楷体" panose="02010609060101010101" charset="-122"/>
                <a:cs typeface="楷体" panose="02010609060101010101" charset="-122"/>
              </a:rPr>
              <a:t>数据库管理员</a:t>
            </a:r>
            <a:r>
              <a:rPr lang="en-US" altLang="zh-CN" dirty="0">
                <a:solidFill>
                  <a:srgbClr val="FF0000"/>
                </a:solidFill>
                <a:latin typeface="楷体" panose="02010609060101010101" charset="-122"/>
                <a:ea typeface="楷体" panose="02010609060101010101" charset="-122"/>
                <a:cs typeface="楷体" panose="02010609060101010101" charset="-122"/>
              </a:rPr>
              <a:t> DBA</a:t>
            </a:r>
            <a:endParaRPr lang="zh-CN" altLang="en-US" dirty="0">
              <a:solidFill>
                <a:srgbClr val="FF0000"/>
              </a:solidFill>
              <a:latin typeface="楷体" panose="02010609060101010101" charset="-122"/>
              <a:ea typeface="楷体" panose="02010609060101010101" charset="-122"/>
              <a:cs typeface="楷体" panose="02010609060101010101" charset="-12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文本框 1"/>
          <p:cNvSpPr txBox="1"/>
          <p:nvPr/>
        </p:nvSpPr>
        <p:spPr>
          <a:xfrm>
            <a:off x="5903595" y="4777105"/>
            <a:ext cx="5715000" cy="1383665"/>
          </a:xfrm>
          <a:prstGeom prst="rect">
            <a:avLst/>
          </a:prstGeom>
          <a:noFill/>
        </p:spPr>
        <p:txBody>
          <a:bodyPr wrap="square" rtlCol="0">
            <a:spAutoFit/>
          </a:bodyPr>
          <a:p>
            <a:pPr marL="286385" indent="-286385">
              <a:buClr>
                <a:srgbClr val="C00000"/>
              </a:buClr>
              <a:buSzPct val="85000"/>
              <a:buFont typeface="Arial" panose="020B0604020202020204" pitchFamily="34" charset="0"/>
              <a:buChar char="●"/>
            </a:pPr>
            <a:r>
              <a:rPr lang="zh-CN" altLang="en-US" sz="2800" b="1">
                <a:solidFill>
                  <a:srgbClr val="FF0000"/>
                </a:solidFill>
                <a:latin typeface="楷体" panose="02010609060101010101" charset="-122"/>
                <a:ea typeface="楷体" panose="02010609060101010101" charset="-122"/>
                <a:cs typeface="楷体" panose="02010609060101010101" charset="-122"/>
              </a:rPr>
              <a:t>系统硬件平台</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与</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系统软件平台</a:t>
            </a:r>
            <a:endParaRPr lang="zh-CN" altLang="en-US" sz="2800" b="1">
              <a:solidFill>
                <a:srgbClr val="FF0000"/>
              </a:solidFill>
              <a:latin typeface="楷体" panose="02010609060101010101" charset="-122"/>
              <a:ea typeface="楷体" panose="02010609060101010101" charset="-122"/>
              <a:cs typeface="楷体" panose="02010609060101010101" charset="-122"/>
            </a:endParaRPr>
          </a:p>
          <a:p>
            <a:pPr marL="286385" indent="-286385">
              <a:buClr>
                <a:srgbClr val="C00000"/>
              </a:buClr>
              <a:buSzPct val="85000"/>
              <a:buFont typeface="Arial" panose="020B0604020202020204" pitchFamily="34" charset="0"/>
              <a:buChar char="●"/>
            </a:pPr>
            <a:r>
              <a:rPr lang="zh-CN" altLang="en-US" sz="2800" b="1">
                <a:solidFill>
                  <a:srgbClr val="FF0000"/>
                </a:solidFill>
                <a:latin typeface="楷体" panose="02010609060101010101" charset="-122"/>
                <a:ea typeface="楷体" panose="02010609060101010101" charset="-122"/>
                <a:cs typeface="楷体" panose="02010609060101010101" charset="-122"/>
              </a:rPr>
              <a:t>应用系统</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与</a:t>
            </a:r>
            <a:r>
              <a:rPr lang="en-US" altLang="zh-CN" sz="2800" b="1">
                <a:solidFill>
                  <a:srgbClr val="FF0000"/>
                </a:solidFill>
                <a:latin typeface="楷体" panose="02010609060101010101" charset="-122"/>
                <a:ea typeface="楷体" panose="02010609060101010101" charset="-122"/>
                <a:cs typeface="楷体" panose="02010609060101010101" charset="-122"/>
              </a:rPr>
              <a:t> </a:t>
            </a:r>
            <a:r>
              <a:rPr lang="zh-CN" altLang="en-US" sz="2800" b="1">
                <a:solidFill>
                  <a:srgbClr val="FF0000"/>
                </a:solidFill>
                <a:latin typeface="楷体" panose="02010609060101010101" charset="-122"/>
                <a:ea typeface="楷体" panose="02010609060101010101" charset="-122"/>
                <a:cs typeface="楷体" panose="02010609060101010101" charset="-122"/>
              </a:rPr>
              <a:t>应用开发工具</a:t>
            </a:r>
            <a:endParaRPr lang="zh-CN" altLang="en-US" sz="2800" b="1">
              <a:solidFill>
                <a:srgbClr val="FF0000"/>
              </a:solidFill>
              <a:latin typeface="楷体" panose="02010609060101010101" charset="-122"/>
              <a:ea typeface="楷体" panose="02010609060101010101" charset="-122"/>
              <a:cs typeface="楷体" panose="02010609060101010101" charset="-122"/>
            </a:endParaRPr>
          </a:p>
          <a:p>
            <a:pPr marL="286385" indent="-286385">
              <a:buClr>
                <a:srgbClr val="C00000"/>
              </a:buClr>
              <a:buSzPct val="85000"/>
              <a:buFont typeface="Arial" panose="020B0604020202020204" pitchFamily="34" charset="0"/>
              <a:buChar char="●"/>
            </a:pPr>
            <a:r>
              <a:rPr lang="zh-CN" altLang="en-US" sz="2800" b="1">
                <a:solidFill>
                  <a:srgbClr val="FF0000"/>
                </a:solidFill>
                <a:latin typeface="楷体" panose="02010609060101010101" charset="-122"/>
                <a:ea typeface="楷体" panose="02010609060101010101" charset="-122"/>
                <a:cs typeface="楷体" panose="02010609060101010101" charset="-122"/>
              </a:rPr>
              <a:t>数据库用户</a:t>
            </a:r>
            <a:endParaRPr lang="zh-CN" altLang="en-US" sz="2800" b="1">
              <a:solidFill>
                <a:srgbClr val="FF0000"/>
              </a:solidFill>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7">
                                            <p:txEl>
                                              <p:pRg st="2" end="2"/>
                                            </p:txEl>
                                          </p:spTgt>
                                        </p:tgtEl>
                                        <p:attrNameLst>
                                          <p:attrName>style.visibility</p:attrName>
                                        </p:attrNameLst>
                                      </p:cBhvr>
                                      <p:to>
                                        <p:strVal val="visible"/>
                                      </p:to>
                                    </p:set>
                                    <p:animEffect transition="in" filter="blinds(horizontal)">
                                      <p:cBhvr>
                                        <p:cTn id="7" dur="500"/>
                                        <p:tgtEl>
                                          <p:spTgt spid="1843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437">
                                            <p:txEl>
                                              <p:pRg st="3" end="3"/>
                                            </p:txEl>
                                          </p:spTgt>
                                        </p:tgtEl>
                                        <p:attrNameLst>
                                          <p:attrName>style.visibility</p:attrName>
                                        </p:attrNameLst>
                                      </p:cBhvr>
                                      <p:to>
                                        <p:strVal val="visible"/>
                                      </p:to>
                                    </p:set>
                                    <p:animEffect transition="in" filter="blinds(horizontal)">
                                      <p:cBhvr>
                                        <p:cTn id="12" dur="500"/>
                                        <p:tgtEl>
                                          <p:spTgt spid="1843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437">
                                            <p:txEl>
                                              <p:pRg st="4" end="4"/>
                                            </p:txEl>
                                          </p:spTgt>
                                        </p:tgtEl>
                                        <p:attrNameLst>
                                          <p:attrName>style.visibility</p:attrName>
                                        </p:attrNameLst>
                                      </p:cBhvr>
                                      <p:to>
                                        <p:strVal val="visible"/>
                                      </p:to>
                                    </p:set>
                                    <p:anim calcmode="lin" valueType="num">
                                      <p:cBhvr additive="base">
                                        <p:cTn id="17" dur="500" fill="hold"/>
                                        <p:tgtEl>
                                          <p:spTgt spid="18437">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437">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437">
                                            <p:txEl>
                                              <p:pRg st="5" end="5"/>
                                            </p:txEl>
                                          </p:spTgt>
                                        </p:tgtEl>
                                        <p:attrNameLst>
                                          <p:attrName>style.visibility</p:attrName>
                                        </p:attrNameLst>
                                      </p:cBhvr>
                                      <p:to>
                                        <p:strVal val="visible"/>
                                      </p:to>
                                    </p:set>
                                    <p:anim calcmode="lin" valueType="num">
                                      <p:cBhvr additive="base">
                                        <p:cTn id="21" dur="500" fill="hold"/>
                                        <p:tgtEl>
                                          <p:spTgt spid="18437">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437">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437">
                                            <p:txEl>
                                              <p:pRg st="6" end="6"/>
                                            </p:txEl>
                                          </p:spTgt>
                                        </p:tgtEl>
                                        <p:attrNameLst>
                                          <p:attrName>style.visibility</p:attrName>
                                        </p:attrNameLst>
                                      </p:cBhvr>
                                      <p:to>
                                        <p:strVal val="visible"/>
                                      </p:to>
                                    </p:set>
                                    <p:anim calcmode="lin" valueType="num">
                                      <p:cBhvr additive="base">
                                        <p:cTn id="25" dur="500" fill="hold"/>
                                        <p:tgtEl>
                                          <p:spTgt spid="1843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7">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437">
                                            <p:txEl>
                                              <p:pRg st="7" end="7"/>
                                            </p:txEl>
                                          </p:spTgt>
                                        </p:tgtEl>
                                        <p:attrNameLst>
                                          <p:attrName>style.visibility</p:attrName>
                                        </p:attrNameLst>
                                      </p:cBhvr>
                                      <p:to>
                                        <p:strVal val="visible"/>
                                      </p:to>
                                    </p:set>
                                    <p:anim calcmode="lin" valueType="num">
                                      <p:cBhvr additive="base">
                                        <p:cTn id="29" dur="500" fill="hold"/>
                                        <p:tgtEl>
                                          <p:spTgt spid="18437">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43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1+#ppt_w/2"/>
                                          </p:val>
                                        </p:tav>
                                        <p:tav tm="100000">
                                          <p:val>
                                            <p:strVal val="#ppt_x"/>
                                          </p:val>
                                        </p:tav>
                                      </p:tavLst>
                                    </p:anim>
                                    <p:anim calcmode="lin" valueType="num">
                                      <p:cBhvr additive="base">
                                        <p:cTn id="3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标题 9"/>
          <p:cNvSpPr>
            <a:spLocks noGrp="1"/>
          </p:cNvSpPr>
          <p:nvPr>
            <p:ph type="title"/>
          </p:nvPr>
        </p:nvSpPr>
        <p:spPr/>
        <p:txBody>
          <a:bodyPr/>
          <a:p>
            <a:r>
              <a:rPr lang="zh-CN" altLang="en-US"/>
              <a:t>图</a:t>
            </a:r>
            <a:r>
              <a:rPr lang="en-US" altLang="zh-CN"/>
              <a:t>1.1  </a:t>
            </a:r>
            <a:r>
              <a:rPr lang="zh-CN" altLang="en-US"/>
              <a:t>数据库系统的</a:t>
            </a:r>
            <a:r>
              <a:rPr lang="zh-CN" altLang="en-US"/>
              <a:t>构成</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grpSp>
        <p:nvGrpSpPr>
          <p:cNvPr id="18" name="组合 17"/>
          <p:cNvGrpSpPr/>
          <p:nvPr/>
        </p:nvGrpSpPr>
        <p:grpSpPr>
          <a:xfrm rot="0">
            <a:off x="3329940" y="3369945"/>
            <a:ext cx="7181215" cy="2733040"/>
            <a:chOff x="5244" y="5307"/>
            <a:chExt cx="11309" cy="4304"/>
          </a:xfrm>
        </p:grpSpPr>
        <p:sp>
          <p:nvSpPr>
            <p:cNvPr id="52" name="AutoShape 13"/>
            <p:cNvSpPr>
              <a:spLocks noChangeArrowheads="1"/>
            </p:cNvSpPr>
            <p:nvPr>
              <p:custDataLst>
                <p:tags r:id="rId1"/>
              </p:custDataLst>
            </p:nvPr>
          </p:nvSpPr>
          <p:spPr bwMode="auto">
            <a:xfrm>
              <a:off x="5244" y="5307"/>
              <a:ext cx="5892" cy="986"/>
            </a:xfrm>
            <a:prstGeom prst="hexagon">
              <a:avLst>
                <a:gd name="adj" fmla="val 141667"/>
                <a:gd name="vf" fmla="val 115470"/>
              </a:avLst>
            </a:prstGeom>
            <a:solidFill>
              <a:srgbClr val="BBE0E3"/>
            </a:solidFill>
            <a:ln w="9525">
              <a:solidFill>
                <a:srgbClr val="000000"/>
              </a:solidFill>
              <a:miter lim="800000"/>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rPr>
                <a:t>数据库管理系统</a:t>
              </a:r>
              <a:endPar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endParaRPr>
            </a:p>
          </p:txBody>
        </p:sp>
        <p:sp>
          <p:nvSpPr>
            <p:cNvPr id="54" name="AutoShape 15"/>
            <p:cNvSpPr>
              <a:spLocks noChangeArrowheads="1"/>
            </p:cNvSpPr>
            <p:nvPr>
              <p:custDataLst>
                <p:tags r:id="rId2"/>
              </p:custDataLst>
            </p:nvPr>
          </p:nvSpPr>
          <p:spPr bwMode="auto">
            <a:xfrm>
              <a:off x="7236" y="8053"/>
              <a:ext cx="2153" cy="1558"/>
            </a:xfrm>
            <a:prstGeom prst="flowChartMagneticDisk">
              <a:avLst/>
            </a:prstGeom>
            <a:solidFill>
              <a:srgbClr val="BBE0E3"/>
            </a:solidFill>
            <a:ln w="9525">
              <a:solidFill>
                <a:srgbClr val="000000"/>
              </a:solidFill>
              <a:round/>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rPr>
                <a:t>数据库</a:t>
              </a:r>
              <a:endPar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endParaRPr>
            </a:p>
          </p:txBody>
        </p:sp>
        <p:sp>
          <p:nvSpPr>
            <p:cNvPr id="55" name="Rectangle 16"/>
            <p:cNvSpPr>
              <a:spLocks noChangeArrowheads="1"/>
            </p:cNvSpPr>
            <p:nvPr>
              <p:custDataLst>
                <p:tags r:id="rId3"/>
              </p:custDataLst>
            </p:nvPr>
          </p:nvSpPr>
          <p:spPr bwMode="auto">
            <a:xfrm>
              <a:off x="12887" y="5307"/>
              <a:ext cx="3666" cy="969"/>
            </a:xfrm>
            <a:prstGeom prst="rect">
              <a:avLst/>
            </a:prstGeom>
            <a:solidFill>
              <a:srgbClr val="BBE0E3"/>
            </a:solidFill>
            <a:ln w="9525">
              <a:solidFill>
                <a:srgbClr val="000000"/>
              </a:solidFill>
              <a:miter lim="800000"/>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rPr>
                <a:t>数据库管理员</a:t>
              </a:r>
              <a:endParaRPr kumimoji="0" lang="zh-CN" altLang="en-US" sz="2800" b="1" i="0" u="none" strike="noStrike" kern="0" cap="none" spc="0" normalizeH="0" baseline="0" noProof="0">
                <a:ln>
                  <a:noFill/>
                </a:ln>
                <a:solidFill>
                  <a:srgbClr val="FF0000"/>
                </a:solidFill>
                <a:effectLst/>
                <a:uLnTx/>
                <a:uFillTx/>
                <a:latin typeface="楷体" panose="02010609060101010101" charset="-122"/>
                <a:ea typeface="楷体" panose="02010609060101010101" charset="-122"/>
              </a:endParaRPr>
            </a:p>
          </p:txBody>
        </p:sp>
        <p:cxnSp>
          <p:nvCxnSpPr>
            <p:cNvPr id="14" name="直接连接符 13"/>
            <p:cNvCxnSpPr>
              <a:endCxn id="54" idx="1"/>
            </p:cNvCxnSpPr>
            <p:nvPr/>
          </p:nvCxnSpPr>
          <p:spPr>
            <a:xfrm>
              <a:off x="8260" y="6277"/>
              <a:ext cx="53" cy="177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55" idx="1"/>
              <a:endCxn id="52" idx="0"/>
            </p:cNvCxnSpPr>
            <p:nvPr>
              <p:custDataLst>
                <p:tags r:id="rId4"/>
              </p:custDataLst>
            </p:nvPr>
          </p:nvCxnSpPr>
          <p:spPr>
            <a:xfrm flipH="1">
              <a:off x="11152" y="5792"/>
              <a:ext cx="1735" cy="8"/>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 name="直接连接符 15"/>
            <p:cNvCxnSpPr/>
            <p:nvPr>
              <p:custDataLst>
                <p:tags r:id="rId5"/>
              </p:custDataLst>
            </p:nvPr>
          </p:nvCxnSpPr>
          <p:spPr>
            <a:xfrm>
              <a:off x="14694" y="6293"/>
              <a:ext cx="71" cy="2527"/>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custDataLst>
                <p:tags r:id="rId6"/>
              </p:custDataLst>
            </p:nvPr>
          </p:nvCxnSpPr>
          <p:spPr>
            <a:xfrm flipH="1">
              <a:off x="9405" y="8820"/>
              <a:ext cx="5343" cy="16"/>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grpSp>
      <p:sp>
        <p:nvSpPr>
          <p:cNvPr id="53" name="AutoShape 14"/>
          <p:cNvSpPr>
            <a:spLocks noChangeArrowheads="1"/>
          </p:cNvSpPr>
          <p:nvPr/>
        </p:nvSpPr>
        <p:spPr bwMode="auto">
          <a:xfrm>
            <a:off x="3354070" y="4264025"/>
            <a:ext cx="3717290" cy="626110"/>
          </a:xfrm>
          <a:prstGeom prst="hexagon">
            <a:avLst>
              <a:gd name="adj" fmla="val 141667"/>
              <a:gd name="vf" fmla="val 115470"/>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操作系统</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endParaRPr>
          </a:p>
        </p:txBody>
      </p:sp>
      <p:grpSp>
        <p:nvGrpSpPr>
          <p:cNvPr id="21" name="组合 20"/>
          <p:cNvGrpSpPr/>
          <p:nvPr/>
        </p:nvGrpSpPr>
        <p:grpSpPr>
          <a:xfrm>
            <a:off x="2759710" y="704215"/>
            <a:ext cx="4832265" cy="2653665"/>
            <a:chOff x="4346" y="1109"/>
            <a:chExt cx="7610" cy="4179"/>
          </a:xfrm>
        </p:grpSpPr>
        <p:sp>
          <p:nvSpPr>
            <p:cNvPr id="47" name="Rectangle 7"/>
            <p:cNvSpPr>
              <a:spLocks noChangeArrowheads="1"/>
            </p:cNvSpPr>
            <p:nvPr>
              <p:custDataLst>
                <p:tags r:id="rId7"/>
              </p:custDataLst>
            </p:nvPr>
          </p:nvSpPr>
          <p:spPr bwMode="auto">
            <a:xfrm>
              <a:off x="4346" y="1109"/>
              <a:ext cx="1871" cy="822"/>
            </a:xfrm>
            <a:prstGeom prst="rect">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用户</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endParaRPr>
            </a:p>
          </p:txBody>
        </p:sp>
        <p:sp>
          <p:nvSpPr>
            <p:cNvPr id="48" name="Rectangle 8"/>
            <p:cNvSpPr>
              <a:spLocks noChangeArrowheads="1"/>
            </p:cNvSpPr>
            <p:nvPr>
              <p:custDataLst>
                <p:tags r:id="rId8"/>
              </p:custDataLst>
            </p:nvPr>
          </p:nvSpPr>
          <p:spPr bwMode="auto">
            <a:xfrm>
              <a:off x="7204" y="1109"/>
              <a:ext cx="1871" cy="822"/>
            </a:xfrm>
            <a:prstGeom prst="rect">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用户</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endParaRPr>
            </a:p>
          </p:txBody>
        </p:sp>
        <p:sp>
          <p:nvSpPr>
            <p:cNvPr id="49" name="Rectangle 9"/>
            <p:cNvSpPr>
              <a:spLocks noChangeArrowheads="1"/>
            </p:cNvSpPr>
            <p:nvPr>
              <p:custDataLst>
                <p:tags r:id="rId9"/>
              </p:custDataLst>
            </p:nvPr>
          </p:nvSpPr>
          <p:spPr bwMode="auto">
            <a:xfrm>
              <a:off x="10085" y="1109"/>
              <a:ext cx="1871" cy="822"/>
            </a:xfrm>
            <a:prstGeom prst="rect">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用户</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endParaRPr>
            </a:p>
          </p:txBody>
        </p:sp>
        <p:sp>
          <p:nvSpPr>
            <p:cNvPr id="50" name="AutoShape 10"/>
            <p:cNvSpPr>
              <a:spLocks noChangeArrowheads="1"/>
            </p:cNvSpPr>
            <p:nvPr>
              <p:custDataLst>
                <p:tags r:id="rId10"/>
              </p:custDataLst>
            </p:nvPr>
          </p:nvSpPr>
          <p:spPr bwMode="auto">
            <a:xfrm>
              <a:off x="5244" y="2507"/>
              <a:ext cx="5894" cy="986"/>
            </a:xfrm>
            <a:prstGeom prst="hexagon">
              <a:avLst>
                <a:gd name="adj" fmla="val 91667"/>
                <a:gd name="vf" fmla="val 115470"/>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应用系统</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endParaRPr>
            </a:p>
          </p:txBody>
        </p:sp>
        <p:cxnSp>
          <p:nvCxnSpPr>
            <p:cNvPr id="11" name="直接箭头连接符 10"/>
            <p:cNvCxnSpPr>
              <a:stCxn id="47" idx="2"/>
              <a:endCxn id="50" idx="4"/>
            </p:cNvCxnSpPr>
            <p:nvPr/>
          </p:nvCxnSpPr>
          <p:spPr>
            <a:xfrm>
              <a:off x="5282" y="1931"/>
              <a:ext cx="866" cy="576"/>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48" idx="2"/>
            </p:cNvCxnSpPr>
            <p:nvPr>
              <p:custDataLst>
                <p:tags r:id="rId11"/>
              </p:custDataLst>
            </p:nvPr>
          </p:nvCxnSpPr>
          <p:spPr>
            <a:xfrm>
              <a:off x="8140" y="1931"/>
              <a:ext cx="20" cy="567"/>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49" idx="2"/>
              <a:endCxn id="50" idx="5"/>
            </p:cNvCxnSpPr>
            <p:nvPr>
              <p:custDataLst>
                <p:tags r:id="rId12"/>
              </p:custDataLst>
            </p:nvPr>
          </p:nvCxnSpPr>
          <p:spPr>
            <a:xfrm flipH="1">
              <a:off x="10234" y="1931"/>
              <a:ext cx="787" cy="576"/>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9" name="直接连接符 18"/>
            <p:cNvCxnSpPr/>
            <p:nvPr>
              <p:custDataLst>
                <p:tags r:id="rId13"/>
              </p:custDataLst>
            </p:nvPr>
          </p:nvCxnSpPr>
          <p:spPr>
            <a:xfrm>
              <a:off x="8172" y="3512"/>
              <a:ext cx="53" cy="177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
          <p:nvSpPr>
            <p:cNvPr id="51" name="AutoShape 12"/>
            <p:cNvSpPr>
              <a:spLocks noChangeArrowheads="1"/>
            </p:cNvSpPr>
            <p:nvPr>
              <p:custDataLst>
                <p:tags r:id="rId14"/>
              </p:custDataLst>
            </p:nvPr>
          </p:nvSpPr>
          <p:spPr bwMode="auto">
            <a:xfrm>
              <a:off x="5243" y="3915"/>
              <a:ext cx="5894" cy="986"/>
            </a:xfrm>
            <a:prstGeom prst="hexagon">
              <a:avLst>
                <a:gd name="adj" fmla="val 120833"/>
                <a:gd name="vf" fmla="val 115470"/>
              </a:avLst>
            </a:prstGeom>
            <a:solidFill>
              <a:srgbClr val="BBE0E3"/>
            </a:solidFill>
            <a:ln w="9525">
              <a:solidFill>
                <a:srgbClr val="000000"/>
              </a:solid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rPr>
                <a:t>应用开发工具</a:t>
              </a:r>
              <a:endParaRPr kumimoji="0" lang="zh-CN" altLang="en-US" sz="2800" b="1" i="0" u="none" strike="noStrike" kern="0" cap="none" spc="0" normalizeH="0" baseline="0" noProof="0">
                <a:ln>
                  <a:noFill/>
                </a:ln>
                <a:solidFill>
                  <a:srgbClr val="1F2DA8"/>
                </a:solidFill>
                <a:effectLst/>
                <a:uLnTx/>
                <a:uFillTx/>
                <a:latin typeface="楷体" panose="02010609060101010101" charset="-122"/>
                <a:ea typeface="楷体" panose="02010609060101010101" charset="-122"/>
              </a:endParaRPr>
            </a:p>
          </p:txBody>
        </p:sp>
      </p:gr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linds(horizontal)">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数据库在计算机系统中的</a:t>
            </a:r>
            <a:r>
              <a:rPr lang="zh-CN" altLang="en-US"/>
              <a:t>位置</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pSp>
        <p:nvGrpSpPr>
          <p:cNvPr id="25" name="组合 24"/>
          <p:cNvGrpSpPr/>
          <p:nvPr/>
        </p:nvGrpSpPr>
        <p:grpSpPr>
          <a:xfrm>
            <a:off x="2088000" y="1647190"/>
            <a:ext cx="4788628" cy="3263900"/>
            <a:chOff x="3288" y="1890"/>
            <a:chExt cx="7541" cy="5140"/>
          </a:xfrm>
        </p:grpSpPr>
        <p:grpSp>
          <p:nvGrpSpPr>
            <p:cNvPr id="5" name="组合 4"/>
            <p:cNvGrpSpPr/>
            <p:nvPr/>
          </p:nvGrpSpPr>
          <p:grpSpPr>
            <a:xfrm>
              <a:off x="3288" y="6045"/>
              <a:ext cx="7541" cy="985"/>
              <a:chOff x="3215" y="5853"/>
              <a:chExt cx="7627" cy="985"/>
            </a:xfrm>
          </p:grpSpPr>
          <p:sp>
            <p:nvSpPr>
              <p:cNvPr id="9" name="Rectangle 2"/>
              <p:cNvSpPr>
                <a:spLocks noChangeArrowheads="1"/>
              </p:cNvSpPr>
              <p:nvPr>
                <p:custDataLst>
                  <p:tags r:id="rId1"/>
                </p:custDataLst>
              </p:nvPr>
            </p:nvSpPr>
            <p:spPr bwMode="auto">
              <a:xfrm>
                <a:off x="3215" y="5853"/>
                <a:ext cx="7627" cy="985"/>
              </a:xfrm>
              <a:prstGeom prst="rect">
                <a:avLst/>
              </a:prstGeom>
              <a:gradFill rotWithShape="0">
                <a:gsLst>
                  <a:gs pos="0">
                    <a:srgbClr val="CCFFCC">
                      <a:alpha val="100000"/>
                    </a:srgbClr>
                  </a:gs>
                  <a:gs pos="100000">
                    <a:srgbClr val="5E765E"/>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CCFFCC"/>
                </a:extrusionClr>
                <a:contourClr>
                  <a:srgbClr val="CCFFCC"/>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华文细黑" panose="02010600040101010101" pitchFamily="2" charset="-122"/>
                  <a:ea typeface="华文细黑" panose="02010600040101010101" pitchFamily="2" charset="-122"/>
                </a:endParaRPr>
              </a:p>
            </p:txBody>
          </p:sp>
          <p:sp>
            <p:nvSpPr>
              <p:cNvPr id="14" name="Text Box 7"/>
              <p:cNvSpPr txBox="1">
                <a:spLocks noChangeArrowheads="1"/>
              </p:cNvSpPr>
              <p:nvPr>
                <p:custDataLst>
                  <p:tags r:id="rId2"/>
                </p:custDataLst>
              </p:nvPr>
            </p:nvSpPr>
            <p:spPr bwMode="auto">
              <a:xfrm>
                <a:off x="4132" y="6026"/>
                <a:ext cx="5527" cy="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硬</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件</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平</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台</a:t>
                </a:r>
                <a:endParaRPr kumimoji="1" lang="zh-CN" altLang="en-US" sz="2800" b="1">
                  <a:solidFill>
                    <a:srgbClr val="FFFF00"/>
                  </a:solidFill>
                  <a:latin typeface="华文细黑" panose="02010600040101010101" pitchFamily="2" charset="-122"/>
                  <a:ea typeface="华文细黑" panose="02010600040101010101" pitchFamily="2" charset="-122"/>
                </a:endParaRPr>
              </a:p>
            </p:txBody>
          </p:sp>
        </p:grpSp>
        <p:grpSp>
          <p:nvGrpSpPr>
            <p:cNvPr id="6" name="组合 5"/>
            <p:cNvGrpSpPr/>
            <p:nvPr/>
          </p:nvGrpSpPr>
          <p:grpSpPr>
            <a:xfrm>
              <a:off x="3742" y="4991"/>
              <a:ext cx="6520" cy="964"/>
              <a:chOff x="3714" y="5087"/>
              <a:chExt cx="6490" cy="964"/>
            </a:xfrm>
          </p:grpSpPr>
          <p:sp>
            <p:nvSpPr>
              <p:cNvPr id="10" name="Rectangle 3"/>
              <p:cNvSpPr>
                <a:spLocks noChangeArrowheads="1"/>
              </p:cNvSpPr>
              <p:nvPr>
                <p:custDataLst>
                  <p:tags r:id="rId3"/>
                </p:custDataLst>
              </p:nvPr>
            </p:nvSpPr>
            <p:spPr bwMode="auto">
              <a:xfrm>
                <a:off x="3714" y="5087"/>
                <a:ext cx="6490" cy="964"/>
              </a:xfrm>
              <a:prstGeom prst="rect">
                <a:avLst/>
              </a:prstGeom>
              <a:gradFill rotWithShape="0">
                <a:gsLst>
                  <a:gs pos="0">
                    <a:srgbClr val="66FF99"/>
                  </a:gs>
                  <a:gs pos="100000">
                    <a:srgbClr val="2F7647"/>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66FF99"/>
                </a:extrusionClr>
                <a:contourClr>
                  <a:srgbClr val="66FF99"/>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Char char="•"/>
                </a:pPr>
                <a:endParaRPr kumimoji="1" lang="zh-CN" altLang="zh-CN" sz="2800" b="1">
                  <a:solidFill>
                    <a:srgbClr val="FFFFFF"/>
                  </a:solidFill>
                  <a:latin typeface="华文细黑" panose="02010600040101010101" pitchFamily="2" charset="-122"/>
                  <a:ea typeface="华文细黑" panose="02010600040101010101" pitchFamily="2" charset="-122"/>
                </a:endParaRPr>
              </a:p>
            </p:txBody>
          </p:sp>
          <p:sp>
            <p:nvSpPr>
              <p:cNvPr id="15" name="Text Box 8"/>
              <p:cNvSpPr txBox="1">
                <a:spLocks noChangeArrowheads="1"/>
              </p:cNvSpPr>
              <p:nvPr>
                <p:custDataLst>
                  <p:tags r:id="rId4"/>
                </p:custDataLst>
              </p:nvPr>
            </p:nvSpPr>
            <p:spPr bwMode="auto">
              <a:xfrm>
                <a:off x="4165" y="5183"/>
                <a:ext cx="5441" cy="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基础软件平台</a:t>
                </a:r>
                <a:endParaRPr kumimoji="1" lang="zh-CN" altLang="en-US" sz="2800" b="1">
                  <a:solidFill>
                    <a:srgbClr val="FFFF00"/>
                  </a:solidFill>
                  <a:latin typeface="华文细黑" panose="02010600040101010101" pitchFamily="2" charset="-122"/>
                  <a:ea typeface="华文细黑" panose="02010600040101010101" pitchFamily="2" charset="-122"/>
                </a:endParaRPr>
              </a:p>
            </p:txBody>
          </p:sp>
        </p:grpSp>
        <p:grpSp>
          <p:nvGrpSpPr>
            <p:cNvPr id="7" name="组合 6"/>
            <p:cNvGrpSpPr/>
            <p:nvPr/>
          </p:nvGrpSpPr>
          <p:grpSpPr>
            <a:xfrm>
              <a:off x="4194" y="3953"/>
              <a:ext cx="5467" cy="964"/>
              <a:chOff x="4194" y="4321"/>
              <a:chExt cx="5445" cy="964"/>
            </a:xfrm>
          </p:grpSpPr>
          <p:sp>
            <p:nvSpPr>
              <p:cNvPr id="11" name="Rectangle 4"/>
              <p:cNvSpPr>
                <a:spLocks noChangeArrowheads="1"/>
              </p:cNvSpPr>
              <p:nvPr>
                <p:custDataLst>
                  <p:tags r:id="rId5"/>
                </p:custDataLst>
              </p:nvPr>
            </p:nvSpPr>
            <p:spPr bwMode="auto">
              <a:xfrm>
                <a:off x="4195" y="4321"/>
                <a:ext cx="5443" cy="964"/>
              </a:xfrm>
              <a:prstGeom prst="rect">
                <a:avLst/>
              </a:prstGeom>
              <a:gradFill rotWithShape="0">
                <a:gsLst>
                  <a:gs pos="0">
                    <a:srgbClr val="33CC33"/>
                  </a:gs>
                  <a:gs pos="100000">
                    <a:srgbClr val="185E18"/>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33CC33"/>
                </a:extrusionClr>
                <a:contourClr>
                  <a:srgbClr val="33CC33"/>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华文细黑" panose="02010600040101010101" pitchFamily="2" charset="-122"/>
                  <a:ea typeface="华文细黑" panose="02010600040101010101" pitchFamily="2" charset="-122"/>
                </a:endParaRPr>
              </a:p>
            </p:txBody>
          </p:sp>
          <p:sp>
            <p:nvSpPr>
              <p:cNvPr id="16" name="Text Box 9"/>
              <p:cNvSpPr txBox="1">
                <a:spLocks noChangeArrowheads="1"/>
              </p:cNvSpPr>
              <p:nvPr>
                <p:custDataLst>
                  <p:tags r:id="rId6"/>
                </p:custDataLst>
              </p:nvPr>
            </p:nvSpPr>
            <p:spPr bwMode="auto">
              <a:xfrm>
                <a:off x="4194" y="4417"/>
                <a:ext cx="5445" cy="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软件基础构架平台</a:t>
                </a:r>
                <a:endParaRPr kumimoji="1" lang="zh-CN" altLang="en-US" sz="2800" b="1">
                  <a:solidFill>
                    <a:srgbClr val="FFFF00"/>
                  </a:solidFill>
                  <a:latin typeface="华文细黑" panose="02010600040101010101" pitchFamily="2" charset="-122"/>
                  <a:ea typeface="华文细黑" panose="02010600040101010101" pitchFamily="2" charset="-122"/>
                </a:endParaRPr>
              </a:p>
            </p:txBody>
          </p:sp>
        </p:grpSp>
        <p:grpSp>
          <p:nvGrpSpPr>
            <p:cNvPr id="24" name="组合 23"/>
            <p:cNvGrpSpPr/>
            <p:nvPr/>
          </p:nvGrpSpPr>
          <p:grpSpPr>
            <a:xfrm>
              <a:off x="4195" y="2912"/>
              <a:ext cx="5467" cy="964"/>
              <a:chOff x="4202" y="3376"/>
              <a:chExt cx="5656" cy="964"/>
            </a:xfrm>
          </p:grpSpPr>
          <p:sp>
            <p:nvSpPr>
              <p:cNvPr id="13" name="Rectangle 6"/>
              <p:cNvSpPr>
                <a:spLocks noChangeArrowheads="1"/>
              </p:cNvSpPr>
              <p:nvPr>
                <p:custDataLst>
                  <p:tags r:id="rId7"/>
                </p:custDataLst>
              </p:nvPr>
            </p:nvSpPr>
            <p:spPr bwMode="auto">
              <a:xfrm>
                <a:off x="4672" y="3376"/>
                <a:ext cx="4575" cy="964"/>
              </a:xfrm>
              <a:prstGeom prst="rect">
                <a:avLst/>
              </a:prstGeom>
              <a:gradFill rotWithShape="0">
                <a:gsLst>
                  <a:gs pos="0">
                    <a:srgbClr val="00CC99">
                      <a:alpha val="80000"/>
                    </a:srgbClr>
                  </a:gs>
                  <a:gs pos="100000">
                    <a:srgbClr val="005E47"/>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00CC99"/>
                </a:extrusionClr>
                <a:contourClr>
                  <a:srgbClr val="00CC99"/>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华文细黑" panose="02010600040101010101" pitchFamily="2" charset="-122"/>
                  <a:ea typeface="华文细黑" panose="02010600040101010101" pitchFamily="2" charset="-122"/>
                </a:endParaRPr>
              </a:p>
            </p:txBody>
          </p:sp>
          <p:sp>
            <p:nvSpPr>
              <p:cNvPr id="17" name="Text Box 10"/>
              <p:cNvSpPr txBox="1">
                <a:spLocks noChangeArrowheads="1"/>
              </p:cNvSpPr>
              <p:nvPr>
                <p:custDataLst>
                  <p:tags r:id="rId8"/>
                </p:custDataLst>
              </p:nvPr>
            </p:nvSpPr>
            <p:spPr bwMode="auto">
              <a:xfrm>
                <a:off x="4202" y="3424"/>
                <a:ext cx="5656"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应用软件平台</a:t>
                </a:r>
                <a:endParaRPr kumimoji="1" lang="zh-CN" altLang="en-US" sz="2800" b="1">
                  <a:solidFill>
                    <a:srgbClr val="FFFF00"/>
                  </a:solidFill>
                  <a:latin typeface="华文细黑" panose="02010600040101010101" pitchFamily="2" charset="-122"/>
                  <a:ea typeface="华文细黑" panose="02010600040101010101" pitchFamily="2" charset="-122"/>
                </a:endParaRPr>
              </a:p>
            </p:txBody>
          </p:sp>
        </p:grpSp>
        <p:grpSp>
          <p:nvGrpSpPr>
            <p:cNvPr id="23" name="组合 22"/>
            <p:cNvGrpSpPr/>
            <p:nvPr/>
          </p:nvGrpSpPr>
          <p:grpSpPr>
            <a:xfrm>
              <a:off x="4195" y="1890"/>
              <a:ext cx="5466" cy="964"/>
              <a:chOff x="4286" y="1842"/>
              <a:chExt cx="5466" cy="964"/>
            </a:xfrm>
          </p:grpSpPr>
          <p:sp>
            <p:nvSpPr>
              <p:cNvPr id="18" name="Rectangle 11"/>
              <p:cNvSpPr>
                <a:spLocks noChangeArrowheads="1"/>
              </p:cNvSpPr>
              <p:nvPr>
                <p:custDataLst>
                  <p:tags r:id="rId9"/>
                </p:custDataLst>
              </p:nvPr>
            </p:nvSpPr>
            <p:spPr bwMode="auto">
              <a:xfrm>
                <a:off x="5193" y="1842"/>
                <a:ext cx="3405" cy="964"/>
              </a:xfrm>
              <a:prstGeom prst="rect">
                <a:avLst/>
              </a:prstGeom>
              <a:gradFill rotWithShape="0">
                <a:gsLst>
                  <a:gs pos="0">
                    <a:srgbClr val="00CC99"/>
                  </a:gs>
                  <a:gs pos="100000">
                    <a:srgbClr val="005E47"/>
                  </a:gs>
                </a:gsLst>
                <a:path path="rect">
                  <a:fillToRect r="100000" b="100000"/>
                </a:path>
              </a:gradFill>
              <a:ln w="9525">
                <a:miter lim="800000"/>
              </a:ln>
              <a:scene3d>
                <a:camera prst="legacyObliqueTopLeft"/>
                <a:lightRig rig="legacyFlat3" dir="t"/>
              </a:scene3d>
              <a:sp3d extrusionH="430200" prstMaterial="legacyMatte">
                <a:bevelT w="13500" h="13500" prst="angle"/>
                <a:bevelB w="13500" h="13500" prst="angle"/>
                <a:extrusionClr>
                  <a:srgbClr val="00CC99"/>
                </a:extrusionClr>
                <a:contourClr>
                  <a:srgbClr val="00CC99"/>
                </a:contourClr>
              </a:sp3d>
            </p:spPr>
            <p:txBody>
              <a:bodyPr wrap="none"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kumimoji="1" lang="zh-CN" altLang="zh-CN" sz="2800" b="1">
                  <a:latin typeface="华文细黑" panose="02010600040101010101" pitchFamily="2" charset="-122"/>
                  <a:ea typeface="华文细黑" panose="02010600040101010101" pitchFamily="2" charset="-122"/>
                </a:endParaRPr>
              </a:p>
            </p:txBody>
          </p:sp>
          <p:sp>
            <p:nvSpPr>
              <p:cNvPr id="19" name="Text Box 12"/>
              <p:cNvSpPr txBox="1">
                <a:spLocks noChangeArrowheads="1"/>
              </p:cNvSpPr>
              <p:nvPr>
                <p:custDataLst>
                  <p:tags r:id="rId10"/>
                </p:custDataLst>
              </p:nvPr>
            </p:nvSpPr>
            <p:spPr bwMode="auto">
              <a:xfrm>
                <a:off x="4286" y="1865"/>
                <a:ext cx="5466"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a:solidFill>
                      <a:srgbClr val="FFFF00"/>
                    </a:solidFill>
                    <a:latin typeface="华文细黑" panose="02010600040101010101" pitchFamily="2" charset="-122"/>
                    <a:ea typeface="华文细黑" panose="02010600040101010101" pitchFamily="2" charset="-122"/>
                  </a:rPr>
                  <a:t>软</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件</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产</a:t>
                </a:r>
                <a:r>
                  <a:rPr kumimoji="1" lang="en-US" altLang="zh-CN" sz="2800" b="1">
                    <a:solidFill>
                      <a:srgbClr val="FFFF00"/>
                    </a:solidFill>
                    <a:latin typeface="华文细黑" panose="02010600040101010101" pitchFamily="2" charset="-122"/>
                    <a:ea typeface="华文细黑" panose="02010600040101010101" pitchFamily="2" charset="-122"/>
                  </a:rPr>
                  <a:t> </a:t>
                </a:r>
                <a:r>
                  <a:rPr kumimoji="1" lang="zh-CN" altLang="en-US" sz="2800" b="1">
                    <a:solidFill>
                      <a:srgbClr val="FFFF00"/>
                    </a:solidFill>
                    <a:latin typeface="华文细黑" panose="02010600040101010101" pitchFamily="2" charset="-122"/>
                    <a:ea typeface="华文细黑" panose="02010600040101010101" pitchFamily="2" charset="-122"/>
                  </a:rPr>
                  <a:t>品</a:t>
                </a:r>
                <a:endParaRPr kumimoji="1" lang="zh-CN" altLang="en-US" sz="2800" b="1">
                  <a:solidFill>
                    <a:srgbClr val="FFFF00"/>
                  </a:solidFill>
                  <a:latin typeface="华文细黑" panose="02010600040101010101" pitchFamily="2" charset="-122"/>
                  <a:ea typeface="华文细黑" panose="02010600040101010101" pitchFamily="2" charset="-122"/>
                </a:endParaRPr>
              </a:p>
            </p:txBody>
          </p:sp>
        </p:grpSp>
      </p:grpSp>
      <p:grpSp>
        <p:nvGrpSpPr>
          <p:cNvPr id="26" name="组合 25"/>
          <p:cNvGrpSpPr/>
          <p:nvPr/>
        </p:nvGrpSpPr>
        <p:grpSpPr>
          <a:xfrm>
            <a:off x="7339965" y="951230"/>
            <a:ext cx="3547745" cy="4687570"/>
            <a:chOff x="11559" y="1498"/>
            <a:chExt cx="5587" cy="7382"/>
          </a:xfrm>
        </p:grpSpPr>
        <p:sp>
          <p:nvSpPr>
            <p:cNvPr id="20" name="AutoShape 13"/>
            <p:cNvSpPr>
              <a:spLocks noChangeArrowheads="1"/>
            </p:cNvSpPr>
            <p:nvPr>
              <p:custDataLst>
                <p:tags r:id="rId11"/>
              </p:custDataLst>
            </p:nvPr>
          </p:nvSpPr>
          <p:spPr bwMode="auto">
            <a:xfrm>
              <a:off x="11559" y="1498"/>
              <a:ext cx="5587" cy="2303"/>
            </a:xfrm>
            <a:prstGeom prst="cloudCallout">
              <a:avLst>
                <a:gd name="adj1" fmla="val -104591"/>
                <a:gd name="adj2" fmla="val 63349"/>
              </a:avLst>
            </a:prstGeom>
            <a:solidFill>
              <a:srgbClr val="746AFC"/>
            </a:solidFill>
            <a:ln>
              <a:noFill/>
            </a:ln>
            <a:extLst>
              <a:ext uri="{91240B29-F687-4F45-9708-019B960494DF}">
                <a14:hiddenLine xmlns:a14="http://schemas.microsoft.com/office/drawing/2010/main" w="9525">
                  <a:solidFill>
                    <a:srgbClr val="000000"/>
                  </a:solidFill>
                  <a:rou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lgn="ctr" eaLnBrk="1" fontAlgn="t" hangingPunct="1">
                <a:lnSpc>
                  <a:spcPts val="3360"/>
                </a:lnSpc>
                <a:spcBef>
                  <a:spcPts val="0"/>
                </a:spcBef>
              </a:pPr>
              <a:r>
                <a:rPr kumimoji="1" lang="zh-CN" altLang="en-US" sz="2800" b="1" dirty="0">
                  <a:solidFill>
                    <a:srgbClr val="FFFFFF"/>
                  </a:solidFill>
                  <a:latin typeface="华文细黑" panose="02010600040101010101" pitchFamily="2" charset="-122"/>
                  <a:ea typeface="华文细黑" panose="02010600040101010101" pitchFamily="2" charset="-122"/>
                </a:rPr>
                <a:t>协同软件</a:t>
              </a:r>
              <a:endParaRPr kumimoji="1" lang="zh-CN" altLang="en-US" sz="2800" b="1" dirty="0">
                <a:solidFill>
                  <a:srgbClr val="FFFFFF"/>
                </a:solidFill>
                <a:latin typeface="华文细黑" panose="02010600040101010101" pitchFamily="2" charset="-122"/>
                <a:ea typeface="华文细黑" panose="02010600040101010101" pitchFamily="2" charset="-122"/>
              </a:endParaRPr>
            </a:p>
            <a:p>
              <a:pPr indent="0" algn="ctr" eaLnBrk="1" fontAlgn="t" hangingPunct="1">
                <a:lnSpc>
                  <a:spcPts val="3360"/>
                </a:lnSpc>
                <a:spcBef>
                  <a:spcPts val="0"/>
                </a:spcBef>
              </a:pPr>
              <a:r>
                <a:rPr kumimoji="1" lang="zh-CN" altLang="en-US" sz="2800" b="1" dirty="0">
                  <a:solidFill>
                    <a:srgbClr val="FFFFFF"/>
                  </a:solidFill>
                  <a:latin typeface="华文细黑" panose="02010600040101010101" pitchFamily="2" charset="-122"/>
                  <a:ea typeface="华文细黑" panose="02010600040101010101" pitchFamily="2" charset="-122"/>
                </a:rPr>
                <a:t>办公软件</a:t>
              </a:r>
              <a:endParaRPr kumimoji="1" lang="zh-CN" altLang="en-US" sz="2800" b="1" dirty="0">
                <a:solidFill>
                  <a:srgbClr val="FFFFFF"/>
                </a:solidFill>
                <a:latin typeface="华文细黑" panose="02010600040101010101" pitchFamily="2" charset="-122"/>
                <a:ea typeface="华文细黑" panose="02010600040101010101" pitchFamily="2" charset="-122"/>
              </a:endParaRPr>
            </a:p>
          </p:txBody>
        </p:sp>
        <p:sp>
          <p:nvSpPr>
            <p:cNvPr id="21" name="AutoShape 14"/>
            <p:cNvSpPr>
              <a:spLocks noChangeArrowheads="1"/>
            </p:cNvSpPr>
            <p:nvPr>
              <p:custDataLst>
                <p:tags r:id="rId12"/>
              </p:custDataLst>
            </p:nvPr>
          </p:nvSpPr>
          <p:spPr bwMode="auto">
            <a:xfrm>
              <a:off x="11561" y="6578"/>
              <a:ext cx="5583" cy="2303"/>
            </a:xfrm>
            <a:prstGeom prst="cloudCallout">
              <a:avLst>
                <a:gd name="adj1" fmla="val -104902"/>
                <a:gd name="adj2" fmla="val -59088"/>
              </a:avLst>
            </a:prstGeom>
            <a:solidFill>
              <a:schemeClr val="folHlink"/>
            </a:solidFill>
            <a:ln w="9525">
              <a:noFill/>
              <a:round/>
            </a:ln>
            <a:effectLst/>
          </p:spPr>
          <p:txBody>
            <a:bodyPr>
              <a:spAutoFit/>
            </a:bodyPr>
            <a:lstStyle/>
            <a:p>
              <a:pPr indent="0" algn="ctr" fontAlgn="t">
                <a:lnSpc>
                  <a:spcPts val="3360"/>
                </a:lnSpc>
                <a:spcBef>
                  <a:spcPts val="0"/>
                </a:spcBef>
                <a:defRPr/>
              </a:pPr>
              <a:r>
                <a:rPr kumimoji="1" lang="zh-CN" altLang="en-US" sz="2800" b="1">
                  <a:solidFill>
                    <a:schemeClr val="bg1"/>
                  </a:solidFill>
                  <a:effectLst>
                    <a:outerShdw blurRad="38100" dist="38100" dir="2700000" algn="tl">
                      <a:srgbClr val="000000"/>
                    </a:outerShdw>
                  </a:effectLst>
                  <a:latin typeface="华文细黑" panose="02010600040101010101" pitchFamily="2" charset="-122"/>
                  <a:ea typeface="华文细黑" panose="02010600040101010101" pitchFamily="2" charset="-122"/>
                </a:rPr>
                <a:t>数据库系统</a:t>
              </a:r>
              <a:endParaRPr kumimoji="1" lang="zh-CN" altLang="en-US" sz="2800" b="1">
                <a:solidFill>
                  <a:schemeClr val="bg1"/>
                </a:solidFill>
                <a:effectLst>
                  <a:outerShdw blurRad="38100" dist="38100" dir="2700000" algn="tl">
                    <a:srgbClr val="000000"/>
                  </a:outerShdw>
                </a:effectLst>
                <a:latin typeface="华文细黑" panose="02010600040101010101" pitchFamily="2" charset="-122"/>
                <a:ea typeface="华文细黑" panose="02010600040101010101" pitchFamily="2" charset="-122"/>
              </a:endParaRPr>
            </a:p>
            <a:p>
              <a:pPr indent="0" algn="ctr" fontAlgn="t">
                <a:lnSpc>
                  <a:spcPts val="3360"/>
                </a:lnSpc>
                <a:spcBef>
                  <a:spcPts val="0"/>
                </a:spcBef>
                <a:defRPr/>
              </a:pPr>
              <a:r>
                <a:rPr kumimoji="1" lang="zh-CN" altLang="en-US" sz="2800" b="1">
                  <a:solidFill>
                    <a:schemeClr val="bg1"/>
                  </a:solidFill>
                  <a:effectLst>
                    <a:outerShdw blurRad="38100" dist="38100" dir="2700000" algn="tl">
                      <a:srgbClr val="000000"/>
                    </a:outerShdw>
                  </a:effectLst>
                  <a:latin typeface="华文细黑" panose="02010600040101010101" pitchFamily="2" charset="-122"/>
                  <a:ea typeface="华文细黑" panose="02010600040101010101" pitchFamily="2" charset="-122"/>
                </a:rPr>
                <a:t>操作系统</a:t>
              </a:r>
              <a:endParaRPr kumimoji="1" lang="zh-CN" altLang="en-US" sz="2800" b="1">
                <a:solidFill>
                  <a:schemeClr val="bg1"/>
                </a:solidFill>
                <a:effectLst>
                  <a:outerShdw blurRad="38100" dist="38100" dir="2700000" algn="tl">
                    <a:srgbClr val="000000"/>
                  </a:outerShdw>
                </a:effectLst>
                <a:latin typeface="华文细黑" panose="02010600040101010101" pitchFamily="2" charset="-122"/>
                <a:ea typeface="华文细黑" panose="02010600040101010101" pitchFamily="2" charset="-122"/>
              </a:endParaRPr>
            </a:p>
          </p:txBody>
        </p:sp>
        <p:sp>
          <p:nvSpPr>
            <p:cNvPr id="22" name="AutoShape 15"/>
            <p:cNvSpPr>
              <a:spLocks noChangeArrowheads="1"/>
            </p:cNvSpPr>
            <p:nvPr>
              <p:custDataLst>
                <p:tags r:id="rId13"/>
              </p:custDataLst>
            </p:nvPr>
          </p:nvSpPr>
          <p:spPr bwMode="auto">
            <a:xfrm>
              <a:off x="11560" y="3992"/>
              <a:ext cx="5586" cy="2303"/>
            </a:xfrm>
            <a:prstGeom prst="cloudCallout">
              <a:avLst>
                <a:gd name="adj1" fmla="val -104996"/>
                <a:gd name="adj2" fmla="val -3214"/>
              </a:avLst>
            </a:pr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indent="0" algn="ctr" eaLnBrk="1" fontAlgn="t" hangingPunct="1">
                <a:lnSpc>
                  <a:spcPts val="3360"/>
                </a:lnSpc>
                <a:spcBef>
                  <a:spcPts val="0"/>
                </a:spcBef>
              </a:pPr>
              <a:r>
                <a:rPr kumimoji="1" lang="zh-CN" altLang="en-US" sz="2800" b="1">
                  <a:latin typeface="华文细黑" panose="02010600040101010101" pitchFamily="2" charset="-122"/>
                  <a:ea typeface="华文细黑" panose="02010600040101010101" pitchFamily="2" charset="-122"/>
                </a:rPr>
                <a:t>中间件</a:t>
              </a:r>
              <a:endParaRPr kumimoji="1" lang="zh-CN" altLang="en-US" sz="2800" b="1">
                <a:latin typeface="华文细黑" panose="02010600040101010101" pitchFamily="2" charset="-122"/>
                <a:ea typeface="华文细黑" panose="02010600040101010101" pitchFamily="2" charset="-122"/>
              </a:endParaRPr>
            </a:p>
            <a:p>
              <a:pPr indent="0" algn="ctr" eaLnBrk="1" fontAlgn="t" hangingPunct="1">
                <a:lnSpc>
                  <a:spcPts val="3360"/>
                </a:lnSpc>
                <a:spcBef>
                  <a:spcPts val="0"/>
                </a:spcBef>
              </a:pPr>
              <a:r>
                <a:rPr kumimoji="1" lang="zh-CN" altLang="en-US" sz="2800" b="1">
                  <a:latin typeface="华文细黑" panose="02010600040101010101" pitchFamily="2" charset="-122"/>
                  <a:ea typeface="华文细黑" panose="02010600040101010101" pitchFamily="2" charset="-122"/>
                </a:rPr>
                <a:t>应用服务器</a:t>
              </a:r>
              <a:endParaRPr kumimoji="1" lang="zh-CN" altLang="en-US" sz="2800" b="1">
                <a:latin typeface="华文细黑" panose="02010600040101010101" pitchFamily="2" charset="-122"/>
                <a:ea typeface="华文细黑" panose="02010600040101010101" pitchFamily="2" charset="-122"/>
              </a:endParaRPr>
            </a:p>
          </p:txBody>
        </p:sp>
      </p:gr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1" name="Rectangle 2"/>
          <p:cNvSpPr>
            <a:spLocks noGrp="1"/>
          </p:cNvSpPr>
          <p:nvPr>
            <p:ph type="title"/>
          </p:nvPr>
        </p:nvSpPr>
        <p:spPr/>
        <p:txBody>
          <a:bodyPr wrap="square" tIns="0" bIns="0" anchor="ctr"/>
          <a:p>
            <a:pPr eaLnBrk="1" hangingPunct="1"/>
            <a:r>
              <a:rPr lang="en-US" altLang="zh-CN"/>
              <a:t>1.1.1  数据库的四个基本概念</a:t>
            </a:r>
            <a:endParaRPr lang="zh-CN" altLang="en-US"/>
          </a:p>
        </p:txBody>
      </p:sp>
      <p:sp>
        <p:nvSpPr>
          <p:cNvPr id="21509" name="Rectangle 3"/>
          <p:cNvSpPr>
            <a:spLocks noGrp="1"/>
          </p:cNvSpPr>
          <p:nvPr>
            <p:ph idx="1"/>
          </p:nvPr>
        </p:nvSpPr>
        <p:spPr/>
        <p:txBody>
          <a:bodyPr wrap="square" anchor="t"/>
          <a:p>
            <a:pPr marL="514350" indent="-514350" eaLnBrk="1" hangingPunct="1">
              <a:buFont typeface="+mj-lt"/>
              <a:buAutoNum type="arabicPeriod" startAt="5"/>
            </a:pPr>
            <a:r>
              <a:rPr lang="zh-CN" altLang="en-US" sz="2800" dirty="0">
                <a:latin typeface="楷体" panose="02010609060101010101" charset="-122"/>
                <a:ea typeface="楷体" panose="02010609060101010101" charset="-122"/>
                <a:cs typeface="楷体" panose="02010609060101010101" charset="-122"/>
              </a:rPr>
              <a:t>数据库用户 (</a:t>
            </a:r>
            <a:r>
              <a:rPr lang="en-US" altLang="zh-CN" sz="2800" dirty="0">
                <a:latin typeface="楷体" panose="02010609060101010101" charset="-122"/>
                <a:ea typeface="楷体" panose="02010609060101010101" charset="-122"/>
                <a:cs typeface="楷体" panose="02010609060101010101" charset="-122"/>
              </a:rPr>
              <a:t>Database Users)</a:t>
            </a:r>
            <a:endParaRPr lang="en-US" altLang="zh-CN" sz="2800" dirty="0">
              <a:latin typeface="楷体" panose="02010609060101010101" charset="-122"/>
              <a:ea typeface="楷体" panose="02010609060101010101" charset="-122"/>
              <a:cs typeface="楷体" panose="02010609060101010101" charset="-122"/>
            </a:endParaRPr>
          </a:p>
          <a:p>
            <a:pPr lvl="1" eaLnBrk="1" hangingPunct="1">
              <a:lnSpc>
                <a:spcPct val="110000"/>
              </a:lnSpc>
              <a:spcBef>
                <a:spcPts val="2000"/>
              </a:spcBef>
            </a:pPr>
            <a:r>
              <a:rPr lang="zh-CN" altLang="en-US" dirty="0">
                <a:latin typeface="楷体" panose="02010609060101010101" charset="-122"/>
                <a:ea typeface="楷体" panose="02010609060101010101" charset="-122"/>
                <a:cs typeface="楷体" panose="02010609060101010101" charset="-122"/>
              </a:rPr>
              <a:t>是指规划、设计、建立、访问、管理、维护数据库的人员。</a:t>
            </a:r>
            <a:endParaRPr lang="zh-CN" altLang="en-US" dirty="0">
              <a:latin typeface="楷体" panose="02010609060101010101" charset="-122"/>
              <a:ea typeface="楷体" panose="02010609060101010101" charset="-122"/>
              <a:cs typeface="楷体" panose="02010609060101010101" charset="-122"/>
            </a:endParaRPr>
          </a:p>
          <a:p>
            <a:pPr lvl="1" eaLnBrk="1" hangingPunct="1"/>
            <a:endParaRPr lang="zh-CN" altLang="en-US" dirty="0">
              <a:latin typeface="楷体" panose="02010609060101010101" charset="-122"/>
              <a:ea typeface="楷体" panose="02010609060101010101" charset="-122"/>
              <a:cs typeface="楷体" panose="02010609060101010101" charset="-122"/>
            </a:endParaRPr>
          </a:p>
          <a:p>
            <a:pPr lvl="1" eaLnBrk="1" hangingPunct="1"/>
            <a:r>
              <a:rPr lang="zh-CN" altLang="en-US" dirty="0">
                <a:latin typeface="楷体" panose="02010609060101010101" charset="-122"/>
                <a:ea typeface="楷体" panose="02010609060101010101" charset="-122"/>
                <a:cs typeface="楷体" panose="02010609060101010101" charset="-122"/>
              </a:rPr>
              <a:t>通常存在以下三类数据库用户</a:t>
            </a:r>
            <a:endParaRPr lang="en-US" altLang="zh-CN" dirty="0">
              <a:latin typeface="楷体" panose="02010609060101010101" charset="-122"/>
              <a:ea typeface="楷体" panose="02010609060101010101" charset="-122"/>
              <a:cs typeface="楷体" panose="02010609060101010101" charset="-122"/>
            </a:endParaRPr>
          </a:p>
          <a:p>
            <a:pPr marL="914400" lvl="1" indent="-457200" eaLnBrk="1" hangingPunct="1">
              <a:lnSpc>
                <a:spcPct val="110000"/>
              </a:lnSpc>
              <a:spcBef>
                <a:spcPts val="1000"/>
              </a:spcBef>
              <a:buAutoNum type="circleNumDbPlain"/>
            </a:pPr>
            <a:r>
              <a:rPr lang="zh-CN" altLang="en-US" sz="2800" dirty="0">
                <a:solidFill>
                  <a:srgbClr val="FF0000"/>
                </a:solidFill>
                <a:latin typeface="楷体" panose="02010609060101010101" charset="-122"/>
                <a:ea typeface="楷体" panose="02010609060101010101" charset="-122"/>
                <a:cs typeface="楷体" panose="02010609060101010101" charset="-122"/>
              </a:rPr>
              <a:t>数据库管理员</a:t>
            </a:r>
            <a:r>
              <a:rPr lang="zh-CN" altLang="en-US" dirty="0">
                <a:cs typeface="楷体" panose="02010609060101010101" charset="-122"/>
                <a:sym typeface="+mn-ea"/>
              </a:rPr>
              <a:t> (</a:t>
            </a:r>
            <a:r>
              <a:rPr lang="en-US" altLang="zh-CN" dirty="0">
                <a:cs typeface="楷体" panose="02010609060101010101" charset="-122"/>
                <a:sym typeface="+mn-ea"/>
              </a:rPr>
              <a:t>DataBase Administrator, </a:t>
            </a:r>
            <a:r>
              <a:rPr lang="zh-CN" altLang="en-US" dirty="0">
                <a:solidFill>
                  <a:srgbClr val="FF0000"/>
                </a:solidFill>
                <a:cs typeface="楷体" panose="02010609060101010101" charset="-122"/>
                <a:sym typeface="+mn-ea"/>
              </a:rPr>
              <a:t>DBA</a:t>
            </a:r>
            <a:r>
              <a:rPr lang="zh-CN" altLang="en-US" dirty="0">
                <a:cs typeface="楷体" panose="02010609060101010101" charset="-122"/>
                <a:sym typeface="+mn-ea"/>
              </a:rPr>
              <a:t>)</a:t>
            </a:r>
            <a:endParaRPr lang="zh-CN" altLang="en-US" dirty="0">
              <a:cs typeface="楷体" panose="02010609060101010101" charset="-122"/>
              <a:sym typeface="+mn-ea"/>
            </a:endParaRPr>
          </a:p>
          <a:p>
            <a:pPr lvl="2" eaLnBrk="1" hangingPunct="1">
              <a:lnSpc>
                <a:spcPct val="110000"/>
              </a:lnSpc>
              <a:spcBef>
                <a:spcPts val="1000"/>
              </a:spcBef>
            </a:pPr>
            <a:r>
              <a:rPr lang="zh-CN" altLang="en-US" dirty="0">
                <a:cs typeface="楷体" panose="02010609060101010101" charset="-122"/>
                <a:sym typeface="+mn-ea"/>
              </a:rPr>
              <a:t>负责数据库</a:t>
            </a:r>
            <a:r>
              <a:rPr lang="zh-CN" altLang="en-US" dirty="0">
                <a:cs typeface="楷体" panose="02010609060101010101" charset="-122"/>
                <a:sym typeface="+mn-ea"/>
              </a:rPr>
              <a:t>的规划、设计、建立、</a:t>
            </a:r>
            <a:r>
              <a:rPr lang="zh-CN" altLang="en-US" dirty="0">
                <a:cs typeface="楷体" panose="02010609060101010101" charset="-122"/>
                <a:sym typeface="+mn-ea"/>
              </a:rPr>
              <a:t>管理、维护、监视的专职人员。</a:t>
            </a:r>
            <a:endParaRPr lang="zh-CN" altLang="en-US" sz="2800" dirty="0">
              <a:latin typeface="楷体" panose="02010609060101010101" charset="-122"/>
              <a:ea typeface="楷体" panose="02010609060101010101" charset="-122"/>
              <a:cs typeface="楷体" panose="02010609060101010101" charset="-122"/>
            </a:endParaRPr>
          </a:p>
          <a:p>
            <a:pPr marL="914400" lvl="1" indent="-457200" eaLnBrk="1" hangingPunct="1">
              <a:lnSpc>
                <a:spcPct val="110000"/>
              </a:lnSpc>
              <a:spcBef>
                <a:spcPts val="2000"/>
              </a:spcBef>
              <a:buAutoNum type="circleNumDbPlain"/>
            </a:pPr>
            <a:r>
              <a:rPr lang="zh-CN" altLang="en-US" sz="2800" dirty="0">
                <a:solidFill>
                  <a:srgbClr val="FF0000"/>
                </a:solidFill>
                <a:latin typeface="楷体" panose="02010609060101010101" charset="-122"/>
                <a:ea typeface="楷体" panose="02010609060101010101" charset="-122"/>
                <a:cs typeface="楷体" panose="02010609060101010101" charset="-122"/>
              </a:rPr>
              <a:t>应用开发人员</a:t>
            </a:r>
            <a:r>
              <a:rPr lang="zh-CN" altLang="en-US" sz="2800" dirty="0">
                <a:latin typeface="楷体" panose="02010609060101010101" charset="-122"/>
                <a:ea typeface="楷体" panose="02010609060101010101" charset="-122"/>
                <a:cs typeface="楷体" panose="02010609060101010101" charset="-122"/>
              </a:rPr>
              <a:t> (包括系统分析员、数据库设计人员、应用程序员</a:t>
            </a:r>
            <a:r>
              <a:rPr lang="en-US" altLang="zh-CN" sz="2800" dirty="0">
                <a:latin typeface="楷体" panose="02010609060101010101" charset="-122"/>
                <a:ea typeface="楷体" panose="02010609060101010101" charset="-122"/>
                <a:cs typeface="楷体" panose="02010609060101010101" charset="-122"/>
              </a:rPr>
              <a:t>)</a:t>
            </a:r>
            <a:endParaRPr lang="en-US" altLang="zh-CN" sz="2800" dirty="0">
              <a:latin typeface="楷体" panose="02010609060101010101" charset="-122"/>
              <a:ea typeface="楷体" panose="02010609060101010101" charset="-122"/>
              <a:cs typeface="楷体" panose="02010609060101010101" charset="-122"/>
            </a:endParaRPr>
          </a:p>
          <a:p>
            <a:pPr marL="914400" lvl="1" indent="-457200" eaLnBrk="1" hangingPunct="1">
              <a:lnSpc>
                <a:spcPct val="110000"/>
              </a:lnSpc>
              <a:spcBef>
                <a:spcPts val="2000"/>
              </a:spcBef>
              <a:buAutoNum type="circleNumDbPlain"/>
            </a:pPr>
            <a:r>
              <a:rPr lang="zh-CN" altLang="en-US" dirty="0">
                <a:solidFill>
                  <a:srgbClr val="FF0000"/>
                </a:solidFill>
                <a:cs typeface="楷体" panose="02010609060101010101" charset="-122"/>
                <a:sym typeface="+mn-ea"/>
              </a:rPr>
              <a:t>最终用户</a:t>
            </a:r>
            <a:r>
              <a:rPr lang="zh-CN" altLang="en-US" dirty="0">
                <a:cs typeface="楷体" panose="02010609060101010101" charset="-122"/>
                <a:sym typeface="+mn-ea"/>
              </a:rPr>
              <a:t> (</a:t>
            </a:r>
            <a:r>
              <a:rPr lang="en-US" altLang="zh-CN" dirty="0">
                <a:cs typeface="楷体" panose="02010609060101010101" charset="-122"/>
                <a:sym typeface="+mn-ea"/>
              </a:rPr>
              <a:t>End users)</a:t>
            </a:r>
            <a:r>
              <a:rPr lang="zh-CN" altLang="en-US" dirty="0">
                <a:cs typeface="楷体" panose="02010609060101010101" charset="-122"/>
                <a:sym typeface="+mn-ea"/>
              </a:rPr>
              <a:t>：通过应用系统访问使用数据库的</a:t>
            </a:r>
            <a:r>
              <a:rPr lang="zh-CN" altLang="en-US" dirty="0">
                <a:cs typeface="楷体" panose="02010609060101010101" charset="-122"/>
                <a:sym typeface="+mn-ea"/>
              </a:rPr>
              <a:t>人员。</a:t>
            </a:r>
            <a:endParaRPr lang="zh-CN" altLang="en-US" dirty="0">
              <a:cs typeface="楷体" panose="02010609060101010101" charset="-122"/>
              <a:sym typeface="+mn-ea"/>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9">
                                            <p:txEl>
                                              <p:pRg st="3" end="3"/>
                                            </p:txEl>
                                          </p:spTgt>
                                        </p:tgtEl>
                                        <p:attrNameLst>
                                          <p:attrName>style.visibility</p:attrName>
                                        </p:attrNameLst>
                                      </p:cBhvr>
                                      <p:to>
                                        <p:strVal val="visible"/>
                                      </p:to>
                                    </p:set>
                                    <p:animEffect transition="in" filter="blinds(horizontal)">
                                      <p:cBhvr>
                                        <p:cTn id="7" dur="500"/>
                                        <p:tgtEl>
                                          <p:spTgt spid="2150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9">
                                            <p:txEl>
                                              <p:pRg st="4" end="4"/>
                                            </p:txEl>
                                          </p:spTgt>
                                        </p:tgtEl>
                                        <p:attrNameLst>
                                          <p:attrName>style.visibility</p:attrName>
                                        </p:attrNameLst>
                                      </p:cBhvr>
                                      <p:to>
                                        <p:strVal val="visible"/>
                                      </p:to>
                                    </p:set>
                                    <p:animEffect transition="in" filter="blinds(horizontal)">
                                      <p:cBhvr>
                                        <p:cTn id="12" dur="500"/>
                                        <p:tgtEl>
                                          <p:spTgt spid="21509">
                                            <p:txEl>
                                              <p:pRg st="4" end="4"/>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1509">
                                            <p:txEl>
                                              <p:pRg st="5" end="5"/>
                                            </p:txEl>
                                          </p:spTgt>
                                        </p:tgtEl>
                                        <p:attrNameLst>
                                          <p:attrName>style.visibility</p:attrName>
                                        </p:attrNameLst>
                                      </p:cBhvr>
                                      <p:to>
                                        <p:strVal val="visible"/>
                                      </p:to>
                                    </p:set>
                                    <p:animEffect transition="in" filter="blinds(horizontal)">
                                      <p:cBhvr>
                                        <p:cTn id="16" dur="500"/>
                                        <p:tgtEl>
                                          <p:spTgt spid="21509">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1509">
                                            <p:txEl>
                                              <p:pRg st="6" end="6"/>
                                            </p:txEl>
                                          </p:spTgt>
                                        </p:tgtEl>
                                        <p:attrNameLst>
                                          <p:attrName>style.visibility</p:attrName>
                                        </p:attrNameLst>
                                      </p:cBhvr>
                                      <p:to>
                                        <p:strVal val="visible"/>
                                      </p:to>
                                    </p:set>
                                    <p:animEffect transition="in" filter="blinds(horizontal)">
                                      <p:cBhvr>
                                        <p:cTn id="21" dur="500"/>
                                        <p:tgtEl>
                                          <p:spTgt spid="21509">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1509">
                                            <p:txEl>
                                              <p:pRg st="7" end="7"/>
                                            </p:txEl>
                                          </p:spTgt>
                                        </p:tgtEl>
                                        <p:attrNameLst>
                                          <p:attrName>style.visibility</p:attrName>
                                        </p:attrNameLst>
                                      </p:cBhvr>
                                      <p:to>
                                        <p:strVal val="visible"/>
                                      </p:to>
                                    </p:set>
                                    <p:animEffect transition="in" filter="blinds(horizontal)">
                                      <p:cBhvr>
                                        <p:cTn id="26" dur="500"/>
                                        <p:tgtEl>
                                          <p:spTgt spid="2150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  数据库系统概述</a:t>
            </a:r>
            <a:endParaRPr lang="zh-CN" altLang="en-US"/>
          </a:p>
        </p:txBody>
      </p:sp>
      <p:sp>
        <p:nvSpPr>
          <p:cNvPr id="3" name="内容占位符 2"/>
          <p:cNvSpPr>
            <a:spLocks noGrp="1"/>
          </p:cNvSpPr>
          <p:nvPr>
            <p:ph idx="1"/>
          </p:nvPr>
        </p:nvSpPr>
        <p:spPr/>
        <p:txBody>
          <a:bodyPr/>
          <a:p>
            <a:pPr marL="0" indent="0">
              <a:lnSpc>
                <a:spcPct val="150000"/>
              </a:lnSpc>
              <a:buNone/>
            </a:pPr>
            <a:r>
              <a:rPr lang="en-US" altLang="zh-CN"/>
              <a:t>1.1.1 </a:t>
            </a:r>
            <a:r>
              <a:rPr lang="zh-CN" altLang="en-US"/>
              <a:t>数据库的四个基本</a:t>
            </a:r>
            <a:r>
              <a:rPr lang="zh-CN" altLang="en-US"/>
              <a:t>概念</a:t>
            </a:r>
            <a:endParaRPr lang="zh-CN" altLang="en-US"/>
          </a:p>
          <a:p>
            <a:pPr marL="0" indent="0">
              <a:lnSpc>
                <a:spcPct val="150000"/>
              </a:lnSpc>
              <a:buNone/>
            </a:pPr>
            <a:r>
              <a:rPr lang="en-US" altLang="zh-CN">
                <a:solidFill>
                  <a:srgbClr val="FF0000"/>
                </a:solidFill>
              </a:rPr>
              <a:t>1.1.2 </a:t>
            </a:r>
            <a:r>
              <a:rPr lang="zh-CN" altLang="en-US">
                <a:solidFill>
                  <a:srgbClr val="FF0000"/>
                </a:solidFill>
              </a:rPr>
              <a:t>数据管理技术的产生和发展</a:t>
            </a:r>
            <a:endParaRPr lang="zh-CN" altLang="en-US"/>
          </a:p>
          <a:p>
            <a:pPr marL="0" indent="0">
              <a:lnSpc>
                <a:spcPct val="150000"/>
              </a:lnSpc>
              <a:buNone/>
            </a:pPr>
            <a:r>
              <a:rPr lang="en-US" altLang="zh-CN"/>
              <a:t>1.1.3 </a:t>
            </a:r>
            <a:r>
              <a:rPr lang="zh-CN" altLang="en-US"/>
              <a:t>数据库系统的</a:t>
            </a:r>
            <a:r>
              <a:rPr lang="zh-CN" altLang="en-US"/>
              <a:t>特点</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chemeClr val="tx1"/>
                </a:solidFill>
                <a:sym typeface="+mn-ea"/>
              </a:rPr>
              <a:t>1.1.2 </a:t>
            </a:r>
            <a:r>
              <a:rPr lang="zh-CN" altLang="en-US">
                <a:solidFill>
                  <a:schemeClr val="tx1"/>
                </a:solidFill>
                <a:sym typeface="+mn-ea"/>
              </a:rPr>
              <a:t>数据管理技术的产生和发展</a:t>
            </a:r>
            <a:endParaRPr lang="zh-CN" altLang="en-US">
              <a:solidFill>
                <a:schemeClr val="tx1"/>
              </a:solidFill>
              <a:sym typeface="+mn-ea"/>
            </a:endParaRPr>
          </a:p>
        </p:txBody>
      </p:sp>
      <p:sp>
        <p:nvSpPr>
          <p:cNvPr id="3" name="内容占位符 2"/>
          <p:cNvSpPr>
            <a:spLocks noGrp="1"/>
          </p:cNvSpPr>
          <p:nvPr>
            <p:ph idx="1"/>
          </p:nvPr>
        </p:nvSpPr>
        <p:spPr/>
        <p:txBody>
          <a:bodyPr/>
          <a:p>
            <a:r>
              <a:rPr lang="zh-CN" altLang="en-US" sz="3000">
                <a:solidFill>
                  <a:srgbClr val="FF0000"/>
                </a:solidFill>
              </a:rPr>
              <a:t>数据库技术</a:t>
            </a:r>
            <a:r>
              <a:rPr lang="zh-CN" altLang="en-US" sz="3000"/>
              <a:t>是应数据管理任务的需要而产生。</a:t>
            </a:r>
            <a:endParaRPr lang="zh-CN" altLang="en-US" sz="3000"/>
          </a:p>
          <a:p>
            <a:pPr lvl="1"/>
            <a:endParaRPr lang="zh-CN" altLang="en-US" sz="3000">
              <a:solidFill>
                <a:srgbClr val="FF0000"/>
              </a:solidFill>
            </a:endParaRPr>
          </a:p>
          <a:p>
            <a:r>
              <a:rPr lang="zh-CN" altLang="en-US" sz="3000"/>
              <a:t>什么是数据管理？</a:t>
            </a:r>
            <a:endParaRPr lang="zh-CN" altLang="en-US" sz="3000"/>
          </a:p>
          <a:p>
            <a:pPr lvl="1"/>
            <a:r>
              <a:rPr lang="zh-CN" altLang="en-US" sz="3000">
                <a:solidFill>
                  <a:srgbClr val="FF0000"/>
                </a:solidFill>
              </a:rPr>
              <a:t>数据管理</a:t>
            </a:r>
            <a:r>
              <a:rPr lang="zh-CN" altLang="en-US" sz="3000"/>
              <a:t>是指对数据进行分类、组织、编码、存储、检索和维护，是数据处理的中心问题。</a:t>
            </a:r>
            <a:endParaRPr lang="zh-CN" altLang="en-US" sz="3000"/>
          </a:p>
          <a:p>
            <a:pPr lvl="1"/>
            <a:endParaRPr lang="zh-CN" altLang="en-US" sz="3000"/>
          </a:p>
          <a:p>
            <a:r>
              <a:rPr lang="zh-CN" altLang="en-US" sz="3000"/>
              <a:t>什么是数据处理？</a:t>
            </a:r>
            <a:endParaRPr lang="zh-CN" altLang="en-US" sz="3000"/>
          </a:p>
          <a:p>
            <a:pPr lvl="1"/>
            <a:r>
              <a:rPr lang="zh-CN" altLang="en-US" sz="3000">
                <a:solidFill>
                  <a:srgbClr val="FF0000"/>
                </a:solidFill>
              </a:rPr>
              <a:t>数据处理</a:t>
            </a:r>
            <a:r>
              <a:rPr lang="zh-CN" altLang="en-US" sz="3000"/>
              <a:t>则是指对各种数据进行收集、存储、加工和传播的一些列活动的总和。</a:t>
            </a:r>
            <a:endParaRPr lang="zh-CN" altLang="en-US" sz="3000"/>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chemeClr val="tx1"/>
                </a:solidFill>
                <a:sym typeface="+mn-ea"/>
              </a:rPr>
              <a:t>1.1.2 </a:t>
            </a:r>
            <a:r>
              <a:rPr lang="zh-CN" altLang="en-US">
                <a:solidFill>
                  <a:schemeClr val="tx1"/>
                </a:solidFill>
                <a:sym typeface="+mn-ea"/>
              </a:rPr>
              <a:t>数据管理技术的产生和发展</a:t>
            </a:r>
            <a:endParaRPr lang="zh-CN" altLang="en-US">
              <a:solidFill>
                <a:schemeClr val="tx1"/>
              </a:solidFill>
              <a:sym typeface="+mn-ea"/>
            </a:endParaRPr>
          </a:p>
        </p:txBody>
      </p:sp>
      <p:sp>
        <p:nvSpPr>
          <p:cNvPr id="3" name="内容占位符 2"/>
          <p:cNvSpPr>
            <a:spLocks noGrp="1"/>
          </p:cNvSpPr>
          <p:nvPr>
            <p:ph idx="1"/>
          </p:nvPr>
        </p:nvSpPr>
        <p:spPr/>
        <p:txBody>
          <a:bodyPr/>
          <a:p>
            <a:pPr>
              <a:lnSpc>
                <a:spcPct val="100000"/>
              </a:lnSpc>
              <a:spcBef>
                <a:spcPts val="2000"/>
              </a:spcBef>
            </a:pPr>
            <a:r>
              <a:rPr lang="zh-CN" altLang="en-US"/>
              <a:t>在数据处理中，通常计算比较简单，而且数据处理的需求因业务的不同而不同，需要根据业务的需求编写相应的应用程序来解决。</a:t>
            </a:r>
            <a:endParaRPr lang="zh-CN" altLang="en-US"/>
          </a:p>
          <a:p>
            <a:pPr>
              <a:lnSpc>
                <a:spcPct val="100000"/>
              </a:lnSpc>
              <a:spcBef>
                <a:spcPts val="2000"/>
              </a:spcBef>
            </a:pPr>
            <a:r>
              <a:rPr lang="zh-CN" altLang="en-US"/>
              <a:t>由于可利用的数据呈爆炸性增长、且数据的种类繁杂，</a:t>
            </a:r>
            <a:r>
              <a:rPr lang="zh-CN" altLang="en-US">
                <a:sym typeface="+mn-ea"/>
              </a:rPr>
              <a:t>数据管理任务则越来越复杂</a:t>
            </a:r>
            <a:r>
              <a:rPr lang="zh-CN" altLang="en-US"/>
              <a:t>。</a:t>
            </a:r>
            <a:endParaRPr lang="zh-CN" altLang="en-US"/>
          </a:p>
          <a:p>
            <a:pPr>
              <a:lnSpc>
                <a:spcPct val="100000"/>
              </a:lnSpc>
              <a:spcBef>
                <a:spcPts val="2000"/>
              </a:spcBef>
            </a:pPr>
            <a:r>
              <a:rPr lang="zh-CN" altLang="en-US">
                <a:sym typeface="+mn-ea"/>
              </a:rPr>
              <a:t>数据管理技术的优劣将对数据处理的效率产生直接影响。</a:t>
            </a:r>
            <a:endParaRPr lang="zh-CN" altLang="en-US"/>
          </a:p>
          <a:p>
            <a:pPr>
              <a:lnSpc>
                <a:spcPct val="100000"/>
              </a:lnSpc>
              <a:spcBef>
                <a:spcPts val="2000"/>
              </a:spcBef>
            </a:pPr>
            <a:r>
              <a:rPr lang="zh-CN" altLang="en-US"/>
              <a:t>数据管理技术的发展</a:t>
            </a:r>
            <a:r>
              <a:rPr lang="zh-CN" altLang="en-US"/>
              <a:t>动力：</a:t>
            </a:r>
            <a:endParaRPr lang="zh-CN" altLang="en-US"/>
          </a:p>
          <a:p>
            <a:pPr lvl="1">
              <a:lnSpc>
                <a:spcPct val="100000"/>
              </a:lnSpc>
              <a:spcBef>
                <a:spcPts val="1000"/>
              </a:spcBef>
            </a:pPr>
            <a:r>
              <a:rPr lang="zh-CN" altLang="en-US" sz="2800"/>
              <a:t>应用需求的推动</a:t>
            </a:r>
            <a:endParaRPr lang="zh-CN" altLang="en-US" sz="2800"/>
          </a:p>
          <a:p>
            <a:pPr lvl="1">
              <a:lnSpc>
                <a:spcPct val="100000"/>
              </a:lnSpc>
              <a:spcBef>
                <a:spcPts val="1000"/>
              </a:spcBef>
            </a:pPr>
            <a:r>
              <a:rPr lang="zh-CN" altLang="en-US" sz="2800"/>
              <a:t>计算机硬件的发展</a:t>
            </a:r>
            <a:endParaRPr lang="zh-CN" altLang="en-US" sz="2800"/>
          </a:p>
          <a:p>
            <a:pPr lvl="1">
              <a:lnSpc>
                <a:spcPct val="100000"/>
              </a:lnSpc>
              <a:spcBef>
                <a:spcPts val="1000"/>
              </a:spcBef>
            </a:pPr>
            <a:r>
              <a:rPr lang="zh-CN" altLang="en-US" sz="2800"/>
              <a:t>计算机软件的发展</a:t>
            </a:r>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chemeClr val="tx1"/>
                </a:solidFill>
                <a:sym typeface="+mn-ea"/>
              </a:rPr>
              <a:t>1.1.2 </a:t>
            </a:r>
            <a:r>
              <a:rPr lang="zh-CN" altLang="en-US">
                <a:solidFill>
                  <a:schemeClr val="tx1"/>
                </a:solidFill>
                <a:sym typeface="+mn-ea"/>
              </a:rPr>
              <a:t>数据管理技术的产生和发展</a:t>
            </a:r>
            <a:endParaRPr lang="zh-CN" altLang="en-US">
              <a:solidFill>
                <a:schemeClr val="tx1"/>
              </a:solidFill>
              <a:sym typeface="+mn-ea"/>
            </a:endParaRPr>
          </a:p>
        </p:txBody>
      </p:sp>
      <p:sp>
        <p:nvSpPr>
          <p:cNvPr id="3" name="内容占位符 2"/>
          <p:cNvSpPr>
            <a:spLocks noGrp="1"/>
          </p:cNvSpPr>
          <p:nvPr>
            <p:ph idx="1"/>
          </p:nvPr>
        </p:nvSpPr>
        <p:spPr/>
        <p:txBody>
          <a:bodyPr/>
          <a:p>
            <a:pPr>
              <a:lnSpc>
                <a:spcPct val="100000"/>
              </a:lnSpc>
              <a:spcBef>
                <a:spcPts val="2000"/>
              </a:spcBef>
            </a:pPr>
            <a:r>
              <a:rPr lang="zh-CN" altLang="en-US"/>
              <a:t>数据管理技术的发展过程</a:t>
            </a:r>
            <a:endParaRPr lang="zh-CN" altLang="en-US"/>
          </a:p>
          <a:p>
            <a:pPr lvl="1">
              <a:lnSpc>
                <a:spcPct val="100000"/>
              </a:lnSpc>
              <a:spcBef>
                <a:spcPts val="1000"/>
              </a:spcBef>
            </a:pPr>
            <a:r>
              <a:rPr lang="zh-CN" altLang="en-US" sz="2800"/>
              <a:t>人工管理阶段（</a:t>
            </a:r>
            <a:r>
              <a:rPr lang="en-US" altLang="zh-CN" sz="2800"/>
              <a:t>20</a:t>
            </a:r>
            <a:r>
              <a:rPr lang="zh-CN" altLang="en-US" sz="2800"/>
              <a:t>世纪</a:t>
            </a:r>
            <a:r>
              <a:rPr lang="en-US" altLang="zh-CN" sz="2800"/>
              <a:t>50</a:t>
            </a:r>
            <a:r>
              <a:rPr lang="zh-CN" altLang="en-US" sz="2800"/>
              <a:t>年代</a:t>
            </a:r>
            <a:r>
              <a:rPr lang="zh-CN" altLang="en-US" sz="2800"/>
              <a:t>中之前）</a:t>
            </a:r>
            <a:endParaRPr lang="zh-CN" altLang="en-US" sz="2800"/>
          </a:p>
          <a:p>
            <a:pPr lvl="1">
              <a:lnSpc>
                <a:spcPct val="100000"/>
              </a:lnSpc>
              <a:spcBef>
                <a:spcPts val="1000"/>
              </a:spcBef>
            </a:pPr>
            <a:r>
              <a:rPr lang="zh-CN" altLang="en-US" sz="2800"/>
              <a:t>文件系统阶段</a:t>
            </a:r>
            <a:r>
              <a:rPr lang="zh-CN" altLang="en-US">
                <a:sym typeface="+mn-ea"/>
              </a:rPr>
              <a:t>（</a:t>
            </a:r>
            <a:r>
              <a:rPr lang="en-US" altLang="zh-CN">
                <a:sym typeface="+mn-ea"/>
              </a:rPr>
              <a:t>20</a:t>
            </a:r>
            <a:r>
              <a:rPr lang="zh-CN" altLang="en-US">
                <a:sym typeface="+mn-ea"/>
              </a:rPr>
              <a:t>世纪</a:t>
            </a:r>
            <a:r>
              <a:rPr lang="en-US" altLang="zh-CN">
                <a:sym typeface="+mn-ea"/>
              </a:rPr>
              <a:t>50</a:t>
            </a:r>
            <a:r>
              <a:rPr lang="zh-CN" altLang="en-US">
                <a:sym typeface="+mn-ea"/>
              </a:rPr>
              <a:t>年代末</a:t>
            </a:r>
            <a:r>
              <a:rPr lang="en-US" altLang="zh-CN">
                <a:sym typeface="+mn-ea"/>
              </a:rPr>
              <a:t>--60</a:t>
            </a:r>
            <a:r>
              <a:rPr lang="zh-CN" altLang="en-US">
                <a:sym typeface="+mn-ea"/>
              </a:rPr>
              <a:t>年代</a:t>
            </a:r>
            <a:r>
              <a:rPr lang="zh-CN" altLang="en-US">
                <a:sym typeface="+mn-ea"/>
              </a:rPr>
              <a:t>中）</a:t>
            </a:r>
            <a:endParaRPr lang="zh-CN" altLang="en-US" sz="2800"/>
          </a:p>
          <a:p>
            <a:pPr lvl="1">
              <a:lnSpc>
                <a:spcPct val="100000"/>
              </a:lnSpc>
              <a:spcBef>
                <a:spcPts val="1000"/>
              </a:spcBef>
            </a:pPr>
            <a:r>
              <a:rPr lang="zh-CN" altLang="en-US" sz="2800"/>
              <a:t>数据库系统阶段</a:t>
            </a:r>
            <a:r>
              <a:rPr lang="zh-CN" altLang="en-US">
                <a:sym typeface="+mn-ea"/>
              </a:rPr>
              <a:t>（</a:t>
            </a:r>
            <a:r>
              <a:rPr lang="en-US" altLang="zh-CN">
                <a:sym typeface="+mn-ea"/>
              </a:rPr>
              <a:t>20</a:t>
            </a:r>
            <a:r>
              <a:rPr lang="zh-CN" altLang="en-US">
                <a:sym typeface="+mn-ea"/>
              </a:rPr>
              <a:t>世纪</a:t>
            </a:r>
            <a:r>
              <a:rPr lang="en-US" altLang="zh-CN">
                <a:sym typeface="+mn-ea"/>
              </a:rPr>
              <a:t>60</a:t>
            </a:r>
            <a:r>
              <a:rPr lang="zh-CN" altLang="en-US">
                <a:sym typeface="+mn-ea"/>
              </a:rPr>
              <a:t>年代末</a:t>
            </a:r>
            <a:r>
              <a:rPr lang="en-US" altLang="zh-CN">
                <a:sym typeface="+mn-ea"/>
              </a:rPr>
              <a:t>--</a:t>
            </a:r>
            <a:r>
              <a:rPr lang="zh-CN" altLang="en-US">
                <a:sym typeface="+mn-ea"/>
              </a:rPr>
              <a:t>现在）</a:t>
            </a:r>
            <a:endParaRPr lang="zh-CN" altLang="en-US"/>
          </a:p>
          <a:p>
            <a:pPr>
              <a:lnSpc>
                <a:spcPct val="110000"/>
              </a:lnSpc>
              <a:spcBef>
                <a:spcPts val="2000"/>
              </a:spcBef>
            </a:pPr>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pic>
        <p:nvPicPr>
          <p:cNvPr id="167939" name="图片 167938"/>
          <p:cNvPicPr>
            <a:picLocks noChangeAspect="1"/>
          </p:cNvPicPr>
          <p:nvPr>
            <p:custDataLst>
              <p:tags r:id="rId1"/>
            </p:custDataLst>
          </p:nvPr>
        </p:nvPicPr>
        <p:blipFill>
          <a:blip r:embed="rId2"/>
          <a:stretch>
            <a:fillRect/>
          </a:stretch>
        </p:blipFill>
        <p:spPr>
          <a:xfrm>
            <a:off x="2253615" y="2877820"/>
            <a:ext cx="7505700" cy="3707130"/>
          </a:xfrm>
          <a:prstGeom prst="rect">
            <a:avLst/>
          </a:prstGeom>
          <a:noFill/>
          <a:ln w="9525">
            <a:noFill/>
          </a:ln>
        </p:spPr>
      </p:pic>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zh-CN" altLang="en-US"/>
              <a:t>表</a:t>
            </a:r>
            <a:r>
              <a:rPr lang="en-US" altLang="zh-CN"/>
              <a:t>1.1  </a:t>
            </a:r>
            <a:r>
              <a:rPr lang="zh-CN" altLang="en-US"/>
              <a:t>数据管理三个阶段的</a:t>
            </a:r>
            <a:r>
              <a:rPr lang="zh-CN" altLang="en-US"/>
              <a:t>比较</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graphicFrame>
        <p:nvGraphicFramePr>
          <p:cNvPr id="7" name="表格 6"/>
          <p:cNvGraphicFramePr/>
          <p:nvPr>
            <p:custDataLst>
              <p:tags r:id="rId1"/>
            </p:custDataLst>
          </p:nvPr>
        </p:nvGraphicFramePr>
        <p:xfrm>
          <a:off x="135890" y="690880"/>
          <a:ext cx="11920855" cy="5720715"/>
        </p:xfrm>
        <a:graphic>
          <a:graphicData uri="http://schemas.openxmlformats.org/drawingml/2006/table">
            <a:tbl>
              <a:tblPr/>
              <a:tblGrid>
                <a:gridCol w="285750"/>
                <a:gridCol w="1692910"/>
                <a:gridCol w="2619375"/>
                <a:gridCol w="2847975"/>
                <a:gridCol w="4474845"/>
              </a:tblGrid>
              <a:tr h="520065">
                <a:tc>
                  <a:txBody>
                    <a:bodyPr/>
                    <a:p>
                      <a:pPr indent="0" algn="ctr">
                        <a:buNone/>
                      </a:pPr>
                      <a:endParaRPr lang="en-US"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800" b="1">
                          <a:solidFill>
                            <a:srgbClr val="C00000"/>
                          </a:solidFill>
                          <a:latin typeface="楷体" panose="02010609060101010101" charset="-122"/>
                          <a:ea typeface="楷体" panose="02010609060101010101" charset="-122"/>
                        </a:rPr>
                        <a:t>人工管理阶段</a:t>
                      </a:r>
                      <a:endParaRPr lang="zh-CN" altLang="en-US" sz="1800" b="1">
                        <a:solidFill>
                          <a:srgbClr val="C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800" b="1">
                          <a:solidFill>
                            <a:srgbClr val="C00000"/>
                          </a:solidFill>
                          <a:latin typeface="楷体" panose="02010609060101010101" charset="-122"/>
                          <a:ea typeface="楷体" panose="02010609060101010101" charset="-122"/>
                        </a:rPr>
                        <a:t>文件系统阶段</a:t>
                      </a:r>
                      <a:endParaRPr lang="zh-CN" altLang="en-US" sz="1800" b="1">
                        <a:solidFill>
                          <a:srgbClr val="C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800" b="1">
                          <a:solidFill>
                            <a:srgbClr val="C00000"/>
                          </a:solidFill>
                          <a:latin typeface="楷体" panose="02010609060101010101" charset="-122"/>
                          <a:ea typeface="楷体" panose="02010609060101010101" charset="-122"/>
                        </a:rPr>
                        <a:t>数据库系统阶段</a:t>
                      </a:r>
                      <a:endParaRPr lang="zh-CN" altLang="en-US" sz="1800" b="1">
                        <a:solidFill>
                          <a:srgbClr val="C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0065">
                <a:tc rowSpan="4">
                  <a:txBody>
                    <a:bodyPr/>
                    <a:p>
                      <a:pPr indent="0" algn="ctr">
                        <a:buNone/>
                      </a:pPr>
                      <a:r>
                        <a:rPr lang="zh-CN" sz="1800" b="1">
                          <a:solidFill>
                            <a:srgbClr val="000000"/>
                          </a:solidFill>
                          <a:latin typeface="楷体" panose="02010609060101010101" charset="-122"/>
                          <a:ea typeface="楷体" panose="02010609060101010101" charset="-122"/>
                          <a:cs typeface="楷体" panose="02010609060101010101" charset="-122"/>
                        </a:rPr>
                        <a:t>背</a:t>
                      </a:r>
                      <a:endParaRPr lang="zh-CN" sz="1800" b="1">
                        <a:solidFill>
                          <a:srgbClr val="000000"/>
                        </a:solidFill>
                        <a:latin typeface="楷体" panose="02010609060101010101" charset="-122"/>
                        <a:ea typeface="楷体" panose="02010609060101010101" charset="-122"/>
                        <a:cs typeface="楷体" panose="02010609060101010101" charset="-122"/>
                      </a:endParaRPr>
                    </a:p>
                    <a:p>
                      <a:pPr indent="0" algn="ctr">
                        <a:buNone/>
                      </a:pPr>
                      <a:r>
                        <a:rPr lang="en-US" sz="1800" b="1">
                          <a:solidFill>
                            <a:srgbClr val="000000"/>
                          </a:solidFill>
                          <a:latin typeface="楷体" panose="02010609060101010101" charset="-122"/>
                          <a:ea typeface="楷体" panose="02010609060101010101" charset="-122"/>
                          <a:cs typeface="楷体" panose="02010609060101010101" charset="-122"/>
                        </a:rPr>
                        <a:t> </a:t>
                      </a:r>
                      <a:r>
                        <a:rPr lang="zh-CN" sz="1800" b="1">
                          <a:solidFill>
                            <a:srgbClr val="000000"/>
                          </a:solidFill>
                          <a:latin typeface="楷体" panose="02010609060101010101" charset="-122"/>
                          <a:ea typeface="楷体" panose="02010609060101010101" charset="-122"/>
                          <a:cs typeface="楷体" panose="02010609060101010101" charset="-122"/>
                        </a:rPr>
                        <a:t>景</a:t>
                      </a:r>
                      <a:endParaRPr lang="en-US" altLang="en-US" sz="1800" b="1">
                        <a:solidFill>
                          <a:srgbClr val="000000"/>
                        </a:solidFill>
                        <a:latin typeface="楷体" panose="02010609060101010101" charset="-122"/>
                        <a:ea typeface="楷体" panose="02010609060101010101" charset="-122"/>
                        <a:cs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p>
                      <a:pPr indent="0" algn="ctr">
                        <a:buNone/>
                      </a:pPr>
                      <a:r>
                        <a:rPr lang="zh-CN" sz="1800" b="1">
                          <a:solidFill>
                            <a:srgbClr val="000000"/>
                          </a:solidFill>
                          <a:latin typeface="楷体" panose="02010609060101010101" charset="-122"/>
                          <a:ea typeface="楷体" panose="02010609060101010101" charset="-122"/>
                        </a:rPr>
                        <a:t>应用背景</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科学计算</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科学计算，数据管理</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大规模数据管理</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lgn="ctr">
                        <a:buNone/>
                      </a:pPr>
                      <a:r>
                        <a:rPr lang="zh-CN" sz="1800" b="1">
                          <a:solidFill>
                            <a:srgbClr val="000000"/>
                          </a:solidFill>
                          <a:latin typeface="楷体" panose="02010609060101010101" charset="-122"/>
                          <a:ea typeface="楷体" panose="02010609060101010101" charset="-122"/>
                        </a:rPr>
                        <a:t>硬件背景</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无直接存取存储设备</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磁盘，磁鼓</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大容量磁盘，磁盘阵列</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lgn="ctr">
                        <a:buNone/>
                      </a:pPr>
                      <a:r>
                        <a:rPr lang="zh-CN" sz="1800" b="1">
                          <a:solidFill>
                            <a:srgbClr val="000000"/>
                          </a:solidFill>
                          <a:latin typeface="楷体" panose="02010609060101010101" charset="-122"/>
                          <a:ea typeface="楷体" panose="02010609060101010101" charset="-122"/>
                        </a:rPr>
                        <a:t>软件背景</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没有操作系统</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有文件系统</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有数据库管理系统</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solidFill>
                      <a:schemeClr val="accent2">
                        <a:lumMod val="20000"/>
                        <a:lumOff val="80000"/>
                        <a:alpha val="50000"/>
                      </a:schemeClr>
                    </a:solid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zh-CN" sz="1800" b="1">
                          <a:solidFill>
                            <a:srgbClr val="000000"/>
                          </a:solidFill>
                          <a:latin typeface="楷体" panose="02010609060101010101" charset="-122"/>
                          <a:ea typeface="楷体" panose="02010609060101010101" charset="-122"/>
                        </a:rPr>
                        <a:t>处理方式</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批处理</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联机实时处理、批处理</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p>
                      <a:pPr indent="0">
                        <a:buNone/>
                      </a:pPr>
                      <a:r>
                        <a:rPr lang="zh-CN" sz="1800" b="1">
                          <a:solidFill>
                            <a:srgbClr val="1F2DA8"/>
                          </a:solidFill>
                          <a:latin typeface="楷体" panose="02010609060101010101" charset="-122"/>
                          <a:ea typeface="楷体" panose="02010609060101010101" charset="-122"/>
                        </a:rPr>
                        <a:t>联机实时处理、分布处理、批处理</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2">
                        <a:lumMod val="20000"/>
                        <a:lumOff val="80000"/>
                        <a:alpha val="50000"/>
                      </a:schemeClr>
                    </a:solidFill>
                  </a:tcPr>
                </a:tc>
              </a:tr>
              <a:tr h="520065">
                <a:tc rowSpan="6">
                  <a:txBody>
                    <a:bodyPr/>
                    <a:p>
                      <a:pPr indent="0" algn="ctr">
                        <a:buNone/>
                      </a:pPr>
                      <a:r>
                        <a:rPr lang="zh-CN" sz="1800" b="1">
                          <a:solidFill>
                            <a:srgbClr val="000000"/>
                          </a:solidFill>
                          <a:latin typeface="楷体" panose="02010609060101010101" charset="-122"/>
                          <a:ea typeface="楷体" panose="02010609060101010101" charset="-122"/>
                          <a:cs typeface="楷体" panose="02010609060101010101" charset="-122"/>
                        </a:rPr>
                        <a:t>特</a:t>
                      </a:r>
                      <a:endParaRPr lang="zh-CN" sz="1800" b="1">
                        <a:solidFill>
                          <a:srgbClr val="000000"/>
                        </a:solidFill>
                        <a:latin typeface="楷体" panose="02010609060101010101" charset="-122"/>
                        <a:ea typeface="楷体" panose="02010609060101010101" charset="-122"/>
                        <a:cs typeface="楷体" panose="02010609060101010101" charset="-122"/>
                      </a:endParaRPr>
                    </a:p>
                    <a:p>
                      <a:pPr indent="0" algn="ctr">
                        <a:buNone/>
                      </a:pPr>
                      <a:r>
                        <a:rPr lang="en-US" sz="1800" b="1">
                          <a:solidFill>
                            <a:srgbClr val="000000"/>
                          </a:solidFill>
                          <a:latin typeface="楷体" panose="02010609060101010101" charset="-122"/>
                          <a:ea typeface="楷体" panose="02010609060101010101" charset="-122"/>
                          <a:cs typeface="楷体" panose="02010609060101010101" charset="-122"/>
                        </a:rPr>
                        <a:t> </a:t>
                      </a:r>
                      <a:r>
                        <a:rPr lang="zh-CN" sz="1800" b="1">
                          <a:solidFill>
                            <a:srgbClr val="000000"/>
                          </a:solidFill>
                          <a:latin typeface="楷体" panose="02010609060101010101" charset="-122"/>
                          <a:ea typeface="楷体" panose="02010609060101010101" charset="-122"/>
                          <a:cs typeface="楷体" panose="02010609060101010101" charset="-122"/>
                        </a:rPr>
                        <a:t>点</a:t>
                      </a:r>
                      <a:endParaRPr lang="en-US" altLang="en-US" sz="1800" b="1">
                        <a:solidFill>
                          <a:srgbClr val="000000"/>
                        </a:solidFill>
                        <a:latin typeface="楷体" panose="02010609060101010101" charset="-122"/>
                        <a:ea typeface="楷体" panose="02010609060101010101" charset="-122"/>
                        <a:cs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800" b="1">
                          <a:solidFill>
                            <a:srgbClr val="000000"/>
                          </a:solidFill>
                          <a:latin typeface="楷体" panose="02010609060101010101" charset="-122"/>
                          <a:ea typeface="楷体" panose="02010609060101010101" charset="-122"/>
                        </a:rPr>
                        <a:t>数据的管理者</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用户（程序员）</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文件系统</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数据库管理系统</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lgn="ctr">
                        <a:buNone/>
                      </a:pPr>
                      <a:r>
                        <a:rPr lang="zh-CN" sz="1800" b="1">
                          <a:solidFill>
                            <a:srgbClr val="000000"/>
                          </a:solidFill>
                          <a:latin typeface="楷体" panose="02010609060101010101" charset="-122"/>
                          <a:ea typeface="楷体" panose="02010609060101010101" charset="-122"/>
                        </a:rPr>
                        <a:t>数据面向的对象</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某一应用程序</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某一应用</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现实世界（一个部门、企业、跨国组织等）</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lgn="ctr">
                        <a:buNone/>
                      </a:pPr>
                      <a:r>
                        <a:rPr lang="zh-CN" sz="1800" b="1">
                          <a:solidFill>
                            <a:srgbClr val="000000"/>
                          </a:solidFill>
                          <a:latin typeface="楷体" panose="02010609060101010101" charset="-122"/>
                          <a:ea typeface="楷体" panose="02010609060101010101" charset="-122"/>
                        </a:rPr>
                        <a:t>数据的共享程度</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无共享，冗余度极大</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共享性差，冗余度大</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共享性高，冗余度小</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lgn="ctr">
                        <a:buNone/>
                      </a:pPr>
                      <a:r>
                        <a:rPr lang="zh-CN" sz="1800" b="1">
                          <a:solidFill>
                            <a:srgbClr val="000000"/>
                          </a:solidFill>
                          <a:latin typeface="楷体" panose="02010609060101010101" charset="-122"/>
                          <a:ea typeface="楷体" panose="02010609060101010101" charset="-122"/>
                        </a:rPr>
                        <a:t>数据独立性</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不独立，完全依赖于程序</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独立性差</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具有较高的物理独立性和一定的逻辑独立性</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lgn="ctr">
                        <a:buNone/>
                      </a:pPr>
                      <a:r>
                        <a:rPr lang="zh-CN" sz="1800" b="1">
                          <a:solidFill>
                            <a:srgbClr val="000000"/>
                          </a:solidFill>
                          <a:latin typeface="楷体" panose="02010609060101010101" charset="-122"/>
                          <a:ea typeface="楷体" panose="02010609060101010101" charset="-122"/>
                        </a:rPr>
                        <a:t>数据的结构化</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无结构</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记录内有结构，整体无结构</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整体结构化，用数据模型描述</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6350" cap="flat" cmpd="sng">
                      <a:solidFill>
                        <a:srgbClr val="000000"/>
                      </a:solidFill>
                      <a:prstDash val="dot"/>
                      <a:headEnd type="none" w="med" len="med"/>
                      <a:tailEnd type="none" w="med" len="med"/>
                    </a:lnB>
                    <a:lnTlToBr>
                      <a:noFill/>
                    </a:lnTlToBr>
                    <a:lnBlToTr>
                      <a:noFill/>
                    </a:lnBlToTr>
                    <a:noFill/>
                  </a:tcPr>
                </a:tc>
              </a:tr>
              <a:tr h="52006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zh-CN" sz="1800" b="1">
                          <a:solidFill>
                            <a:srgbClr val="000000"/>
                          </a:solidFill>
                          <a:latin typeface="楷体" panose="02010609060101010101" charset="-122"/>
                          <a:ea typeface="楷体" panose="02010609060101010101" charset="-122"/>
                        </a:rPr>
                        <a:t>数据控制能力</a:t>
                      </a:r>
                      <a:endParaRPr lang="zh-CN" altLang="en-US" sz="1800" b="1">
                        <a:solidFill>
                          <a:srgbClr val="000000"/>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应用程序自己控制</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rPr>
                        <a:t>应用程序自己控制</a:t>
                      </a:r>
                      <a:endParaRPr lang="zh-CN" altLang="en-US" sz="1800" b="1">
                        <a:solidFill>
                          <a:srgbClr val="1F2DA8"/>
                        </a:solidFill>
                        <a:latin typeface="楷体" panose="02010609060101010101" charset="-122"/>
                        <a:ea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800" b="1">
                          <a:solidFill>
                            <a:srgbClr val="1F2DA8"/>
                          </a:solidFill>
                          <a:latin typeface="楷体" panose="02010609060101010101" charset="-122"/>
                          <a:ea typeface="楷体" panose="02010609060101010101" charset="-122"/>
                          <a:cs typeface="楷体" panose="02010609060101010101" charset="-122"/>
                        </a:rPr>
                        <a:t>由DBMS提供统一控制</a:t>
                      </a:r>
                      <a:endParaRPr lang="zh-CN" altLang="en-US" sz="1800" b="1">
                        <a:solidFill>
                          <a:srgbClr val="1F2DA8"/>
                        </a:solidFill>
                        <a:latin typeface="楷体" panose="02010609060101010101" charset="-122"/>
                        <a:ea typeface="楷体" panose="02010609060101010101" charset="-122"/>
                        <a:cs typeface="楷体" panose="02010609060101010101" charset="-122"/>
                      </a:endParaRPr>
                    </a:p>
                  </a:txBody>
                  <a:tcPr marL="12700" marR="12700" marT="12700" vert="horz"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dot"/>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数据管理</a:t>
            </a:r>
            <a:r>
              <a:rPr lang="en-US" altLang="zh-CN"/>
              <a:t> - </a:t>
            </a:r>
            <a:r>
              <a:rPr lang="zh-CN" altLang="en-US"/>
              <a:t>人工管理</a:t>
            </a:r>
            <a:r>
              <a:rPr lang="zh-CN" altLang="en-US"/>
              <a:t>（</a:t>
            </a:r>
            <a:r>
              <a:rPr lang="en-US" altLang="zh-CN"/>
              <a:t>1</a:t>
            </a:r>
            <a:r>
              <a:rPr lang="zh-CN" altLang="en-US"/>
              <a:t>）</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7" name="文本框 6"/>
          <p:cNvSpPr txBox="1"/>
          <p:nvPr/>
        </p:nvSpPr>
        <p:spPr>
          <a:xfrm>
            <a:off x="566420" y="5262880"/>
            <a:ext cx="10894695" cy="553085"/>
          </a:xfrm>
          <a:prstGeom prst="rect">
            <a:avLst/>
          </a:prstGeom>
          <a:noFill/>
        </p:spPr>
        <p:txBody>
          <a:bodyPr wrap="square" rtlCol="0">
            <a:spAutoFit/>
          </a:bodyPr>
          <a:p>
            <a:pPr algn="ctr"/>
            <a:r>
              <a:rPr lang="zh-CN" altLang="en-US" sz="3000" b="1">
                <a:solidFill>
                  <a:srgbClr val="1F2DA8"/>
                </a:solidFill>
                <a:latin typeface="楷体" panose="02010609060101010101" charset="-122"/>
                <a:ea typeface="楷体" panose="02010609060101010101" charset="-122"/>
                <a:cs typeface="楷体" panose="02010609060101010101" charset="-122"/>
              </a:rPr>
              <a:t>图</a:t>
            </a:r>
            <a:r>
              <a:rPr lang="en-US" altLang="zh-CN" sz="3000" b="1">
                <a:solidFill>
                  <a:srgbClr val="1F2DA8"/>
                </a:solidFill>
                <a:latin typeface="楷体" panose="02010609060101010101" charset="-122"/>
                <a:ea typeface="楷体" panose="02010609060101010101" charset="-122"/>
                <a:cs typeface="楷体" panose="02010609060101010101" charset="-122"/>
              </a:rPr>
              <a:t>1.3  </a:t>
            </a:r>
            <a:r>
              <a:rPr lang="zh-CN" altLang="en-US" sz="3000" b="1">
                <a:solidFill>
                  <a:srgbClr val="1F2DA8"/>
                </a:solidFill>
                <a:latin typeface="楷体" panose="02010609060101010101" charset="-122"/>
                <a:ea typeface="楷体" panose="02010609060101010101" charset="-122"/>
                <a:cs typeface="楷体" panose="02010609060101010101" charset="-122"/>
              </a:rPr>
              <a:t>人工管理阶段应用程序与数据之间的一一对应关系</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grpSp>
        <p:nvGrpSpPr>
          <p:cNvPr id="20" name="Group 4"/>
          <p:cNvGrpSpPr/>
          <p:nvPr/>
        </p:nvGrpSpPr>
        <p:grpSpPr bwMode="auto">
          <a:xfrm>
            <a:off x="2558330" y="1294765"/>
            <a:ext cx="6235615" cy="3048000"/>
            <a:chOff x="1253" y="1248"/>
            <a:chExt cx="3928" cy="1920"/>
          </a:xfrm>
        </p:grpSpPr>
        <p:grpSp>
          <p:nvGrpSpPr>
            <p:cNvPr id="21" name="Group 5"/>
            <p:cNvGrpSpPr/>
            <p:nvPr/>
          </p:nvGrpSpPr>
          <p:grpSpPr bwMode="auto">
            <a:xfrm>
              <a:off x="1258" y="1248"/>
              <a:ext cx="3922" cy="816"/>
              <a:chOff x="2433" y="10353"/>
              <a:chExt cx="4420" cy="1256"/>
            </a:xfrm>
          </p:grpSpPr>
          <p:sp>
            <p:nvSpPr>
              <p:cNvPr id="28" name="Text Box 6"/>
              <p:cNvSpPr txBox="1">
                <a:spLocks noChangeArrowheads="1"/>
              </p:cNvSpPr>
              <p:nvPr>
                <p:custDataLst>
                  <p:tags r:id="rId1"/>
                </p:custDataLst>
              </p:nvPr>
            </p:nvSpPr>
            <p:spPr bwMode="auto">
              <a:xfrm>
                <a:off x="2433" y="10353"/>
                <a:ext cx="1681"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dirty="0">
                    <a:latin typeface="楷体" panose="02010609060101010101" charset="-122"/>
                    <a:ea typeface="楷体" panose="02010609060101010101" charset="-122"/>
                    <a:cs typeface="楷体" panose="02010609060101010101" charset="-122"/>
                  </a:rPr>
                  <a:t>应用程序</a:t>
                </a:r>
                <a:r>
                  <a:rPr kumimoji="1" lang="en-US" altLang="zh-CN" sz="3000" b="1" dirty="0">
                    <a:latin typeface="楷体" panose="02010609060101010101" charset="-122"/>
                    <a:ea typeface="楷体" panose="02010609060101010101" charset="-122"/>
                    <a:cs typeface="楷体" panose="02010609060101010101" charset="-122"/>
                  </a:rPr>
                  <a:t> 1</a:t>
                </a:r>
                <a:endParaRPr kumimoji="1" lang="en-US" altLang="zh-CN" sz="3000" b="1" dirty="0">
                  <a:latin typeface="楷体" panose="02010609060101010101" charset="-122"/>
                  <a:ea typeface="楷体" panose="02010609060101010101" charset="-122"/>
                  <a:cs typeface="楷体" panose="02010609060101010101" charset="-122"/>
                </a:endParaRPr>
              </a:p>
            </p:txBody>
          </p:sp>
          <p:sp>
            <p:nvSpPr>
              <p:cNvPr id="29" name="Text Box 7"/>
              <p:cNvSpPr txBox="1">
                <a:spLocks noChangeArrowheads="1"/>
              </p:cNvSpPr>
              <p:nvPr>
                <p:custDataLst>
                  <p:tags r:id="rId2"/>
                </p:custDataLst>
              </p:nvPr>
            </p:nvSpPr>
            <p:spPr bwMode="auto">
              <a:xfrm>
                <a:off x="5269" y="10353"/>
                <a:ext cx="1584"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数据集</a:t>
                </a:r>
                <a:r>
                  <a:rPr kumimoji="1" lang="en-US" altLang="zh-CN" sz="3000" b="1">
                    <a:latin typeface="楷体" panose="02010609060101010101" charset="-122"/>
                    <a:ea typeface="楷体" panose="02010609060101010101" charset="-122"/>
                    <a:cs typeface="楷体" panose="02010609060101010101" charset="-122"/>
                  </a:rPr>
                  <a:t> 1</a:t>
                </a:r>
                <a:endParaRPr kumimoji="1" lang="en-US" altLang="zh-CN" sz="3000" b="1">
                  <a:latin typeface="楷体" panose="02010609060101010101" charset="-122"/>
                  <a:ea typeface="楷体" panose="02010609060101010101" charset="-122"/>
                  <a:cs typeface="楷体" panose="02010609060101010101" charset="-122"/>
                </a:endParaRPr>
              </a:p>
            </p:txBody>
          </p:sp>
          <p:sp>
            <p:nvSpPr>
              <p:cNvPr id="31" name="Text Box 9"/>
              <p:cNvSpPr txBox="1">
                <a:spLocks noChangeArrowheads="1"/>
              </p:cNvSpPr>
              <p:nvPr>
                <p:custDataLst>
                  <p:tags r:id="rId3"/>
                </p:custDataLst>
              </p:nvPr>
            </p:nvSpPr>
            <p:spPr bwMode="auto">
              <a:xfrm>
                <a:off x="2433" y="11138"/>
                <a:ext cx="1681"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应用程序</a:t>
                </a:r>
                <a:r>
                  <a:rPr kumimoji="1" lang="en-US" altLang="zh-CN" sz="3000" b="1">
                    <a:latin typeface="楷体" panose="02010609060101010101" charset="-122"/>
                    <a:ea typeface="楷体" panose="02010609060101010101" charset="-122"/>
                    <a:cs typeface="楷体" panose="02010609060101010101" charset="-122"/>
                  </a:rPr>
                  <a:t> 2</a:t>
                </a:r>
                <a:endParaRPr kumimoji="1" lang="en-US" altLang="zh-CN" sz="3000" b="1">
                  <a:latin typeface="楷体" panose="02010609060101010101" charset="-122"/>
                  <a:ea typeface="楷体" panose="02010609060101010101" charset="-122"/>
                  <a:cs typeface="楷体" panose="02010609060101010101" charset="-122"/>
                </a:endParaRPr>
              </a:p>
            </p:txBody>
          </p:sp>
          <p:sp>
            <p:nvSpPr>
              <p:cNvPr id="32" name="Text Box 10"/>
              <p:cNvSpPr txBox="1">
                <a:spLocks noChangeArrowheads="1"/>
              </p:cNvSpPr>
              <p:nvPr>
                <p:custDataLst>
                  <p:tags r:id="rId4"/>
                </p:custDataLst>
              </p:nvPr>
            </p:nvSpPr>
            <p:spPr bwMode="auto">
              <a:xfrm>
                <a:off x="5269" y="11138"/>
                <a:ext cx="1584"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数据集</a:t>
                </a:r>
                <a:r>
                  <a:rPr kumimoji="1" lang="en-US" altLang="zh-CN" sz="3000" b="1">
                    <a:latin typeface="楷体" panose="02010609060101010101" charset="-122"/>
                    <a:ea typeface="楷体" panose="02010609060101010101" charset="-122"/>
                    <a:cs typeface="楷体" panose="02010609060101010101" charset="-122"/>
                  </a:rPr>
                  <a:t> 2</a:t>
                </a:r>
                <a:endParaRPr kumimoji="1" lang="en-US" altLang="zh-CN" sz="3000" b="1">
                  <a:latin typeface="楷体" panose="02010609060101010101" charset="-122"/>
                  <a:ea typeface="楷体" panose="02010609060101010101" charset="-122"/>
                  <a:cs typeface="楷体" panose="02010609060101010101" charset="-122"/>
                </a:endParaRPr>
              </a:p>
            </p:txBody>
          </p:sp>
        </p:grpSp>
        <p:grpSp>
          <p:nvGrpSpPr>
            <p:cNvPr id="22" name="Group 12"/>
            <p:cNvGrpSpPr/>
            <p:nvPr/>
          </p:nvGrpSpPr>
          <p:grpSpPr bwMode="auto">
            <a:xfrm>
              <a:off x="1253" y="2832"/>
              <a:ext cx="3928" cy="336"/>
              <a:chOff x="2433" y="13022"/>
              <a:chExt cx="4360" cy="471"/>
            </a:xfrm>
          </p:grpSpPr>
          <p:sp>
            <p:nvSpPr>
              <p:cNvPr id="25" name="Text Box 13"/>
              <p:cNvSpPr txBox="1">
                <a:spLocks noChangeArrowheads="1"/>
              </p:cNvSpPr>
              <p:nvPr>
                <p:custDataLst>
                  <p:tags r:id="rId5"/>
                </p:custDataLst>
              </p:nvPr>
            </p:nvSpPr>
            <p:spPr bwMode="auto">
              <a:xfrm>
                <a:off x="2433" y="13022"/>
                <a:ext cx="1660"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应用程序</a:t>
                </a:r>
                <a:r>
                  <a:rPr kumimoji="1" lang="en-US" altLang="zh-CN" sz="3000" b="1">
                    <a:latin typeface="楷体" panose="02010609060101010101" charset="-122"/>
                    <a:ea typeface="楷体" panose="02010609060101010101" charset="-122"/>
                    <a:cs typeface="楷体" panose="02010609060101010101" charset="-122"/>
                  </a:rPr>
                  <a:t> n</a:t>
                </a:r>
                <a:endParaRPr kumimoji="1" lang="zh-CN" altLang="en-US" sz="3000" b="1">
                  <a:latin typeface="楷体" panose="02010609060101010101" charset="-122"/>
                  <a:ea typeface="楷体" panose="02010609060101010101" charset="-122"/>
                  <a:cs typeface="楷体" panose="02010609060101010101" charset="-122"/>
                </a:endParaRPr>
              </a:p>
            </p:txBody>
          </p:sp>
          <p:sp>
            <p:nvSpPr>
              <p:cNvPr id="26" name="Text Box 14"/>
              <p:cNvSpPr txBox="1">
                <a:spLocks noChangeArrowheads="1"/>
              </p:cNvSpPr>
              <p:nvPr>
                <p:custDataLst>
                  <p:tags r:id="rId6"/>
                </p:custDataLst>
              </p:nvPr>
            </p:nvSpPr>
            <p:spPr bwMode="auto">
              <a:xfrm>
                <a:off x="5233" y="13022"/>
                <a:ext cx="1560" cy="471"/>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000" b="1">
                    <a:latin typeface="楷体" panose="02010609060101010101" charset="-122"/>
                    <a:ea typeface="楷体" panose="02010609060101010101" charset="-122"/>
                    <a:cs typeface="楷体" panose="02010609060101010101" charset="-122"/>
                  </a:rPr>
                  <a:t>数据集</a:t>
                </a:r>
                <a:r>
                  <a:rPr kumimoji="1" lang="en-US" altLang="zh-CN" sz="3000" b="1">
                    <a:latin typeface="楷体" panose="02010609060101010101" charset="-122"/>
                    <a:ea typeface="楷体" panose="02010609060101010101" charset="-122"/>
                    <a:cs typeface="楷体" panose="02010609060101010101" charset="-122"/>
                  </a:rPr>
                  <a:t> n</a:t>
                </a:r>
                <a:endParaRPr kumimoji="1" lang="en-US" altLang="zh-CN" sz="3000" b="1">
                  <a:latin typeface="楷体" panose="02010609060101010101" charset="-122"/>
                  <a:ea typeface="楷体" panose="02010609060101010101" charset="-122"/>
                  <a:cs typeface="楷体" panose="02010609060101010101" charset="-122"/>
                </a:endParaRPr>
              </a:p>
            </p:txBody>
          </p:sp>
        </p:grpSp>
        <p:sp>
          <p:nvSpPr>
            <p:cNvPr id="23" name="Text Box 16"/>
            <p:cNvSpPr txBox="1">
              <a:spLocks noChangeArrowheads="1"/>
            </p:cNvSpPr>
            <p:nvPr>
              <p:custDataLst>
                <p:tags r:id="rId7"/>
              </p:custDataLst>
            </p:nvPr>
          </p:nvSpPr>
          <p:spPr bwMode="auto">
            <a:xfrm>
              <a:off x="1801" y="2304"/>
              <a:ext cx="40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000" b="1">
                  <a:latin typeface="楷体" panose="02010609060101010101" charset="-122"/>
                  <a:ea typeface="楷体" panose="02010609060101010101" charset="-122"/>
                </a:rPr>
                <a:t>...</a:t>
              </a:r>
              <a:endParaRPr kumimoji="1" lang="en-US" altLang="zh-CN" sz="3000" b="1">
                <a:latin typeface="楷体" panose="02010609060101010101" charset="-122"/>
                <a:ea typeface="楷体" panose="02010609060101010101" charset="-122"/>
              </a:endParaRPr>
            </a:p>
          </p:txBody>
        </p:sp>
        <p:sp>
          <p:nvSpPr>
            <p:cNvPr id="24" name="Text Box 17"/>
            <p:cNvSpPr txBox="1">
              <a:spLocks noChangeArrowheads="1"/>
            </p:cNvSpPr>
            <p:nvPr>
              <p:custDataLst>
                <p:tags r:id="rId8"/>
              </p:custDataLst>
            </p:nvPr>
          </p:nvSpPr>
          <p:spPr bwMode="auto">
            <a:xfrm>
              <a:off x="4275" y="2291"/>
              <a:ext cx="40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000" b="1">
                  <a:latin typeface="楷体" panose="02010609060101010101" charset="-122"/>
                  <a:ea typeface="楷体" panose="02010609060101010101" charset="-122"/>
                </a:rPr>
                <a:t>...</a:t>
              </a:r>
              <a:endParaRPr kumimoji="1" lang="en-US" altLang="zh-CN" sz="3000" b="1">
                <a:latin typeface="楷体" panose="02010609060101010101" charset="-122"/>
                <a:ea typeface="楷体" panose="02010609060101010101" charset="-122"/>
              </a:endParaRPr>
            </a:p>
          </p:txBody>
        </p:sp>
      </p:grpSp>
      <p:cxnSp>
        <p:nvCxnSpPr>
          <p:cNvPr id="8" name="直接连接符 7"/>
          <p:cNvCxnSpPr/>
          <p:nvPr/>
        </p:nvCxnSpPr>
        <p:spPr>
          <a:xfrm>
            <a:off x="4935220" y="1537970"/>
            <a:ext cx="162750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custDataLst>
              <p:tags r:id="rId9"/>
            </p:custDataLst>
          </p:nvPr>
        </p:nvCxnSpPr>
        <p:spPr>
          <a:xfrm>
            <a:off x="4935220" y="2347595"/>
            <a:ext cx="1627505"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custDataLst>
              <p:tags r:id="rId10"/>
            </p:custDataLst>
          </p:nvPr>
        </p:nvCxnSpPr>
        <p:spPr>
          <a:xfrm>
            <a:off x="4932045" y="4076065"/>
            <a:ext cx="1630680" cy="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数据管理</a:t>
            </a:r>
            <a:r>
              <a:rPr lang="en-US" altLang="zh-CN">
                <a:sym typeface="+mn-ea"/>
              </a:rPr>
              <a:t> - </a:t>
            </a:r>
            <a:r>
              <a:rPr lang="zh-CN" altLang="en-US"/>
              <a:t>人工管理（</a:t>
            </a:r>
            <a:r>
              <a:rPr lang="en-US" altLang="zh-CN"/>
              <a:t>2</a:t>
            </a:r>
            <a:r>
              <a:rPr lang="zh-CN" altLang="en-US"/>
              <a:t>）</a:t>
            </a:r>
            <a:endParaRPr lang="zh-CN" altLang="en-US"/>
          </a:p>
        </p:txBody>
      </p:sp>
      <p:sp>
        <p:nvSpPr>
          <p:cNvPr id="3" name="内容占位符 2"/>
          <p:cNvSpPr>
            <a:spLocks noGrp="1"/>
          </p:cNvSpPr>
          <p:nvPr>
            <p:ph idx="1"/>
          </p:nvPr>
        </p:nvSpPr>
        <p:spPr/>
        <p:txBody>
          <a:bodyPr/>
          <a:p>
            <a:pPr marL="361950" lvl="0" algn="just" eaLnBrk="1" hangingPunct="1">
              <a:lnSpc>
                <a:spcPct val="150000"/>
              </a:lnSpc>
              <a:spcBef>
                <a:spcPts val="0"/>
              </a:spcBef>
            </a:pPr>
            <a:r>
              <a:rPr lang="zh-CN" altLang="en-US" sz="3000" dirty="0">
                <a:sym typeface="+mn-ea"/>
              </a:rPr>
              <a:t>特点</a:t>
            </a:r>
            <a:endParaRPr lang="zh-CN" altLang="en-US" sz="3000" u="sng" dirty="0">
              <a:sym typeface="+mn-ea"/>
            </a:endParaRPr>
          </a:p>
          <a:p>
            <a:pPr marL="819150" lvl="1" algn="just" eaLnBrk="1" hangingPunct="1">
              <a:lnSpc>
                <a:spcPct val="150000"/>
              </a:lnSpc>
              <a:spcBef>
                <a:spcPts val="0"/>
              </a:spcBef>
            </a:pPr>
            <a:r>
              <a:rPr lang="zh-CN" altLang="en-US" sz="3000" dirty="0">
                <a:highlight>
                  <a:srgbClr val="FFFF00"/>
                </a:highlight>
                <a:sym typeface="+mn-ea"/>
              </a:rPr>
              <a:t>数据的管理者</a:t>
            </a:r>
            <a:r>
              <a:rPr lang="zh-CN" altLang="en-US" sz="3000" dirty="0">
                <a:sym typeface="+mn-ea"/>
              </a:rPr>
              <a:t>：用户</a:t>
            </a:r>
            <a:r>
              <a:rPr lang="en-US" altLang="zh-CN" sz="3000" dirty="0">
                <a:sym typeface="+mn-ea"/>
              </a:rPr>
              <a:t>(</a:t>
            </a:r>
            <a:r>
              <a:rPr lang="zh-CN" altLang="en-US" sz="3000" dirty="0">
                <a:sym typeface="+mn-ea"/>
              </a:rPr>
              <a:t>程序员</a:t>
            </a:r>
            <a:r>
              <a:rPr lang="en-US" altLang="zh-CN" sz="3000" dirty="0">
                <a:sym typeface="+mn-ea"/>
              </a:rPr>
              <a:t>)</a:t>
            </a:r>
            <a:r>
              <a:rPr lang="zh-CN" altLang="en-US" sz="3000" dirty="0">
                <a:sym typeface="+mn-ea"/>
              </a:rPr>
              <a:t>，数据不保存</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数据面向的对象</a:t>
            </a:r>
            <a:r>
              <a:rPr lang="zh-CN" altLang="en-US" sz="3000" dirty="0">
                <a:sym typeface="+mn-ea"/>
              </a:rPr>
              <a:t>：某一应用程序   </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数据的共享程度</a:t>
            </a:r>
            <a:r>
              <a:rPr lang="zh-CN" altLang="en-US" sz="3000" dirty="0">
                <a:sym typeface="+mn-ea"/>
              </a:rPr>
              <a:t>：无共享、冗余度极大</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数据独立性</a:t>
            </a:r>
            <a:r>
              <a:rPr lang="zh-CN" altLang="en-US" sz="3000" dirty="0">
                <a:sym typeface="+mn-ea"/>
              </a:rPr>
              <a:t>：不独立，完全依赖于程序</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数据结构化</a:t>
            </a:r>
            <a:r>
              <a:rPr lang="zh-CN" altLang="en-US" sz="3000" dirty="0">
                <a:sym typeface="+mn-ea"/>
              </a:rPr>
              <a:t>：无结构</a:t>
            </a:r>
            <a:endParaRPr lang="zh-CN" altLang="en-US" sz="3000" dirty="0"/>
          </a:p>
          <a:p>
            <a:pPr marL="819150" lvl="1" eaLnBrk="1" hangingPunct="1">
              <a:lnSpc>
                <a:spcPct val="150000"/>
              </a:lnSpc>
              <a:spcBef>
                <a:spcPts val="0"/>
              </a:spcBef>
            </a:pPr>
            <a:r>
              <a:rPr lang="zh-CN" altLang="en-US" sz="3000" dirty="0">
                <a:highlight>
                  <a:srgbClr val="FFFF00"/>
                </a:highlight>
                <a:sym typeface="+mn-ea"/>
              </a:rPr>
              <a:t>数据控制能力</a:t>
            </a:r>
            <a:r>
              <a:rPr lang="zh-CN" altLang="en-US" sz="3000" dirty="0">
                <a:sym typeface="+mn-ea"/>
              </a:rPr>
              <a:t>：应用程序自己控制</a:t>
            </a:r>
            <a:endParaRPr lang="zh-CN" altLang="en-US" sz="3000"/>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1</a:t>
            </a:r>
            <a:r>
              <a:rPr lang="zh-CN" altLang="en-US" dirty="0">
                <a:latin typeface="Tahoma" panose="020B0604030504040204" pitchFamily="34" charset="0"/>
                <a:sym typeface="+mn-ea"/>
              </a:rPr>
              <a:t>）</a:t>
            </a:r>
            <a:endParaRPr lang="zh-CN" altLang="en-US" dirty="0">
              <a:latin typeface="Tahoma" panose="020B0604030504040204" pitchFamily="34" charset="0"/>
              <a:sym typeface="+mn-ea"/>
            </a:endParaRPr>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grpSp>
        <p:nvGrpSpPr>
          <p:cNvPr id="25" name="Group 26"/>
          <p:cNvGrpSpPr/>
          <p:nvPr/>
        </p:nvGrpSpPr>
        <p:grpSpPr bwMode="auto">
          <a:xfrm>
            <a:off x="2721199" y="942231"/>
            <a:ext cx="5981228" cy="3529137"/>
            <a:chOff x="960" y="1389"/>
            <a:chExt cx="3599" cy="2087"/>
          </a:xfrm>
        </p:grpSpPr>
        <p:sp>
          <p:nvSpPr>
            <p:cNvPr id="26" name="Text Box 5"/>
            <p:cNvSpPr txBox="1">
              <a:spLocks noChangeArrowheads="1"/>
            </p:cNvSpPr>
            <p:nvPr>
              <p:custDataLst>
                <p:tags r:id="rId1"/>
              </p:custDataLst>
            </p:nvPr>
          </p:nvSpPr>
          <p:spPr bwMode="auto">
            <a:xfrm>
              <a:off x="960" y="1389"/>
              <a:ext cx="1300"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应用程序</a:t>
              </a:r>
              <a:r>
                <a:rPr kumimoji="1" lang="en-US" altLang="zh-CN" sz="2800" b="1">
                  <a:ea typeface="楷体" panose="02010609060101010101" charset="-122"/>
                </a:rPr>
                <a:t> 1</a:t>
              </a:r>
              <a:endParaRPr kumimoji="1" lang="en-US" altLang="zh-CN" sz="2800" b="1">
                <a:ea typeface="楷体" panose="02010609060101010101" charset="-122"/>
              </a:endParaRPr>
            </a:p>
          </p:txBody>
        </p:sp>
        <p:sp>
          <p:nvSpPr>
            <p:cNvPr id="27" name="Text Box 6"/>
            <p:cNvSpPr txBox="1">
              <a:spLocks noChangeArrowheads="1"/>
            </p:cNvSpPr>
            <p:nvPr>
              <p:custDataLst>
                <p:tags r:id="rId2"/>
              </p:custDataLst>
            </p:nvPr>
          </p:nvSpPr>
          <p:spPr bwMode="auto">
            <a:xfrm>
              <a:off x="3307" y="1396"/>
              <a:ext cx="1252"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文件</a:t>
              </a:r>
              <a:r>
                <a:rPr kumimoji="1" lang="en-US" altLang="zh-CN" sz="2800" b="1">
                  <a:ea typeface="楷体" panose="02010609060101010101" charset="-122"/>
                </a:rPr>
                <a:t> 1</a:t>
              </a:r>
              <a:endParaRPr kumimoji="1" lang="en-US" altLang="zh-CN" sz="2800" b="1">
                <a:ea typeface="楷体" panose="02010609060101010101" charset="-122"/>
              </a:endParaRPr>
            </a:p>
          </p:txBody>
        </p:sp>
        <p:sp>
          <p:nvSpPr>
            <p:cNvPr id="28" name="Line 7"/>
            <p:cNvSpPr>
              <a:spLocks noChangeShapeType="1"/>
            </p:cNvSpPr>
            <p:nvPr>
              <p:custDataLst>
                <p:tags r:id="rId3"/>
              </p:custDataLst>
            </p:nvPr>
          </p:nvSpPr>
          <p:spPr bwMode="auto">
            <a:xfrm>
              <a:off x="2260" y="1593"/>
              <a:ext cx="1047"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 name="Text Box 8"/>
            <p:cNvSpPr txBox="1">
              <a:spLocks noChangeArrowheads="1"/>
            </p:cNvSpPr>
            <p:nvPr>
              <p:custDataLst>
                <p:tags r:id="rId4"/>
              </p:custDataLst>
            </p:nvPr>
          </p:nvSpPr>
          <p:spPr bwMode="auto">
            <a:xfrm>
              <a:off x="960" y="1889"/>
              <a:ext cx="1300" cy="297"/>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应用程序</a:t>
              </a:r>
              <a:r>
                <a:rPr kumimoji="1" lang="en-US" altLang="zh-CN" sz="2800" b="1">
                  <a:ea typeface="楷体" panose="02010609060101010101" charset="-122"/>
                </a:rPr>
                <a:t> 2</a:t>
              </a:r>
              <a:endParaRPr kumimoji="1" lang="en-US" altLang="zh-CN" sz="2800" b="1">
                <a:ea typeface="楷体" panose="02010609060101010101" charset="-122"/>
              </a:endParaRPr>
            </a:p>
          </p:txBody>
        </p:sp>
        <p:sp>
          <p:nvSpPr>
            <p:cNvPr id="30" name="Text Box 9"/>
            <p:cNvSpPr txBox="1">
              <a:spLocks noChangeArrowheads="1"/>
            </p:cNvSpPr>
            <p:nvPr>
              <p:custDataLst>
                <p:tags r:id="rId5"/>
              </p:custDataLst>
            </p:nvPr>
          </p:nvSpPr>
          <p:spPr bwMode="auto">
            <a:xfrm>
              <a:off x="3307" y="1889"/>
              <a:ext cx="1252" cy="297"/>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cs typeface="Arial" panose="020B0604020202020204" pitchFamily="34" charset="0"/>
                </a:rPr>
                <a:t>文件</a:t>
              </a:r>
              <a:r>
                <a:rPr kumimoji="1" lang="en-US" altLang="zh-CN" sz="2800" b="1">
                  <a:ea typeface="楷体" panose="02010609060101010101" charset="-122"/>
                  <a:cs typeface="Arial" panose="020B0604020202020204" pitchFamily="34" charset="0"/>
                </a:rPr>
                <a:t> 2</a:t>
              </a:r>
              <a:endParaRPr kumimoji="1" lang="en-US" altLang="zh-CN" sz="2800" b="1">
                <a:ea typeface="楷体" panose="02010609060101010101" charset="-122"/>
                <a:cs typeface="Arial" panose="020B0604020202020204" pitchFamily="34" charset="0"/>
              </a:endParaRPr>
            </a:p>
          </p:txBody>
        </p:sp>
        <p:sp>
          <p:nvSpPr>
            <p:cNvPr id="31" name="Line 10"/>
            <p:cNvSpPr>
              <a:spLocks noChangeShapeType="1"/>
            </p:cNvSpPr>
            <p:nvPr>
              <p:custDataLst>
                <p:tags r:id="rId6"/>
              </p:custDataLst>
            </p:nvPr>
          </p:nvSpPr>
          <p:spPr bwMode="auto">
            <a:xfrm>
              <a:off x="2260" y="2087"/>
              <a:ext cx="1047"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 name="Text Box 11"/>
            <p:cNvSpPr txBox="1">
              <a:spLocks noChangeArrowheads="1"/>
            </p:cNvSpPr>
            <p:nvPr>
              <p:custDataLst>
                <p:tags r:id="rId7"/>
              </p:custDataLst>
            </p:nvPr>
          </p:nvSpPr>
          <p:spPr bwMode="auto">
            <a:xfrm>
              <a:off x="960" y="3180"/>
              <a:ext cx="1300"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应用程序</a:t>
              </a:r>
              <a:r>
                <a:rPr kumimoji="1" lang="en-US" altLang="zh-CN" sz="2800" b="1">
                  <a:ea typeface="楷体" panose="02010609060101010101" charset="-122"/>
                </a:rPr>
                <a:t> n</a:t>
              </a:r>
              <a:endParaRPr kumimoji="1" lang="en-US" altLang="zh-CN" sz="2800" b="1">
                <a:ea typeface="楷体" panose="02010609060101010101" charset="-122"/>
              </a:endParaRPr>
            </a:p>
          </p:txBody>
        </p:sp>
        <p:sp>
          <p:nvSpPr>
            <p:cNvPr id="33" name="Text Box 12"/>
            <p:cNvSpPr txBox="1">
              <a:spLocks noChangeArrowheads="1"/>
            </p:cNvSpPr>
            <p:nvPr>
              <p:custDataLst>
                <p:tags r:id="rId8"/>
              </p:custDataLst>
            </p:nvPr>
          </p:nvSpPr>
          <p:spPr bwMode="auto">
            <a:xfrm>
              <a:off x="3307" y="3177"/>
              <a:ext cx="1252" cy="296"/>
            </a:xfrm>
            <a:prstGeom prst="rect">
              <a:avLst/>
            </a:prstGeom>
            <a:solidFill>
              <a:srgbClr val="FFFFFF"/>
            </a:solidFill>
            <a:ln w="9525">
              <a:solidFill>
                <a:srgbClr val="000000"/>
              </a:solidFill>
              <a:miter lim="800000"/>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cs typeface="Arial" panose="020B0604020202020204" pitchFamily="34" charset="0"/>
                </a:rPr>
                <a:t>文件</a:t>
              </a:r>
              <a:r>
                <a:rPr kumimoji="1" lang="en-US" altLang="zh-CN" sz="2800" b="1">
                  <a:ea typeface="楷体" panose="02010609060101010101" charset="-122"/>
                  <a:cs typeface="Arial" panose="020B0604020202020204" pitchFamily="34" charset="0"/>
                </a:rPr>
                <a:t> n</a:t>
              </a:r>
              <a:endParaRPr kumimoji="1" lang="en-US" altLang="zh-CN" sz="2800" b="1">
                <a:ea typeface="楷体" panose="02010609060101010101" charset="-122"/>
                <a:cs typeface="Arial" panose="020B0604020202020204" pitchFamily="34" charset="0"/>
              </a:endParaRPr>
            </a:p>
          </p:txBody>
        </p:sp>
        <p:sp>
          <p:nvSpPr>
            <p:cNvPr id="34" name="Line 13"/>
            <p:cNvSpPr>
              <a:spLocks noChangeShapeType="1"/>
            </p:cNvSpPr>
            <p:nvPr>
              <p:custDataLst>
                <p:tags r:id="rId9"/>
              </p:custDataLst>
            </p:nvPr>
          </p:nvSpPr>
          <p:spPr bwMode="auto">
            <a:xfrm flipV="1">
              <a:off x="2260" y="3374"/>
              <a:ext cx="1047" cy="4"/>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5" name="Oval 14"/>
            <p:cNvSpPr>
              <a:spLocks noChangeArrowheads="1"/>
            </p:cNvSpPr>
            <p:nvPr>
              <p:custDataLst>
                <p:tags r:id="rId10"/>
              </p:custDataLst>
            </p:nvPr>
          </p:nvSpPr>
          <p:spPr bwMode="auto">
            <a:xfrm>
              <a:off x="2422" y="2382"/>
              <a:ext cx="781" cy="611"/>
            </a:xfrm>
            <a:prstGeom prst="ellipse">
              <a:avLst/>
            </a:prstGeom>
            <a:solidFill>
              <a:srgbClr val="FFFFFF"/>
            </a:solidFill>
            <a:ln w="9525">
              <a:solidFill>
                <a:srgbClr val="000000"/>
              </a:solidFill>
              <a:round/>
            </a:ln>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ea typeface="楷体" panose="02010609060101010101" charset="-122"/>
                </a:rPr>
                <a:t>存取方法</a:t>
              </a:r>
              <a:endParaRPr kumimoji="1" lang="zh-CN" altLang="en-US" sz="2800" b="1">
                <a:ea typeface="楷体" panose="02010609060101010101" charset="-122"/>
              </a:endParaRPr>
            </a:p>
          </p:txBody>
        </p:sp>
        <p:sp>
          <p:nvSpPr>
            <p:cNvPr id="36" name="Line 15"/>
            <p:cNvSpPr>
              <a:spLocks noChangeShapeType="1"/>
            </p:cNvSpPr>
            <p:nvPr>
              <p:custDataLst>
                <p:tags r:id="rId11"/>
              </p:custDataLst>
            </p:nvPr>
          </p:nvSpPr>
          <p:spPr bwMode="auto">
            <a:xfrm>
              <a:off x="2260" y="1691"/>
              <a:ext cx="403" cy="6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16"/>
            <p:cNvSpPr>
              <a:spLocks noChangeShapeType="1"/>
            </p:cNvSpPr>
            <p:nvPr>
              <p:custDataLst>
                <p:tags r:id="rId12"/>
              </p:custDataLst>
            </p:nvPr>
          </p:nvSpPr>
          <p:spPr bwMode="auto">
            <a:xfrm flipH="1">
              <a:off x="2905" y="1691"/>
              <a:ext cx="402" cy="6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17"/>
            <p:cNvSpPr>
              <a:spLocks noChangeShapeType="1"/>
            </p:cNvSpPr>
            <p:nvPr>
              <p:custDataLst>
                <p:tags r:id="rId13"/>
              </p:custDataLst>
            </p:nvPr>
          </p:nvSpPr>
          <p:spPr bwMode="auto">
            <a:xfrm>
              <a:off x="2260" y="2185"/>
              <a:ext cx="242" cy="29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18"/>
            <p:cNvSpPr>
              <a:spLocks noChangeShapeType="1"/>
            </p:cNvSpPr>
            <p:nvPr>
              <p:custDataLst>
                <p:tags r:id="rId14"/>
              </p:custDataLst>
            </p:nvPr>
          </p:nvSpPr>
          <p:spPr bwMode="auto">
            <a:xfrm flipH="1">
              <a:off x="3065" y="2185"/>
              <a:ext cx="242" cy="29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Freeform 19"/>
            <p:cNvSpPr/>
            <p:nvPr>
              <p:custDataLst>
                <p:tags r:id="rId15"/>
              </p:custDataLst>
            </p:nvPr>
          </p:nvSpPr>
          <p:spPr bwMode="auto">
            <a:xfrm>
              <a:off x="2260" y="2941"/>
              <a:ext cx="317" cy="236"/>
            </a:xfrm>
            <a:custGeom>
              <a:avLst/>
              <a:gdLst>
                <a:gd name="T0" fmla="*/ 0 w 413"/>
                <a:gd name="T1" fmla="*/ 1 h 374"/>
                <a:gd name="T2" fmla="*/ 2 w 413"/>
                <a:gd name="T3" fmla="*/ 0 h 374"/>
                <a:gd name="T4" fmla="*/ 0 60000 65536"/>
                <a:gd name="T5" fmla="*/ 0 60000 65536"/>
                <a:gd name="T6" fmla="*/ 0 w 413"/>
                <a:gd name="T7" fmla="*/ 0 h 374"/>
                <a:gd name="T8" fmla="*/ 413 w 413"/>
                <a:gd name="T9" fmla="*/ 374 h 374"/>
              </a:gdLst>
              <a:ahLst/>
              <a:cxnLst>
                <a:cxn ang="T4">
                  <a:pos x="T0" y="T1"/>
                </a:cxn>
                <a:cxn ang="T5">
                  <a:pos x="T2" y="T3"/>
                </a:cxn>
              </a:cxnLst>
              <a:rect l="T6" t="T7" r="T8" b="T9"/>
              <a:pathLst>
                <a:path w="413" h="374">
                  <a:moveTo>
                    <a:pt x="0" y="374"/>
                  </a:moveTo>
                  <a:lnTo>
                    <a:pt x="413"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a:ea typeface="楷体" panose="02010609060101010101" charset="-122"/>
                <a:cs typeface="Arial" panose="020B0604020202020204" pitchFamily="34" charset="0"/>
              </a:endParaRPr>
            </a:p>
          </p:txBody>
        </p:sp>
        <p:sp>
          <p:nvSpPr>
            <p:cNvPr id="41" name="Freeform 20"/>
            <p:cNvSpPr/>
            <p:nvPr>
              <p:custDataLst>
                <p:tags r:id="rId16"/>
              </p:custDataLst>
            </p:nvPr>
          </p:nvSpPr>
          <p:spPr bwMode="auto">
            <a:xfrm>
              <a:off x="3067" y="2932"/>
              <a:ext cx="241" cy="242"/>
            </a:xfrm>
            <a:custGeom>
              <a:avLst/>
              <a:gdLst>
                <a:gd name="T0" fmla="*/ 2 w 314"/>
                <a:gd name="T1" fmla="*/ 1 h 384"/>
                <a:gd name="T2" fmla="*/ 0 w 314"/>
                <a:gd name="T3" fmla="*/ 0 h 384"/>
                <a:gd name="T4" fmla="*/ 0 60000 65536"/>
                <a:gd name="T5" fmla="*/ 0 60000 65536"/>
                <a:gd name="T6" fmla="*/ 0 w 314"/>
                <a:gd name="T7" fmla="*/ 0 h 384"/>
                <a:gd name="T8" fmla="*/ 314 w 314"/>
                <a:gd name="T9" fmla="*/ 384 h 384"/>
              </a:gdLst>
              <a:ahLst/>
              <a:cxnLst>
                <a:cxn ang="T4">
                  <a:pos x="T0" y="T1"/>
                </a:cxn>
                <a:cxn ang="T5">
                  <a:pos x="T2" y="T3"/>
                </a:cxn>
              </a:cxnLst>
              <a:rect l="T6" t="T7" r="T8" b="T9"/>
              <a:pathLst>
                <a:path w="314" h="384">
                  <a:moveTo>
                    <a:pt x="314" y="384"/>
                  </a:moveTo>
                  <a:lnTo>
                    <a:pt x="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a:ea typeface="楷体" panose="02010609060101010101" charset="-122"/>
                <a:cs typeface="Arial" panose="020B0604020202020204" pitchFamily="34" charset="0"/>
              </a:endParaRPr>
            </a:p>
          </p:txBody>
        </p:sp>
        <p:sp>
          <p:nvSpPr>
            <p:cNvPr id="42" name="Text Box 21"/>
            <p:cNvSpPr txBox="1">
              <a:spLocks noChangeArrowheads="1"/>
            </p:cNvSpPr>
            <p:nvPr>
              <p:custDataLst>
                <p:tags r:id="rId17"/>
              </p:custDataLst>
            </p:nvPr>
          </p:nvSpPr>
          <p:spPr bwMode="auto">
            <a:xfrm>
              <a:off x="1534" y="2452"/>
              <a:ext cx="369"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ea typeface="楷体" panose="02010609060101010101" charset="-122"/>
                  <a:cs typeface="Arial" panose="020B0604020202020204" pitchFamily="34" charset="0"/>
                </a:rPr>
                <a:t>...</a:t>
              </a:r>
              <a:r>
                <a:rPr kumimoji="1" lang="en-US" altLang="zh-CN" sz="2800" b="1">
                  <a:ea typeface="楷体" panose="02010609060101010101" charset="-122"/>
                  <a:cs typeface="Arial" panose="020B0604020202020204" pitchFamily="34" charset="0"/>
                  <a:sym typeface="+mn-ea"/>
                </a:rPr>
                <a:t>...</a:t>
              </a:r>
              <a:endParaRPr kumimoji="1" lang="en-US" altLang="zh-CN" sz="2800" b="1">
                <a:ea typeface="楷体" panose="02010609060101010101" charset="-122"/>
                <a:cs typeface="Arial" panose="020B0604020202020204" pitchFamily="34" charset="0"/>
              </a:endParaRPr>
            </a:p>
          </p:txBody>
        </p:sp>
        <p:sp>
          <p:nvSpPr>
            <p:cNvPr id="43" name="Text Box 22"/>
            <p:cNvSpPr txBox="1">
              <a:spLocks noChangeArrowheads="1"/>
            </p:cNvSpPr>
            <p:nvPr>
              <p:custDataLst>
                <p:tags r:id="rId18"/>
              </p:custDataLst>
            </p:nvPr>
          </p:nvSpPr>
          <p:spPr bwMode="auto">
            <a:xfrm>
              <a:off x="3751" y="2452"/>
              <a:ext cx="369"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ea typeface="楷体" panose="02010609060101010101" charset="-122"/>
                  <a:cs typeface="Arial" panose="020B0604020202020204" pitchFamily="34" charset="0"/>
                </a:rPr>
                <a:t>...</a:t>
              </a:r>
              <a:r>
                <a:rPr kumimoji="1" lang="en-US" altLang="zh-CN" sz="2800" b="1">
                  <a:ea typeface="楷体" panose="02010609060101010101" charset="-122"/>
                  <a:cs typeface="Arial" panose="020B0604020202020204" pitchFamily="34" charset="0"/>
                  <a:sym typeface="+mn-ea"/>
                </a:rPr>
                <a:t>...</a:t>
              </a:r>
              <a:endParaRPr kumimoji="1" lang="en-US" altLang="zh-CN" sz="2800" b="1">
                <a:ea typeface="楷体" panose="02010609060101010101" charset="-122"/>
                <a:cs typeface="Arial" panose="020B0604020202020204" pitchFamily="34" charset="0"/>
              </a:endParaRPr>
            </a:p>
          </p:txBody>
        </p:sp>
      </p:grpSp>
      <p:sp>
        <p:nvSpPr>
          <p:cNvPr id="7" name="文本框 6"/>
          <p:cNvSpPr txBox="1"/>
          <p:nvPr>
            <p:custDataLst>
              <p:tags r:id="rId19"/>
            </p:custDataLst>
          </p:nvPr>
        </p:nvSpPr>
        <p:spPr>
          <a:xfrm>
            <a:off x="566420" y="5262880"/>
            <a:ext cx="10894695" cy="553085"/>
          </a:xfrm>
          <a:prstGeom prst="rect">
            <a:avLst/>
          </a:prstGeom>
          <a:noFill/>
        </p:spPr>
        <p:txBody>
          <a:bodyPr wrap="square" rtlCol="0">
            <a:spAutoFit/>
          </a:bodyPr>
          <a:p>
            <a:pPr algn="ctr"/>
            <a:r>
              <a:rPr lang="zh-CN" altLang="en-US" sz="3000" b="1">
                <a:solidFill>
                  <a:srgbClr val="1F2DA8"/>
                </a:solidFill>
                <a:latin typeface="楷体" panose="02010609060101010101" charset="-122"/>
                <a:ea typeface="楷体" panose="02010609060101010101" charset="-122"/>
                <a:cs typeface="楷体" panose="02010609060101010101" charset="-122"/>
              </a:rPr>
              <a:t>图</a:t>
            </a:r>
            <a:r>
              <a:rPr lang="en-US" altLang="zh-CN" sz="3000" b="1">
                <a:solidFill>
                  <a:srgbClr val="1F2DA8"/>
                </a:solidFill>
                <a:latin typeface="楷体" panose="02010609060101010101" charset="-122"/>
                <a:ea typeface="楷体" panose="02010609060101010101" charset="-122"/>
                <a:cs typeface="楷体" panose="02010609060101010101" charset="-122"/>
              </a:rPr>
              <a:t>1.4  </a:t>
            </a:r>
            <a:r>
              <a:rPr lang="zh-CN" altLang="en-US" sz="3000" b="1">
                <a:solidFill>
                  <a:srgbClr val="1F2DA8"/>
                </a:solidFill>
                <a:latin typeface="楷体" panose="02010609060101010101" charset="-122"/>
                <a:ea typeface="楷体" panose="02010609060101010101" charset="-122"/>
                <a:cs typeface="楷体" panose="02010609060101010101" charset="-122"/>
              </a:rPr>
              <a:t>文件</a:t>
            </a:r>
            <a:r>
              <a:rPr lang="zh-CN" altLang="en-US" sz="3000" b="1">
                <a:solidFill>
                  <a:srgbClr val="1F2DA8"/>
                </a:solidFill>
                <a:latin typeface="楷体" panose="02010609060101010101" charset="-122"/>
                <a:ea typeface="楷体" panose="02010609060101010101" charset="-122"/>
                <a:cs typeface="楷体" panose="02010609060101010101" charset="-122"/>
              </a:rPr>
              <a:t>系统阶段应用程序与数据之间的对应关系</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2</a:t>
            </a:r>
            <a:r>
              <a:rPr lang="zh-CN" altLang="en-US" dirty="0">
                <a:latin typeface="Tahoma" panose="020B0604030504040204" pitchFamily="34" charset="0"/>
                <a:sym typeface="+mn-ea"/>
              </a:rPr>
              <a:t>）</a:t>
            </a:r>
            <a:endParaRPr lang="zh-CN" altLang="en-US"/>
          </a:p>
        </p:txBody>
      </p:sp>
      <p:sp>
        <p:nvSpPr>
          <p:cNvPr id="5" name="内容占位符 4"/>
          <p:cNvSpPr>
            <a:spLocks noGrp="1"/>
          </p:cNvSpPr>
          <p:nvPr>
            <p:ph idx="1"/>
          </p:nvPr>
        </p:nvSpPr>
        <p:spPr/>
        <p:txBody>
          <a:bodyPr/>
          <a:p>
            <a:pPr>
              <a:lnSpc>
                <a:spcPct val="150000"/>
              </a:lnSpc>
            </a:pPr>
            <a:r>
              <a:rPr lang="zh-CN" altLang="en-US" sz="3000" dirty="0">
                <a:sym typeface="+mn-ea"/>
              </a:rPr>
              <a:t>特点</a:t>
            </a:r>
            <a:endParaRPr lang="zh-CN" altLang="en-US" sz="3000" dirty="0"/>
          </a:p>
          <a:p>
            <a:pPr lvl="1">
              <a:lnSpc>
                <a:spcPct val="150000"/>
              </a:lnSpc>
            </a:pPr>
            <a:r>
              <a:rPr lang="zh-CN" altLang="en-US" sz="3000" dirty="0">
                <a:highlight>
                  <a:srgbClr val="FFFF00"/>
                </a:highlight>
                <a:sym typeface="+mn-ea"/>
              </a:rPr>
              <a:t>数据的管理者</a:t>
            </a:r>
            <a:r>
              <a:rPr lang="zh-CN" altLang="en-US" sz="3000" dirty="0">
                <a:sym typeface="+mn-ea"/>
              </a:rPr>
              <a:t>：文件系统，数据可长期保存</a:t>
            </a:r>
            <a:endParaRPr lang="zh-CN" altLang="en-US" sz="3000" dirty="0"/>
          </a:p>
          <a:p>
            <a:pPr lvl="1">
              <a:lnSpc>
                <a:spcPct val="150000"/>
              </a:lnSpc>
            </a:pPr>
            <a:r>
              <a:rPr lang="zh-CN" altLang="en-US" sz="3000" dirty="0">
                <a:highlight>
                  <a:srgbClr val="FFFF00"/>
                </a:highlight>
                <a:sym typeface="+mn-ea"/>
              </a:rPr>
              <a:t>数据面向的对象</a:t>
            </a:r>
            <a:r>
              <a:rPr lang="zh-CN" altLang="en-US" sz="3000" dirty="0">
                <a:sym typeface="+mn-ea"/>
              </a:rPr>
              <a:t>：某一应用   </a:t>
            </a:r>
            <a:endParaRPr lang="zh-CN" altLang="en-US" sz="3000" dirty="0"/>
          </a:p>
          <a:p>
            <a:pPr lvl="1">
              <a:lnSpc>
                <a:spcPct val="150000"/>
              </a:lnSpc>
            </a:pPr>
            <a:r>
              <a:rPr lang="zh-CN" altLang="en-US" sz="3000" dirty="0">
                <a:highlight>
                  <a:srgbClr val="FFFF00"/>
                </a:highlight>
                <a:sym typeface="+mn-ea"/>
              </a:rPr>
              <a:t>数据的共享程度</a:t>
            </a:r>
            <a:r>
              <a:rPr lang="zh-CN" altLang="en-US" sz="3000" dirty="0">
                <a:sym typeface="+mn-ea"/>
              </a:rPr>
              <a:t>：共享性差、冗余度大</a:t>
            </a:r>
            <a:endParaRPr lang="zh-CN" altLang="en-US" sz="3000" dirty="0"/>
          </a:p>
          <a:p>
            <a:pPr lvl="1">
              <a:lnSpc>
                <a:spcPct val="150000"/>
              </a:lnSpc>
            </a:pPr>
            <a:r>
              <a:rPr lang="zh-CN" altLang="en-US" sz="3000" dirty="0">
                <a:highlight>
                  <a:srgbClr val="FFFF00"/>
                </a:highlight>
                <a:sym typeface="+mn-ea"/>
              </a:rPr>
              <a:t>数据的结构化</a:t>
            </a:r>
            <a:r>
              <a:rPr lang="zh-CN" altLang="en-US" sz="3000" dirty="0">
                <a:sym typeface="+mn-ea"/>
              </a:rPr>
              <a:t>：记录内有结构，整体无结构</a:t>
            </a:r>
            <a:endParaRPr lang="zh-CN" altLang="en-US" sz="3000" dirty="0"/>
          </a:p>
          <a:p>
            <a:pPr lvl="1">
              <a:lnSpc>
                <a:spcPct val="150000"/>
              </a:lnSpc>
            </a:pPr>
            <a:r>
              <a:rPr lang="zh-CN" altLang="en-US" sz="3000" dirty="0">
                <a:highlight>
                  <a:srgbClr val="FFFF00"/>
                </a:highlight>
                <a:sym typeface="+mn-ea"/>
              </a:rPr>
              <a:t>数据的独立性</a:t>
            </a:r>
            <a:r>
              <a:rPr lang="zh-CN" altLang="en-US" sz="3000" dirty="0">
                <a:sym typeface="+mn-ea"/>
              </a:rPr>
              <a:t>：独立性差</a:t>
            </a:r>
            <a:endParaRPr lang="zh-CN" altLang="en-US" sz="3000" dirty="0"/>
          </a:p>
          <a:p>
            <a:pPr lvl="1">
              <a:lnSpc>
                <a:spcPct val="150000"/>
              </a:lnSpc>
            </a:pPr>
            <a:r>
              <a:rPr lang="zh-CN" altLang="en-US" sz="3000" dirty="0">
                <a:highlight>
                  <a:srgbClr val="FFFF00"/>
                </a:highlight>
                <a:sym typeface="+mn-ea"/>
              </a:rPr>
              <a:t>数据控制能力</a:t>
            </a:r>
            <a:r>
              <a:rPr lang="zh-CN" altLang="en-US" sz="3000" dirty="0">
                <a:sym typeface="+mn-ea"/>
              </a:rPr>
              <a:t>：应用程序自己控制</a:t>
            </a:r>
            <a:endParaRPr lang="zh-CN" altLang="en-US"/>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3</a:t>
            </a:r>
            <a:r>
              <a:rPr lang="zh-CN" altLang="en-US" dirty="0">
                <a:latin typeface="Tahoma" panose="020B0604030504040204" pitchFamily="34" charset="0"/>
                <a:sym typeface="+mn-ea"/>
              </a:rPr>
              <a:t>）</a:t>
            </a:r>
            <a:endParaRPr lang="zh-CN" altLang="en-US"/>
          </a:p>
        </p:txBody>
      </p:sp>
      <p:sp>
        <p:nvSpPr>
          <p:cNvPr id="3" name="内容占位符 2"/>
          <p:cNvSpPr>
            <a:spLocks noGrp="1"/>
          </p:cNvSpPr>
          <p:nvPr>
            <p:ph idx="1"/>
          </p:nvPr>
        </p:nvSpPr>
        <p:spPr/>
        <p:txBody>
          <a:bodyPr/>
          <a:p>
            <a:pPr>
              <a:lnSpc>
                <a:spcPct val="100000"/>
              </a:lnSpc>
            </a:pPr>
            <a:r>
              <a:rPr lang="zh-CN" altLang="en-US" dirty="0">
                <a:cs typeface="楷体" panose="02010609060101010101" charset="-122"/>
                <a:sym typeface="+mn-ea"/>
              </a:rPr>
              <a:t>利用文件系统可以实现简单的数据管理和数据共享，但无法提供完整统一的数据管理功能和并发控制等多用户数据共享</a:t>
            </a:r>
            <a:r>
              <a:rPr lang="zh-CN" altLang="en-US" dirty="0">
                <a:cs typeface="楷体" panose="02010609060101010101" charset="-122"/>
                <a:sym typeface="+mn-ea"/>
              </a:rPr>
              <a:t>功能。</a:t>
            </a:r>
            <a:endParaRPr lang="zh-CN" altLang="en-US" dirty="0">
              <a:cs typeface="楷体" panose="02010609060101010101" charset="-122"/>
              <a:sym typeface="+mn-ea"/>
            </a:endParaRPr>
          </a:p>
          <a:p>
            <a:pPr>
              <a:lnSpc>
                <a:spcPct val="100000"/>
              </a:lnSpc>
              <a:spcBef>
                <a:spcPts val="2000"/>
              </a:spcBef>
            </a:pPr>
            <a:r>
              <a:rPr lang="zh-CN" altLang="en-US"/>
              <a:t>例如：</a:t>
            </a:r>
            <a:endParaRPr lang="zh-CN" altLang="en-US"/>
          </a:p>
          <a:p>
            <a:pPr lvl="1">
              <a:lnSpc>
                <a:spcPct val="100000"/>
              </a:lnSpc>
              <a:spcBef>
                <a:spcPts val="1000"/>
              </a:spcBef>
            </a:pPr>
            <a:r>
              <a:rPr lang="zh-CN" altLang="en-US">
                <a:solidFill>
                  <a:srgbClr val="FF0000"/>
                </a:solidFill>
              </a:rPr>
              <a:t>对象持久化</a:t>
            </a:r>
            <a:endParaRPr lang="zh-CN" altLang="en-US"/>
          </a:p>
          <a:p>
            <a:pPr lvl="2">
              <a:lnSpc>
                <a:spcPct val="100000"/>
              </a:lnSpc>
              <a:spcBef>
                <a:spcPts val="1000"/>
              </a:spcBef>
            </a:pPr>
            <a:r>
              <a:rPr lang="en-US" altLang="zh-CN"/>
              <a:t>C++</a:t>
            </a:r>
            <a:r>
              <a:rPr lang="zh-CN" altLang="en-US"/>
              <a:t>的持久对象存储</a:t>
            </a:r>
            <a:endParaRPr lang="zh-CN" altLang="en-US"/>
          </a:p>
          <a:p>
            <a:pPr lvl="2">
              <a:lnSpc>
                <a:spcPct val="100000"/>
              </a:lnSpc>
              <a:spcBef>
                <a:spcPts val="1000"/>
              </a:spcBef>
            </a:pPr>
            <a:r>
              <a:rPr lang="en-US" altLang="zh-CN" dirty="0">
                <a:sym typeface="+mn-ea"/>
              </a:rPr>
              <a:t>Java</a:t>
            </a:r>
            <a:r>
              <a:rPr lang="zh-CN" altLang="en-US" dirty="0">
                <a:sym typeface="+mn-ea"/>
              </a:rPr>
              <a:t>对象的序列化</a:t>
            </a:r>
            <a:r>
              <a:rPr lang="en-US" altLang="zh-CN" dirty="0">
                <a:sym typeface="+mn-ea"/>
              </a:rPr>
              <a:t>/</a:t>
            </a:r>
            <a:r>
              <a:rPr lang="zh-CN" altLang="en-US" dirty="0">
                <a:sym typeface="+mn-ea"/>
              </a:rPr>
              <a:t>反序列化</a:t>
            </a:r>
            <a:endParaRPr lang="zh-CN" altLang="en-US" dirty="0">
              <a:sym typeface="+mn-ea"/>
            </a:endParaRPr>
          </a:p>
          <a:p>
            <a:pPr lvl="1">
              <a:lnSpc>
                <a:spcPct val="100000"/>
              </a:lnSpc>
              <a:spcBef>
                <a:spcPts val="2000"/>
              </a:spcBef>
            </a:pPr>
            <a:r>
              <a:rPr lang="en-US" altLang="zh-CN" dirty="0">
                <a:solidFill>
                  <a:srgbClr val="FF0000"/>
                </a:solidFill>
                <a:sym typeface="+mn-ea"/>
              </a:rPr>
              <a:t>基于文本的数据共享</a:t>
            </a:r>
            <a:endParaRPr lang="zh-CN" altLang="en-US" dirty="0">
              <a:sym typeface="+mn-ea"/>
            </a:endParaRPr>
          </a:p>
          <a:p>
            <a:pPr lvl="2">
              <a:lnSpc>
                <a:spcPct val="100000"/>
              </a:lnSpc>
              <a:spcBef>
                <a:spcPts val="1000"/>
              </a:spcBef>
            </a:pPr>
            <a:r>
              <a:rPr lang="en-US" altLang="zh-CN" dirty="0">
                <a:solidFill>
                  <a:srgbClr val="1F2DA8"/>
                </a:solidFill>
                <a:sym typeface="+mn-ea"/>
              </a:rPr>
              <a:t>XML</a:t>
            </a:r>
            <a:endParaRPr lang="en-US" altLang="zh-CN" dirty="0">
              <a:solidFill>
                <a:srgbClr val="1F2DA8"/>
              </a:solidFill>
              <a:sym typeface="+mn-ea"/>
            </a:endParaRPr>
          </a:p>
          <a:p>
            <a:pPr lvl="2">
              <a:lnSpc>
                <a:spcPct val="100000"/>
              </a:lnSpc>
              <a:spcBef>
                <a:spcPts val="1000"/>
              </a:spcBef>
            </a:pPr>
            <a:r>
              <a:rPr lang="en-US" altLang="zh-CN" dirty="0">
                <a:solidFill>
                  <a:srgbClr val="1F2DA8"/>
                </a:solidFill>
                <a:sym typeface="+mn-ea"/>
              </a:rPr>
              <a:t>JSON</a:t>
            </a:r>
            <a:endParaRPr lang="zh-CN" altLang="en-US" dirty="0">
              <a:solidFill>
                <a:srgbClr val="1F2DA8"/>
              </a:solidFill>
              <a:sym typeface="+mn-ea"/>
            </a:endParaRPr>
          </a:p>
          <a:p>
            <a:pPr lvl="2">
              <a:lnSpc>
                <a:spcPct val="100000"/>
              </a:lnSpc>
              <a:spcBef>
                <a:spcPts val="1000"/>
              </a:spcBef>
            </a:pPr>
            <a:r>
              <a:rPr lang="en-US" altLang="zh-CN" dirty="0">
                <a:solidFill>
                  <a:srgbClr val="1F2DA8"/>
                </a:solidFill>
                <a:sym typeface="+mn-ea"/>
              </a:rPr>
              <a:t>K/V</a:t>
            </a:r>
            <a:endParaRPr lang="zh-CN" altLang="en-US" dirty="0">
              <a:solidFill>
                <a:srgbClr val="1F2DA8"/>
              </a:solidFill>
              <a:sym typeface="+mn-ea"/>
            </a:endParaRPr>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linds(horizontal)">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linds(horizontal)">
                                      <p:cBhvr>
                                        <p:cTn id="25" dur="500"/>
                                        <p:tgtEl>
                                          <p:spTgt spid="3">
                                            <p:txEl>
                                              <p:pRg st="5" end="5"/>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blinds(horizontal)">
                                      <p:cBhvr>
                                        <p:cTn id="28" dur="500"/>
                                        <p:tgtEl>
                                          <p:spTgt spid="3">
                                            <p:txEl>
                                              <p:pRg st="6" end="6"/>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blinds(horizontal)">
                                      <p:cBhvr>
                                        <p:cTn id="31" dur="500"/>
                                        <p:tgtEl>
                                          <p:spTgt spid="3">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blinds(horizontal)">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数据管理</a:t>
            </a:r>
            <a:r>
              <a:rPr lang="en-US" altLang="zh-CN" dirty="0">
                <a:sym typeface="+mn-ea"/>
              </a:rPr>
              <a:t> - </a:t>
            </a:r>
            <a:r>
              <a:rPr lang="zh-CN" altLang="en-US" dirty="0">
                <a:latin typeface="Tahoma" panose="020B0604030504040204" pitchFamily="34" charset="0"/>
                <a:sym typeface="+mn-ea"/>
              </a:rPr>
              <a:t>文件系统（</a:t>
            </a:r>
            <a:r>
              <a:rPr lang="en-US" altLang="zh-CN" dirty="0">
                <a:latin typeface="Tahoma" panose="020B0604030504040204" pitchFamily="34" charset="0"/>
                <a:sym typeface="+mn-ea"/>
              </a:rPr>
              <a:t>4</a:t>
            </a:r>
            <a:r>
              <a:rPr lang="zh-CN" altLang="en-US" dirty="0">
                <a:latin typeface="Tahoma" panose="020B0604030504040204" pitchFamily="34" charset="0"/>
                <a:sym typeface="+mn-ea"/>
              </a:rPr>
              <a:t>）</a:t>
            </a:r>
            <a:endParaRPr lang="zh-CN" altLang="en-US"/>
          </a:p>
        </p:txBody>
      </p:sp>
      <p:sp>
        <p:nvSpPr>
          <p:cNvPr id="3" name="内容占位符 2"/>
          <p:cNvSpPr>
            <a:spLocks noGrp="1"/>
          </p:cNvSpPr>
          <p:nvPr>
            <p:ph idx="1"/>
          </p:nvPr>
        </p:nvSpPr>
        <p:spPr/>
        <p:txBody>
          <a:bodyPr/>
          <a:p>
            <a:pPr lvl="0">
              <a:lnSpc>
                <a:spcPct val="100000"/>
              </a:lnSpc>
              <a:spcBef>
                <a:spcPts val="2000"/>
              </a:spcBef>
            </a:pPr>
            <a:r>
              <a:rPr lang="zh-CN" altLang="en-US" dirty="0">
                <a:sym typeface="+mn-ea"/>
              </a:rPr>
              <a:t>在前述多个应用共享</a:t>
            </a:r>
            <a:r>
              <a:rPr lang="zh-CN" altLang="en-US" dirty="0">
                <a:sym typeface="+mn-ea"/>
              </a:rPr>
              <a:t>数据的前提下：</a:t>
            </a:r>
            <a:endParaRPr lang="en-US" altLang="zh-CN" dirty="0"/>
          </a:p>
          <a:p>
            <a:pPr lvl="1">
              <a:lnSpc>
                <a:spcPct val="100000"/>
              </a:lnSpc>
              <a:spcBef>
                <a:spcPts val="1500"/>
              </a:spcBef>
            </a:pPr>
            <a:r>
              <a:rPr lang="zh-CN" altLang="en-US" dirty="0">
                <a:sym typeface="+mn-ea"/>
              </a:rPr>
              <a:t>谁来负责定义和管理这些</a:t>
            </a:r>
            <a:r>
              <a:rPr lang="zh-CN" altLang="en-US" dirty="0">
                <a:sym typeface="+mn-ea"/>
              </a:rPr>
              <a:t>数据？</a:t>
            </a:r>
            <a:endParaRPr lang="zh-CN" altLang="en-US" dirty="0">
              <a:sym typeface="+mn-ea"/>
            </a:endParaRPr>
          </a:p>
          <a:p>
            <a:pPr lvl="1">
              <a:lnSpc>
                <a:spcPct val="100000"/>
              </a:lnSpc>
              <a:spcBef>
                <a:spcPts val="1500"/>
              </a:spcBef>
            </a:pPr>
            <a:r>
              <a:rPr lang="zh-CN" altLang="en-US" dirty="0">
                <a:sym typeface="+mn-ea"/>
              </a:rPr>
              <a:t>如何确保数据结构和存储机制对于所有应用来说都是可以接受的？</a:t>
            </a:r>
            <a:endParaRPr lang="en-US" altLang="zh-CN" dirty="0"/>
          </a:p>
          <a:p>
            <a:pPr lvl="1">
              <a:lnSpc>
                <a:spcPct val="100000"/>
              </a:lnSpc>
              <a:spcBef>
                <a:spcPts val="1500"/>
              </a:spcBef>
            </a:pPr>
            <a:r>
              <a:rPr lang="zh-CN" altLang="en-US" dirty="0">
                <a:sym typeface="+mn-ea"/>
              </a:rPr>
              <a:t>如何确保数据安全性、完整性？</a:t>
            </a:r>
            <a:endParaRPr lang="en-US" altLang="zh-CN" dirty="0"/>
          </a:p>
          <a:p>
            <a:pPr lvl="1">
              <a:lnSpc>
                <a:spcPct val="100000"/>
              </a:lnSpc>
              <a:spcBef>
                <a:spcPts val="1500"/>
              </a:spcBef>
            </a:pPr>
            <a:r>
              <a:rPr lang="zh-CN" altLang="en-US" dirty="0">
                <a:sym typeface="+mn-ea"/>
              </a:rPr>
              <a:t>如何</a:t>
            </a:r>
            <a:r>
              <a:rPr lang="zh-CN" altLang="en-US" dirty="0">
                <a:sym typeface="+mn-ea"/>
              </a:rPr>
              <a:t>实现并发访问下的</a:t>
            </a:r>
            <a:r>
              <a:rPr lang="zh-CN" altLang="en-US" dirty="0">
                <a:sym typeface="+mn-ea"/>
              </a:rPr>
              <a:t>数据一致性</a:t>
            </a:r>
            <a:r>
              <a:rPr lang="zh-CN" altLang="en-US" dirty="0">
                <a:sym typeface="+mn-ea"/>
              </a:rPr>
              <a:t>？</a:t>
            </a:r>
            <a:endParaRPr lang="en-US" altLang="zh-CN" dirty="0"/>
          </a:p>
          <a:p>
            <a:pPr lvl="1">
              <a:lnSpc>
                <a:spcPct val="100000"/>
              </a:lnSpc>
              <a:spcBef>
                <a:spcPts val="1500"/>
              </a:spcBef>
            </a:pPr>
            <a:r>
              <a:rPr lang="zh-CN" altLang="en-US" dirty="0">
                <a:sym typeface="+mn-ea"/>
              </a:rPr>
              <a:t>如何</a:t>
            </a:r>
            <a:r>
              <a:rPr lang="zh-CN" altLang="en-US" dirty="0">
                <a:sym typeface="+mn-ea"/>
              </a:rPr>
              <a:t>实现数据持久性（故障</a:t>
            </a:r>
            <a:r>
              <a:rPr lang="zh-CN" altLang="en-US" dirty="0">
                <a:sym typeface="+mn-ea"/>
              </a:rPr>
              <a:t>恢复）？</a:t>
            </a:r>
            <a:endParaRPr lang="zh-CN" altLang="en-US" dirty="0">
              <a:sym typeface="+mn-ea"/>
            </a:endParaRPr>
          </a:p>
          <a:p>
            <a:pPr lvl="1">
              <a:lnSpc>
                <a:spcPct val="100000"/>
              </a:lnSpc>
              <a:spcBef>
                <a:spcPts val="1500"/>
              </a:spcBef>
            </a:pPr>
            <a:r>
              <a:rPr lang="zh-CN" altLang="en-US" dirty="0">
                <a:sym typeface="+mn-ea"/>
              </a:rPr>
              <a:t>如何提高访问效率？</a:t>
            </a:r>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数据管理</a:t>
            </a:r>
            <a:r>
              <a:rPr lang="en-US" altLang="zh-CN"/>
              <a:t> - </a:t>
            </a:r>
            <a:r>
              <a:rPr lang="zh-CN" altLang="en-US"/>
              <a:t>数据库</a:t>
            </a:r>
            <a:r>
              <a:rPr lang="zh-CN" altLang="en-US"/>
              <a:t>系统</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grpSp>
        <p:nvGrpSpPr>
          <p:cNvPr id="3" name="组合 2"/>
          <p:cNvGrpSpPr/>
          <p:nvPr/>
        </p:nvGrpSpPr>
        <p:grpSpPr>
          <a:xfrm>
            <a:off x="2297430" y="1250315"/>
            <a:ext cx="7311390" cy="4086860"/>
            <a:chOff x="3618" y="1969"/>
            <a:chExt cx="11514" cy="6436"/>
          </a:xfrm>
        </p:grpSpPr>
        <p:sp>
          <p:nvSpPr>
            <p:cNvPr id="37" name="AutoShape 21"/>
            <p:cNvSpPr>
              <a:spLocks noChangeArrowheads="1"/>
            </p:cNvSpPr>
            <p:nvPr>
              <p:custDataLst>
                <p:tags r:id="rId1"/>
              </p:custDataLst>
            </p:nvPr>
          </p:nvSpPr>
          <p:spPr bwMode="auto">
            <a:xfrm>
              <a:off x="7668" y="3213"/>
              <a:ext cx="3390" cy="2292"/>
            </a:xfrm>
            <a:prstGeom prst="hexagon">
              <a:avLst>
                <a:gd name="adj" fmla="val 31266"/>
                <a:gd name="vf" fmla="val 115470"/>
              </a:avLst>
            </a:prstGeom>
            <a:solidFill>
              <a:srgbClr val="FFFFFF"/>
            </a:solidFill>
            <a:ln w="9525">
              <a:solidFill>
                <a:srgbClr val="000000"/>
              </a:solidFill>
              <a:miter lim="800000"/>
            </a:ln>
          </p:spPr>
          <p:txBody>
            <a:bodyPr lIns="0" tIns="190800" rIns="0" anchor="ctr" anchorCtr="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ts val="0"/>
                </a:spcBef>
                <a:spcAft>
                  <a:spcPts val="0"/>
                </a:spcAft>
              </a:pPr>
              <a:r>
                <a:rPr kumimoji="1" lang="zh-CN" altLang="en-US" sz="2800" b="1">
                  <a:latin typeface="楷体" panose="02010609060101010101" charset="-122"/>
                  <a:ea typeface="楷体" panose="02010609060101010101" charset="-122"/>
                </a:rPr>
                <a:t>数据库</a:t>
              </a:r>
              <a:endParaRPr kumimoji="1" lang="zh-CN" altLang="en-US" sz="2800" b="1">
                <a:latin typeface="楷体" panose="02010609060101010101" charset="-122"/>
                <a:ea typeface="楷体" panose="02010609060101010101" charset="-122"/>
              </a:endParaRPr>
            </a:p>
            <a:p>
              <a:pPr algn="ctr" eaLnBrk="1" hangingPunct="1">
                <a:lnSpc>
                  <a:spcPct val="100000"/>
                </a:lnSpc>
                <a:spcBef>
                  <a:spcPts val="0"/>
                </a:spcBef>
                <a:spcAft>
                  <a:spcPts val="0"/>
                </a:spcAft>
              </a:pPr>
              <a:r>
                <a:rPr kumimoji="1" lang="zh-CN" altLang="en-US" sz="2800" b="1">
                  <a:latin typeface="楷体" panose="02010609060101010101" charset="-122"/>
                  <a:ea typeface="楷体" panose="02010609060101010101" charset="-122"/>
                </a:rPr>
                <a:t>管理系统</a:t>
              </a:r>
              <a:endParaRPr kumimoji="1" lang="zh-CN" altLang="en-US" sz="2800" b="1">
                <a:latin typeface="楷体" panose="02010609060101010101" charset="-122"/>
                <a:ea typeface="楷体" panose="02010609060101010101" charset="-122"/>
              </a:endParaRPr>
            </a:p>
          </p:txBody>
        </p:sp>
        <p:sp>
          <p:nvSpPr>
            <p:cNvPr id="50" name="Text Box 35"/>
            <p:cNvSpPr txBox="1">
              <a:spLocks noChangeArrowheads="1"/>
            </p:cNvSpPr>
            <p:nvPr>
              <p:custDataLst>
                <p:tags r:id="rId2"/>
              </p:custDataLst>
            </p:nvPr>
          </p:nvSpPr>
          <p:spPr bwMode="auto">
            <a:xfrm>
              <a:off x="3618" y="1969"/>
              <a:ext cx="3162" cy="947"/>
            </a:xfrm>
            <a:prstGeom prst="rect">
              <a:avLst/>
            </a:prstGeom>
            <a:solidFill>
              <a:srgbClr val="FFFFFF"/>
            </a:solidFill>
            <a:ln w="9525">
              <a:solidFill>
                <a:srgbClr val="000000"/>
              </a:solidFill>
              <a:miter lim="800000"/>
            </a:ln>
          </p:spPr>
          <p:txBody>
            <a:bodyPr tIns="118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latin typeface="楷体" panose="02010609060101010101" charset="-122"/>
                  <a:ea typeface="楷体" panose="02010609060101010101" charset="-122"/>
                  <a:cs typeface="楷体" panose="02010609060101010101" charset="-122"/>
                </a:rPr>
                <a:t>应用程序</a:t>
              </a:r>
              <a:r>
                <a:rPr kumimoji="1" lang="en-US" altLang="zh-CN" sz="2800" b="1">
                  <a:latin typeface="楷体" panose="02010609060101010101" charset="-122"/>
                  <a:ea typeface="楷体" panose="02010609060101010101" charset="-122"/>
                  <a:cs typeface="楷体" panose="02010609060101010101" charset="-122"/>
                </a:rPr>
                <a:t>1</a:t>
              </a:r>
              <a:endParaRPr kumimoji="1" lang="en-US" altLang="zh-CN" sz="2800" b="1">
                <a:latin typeface="楷体" panose="02010609060101010101" charset="-122"/>
                <a:ea typeface="楷体" panose="02010609060101010101" charset="-122"/>
                <a:cs typeface="楷体" panose="02010609060101010101" charset="-122"/>
              </a:endParaRPr>
            </a:p>
          </p:txBody>
        </p:sp>
        <p:sp>
          <p:nvSpPr>
            <p:cNvPr id="51" name="Text Box 36"/>
            <p:cNvSpPr txBox="1">
              <a:spLocks noChangeArrowheads="1"/>
            </p:cNvSpPr>
            <p:nvPr>
              <p:custDataLst>
                <p:tags r:id="rId3"/>
              </p:custDataLst>
            </p:nvPr>
          </p:nvSpPr>
          <p:spPr bwMode="auto">
            <a:xfrm>
              <a:off x="3733" y="3896"/>
              <a:ext cx="3162" cy="945"/>
            </a:xfrm>
            <a:prstGeom prst="rect">
              <a:avLst/>
            </a:prstGeom>
            <a:solidFill>
              <a:srgbClr val="FFFFFF"/>
            </a:solidFill>
            <a:ln w="9525">
              <a:solidFill>
                <a:srgbClr val="000000"/>
              </a:solidFill>
              <a:miter lim="800000"/>
            </a:ln>
          </p:spPr>
          <p:txBody>
            <a:bodyPr tIns="118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latin typeface="楷体" panose="02010609060101010101" charset="-122"/>
                  <a:ea typeface="楷体" panose="02010609060101010101" charset="-122"/>
                  <a:cs typeface="楷体" panose="02010609060101010101" charset="-122"/>
                </a:rPr>
                <a:t>应用程序</a:t>
              </a:r>
              <a:r>
                <a:rPr kumimoji="1" lang="en-US" altLang="zh-CN" sz="2800" b="1">
                  <a:latin typeface="楷体" panose="02010609060101010101" charset="-122"/>
                  <a:ea typeface="楷体" panose="02010609060101010101" charset="-122"/>
                  <a:cs typeface="楷体" panose="02010609060101010101" charset="-122"/>
                </a:rPr>
                <a:t>2</a:t>
              </a:r>
              <a:endParaRPr kumimoji="1" lang="en-US" altLang="zh-CN" sz="2800" b="1">
                <a:latin typeface="楷体" panose="02010609060101010101" charset="-122"/>
                <a:ea typeface="楷体" panose="02010609060101010101" charset="-122"/>
                <a:cs typeface="楷体" panose="02010609060101010101" charset="-122"/>
              </a:endParaRPr>
            </a:p>
          </p:txBody>
        </p:sp>
        <p:grpSp>
          <p:nvGrpSpPr>
            <p:cNvPr id="6" name="组合 5"/>
            <p:cNvGrpSpPr/>
            <p:nvPr/>
          </p:nvGrpSpPr>
          <p:grpSpPr>
            <a:xfrm>
              <a:off x="12118" y="2152"/>
              <a:ext cx="3014" cy="4444"/>
              <a:chOff x="12118" y="2680"/>
              <a:chExt cx="3014" cy="4444"/>
            </a:xfrm>
          </p:grpSpPr>
          <p:sp>
            <p:nvSpPr>
              <p:cNvPr id="38" name="AutoShape 22"/>
              <p:cNvSpPr>
                <a:spLocks noChangeArrowheads="1"/>
              </p:cNvSpPr>
              <p:nvPr>
                <p:custDataLst>
                  <p:tags r:id="rId4"/>
                </p:custDataLst>
              </p:nvPr>
            </p:nvSpPr>
            <p:spPr bwMode="auto">
              <a:xfrm>
                <a:off x="12118" y="2680"/>
                <a:ext cx="3015" cy="4445"/>
              </a:xfrm>
              <a:prstGeom prst="can">
                <a:avLst>
                  <a:gd name="adj" fmla="val 46642"/>
                </a:avLst>
              </a:prstGeom>
              <a:solidFill>
                <a:srgbClr val="FFFFFF"/>
              </a:solidFill>
              <a:ln w="9525">
                <a:solidFill>
                  <a:srgbClr val="000000"/>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39" name="Rectangle 24"/>
              <p:cNvSpPr>
                <a:spLocks noChangeArrowheads="1"/>
              </p:cNvSpPr>
              <p:nvPr>
                <p:custDataLst>
                  <p:tags r:id="rId5"/>
                </p:custDataLst>
              </p:nvPr>
            </p:nvSpPr>
            <p:spPr bwMode="auto">
              <a:xfrm>
                <a:off x="12882" y="4380"/>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0" name="Rectangle 25"/>
              <p:cNvSpPr>
                <a:spLocks noChangeArrowheads="1"/>
              </p:cNvSpPr>
              <p:nvPr>
                <p:custDataLst>
                  <p:tags r:id="rId6"/>
                </p:custDataLst>
              </p:nvPr>
            </p:nvSpPr>
            <p:spPr bwMode="auto">
              <a:xfrm>
                <a:off x="12882" y="5332"/>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1" name="Rectangle 26"/>
              <p:cNvSpPr>
                <a:spLocks noChangeArrowheads="1"/>
              </p:cNvSpPr>
              <p:nvPr>
                <p:custDataLst>
                  <p:tags r:id="rId7"/>
                </p:custDataLst>
              </p:nvPr>
            </p:nvSpPr>
            <p:spPr bwMode="auto">
              <a:xfrm>
                <a:off x="13834" y="5332"/>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2" name="Rectangle 27"/>
              <p:cNvSpPr>
                <a:spLocks noChangeArrowheads="1"/>
              </p:cNvSpPr>
              <p:nvPr>
                <p:custDataLst>
                  <p:tags r:id="rId8"/>
                </p:custDataLst>
              </p:nvPr>
            </p:nvSpPr>
            <p:spPr bwMode="auto">
              <a:xfrm>
                <a:off x="13359" y="6285"/>
                <a:ext cx="635" cy="317"/>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43" name="Line 28"/>
              <p:cNvSpPr>
                <a:spLocks noChangeShapeType="1"/>
              </p:cNvSpPr>
              <p:nvPr>
                <p:custDataLst>
                  <p:tags r:id="rId9"/>
                </p:custDataLst>
              </p:nvPr>
            </p:nvSpPr>
            <p:spPr bwMode="auto">
              <a:xfrm>
                <a:off x="13199" y="4697"/>
                <a:ext cx="0" cy="6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29"/>
              <p:cNvSpPr>
                <a:spLocks noChangeShapeType="1"/>
              </p:cNvSpPr>
              <p:nvPr>
                <p:custDataLst>
                  <p:tags r:id="rId10"/>
                </p:custDataLst>
              </p:nvPr>
            </p:nvSpPr>
            <p:spPr bwMode="auto">
              <a:xfrm>
                <a:off x="13359" y="5650"/>
                <a:ext cx="157" cy="6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30"/>
              <p:cNvSpPr>
                <a:spLocks noChangeShapeType="1"/>
              </p:cNvSpPr>
              <p:nvPr>
                <p:custDataLst>
                  <p:tags r:id="rId11"/>
                </p:custDataLst>
              </p:nvPr>
            </p:nvSpPr>
            <p:spPr bwMode="auto">
              <a:xfrm flipH="1">
                <a:off x="13834" y="5650"/>
                <a:ext cx="160" cy="6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Text Box 38"/>
              <p:cNvSpPr txBox="1">
                <a:spLocks noChangeArrowheads="1"/>
              </p:cNvSpPr>
              <p:nvPr>
                <p:custDataLst>
                  <p:tags r:id="rId12"/>
                </p:custDataLst>
              </p:nvPr>
            </p:nvSpPr>
            <p:spPr bwMode="auto">
              <a:xfrm>
                <a:off x="12573" y="3012"/>
                <a:ext cx="2125" cy="6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latin typeface="楷体" panose="02010609060101010101" charset="-122"/>
                    <a:ea typeface="楷体" panose="02010609060101010101" charset="-122"/>
                  </a:rPr>
                  <a:t>数据库</a:t>
                </a:r>
                <a:endParaRPr kumimoji="1" lang="zh-CN" altLang="en-US" sz="2800" b="1">
                  <a:latin typeface="楷体" panose="02010609060101010101" charset="-122"/>
                  <a:ea typeface="楷体" panose="02010609060101010101" charset="-122"/>
                </a:endParaRPr>
              </a:p>
            </p:txBody>
          </p:sp>
        </p:grpSp>
        <p:sp>
          <p:nvSpPr>
            <p:cNvPr id="53" name="Text Box 39"/>
            <p:cNvSpPr txBox="1">
              <a:spLocks noChangeArrowheads="1"/>
            </p:cNvSpPr>
            <p:nvPr>
              <p:custDataLst>
                <p:tags r:id="rId13"/>
              </p:custDataLst>
            </p:nvPr>
          </p:nvSpPr>
          <p:spPr bwMode="auto">
            <a:xfrm>
              <a:off x="5028" y="4916"/>
              <a:ext cx="966" cy="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nchor="ctr"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a:latin typeface="楷体" panose="02010609060101010101" charset="-122"/>
                  <a:ea typeface="楷体" panose="02010609060101010101" charset="-122"/>
                </a:rPr>
                <a:t>…</a:t>
              </a:r>
              <a:endParaRPr kumimoji="1" lang="en-US" altLang="zh-CN" sz="2800" b="1">
                <a:latin typeface="楷体" panose="02010609060101010101" charset="-122"/>
                <a:ea typeface="楷体" panose="02010609060101010101" charset="-122"/>
              </a:endParaRPr>
            </a:p>
          </p:txBody>
        </p:sp>
        <p:grpSp>
          <p:nvGrpSpPr>
            <p:cNvPr id="10" name="组合 9"/>
            <p:cNvGrpSpPr/>
            <p:nvPr/>
          </p:nvGrpSpPr>
          <p:grpSpPr>
            <a:xfrm>
              <a:off x="3733" y="6051"/>
              <a:ext cx="3812" cy="2355"/>
              <a:chOff x="3733" y="6307"/>
              <a:chExt cx="3812" cy="2355"/>
            </a:xfrm>
          </p:grpSpPr>
          <p:grpSp>
            <p:nvGrpSpPr>
              <p:cNvPr id="7" name="组合 6"/>
              <p:cNvGrpSpPr/>
              <p:nvPr/>
            </p:nvGrpSpPr>
            <p:grpSpPr>
              <a:xfrm>
                <a:off x="3852" y="6307"/>
                <a:ext cx="2610" cy="1575"/>
                <a:chOff x="3852" y="6307"/>
                <a:chExt cx="2610" cy="1575"/>
              </a:xfrm>
            </p:grpSpPr>
            <p:sp>
              <p:nvSpPr>
                <p:cNvPr id="33" name="Line 6"/>
                <p:cNvSpPr>
                  <a:spLocks noChangeShapeType="1"/>
                </p:cNvSpPr>
                <p:nvPr>
                  <p:custDataLst>
                    <p:tags r:id="rId14"/>
                  </p:custDataLst>
                </p:nvPr>
              </p:nvSpPr>
              <p:spPr bwMode="auto">
                <a:xfrm>
                  <a:off x="3852" y="7882"/>
                  <a:ext cx="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7"/>
                <p:cNvSpPr>
                  <a:spLocks noChangeShapeType="1"/>
                </p:cNvSpPr>
                <p:nvPr>
                  <p:custDataLst>
                    <p:tags r:id="rId15"/>
                  </p:custDataLst>
                </p:nvPr>
              </p:nvSpPr>
              <p:spPr bwMode="auto">
                <a:xfrm>
                  <a:off x="4553" y="6941"/>
                  <a:ext cx="160" cy="31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5" name="Group 9"/>
                <p:cNvGrpSpPr/>
                <p:nvPr/>
              </p:nvGrpSpPr>
              <p:grpSpPr bwMode="auto">
                <a:xfrm rot="0">
                  <a:off x="4717" y="6307"/>
                  <a:ext cx="1745" cy="930"/>
                  <a:chOff x="2119" y="7370"/>
                  <a:chExt cx="1155" cy="471"/>
                </a:xfrm>
              </p:grpSpPr>
              <p:sp>
                <p:nvSpPr>
                  <p:cNvPr id="60" name="Rectangle 10"/>
                  <p:cNvSpPr>
                    <a:spLocks noChangeArrowheads="1"/>
                  </p:cNvSpPr>
                  <p:nvPr>
                    <p:custDataLst>
                      <p:tags r:id="rId16"/>
                    </p:custDataLst>
                  </p:nvPr>
                </p:nvSpPr>
                <p:spPr bwMode="auto">
                  <a:xfrm>
                    <a:off x="2224" y="7370"/>
                    <a:ext cx="1050" cy="314"/>
                  </a:xfrm>
                  <a:prstGeom prst="rect">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61" name="Line 11"/>
                  <p:cNvSpPr>
                    <a:spLocks noChangeShapeType="1"/>
                  </p:cNvSpPr>
                  <p:nvPr>
                    <p:custDataLst>
                      <p:tags r:id="rId17"/>
                    </p:custDataLst>
                  </p:nvPr>
                </p:nvSpPr>
                <p:spPr bwMode="auto">
                  <a:xfrm flipH="1">
                    <a:off x="2119" y="7684"/>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12"/>
                  <p:cNvSpPr>
                    <a:spLocks noChangeShapeType="1"/>
                  </p:cNvSpPr>
                  <p:nvPr>
                    <p:custDataLst>
                      <p:tags r:id="rId18"/>
                    </p:custDataLst>
                  </p:nvPr>
                </p:nvSpPr>
                <p:spPr bwMode="auto">
                  <a:xfrm flipH="1">
                    <a:off x="3169" y="7684"/>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13"/>
                  <p:cNvSpPr>
                    <a:spLocks noChangeShapeType="1"/>
                  </p:cNvSpPr>
                  <p:nvPr>
                    <p:custDataLst>
                      <p:tags r:id="rId19"/>
                    </p:custDataLst>
                  </p:nvPr>
                </p:nvSpPr>
                <p:spPr bwMode="auto">
                  <a:xfrm>
                    <a:off x="2119" y="7841"/>
                    <a:ext cx="10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Group 14"/>
                <p:cNvGrpSpPr/>
                <p:nvPr/>
              </p:nvGrpSpPr>
              <p:grpSpPr bwMode="auto">
                <a:xfrm rot="0">
                  <a:off x="4239" y="6617"/>
                  <a:ext cx="635" cy="1240"/>
                  <a:chOff x="1909" y="7527"/>
                  <a:chExt cx="420" cy="628"/>
                </a:xfrm>
              </p:grpSpPr>
              <p:grpSp>
                <p:nvGrpSpPr>
                  <p:cNvPr id="54" name="Group 15"/>
                  <p:cNvGrpSpPr/>
                  <p:nvPr/>
                </p:nvGrpSpPr>
                <p:grpSpPr bwMode="auto">
                  <a:xfrm>
                    <a:off x="1909" y="7527"/>
                    <a:ext cx="261" cy="628"/>
                    <a:chOff x="1909" y="7527"/>
                    <a:chExt cx="261" cy="628"/>
                  </a:xfrm>
                </p:grpSpPr>
                <p:sp>
                  <p:nvSpPr>
                    <p:cNvPr id="56" name="AutoShape 16"/>
                    <p:cNvSpPr>
                      <a:spLocks noChangeArrowheads="1"/>
                    </p:cNvSpPr>
                    <p:nvPr>
                      <p:custDataLst>
                        <p:tags r:id="rId20"/>
                      </p:custDataLst>
                    </p:nvPr>
                  </p:nvSpPr>
                  <p:spPr bwMode="auto">
                    <a:xfrm>
                      <a:off x="2065" y="7527"/>
                      <a:ext cx="105" cy="142"/>
                    </a:xfrm>
                    <a:prstGeom prst="flowChartConnector">
                      <a:avLst/>
                    </a:prstGeom>
                    <a:solidFill>
                      <a:srgbClr val="FFFFFF"/>
                    </a:solidFill>
                    <a:ln w="9525">
                      <a:solidFill>
                        <a:srgbClr val="000000"/>
                      </a:solidFill>
                      <a:rou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b="1">
                        <a:latin typeface="楷体" panose="02010609060101010101" charset="-122"/>
                        <a:ea typeface="楷体" panose="02010609060101010101" charset="-122"/>
                      </a:endParaRPr>
                    </a:p>
                  </p:txBody>
                </p:sp>
                <p:sp>
                  <p:nvSpPr>
                    <p:cNvPr id="57" name="Arc 17"/>
                    <p:cNvSpPr/>
                    <p:nvPr>
                      <p:custDataLst>
                        <p:tags r:id="rId21"/>
                      </p:custDataLst>
                    </p:nvPr>
                  </p:nvSpPr>
                  <p:spPr bwMode="auto">
                    <a:xfrm flipH="1">
                      <a:off x="2008" y="7684"/>
                      <a:ext cx="105" cy="31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a:latin typeface="楷体" panose="02010609060101010101" charset="-122"/>
                        <a:ea typeface="楷体" panose="02010609060101010101" charset="-122"/>
                      </a:endParaRPr>
                    </a:p>
                  </p:txBody>
                </p:sp>
                <p:sp>
                  <p:nvSpPr>
                    <p:cNvPr id="58" name="Line 18"/>
                    <p:cNvSpPr>
                      <a:spLocks noChangeShapeType="1"/>
                    </p:cNvSpPr>
                    <p:nvPr>
                      <p:custDataLst>
                        <p:tags r:id="rId22"/>
                      </p:custDataLst>
                    </p:nvPr>
                  </p:nvSpPr>
                  <p:spPr bwMode="auto">
                    <a:xfrm>
                      <a:off x="2014" y="7998"/>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19"/>
                    <p:cNvSpPr>
                      <a:spLocks noChangeShapeType="1"/>
                    </p:cNvSpPr>
                    <p:nvPr>
                      <p:custDataLst>
                        <p:tags r:id="rId23"/>
                      </p:custDataLst>
                    </p:nvPr>
                  </p:nvSpPr>
                  <p:spPr bwMode="auto">
                    <a:xfrm flipH="1">
                      <a:off x="1909" y="7998"/>
                      <a:ext cx="105"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5" name="Line 20"/>
                  <p:cNvSpPr>
                    <a:spLocks noChangeShapeType="1"/>
                  </p:cNvSpPr>
                  <p:nvPr>
                    <p:custDataLst>
                      <p:tags r:id="rId24"/>
                    </p:custDataLst>
                  </p:nvPr>
                </p:nvSpPr>
                <p:spPr bwMode="auto">
                  <a:xfrm>
                    <a:off x="2119" y="7684"/>
                    <a:ext cx="210" cy="15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8" name="文本框 7"/>
              <p:cNvSpPr txBox="1"/>
              <p:nvPr/>
            </p:nvSpPr>
            <p:spPr>
              <a:xfrm>
                <a:off x="3733" y="7840"/>
                <a:ext cx="3812" cy="822"/>
              </a:xfrm>
              <a:prstGeom prst="rect">
                <a:avLst/>
              </a:prstGeom>
              <a:noFill/>
            </p:spPr>
            <p:txBody>
              <a:bodyPr wrap="square" rtlCol="0">
                <a:spAutoFit/>
              </a:bodyPr>
              <a:p>
                <a:r>
                  <a:rPr lang="zh-CN" altLang="en-US" sz="2800" b="1">
                    <a:latin typeface="楷体" panose="02010609060101010101" charset="-122"/>
                    <a:ea typeface="楷体" panose="02010609060101010101" charset="-122"/>
                  </a:rPr>
                  <a:t>数据库管理员</a:t>
                </a:r>
                <a:endParaRPr lang="zh-CN" altLang="en-US" sz="2800" b="1">
                  <a:latin typeface="楷体" panose="02010609060101010101" charset="-122"/>
                  <a:ea typeface="楷体" panose="02010609060101010101" charset="-122"/>
                </a:endParaRPr>
              </a:p>
            </p:txBody>
          </p:sp>
        </p:grpSp>
        <p:cxnSp>
          <p:nvCxnSpPr>
            <p:cNvPr id="11" name="直接连接符 10"/>
            <p:cNvCxnSpPr>
              <a:stCxn id="50" idx="3"/>
              <a:endCxn id="37" idx="4"/>
            </p:cNvCxnSpPr>
            <p:nvPr/>
          </p:nvCxnSpPr>
          <p:spPr>
            <a:xfrm>
              <a:off x="6780" y="2443"/>
              <a:ext cx="1605" cy="77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2" name="直接连接符 11"/>
            <p:cNvCxnSpPr>
              <a:stCxn id="51" idx="3"/>
              <a:endCxn id="37" idx="3"/>
            </p:cNvCxnSpPr>
            <p:nvPr>
              <p:custDataLst>
                <p:tags r:id="rId25"/>
              </p:custDataLst>
            </p:nvPr>
          </p:nvCxnSpPr>
          <p:spPr>
            <a:xfrm flipV="1">
              <a:off x="6895" y="4359"/>
              <a:ext cx="773" cy="10"/>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a:stCxn id="60" idx="3"/>
              <a:endCxn id="37" idx="2"/>
            </p:cNvCxnSpPr>
            <p:nvPr>
              <p:custDataLst>
                <p:tags r:id="rId26"/>
              </p:custDataLst>
            </p:nvPr>
          </p:nvCxnSpPr>
          <p:spPr>
            <a:xfrm flipV="1">
              <a:off x="6462" y="5505"/>
              <a:ext cx="1923" cy="856"/>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a:stCxn id="37" idx="0"/>
              <a:endCxn id="38" idx="2"/>
            </p:cNvCxnSpPr>
            <p:nvPr>
              <p:custDataLst>
                <p:tags r:id="rId27"/>
              </p:custDataLst>
            </p:nvPr>
          </p:nvCxnSpPr>
          <p:spPr>
            <a:xfrm>
              <a:off x="11058" y="4359"/>
              <a:ext cx="1060" cy="16"/>
            </a:xfrm>
            <a:prstGeom prst="line">
              <a:avLst/>
            </a:prstGeom>
            <a:ln w="15875">
              <a:solidFill>
                <a:schemeClr val="tx1"/>
              </a:solidFill>
            </a:ln>
          </p:spPr>
          <p:style>
            <a:lnRef idx="2">
              <a:schemeClr val="accent1"/>
            </a:lnRef>
            <a:fillRef idx="0">
              <a:srgbClr val="FFFFFF"/>
            </a:fillRef>
            <a:effectRef idx="0">
              <a:srgbClr val="FFFFFF"/>
            </a:effectRef>
            <a:fontRef idx="minor">
              <a:schemeClr val="tx1"/>
            </a:fontRef>
          </p:style>
        </p:cxnSp>
      </p:grpSp>
      <p:sp>
        <p:nvSpPr>
          <p:cNvPr id="15" name="文本框 14"/>
          <p:cNvSpPr txBox="1"/>
          <p:nvPr>
            <p:custDataLst>
              <p:tags r:id="rId28"/>
            </p:custDataLst>
          </p:nvPr>
        </p:nvSpPr>
        <p:spPr>
          <a:xfrm>
            <a:off x="566420" y="5618480"/>
            <a:ext cx="10894695" cy="553085"/>
          </a:xfrm>
          <a:prstGeom prst="rect">
            <a:avLst/>
          </a:prstGeom>
          <a:noFill/>
        </p:spPr>
        <p:txBody>
          <a:bodyPr wrap="square" rtlCol="0">
            <a:spAutoFit/>
          </a:bodyPr>
          <a:p>
            <a:pPr algn="ctr"/>
            <a:r>
              <a:rPr lang="zh-CN" altLang="en-US" sz="3000" b="1">
                <a:solidFill>
                  <a:srgbClr val="1F2DA8"/>
                </a:solidFill>
                <a:latin typeface="楷体" panose="02010609060101010101" charset="-122"/>
                <a:ea typeface="楷体" panose="02010609060101010101" charset="-122"/>
                <a:cs typeface="楷体" panose="02010609060101010101" charset="-122"/>
              </a:rPr>
              <a:t>图</a:t>
            </a:r>
            <a:r>
              <a:rPr lang="en-US" altLang="zh-CN" sz="3000" b="1">
                <a:solidFill>
                  <a:srgbClr val="1F2DA8"/>
                </a:solidFill>
                <a:latin typeface="楷体" panose="02010609060101010101" charset="-122"/>
                <a:ea typeface="楷体" panose="02010609060101010101" charset="-122"/>
                <a:cs typeface="楷体" panose="02010609060101010101" charset="-122"/>
              </a:rPr>
              <a:t>1.6  </a:t>
            </a:r>
            <a:r>
              <a:rPr lang="zh-CN" altLang="en-US" sz="3000" b="1">
                <a:solidFill>
                  <a:srgbClr val="1F2DA8"/>
                </a:solidFill>
                <a:latin typeface="楷体" panose="02010609060101010101" charset="-122"/>
                <a:ea typeface="楷体" panose="02010609060101010101" charset="-122"/>
                <a:cs typeface="楷体" panose="02010609060101010101" charset="-122"/>
              </a:rPr>
              <a:t>数据库系统阶段应用程序与数据之间的对应关系</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数据库系统的发展历史（</a:t>
            </a:r>
            <a:r>
              <a:rPr lang="en-US" altLang="zh-CN">
                <a:sym typeface="+mn-ea"/>
              </a:rPr>
              <a:t>1</a:t>
            </a:r>
            <a:r>
              <a:rPr lang="zh-CN" altLang="en-US">
                <a:sym typeface="+mn-ea"/>
              </a:rPr>
              <a:t>）</a:t>
            </a:r>
            <a:endParaRPr lang="zh-CN" altLang="en-US">
              <a:sym typeface="+mn-ea"/>
            </a:endParaRPr>
          </a:p>
        </p:txBody>
      </p:sp>
      <p:sp>
        <p:nvSpPr>
          <p:cNvPr id="3" name="内容占位符 2"/>
          <p:cNvSpPr>
            <a:spLocks noGrp="1"/>
          </p:cNvSpPr>
          <p:nvPr>
            <p:ph idx="1"/>
          </p:nvPr>
        </p:nvSpPr>
        <p:spPr>
          <a:xfrm>
            <a:off x="424180" y="687070"/>
            <a:ext cx="11343005" cy="5958205"/>
          </a:xfrm>
        </p:spPr>
        <p:txBody>
          <a:bodyPr vert="horz">
            <a:spAutoFit/>
          </a:bodyPr>
          <a:p>
            <a:r>
              <a:rPr lang="zh-CN" altLang="en-US">
                <a:latin typeface="Times New Roman" panose="02020603050405020304" pitchFamily="2" charset="0"/>
                <a:ea typeface="楷体" panose="02010609060101010101" charset="-122"/>
                <a:cs typeface="Times New Roman" panose="02020603050405020304" pitchFamily="2" charset="0"/>
              </a:rPr>
              <a:t>第一阶段：层次</a:t>
            </a:r>
            <a:r>
              <a:rPr lang="en-US" altLang="zh-CN">
                <a:latin typeface="Times New Roman" panose="02020603050405020304" pitchFamily="2" charset="0"/>
                <a:ea typeface="楷体" panose="02010609060101010101" charset="-122"/>
                <a:cs typeface="Times New Roman" panose="02020603050405020304" pitchFamily="2" charset="0"/>
              </a:rPr>
              <a:t>/</a:t>
            </a:r>
            <a:r>
              <a:rPr lang="zh-CN" altLang="en-US">
                <a:latin typeface="Times New Roman" panose="02020603050405020304" pitchFamily="2" charset="0"/>
                <a:ea typeface="楷体" panose="02010609060101010101" charset="-122"/>
                <a:cs typeface="Times New Roman" panose="02020603050405020304" pitchFamily="2" charset="0"/>
              </a:rPr>
              <a:t>网状数据库（</a:t>
            </a:r>
            <a:r>
              <a:rPr lang="en-US" altLang="zh-CN">
                <a:latin typeface="Times New Roman" panose="02020603050405020304" pitchFamily="2" charset="0"/>
                <a:ea typeface="楷体" panose="02010609060101010101" charset="-122"/>
                <a:cs typeface="Times New Roman" panose="02020603050405020304" pitchFamily="2" charset="0"/>
              </a:rPr>
              <a:t>20</a:t>
            </a:r>
            <a:r>
              <a:rPr lang="zh-CN" altLang="en-US">
                <a:latin typeface="Times New Roman" panose="02020603050405020304" pitchFamily="2" charset="0"/>
                <a:ea typeface="楷体" panose="02010609060101010101" charset="-122"/>
                <a:cs typeface="Times New Roman" panose="02020603050405020304" pitchFamily="2" charset="0"/>
              </a:rPr>
              <a:t>世纪</a:t>
            </a:r>
            <a:r>
              <a:rPr lang="en-US" altLang="zh-CN">
                <a:latin typeface="Times New Roman" panose="02020603050405020304" pitchFamily="2" charset="0"/>
                <a:ea typeface="楷体" panose="02010609060101010101" charset="-122"/>
                <a:cs typeface="Times New Roman" panose="02020603050405020304" pitchFamily="2" charset="0"/>
              </a:rPr>
              <a:t>60</a:t>
            </a:r>
            <a:r>
              <a:rPr lang="zh-CN" altLang="en-US">
                <a:latin typeface="Times New Roman" panose="02020603050405020304" pitchFamily="2" charset="0"/>
                <a:ea typeface="楷体" panose="02010609060101010101" charset="-122"/>
                <a:cs typeface="Times New Roman" panose="02020603050405020304" pitchFamily="2" charset="0"/>
              </a:rPr>
              <a:t>年代 </a:t>
            </a:r>
            <a:r>
              <a:rPr lang="en-US" altLang="zh-CN">
                <a:latin typeface="Times New Roman" panose="02020603050405020304" pitchFamily="2" charset="0"/>
                <a:ea typeface="楷体" panose="02010609060101010101" charset="-122"/>
                <a:cs typeface="Times New Roman" panose="02020603050405020304" pitchFamily="2" charset="0"/>
              </a:rPr>
              <a:t>~ 70</a:t>
            </a:r>
            <a:r>
              <a:rPr lang="zh-CN" altLang="en-US">
                <a:latin typeface="Times New Roman" panose="02020603050405020304" pitchFamily="2" charset="0"/>
                <a:ea typeface="楷体" panose="02010609060101010101" charset="-122"/>
                <a:cs typeface="Times New Roman" panose="02020603050405020304" pitchFamily="2" charset="0"/>
              </a:rPr>
              <a:t>年代）</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数据库从无到有，提供简单的共享数据的 </a:t>
            </a:r>
            <a:r>
              <a:rPr lang="en-US" altLang="zh-CN">
                <a:latin typeface="Times New Roman" panose="02020603050405020304" pitchFamily="2" charset="0"/>
                <a:ea typeface="楷体" panose="02010609060101010101" charset="-122"/>
                <a:cs typeface="Times New Roman" panose="02020603050405020304" pitchFamily="2" charset="0"/>
              </a:rPr>
              <a:t>‘</a:t>
            </a:r>
            <a:r>
              <a:rPr lang="zh-CN" altLang="en-US">
                <a:latin typeface="Times New Roman" panose="02020603050405020304" pitchFamily="2" charset="0"/>
                <a:ea typeface="楷体" panose="02010609060101010101" charset="-122"/>
                <a:cs typeface="Times New Roman" panose="02020603050405020304" pitchFamily="2" charset="0"/>
              </a:rPr>
              <a:t>读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写</a:t>
            </a:r>
            <a:r>
              <a:rPr lang="en-US" altLang="zh-CN">
                <a:latin typeface="Times New Roman" panose="02020603050405020304" pitchFamily="2" charset="0"/>
                <a:ea typeface="楷体" panose="02010609060101010101" charset="-122"/>
                <a:cs typeface="Times New Roman" panose="02020603050405020304" pitchFamily="2" charset="0"/>
              </a:rPr>
              <a:t>’</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endParaRPr lang="zh-CN" altLang="en-US" sz="1200">
              <a:latin typeface="Times New Roman" panose="02020603050405020304" pitchFamily="2" charset="0"/>
              <a:ea typeface="楷体" panose="02010609060101010101" charset="-122"/>
              <a:cs typeface="Times New Roman" panose="02020603050405020304" pitchFamily="2" charset="0"/>
            </a:endParaRPr>
          </a:p>
          <a:p>
            <a:r>
              <a:rPr lang="zh-CN" altLang="en-US">
                <a:latin typeface="Times New Roman" panose="02020603050405020304" pitchFamily="2" charset="0"/>
                <a:ea typeface="楷体" panose="02010609060101010101" charset="-122"/>
                <a:cs typeface="Times New Roman" panose="02020603050405020304" pitchFamily="2" charset="0"/>
              </a:rPr>
              <a:t>第二阶段：关系数据库（</a:t>
            </a:r>
            <a:r>
              <a:rPr lang="en-US" altLang="zh-CN">
                <a:latin typeface="Times New Roman" panose="02020603050405020304" pitchFamily="2" charset="0"/>
                <a:ea typeface="楷体" panose="02010609060101010101" charset="-122"/>
                <a:cs typeface="Times New Roman" panose="02020603050405020304" pitchFamily="2" charset="0"/>
              </a:rPr>
              <a:t>20</a:t>
            </a:r>
            <a:r>
              <a:rPr lang="zh-CN" altLang="en-US">
                <a:latin typeface="Times New Roman" panose="02020603050405020304" pitchFamily="2" charset="0"/>
                <a:ea typeface="楷体" panose="02010609060101010101" charset="-122"/>
                <a:cs typeface="Times New Roman" panose="02020603050405020304" pitchFamily="2" charset="0"/>
              </a:rPr>
              <a:t>世纪</a:t>
            </a:r>
            <a:r>
              <a:rPr lang="en-US" altLang="zh-CN">
                <a:latin typeface="Times New Roman" panose="02020603050405020304" pitchFamily="2" charset="0"/>
                <a:ea typeface="楷体" panose="02010609060101010101" charset="-122"/>
                <a:cs typeface="Times New Roman" panose="02020603050405020304" pitchFamily="2" charset="0"/>
              </a:rPr>
              <a:t>70</a:t>
            </a:r>
            <a:r>
              <a:rPr lang="zh-CN" altLang="en-US">
                <a:latin typeface="Times New Roman" panose="02020603050405020304" pitchFamily="2" charset="0"/>
                <a:ea typeface="楷体" panose="02010609060101010101" charset="-122"/>
                <a:cs typeface="Times New Roman" panose="02020603050405020304" pitchFamily="2" charset="0"/>
              </a:rPr>
              <a:t>年代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数据库 从有到 </a:t>
            </a:r>
            <a:r>
              <a:rPr lang="zh-CN" altLang="en-US">
                <a:solidFill>
                  <a:srgbClr val="FF0000"/>
                </a:solidFill>
                <a:latin typeface="Times New Roman" panose="02020603050405020304" pitchFamily="2" charset="0"/>
                <a:ea typeface="楷体" panose="02010609060101010101" charset="-122"/>
                <a:cs typeface="Times New Roman" panose="02020603050405020304" pitchFamily="2" charset="0"/>
              </a:rPr>
              <a:t>大规模商业化应用</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面向事务处理型应用：</a:t>
            </a:r>
            <a:r>
              <a:rPr lang="en-US" altLang="zh-CN">
                <a:solidFill>
                  <a:srgbClr val="FF0000"/>
                </a:solidFill>
                <a:latin typeface="Times New Roman" panose="02020603050405020304" pitchFamily="2" charset="0"/>
                <a:ea typeface="楷体" panose="02010609060101010101" charset="-122"/>
                <a:cs typeface="Times New Roman" panose="02020603050405020304" pitchFamily="2" charset="0"/>
              </a:rPr>
              <a:t>OLTP</a:t>
            </a:r>
            <a:r>
              <a:rPr lang="zh-CN" altLang="en-US">
                <a:latin typeface="Times New Roman" panose="02020603050405020304" pitchFamily="2" charset="0"/>
                <a:ea typeface="楷体" panose="02010609060101010101" charset="-122"/>
                <a:cs typeface="Times New Roman" panose="02020603050405020304" pitchFamily="2" charset="0"/>
              </a:rPr>
              <a:t>（联机事务处理）</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endParaRPr lang="zh-CN" altLang="en-US" sz="1200">
              <a:latin typeface="Times New Roman" panose="02020603050405020304" pitchFamily="2" charset="0"/>
              <a:ea typeface="楷体" panose="02010609060101010101" charset="-122"/>
              <a:cs typeface="Times New Roman" panose="02020603050405020304" pitchFamily="2" charset="0"/>
            </a:endParaRPr>
          </a:p>
          <a:p>
            <a:r>
              <a:rPr lang="zh-CN" altLang="en-US">
                <a:latin typeface="Times New Roman" panose="02020603050405020304" pitchFamily="2" charset="0"/>
                <a:ea typeface="楷体" panose="02010609060101010101" charset="-122"/>
                <a:cs typeface="Times New Roman" panose="02020603050405020304" pitchFamily="2" charset="0"/>
              </a:rPr>
              <a:t>第三阶段：关系数据库系统扩展（</a:t>
            </a:r>
            <a:r>
              <a:rPr lang="en-US" altLang="zh-CN">
                <a:latin typeface="Times New Roman" panose="02020603050405020304" pitchFamily="2" charset="0"/>
                <a:ea typeface="楷体" panose="02010609060101010101" charset="-122"/>
                <a:cs typeface="Times New Roman" panose="02020603050405020304" pitchFamily="2" charset="0"/>
              </a:rPr>
              <a:t>20</a:t>
            </a:r>
            <a:r>
              <a:rPr lang="zh-CN" altLang="en-US">
                <a:latin typeface="Times New Roman" panose="02020603050405020304" pitchFamily="2" charset="0"/>
                <a:ea typeface="楷体" panose="02010609060101010101" charset="-122"/>
                <a:cs typeface="Times New Roman" panose="02020603050405020304" pitchFamily="2" charset="0"/>
              </a:rPr>
              <a:t>世纪</a:t>
            </a:r>
            <a:r>
              <a:rPr lang="en-US" altLang="zh-CN">
                <a:latin typeface="Times New Roman" panose="02020603050405020304" pitchFamily="2" charset="0"/>
                <a:ea typeface="楷体" panose="02010609060101010101" charset="-122"/>
                <a:cs typeface="Times New Roman" panose="02020603050405020304" pitchFamily="2" charset="0"/>
              </a:rPr>
              <a:t>90</a:t>
            </a:r>
            <a:r>
              <a:rPr lang="zh-CN" altLang="en-US">
                <a:latin typeface="Times New Roman" panose="02020603050405020304" pitchFamily="2" charset="0"/>
                <a:ea typeface="楷体" panose="02010609060101010101" charset="-122"/>
                <a:cs typeface="Times New Roman" panose="02020603050405020304" pitchFamily="2" charset="0"/>
              </a:rPr>
              <a:t>年代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数据仓库</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Data Warehouse)</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zh-CN" altLang="en-US">
                <a:latin typeface="Times New Roman" panose="02020603050405020304" pitchFamily="2" charset="0"/>
                <a:ea typeface="楷体" panose="02010609060101010101" charset="-122"/>
                <a:cs typeface="Times New Roman" panose="02020603050405020304" pitchFamily="2" charset="0"/>
              </a:rPr>
              <a:t>面向数据分析型应用：</a:t>
            </a:r>
            <a:r>
              <a:rPr lang="en-US" altLang="zh-CN">
                <a:solidFill>
                  <a:srgbClr val="FF0000"/>
                </a:solidFill>
                <a:latin typeface="Times New Roman" panose="02020603050405020304" pitchFamily="2" charset="0"/>
                <a:ea typeface="楷体" panose="02010609060101010101" charset="-122"/>
                <a:cs typeface="Times New Roman" panose="02020603050405020304" pitchFamily="2" charset="0"/>
              </a:rPr>
              <a:t>OLAP</a:t>
            </a:r>
            <a:r>
              <a:rPr lang="zh-CN" altLang="en-US">
                <a:latin typeface="Times New Roman" panose="02020603050405020304" pitchFamily="2" charset="0"/>
                <a:ea typeface="楷体" panose="02010609060101010101" charset="-122"/>
                <a:cs typeface="Times New Roman" panose="02020603050405020304" pitchFamily="2" charset="0"/>
              </a:rPr>
              <a:t>（</a:t>
            </a:r>
            <a:r>
              <a:rPr lang="zh-CN" altLang="en-US">
                <a:latin typeface="Times New Roman" panose="02020603050405020304" pitchFamily="2" charset="0"/>
                <a:ea typeface="楷体" panose="02010609060101010101" charset="-122"/>
                <a:cs typeface="Times New Roman" panose="02020603050405020304" pitchFamily="2" charset="0"/>
                <a:sym typeface="+mn-ea"/>
              </a:rPr>
              <a:t>联机</a:t>
            </a:r>
            <a:r>
              <a:rPr lang="zh-CN" altLang="en-US">
                <a:latin typeface="Times New Roman" panose="02020603050405020304" pitchFamily="2" charset="0"/>
                <a:ea typeface="楷体" panose="02010609060101010101" charset="-122"/>
                <a:cs typeface="Times New Roman" panose="02020603050405020304" pitchFamily="2" charset="0"/>
              </a:rPr>
              <a:t>分析处理）</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endParaRPr lang="zh-CN" altLang="en-US" sz="1200">
              <a:latin typeface="Times New Roman" panose="02020603050405020304" pitchFamily="2" charset="0"/>
              <a:ea typeface="楷体" panose="02010609060101010101" charset="-122"/>
              <a:cs typeface="Times New Roman" panose="02020603050405020304" pitchFamily="2" charset="0"/>
            </a:endParaRPr>
          </a:p>
          <a:p>
            <a:r>
              <a:rPr lang="zh-CN" altLang="en-US">
                <a:latin typeface="Times New Roman" panose="02020603050405020304" pitchFamily="2" charset="0"/>
                <a:ea typeface="楷体" panose="02010609060101010101" charset="-122"/>
                <a:cs typeface="Times New Roman" panose="02020603050405020304" pitchFamily="2" charset="0"/>
              </a:rPr>
              <a:t>第四阶段：新型数据管理系统（</a:t>
            </a:r>
            <a:r>
              <a:rPr lang="en-US" altLang="zh-CN">
                <a:latin typeface="Times New Roman" panose="02020603050405020304" pitchFamily="2" charset="0"/>
                <a:ea typeface="楷体" panose="02010609060101010101" charset="-122"/>
                <a:cs typeface="Times New Roman" panose="02020603050405020304" pitchFamily="2" charset="0"/>
              </a:rPr>
              <a:t>21</a:t>
            </a:r>
            <a:r>
              <a:rPr lang="zh-CN" altLang="en-US">
                <a:latin typeface="Times New Roman" panose="02020603050405020304" pitchFamily="2" charset="0"/>
                <a:ea typeface="楷体" panose="02010609060101010101" charset="-122"/>
                <a:cs typeface="Times New Roman" panose="02020603050405020304" pitchFamily="2" charset="0"/>
              </a:rPr>
              <a:t>世纪 </a:t>
            </a:r>
            <a:r>
              <a:rPr lang="en-US" altLang="zh-CN">
                <a:latin typeface="Times New Roman" panose="02020603050405020304" pitchFamily="2" charset="0"/>
                <a:ea typeface="楷体" panose="02010609060101010101" charset="-122"/>
                <a:cs typeface="Times New Roman" panose="02020603050405020304" pitchFamily="2" charset="0"/>
              </a:rPr>
              <a:t>~ </a:t>
            </a:r>
            <a:r>
              <a:rPr lang="zh-CN" altLang="en-US">
                <a:latin typeface="Times New Roman" panose="02020603050405020304" pitchFamily="2" charset="0"/>
                <a:ea typeface="楷体" panose="02010609060101010101" charset="-122"/>
                <a:cs typeface="Times New Roman" panose="02020603050405020304" pitchFamily="2" charset="0"/>
              </a:rPr>
              <a:t>）</a:t>
            </a:r>
            <a:endParaRPr lang="zh-CN" altLang="en-US">
              <a:latin typeface="Times New Roman" panose="02020603050405020304" pitchFamily="2" charset="0"/>
              <a:ea typeface="楷体" panose="02010609060101010101" charset="-122"/>
              <a:cs typeface="Times New Roman" panose="02020603050405020304" pitchFamily="2" charset="0"/>
            </a:endParaRPr>
          </a:p>
          <a:p>
            <a:pPr lvl="1">
              <a:buFont typeface="Wingdings" panose="05000000000000000000" charset="0"/>
              <a:buChar char="Ø"/>
            </a:pPr>
            <a:r>
              <a:rPr lang="en-US" altLang="zh-CN">
                <a:latin typeface="Times New Roman" panose="02020603050405020304" pitchFamily="2" charset="0"/>
                <a:ea typeface="楷体" panose="02010609060101010101" charset="-122"/>
                <a:cs typeface="Times New Roman" panose="02020603050405020304" pitchFamily="2" charset="0"/>
              </a:rPr>
              <a:t>NoSQL</a:t>
            </a:r>
            <a:r>
              <a:rPr lang="zh-CN" altLang="en-US">
                <a:latin typeface="Times New Roman" panose="02020603050405020304" pitchFamily="2" charset="0"/>
                <a:ea typeface="楷体" panose="02010609060101010101" charset="-122"/>
                <a:cs typeface="Times New Roman" panose="02020603050405020304" pitchFamily="2" charset="0"/>
              </a:rPr>
              <a:t> </a:t>
            </a:r>
            <a:r>
              <a:rPr lang="en-US" altLang="zh-CN">
                <a:latin typeface="Times New Roman" panose="02020603050405020304" pitchFamily="2" charset="0"/>
                <a:ea typeface="楷体" panose="02010609060101010101" charset="-122"/>
                <a:cs typeface="Times New Roman" panose="02020603050405020304" pitchFamily="2" charset="0"/>
              </a:rPr>
              <a:t>/ </a:t>
            </a:r>
            <a:r>
              <a:rPr lang="en-US" altLang="zh-CN">
                <a:latin typeface="Times New Roman" panose="02020603050405020304" pitchFamily="2" charset="0"/>
                <a:ea typeface="楷体" panose="02010609060101010101" charset="-122"/>
                <a:cs typeface="Times New Roman" panose="02020603050405020304" pitchFamily="2" charset="0"/>
                <a:sym typeface="+mn-ea"/>
              </a:rPr>
              <a:t>NewSQL</a:t>
            </a:r>
            <a:r>
              <a:rPr lang="zh-CN" altLang="en-US">
                <a:latin typeface="Times New Roman" panose="02020603050405020304" pitchFamily="2" charset="0"/>
                <a:ea typeface="楷体" panose="02010609060101010101" charset="-122"/>
                <a:cs typeface="Times New Roman" panose="02020603050405020304" pitchFamily="2" charset="0"/>
                <a:sym typeface="+mn-ea"/>
              </a:rPr>
              <a:t> </a:t>
            </a:r>
            <a:r>
              <a:rPr lang="en-US" altLang="zh-CN">
                <a:latin typeface="Times New Roman" panose="02020603050405020304" pitchFamily="2" charset="0"/>
                <a:ea typeface="楷体" panose="02010609060101010101" charset="-122"/>
                <a:cs typeface="Times New Roman" panose="02020603050405020304" pitchFamily="2" charset="0"/>
                <a:sym typeface="+mn-ea"/>
              </a:rPr>
              <a:t>/ </a:t>
            </a:r>
            <a:r>
              <a:rPr lang="zh-CN" altLang="en-US">
                <a:latin typeface="Times New Roman" panose="02020603050405020304" pitchFamily="2" charset="0"/>
                <a:ea typeface="楷体" panose="02010609060101010101" charset="-122"/>
                <a:cs typeface="Times New Roman" panose="02020603050405020304" pitchFamily="2" charset="0"/>
              </a:rPr>
              <a:t>云原生</a:t>
            </a:r>
            <a:r>
              <a:rPr lang="en-US" altLang="zh-CN">
                <a:latin typeface="Times New Roman" panose="02020603050405020304" pitchFamily="2" charset="0"/>
                <a:ea typeface="楷体" panose="02010609060101010101" charset="-122"/>
                <a:cs typeface="Times New Roman" panose="02020603050405020304" pitchFamily="2" charset="0"/>
              </a:rPr>
              <a:t> / AI+DB / </a:t>
            </a:r>
            <a:r>
              <a:rPr lang="zh-CN" altLang="en-US">
                <a:latin typeface="Times New Roman" panose="02020603050405020304" pitchFamily="2" charset="0"/>
                <a:ea typeface="楷体" panose="02010609060101010101" charset="-122"/>
                <a:cs typeface="Times New Roman" panose="02020603050405020304" pitchFamily="2" charset="0"/>
              </a:rPr>
              <a:t>新型数据库系统</a:t>
            </a:r>
            <a:endParaRPr lang="zh-CN" altLang="en-US">
              <a:latin typeface="Times New Roman" panose="02020603050405020304" pitchFamily="2" charset="0"/>
              <a:ea typeface="楷体" panose="02010609060101010101" charset="-122"/>
              <a:cs typeface="Times New Roman" panose="02020603050405020304" pitchFamily="2" charset="0"/>
            </a:endParaRPr>
          </a:p>
        </p:txBody>
      </p:sp>
      <p:sp>
        <p:nvSpPr>
          <p:cNvPr id="5" name="灯片编号占位符 4"/>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grpSp>
        <p:nvGrpSpPr>
          <p:cNvPr id="201" name="组合 39"/>
          <p:cNvGrpSpPr/>
          <p:nvPr/>
        </p:nvGrpSpPr>
        <p:grpSpPr bwMode="auto">
          <a:xfrm>
            <a:off x="10094321" y="687053"/>
            <a:ext cx="1978640" cy="5317873"/>
            <a:chOff x="10931556" y="-129226"/>
            <a:chExt cx="2225769" cy="6046546"/>
          </a:xfrm>
        </p:grpSpPr>
        <p:pic>
          <p:nvPicPr>
            <p:cNvPr id="202" name="Picture 2" descr="“jim gray turing award”的图片搜索结果"/>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0963218" y="3393880"/>
              <a:ext cx="2157888" cy="98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3" name="Picture 4" descr="“Edgar F.Codd  turing award”的图片搜索结果"/>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0963756" y="1845168"/>
              <a:ext cx="2157888" cy="98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 name="Picture 12" descr="“michael stonebraker turing award”的图片搜索结果"/>
            <p:cNvPicPr>
              <a:picLocks noChangeAspect="1" noChangeArrowheads="1"/>
            </p:cNvPicPr>
            <p:nvPr>
              <p:custDataLst>
                <p:tags r:id="rId5"/>
              </p:custDataLst>
            </p:nvPr>
          </p:nvPicPr>
          <p:blipFill>
            <a:blip r:embed="rId6">
              <a:extLst>
                <a:ext uri="{28A0092B-C50C-407E-A947-70E740481C1C}">
                  <a14:useLocalDpi xmlns:a14="http://schemas.microsoft.com/office/drawing/2010/main" val="0"/>
                </a:ext>
              </a:extLst>
            </a:blip>
            <a:srcRect/>
            <a:stretch>
              <a:fillRect/>
            </a:stretch>
          </p:blipFill>
          <p:spPr bwMode="auto">
            <a:xfrm>
              <a:off x="10932595" y="4943047"/>
              <a:ext cx="2188092" cy="974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矩形 205"/>
            <p:cNvSpPr/>
            <p:nvPr>
              <p:custDataLst>
                <p:tags r:id="rId7"/>
              </p:custDataLst>
            </p:nvPr>
          </p:nvSpPr>
          <p:spPr>
            <a:xfrm>
              <a:off x="10963336" y="2864948"/>
              <a:ext cx="2156977" cy="495311"/>
            </a:xfrm>
            <a:prstGeom prst="rect">
              <a:avLst/>
            </a:prstGeom>
            <a:solidFill>
              <a:srgbClr val="FFFFFF">
                <a:lumMod val="95000"/>
              </a:srgbClr>
            </a:solidFill>
            <a:ln w="12700" cap="flat" cmpd="sng" algn="ctr">
              <a:noFill/>
              <a:prstDash val="solid"/>
              <a:miter lim="800000"/>
            </a:ln>
            <a:effectLst/>
          </p:spPr>
          <p:txBody>
            <a:bodyPr anchor="ctr"/>
            <a:p>
              <a:pPr marL="0" marR="0" lvl="0" indent="0" algn="ctr" defTabSz="685800" eaLnBrk="1" fontAlgn="auto" latinLnBrk="0" hangingPunct="1">
                <a:lnSpc>
                  <a:spcPct val="100000"/>
                </a:lnSpc>
                <a:spcBef>
                  <a:spcPts val="0"/>
                </a:spcBef>
                <a:spcAft>
                  <a:spcPts val="0"/>
                </a:spcAft>
                <a:buClrTx/>
                <a:buSzTx/>
                <a:buFontTx/>
                <a:buNone/>
                <a:defRPr/>
              </a:pP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图灵奖：</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事务处理</a:t>
              </a:r>
              <a:endPar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a:p>
              <a:pPr marL="0" marR="0" lvl="0" indent="0" algn="ctr" defTabSz="68580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Jim Gray</a:t>
              </a:r>
              <a:endPar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p:txBody>
        </p:sp>
        <p:sp>
          <p:nvSpPr>
            <p:cNvPr id="207" name="矩形 206"/>
            <p:cNvSpPr/>
            <p:nvPr>
              <p:custDataLst>
                <p:tags r:id="rId8"/>
              </p:custDataLst>
            </p:nvPr>
          </p:nvSpPr>
          <p:spPr>
            <a:xfrm>
              <a:off x="10962938" y="1316236"/>
              <a:ext cx="2159118" cy="495311"/>
            </a:xfrm>
            <a:prstGeom prst="rect">
              <a:avLst/>
            </a:prstGeom>
            <a:solidFill>
              <a:srgbClr val="FFFFFF">
                <a:lumMod val="95000"/>
              </a:srgbClr>
            </a:solidFill>
            <a:ln w="12700" cap="flat" cmpd="sng" algn="ctr">
              <a:noFill/>
              <a:prstDash val="solid"/>
              <a:miter lim="800000"/>
            </a:ln>
            <a:effectLst/>
          </p:spPr>
          <p:txBody>
            <a:bodyPr anchor="ctr"/>
            <a:p>
              <a:pPr marL="0" marR="0" lvl="0" indent="0" algn="ctr" defTabSz="685165" eaLnBrk="1" fontAlgn="auto" latinLnBrk="0" hangingPunct="1">
                <a:lnSpc>
                  <a:spcPct val="100000"/>
                </a:lnSpc>
                <a:spcBef>
                  <a:spcPts val="0"/>
                </a:spcBef>
                <a:spcAft>
                  <a:spcPts val="0"/>
                </a:spcAft>
                <a:buClrTx/>
                <a:buSzTx/>
                <a:buFontTx/>
                <a:buNone/>
                <a:defRPr/>
              </a:pP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图灵奖：</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关系代数</a:t>
              </a:r>
              <a:endPar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a:p>
              <a:pPr marL="0" marR="0" lvl="0" indent="0" algn="ctr" defTabSz="685165"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 Edgar Codd</a:t>
              </a:r>
              <a:endPar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p:txBody>
        </p:sp>
        <p:sp>
          <p:nvSpPr>
            <p:cNvPr id="209" name="矩形 208"/>
            <p:cNvSpPr/>
            <p:nvPr>
              <p:custDataLst>
                <p:tags r:id="rId9"/>
              </p:custDataLst>
            </p:nvPr>
          </p:nvSpPr>
          <p:spPr>
            <a:xfrm>
              <a:off x="10931556" y="4410952"/>
              <a:ext cx="2225519" cy="495311"/>
            </a:xfrm>
            <a:prstGeom prst="rect">
              <a:avLst/>
            </a:prstGeom>
            <a:solidFill>
              <a:srgbClr val="FFFFFF">
                <a:lumMod val="95000"/>
              </a:srgbClr>
            </a:solidFill>
            <a:ln w="12700" cap="flat" cmpd="sng" algn="ctr">
              <a:noFill/>
              <a:prstDash val="solid"/>
              <a:miter lim="800000"/>
            </a:ln>
            <a:effectLst/>
          </p:spPr>
          <p:txBody>
            <a:bodyPr anchor="ctr"/>
            <a:p>
              <a:pPr marL="0" marR="0" lvl="0" indent="0" algn="ctr" defTabSz="685165" eaLnBrk="1" fontAlgn="auto" latinLnBrk="0" hangingPunct="1">
                <a:lnSpc>
                  <a:spcPct val="100000"/>
                </a:lnSpc>
                <a:spcBef>
                  <a:spcPts val="0"/>
                </a:spcBef>
                <a:spcAft>
                  <a:spcPts val="0"/>
                </a:spcAft>
                <a:buClrTx/>
                <a:buSzTx/>
                <a:buFontTx/>
                <a:buNone/>
                <a:defRPr/>
              </a:pP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图灵奖：</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数据库系统</a:t>
              </a:r>
              <a:b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br>
              <a:r>
                <a:rPr kumimoji="0" lang="en-US" altLang="zh-CN" sz="1000" b="1" i="0" u="none" strike="noStrike" kern="0" cap="none" spc="0" normalizeH="0" baseline="0" noProof="0" dirty="0" err="1">
                  <a:ln>
                    <a:noFill/>
                  </a:ln>
                  <a:solidFill>
                    <a:srgbClr val="990000"/>
                  </a:solidFill>
                  <a:effectLst/>
                  <a:uLnTx/>
                  <a:uFillTx/>
                  <a:latin typeface="微软雅黑" panose="020B0503020204020204" pitchFamily="82" charset="2"/>
                  <a:ea typeface="微软雅黑" panose="020B0503020204020204" pitchFamily="82" charset="2"/>
                </a:rPr>
                <a:t>Mike.Stonebraker</a:t>
              </a:r>
              <a:endPar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p:txBody>
        </p:sp>
        <p:sp>
          <p:nvSpPr>
            <p:cNvPr id="210" name="矩形 209"/>
            <p:cNvSpPr/>
            <p:nvPr>
              <p:custDataLst>
                <p:tags r:id="rId10"/>
              </p:custDataLst>
            </p:nvPr>
          </p:nvSpPr>
          <p:spPr>
            <a:xfrm>
              <a:off x="10963935" y="-129226"/>
              <a:ext cx="2193390" cy="495311"/>
            </a:xfrm>
            <a:prstGeom prst="rect">
              <a:avLst/>
            </a:prstGeom>
            <a:solidFill>
              <a:srgbClr val="FFFFFF">
                <a:lumMod val="95000"/>
              </a:srgbClr>
            </a:solidFill>
            <a:ln w="12700" cap="flat" cmpd="sng" algn="ctr">
              <a:noFill/>
              <a:prstDash val="solid"/>
              <a:miter lim="800000"/>
            </a:ln>
            <a:effectLst/>
          </p:spPr>
          <p:txBody>
            <a:bodyPr anchor="ctr"/>
            <a:p>
              <a:pPr marL="0" marR="0" lvl="0" indent="0" algn="ctr" defTabSz="685165"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图灵奖：</a:t>
              </a:r>
              <a:r>
                <a:rPr lang="zh-CN" altLang="en-US" sz="1000" b="1" kern="0" noProof="0" dirty="0">
                  <a:ln>
                    <a:noFill/>
                  </a:ln>
                  <a:solidFill>
                    <a:srgbClr val="990000"/>
                  </a:solidFill>
                  <a:effectLst/>
                  <a:uLnTx/>
                  <a:uFillTx/>
                  <a:latin typeface="微软雅黑" panose="020B0503020204020204" pitchFamily="82" charset="2"/>
                  <a:ea typeface="微软雅黑" panose="020B0503020204020204" pitchFamily="82" charset="2"/>
                  <a:sym typeface="+mn-ea"/>
                </a:rPr>
                <a:t>数据库概念</a:t>
              </a:r>
              <a:endPar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a:p>
              <a:pPr marL="0" marR="0" lvl="0" indent="0" algn="ctr" defTabSz="685165"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Charles</a:t>
              </a:r>
              <a:r>
                <a:rPr kumimoji="0" lang="zh-CN" altLang="en-US"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 </a:t>
              </a:r>
              <a:r>
                <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rPr>
                <a:t>Bachman</a:t>
              </a:r>
              <a:endParaRPr kumimoji="0" lang="en-US" altLang="zh-CN" sz="1000" b="1" i="0" u="none" strike="noStrike" kern="0" cap="none" spc="0" normalizeH="0" baseline="0" noProof="0" dirty="0">
                <a:ln>
                  <a:noFill/>
                </a:ln>
                <a:solidFill>
                  <a:srgbClr val="990000"/>
                </a:solidFill>
                <a:effectLst/>
                <a:uLnTx/>
                <a:uFillTx/>
                <a:latin typeface="微软雅黑" panose="020B0503020204020204" pitchFamily="82" charset="2"/>
                <a:ea typeface="微软雅黑" panose="020B0503020204020204" pitchFamily="82" charset="2"/>
              </a:endParaRPr>
            </a:p>
          </p:txBody>
        </p:sp>
        <p:pic>
          <p:nvPicPr>
            <p:cNvPr id="211" name="图片 6"/>
            <p:cNvPicPr>
              <a:picLocks noChangeAspect="1" noChangeArrowheads="1"/>
            </p:cNvPicPr>
            <p:nvPr>
              <p:custDataLst>
                <p:tags r:id="rId11"/>
              </p:custDataLst>
            </p:nvPr>
          </p:nvPicPr>
          <p:blipFill>
            <a:blip r:embed="rId12">
              <a:extLst>
                <a:ext uri="{28A0092B-C50C-407E-A947-70E740481C1C}">
                  <a14:useLocalDpi xmlns:a14="http://schemas.microsoft.com/office/drawing/2010/main" val="0"/>
                </a:ext>
              </a:extLst>
            </a:blip>
            <a:srcRect/>
            <a:stretch>
              <a:fillRect/>
            </a:stretch>
          </p:blipFill>
          <p:spPr bwMode="auto">
            <a:xfrm>
              <a:off x="11417533" y="412988"/>
              <a:ext cx="1220260" cy="851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Rectangle 2"/>
          <p:cNvSpPr>
            <a:spLocks noGrp="1"/>
          </p:cNvSpPr>
          <p:nvPr>
            <p:ph type="title"/>
          </p:nvPr>
        </p:nvSpPr>
        <p:spPr/>
        <p:txBody>
          <a:bodyPr wrap="square" tIns="0" bIns="0" anchor="ctr"/>
          <a:p>
            <a:pPr eaLnBrk="1" hangingPunct="1"/>
            <a:r>
              <a:rPr lang="zh-CN" altLang="en-US">
                <a:sym typeface="+mn-ea"/>
              </a:rPr>
              <a:t>数据库系统的发展历史（</a:t>
            </a:r>
            <a:r>
              <a:rPr lang="en-US" altLang="zh-CN">
                <a:sym typeface="+mn-ea"/>
              </a:rPr>
              <a:t>2</a:t>
            </a:r>
            <a:r>
              <a:rPr lang="zh-CN" altLang="en-US">
                <a:sym typeface="+mn-ea"/>
              </a:rPr>
              <a:t>）</a:t>
            </a:r>
            <a:endParaRPr lang="zh-CN" altLang="en-US"/>
          </a:p>
        </p:txBody>
      </p:sp>
      <p:sp>
        <p:nvSpPr>
          <p:cNvPr id="30724" name="Rectangle 3"/>
          <p:cNvSpPr>
            <a:spLocks noGrp="1"/>
          </p:cNvSpPr>
          <p:nvPr>
            <p:ph idx="1"/>
          </p:nvPr>
        </p:nvSpPr>
        <p:spPr/>
        <p:txBody>
          <a:bodyPr wrap="square" anchor="t"/>
          <a:p>
            <a:pPr eaLnBrk="1" hangingPunct="1">
              <a:lnSpc>
                <a:spcPct val="100000"/>
              </a:lnSpc>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第一阶段：层次数据库 与 网状数据库</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1" eaLnBrk="1" hangingPunct="1">
              <a:lnSpc>
                <a:spcPct val="100000"/>
              </a:lnSpc>
            </a:pPr>
            <a:r>
              <a:rPr lang="zh-CN" altLang="en-US" dirty="0">
                <a:latin typeface="Times New Roman" panose="02020603050405020304" pitchFamily="2" charset="0"/>
                <a:ea typeface="楷体" panose="02010609060101010101" charset="-122"/>
                <a:cs typeface="Times New Roman" panose="02020603050405020304" pitchFamily="2" charset="0"/>
              </a:rPr>
              <a:t>层次数据库与网状数据库于20世纪60年代末开始发展。它们为统一管理与共享数据提供了有力支撑，</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是真正的数据库系统</a:t>
            </a:r>
            <a:r>
              <a:rPr lang="zh-CN" altLang="en-US" dirty="0">
                <a:latin typeface="Times New Roman" panose="02020603050405020304" pitchFamily="2" charset="0"/>
                <a:ea typeface="楷体" panose="02010609060101010101" charset="-122"/>
                <a:cs typeface="Times New Roman" panose="02020603050405020304" pitchFamily="2" charset="0"/>
              </a:rPr>
              <a:t>。</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pPr>
            <a:r>
              <a:rPr lang="en-US" altLang="zh-CN" dirty="0">
                <a:latin typeface="Times New Roman" panose="02020603050405020304" pitchFamily="2" charset="0"/>
                <a:ea typeface="楷体" panose="02010609060101010101" charset="-122"/>
                <a:cs typeface="Times New Roman" panose="02020603050405020304" pitchFamily="2" charset="0"/>
              </a:rPr>
              <a:t>1960s</a:t>
            </a:r>
            <a:r>
              <a:rPr lang="zh-CN" altLang="en-US" dirty="0">
                <a:latin typeface="Times New Roman" panose="02020603050405020304" pitchFamily="2" charset="0"/>
                <a:ea typeface="楷体" panose="02010609060101010101" charset="-122"/>
                <a:cs typeface="Times New Roman" panose="02020603050405020304" pitchFamily="2" charset="0"/>
              </a:rPr>
              <a:t>早期：网状数据库管理系统</a:t>
            </a:r>
            <a:r>
              <a:rPr lang="en-US" altLang="zh-CN" dirty="0">
                <a:latin typeface="Times New Roman" panose="02020603050405020304" pitchFamily="2" charset="0"/>
                <a:ea typeface="楷体" panose="02010609060101010101" charset="-122"/>
                <a:cs typeface="Times New Roman" panose="02020603050405020304" pitchFamily="2" charset="0"/>
              </a:rPr>
              <a:t> IDS (Integrated Data Storage)</a:t>
            </a:r>
            <a:r>
              <a:rPr lang="zh-CN" altLang="en-US" dirty="0">
                <a:latin typeface="Times New Roman" panose="02020603050405020304" pitchFamily="2" charset="0"/>
                <a:ea typeface="楷体" panose="02010609060101010101" charset="-122"/>
                <a:cs typeface="Times New Roman" panose="02020603050405020304" pitchFamily="2" charset="0"/>
              </a:rPr>
              <a:t>，通用电气</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pPr>
            <a:r>
              <a:rPr lang="en-US" altLang="zh-CN" dirty="0">
                <a:latin typeface="Times New Roman" panose="02020603050405020304" pitchFamily="2" charset="0"/>
                <a:ea typeface="楷体" panose="02010609060101010101" charset="-122"/>
                <a:cs typeface="Times New Roman" panose="02020603050405020304" pitchFamily="2" charset="0"/>
              </a:rPr>
              <a:t>1960s</a:t>
            </a:r>
            <a:r>
              <a:rPr lang="zh-CN" altLang="en-US" dirty="0">
                <a:latin typeface="Times New Roman" panose="02020603050405020304" pitchFamily="2" charset="0"/>
                <a:ea typeface="楷体" panose="02010609060101010101" charset="-122"/>
                <a:cs typeface="Times New Roman" panose="02020603050405020304" pitchFamily="2" charset="0"/>
              </a:rPr>
              <a:t>晚期：层次数据库管理系统</a:t>
            </a:r>
            <a:r>
              <a:rPr lang="en-US" altLang="zh-CN" dirty="0">
                <a:latin typeface="Times New Roman" panose="02020603050405020304" pitchFamily="2" charset="0"/>
                <a:ea typeface="楷体" panose="02010609060101010101" charset="-122"/>
                <a:cs typeface="Times New Roman" panose="02020603050405020304" pitchFamily="2" charset="0"/>
              </a:rPr>
              <a:t> IMS (Information Management System)</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latin typeface="Times New Roman" panose="02020603050405020304" pitchFamily="2" charset="0"/>
                <a:ea typeface="楷体" panose="02010609060101010101" charset="-122"/>
                <a:cs typeface="Times New Roman" panose="02020603050405020304" pitchFamily="2" charset="0"/>
              </a:rPr>
              <a:t>IBM</a:t>
            </a:r>
            <a:r>
              <a:rPr lang="zh-CN" altLang="en-US" dirty="0">
                <a:latin typeface="Times New Roman" panose="02020603050405020304" pitchFamily="2" charset="0"/>
                <a:ea typeface="楷体" panose="02010609060101010101" charset="-122"/>
                <a:cs typeface="Times New Roman" panose="02020603050405020304" pitchFamily="2" charset="0"/>
              </a:rPr>
              <a:t>公司</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1" eaLnBrk="1" hangingPunct="1">
              <a:lnSpc>
                <a:spcPct val="100000"/>
              </a:lnSpc>
              <a:spcBef>
                <a:spcPts val="1000"/>
              </a:spcBef>
            </a:pPr>
            <a:r>
              <a:rPr lang="zh-CN" altLang="en-US" dirty="0">
                <a:highlight>
                  <a:srgbClr val="FFFF00"/>
                </a:highlight>
                <a:latin typeface="Times New Roman" panose="02020603050405020304" pitchFamily="2" charset="0"/>
                <a:ea typeface="楷体" panose="02010609060101010101" charset="-122"/>
                <a:cs typeface="Times New Roman" panose="02020603050405020304" pitchFamily="2" charset="0"/>
              </a:rPr>
              <a:t>优点</a:t>
            </a:r>
            <a:r>
              <a:rPr lang="zh-CN" altLang="en-US" dirty="0">
                <a:latin typeface="Times New Roman" panose="02020603050405020304" pitchFamily="2" charset="0"/>
                <a:ea typeface="楷体" panose="02010609060101010101" charset="-122"/>
                <a:cs typeface="Times New Roman" panose="02020603050405020304" pitchFamily="2" charset="0"/>
              </a:rPr>
              <a:t>：数据库系统为用户提供了统一的数据管理工具，向用户提供了数据共享能力。</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1" eaLnBrk="1" hangingPunct="1">
              <a:lnSpc>
                <a:spcPct val="100000"/>
              </a:lnSpc>
              <a:spcBef>
                <a:spcPts val="1000"/>
              </a:spcBef>
            </a:pPr>
            <a:r>
              <a:rPr lang="zh-CN" altLang="en-US" dirty="0">
                <a:highlight>
                  <a:srgbClr val="FFFF00"/>
                </a:highlight>
                <a:latin typeface="Times New Roman" panose="02020603050405020304" pitchFamily="2" charset="0"/>
                <a:ea typeface="楷体" panose="02010609060101010101" charset="-122"/>
                <a:cs typeface="Times New Roman" panose="02020603050405020304" pitchFamily="2" charset="0"/>
              </a:rPr>
              <a:t>缺点</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pPr>
            <a:r>
              <a:rPr lang="zh-CN" altLang="en-US" dirty="0">
                <a:latin typeface="Times New Roman" panose="02020603050405020304" pitchFamily="2" charset="0"/>
                <a:ea typeface="楷体" panose="02010609060101010101" charset="-122"/>
                <a:cs typeface="Times New Roman" panose="02020603050405020304" pitchFamily="2" charset="0"/>
              </a:rPr>
              <a:t>它们脱胎于文件系统，</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受文件的物理影响较大</a:t>
            </a:r>
            <a:r>
              <a:rPr lang="zh-CN" altLang="en-US" dirty="0">
                <a:latin typeface="Times New Roman" panose="02020603050405020304" pitchFamily="2" charset="0"/>
                <a:ea typeface="楷体" panose="02010609060101010101" charset="-122"/>
                <a:cs typeface="Times New Roman" panose="02020603050405020304" pitchFamily="2" charset="0"/>
              </a:rPr>
              <a:t>，对数据库的使用带来不便；</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数据模式构造烦琐</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zh-CN" altLang="en-US" dirty="0">
                <a:latin typeface="Times New Roman" panose="02020603050405020304" pitchFamily="2" charset="0"/>
                <a:ea typeface="楷体" panose="02010609060101010101" charset="-122"/>
                <a:cs typeface="Times New Roman" panose="02020603050405020304" pitchFamily="2" charset="0"/>
              </a:rPr>
              <a:t>不利于推广使用。</a:t>
            </a:r>
            <a:endParaRPr lang="zh-CN" altLang="en-US" dirty="0">
              <a:latin typeface="Times New Roman" panose="02020603050405020304" pitchFamily="2" charset="0"/>
              <a:ea typeface="楷体" panose="02010609060101010101" charset="-122"/>
              <a:cs typeface="Times New Roman" panose="02020603050405020304" pitchFamily="2" charset="0"/>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Rectangle 2"/>
          <p:cNvSpPr>
            <a:spLocks noGrp="1"/>
          </p:cNvSpPr>
          <p:nvPr>
            <p:ph type="title"/>
          </p:nvPr>
        </p:nvSpPr>
        <p:spPr/>
        <p:txBody>
          <a:bodyPr wrap="square" tIns="0" bIns="0" anchor="ctr"/>
          <a:p>
            <a:pPr eaLnBrk="1" hangingPunct="1"/>
            <a:r>
              <a:rPr lang="zh-CN" altLang="en-US">
                <a:sym typeface="+mn-ea"/>
              </a:rPr>
              <a:t>数据库系统的发展历史（</a:t>
            </a:r>
            <a:r>
              <a:rPr lang="en-US" altLang="zh-CN">
                <a:sym typeface="+mn-ea"/>
              </a:rPr>
              <a:t>3</a:t>
            </a:r>
            <a:r>
              <a:rPr lang="zh-CN" altLang="en-US">
                <a:sym typeface="+mn-ea"/>
              </a:rPr>
              <a:t>）</a:t>
            </a:r>
            <a:endParaRPr lang="zh-CN" altLang="en-US"/>
          </a:p>
        </p:txBody>
      </p:sp>
      <p:sp>
        <p:nvSpPr>
          <p:cNvPr id="31748" name="Rectangle 3"/>
          <p:cNvSpPr>
            <a:spLocks noGrp="1"/>
          </p:cNvSpPr>
          <p:nvPr>
            <p:ph idx="1"/>
          </p:nvPr>
        </p:nvSpPr>
        <p:spPr/>
        <p:txBody>
          <a:bodyPr wrap="square" anchor="t"/>
          <a:p>
            <a:pPr eaLnBrk="1" hangingPunct="1">
              <a:lnSpc>
                <a:spcPct val="100000"/>
              </a:lnSpc>
              <a:spcBef>
                <a:spcPct val="0"/>
              </a:spcBef>
            </a:pP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第二阶段：关系数据库</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1" eaLnBrk="1" hangingPunct="1">
              <a:lnSpc>
                <a:spcPct val="100000"/>
              </a:lnSpc>
              <a:spcBef>
                <a:spcPct val="0"/>
              </a:spcBef>
            </a:pPr>
            <a:r>
              <a:rPr lang="zh-CN" altLang="en-US" dirty="0">
                <a:latin typeface="Times New Roman" panose="02020603050405020304" pitchFamily="2" charset="0"/>
                <a:ea typeface="楷体" panose="02010609060101010101" charset="-122"/>
                <a:cs typeface="Times New Roman" panose="02020603050405020304" pitchFamily="2" charset="0"/>
              </a:rPr>
              <a:t>关系数据库于20世纪70年代开始问世，80年代初进入潮流。</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1970</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solidFill>
                  <a:srgbClr val="1F2DA8"/>
                </a:solidFill>
                <a:latin typeface="Times New Roman" panose="02020603050405020304" pitchFamily="2" charset="0"/>
                <a:ea typeface="楷体" panose="02010609060101010101" charset="-122"/>
                <a:cs typeface="Times New Roman" panose="02020603050405020304" pitchFamily="2" charset="0"/>
              </a:rPr>
              <a:t>E. F. Codd </a:t>
            </a:r>
            <a:r>
              <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rPr>
              <a:t>提</a:t>
            </a:r>
            <a:r>
              <a:rPr lang="zh-CN" altLang="en-US" dirty="0">
                <a:latin typeface="Times New Roman" panose="02020603050405020304" pitchFamily="2" charset="0"/>
                <a:ea typeface="楷体" panose="02010609060101010101" charset="-122"/>
                <a:cs typeface="Times New Roman" panose="02020603050405020304" pitchFamily="2" charset="0"/>
              </a:rPr>
              <a:t>出</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关系数据模型</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1974</a:t>
            </a:r>
            <a:r>
              <a:rPr lang="zh-CN" altLang="en-US" dirty="0">
                <a:latin typeface="Times New Roman" panose="02020603050405020304" pitchFamily="2" charset="0"/>
                <a:ea typeface="楷体" panose="02010609060101010101" charset="-122"/>
                <a:cs typeface="Times New Roman" panose="02020603050405020304" pitchFamily="2" charset="0"/>
              </a:rPr>
              <a:t>：第一个关系数据库管理系统</a:t>
            </a:r>
            <a:r>
              <a:rPr lang="en-US" altLang="zh-CN" dirty="0">
                <a:latin typeface="Times New Roman" panose="02020603050405020304" pitchFamily="2" charset="0"/>
                <a:ea typeface="楷体" panose="02010609060101010101" charset="-122"/>
                <a:cs typeface="Times New Roman" panose="02020603050405020304" pitchFamily="2" charset="0"/>
              </a:rPr>
              <a:t> </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IBM</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公司的</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system R</a:t>
            </a:r>
            <a:r>
              <a:rPr lang="zh-CN" altLang="en-US" dirty="0">
                <a:latin typeface="Times New Roman" panose="02020603050405020304" pitchFamily="2" charset="0"/>
                <a:ea typeface="楷体" panose="02010609060101010101" charset="-122"/>
                <a:cs typeface="Times New Roman" panose="02020603050405020304" pitchFamily="2" charset="0"/>
              </a:rPr>
              <a:t>，Ray Boyce和Don Chamberlin</a:t>
            </a:r>
            <a:r>
              <a:rPr lang="en-US" altLang="zh-CN" dirty="0">
                <a:latin typeface="Times New Roman" panose="02020603050405020304" pitchFamily="2" charset="0"/>
                <a:ea typeface="楷体" panose="02010609060101010101" charset="-122"/>
                <a:cs typeface="Times New Roman" panose="02020603050405020304" pitchFamily="2" charset="0"/>
              </a:rPr>
              <a:t> </a:t>
            </a:r>
            <a:r>
              <a:rPr lang="zh-CN" altLang="en-US" dirty="0">
                <a:latin typeface="Times New Roman" panose="02020603050405020304" pitchFamily="2" charset="0"/>
                <a:ea typeface="楷体" panose="02010609060101010101" charset="-122"/>
                <a:cs typeface="Times New Roman" panose="02020603050405020304" pitchFamily="2" charset="0"/>
              </a:rPr>
              <a:t>提出数据操纵语言</a:t>
            </a:r>
            <a:r>
              <a:rPr lang="en-US" altLang="zh-CN" dirty="0">
                <a:latin typeface="Times New Roman" panose="02020603050405020304" pitchFamily="2" charset="0"/>
                <a:ea typeface="楷体" panose="02010609060101010101" charset="-122"/>
                <a:cs typeface="Times New Roman" panose="02020603050405020304" pitchFamily="2" charset="0"/>
              </a:rPr>
              <a:t>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SQL</a:t>
            </a:r>
            <a:r>
              <a:rPr lang="en-US" altLang="zh-CN" dirty="0">
                <a:latin typeface="Times New Roman" panose="02020603050405020304" pitchFamily="2" charset="0"/>
                <a:ea typeface="楷体" panose="02010609060101010101" charset="-122"/>
                <a:cs typeface="Times New Roman" panose="02020603050405020304" pitchFamily="2" charset="0"/>
              </a:rPr>
              <a:t>(Structured Query Language)</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1976</a:t>
            </a:r>
            <a:r>
              <a:rPr lang="zh-CN" altLang="en-US" dirty="0">
                <a:latin typeface="Times New Roman" panose="02020603050405020304" pitchFamily="2" charset="0"/>
                <a:ea typeface="楷体" panose="02010609060101010101" charset="-122"/>
                <a:cs typeface="Times New Roman" panose="02020603050405020304" pitchFamily="2" charset="0"/>
              </a:rPr>
              <a:t>：</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3" eaLnBrk="1" hangingPunct="1">
              <a:lnSpc>
                <a:spcPct val="100000"/>
              </a:lnSpc>
              <a:spcBef>
                <a:spcPct val="0"/>
              </a:spcBef>
            </a:pPr>
            <a:r>
              <a:rPr lang="en-US" altLang="zh-CN" dirty="0">
                <a:solidFill>
                  <a:srgbClr val="1F2DA8"/>
                </a:solidFill>
                <a:latin typeface="Times New Roman" panose="02020603050405020304" pitchFamily="2" charset="0"/>
                <a:ea typeface="楷体" panose="02010609060101010101" charset="-122"/>
                <a:cs typeface="Times New Roman" panose="02020603050405020304" pitchFamily="2" charset="0"/>
              </a:rPr>
              <a:t>Peter Chen </a:t>
            </a:r>
            <a:r>
              <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rPr>
              <a:t>提出</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实体联系模型</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(Entity-Relationship Model)</a:t>
            </a:r>
            <a:endPar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3" eaLnBrk="1" hangingPunct="1">
              <a:lnSpc>
                <a:spcPct val="100000"/>
              </a:lnSpc>
              <a:spcBef>
                <a:spcPct val="0"/>
              </a:spcBef>
            </a:pPr>
            <a:r>
              <a:rPr lang="zh-CN" altLang="en-US" dirty="0">
                <a:solidFill>
                  <a:srgbClr val="1F2DA8"/>
                </a:solidFill>
                <a:latin typeface="Times New Roman" panose="02020603050405020304" pitchFamily="2" charset="0"/>
                <a:ea typeface="楷体" panose="02010609060101010101" charset="-122"/>
                <a:cs typeface="Times New Roman" panose="02020603050405020304" pitchFamily="2" charset="0"/>
              </a:rPr>
              <a:t>James Gray</a:t>
            </a:r>
            <a:r>
              <a:rPr lang="en-US" altLang="zh-CN" dirty="0">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dirty="0">
                <a:latin typeface="Times New Roman" panose="02020603050405020304" pitchFamily="2" charset="0"/>
                <a:ea typeface="楷体" panose="02010609060101010101" charset="-122"/>
                <a:cs typeface="Times New Roman" panose="02020603050405020304" pitchFamily="2" charset="0"/>
              </a:rPr>
              <a:t>提出</a:t>
            </a:r>
            <a:r>
              <a:rPr lang="zh-CN" altLang="en-US" dirty="0">
                <a:solidFill>
                  <a:srgbClr val="FF0000"/>
                </a:solidFill>
                <a:latin typeface="Times New Roman" panose="02020603050405020304" pitchFamily="2" charset="0"/>
                <a:ea typeface="楷体" panose="02010609060101010101" charset="-122"/>
                <a:cs typeface="Times New Roman" panose="02020603050405020304" pitchFamily="2" charset="0"/>
              </a:rPr>
              <a:t>事务处理</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(Transaction Processing)</a:t>
            </a:r>
            <a:r>
              <a:rPr lang="zh-CN" altLang="en-US" dirty="0">
                <a:latin typeface="Times New Roman" panose="02020603050405020304" pitchFamily="2" charset="0"/>
                <a:ea typeface="楷体" panose="02010609060101010101" charset="-122"/>
                <a:cs typeface="Times New Roman" panose="02020603050405020304" pitchFamily="2" charset="0"/>
              </a:rPr>
              <a:t>技术</a:t>
            </a:r>
            <a:endParaRPr lang="zh-CN" altLang="en-US"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1979</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oracle</a:t>
            </a:r>
            <a:r>
              <a:rPr lang="en-US" altLang="zh-CN" dirty="0">
                <a:latin typeface="Times New Roman" panose="02020603050405020304" pitchFamily="2" charset="0"/>
                <a:ea typeface="楷体" panose="02010609060101010101" charset="-122"/>
                <a:cs typeface="Times New Roman" panose="02020603050405020304" pitchFamily="2" charset="0"/>
              </a:rPr>
              <a:t> release 1</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1983</a:t>
            </a:r>
            <a:r>
              <a:rPr lang="zh-CN" altLang="en-US" dirty="0">
                <a:latin typeface="Times New Roman" panose="02020603050405020304" pitchFamily="2" charset="0"/>
                <a:ea typeface="楷体" panose="02010609060101010101" charset="-122"/>
                <a:cs typeface="Times New Roman" panose="02020603050405020304" pitchFamily="2" charset="0"/>
              </a:rPr>
              <a:t>：</a:t>
            </a:r>
            <a:r>
              <a:rPr lang="en-US" altLang="zh-CN" dirty="0">
                <a:latin typeface="Times New Roman" panose="02020603050405020304" pitchFamily="2" charset="0"/>
                <a:ea typeface="楷体" panose="02010609060101010101" charset="-122"/>
                <a:cs typeface="Times New Roman" panose="02020603050405020304" pitchFamily="2" charset="0"/>
              </a:rPr>
              <a:t>IBM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rPr>
              <a:t>DB2</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1988</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sybase</a:t>
            </a:r>
            <a:endParaRPr lang="en-US" altLang="zh-CN" dirty="0">
              <a:latin typeface="Times New Roman" panose="02020603050405020304" pitchFamily="2" charset="0"/>
              <a:ea typeface="楷体" panose="02010609060101010101" charset="-122"/>
              <a:cs typeface="Times New Roman" panose="02020603050405020304" pitchFamily="2" charset="0"/>
            </a:endParaRPr>
          </a:p>
          <a:p>
            <a:pPr lvl="2" eaLnBrk="1" hangingPunct="1">
              <a:lnSpc>
                <a:spcPct val="100000"/>
              </a:lnSpc>
              <a:spcBef>
                <a:spcPct val="0"/>
              </a:spcBef>
            </a:pPr>
            <a:r>
              <a:rPr lang="en-US" altLang="zh-CN" dirty="0">
                <a:latin typeface="Times New Roman" panose="02020603050405020304" pitchFamily="2" charset="0"/>
                <a:ea typeface="楷体" panose="02010609060101010101" charset="-122"/>
                <a:cs typeface="Times New Roman" panose="02020603050405020304" pitchFamily="2" charset="0"/>
              </a:rPr>
              <a:t>1989</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：微软</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SQL Server</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，Berkeley</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 </a:t>
            </a:r>
            <a:r>
              <a:rPr lang="zh-CN" altLang="en-US" dirty="0">
                <a:latin typeface="Times New Roman" panose="02020603050405020304" pitchFamily="2" charset="0"/>
                <a:ea typeface="楷体" panose="02010609060101010101" charset="-122"/>
                <a:cs typeface="Times New Roman" panose="02020603050405020304" pitchFamily="2" charset="0"/>
                <a:sym typeface="+mn-ea"/>
              </a:rPr>
              <a:t>的</a:t>
            </a:r>
            <a:r>
              <a:rPr lang="en-US" altLang="zh-CN" dirty="0">
                <a:latin typeface="Times New Roman" panose="02020603050405020304" pitchFamily="2" charset="0"/>
                <a:ea typeface="楷体" panose="02010609060101010101" charset="-122"/>
                <a:cs typeface="Times New Roman" panose="02020603050405020304" pitchFamily="2" charset="0"/>
                <a:sym typeface="+mn-ea"/>
              </a:rPr>
              <a:t> </a:t>
            </a:r>
            <a:r>
              <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rPr>
              <a:t>Postgre SQL</a:t>
            </a:r>
            <a:endParaRPr lang="en-US" altLang="zh-CN" dirty="0">
              <a:solidFill>
                <a:srgbClr val="FF0000"/>
              </a:solidFill>
              <a:latin typeface="Times New Roman" panose="02020603050405020304" pitchFamily="2" charset="0"/>
              <a:ea typeface="楷体" panose="02010609060101010101" charset="-122"/>
              <a:cs typeface="Times New Roman" panose="02020603050405020304" pitchFamily="2" charset="0"/>
              <a:sym typeface="+mn-ea"/>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Rectangle 2"/>
          <p:cNvSpPr>
            <a:spLocks noGrp="1"/>
          </p:cNvSpPr>
          <p:nvPr>
            <p:ph type="title"/>
          </p:nvPr>
        </p:nvSpPr>
        <p:spPr/>
        <p:txBody>
          <a:bodyPr wrap="square" tIns="0" bIns="0" anchor="ctr"/>
          <a:p>
            <a:pPr eaLnBrk="1" hangingPunct="1"/>
            <a:r>
              <a:rPr lang="zh-CN" altLang="en-US">
                <a:sym typeface="+mn-ea"/>
              </a:rPr>
              <a:t>数据库系统的发展历史（</a:t>
            </a:r>
            <a:r>
              <a:rPr lang="en-US" altLang="zh-CN">
                <a:sym typeface="+mn-ea"/>
              </a:rPr>
              <a:t>4</a:t>
            </a:r>
            <a:r>
              <a:rPr lang="zh-CN" altLang="en-US">
                <a:sym typeface="+mn-ea"/>
              </a:rPr>
              <a:t>）</a:t>
            </a:r>
            <a:endParaRPr lang="zh-CN" altLang="en-US"/>
          </a:p>
        </p:txBody>
      </p:sp>
      <p:sp>
        <p:nvSpPr>
          <p:cNvPr id="33796" name="Rectangle 3"/>
          <p:cNvSpPr>
            <a:spLocks noGrp="1"/>
          </p:cNvSpPr>
          <p:nvPr>
            <p:ph idx="1"/>
          </p:nvPr>
        </p:nvSpPr>
        <p:spPr/>
        <p:txBody>
          <a:bodyPr wrap="square" anchor="t"/>
          <a:p>
            <a:pPr eaLnBrk="1" hangingPunct="1"/>
            <a:r>
              <a:rPr lang="zh-CN" altLang="en-US" sz="3000" dirty="0">
                <a:solidFill>
                  <a:srgbClr val="FF0000"/>
                </a:solidFill>
                <a:latin typeface="Times New Roman" panose="02020603050405020304" pitchFamily="2" charset="0"/>
                <a:ea typeface="楷体" panose="02010609060101010101" charset="-122"/>
                <a:cs typeface="Times New Roman" panose="02020603050405020304" pitchFamily="2" charset="0"/>
              </a:rPr>
              <a:t>第三阶段：关系数据库系统扩展</a:t>
            </a:r>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1" eaLnBrk="1" hangingPunct="1"/>
            <a:r>
              <a:rPr lang="zh-CN" altLang="en-US" sz="3000" dirty="0">
                <a:latin typeface="Times New Roman" panose="02020603050405020304" pitchFamily="2" charset="0"/>
                <a:ea typeface="楷体" panose="02010609060101010101" charset="-122"/>
                <a:cs typeface="Times New Roman" panose="02020603050405020304" pitchFamily="2" charset="0"/>
              </a:rPr>
              <a:t>自上个世纪九十年代以来，数据库技术的发展集中于对传统</a:t>
            </a:r>
            <a:r>
              <a:rPr lang="zh-CN" altLang="en-US" sz="3000" dirty="0">
                <a:solidFill>
                  <a:srgbClr val="C00000"/>
                </a:solidFill>
                <a:latin typeface="Times New Roman" panose="02020603050405020304" pitchFamily="2" charset="0"/>
                <a:ea typeface="楷体" panose="02010609060101010101" charset="-122"/>
                <a:cs typeface="Times New Roman" panose="02020603050405020304" pitchFamily="2" charset="0"/>
              </a:rPr>
              <a:t>关系数据库系统</a:t>
            </a:r>
            <a:r>
              <a:rPr lang="zh-CN" altLang="en-US" sz="3000" dirty="0">
                <a:latin typeface="Times New Roman" panose="02020603050405020304" pitchFamily="2" charset="0"/>
                <a:ea typeface="楷体" panose="02010609060101010101" charset="-122"/>
                <a:cs typeface="Times New Roman" panose="02020603050405020304" pitchFamily="2" charset="0"/>
              </a:rPr>
              <a:t>的进一步扩充与改造上。</a:t>
            </a:r>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1" eaLnBrk="1" hangingPunct="1"/>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对象关系数据库系统</a:t>
            </a:r>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数据仓库 与 联机分析处理</a:t>
            </a:r>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2" eaLnBrk="1" hangingPunct="1">
              <a:buClr>
                <a:srgbClr val="C00000"/>
              </a:buClr>
            </a:pPr>
            <a:r>
              <a:rPr lang="en-US" altLang="zh-CN" sz="3000" dirty="0">
                <a:latin typeface="Times New Roman" panose="02020603050405020304" pitchFamily="2" charset="0"/>
                <a:ea typeface="楷体" panose="02010609060101010101" charset="-122"/>
                <a:cs typeface="Times New Roman" panose="02020603050405020304" pitchFamily="2" charset="0"/>
              </a:rPr>
              <a:t>Web</a:t>
            </a:r>
            <a:r>
              <a:rPr lang="zh-CN" altLang="en-US" sz="3000" dirty="0">
                <a:latin typeface="Times New Roman" panose="02020603050405020304" pitchFamily="2" charset="0"/>
                <a:ea typeface="楷体" panose="02010609060101010101" charset="-122"/>
                <a:cs typeface="Times New Roman" panose="02020603050405020304" pitchFamily="2" charset="0"/>
              </a:rPr>
              <a:t>数据库</a:t>
            </a:r>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安全数据库</a:t>
            </a:r>
            <a:endParaRPr lang="zh-CN" altLang="en-US" sz="3000" dirty="0">
              <a:latin typeface="Times New Roman" panose="02020603050405020304" pitchFamily="2" charset="0"/>
              <a:ea typeface="楷体" panose="02010609060101010101" charset="-122"/>
              <a:cs typeface="Times New Roman" panose="02020603050405020304" pitchFamily="2" charset="0"/>
            </a:endParaRPr>
          </a:p>
          <a:p>
            <a:pPr lvl="2" eaLnBrk="1" hangingPunct="1">
              <a:buClr>
                <a:srgbClr val="C00000"/>
              </a:buClr>
            </a:pPr>
            <a:r>
              <a:rPr lang="zh-CN" altLang="en-US" sz="3000" dirty="0">
                <a:latin typeface="Times New Roman" panose="02020603050405020304" pitchFamily="2" charset="0"/>
                <a:ea typeface="楷体" panose="02010609060101010101" charset="-122"/>
                <a:cs typeface="Times New Roman" panose="02020603050405020304" pitchFamily="2" charset="0"/>
              </a:rPr>
              <a:t>嵌入式数据库，移动数据库，实时数据库，网格数据库，传感器网络数据库，</a:t>
            </a:r>
            <a:r>
              <a:rPr lang="en-US" altLang="zh-CN" sz="3000" dirty="0">
                <a:latin typeface="Times New Roman" panose="02020603050405020304" pitchFamily="2" charset="0"/>
                <a:ea typeface="楷体" panose="02010609060101010101" charset="-122"/>
                <a:cs typeface="Times New Roman" panose="02020603050405020304" pitchFamily="2" charset="0"/>
              </a:rPr>
              <a:t>……</a:t>
            </a:r>
            <a:endParaRPr lang="en-US" altLang="zh-CN" sz="3000" dirty="0">
              <a:latin typeface="Times New Roman" panose="02020603050405020304" pitchFamily="2" charset="0"/>
              <a:ea typeface="楷体" panose="02010609060101010101" charset="-122"/>
              <a:cs typeface="Times New Roman" panose="02020603050405020304" pitchFamily="2" charset="0"/>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内容占位符 31745"/>
          <p:cNvSpPr>
            <a:spLocks noGrp="1"/>
          </p:cNvSpPr>
          <p:nvPr>
            <p:ph idx="1"/>
          </p:nvPr>
        </p:nvSpPr>
        <p:spPr>
          <a:xfrm>
            <a:off x="424180" y="687070"/>
            <a:ext cx="7010400" cy="5897880"/>
          </a:xfrm>
        </p:spPr>
        <p:txBody>
          <a:bodyPr anchor="t"/>
          <a:p>
            <a:pPr>
              <a:lnSpc>
                <a:spcPct val="100000"/>
              </a:lnSpc>
            </a:pPr>
            <a:r>
              <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rPr>
              <a:t>第四阶段：新型数据管理系统</a:t>
            </a:r>
            <a:endParaRPr lang="zh-CN" altLang="en-US" sz="2400" dirty="0">
              <a:latin typeface="Times New Roman" panose="02020603050405020304" pitchFamily="2" charset="0"/>
              <a:ea typeface="楷体" panose="02010609060101010101" charset="-122"/>
              <a:cs typeface="Times New Roman" panose="02020603050405020304" pitchFamily="2" charset="0"/>
              <a:hlinkClick r:id="rId1" action="ppaction://hlinkpres?slideindex=1&amp;slidetitle="/>
            </a:endParaRPr>
          </a:p>
          <a:p>
            <a:pPr lvl="1">
              <a:lnSpc>
                <a:spcPct val="10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新型的应用模式</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latin typeface="Times New Roman" panose="02020603050405020304" pitchFamily="2" charset="0"/>
                <a:ea typeface="楷体" panose="02010609060101010101" charset="-122"/>
                <a:cs typeface="Times New Roman" panose="02020603050405020304" pitchFamily="2" charset="0"/>
              </a:rPr>
              <a:t>OLAP </a:t>
            </a:r>
            <a:r>
              <a:rPr lang="en-US" altLang="zh-CN" sz="2400" dirty="0">
                <a:latin typeface="Times New Roman" panose="02020603050405020304" pitchFamily="2" charset="0"/>
                <a:ea typeface="楷体" panose="02010609060101010101" charset="-122"/>
                <a:cs typeface="Times New Roman" panose="02020603050405020304" pitchFamily="2" charset="0"/>
              </a:rPr>
              <a:t>(</a:t>
            </a:r>
            <a:r>
              <a:rPr lang="zh-CN" altLang="en-US" sz="2400" dirty="0">
                <a:latin typeface="Times New Roman" panose="02020603050405020304" pitchFamily="2" charset="0"/>
                <a:ea typeface="楷体" panose="02010609060101010101" charset="-122"/>
                <a:cs typeface="Times New Roman" panose="02020603050405020304" pitchFamily="2" charset="0"/>
              </a:rPr>
              <a:t>On-Line Analytical Processing</a:t>
            </a:r>
            <a:r>
              <a:rPr lang="en-US" altLang="zh-CN" sz="2400" dirty="0">
                <a:latin typeface="Times New Roman" panose="02020603050405020304" pitchFamily="2" charset="0"/>
                <a:ea typeface="楷体" panose="02010609060101010101" charset="-122"/>
                <a:cs typeface="Times New Roman" panose="02020603050405020304" pitchFamily="2" charset="0"/>
              </a:rPr>
              <a:t>)</a:t>
            </a:r>
            <a:endParaRPr lang="en-US" altLang="zh-CN" sz="2400" dirty="0">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latin typeface="Times New Roman" panose="02020603050405020304" pitchFamily="2" charset="0"/>
                <a:ea typeface="楷体" panose="02010609060101010101" charset="-122"/>
                <a:cs typeface="Times New Roman" panose="02020603050405020304" pitchFamily="2" charset="0"/>
              </a:rPr>
              <a:t>Web应用</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1">
              <a:lnSpc>
                <a:spcPct val="10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新型应用的特点</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latin typeface="Times New Roman" panose="02020603050405020304" pitchFamily="2" charset="0"/>
                <a:ea typeface="楷体" panose="02010609060101010101" charset="-122"/>
                <a:cs typeface="Times New Roman" panose="02020603050405020304" pitchFamily="2" charset="0"/>
              </a:rPr>
              <a:t>大规模、海量数据</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latin typeface="Times New Roman" panose="02020603050405020304" pitchFamily="2" charset="0"/>
                <a:ea typeface="楷体" panose="02010609060101010101" charset="-122"/>
                <a:cs typeface="Times New Roman" panose="02020603050405020304" pitchFamily="2" charset="0"/>
              </a:rPr>
              <a:t>高度实时&amp;并发</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latin typeface="Times New Roman" panose="02020603050405020304" pitchFamily="2" charset="0"/>
                <a:ea typeface="楷体" panose="02010609060101010101" charset="-122"/>
                <a:cs typeface="Times New Roman" panose="02020603050405020304" pitchFamily="2" charset="0"/>
              </a:rPr>
              <a:t>大数据分析应用</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latin typeface="Times New Roman" panose="02020603050405020304" pitchFamily="2" charset="0"/>
                <a:ea typeface="楷体" panose="02010609060101010101" charset="-122"/>
                <a:cs typeface="Times New Roman" panose="02020603050405020304" pitchFamily="2" charset="0"/>
              </a:rPr>
              <a:t>智能化</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1">
              <a:lnSpc>
                <a:spcPct val="100000"/>
              </a:lnSpc>
            </a:pPr>
            <a:r>
              <a:rPr lang="zh-CN" altLang="en-US" sz="2400" dirty="0">
                <a:latin typeface="Times New Roman" panose="02020603050405020304" pitchFamily="2" charset="0"/>
                <a:ea typeface="楷体" panose="02010609060101010101" charset="-122"/>
                <a:cs typeface="Times New Roman" panose="02020603050405020304" pitchFamily="2" charset="0"/>
              </a:rPr>
              <a:t>解决方案：</a:t>
            </a:r>
            <a:endParaRPr lang="zh-CN" altLang="en-US" sz="2400" dirty="0">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rPr>
              <a:t>NoSQL，</a:t>
            </a:r>
            <a:r>
              <a:rPr lang="en-US" altLang="zh-CN" sz="2400" dirty="0">
                <a:solidFill>
                  <a:srgbClr val="FF0000"/>
                </a:solidFill>
                <a:latin typeface="Times New Roman" panose="02020603050405020304" pitchFamily="2" charset="0"/>
                <a:ea typeface="楷体" panose="02010609060101010101" charset="-122"/>
                <a:cs typeface="Times New Roman" panose="02020603050405020304" pitchFamily="2" charset="0"/>
              </a:rPr>
              <a:t>NewSQL</a:t>
            </a:r>
            <a:endPar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rPr>
              <a:t>云原生数据库</a:t>
            </a:r>
            <a:r>
              <a:rPr lang="en-US" altLang="zh-CN" sz="2400" dirty="0">
                <a:solidFill>
                  <a:srgbClr val="FF0000"/>
                </a:solidFill>
                <a:latin typeface="Times New Roman" panose="02020603050405020304" pitchFamily="2" charset="0"/>
                <a:ea typeface="楷体" panose="02010609060101010101" charset="-122"/>
                <a:cs typeface="Times New Roman" panose="02020603050405020304" pitchFamily="2" charset="0"/>
              </a:rPr>
              <a:t>(</a:t>
            </a:r>
            <a:r>
              <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rPr>
              <a:t>Cloud</a:t>
            </a:r>
            <a:r>
              <a:rPr lang="en-US" altLang="zh-CN" sz="2400" dirty="0">
                <a:solidFill>
                  <a:srgbClr val="FF0000"/>
                </a:solidFill>
                <a:latin typeface="Times New Roman" panose="02020603050405020304" pitchFamily="2" charset="0"/>
                <a:ea typeface="楷体" panose="02010609060101010101" charset="-122"/>
                <a:cs typeface="Times New Roman" panose="02020603050405020304" pitchFamily="2" charset="0"/>
              </a:rPr>
              <a:t>-</a:t>
            </a:r>
            <a:r>
              <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rPr>
              <a:t>Native</a:t>
            </a:r>
            <a:r>
              <a:rPr lang="en-US" altLang="zh-CN" sz="2400" dirty="0">
                <a:solidFill>
                  <a:srgbClr val="FF0000"/>
                </a:solidFill>
                <a:latin typeface="Times New Roman" panose="02020603050405020304" pitchFamily="2" charset="0"/>
                <a:ea typeface="楷体" panose="02010609060101010101" charset="-122"/>
                <a:cs typeface="Times New Roman" panose="02020603050405020304" pitchFamily="2" charset="0"/>
              </a:rPr>
              <a:t> </a:t>
            </a:r>
            <a:r>
              <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rPr>
              <a:t>Database</a:t>
            </a:r>
            <a:r>
              <a:rPr lang="en-US" altLang="zh-CN" sz="2400" dirty="0">
                <a:solidFill>
                  <a:srgbClr val="FF0000"/>
                </a:solidFill>
                <a:latin typeface="Times New Roman" panose="02020603050405020304" pitchFamily="2" charset="0"/>
                <a:ea typeface="楷体" panose="02010609060101010101" charset="-122"/>
                <a:cs typeface="Times New Roman" panose="02020603050405020304" pitchFamily="2" charset="0"/>
              </a:rPr>
              <a:t>)</a:t>
            </a:r>
            <a:endPar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rPr>
              <a:t>数据湖</a:t>
            </a:r>
            <a:r>
              <a:rPr lang="en-US" altLang="zh-CN" sz="2400" dirty="0">
                <a:solidFill>
                  <a:srgbClr val="FF0000"/>
                </a:solidFill>
                <a:latin typeface="Times New Roman" panose="02020603050405020304" pitchFamily="2" charset="0"/>
                <a:ea typeface="楷体" panose="02010609060101010101" charset="-122"/>
                <a:cs typeface="Times New Roman" panose="02020603050405020304" pitchFamily="2" charset="0"/>
              </a:rPr>
              <a:t> (Data Lake)</a:t>
            </a:r>
            <a:endPar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zh-CN" altLang="en-US" sz="2400" dirty="0">
                <a:solidFill>
                  <a:srgbClr val="FF0000"/>
                </a:solidFill>
                <a:latin typeface="Times New Roman" panose="02020603050405020304" pitchFamily="2" charset="0"/>
                <a:cs typeface="Times New Roman" panose="02020603050405020304" pitchFamily="2" charset="0"/>
                <a:sym typeface="+mn-ea"/>
              </a:rPr>
              <a:t>新型数据库系统</a:t>
            </a:r>
            <a:endPar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endParaRPr>
          </a:p>
          <a:p>
            <a:pPr lvl="2">
              <a:lnSpc>
                <a:spcPct val="100000"/>
              </a:lnSpc>
              <a:buFont typeface="Arial" panose="020B0604020202020204" pitchFamily="34" charset="0"/>
              <a:buChar char="•"/>
            </a:pPr>
            <a:r>
              <a:rPr lang="en-US" altLang="zh-CN" sz="2400" dirty="0">
                <a:solidFill>
                  <a:srgbClr val="FF0000"/>
                </a:solidFill>
                <a:latin typeface="Times New Roman" panose="02020603050405020304" pitchFamily="2" charset="0"/>
                <a:ea typeface="楷体" panose="02010609060101010101" charset="-122"/>
                <a:cs typeface="Times New Roman" panose="02020603050405020304" pitchFamily="2" charset="0"/>
              </a:rPr>
              <a:t>AI + DB</a:t>
            </a:r>
            <a:endParaRPr lang="zh-CN" altLang="en-US" sz="2400" dirty="0">
              <a:solidFill>
                <a:srgbClr val="FF0000"/>
              </a:solidFill>
              <a:latin typeface="Times New Roman" panose="02020603050405020304" pitchFamily="2" charset="0"/>
              <a:ea typeface="楷体" panose="02010609060101010101" charset="-122"/>
              <a:cs typeface="Times New Roman" panose="02020603050405020304" pitchFamily="2" charset="0"/>
            </a:endParaRPr>
          </a:p>
        </p:txBody>
      </p:sp>
      <p:sp>
        <p:nvSpPr>
          <p:cNvPr id="34818" name="Rectangle 2"/>
          <p:cNvSpPr>
            <a:spLocks noGrp="1"/>
          </p:cNvSpPr>
          <p:nvPr>
            <p:ph type="title"/>
          </p:nvPr>
        </p:nvSpPr>
        <p:spPr/>
        <p:txBody>
          <a:bodyPr wrap="square" tIns="0" bIns="0" anchor="ctr"/>
          <a:p>
            <a:pPr eaLnBrk="1" hangingPunct="1"/>
            <a:r>
              <a:rPr lang="zh-CN" altLang="en-US">
                <a:sym typeface="+mn-ea"/>
              </a:rPr>
              <a:t>数据库系统的发展历史（</a:t>
            </a:r>
            <a:r>
              <a:rPr lang="en-US" altLang="zh-CN">
                <a:sym typeface="+mn-ea"/>
              </a:rPr>
              <a:t>5</a:t>
            </a:r>
            <a:r>
              <a:rPr lang="zh-CN" altLang="en-US">
                <a:sym typeface="+mn-ea"/>
              </a:rPr>
              <a:t>）</a:t>
            </a:r>
            <a:endParaRPr lang="zh-CN" altLang="en-US"/>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
        <p:nvSpPr>
          <p:cNvPr id="4" name="文本框 3"/>
          <p:cNvSpPr txBox="1"/>
          <p:nvPr/>
        </p:nvSpPr>
        <p:spPr>
          <a:xfrm>
            <a:off x="8087360" y="1591310"/>
            <a:ext cx="3679825" cy="3415030"/>
          </a:xfrm>
          <a:prstGeom prst="rect">
            <a:avLst/>
          </a:prstGeom>
          <a:solidFill>
            <a:schemeClr val="accent6">
              <a:lumMod val="20000"/>
              <a:lumOff val="80000"/>
            </a:schemeClr>
          </a:solidFill>
        </p:spPr>
        <p:txBody>
          <a:bodyPr wrap="square" lIns="269875" rtlCol="0">
            <a:spAutoFit/>
          </a:bodyPr>
          <a:p>
            <a:r>
              <a:rPr lang="en-US" altLang="zh-CN" sz="2400" b="1"/>
              <a:t>Document store</a:t>
            </a:r>
            <a:endParaRPr lang="en-US" altLang="zh-CN" sz="2400" b="1"/>
          </a:p>
          <a:p>
            <a:r>
              <a:rPr lang="en-US" altLang="zh-CN" sz="2400" b="1"/>
              <a:t>Graph DBMS</a:t>
            </a:r>
            <a:endParaRPr lang="en-US" altLang="zh-CN" sz="2400" b="1"/>
          </a:p>
          <a:p>
            <a:r>
              <a:rPr lang="en-US" altLang="zh-CN" sz="2400" b="1"/>
              <a:t>Key-value store</a:t>
            </a:r>
            <a:endParaRPr lang="en-US" altLang="zh-CN" sz="2400" b="1"/>
          </a:p>
          <a:p>
            <a:r>
              <a:rPr lang="en-US" altLang="zh-CN" sz="2400" b="1"/>
              <a:t>RDF store</a:t>
            </a:r>
            <a:endParaRPr lang="en-US" altLang="zh-CN" sz="2400" b="1"/>
          </a:p>
          <a:p>
            <a:r>
              <a:rPr lang="en-US" altLang="zh-CN" sz="2400" b="1"/>
              <a:t>Spatial DBMS</a:t>
            </a:r>
            <a:endParaRPr lang="en-US" altLang="zh-CN" sz="2400" b="1"/>
          </a:p>
          <a:p>
            <a:r>
              <a:rPr lang="en-US" altLang="zh-CN" sz="2400" b="1">
                <a:sym typeface="+mn-ea"/>
              </a:rPr>
              <a:t>Search engine</a:t>
            </a:r>
            <a:endParaRPr lang="en-US" altLang="zh-CN" sz="2400" b="1"/>
          </a:p>
          <a:p>
            <a:r>
              <a:rPr lang="en-US" altLang="zh-CN" sz="2400" b="1"/>
              <a:t>Time Series DBMS</a:t>
            </a:r>
            <a:endParaRPr lang="en-US" altLang="zh-CN" sz="2400" b="1"/>
          </a:p>
          <a:p>
            <a:r>
              <a:rPr lang="en-US" altLang="zh-CN" sz="2400" b="1"/>
              <a:t>Vector DBMS</a:t>
            </a:r>
            <a:endParaRPr lang="en-US" altLang="zh-CN" sz="2400" b="1"/>
          </a:p>
          <a:p>
            <a:r>
              <a:rPr lang="en-US" altLang="zh-CN" sz="2400" b="1"/>
              <a:t>......</a:t>
            </a:r>
            <a:endParaRPr lang="en-US" altLang="zh-CN" sz="2400" b="1"/>
          </a:p>
        </p:txBody>
      </p:sp>
      <p:grpSp>
        <p:nvGrpSpPr>
          <p:cNvPr id="5" name="组合 4"/>
          <p:cNvGrpSpPr/>
          <p:nvPr/>
        </p:nvGrpSpPr>
        <p:grpSpPr>
          <a:xfrm>
            <a:off x="424180" y="6327140"/>
            <a:ext cx="11343005" cy="337185"/>
            <a:chOff x="668" y="9964"/>
            <a:chExt cx="17863" cy="531"/>
          </a:xfrm>
        </p:grpSpPr>
        <p:sp>
          <p:nvSpPr>
            <p:cNvPr id="6" name="文本框 5"/>
            <p:cNvSpPr txBox="1"/>
            <p:nvPr>
              <p:custDataLst>
                <p:tags r:id="rId2"/>
              </p:custDataLst>
            </p:nvPr>
          </p:nvSpPr>
          <p:spPr>
            <a:xfrm>
              <a:off x="668" y="9965"/>
              <a:ext cx="9518" cy="531"/>
            </a:xfrm>
            <a:prstGeom prst="rect">
              <a:avLst/>
            </a:prstGeom>
            <a:noFill/>
          </p:spPr>
          <p:txBody>
            <a:bodyPr wrap="square" rtlCol="0">
              <a:spAutoFit/>
            </a:bodyPr>
            <a:p>
              <a:pPr marL="285750" indent="-285750" algn="l">
                <a:buFont typeface="Arial" panose="020B0604020202020204" pitchFamily="34" charset="0"/>
                <a:buChar char="•"/>
              </a:pPr>
              <a:r>
                <a:rPr lang="zh-CN" altLang="en-US" sz="1600" b="1"/>
                <a:t>全球数据库排行榜：</a:t>
              </a:r>
              <a:r>
                <a:rPr lang="zh-CN" altLang="en-US" sz="1600" b="1">
                  <a:hlinkClick r:id="rId3" action="ppaction://hlinkfile"/>
                </a:rPr>
                <a:t>https://db-engines.com/en/ranking</a:t>
              </a:r>
              <a:endParaRPr lang="zh-CN" altLang="en-US" sz="1600" b="1"/>
            </a:p>
          </p:txBody>
        </p:sp>
        <p:sp>
          <p:nvSpPr>
            <p:cNvPr id="12" name="文本框 11"/>
            <p:cNvSpPr txBox="1"/>
            <p:nvPr>
              <p:custDataLst>
                <p:tags r:id="rId4"/>
              </p:custDataLst>
            </p:nvPr>
          </p:nvSpPr>
          <p:spPr>
            <a:xfrm>
              <a:off x="9015" y="9964"/>
              <a:ext cx="9516" cy="531"/>
            </a:xfrm>
            <a:prstGeom prst="rect">
              <a:avLst/>
            </a:prstGeom>
            <a:noFill/>
          </p:spPr>
          <p:txBody>
            <a:bodyPr wrap="square" rtlCol="0">
              <a:spAutoFit/>
            </a:bodyPr>
            <a:p>
              <a:pPr marL="285750" indent="-285750" algn="r">
                <a:buFont typeface="Arial" panose="020B0604020202020204" pitchFamily="34" charset="0"/>
                <a:buChar char="•"/>
              </a:pPr>
              <a:r>
                <a:rPr lang="zh-CN" altLang="en-US" sz="1600" b="1">
                  <a:sym typeface="+mn-ea"/>
                </a:rPr>
                <a:t>国产数据库排行榜：</a:t>
              </a:r>
              <a:r>
                <a:rPr lang="zh-CN" altLang="en-US" sz="1600" b="1">
                  <a:latin typeface="楷体" panose="02010609060101010101" charset="-122"/>
                  <a:ea typeface="楷体" panose="02010609060101010101" charset="-122"/>
                  <a:cs typeface="楷体" panose="02010609060101010101" charset="-122"/>
                  <a:sym typeface="+mn-ea"/>
                  <a:hlinkClick r:id="rId5" action="ppaction://hlinkfile"/>
                </a:rPr>
                <a:t>https://www.modb.pro</a:t>
              </a:r>
              <a:r>
                <a:rPr lang="en-US" altLang="zh-CN" sz="1600" b="1">
                  <a:latin typeface="楷体" panose="02010609060101010101" charset="-122"/>
                  <a:ea typeface="楷体" panose="02010609060101010101" charset="-122"/>
                  <a:cs typeface="楷体" panose="02010609060101010101" charset="-122"/>
                  <a:sym typeface="+mn-ea"/>
                  <a:hlinkClick r:id="rId5" action="ppaction://hlinkfile"/>
                </a:rPr>
                <a:t>/dbrank</a:t>
              </a:r>
              <a:endParaRPr lang="en-US" altLang="zh-CN" sz="1600" b="1">
                <a:latin typeface="楷体" panose="02010609060101010101" charset="-122"/>
                <a:ea typeface="楷体" panose="02010609060101010101" charset="-122"/>
                <a:cs typeface="楷体" panose="02010609060101010101"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数据库系统分类</a:t>
            </a:r>
            <a:endParaRPr lang="zh-CN" altLang="en-US">
              <a:sym typeface="+mn-ea"/>
            </a:endParaRPr>
          </a:p>
        </p:txBody>
      </p:sp>
      <p:graphicFrame>
        <p:nvGraphicFramePr>
          <p:cNvPr id="5" name="内容占位符 4"/>
          <p:cNvGraphicFramePr/>
          <p:nvPr>
            <p:ph idx="4294967295"/>
            <p:custDataLst>
              <p:tags r:id="rId1"/>
            </p:custDataLst>
          </p:nvPr>
        </p:nvGraphicFramePr>
        <p:xfrm>
          <a:off x="360000" y="687070"/>
          <a:ext cx="11082020" cy="5431790"/>
        </p:xfrm>
        <a:graphic>
          <a:graphicData uri="http://schemas.openxmlformats.org/drawingml/2006/table">
            <a:tbl>
              <a:tblPr firstRow="1" bandRow="1">
                <a:tableStyleId>{5C22544A-7EE6-4342-B048-85BDC9FD1C3A}</a:tableStyleId>
              </a:tblPr>
              <a:tblGrid>
                <a:gridCol w="3502025"/>
                <a:gridCol w="7579995"/>
              </a:tblGrid>
              <a:tr h="835025">
                <a:tc>
                  <a:txBody>
                    <a:bodyPr/>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关系数据库</a:t>
                      </a:r>
                      <a:endPar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RDBMS</a:t>
                      </a:r>
                      <a:endPar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Oracle, </a:t>
                      </a: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sym typeface="+mn-ea"/>
                        </a:rPr>
                        <a:t>DB2,</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sym typeface="+mn-ea"/>
                        </a:rPr>
                        <a:t> </a:t>
                      </a: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Microsoft SQL Server, </a:t>
                      </a: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sym typeface="+mn-ea"/>
                        </a:rPr>
                        <a:t>MySQL, PostgreSQL, </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812800">
                <a:tc>
                  <a:txBody>
                    <a:bodyPr/>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键值数据库</a:t>
                      </a:r>
                      <a:endPar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Key-value stores</a:t>
                      </a:r>
                      <a:endPar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Redis</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Memcached, </a:t>
                      </a:r>
                      <a:r>
                        <a:rPr lang="en-US" altLang="zh-CN" sz="2000" b="0">
                          <a:solidFill>
                            <a:schemeClr val="accent6">
                              <a:lumMod val="75000"/>
                            </a:schemeClr>
                          </a:solidFill>
                          <a:latin typeface="Arial" panose="020B0604020202020204" pitchFamily="34" charset="0"/>
                          <a:ea typeface="华文细黑" panose="02010600040101010101" pitchFamily="2" charset="-122"/>
                          <a:cs typeface="Arial" panose="020B0604020202020204" pitchFamily="34" charset="0"/>
                          <a:sym typeface="+mn-ea"/>
                        </a:rPr>
                        <a:t>Amazon Dynamo DB, </a:t>
                      </a:r>
                      <a:r>
                        <a:rPr lang="en-US" altLang="zh-CN" sz="2000" b="0">
                          <a:solidFill>
                            <a:schemeClr val="accent6">
                              <a:lumMod val="75000"/>
                            </a:schemeClr>
                          </a:solidFill>
                          <a:latin typeface="Arial" panose="020B0604020202020204" pitchFamily="34" charset="0"/>
                          <a:ea typeface="华文细黑" panose="02010600040101010101" pitchFamily="2" charset="-122"/>
                          <a:cs typeface="Arial" panose="020B0604020202020204" pitchFamily="34" charset="0"/>
                        </a:rPr>
                        <a:t>Microsoft Azure Cosmos DB</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102995">
                <a:tc>
                  <a:txBody>
                    <a:bodyPr/>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文档数据库</a:t>
                      </a:r>
                      <a:endPar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Document-oriented stores</a:t>
                      </a:r>
                      <a:endPar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MongoDB</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Couchbase, CouchDB</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sym typeface="+mn-ea"/>
                        </a:rPr>
                        <a:t>, Amazon Dynamo DB, Microsoft Azure Cosmos DB, ......</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893445">
                <a:tc>
                  <a:txBody>
                    <a:bodyPr/>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图数据库</a:t>
                      </a:r>
                      <a:endPar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Graph-oriented DBMS</a:t>
                      </a:r>
                      <a:endPar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Neo4j</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OrientDB, </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sym typeface="+mn-ea"/>
                        </a:rPr>
                        <a:t>Microsoft Azure Cosmos DB, ......</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894080">
                <a:tc>
                  <a:txBody>
                    <a:bodyPr/>
                    <a:p>
                      <a:pPr algn="ctr">
                        <a:buNone/>
                      </a:pPr>
                      <a:r>
                        <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列数据库</a:t>
                      </a:r>
                      <a:endParaRPr lang="zh-CN" altLang="en-US"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p>
                      <a:pPr algn="ctr">
                        <a:buNone/>
                      </a:pPr>
                      <a:r>
                        <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rPr>
                        <a:t>Wide column store</a:t>
                      </a:r>
                      <a:endParaRPr lang="en-US" altLang="zh-CN" sz="2000" b="0">
                        <a:solidFill>
                          <a:schemeClr val="tx1"/>
                        </a:solidFill>
                        <a:latin typeface="华文细黑" panose="02010600040101010101" pitchFamily="2" charset="-122"/>
                        <a:ea typeface="华文细黑" panose="02010600040101010101" pitchFamily="2" charset="-122"/>
                        <a:cs typeface="华文细黑" panose="02010600040101010101" pitchFamily="2" charset="-122"/>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en-US" altLang="zh-CN" sz="2000" b="0">
                          <a:solidFill>
                            <a:srgbClr val="FF0000"/>
                          </a:solidFill>
                          <a:latin typeface="Arial" panose="020B0604020202020204" pitchFamily="34" charset="0"/>
                          <a:ea typeface="华文细黑" panose="02010600040101010101" pitchFamily="2" charset="-122"/>
                          <a:cs typeface="Arial" panose="020B0604020202020204" pitchFamily="34" charset="0"/>
                        </a:rPr>
                        <a:t>Cassandra,   HBase,</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 ......</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893445">
                <a:tc>
                  <a:txBody>
                    <a:bodyPr/>
                    <a:p>
                      <a:pPr algn="ctr">
                        <a:buNone/>
                      </a:pPr>
                      <a:r>
                        <a:rPr lang="zh-CN" altLang="en-US" sz="2000">
                          <a:solidFill>
                            <a:schemeClr val="tx1"/>
                          </a:solidFill>
                        </a:rPr>
                        <a:t>其他</a:t>
                      </a:r>
                      <a:endParaRPr lang="zh-CN" altLang="en-US" sz="2000">
                        <a:solidFill>
                          <a:schemeClr val="tx1"/>
                        </a:solidFill>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面向对象数据库（</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object-oriented DBMS</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XML</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数据库</a:t>
                      </a:r>
                      <a:endPar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p>
                      <a:pPr algn="l">
                        <a:buNone/>
                      </a:pP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RDF</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数据库，时序数据库，空间数据库，向量</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数据库</a:t>
                      </a:r>
                      <a:endPar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p>
                      <a:pPr algn="l">
                        <a:buNone/>
                      </a:pP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搜索</a:t>
                      </a:r>
                      <a:r>
                        <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rPr>
                        <a:t>引擎</a:t>
                      </a:r>
                      <a:endParaRPr lang="zh-CN" altLang="en-US"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p>
                      <a:pPr algn="l">
                        <a:buNone/>
                      </a:pPr>
                      <a:r>
                        <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rPr>
                        <a:t>......</a:t>
                      </a:r>
                      <a:endParaRPr lang="en-US" altLang="zh-CN" sz="2000" b="0">
                        <a:solidFill>
                          <a:schemeClr val="tx1"/>
                        </a:solidFill>
                        <a:latin typeface="Arial" panose="020B0604020202020204" pitchFamily="34" charset="0"/>
                        <a:ea typeface="华文细黑" panose="02010600040101010101" pitchFamily="2" charset="-122"/>
                        <a:cs typeface="Arial" panose="020B0604020202020204" pitchFamily="34" charset="0"/>
                      </a:endParaRPr>
                    </a:p>
                  </a:txBody>
                  <a:tcPr marL="68580" marR="68580" marT="34290" marB="3429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grpSp>
        <p:nvGrpSpPr>
          <p:cNvPr id="8" name="组合 7"/>
          <p:cNvGrpSpPr/>
          <p:nvPr/>
        </p:nvGrpSpPr>
        <p:grpSpPr>
          <a:xfrm>
            <a:off x="11539538" y="1552258"/>
            <a:ext cx="764858" cy="3632835"/>
            <a:chOff x="16406" y="2982"/>
            <a:chExt cx="1606" cy="7628"/>
          </a:xfrm>
        </p:grpSpPr>
        <p:sp>
          <p:nvSpPr>
            <p:cNvPr id="6" name="右大括号 5"/>
            <p:cNvSpPr/>
            <p:nvPr/>
          </p:nvSpPr>
          <p:spPr>
            <a:xfrm>
              <a:off x="16406" y="2982"/>
              <a:ext cx="283" cy="7628"/>
            </a:xfrm>
            <a:prstGeom prst="rightBrace">
              <a:avLst>
                <a:gd name="adj1" fmla="val 84570"/>
                <a:gd name="adj2" fmla="val 50000"/>
              </a:avLst>
            </a:prstGeom>
            <a:ln w="15875">
              <a:solidFill>
                <a:srgbClr val="FF0000"/>
              </a:solidFill>
            </a:ln>
          </p:spPr>
          <p:style>
            <a:lnRef idx="1">
              <a:schemeClr val="dk1"/>
            </a:lnRef>
            <a:fillRef idx="0">
              <a:schemeClr val="dk1"/>
            </a:fillRef>
            <a:effectRef idx="0">
              <a:schemeClr val="dk1"/>
            </a:effectRef>
            <a:fontRef idx="minor">
              <a:schemeClr val="tx1"/>
            </a:fontRef>
          </p:style>
          <p:txBody>
            <a:bodyPr rtlCol="0" anchor="ctr"/>
            <a:p>
              <a:pPr algn="ctr"/>
              <a:endParaRPr lang="zh-CN" altLang="en-US" sz="1800"/>
            </a:p>
          </p:txBody>
        </p:sp>
        <p:sp>
          <p:nvSpPr>
            <p:cNvPr id="7" name="文本框 6"/>
            <p:cNvSpPr txBox="1"/>
            <p:nvPr/>
          </p:nvSpPr>
          <p:spPr>
            <a:xfrm>
              <a:off x="16659" y="4088"/>
              <a:ext cx="1353" cy="5419"/>
            </a:xfrm>
            <a:prstGeom prst="rect">
              <a:avLst/>
            </a:prstGeom>
            <a:noFill/>
          </p:spPr>
          <p:txBody>
            <a:bodyPr vert="eaVert" wrap="square" rtlCol="0">
              <a:spAutoFit/>
            </a:bodyPr>
            <a:p>
              <a:pPr algn="ctr">
                <a:lnSpc>
                  <a:spcPct val="150000"/>
                </a:lnSpc>
              </a:pPr>
              <a:r>
                <a:rPr lang="en-US" altLang="zh-CN" sz="2000" b="1" spc="100">
                  <a:solidFill>
                    <a:srgbClr val="FF0000"/>
                  </a:solidFill>
                  <a:uFillTx/>
                </a:rPr>
                <a:t>NoSQL </a:t>
              </a:r>
              <a:r>
                <a:rPr lang="zh-CN" altLang="en-US" sz="2000" b="1" spc="100">
                  <a:solidFill>
                    <a:srgbClr val="FF0000"/>
                  </a:solidFill>
                  <a:uFillTx/>
                </a:rPr>
                <a:t>数据库</a:t>
              </a:r>
              <a:endParaRPr lang="zh-CN" altLang="en-US" sz="2000" b="1" spc="100">
                <a:solidFill>
                  <a:srgbClr val="FF0000"/>
                </a:solidFill>
                <a:uFillTx/>
              </a:endParaRPr>
            </a:p>
          </p:txBody>
        </p:sp>
      </p:grpSp>
      <p:sp>
        <p:nvSpPr>
          <p:cNvPr id="9" name="灯片编号占位符 8"/>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  数据库系统概述</a:t>
            </a:r>
            <a:endParaRPr lang="zh-CN" altLang="en-US"/>
          </a:p>
        </p:txBody>
      </p:sp>
      <p:sp>
        <p:nvSpPr>
          <p:cNvPr id="3" name="内容占位符 2"/>
          <p:cNvSpPr>
            <a:spLocks noGrp="1"/>
          </p:cNvSpPr>
          <p:nvPr>
            <p:ph idx="1"/>
          </p:nvPr>
        </p:nvSpPr>
        <p:spPr/>
        <p:txBody>
          <a:bodyPr/>
          <a:p>
            <a:pPr marL="0" indent="0">
              <a:lnSpc>
                <a:spcPct val="150000"/>
              </a:lnSpc>
              <a:buNone/>
            </a:pPr>
            <a:r>
              <a:rPr lang="en-US" altLang="zh-CN"/>
              <a:t>1.1.1 </a:t>
            </a:r>
            <a:r>
              <a:rPr lang="zh-CN" altLang="en-US"/>
              <a:t>数据库的四个基本</a:t>
            </a:r>
            <a:r>
              <a:rPr lang="zh-CN" altLang="en-US"/>
              <a:t>概念</a:t>
            </a:r>
            <a:endParaRPr lang="zh-CN" altLang="en-US"/>
          </a:p>
          <a:p>
            <a:pPr marL="0" indent="0">
              <a:lnSpc>
                <a:spcPct val="150000"/>
              </a:lnSpc>
              <a:buNone/>
            </a:pPr>
            <a:r>
              <a:rPr lang="en-US" altLang="zh-CN"/>
              <a:t>1.1.2 </a:t>
            </a:r>
            <a:r>
              <a:rPr lang="zh-CN" altLang="en-US"/>
              <a:t>数据管理技术的产生和</a:t>
            </a:r>
            <a:r>
              <a:rPr lang="zh-CN" altLang="en-US"/>
              <a:t>发展</a:t>
            </a:r>
            <a:endParaRPr lang="zh-CN" altLang="en-US"/>
          </a:p>
          <a:p>
            <a:pPr marL="0" indent="0">
              <a:lnSpc>
                <a:spcPct val="150000"/>
              </a:lnSpc>
              <a:buNone/>
            </a:pPr>
            <a:r>
              <a:rPr lang="en-US" altLang="zh-CN">
                <a:solidFill>
                  <a:srgbClr val="FF0000"/>
                </a:solidFill>
              </a:rPr>
              <a:t>1.1.3 </a:t>
            </a:r>
            <a:r>
              <a:rPr lang="zh-CN" altLang="en-US">
                <a:solidFill>
                  <a:srgbClr val="FF0000"/>
                </a:solidFill>
              </a:rPr>
              <a:t>数据库系统的特点</a:t>
            </a:r>
            <a:endParaRPr lang="zh-CN" altLang="en-US">
              <a:solidFill>
                <a:srgbClr val="FF0000"/>
              </a:solidFill>
            </a:endParaRPr>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一个例子：学生学籍管理系统（</a:t>
            </a:r>
            <a:r>
              <a:rPr lang="en-US" altLang="zh-CN"/>
              <a:t>1</a:t>
            </a:r>
            <a:r>
              <a:rPr lang="zh-CN" altLang="en-US"/>
              <a:t>）</a:t>
            </a:r>
            <a:endParaRPr lang="zh-CN" altLang="en-US"/>
          </a:p>
        </p:txBody>
      </p:sp>
      <p:sp>
        <p:nvSpPr>
          <p:cNvPr id="3" name="内容占位符 2"/>
          <p:cNvSpPr>
            <a:spLocks noGrp="1"/>
          </p:cNvSpPr>
          <p:nvPr>
            <p:ph idx="1"/>
          </p:nvPr>
        </p:nvSpPr>
        <p:spPr/>
        <p:txBody>
          <a:bodyPr/>
          <a:p>
            <a:pPr>
              <a:lnSpc>
                <a:spcPct val="100000"/>
              </a:lnSpc>
            </a:pPr>
            <a:r>
              <a:rPr lang="zh-CN" altLang="en-US">
                <a:highlight>
                  <a:srgbClr val="FFFF00"/>
                </a:highlight>
              </a:rPr>
              <a:t>学生的信息包括：学号、姓名、性别、年龄、专业和奖励</a:t>
            </a:r>
            <a:endParaRPr lang="zh-CN" altLang="en-US"/>
          </a:p>
          <a:p>
            <a:pPr lvl="0">
              <a:lnSpc>
                <a:spcPct val="100000"/>
              </a:lnSpc>
              <a:spcBef>
                <a:spcPts val="3000"/>
              </a:spcBef>
            </a:pPr>
            <a:r>
              <a:rPr lang="zh-CN" altLang="en-US"/>
              <a:t>用文件系统实现学籍</a:t>
            </a:r>
            <a:r>
              <a:rPr lang="zh-CN" altLang="en-US"/>
              <a:t>管理</a:t>
            </a:r>
            <a:endParaRPr lang="zh-CN" altLang="en-US"/>
          </a:p>
          <a:p>
            <a:pPr lvl="1">
              <a:lnSpc>
                <a:spcPct val="100000"/>
              </a:lnSpc>
              <a:spcBef>
                <a:spcPts val="1000"/>
              </a:spcBef>
            </a:pPr>
            <a:r>
              <a:rPr lang="zh-CN" altLang="en-US">
                <a:solidFill>
                  <a:srgbClr val="FF0000"/>
                </a:solidFill>
              </a:rPr>
              <a:t>数据存储</a:t>
            </a:r>
            <a:endParaRPr lang="zh-CN" altLang="en-US"/>
          </a:p>
          <a:p>
            <a:pPr lvl="2">
              <a:lnSpc>
                <a:spcPct val="100000"/>
              </a:lnSpc>
            </a:pPr>
            <a:r>
              <a:rPr lang="zh-CN" altLang="en-US">
                <a:solidFill>
                  <a:srgbClr val="C00000"/>
                </a:solidFill>
              </a:rPr>
              <a:t>学生的基本信息</a:t>
            </a:r>
            <a:r>
              <a:rPr lang="zh-CN" altLang="en-US"/>
              <a:t>：定长记录，存储在</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学生基本信息</a:t>
            </a:r>
            <a:r>
              <a:rPr lang="en-US" altLang="zh-CN">
                <a:latin typeface="Times New Roman" panose="02020603050405020304" pitchFamily="2" charset="0"/>
                <a:cs typeface="Times New Roman" panose="02020603050405020304" pitchFamily="2" charset="0"/>
              </a:rPr>
              <a:t>”</a:t>
            </a:r>
            <a:r>
              <a:rPr lang="zh-CN" altLang="en-US"/>
              <a:t>文件中</a:t>
            </a:r>
            <a:endParaRPr lang="zh-CN" altLang="en-US"/>
          </a:p>
          <a:p>
            <a:pPr lvl="2">
              <a:lnSpc>
                <a:spcPct val="100000"/>
              </a:lnSpc>
            </a:pPr>
            <a:r>
              <a:rPr lang="zh-CN" altLang="en-US">
                <a:solidFill>
                  <a:srgbClr val="C00000"/>
                </a:solidFill>
                <a:latin typeface="Times New Roman" panose="02020603050405020304" pitchFamily="2" charset="0"/>
                <a:cs typeface="Times New Roman" panose="02020603050405020304" pitchFamily="2" charset="0"/>
              </a:rPr>
              <a:t>学生</a:t>
            </a:r>
            <a:r>
              <a:rPr lang="zh-CN" altLang="en-US">
                <a:solidFill>
                  <a:srgbClr val="C00000"/>
                </a:solidFill>
                <a:latin typeface="Times New Roman" panose="02020603050405020304" pitchFamily="2" charset="0"/>
                <a:cs typeface="Times New Roman" panose="02020603050405020304" pitchFamily="2" charset="0"/>
              </a:rPr>
              <a:t>获得的奖励信息</a:t>
            </a:r>
            <a:r>
              <a:rPr lang="zh-CN" altLang="en-US"/>
              <a:t>：</a:t>
            </a:r>
            <a:r>
              <a:rPr lang="zh-CN" altLang="en-US">
                <a:latin typeface="Times New Roman" panose="02020603050405020304" pitchFamily="2" charset="0"/>
                <a:cs typeface="Times New Roman" panose="02020603050405020304" pitchFamily="2" charset="0"/>
              </a:rPr>
              <a:t>变长记录，存放在另一个</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奖励</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文件中</a:t>
            </a:r>
            <a:endParaRPr lang="zh-CN" altLang="en-US">
              <a:latin typeface="Times New Roman" panose="02020603050405020304" pitchFamily="2" charset="0"/>
              <a:cs typeface="Times New Roman" panose="02020603050405020304" pitchFamily="2" charset="0"/>
            </a:endParaRPr>
          </a:p>
          <a:p>
            <a:pPr lvl="2">
              <a:lnSpc>
                <a:spcPct val="100000"/>
              </a:lnSpc>
            </a:pPr>
            <a:r>
              <a:rPr lang="zh-CN" altLang="en-US">
                <a:latin typeface="Times New Roman" panose="02020603050405020304" pitchFamily="2" charset="0"/>
                <a:cs typeface="Times New Roman" panose="02020603050405020304" pitchFamily="2" charset="0"/>
              </a:rPr>
              <a:t>在</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学生基本信息</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记录中，添加</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位置</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和</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长度</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字段来描述该学生的奖励记录在</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奖励</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文件中的开始位置和</a:t>
            </a:r>
            <a:r>
              <a:rPr lang="zh-CN" altLang="en-US"/>
              <a:t>长度</a:t>
            </a:r>
            <a:endParaRPr lang="zh-CN" altLang="en-US"/>
          </a:p>
          <a:p>
            <a:pPr lvl="1">
              <a:lnSpc>
                <a:spcPct val="100000"/>
              </a:lnSpc>
              <a:spcBef>
                <a:spcPts val="2000"/>
              </a:spcBef>
            </a:pPr>
            <a:r>
              <a:rPr lang="zh-CN" altLang="en-US">
                <a:solidFill>
                  <a:srgbClr val="FF0000"/>
                </a:solidFill>
              </a:rPr>
              <a:t>数据存取</a:t>
            </a:r>
            <a:endParaRPr lang="zh-CN" altLang="en-US"/>
          </a:p>
          <a:p>
            <a:pPr lvl="2">
              <a:lnSpc>
                <a:spcPct val="100000"/>
              </a:lnSpc>
            </a:pPr>
            <a:r>
              <a:rPr lang="zh-CN" altLang="en-US"/>
              <a:t>编写应用程序，实现数据的录入和</a:t>
            </a:r>
            <a:r>
              <a:rPr lang="zh-CN" altLang="en-US"/>
              <a:t>查找</a:t>
            </a:r>
            <a:endParaRPr lang="zh-CN" altLang="en-US"/>
          </a:p>
          <a:p>
            <a:pPr lvl="1">
              <a:lnSpc>
                <a:spcPct val="100000"/>
              </a:lnSpc>
              <a:spcBef>
                <a:spcPts val="2000"/>
              </a:spcBef>
            </a:pPr>
            <a:r>
              <a:rPr lang="zh-CN" altLang="en-US">
                <a:solidFill>
                  <a:srgbClr val="FF0000"/>
                </a:solidFill>
              </a:rPr>
              <a:t>缺点</a:t>
            </a:r>
            <a:r>
              <a:rPr lang="zh-CN" altLang="en-US"/>
              <a:t>：程序员必须关注记录结构和不同文件中记录之间的联系，工作量大，编程复杂，开发</a:t>
            </a:r>
            <a:r>
              <a:rPr lang="zh-CN" altLang="en-US"/>
              <a:t>速度慢</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linds(horizontal)">
                                      <p:cBhvr>
                                        <p:cTn id="25" dur="500"/>
                                        <p:tgtEl>
                                          <p:spTgt spid="3">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blinds(horizontal)">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zh-CN" altLang="en-US">
                <a:sym typeface="+mn-ea"/>
              </a:rPr>
              <a:t>一个例子：学生学籍管理系统（</a:t>
            </a:r>
            <a:r>
              <a:rPr lang="en-US" altLang="zh-CN">
                <a:sym typeface="+mn-ea"/>
              </a:rPr>
              <a:t>2</a:t>
            </a:r>
            <a:r>
              <a:rPr lang="zh-CN" altLang="en-US">
                <a:sym typeface="+mn-ea"/>
              </a:rPr>
              <a:t>）</a:t>
            </a:r>
            <a:endParaRPr lang="zh-CN" altLang="en-US">
              <a:sym typeface="+mn-ea"/>
            </a:endParaRPr>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pic>
        <p:nvPicPr>
          <p:cNvPr id="7" name="图片 6"/>
          <p:cNvPicPr>
            <a:picLocks noChangeAspect="1"/>
          </p:cNvPicPr>
          <p:nvPr>
            <p:custDataLst>
              <p:tags r:id="rId1"/>
            </p:custDataLst>
          </p:nvPr>
        </p:nvPicPr>
        <p:blipFill>
          <a:blip r:embed="rId2"/>
          <a:stretch>
            <a:fillRect/>
          </a:stretch>
        </p:blipFill>
        <p:spPr>
          <a:xfrm>
            <a:off x="2423160" y="1364615"/>
            <a:ext cx="7183755" cy="1947545"/>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3685540" y="4472940"/>
            <a:ext cx="4655820" cy="1340485"/>
          </a:xfrm>
          <a:prstGeom prst="rect">
            <a:avLst/>
          </a:prstGeom>
        </p:spPr>
      </p:pic>
      <p:sp>
        <p:nvSpPr>
          <p:cNvPr id="9" name="文本框 8"/>
          <p:cNvSpPr txBox="1"/>
          <p:nvPr>
            <p:custDataLst>
              <p:tags r:id="rId5"/>
            </p:custDataLst>
          </p:nvPr>
        </p:nvSpPr>
        <p:spPr>
          <a:xfrm>
            <a:off x="566420" y="791885"/>
            <a:ext cx="10894695" cy="553085"/>
          </a:xfrm>
          <a:prstGeom prst="rect">
            <a:avLst/>
          </a:prstGeom>
          <a:noFill/>
        </p:spPr>
        <p:txBody>
          <a:bodyPr wrap="square" rtlCol="0">
            <a:spAutoFit/>
          </a:bodyPr>
          <a:p>
            <a:pPr algn="ctr"/>
            <a:r>
              <a:rPr lang="zh-CN" altLang="en-US" sz="3000" b="1">
                <a:solidFill>
                  <a:srgbClr val="1F2DA8"/>
                </a:solidFill>
                <a:latin typeface="楷体" panose="02010609060101010101" charset="-122"/>
                <a:ea typeface="楷体" panose="02010609060101010101" charset="-122"/>
                <a:cs typeface="楷体" panose="02010609060101010101" charset="-122"/>
              </a:rPr>
              <a:t>表</a:t>
            </a:r>
            <a:r>
              <a:rPr lang="en-US" altLang="zh-CN" sz="3000" b="1">
                <a:solidFill>
                  <a:srgbClr val="1F2DA8"/>
                </a:solidFill>
                <a:latin typeface="楷体" panose="02010609060101010101" charset="-122"/>
                <a:ea typeface="楷体" panose="02010609060101010101" charset="-122"/>
                <a:cs typeface="楷体" panose="02010609060101010101" charset="-122"/>
              </a:rPr>
              <a:t>1.3  “</a:t>
            </a:r>
            <a:r>
              <a:rPr lang="zh-CN" altLang="en-US" sz="3000" b="1">
                <a:solidFill>
                  <a:srgbClr val="1F2DA8"/>
                </a:solidFill>
                <a:latin typeface="楷体" panose="02010609060101010101" charset="-122"/>
                <a:ea typeface="楷体" panose="02010609060101010101" charset="-122"/>
                <a:cs typeface="楷体" panose="02010609060101010101" charset="-122"/>
              </a:rPr>
              <a:t>学生基本信息</a:t>
            </a:r>
            <a:r>
              <a:rPr lang="en-US" altLang="zh-CN" sz="3000" b="1">
                <a:solidFill>
                  <a:srgbClr val="1F2DA8"/>
                </a:solidFill>
                <a:latin typeface="楷体" panose="02010609060101010101" charset="-122"/>
                <a:ea typeface="楷体" panose="02010609060101010101" charset="-122"/>
                <a:cs typeface="楷体" panose="02010609060101010101" charset="-122"/>
              </a:rPr>
              <a:t>”</a:t>
            </a:r>
            <a:r>
              <a:rPr lang="zh-CN" altLang="en-US" sz="3000" b="1">
                <a:solidFill>
                  <a:srgbClr val="1F2DA8"/>
                </a:solidFill>
                <a:latin typeface="楷体" panose="02010609060101010101" charset="-122"/>
                <a:ea typeface="楷体" panose="02010609060101010101" charset="-122"/>
                <a:cs typeface="楷体" panose="02010609060101010101" charset="-122"/>
              </a:rPr>
              <a:t>文件的结构和</a:t>
            </a:r>
            <a:r>
              <a:rPr lang="zh-CN" altLang="en-US" sz="3000" b="1">
                <a:solidFill>
                  <a:srgbClr val="1F2DA8"/>
                </a:solidFill>
                <a:latin typeface="楷体" panose="02010609060101010101" charset="-122"/>
                <a:ea typeface="楷体" panose="02010609060101010101" charset="-122"/>
                <a:cs typeface="楷体" panose="02010609060101010101" charset="-122"/>
              </a:rPr>
              <a:t>内容</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sp>
        <p:nvSpPr>
          <p:cNvPr id="10" name="文本框 9"/>
          <p:cNvSpPr txBox="1"/>
          <p:nvPr>
            <p:custDataLst>
              <p:tags r:id="rId6"/>
            </p:custDataLst>
          </p:nvPr>
        </p:nvSpPr>
        <p:spPr>
          <a:xfrm>
            <a:off x="566420" y="3921800"/>
            <a:ext cx="10894695" cy="553085"/>
          </a:xfrm>
          <a:prstGeom prst="rect">
            <a:avLst/>
          </a:prstGeom>
          <a:noFill/>
        </p:spPr>
        <p:txBody>
          <a:bodyPr wrap="square" rtlCol="0">
            <a:spAutoFit/>
          </a:bodyPr>
          <a:p>
            <a:pPr algn="ctr"/>
            <a:r>
              <a:rPr lang="zh-CN" altLang="en-US" sz="3000" b="1">
                <a:solidFill>
                  <a:srgbClr val="1F2DA8"/>
                </a:solidFill>
                <a:latin typeface="楷体" panose="02010609060101010101" charset="-122"/>
                <a:ea typeface="楷体" panose="02010609060101010101" charset="-122"/>
                <a:cs typeface="楷体" panose="02010609060101010101" charset="-122"/>
              </a:rPr>
              <a:t>表</a:t>
            </a:r>
            <a:r>
              <a:rPr lang="en-US" altLang="zh-CN" sz="3000" b="1">
                <a:solidFill>
                  <a:srgbClr val="1F2DA8"/>
                </a:solidFill>
                <a:latin typeface="楷体" panose="02010609060101010101" charset="-122"/>
                <a:ea typeface="楷体" panose="02010609060101010101" charset="-122"/>
                <a:cs typeface="楷体" panose="02010609060101010101" charset="-122"/>
              </a:rPr>
              <a:t>1.4  “</a:t>
            </a:r>
            <a:r>
              <a:rPr lang="zh-CN" altLang="en-US" sz="3000" b="1">
                <a:solidFill>
                  <a:srgbClr val="1F2DA8"/>
                </a:solidFill>
                <a:latin typeface="楷体" panose="02010609060101010101" charset="-122"/>
                <a:ea typeface="楷体" panose="02010609060101010101" charset="-122"/>
                <a:cs typeface="楷体" panose="02010609060101010101" charset="-122"/>
              </a:rPr>
              <a:t>奖励</a:t>
            </a:r>
            <a:r>
              <a:rPr lang="en-US" altLang="zh-CN" sz="3000" b="1">
                <a:solidFill>
                  <a:srgbClr val="1F2DA8"/>
                </a:solidFill>
                <a:latin typeface="楷体" panose="02010609060101010101" charset="-122"/>
                <a:ea typeface="楷体" panose="02010609060101010101" charset="-122"/>
                <a:cs typeface="楷体" panose="02010609060101010101" charset="-122"/>
              </a:rPr>
              <a:t>”</a:t>
            </a:r>
            <a:r>
              <a:rPr lang="zh-CN" altLang="en-US" sz="3000" b="1">
                <a:solidFill>
                  <a:srgbClr val="1F2DA8"/>
                </a:solidFill>
                <a:latin typeface="楷体" panose="02010609060101010101" charset="-122"/>
                <a:ea typeface="楷体" panose="02010609060101010101" charset="-122"/>
                <a:cs typeface="楷体" panose="02010609060101010101" charset="-122"/>
              </a:rPr>
              <a:t>文件的结构和</a:t>
            </a:r>
            <a:r>
              <a:rPr lang="zh-CN" altLang="en-US" sz="3000" b="1">
                <a:solidFill>
                  <a:srgbClr val="1F2DA8"/>
                </a:solidFill>
                <a:latin typeface="楷体" panose="02010609060101010101" charset="-122"/>
                <a:ea typeface="楷体" panose="02010609060101010101" charset="-122"/>
                <a:cs typeface="楷体" panose="02010609060101010101" charset="-122"/>
              </a:rPr>
              <a:t>内容</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sp>
        <p:nvSpPr>
          <p:cNvPr id="2" name="页脚占位符 1"/>
          <p:cNvSpPr>
            <a:spLocks noGrp="1"/>
          </p:cNvSpPr>
          <p:nvPr>
            <p:ph type="ftr" sz="quarter" idx="11"/>
          </p:nvPr>
        </p:nvSpPr>
        <p:spPr/>
        <p:txBody>
          <a:bodyPr/>
          <a:p>
            <a:r>
              <a:rPr lang="zh-CN" altLang="en-US"/>
              <a:t>ch01_绪论</a:t>
            </a:r>
            <a:endParaRPr lang="zh-CN" altLang="en-US"/>
          </a:p>
        </p:txBody>
      </p:sp>
      <p:sp>
        <p:nvSpPr>
          <p:cNvPr id="3" name="文本框 2"/>
          <p:cNvSpPr txBox="1"/>
          <p:nvPr/>
        </p:nvSpPr>
        <p:spPr>
          <a:xfrm>
            <a:off x="9606915" y="1941830"/>
            <a:ext cx="1858645" cy="460375"/>
          </a:xfrm>
          <a:prstGeom prst="rect">
            <a:avLst/>
          </a:prstGeom>
          <a:solidFill>
            <a:schemeClr val="accent4">
              <a:lumMod val="20000"/>
              <a:lumOff val="80000"/>
            </a:schemeClr>
          </a:solidFill>
        </p:spPr>
        <p:txBody>
          <a:bodyPr wrap="square" rtlCol="0">
            <a:spAutoFit/>
          </a:bodyPr>
          <a:p>
            <a:pPr algn="ctr"/>
            <a:r>
              <a:rPr lang="zh-CN" altLang="en-US" sz="2400">
                <a:solidFill>
                  <a:srgbClr val="C00000"/>
                </a:solidFill>
              </a:rPr>
              <a:t>（定长记录）</a:t>
            </a:r>
            <a:endParaRPr lang="zh-CN" altLang="en-US" sz="2400">
              <a:solidFill>
                <a:srgbClr val="C00000"/>
              </a:solidFill>
            </a:endParaRPr>
          </a:p>
        </p:txBody>
      </p:sp>
      <p:sp>
        <p:nvSpPr>
          <p:cNvPr id="4" name="文本框 3"/>
          <p:cNvSpPr txBox="1"/>
          <p:nvPr/>
        </p:nvSpPr>
        <p:spPr>
          <a:xfrm>
            <a:off x="9606915" y="4912995"/>
            <a:ext cx="1858645" cy="460375"/>
          </a:xfrm>
          <a:prstGeom prst="rect">
            <a:avLst/>
          </a:prstGeom>
          <a:solidFill>
            <a:schemeClr val="accent4">
              <a:lumMod val="20000"/>
              <a:lumOff val="80000"/>
            </a:schemeClr>
          </a:solidFill>
        </p:spPr>
        <p:txBody>
          <a:bodyPr wrap="square" rtlCol="0">
            <a:spAutoFit/>
          </a:bodyPr>
          <a:p>
            <a:pPr algn="ctr"/>
            <a:r>
              <a:rPr lang="zh-CN" altLang="en-US" sz="2400">
                <a:solidFill>
                  <a:srgbClr val="C00000"/>
                </a:solidFill>
              </a:rPr>
              <a:t>（</a:t>
            </a:r>
            <a:r>
              <a:rPr lang="zh-CN" altLang="en-US" sz="2400">
                <a:solidFill>
                  <a:srgbClr val="C00000"/>
                </a:solidFill>
              </a:rPr>
              <a:t>变长记录）</a:t>
            </a:r>
            <a:endParaRPr lang="zh-CN" altLang="en-US" sz="240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一个例子：学生学籍管理系统（</a:t>
            </a:r>
            <a:r>
              <a:rPr lang="en-US" altLang="zh-CN"/>
              <a:t>3</a:t>
            </a:r>
            <a:r>
              <a:rPr lang="zh-CN" altLang="en-US"/>
              <a:t>）</a:t>
            </a:r>
            <a:endParaRPr lang="zh-CN" altLang="en-US"/>
          </a:p>
        </p:txBody>
      </p:sp>
      <p:sp>
        <p:nvSpPr>
          <p:cNvPr id="3" name="内容占位符 2"/>
          <p:cNvSpPr>
            <a:spLocks noGrp="1"/>
          </p:cNvSpPr>
          <p:nvPr>
            <p:ph idx="1"/>
          </p:nvPr>
        </p:nvSpPr>
        <p:spPr/>
        <p:txBody>
          <a:bodyPr/>
          <a:p>
            <a:r>
              <a:rPr lang="zh-CN" altLang="en-US">
                <a:highlight>
                  <a:srgbClr val="FFFF00"/>
                </a:highlight>
              </a:rPr>
              <a:t>学生的信息包括：学号、姓名、性别、年龄、专业和奖励</a:t>
            </a:r>
            <a:endParaRPr lang="zh-CN" altLang="en-US"/>
          </a:p>
          <a:p>
            <a:pPr lvl="0">
              <a:lnSpc>
                <a:spcPct val="110000"/>
              </a:lnSpc>
              <a:spcBef>
                <a:spcPts val="3000"/>
              </a:spcBef>
            </a:pPr>
            <a:r>
              <a:rPr lang="zh-CN" altLang="en-US"/>
              <a:t>用</a:t>
            </a:r>
            <a:r>
              <a:rPr lang="zh-CN" altLang="en-US"/>
              <a:t>数据库系统实现学籍</a:t>
            </a:r>
            <a:r>
              <a:rPr lang="zh-CN" altLang="en-US"/>
              <a:t>管理</a:t>
            </a:r>
            <a:endParaRPr lang="zh-CN" altLang="en-US"/>
          </a:p>
          <a:p>
            <a:pPr lvl="1"/>
            <a:r>
              <a:rPr lang="zh-CN" altLang="en-US">
                <a:solidFill>
                  <a:srgbClr val="FF0000"/>
                </a:solidFill>
              </a:rPr>
              <a:t>数据存储</a:t>
            </a:r>
            <a:endParaRPr lang="zh-CN" altLang="en-US"/>
          </a:p>
          <a:p>
            <a:pPr lvl="2"/>
            <a:r>
              <a:rPr lang="zh-CN" altLang="en-US"/>
              <a:t>建立两张</a:t>
            </a:r>
            <a:r>
              <a:rPr lang="zh-CN" altLang="en-US"/>
              <a:t>表</a:t>
            </a:r>
            <a:endParaRPr lang="zh-CN" altLang="en-US"/>
          </a:p>
          <a:p>
            <a:pPr lvl="3"/>
            <a:r>
              <a:rPr lang="en-US" altLang="zh-CN"/>
              <a:t>students</a:t>
            </a:r>
            <a:r>
              <a:rPr lang="zh-CN" altLang="en-US"/>
              <a:t>表：</a:t>
            </a:r>
            <a:r>
              <a:rPr lang="zh-CN" altLang="en-US"/>
              <a:t>存放学生的基本信息</a:t>
            </a:r>
            <a:endParaRPr lang="zh-CN" altLang="en-US"/>
          </a:p>
          <a:p>
            <a:pPr lvl="3"/>
            <a:r>
              <a:rPr lang="en-US" altLang="zh-CN">
                <a:sym typeface="+mn-ea"/>
              </a:rPr>
              <a:t>awards</a:t>
            </a:r>
            <a:r>
              <a:rPr lang="zh-CN" altLang="en-US">
                <a:sym typeface="+mn-ea"/>
              </a:rPr>
              <a:t>表：存放学生</a:t>
            </a:r>
            <a:r>
              <a:rPr lang="zh-CN" altLang="en-US">
                <a:sym typeface="+mn-ea"/>
              </a:rPr>
              <a:t>获得的</a:t>
            </a:r>
            <a:r>
              <a:rPr lang="zh-CN" altLang="en-US"/>
              <a:t>奖励情况</a:t>
            </a:r>
            <a:endParaRPr lang="zh-CN" altLang="en-US">
              <a:latin typeface="Times New Roman" panose="02020603050405020304" pitchFamily="2" charset="0"/>
              <a:cs typeface="Times New Roman" panose="02020603050405020304" pitchFamily="2" charset="0"/>
            </a:endParaRPr>
          </a:p>
          <a:p>
            <a:pPr lvl="2"/>
            <a:r>
              <a:rPr lang="zh-CN" altLang="en-US">
                <a:latin typeface="Times New Roman" panose="02020603050405020304" pitchFamily="2" charset="0"/>
                <a:cs typeface="Times New Roman" panose="02020603050405020304" pitchFamily="2" charset="0"/>
              </a:rPr>
              <a:t>通过外码实现</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学生基本信息</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与</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奖励信息</a:t>
            </a:r>
            <a:r>
              <a:rPr lang="en-US" altLang="zh-CN">
                <a:latin typeface="Times New Roman" panose="02020603050405020304" pitchFamily="2" charset="0"/>
                <a:cs typeface="Times New Roman" panose="02020603050405020304" pitchFamily="2" charset="0"/>
              </a:rPr>
              <a:t>”</a:t>
            </a:r>
            <a:r>
              <a:rPr lang="zh-CN" altLang="en-US">
                <a:latin typeface="Times New Roman" panose="02020603050405020304" pitchFamily="2" charset="0"/>
                <a:cs typeface="Times New Roman" panose="02020603050405020304" pitchFamily="2" charset="0"/>
              </a:rPr>
              <a:t>的关联</a:t>
            </a:r>
            <a:endParaRPr lang="zh-CN" altLang="en-US"/>
          </a:p>
          <a:p>
            <a:pPr lvl="1">
              <a:lnSpc>
                <a:spcPct val="110000"/>
              </a:lnSpc>
              <a:spcBef>
                <a:spcPts val="2000"/>
              </a:spcBef>
            </a:pPr>
            <a:r>
              <a:rPr lang="zh-CN" altLang="en-US">
                <a:solidFill>
                  <a:srgbClr val="FF0000"/>
                </a:solidFill>
              </a:rPr>
              <a:t>数据存取</a:t>
            </a:r>
            <a:endParaRPr lang="zh-CN" altLang="en-US"/>
          </a:p>
          <a:p>
            <a:pPr lvl="2"/>
            <a:r>
              <a:rPr lang="zh-CN" altLang="en-US"/>
              <a:t>使用</a:t>
            </a:r>
            <a:r>
              <a:rPr lang="en-US" altLang="zh-CN"/>
              <a:t>DBMS</a:t>
            </a:r>
            <a:r>
              <a:rPr lang="zh-CN" altLang="en-US"/>
              <a:t>提供的数据操纵语言，</a:t>
            </a:r>
            <a:r>
              <a:rPr lang="zh-CN" altLang="en-US"/>
              <a:t>实现数据的录入和</a:t>
            </a:r>
            <a:r>
              <a:rPr lang="zh-CN" altLang="en-US"/>
              <a:t>查找</a:t>
            </a:r>
            <a:endParaRPr lang="zh-CN" altLang="en-US"/>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zh-CN" altLang="en-US">
                <a:sym typeface="+mn-ea"/>
              </a:rPr>
              <a:t>一个例子：学生学籍管理系统（</a:t>
            </a:r>
            <a:r>
              <a:rPr lang="en-US" altLang="zh-CN">
                <a:sym typeface="+mn-ea"/>
              </a:rPr>
              <a:t>4</a:t>
            </a:r>
            <a:r>
              <a:rPr lang="zh-CN" altLang="en-US">
                <a:sym typeface="+mn-ea"/>
              </a:rPr>
              <a:t>）</a:t>
            </a:r>
            <a:endParaRPr lang="zh-CN" altLang="en-US">
              <a:sym typeface="+mn-ea"/>
            </a:endParaRPr>
          </a:p>
        </p:txBody>
      </p:sp>
      <p:sp>
        <p:nvSpPr>
          <p:cNvPr id="5" name="灯片编号占位符 4"/>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9" name="文本框 8"/>
          <p:cNvSpPr txBox="1"/>
          <p:nvPr>
            <p:custDataLst>
              <p:tags r:id="rId1"/>
            </p:custDataLst>
          </p:nvPr>
        </p:nvSpPr>
        <p:spPr>
          <a:xfrm>
            <a:off x="566420" y="619165"/>
            <a:ext cx="10894695" cy="553085"/>
          </a:xfrm>
          <a:prstGeom prst="rect">
            <a:avLst/>
          </a:prstGeom>
          <a:noFill/>
        </p:spPr>
        <p:txBody>
          <a:bodyPr wrap="square" rtlCol="0">
            <a:spAutoFit/>
          </a:bodyPr>
          <a:p>
            <a:pPr algn="ctr"/>
            <a:r>
              <a:rPr lang="en-US" sz="3000" b="1">
                <a:solidFill>
                  <a:srgbClr val="1F2DA8"/>
                </a:solidFill>
                <a:latin typeface="楷体" panose="02010609060101010101" charset="-122"/>
                <a:ea typeface="楷体" panose="02010609060101010101" charset="-122"/>
                <a:cs typeface="楷体" panose="02010609060101010101" charset="-122"/>
              </a:rPr>
              <a:t>students </a:t>
            </a:r>
            <a:r>
              <a:rPr lang="zh-CN" altLang="en-US" sz="3000" b="1">
                <a:solidFill>
                  <a:srgbClr val="1F2DA8"/>
                </a:solidFill>
                <a:latin typeface="楷体" panose="02010609060101010101" charset="-122"/>
                <a:ea typeface="楷体" panose="02010609060101010101" charset="-122"/>
                <a:cs typeface="楷体" panose="02010609060101010101" charset="-122"/>
              </a:rPr>
              <a:t>学生</a:t>
            </a:r>
            <a:r>
              <a:rPr lang="zh-CN" altLang="en-US" sz="3000" b="1">
                <a:solidFill>
                  <a:srgbClr val="1F2DA8"/>
                </a:solidFill>
                <a:latin typeface="楷体" panose="02010609060101010101" charset="-122"/>
                <a:ea typeface="楷体" panose="02010609060101010101" charset="-122"/>
                <a:cs typeface="楷体" panose="02010609060101010101" charset="-122"/>
              </a:rPr>
              <a:t>基本信息表</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sp>
        <p:nvSpPr>
          <p:cNvPr id="10" name="文本框 9"/>
          <p:cNvSpPr txBox="1"/>
          <p:nvPr>
            <p:custDataLst>
              <p:tags r:id="rId2"/>
            </p:custDataLst>
          </p:nvPr>
        </p:nvSpPr>
        <p:spPr>
          <a:xfrm>
            <a:off x="566420" y="3921800"/>
            <a:ext cx="10894695" cy="553085"/>
          </a:xfrm>
          <a:prstGeom prst="rect">
            <a:avLst/>
          </a:prstGeom>
          <a:noFill/>
        </p:spPr>
        <p:txBody>
          <a:bodyPr wrap="square" rtlCol="0">
            <a:spAutoFit/>
          </a:bodyPr>
          <a:p>
            <a:pPr algn="ctr"/>
            <a:r>
              <a:rPr lang="en-US" sz="3000" b="1">
                <a:solidFill>
                  <a:srgbClr val="1F2DA8"/>
                </a:solidFill>
                <a:latin typeface="楷体" panose="02010609060101010101" charset="-122"/>
                <a:ea typeface="楷体" panose="02010609060101010101" charset="-122"/>
                <a:cs typeface="楷体" panose="02010609060101010101" charset="-122"/>
              </a:rPr>
              <a:t>awards </a:t>
            </a:r>
            <a:r>
              <a:rPr lang="zh-CN" altLang="en-US" sz="3000" b="1">
                <a:solidFill>
                  <a:srgbClr val="1F2DA8"/>
                </a:solidFill>
                <a:latin typeface="楷体" panose="02010609060101010101" charset="-122"/>
                <a:ea typeface="楷体" panose="02010609060101010101" charset="-122"/>
                <a:cs typeface="楷体" panose="02010609060101010101" charset="-122"/>
              </a:rPr>
              <a:t>学生奖励信息</a:t>
            </a:r>
            <a:r>
              <a:rPr lang="zh-CN" altLang="en-US" sz="3000" b="1">
                <a:solidFill>
                  <a:srgbClr val="1F2DA8"/>
                </a:solidFill>
                <a:latin typeface="楷体" panose="02010609060101010101" charset="-122"/>
                <a:ea typeface="楷体" panose="02010609060101010101" charset="-122"/>
                <a:cs typeface="楷体" panose="02010609060101010101" charset="-122"/>
              </a:rPr>
              <a:t>表</a:t>
            </a:r>
            <a:endParaRPr lang="zh-CN" altLang="en-US" sz="3000" b="1">
              <a:solidFill>
                <a:srgbClr val="1F2DA8"/>
              </a:solidFill>
              <a:latin typeface="楷体" panose="02010609060101010101" charset="-122"/>
              <a:ea typeface="楷体" panose="02010609060101010101" charset="-122"/>
              <a:cs typeface="楷体" panose="02010609060101010101" charset="-122"/>
            </a:endParaRPr>
          </a:p>
        </p:txBody>
      </p:sp>
      <p:graphicFrame>
        <p:nvGraphicFramePr>
          <p:cNvPr id="12" name="表格 11"/>
          <p:cNvGraphicFramePr/>
          <p:nvPr>
            <p:custDataLst>
              <p:tags r:id="rId3"/>
            </p:custDataLst>
          </p:nvPr>
        </p:nvGraphicFramePr>
        <p:xfrm>
          <a:off x="563880" y="1118235"/>
          <a:ext cx="10899775" cy="2590800"/>
        </p:xfrm>
        <a:graphic>
          <a:graphicData uri="http://schemas.openxmlformats.org/drawingml/2006/table">
            <a:tbl>
              <a:tblPr firstRow="1" bandRow="1">
                <a:tableStyleId>{5C22544A-7EE6-4342-B048-85BDC9FD1C3A}</a:tableStyleId>
              </a:tblPr>
              <a:tblGrid>
                <a:gridCol w="2179955"/>
                <a:gridCol w="2179955"/>
                <a:gridCol w="2179955"/>
                <a:gridCol w="2179955"/>
                <a:gridCol w="2179955"/>
              </a:tblGrid>
              <a:tr h="518160">
                <a:tc>
                  <a:txBody>
                    <a:bodyPr/>
                    <a:p>
                      <a:pPr algn="ctr">
                        <a:buNone/>
                      </a:pPr>
                      <a:r>
                        <a:rPr lang="zh-CN" altLang="en-US" sz="2800" b="1">
                          <a:latin typeface="楷体" panose="02010609060101010101" charset="-122"/>
                          <a:ea typeface="楷体" panose="02010609060101010101" charset="-122"/>
                        </a:rPr>
                        <a:t>学号</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姓名</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性别</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年龄</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专业</a:t>
                      </a:r>
                      <a:endParaRPr lang="zh-CN" altLang="en-US" sz="2800" b="1">
                        <a:latin typeface="楷体" panose="02010609060101010101" charset="-122"/>
                        <a:ea typeface="楷体" panose="02010609060101010101" charset="-122"/>
                      </a:endParaRPr>
                    </a:p>
                  </a:txBody>
                  <a:tcPr anchor="ctr" anchorCtr="0"/>
                </a:tc>
              </a:tr>
              <a:tr h="518160">
                <a:tc>
                  <a:txBody>
                    <a:bodyPr/>
                    <a:p>
                      <a:pPr algn="ctr">
                        <a:buNone/>
                      </a:pPr>
                      <a:r>
                        <a:rPr lang="en-US" altLang="zh-CN" sz="2800" b="1">
                          <a:latin typeface="楷体" panose="02010609060101010101" charset="-122"/>
                          <a:ea typeface="楷体" panose="02010609060101010101" charset="-122"/>
                        </a:rPr>
                        <a:t>20100001</a:t>
                      </a:r>
                      <a:endParaRPr lang="en-US" altLang="zh-CN"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sym typeface="+mn-ea"/>
                        </a:rPr>
                        <a:t>史玉明</a:t>
                      </a:r>
                      <a:endParaRPr lang="zh-CN" altLang="en-US" sz="2800" b="1">
                        <a:latin typeface="楷体" panose="02010609060101010101" charset="-122"/>
                        <a:ea typeface="楷体" panose="02010609060101010101" charset="-122"/>
                        <a:sym typeface="+mn-ea"/>
                      </a:endParaRPr>
                    </a:p>
                  </a:txBody>
                  <a:tcPr anchor="ctr" anchorCtr="0"/>
                </a:tc>
                <a:tc>
                  <a:txBody>
                    <a:bodyPr/>
                    <a:p>
                      <a:pPr algn="ctr">
                        <a:buNone/>
                      </a:pPr>
                      <a:r>
                        <a:rPr lang="zh-CN" altLang="en-US" sz="2800" b="1">
                          <a:latin typeface="楷体" panose="02010609060101010101" charset="-122"/>
                          <a:ea typeface="楷体" panose="02010609060101010101" charset="-122"/>
                        </a:rPr>
                        <a:t>女</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en-US" altLang="zh-CN" sz="2800" b="1">
                          <a:latin typeface="楷体" panose="02010609060101010101" charset="-122"/>
                          <a:ea typeface="楷体" panose="02010609060101010101" charset="-122"/>
                        </a:rPr>
                        <a:t>20</a:t>
                      </a:r>
                      <a:endParaRPr lang="en-US" altLang="zh-CN"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计算机</a:t>
                      </a:r>
                      <a:endParaRPr lang="zh-CN" altLang="en-US" sz="2800" b="1">
                        <a:latin typeface="楷体" panose="02010609060101010101" charset="-122"/>
                        <a:ea typeface="楷体" panose="02010609060101010101" charset="-122"/>
                      </a:endParaRPr>
                    </a:p>
                  </a:txBody>
                  <a:tcPr anchor="ctr" anchorCtr="0"/>
                </a:tc>
              </a:tr>
              <a:tr h="518160">
                <a:tc>
                  <a:txBody>
                    <a:bodyPr/>
                    <a:p>
                      <a:pPr algn="ctr">
                        <a:buNone/>
                      </a:pPr>
                      <a:r>
                        <a:rPr lang="en-US" altLang="zh-CN" sz="2800" b="1">
                          <a:latin typeface="楷体" panose="02010609060101010101" charset="-122"/>
                          <a:ea typeface="楷体" panose="02010609060101010101" charset="-122"/>
                          <a:sym typeface="+mn-ea"/>
                        </a:rPr>
                        <a:t>20100100</a:t>
                      </a:r>
                      <a:endParaRPr lang="en-US" altLang="zh-CN" sz="2800" b="1">
                        <a:latin typeface="楷体" panose="02010609060101010101" charset="-122"/>
                        <a:ea typeface="楷体" panose="02010609060101010101" charset="-122"/>
                        <a:sym typeface="+mn-ea"/>
                      </a:endParaRPr>
                    </a:p>
                  </a:txBody>
                  <a:tcPr anchor="ctr" anchorCtr="0"/>
                </a:tc>
                <a:tc>
                  <a:txBody>
                    <a:bodyPr/>
                    <a:p>
                      <a:pPr algn="ctr">
                        <a:buNone/>
                      </a:pPr>
                      <a:r>
                        <a:rPr lang="zh-CN" altLang="en-US" sz="2800" b="1">
                          <a:latin typeface="楷体" panose="02010609060101010101" charset="-122"/>
                          <a:ea typeface="楷体" panose="02010609060101010101" charset="-122"/>
                        </a:rPr>
                        <a:t>李明虎</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男</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en-US" altLang="zh-CN" sz="2800" b="1">
                          <a:latin typeface="楷体" panose="02010609060101010101" charset="-122"/>
                          <a:ea typeface="楷体" panose="02010609060101010101" charset="-122"/>
                        </a:rPr>
                        <a:t>21</a:t>
                      </a:r>
                      <a:endParaRPr lang="en-US" altLang="zh-CN"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机械</a:t>
                      </a:r>
                      <a:endParaRPr lang="zh-CN" altLang="en-US" sz="2800" b="1">
                        <a:latin typeface="楷体" panose="02010609060101010101" charset="-122"/>
                        <a:ea typeface="楷体" panose="02010609060101010101" charset="-122"/>
                      </a:endParaRPr>
                    </a:p>
                  </a:txBody>
                  <a:tcPr anchor="ctr" anchorCtr="0"/>
                </a:tc>
              </a:tr>
              <a:tr h="518160">
                <a:tc>
                  <a:txBody>
                    <a:bodyPr/>
                    <a:p>
                      <a:pPr algn="ctr">
                        <a:buNone/>
                      </a:pPr>
                      <a:r>
                        <a:rPr lang="en-US" altLang="zh-CN" sz="2800" b="1">
                          <a:latin typeface="楷体" panose="02010609060101010101" charset="-122"/>
                          <a:ea typeface="楷体" panose="02010609060101010101" charset="-122"/>
                        </a:rPr>
                        <a:t>20100234</a:t>
                      </a:r>
                      <a:endParaRPr lang="en-US" altLang="zh-CN"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张翔</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男</a:t>
                      </a:r>
                      <a:endParaRPr lang="zh-CN" altLang="en-US" sz="2800" b="1">
                        <a:latin typeface="楷体" panose="02010609060101010101" charset="-122"/>
                        <a:ea typeface="楷体" panose="02010609060101010101" charset="-122"/>
                      </a:endParaRPr>
                    </a:p>
                  </a:txBody>
                  <a:tcPr anchor="ctr" anchorCtr="0"/>
                </a:tc>
                <a:tc>
                  <a:txBody>
                    <a:bodyPr/>
                    <a:p>
                      <a:pPr algn="ctr">
                        <a:buNone/>
                      </a:pPr>
                      <a:r>
                        <a:rPr lang="en-US" altLang="zh-CN" sz="2800" b="1">
                          <a:latin typeface="楷体" panose="02010609060101010101" charset="-122"/>
                          <a:ea typeface="楷体" panose="02010609060101010101" charset="-122"/>
                        </a:rPr>
                        <a:t>21</a:t>
                      </a:r>
                      <a:endParaRPr lang="en-US" altLang="zh-CN" sz="2800" b="1">
                        <a:latin typeface="楷体" panose="02010609060101010101" charset="-122"/>
                        <a:ea typeface="楷体" panose="02010609060101010101" charset="-122"/>
                      </a:endParaRPr>
                    </a:p>
                  </a:txBody>
                  <a:tcPr anchor="ctr" anchorCtr="0"/>
                </a:tc>
                <a:tc>
                  <a:txBody>
                    <a:bodyPr/>
                    <a:p>
                      <a:pPr algn="ctr">
                        <a:buNone/>
                      </a:pPr>
                      <a:r>
                        <a:rPr lang="zh-CN" altLang="en-US" sz="2800" b="1">
                          <a:latin typeface="楷体" panose="02010609060101010101" charset="-122"/>
                          <a:ea typeface="楷体" panose="02010609060101010101" charset="-122"/>
                        </a:rPr>
                        <a:t>化工</a:t>
                      </a:r>
                      <a:endParaRPr lang="zh-CN" altLang="en-US" sz="2800" b="1">
                        <a:latin typeface="楷体" panose="02010609060101010101" charset="-122"/>
                        <a:ea typeface="楷体" panose="02010609060101010101" charset="-122"/>
                      </a:endParaRPr>
                    </a:p>
                  </a:txBody>
                  <a:tcPr anchor="ctr" anchorCtr="0"/>
                </a:tc>
              </a:tr>
              <a:tr h="518160">
                <a:tc>
                  <a:txBody>
                    <a:bodyPr/>
                    <a:p>
                      <a:pPr algn="ctr">
                        <a:buNone/>
                      </a:pPr>
                      <a:r>
                        <a:rPr lang="en-US" altLang="zh-CN" sz="2800" b="1">
                          <a:latin typeface="楷体" panose="02010609060101010101" charset="-122"/>
                          <a:ea typeface="楷体" panose="02010609060101010101" charset="-122"/>
                        </a:rPr>
                        <a:t>......</a:t>
                      </a:r>
                      <a:endParaRPr lang="en-US" altLang="zh-CN" sz="2800" b="1">
                        <a:latin typeface="楷体" panose="02010609060101010101" charset="-122"/>
                        <a:ea typeface="楷体" panose="02010609060101010101" charset="-122"/>
                      </a:endParaRPr>
                    </a:p>
                  </a:txBody>
                  <a:tcPr anchor="ctr" anchorCtr="0"/>
                </a:tc>
                <a:tc>
                  <a:txBody>
                    <a:bodyPr/>
                    <a:p>
                      <a:pPr algn="ctr">
                        <a:buNone/>
                      </a:pPr>
                      <a:r>
                        <a:rPr lang="en-US" altLang="zh-CN" sz="2800" b="1">
                          <a:latin typeface="楷体" panose="02010609060101010101" charset="-122"/>
                          <a:ea typeface="楷体" panose="02010609060101010101" charset="-122"/>
                        </a:rPr>
                        <a:t>......</a:t>
                      </a:r>
                      <a:endParaRPr lang="en-US" altLang="zh-CN" sz="2800" b="1">
                        <a:latin typeface="楷体" panose="02010609060101010101" charset="-122"/>
                        <a:ea typeface="楷体" panose="02010609060101010101" charset="-122"/>
                      </a:endParaRPr>
                    </a:p>
                  </a:txBody>
                  <a:tcPr anchor="ctr" anchorCtr="0"/>
                </a:tc>
                <a:tc>
                  <a:txBody>
                    <a:bodyPr/>
                    <a:p>
                      <a:pPr algn="ctr">
                        <a:buNone/>
                      </a:pPr>
                      <a:r>
                        <a:rPr lang="en-US" altLang="zh-CN" sz="2800" b="1">
                          <a:latin typeface="楷体" panose="02010609060101010101" charset="-122"/>
                          <a:ea typeface="楷体" panose="02010609060101010101" charset="-122"/>
                          <a:sym typeface="+mn-ea"/>
                        </a:rPr>
                        <a:t>......</a:t>
                      </a:r>
                      <a:endParaRPr lang="en-US" altLang="zh-CN" sz="2800" b="1">
                        <a:latin typeface="楷体" panose="02010609060101010101" charset="-122"/>
                        <a:ea typeface="楷体" panose="02010609060101010101" charset="-122"/>
                        <a:sym typeface="+mn-ea"/>
                      </a:endParaRPr>
                    </a:p>
                  </a:txBody>
                  <a:tcPr anchor="ctr" anchorCtr="0"/>
                </a:tc>
                <a:tc>
                  <a:txBody>
                    <a:bodyPr/>
                    <a:p>
                      <a:pPr algn="ctr">
                        <a:buNone/>
                      </a:pPr>
                      <a:r>
                        <a:rPr lang="en-US" altLang="zh-CN" sz="2800" b="1">
                          <a:latin typeface="楷体" panose="02010609060101010101" charset="-122"/>
                          <a:ea typeface="楷体" panose="02010609060101010101" charset="-122"/>
                          <a:sym typeface="+mn-ea"/>
                        </a:rPr>
                        <a:t>......</a:t>
                      </a:r>
                      <a:endParaRPr lang="en-US" altLang="zh-CN" sz="2800" b="1">
                        <a:latin typeface="楷体" panose="02010609060101010101" charset="-122"/>
                        <a:ea typeface="楷体" panose="02010609060101010101" charset="-122"/>
                        <a:sym typeface="+mn-ea"/>
                      </a:endParaRPr>
                    </a:p>
                  </a:txBody>
                  <a:tcPr anchor="ctr" anchorCtr="0"/>
                </a:tc>
                <a:tc>
                  <a:txBody>
                    <a:bodyPr/>
                    <a:p>
                      <a:pPr algn="ctr">
                        <a:buNone/>
                      </a:pPr>
                      <a:r>
                        <a:rPr lang="en-US" altLang="zh-CN" sz="2800" b="1">
                          <a:latin typeface="楷体" panose="02010609060101010101" charset="-122"/>
                          <a:ea typeface="楷体" panose="02010609060101010101" charset="-122"/>
                          <a:sym typeface="+mn-ea"/>
                        </a:rPr>
                        <a:t>......</a:t>
                      </a:r>
                      <a:endParaRPr lang="en-US" altLang="zh-CN" sz="2800" b="1">
                        <a:latin typeface="楷体" panose="02010609060101010101" charset="-122"/>
                        <a:ea typeface="楷体" panose="02010609060101010101" charset="-122"/>
                        <a:sym typeface="+mn-ea"/>
                      </a:endParaRPr>
                    </a:p>
                  </a:txBody>
                  <a:tcPr anchor="ctr" anchorCtr="0"/>
                </a:tc>
              </a:tr>
            </a:tbl>
          </a:graphicData>
        </a:graphic>
      </p:graphicFrame>
      <p:graphicFrame>
        <p:nvGraphicFramePr>
          <p:cNvPr id="13" name="表格 12"/>
          <p:cNvGraphicFramePr/>
          <p:nvPr>
            <p:custDataLst>
              <p:tags r:id="rId4"/>
            </p:custDataLst>
          </p:nvPr>
        </p:nvGraphicFramePr>
        <p:xfrm>
          <a:off x="566420" y="4385945"/>
          <a:ext cx="10895330" cy="1612900"/>
        </p:xfrm>
        <a:graphic>
          <a:graphicData uri="http://schemas.openxmlformats.org/drawingml/2006/table">
            <a:tbl>
              <a:tblPr firstRow="1" bandRow="1">
                <a:tableStyleId>{5C22544A-7EE6-4342-B048-85BDC9FD1C3A}</a:tableStyleId>
              </a:tblPr>
              <a:tblGrid>
                <a:gridCol w="2193290"/>
                <a:gridCol w="8702040"/>
              </a:tblGrid>
              <a:tr h="403225">
                <a:tc>
                  <a:txBody>
                    <a:bodyPr/>
                    <a:p>
                      <a:pPr algn="ctr">
                        <a:buNone/>
                      </a:pPr>
                      <a:r>
                        <a:rPr lang="zh-CN" altLang="en-US" sz="2800">
                          <a:latin typeface="楷体" panose="02010609060101010101" charset="-122"/>
                          <a:ea typeface="楷体" panose="02010609060101010101" charset="-122"/>
                        </a:rPr>
                        <a:t>学号</a:t>
                      </a:r>
                      <a:endParaRPr lang="zh-CN" altLang="en-US" sz="2800">
                        <a:latin typeface="楷体" panose="02010609060101010101" charset="-122"/>
                        <a:ea typeface="楷体" panose="02010609060101010101" charset="-122"/>
                      </a:endParaRPr>
                    </a:p>
                  </a:txBody>
                  <a:tcPr anchor="ctr" anchorCtr="0"/>
                </a:tc>
                <a:tc>
                  <a:txBody>
                    <a:bodyPr/>
                    <a:p>
                      <a:pPr algn="ctr">
                        <a:buNone/>
                      </a:pPr>
                      <a:r>
                        <a:rPr lang="zh-CN" altLang="en-US" sz="2800">
                          <a:latin typeface="楷体" panose="02010609060101010101" charset="-122"/>
                          <a:ea typeface="楷体" panose="02010609060101010101" charset="-122"/>
                        </a:rPr>
                        <a:t>奖励</a:t>
                      </a:r>
                      <a:endParaRPr lang="zh-CN" altLang="en-US" sz="2800">
                        <a:latin typeface="楷体" panose="02010609060101010101" charset="-122"/>
                        <a:ea typeface="楷体" panose="02010609060101010101" charset="-122"/>
                      </a:endParaRPr>
                    </a:p>
                  </a:txBody>
                  <a:tcPr anchor="ctr" anchorCtr="0"/>
                </a:tc>
              </a:tr>
              <a:tr h="403225">
                <a:tc>
                  <a:txBody>
                    <a:bodyPr/>
                    <a:p>
                      <a:pPr algn="ctr">
                        <a:buNone/>
                      </a:pPr>
                      <a:r>
                        <a:rPr lang="en-US" altLang="zh-CN" sz="2800" b="1">
                          <a:latin typeface="楷体" panose="02010609060101010101" charset="-122"/>
                          <a:ea typeface="楷体" panose="02010609060101010101" charset="-122"/>
                        </a:rPr>
                        <a:t>20100001</a:t>
                      </a:r>
                      <a:endParaRPr lang="en-US" altLang="zh-CN" sz="2800" b="1">
                        <a:latin typeface="楷体" panose="02010609060101010101" charset="-122"/>
                        <a:ea typeface="楷体" panose="02010609060101010101" charset="-122"/>
                      </a:endParaRPr>
                    </a:p>
                  </a:txBody>
                  <a:tcPr anchor="ctr" anchorCtr="0"/>
                </a:tc>
                <a:tc>
                  <a:txBody>
                    <a:bodyPr/>
                    <a:p>
                      <a:pPr algn="l">
                        <a:buNone/>
                      </a:pPr>
                      <a:r>
                        <a:rPr lang="en-US" altLang="zh-CN" sz="2800">
                          <a:latin typeface="楷体" panose="02010609060101010101" charset="-122"/>
                          <a:ea typeface="楷体" panose="02010609060101010101" charset="-122"/>
                        </a:rPr>
                        <a:t>2011</a:t>
                      </a:r>
                      <a:r>
                        <a:rPr lang="zh-CN" altLang="en-US" sz="2800">
                          <a:latin typeface="楷体" panose="02010609060101010101" charset="-122"/>
                          <a:ea typeface="楷体" panose="02010609060101010101" charset="-122"/>
                        </a:rPr>
                        <a:t>校奖学金，</a:t>
                      </a:r>
                      <a:r>
                        <a:rPr lang="en-US" altLang="zh-CN" sz="2800">
                          <a:latin typeface="楷体" panose="02010609060101010101" charset="-122"/>
                          <a:ea typeface="楷体" panose="02010609060101010101" charset="-122"/>
                        </a:rPr>
                        <a:t>2012</a:t>
                      </a:r>
                      <a:r>
                        <a:rPr lang="zh-CN" altLang="en-US" sz="2800">
                          <a:latin typeface="楷体" panose="02010609060101010101" charset="-122"/>
                          <a:ea typeface="楷体" panose="02010609060101010101" charset="-122"/>
                        </a:rPr>
                        <a:t>国家</a:t>
                      </a:r>
                      <a:r>
                        <a:rPr lang="zh-CN" altLang="en-US" sz="2800">
                          <a:latin typeface="楷体" panose="02010609060101010101" charset="-122"/>
                          <a:ea typeface="楷体" panose="02010609060101010101" charset="-122"/>
                        </a:rPr>
                        <a:t>奖学金</a:t>
                      </a:r>
                      <a:endParaRPr lang="zh-CN" altLang="en-US" sz="2800">
                        <a:latin typeface="楷体" panose="02010609060101010101" charset="-122"/>
                        <a:ea typeface="楷体" panose="02010609060101010101" charset="-122"/>
                      </a:endParaRPr>
                    </a:p>
                  </a:txBody>
                  <a:tcPr anchor="ctr" anchorCtr="0"/>
                </a:tc>
              </a:tr>
              <a:tr h="403225">
                <a:tc>
                  <a:txBody>
                    <a:bodyPr/>
                    <a:p>
                      <a:pPr algn="ctr">
                        <a:buNone/>
                      </a:pPr>
                      <a:r>
                        <a:rPr lang="en-US" altLang="zh-CN" sz="2800" b="1">
                          <a:latin typeface="楷体" panose="02010609060101010101" charset="-122"/>
                          <a:ea typeface="楷体" panose="02010609060101010101" charset="-122"/>
                          <a:sym typeface="+mn-ea"/>
                        </a:rPr>
                        <a:t>20100100</a:t>
                      </a:r>
                      <a:endParaRPr lang="en-US" altLang="zh-CN" sz="2800" b="1">
                        <a:latin typeface="楷体" panose="02010609060101010101" charset="-122"/>
                        <a:ea typeface="楷体" panose="02010609060101010101" charset="-122"/>
                        <a:sym typeface="+mn-ea"/>
                      </a:endParaRPr>
                    </a:p>
                  </a:txBody>
                  <a:tcPr anchor="ctr" anchorCtr="0"/>
                </a:tc>
                <a:tc>
                  <a:txBody>
                    <a:bodyPr/>
                    <a:p>
                      <a:pPr algn="l">
                        <a:buNone/>
                      </a:pPr>
                      <a:r>
                        <a:rPr lang="en-US" altLang="zh-CN" sz="2800">
                          <a:latin typeface="楷体" panose="02010609060101010101" charset="-122"/>
                          <a:ea typeface="楷体" panose="02010609060101010101" charset="-122"/>
                        </a:rPr>
                        <a:t>2012</a:t>
                      </a:r>
                      <a:r>
                        <a:rPr lang="zh-CN" altLang="en-US" sz="2800">
                          <a:latin typeface="楷体" panose="02010609060101010101" charset="-122"/>
                          <a:ea typeface="楷体" panose="02010609060101010101" charset="-122"/>
                        </a:rPr>
                        <a:t>校优秀</a:t>
                      </a:r>
                      <a:r>
                        <a:rPr lang="zh-CN" altLang="en-US" sz="2800">
                          <a:latin typeface="楷体" panose="02010609060101010101" charset="-122"/>
                          <a:ea typeface="楷体" panose="02010609060101010101" charset="-122"/>
                        </a:rPr>
                        <a:t>学生</a:t>
                      </a:r>
                      <a:endParaRPr lang="zh-CN" altLang="en-US" sz="2800">
                        <a:latin typeface="楷体" panose="02010609060101010101" charset="-122"/>
                        <a:ea typeface="楷体" panose="02010609060101010101" charset="-122"/>
                      </a:endParaRPr>
                    </a:p>
                  </a:txBody>
                  <a:tcPr anchor="ctr" anchorCtr="0"/>
                </a:tc>
              </a:tr>
              <a:tr h="403225">
                <a:tc>
                  <a:txBody>
                    <a:bodyPr/>
                    <a:p>
                      <a:pPr algn="ctr">
                        <a:buNone/>
                      </a:pPr>
                      <a:r>
                        <a:rPr lang="en-US" altLang="zh-CN" sz="2800">
                          <a:latin typeface="楷体" panose="02010609060101010101" charset="-122"/>
                          <a:ea typeface="楷体" panose="02010609060101010101" charset="-122"/>
                        </a:rPr>
                        <a:t>......</a:t>
                      </a:r>
                      <a:endParaRPr lang="en-US" altLang="zh-CN" sz="2800">
                        <a:latin typeface="楷体" panose="02010609060101010101" charset="-122"/>
                        <a:ea typeface="楷体" panose="02010609060101010101" charset="-122"/>
                      </a:endParaRPr>
                    </a:p>
                  </a:txBody>
                  <a:tcPr anchor="ctr" anchorCtr="0"/>
                </a:tc>
                <a:tc>
                  <a:txBody>
                    <a:bodyPr/>
                    <a:p>
                      <a:pPr algn="ctr">
                        <a:buNone/>
                      </a:pPr>
                      <a:r>
                        <a:rPr lang="en-US" altLang="zh-CN" sz="2800">
                          <a:latin typeface="楷体" panose="02010609060101010101" charset="-122"/>
                          <a:ea typeface="楷体" panose="02010609060101010101" charset="-122"/>
                          <a:sym typeface="+mn-ea"/>
                        </a:rPr>
                        <a:t>......</a:t>
                      </a:r>
                      <a:endParaRPr lang="zh-CN" altLang="en-US" sz="2800">
                        <a:latin typeface="楷体" panose="02010609060101010101" charset="-122"/>
                        <a:ea typeface="楷体" panose="02010609060101010101" charset="-122"/>
                      </a:endParaRPr>
                    </a:p>
                  </a:txBody>
                  <a:tcPr anchor="ctr" anchorCtr="0"/>
                </a:tc>
              </a:tr>
            </a:tbl>
          </a:graphicData>
        </a:graphic>
      </p:graphicFrame>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Rectangle 2"/>
          <p:cNvSpPr>
            <a:spLocks noGrp="1"/>
          </p:cNvSpPr>
          <p:nvPr>
            <p:ph type="title"/>
          </p:nvPr>
        </p:nvSpPr>
        <p:spPr/>
        <p:txBody>
          <a:bodyPr wrap="square" tIns="0" bIns="0" anchor="ctr"/>
          <a:p>
            <a:pPr eaLnBrk="1" hangingPunct="1"/>
            <a:r>
              <a:rPr lang="zh-CN" altLang="en-US">
                <a:sym typeface="+mn-ea"/>
              </a:rPr>
              <a:t>文件管理存在的</a:t>
            </a:r>
            <a:r>
              <a:rPr lang="zh-CN" altLang="en-US">
                <a:sym typeface="+mn-ea"/>
              </a:rPr>
              <a:t>问题</a:t>
            </a:r>
            <a:endParaRPr lang="zh-CN" altLang="en-US">
              <a:sym typeface="+mn-ea"/>
            </a:endParaRPr>
          </a:p>
        </p:txBody>
      </p:sp>
      <p:sp>
        <p:nvSpPr>
          <p:cNvPr id="37892" name="Rectangle 3"/>
          <p:cNvSpPr>
            <a:spLocks noGrp="1"/>
          </p:cNvSpPr>
          <p:nvPr>
            <p:ph idx="1"/>
          </p:nvPr>
        </p:nvSpPr>
        <p:spPr/>
        <p:txBody>
          <a:bodyPr wrap="square" anchor="t"/>
          <a:p>
            <a:pPr marL="0" indent="615950" eaLnBrk="1" hangingPunct="1">
              <a:lnSpc>
                <a:spcPct val="100000"/>
              </a:lnSpc>
              <a:spcBef>
                <a:spcPts val="0"/>
              </a:spcBef>
              <a:spcAft>
                <a:spcPts val="0"/>
              </a:spcAft>
              <a:buNone/>
            </a:pPr>
            <a:r>
              <a:rPr lang="zh-CN" altLang="en-US" sz="2800">
                <a:latin typeface="楷体" panose="02010609060101010101" charset="-122"/>
                <a:ea typeface="楷体" panose="02010609060101010101" charset="-122"/>
                <a:cs typeface="楷体" panose="02010609060101010101" charset="-122"/>
              </a:rPr>
              <a:t>在数据库技术出现之前，应用程序对于（文件中）数据的</a:t>
            </a:r>
            <a:r>
              <a:rPr lang="zh-CN" altLang="en-US" sz="2800">
                <a:latin typeface="楷体" panose="02010609060101010101" charset="-122"/>
                <a:ea typeface="楷体" panose="02010609060101010101" charset="-122"/>
                <a:cs typeface="楷体" panose="02010609060101010101" charset="-122"/>
              </a:rPr>
              <a:t>管理存在以下方面的</a:t>
            </a:r>
            <a:r>
              <a:rPr lang="zh-CN" altLang="en-US" sz="2800">
                <a:latin typeface="楷体" panose="02010609060101010101" charset="-122"/>
                <a:ea typeface="楷体" panose="02010609060101010101" charset="-122"/>
                <a:cs typeface="楷体" panose="02010609060101010101" charset="-122"/>
              </a:rPr>
              <a:t>问题：</a:t>
            </a:r>
            <a:endParaRPr lang="zh-CN" altLang="en-US" sz="2800">
              <a:latin typeface="楷体" panose="02010609060101010101" charset="-122"/>
              <a:ea typeface="楷体" panose="02010609060101010101" charset="-122"/>
              <a:cs typeface="楷体" panose="02010609060101010101" charset="-122"/>
            </a:endParaRPr>
          </a:p>
          <a:p>
            <a:pPr eaLnBrk="1" hangingPunct="1">
              <a:lnSpc>
                <a:spcPct val="100000"/>
              </a:lnSpc>
              <a:spcBef>
                <a:spcPts val="1000"/>
              </a:spcBef>
              <a:spcAft>
                <a:spcPts val="0"/>
              </a:spcAft>
            </a:pPr>
            <a:r>
              <a:rPr lang="zh-CN" altLang="en-US" sz="2800">
                <a:solidFill>
                  <a:srgbClr val="FF0000"/>
                </a:solidFill>
                <a:latin typeface="楷体" panose="02010609060101010101" charset="-122"/>
                <a:ea typeface="楷体" panose="02010609060101010101" charset="-122"/>
                <a:cs typeface="楷体" panose="02010609060101010101" charset="-122"/>
              </a:rPr>
              <a:t>数据存储</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冗余存储</a:t>
            </a:r>
            <a:r>
              <a:rPr lang="en-US" altLang="zh-CN" sz="2800">
                <a:latin typeface="楷体" panose="02010609060101010101" charset="-122"/>
                <a:ea typeface="楷体" panose="02010609060101010101" charset="-122"/>
                <a:cs typeface="楷体" panose="02010609060101010101" charset="-122"/>
              </a:rPr>
              <a:t> </a:t>
            </a:r>
            <a:r>
              <a:rPr lang="en-US" altLang="en-US" sz="2800" dirty="0">
                <a:latin typeface="楷体" panose="02010609060101010101" charset="-122"/>
                <a:ea typeface="楷体" panose="02010609060101010101" charset="-122"/>
                <a:cs typeface="楷体" panose="02010609060101010101" charset="-122"/>
                <a:sym typeface="+mn-ea"/>
              </a:rPr>
              <a:t>redundancy</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数据的不一致性</a:t>
            </a:r>
            <a:r>
              <a:rPr lang="en-US" altLang="zh-CN" sz="2800">
                <a:latin typeface="楷体" panose="02010609060101010101" charset="-122"/>
                <a:ea typeface="楷体" panose="02010609060101010101" charset="-122"/>
                <a:cs typeface="楷体" panose="02010609060101010101" charset="-122"/>
              </a:rPr>
              <a:t> </a:t>
            </a:r>
            <a:r>
              <a:rPr lang="en-US" altLang="en-US" sz="2800" dirty="0">
                <a:latin typeface="楷体" panose="02010609060101010101" charset="-122"/>
                <a:ea typeface="楷体" panose="02010609060101010101" charset="-122"/>
                <a:cs typeface="楷体" panose="02010609060101010101" charset="-122"/>
              </a:rPr>
              <a:t>data in</a:t>
            </a:r>
            <a:r>
              <a:rPr lang="en-US" altLang="en-US" sz="2800" dirty="0">
                <a:latin typeface="楷体" panose="02010609060101010101" charset="-122"/>
                <a:ea typeface="楷体" panose="02010609060101010101" charset="-122"/>
                <a:cs typeface="楷体" panose="02010609060101010101" charset="-122"/>
                <a:sym typeface="+mn-ea"/>
              </a:rPr>
              <a:t>consistency</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完整性约束</a:t>
            </a:r>
            <a:r>
              <a:rPr lang="en-US" altLang="zh-CN" sz="2800">
                <a:latin typeface="楷体" panose="02010609060101010101" charset="-122"/>
                <a:ea typeface="楷体" panose="02010609060101010101" charset="-122"/>
                <a:cs typeface="楷体" panose="02010609060101010101" charset="-122"/>
              </a:rPr>
              <a:t> </a:t>
            </a:r>
            <a:r>
              <a:rPr lang="en-US" altLang="en-US" sz="2800" dirty="0">
                <a:latin typeface="楷体" panose="02010609060101010101" charset="-122"/>
                <a:ea typeface="楷体" panose="02010609060101010101" charset="-122"/>
                <a:cs typeface="楷体" panose="02010609060101010101" charset="-122"/>
                <a:sym typeface="+mn-ea"/>
              </a:rPr>
              <a:t>integrity constraints</a:t>
            </a:r>
            <a:endParaRPr lang="en-US" altLang="zh-CN" sz="2800">
              <a:latin typeface="楷体" panose="02010609060101010101" charset="-122"/>
              <a:ea typeface="楷体" panose="02010609060101010101" charset="-122"/>
              <a:cs typeface="楷体" panose="02010609060101010101" charset="-122"/>
            </a:endParaRPr>
          </a:p>
          <a:p>
            <a:pPr algn="l" eaLnBrk="1" hangingPunct="1">
              <a:lnSpc>
                <a:spcPct val="100000"/>
              </a:lnSpc>
              <a:spcBef>
                <a:spcPts val="1000"/>
              </a:spcBef>
              <a:spcAft>
                <a:spcPts val="0"/>
              </a:spcAft>
              <a:buSzTx/>
            </a:pPr>
            <a:r>
              <a:rPr lang="zh-CN" altLang="en-US" sz="2800">
                <a:solidFill>
                  <a:srgbClr val="FF0000"/>
                </a:solidFill>
                <a:latin typeface="楷体" panose="02010609060101010101" charset="-122"/>
                <a:ea typeface="楷体" panose="02010609060101010101" charset="-122"/>
                <a:cs typeface="楷体" panose="02010609060101010101" charset="-122"/>
              </a:rPr>
              <a:t>数据访问</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缺少标准的数据访问接口</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数据更新操作的原子性</a:t>
            </a:r>
            <a:r>
              <a:rPr lang="en-US" altLang="zh-CN" sz="2800">
                <a:latin typeface="楷体" panose="02010609060101010101" charset="-122"/>
                <a:ea typeface="楷体" panose="02010609060101010101" charset="-122"/>
                <a:cs typeface="楷体" panose="02010609060101010101" charset="-122"/>
              </a:rPr>
              <a:t> </a:t>
            </a:r>
            <a:r>
              <a:rPr lang="en-US" altLang="zh-CN" sz="2800" dirty="0">
                <a:latin typeface="楷体" panose="02010609060101010101" charset="-122"/>
                <a:ea typeface="楷体" panose="02010609060101010101" charset="-122"/>
                <a:cs typeface="楷体" panose="02010609060101010101" charset="-122"/>
                <a:sym typeface="+mn-ea"/>
              </a:rPr>
              <a:t>a</a:t>
            </a:r>
            <a:r>
              <a:rPr lang="en-US" altLang="en-US" sz="2800" dirty="0">
                <a:latin typeface="楷体" panose="02010609060101010101" charset="-122"/>
                <a:ea typeface="楷体" panose="02010609060101010101" charset="-122"/>
                <a:cs typeface="楷体" panose="02010609060101010101" charset="-122"/>
                <a:sym typeface="+mn-ea"/>
              </a:rPr>
              <a:t>tomicity of updates</a:t>
            </a:r>
            <a:endParaRPr lang="zh-CN" altLang="en-US" sz="2800">
              <a:latin typeface="楷体" panose="02010609060101010101" charset="-122"/>
              <a:ea typeface="楷体" panose="02010609060101010101" charset="-122"/>
              <a:cs typeface="楷体" panose="02010609060101010101" charset="-122"/>
            </a:endParaRPr>
          </a:p>
          <a:p>
            <a:pPr algn="l" eaLnBrk="1" hangingPunct="1">
              <a:lnSpc>
                <a:spcPct val="100000"/>
              </a:lnSpc>
              <a:spcBef>
                <a:spcPts val="1000"/>
              </a:spcBef>
              <a:spcAft>
                <a:spcPts val="0"/>
              </a:spcAft>
              <a:buSzTx/>
            </a:pPr>
            <a:r>
              <a:rPr lang="zh-CN" altLang="en-US" sz="2800">
                <a:solidFill>
                  <a:srgbClr val="FF0000"/>
                </a:solidFill>
                <a:latin typeface="楷体" panose="02010609060101010101" charset="-122"/>
                <a:ea typeface="楷体" panose="02010609060101010101" charset="-122"/>
                <a:cs typeface="楷体" panose="02010609060101010101" charset="-122"/>
              </a:rPr>
              <a:t>多用户并发</a:t>
            </a:r>
            <a:endParaRPr lang="zh-CN" altLang="en-US" sz="2800">
              <a:latin typeface="楷体" panose="02010609060101010101" charset="-122"/>
              <a:ea typeface="楷体" panose="02010609060101010101" charset="-122"/>
              <a:cs typeface="楷体" panose="02010609060101010101" charset="-122"/>
            </a:endParaRPr>
          </a:p>
          <a:p>
            <a:pPr lvl="1" eaLnBrk="1" hangingPunct="1">
              <a:lnSpc>
                <a:spcPct val="100000"/>
              </a:lnSpc>
              <a:spcBef>
                <a:spcPts val="0"/>
              </a:spcBef>
              <a:spcAft>
                <a:spcPts val="0"/>
              </a:spcAft>
              <a:buFont typeface="Arial" panose="020B0604020202020204" pitchFamily="34" charset="0"/>
              <a:buChar char="•"/>
            </a:pPr>
            <a:r>
              <a:rPr lang="zh-CN" altLang="en-US" sz="2800">
                <a:latin typeface="楷体" panose="02010609060101010101" charset="-122"/>
                <a:ea typeface="楷体" panose="02010609060101010101" charset="-122"/>
                <a:cs typeface="楷体" panose="02010609060101010101" charset="-122"/>
              </a:rPr>
              <a:t>多用户访问的隔离、并发控制、故障恢复</a:t>
            </a:r>
            <a:endParaRPr lang="zh-CN" altLang="en-US" sz="2800">
              <a:latin typeface="楷体" panose="02010609060101010101" charset="-122"/>
              <a:ea typeface="楷体" panose="02010609060101010101" charset="-122"/>
              <a:cs typeface="楷体" panose="02010609060101010101" charset="-122"/>
            </a:endParaRPr>
          </a:p>
          <a:p>
            <a:pPr eaLnBrk="1" hangingPunct="1">
              <a:lnSpc>
                <a:spcPct val="100000"/>
              </a:lnSpc>
              <a:spcBef>
                <a:spcPts val="1000"/>
              </a:spcBef>
              <a:spcAft>
                <a:spcPts val="0"/>
              </a:spcAft>
            </a:pPr>
            <a:r>
              <a:rPr lang="zh-CN" altLang="en-US" sz="2800">
                <a:solidFill>
                  <a:srgbClr val="FF0000"/>
                </a:solidFill>
                <a:latin typeface="楷体" panose="02010609060101010101" charset="-122"/>
                <a:ea typeface="楷体" panose="02010609060101010101" charset="-122"/>
                <a:cs typeface="楷体" panose="02010609060101010101" charset="-122"/>
              </a:rPr>
              <a:t>数据安全</a:t>
            </a:r>
            <a:r>
              <a:rPr lang="zh-CN" altLang="en-US" sz="2800">
                <a:latin typeface="楷体" panose="02010609060101010101" charset="-122"/>
                <a:ea typeface="楷体" panose="02010609060101010101" charset="-122"/>
                <a:cs typeface="楷体" panose="02010609060101010101" charset="-122"/>
              </a:rPr>
              <a:t>：</a:t>
            </a:r>
            <a:r>
              <a:rPr lang="zh-CN" altLang="en-US" sz="2800">
                <a:solidFill>
                  <a:srgbClr val="1F2DA8"/>
                </a:solidFill>
                <a:latin typeface="楷体" panose="02010609060101010101" charset="-122"/>
                <a:ea typeface="楷体" panose="02010609060101010101" charset="-122"/>
                <a:cs typeface="楷体" panose="02010609060101010101" charset="-122"/>
              </a:rPr>
              <a:t>用户身份识别，访问控制</a:t>
            </a:r>
            <a:endParaRPr lang="zh-CN" altLang="en-US" sz="2800">
              <a:solidFill>
                <a:srgbClr val="1F2DA8"/>
              </a:solidFill>
              <a:latin typeface="楷体" panose="02010609060101010101" charset="-122"/>
              <a:ea typeface="楷体" panose="02010609060101010101" charset="-122"/>
              <a:cs typeface="楷体" panose="02010609060101010101" charset="-12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en-US" altLang="zh-CN"/>
              <a:t>1.1.3  </a:t>
            </a:r>
            <a:r>
              <a:rPr lang="zh-CN" altLang="en-US"/>
              <a:t>数据库系统的</a:t>
            </a:r>
            <a:r>
              <a:rPr lang="zh-CN" altLang="en-US"/>
              <a:t>特点</a:t>
            </a:r>
            <a:endParaRPr lang="zh-CN" altLang="en-US"/>
          </a:p>
        </p:txBody>
      </p:sp>
      <p:sp>
        <p:nvSpPr>
          <p:cNvPr id="6" name="内容占位符 5"/>
          <p:cNvSpPr>
            <a:spLocks noGrp="1"/>
          </p:cNvSpPr>
          <p:nvPr>
            <p:ph idx="1"/>
          </p:nvPr>
        </p:nvSpPr>
        <p:spPr/>
        <p:txBody>
          <a:bodyPr/>
          <a:p>
            <a:r>
              <a:rPr lang="zh-CN" altLang="en-US">
                <a:solidFill>
                  <a:srgbClr val="1F2DA8"/>
                </a:solidFill>
              </a:rPr>
              <a:t>与人工管理和文件系统相比，采用数据库系统来实现数据管理具有以下</a:t>
            </a:r>
            <a:r>
              <a:rPr lang="zh-CN" altLang="en-US">
                <a:solidFill>
                  <a:srgbClr val="1F2DA8"/>
                </a:solidFill>
              </a:rPr>
              <a:t>特点：</a:t>
            </a:r>
            <a:endParaRPr lang="zh-CN" altLang="en-US">
              <a:solidFill>
                <a:srgbClr val="1F2DA8"/>
              </a:solidFill>
            </a:endParaRPr>
          </a:p>
          <a:p>
            <a:pPr lvl="1">
              <a:lnSpc>
                <a:spcPct val="110000"/>
              </a:lnSpc>
              <a:spcBef>
                <a:spcPts val="2000"/>
              </a:spcBef>
            </a:pPr>
            <a:r>
              <a:rPr lang="zh-CN" altLang="en-US">
                <a:solidFill>
                  <a:srgbClr val="1F2DA8"/>
                </a:solidFill>
              </a:rPr>
              <a:t>数据</a:t>
            </a:r>
            <a:r>
              <a:rPr lang="zh-CN" altLang="en-US">
                <a:solidFill>
                  <a:srgbClr val="FF0000"/>
                </a:solidFill>
              </a:rPr>
              <a:t>结构化</a:t>
            </a:r>
            <a:endParaRPr lang="zh-CN" altLang="en-US"/>
          </a:p>
          <a:p>
            <a:pPr lvl="1">
              <a:lnSpc>
                <a:spcPct val="110000"/>
              </a:lnSpc>
              <a:spcBef>
                <a:spcPts val="2000"/>
              </a:spcBef>
            </a:pPr>
            <a:r>
              <a:rPr lang="zh-CN" altLang="en-US"/>
              <a:t>数据的</a:t>
            </a:r>
            <a:r>
              <a:rPr lang="zh-CN" altLang="en-US">
                <a:solidFill>
                  <a:srgbClr val="FF0000"/>
                </a:solidFill>
              </a:rPr>
              <a:t>共享性高</a:t>
            </a:r>
            <a:r>
              <a:rPr lang="zh-CN" altLang="en-US"/>
              <a:t>，</a:t>
            </a:r>
            <a:r>
              <a:rPr lang="zh-CN" altLang="en-US">
                <a:solidFill>
                  <a:srgbClr val="FF0000"/>
                </a:solidFill>
              </a:rPr>
              <a:t>冗余度低</a:t>
            </a:r>
            <a:r>
              <a:rPr lang="zh-CN" altLang="en-US">
                <a:solidFill>
                  <a:srgbClr val="1F2DA8"/>
                </a:solidFill>
              </a:rPr>
              <a:t>，</a:t>
            </a:r>
            <a:r>
              <a:rPr lang="zh-CN" altLang="en-US"/>
              <a:t>且</a:t>
            </a:r>
            <a:r>
              <a:rPr lang="zh-CN" altLang="en-US">
                <a:solidFill>
                  <a:srgbClr val="FF0000"/>
                </a:solidFill>
              </a:rPr>
              <a:t>易扩充</a:t>
            </a:r>
            <a:endParaRPr lang="zh-CN" altLang="en-US"/>
          </a:p>
          <a:p>
            <a:pPr lvl="1">
              <a:lnSpc>
                <a:spcPct val="110000"/>
              </a:lnSpc>
              <a:spcBef>
                <a:spcPts val="2000"/>
              </a:spcBef>
            </a:pPr>
            <a:r>
              <a:rPr lang="zh-CN" altLang="en-US">
                <a:solidFill>
                  <a:srgbClr val="FF0000"/>
                </a:solidFill>
              </a:rPr>
              <a:t>数据独立性高</a:t>
            </a:r>
            <a:endParaRPr lang="zh-CN" altLang="en-US"/>
          </a:p>
          <a:p>
            <a:pPr lvl="1">
              <a:lnSpc>
                <a:spcPct val="110000"/>
              </a:lnSpc>
              <a:spcBef>
                <a:spcPts val="2000"/>
              </a:spcBef>
            </a:pPr>
            <a:r>
              <a:rPr lang="zh-CN" altLang="en-US"/>
              <a:t>数据由数据库管理系统</a:t>
            </a:r>
            <a:r>
              <a:rPr lang="zh-CN" altLang="en-US">
                <a:solidFill>
                  <a:srgbClr val="FF0000"/>
                </a:solidFill>
              </a:rPr>
              <a:t>统一管理和控制</a:t>
            </a:r>
            <a:endParaRPr lang="zh-CN" altLang="en-US">
              <a:solidFill>
                <a:srgbClr val="FF0000"/>
              </a:solidFill>
            </a:endParaRPr>
          </a:p>
          <a:p>
            <a:pPr marL="782955" lvl="2" indent="0">
              <a:lnSpc>
                <a:spcPct val="110000"/>
              </a:lnSpc>
              <a:buNone/>
            </a:pPr>
            <a:r>
              <a:rPr lang="zh-CN" altLang="en-US">
                <a:solidFill>
                  <a:srgbClr val="1F2DA8"/>
                </a:solidFill>
              </a:rPr>
              <a:t>（安全性保护，完整性保护，并发控制，数据库恢复）</a:t>
            </a:r>
            <a:endParaRPr lang="zh-CN" altLang="en-US">
              <a:solidFill>
                <a:srgbClr val="1F2DA8"/>
              </a:solidFill>
            </a:endParaRPr>
          </a:p>
        </p:txBody>
      </p:sp>
      <p:sp>
        <p:nvSpPr>
          <p:cNvPr id="4" name="灯片编号占位符 3"/>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dirty="0"/>
              <a:t>数据库的特点（</a:t>
            </a:r>
            <a:r>
              <a:rPr lang="en-US" altLang="zh-CN" dirty="0"/>
              <a:t>1</a:t>
            </a:r>
            <a:r>
              <a:rPr lang="zh-CN" altLang="en-US" dirty="0"/>
              <a:t>）</a:t>
            </a:r>
            <a:r>
              <a:rPr lang="en-US" altLang="zh-CN" dirty="0"/>
              <a:t>-  </a:t>
            </a:r>
            <a:r>
              <a:rPr lang="zh-CN" altLang="en-US" dirty="0"/>
              <a:t>数据结构化</a:t>
            </a:r>
            <a:endParaRPr lang="zh-CN" altLang="en-US" dirty="0"/>
          </a:p>
        </p:txBody>
      </p:sp>
      <p:sp>
        <p:nvSpPr>
          <p:cNvPr id="47107" name="Rectangle 3"/>
          <p:cNvSpPr>
            <a:spLocks noGrp="1" noChangeArrowheads="1"/>
          </p:cNvSpPr>
          <p:nvPr>
            <p:ph idx="1"/>
          </p:nvPr>
        </p:nvSpPr>
        <p:spPr/>
        <p:txBody>
          <a:bodyPr>
            <a:normAutofit lnSpcReduction="10000"/>
          </a:bodyPr>
          <a:lstStyle/>
          <a:p>
            <a:r>
              <a:rPr lang="zh-CN" altLang="en-US" dirty="0"/>
              <a:t>数据的整体结构化是数据库的主要特征之一，也是数据库系统与文件系统的本质</a:t>
            </a:r>
            <a:r>
              <a:rPr lang="zh-CN" altLang="en-US" dirty="0"/>
              <a:t>区别。</a:t>
            </a:r>
            <a:endParaRPr lang="zh-CN" altLang="en-US" dirty="0"/>
          </a:p>
          <a:p>
            <a:pPr>
              <a:lnSpc>
                <a:spcPct val="110000"/>
              </a:lnSpc>
              <a:spcBef>
                <a:spcPts val="2000"/>
              </a:spcBef>
            </a:pPr>
            <a:r>
              <a:rPr lang="zh-CN" altLang="en-US" dirty="0">
                <a:solidFill>
                  <a:srgbClr val="FF0000"/>
                </a:solidFill>
              </a:rPr>
              <a:t>整体结构化</a:t>
            </a:r>
            <a:endParaRPr lang="zh-CN" altLang="en-US" dirty="0"/>
          </a:p>
          <a:p>
            <a:pPr lvl="1"/>
            <a:r>
              <a:rPr lang="zh-CN" altLang="en-US" dirty="0"/>
              <a:t>不再仅仅针对某一个应用，而是面向全组织（</a:t>
            </a:r>
            <a:r>
              <a:rPr lang="zh-CN" altLang="en-US" dirty="0">
                <a:solidFill>
                  <a:srgbClr val="FF0000"/>
                </a:solidFill>
                <a:sym typeface="+mn-ea"/>
              </a:rPr>
              <a:t>集成性</a:t>
            </a:r>
            <a:r>
              <a:rPr lang="zh-CN" altLang="en-US" dirty="0">
                <a:sym typeface="+mn-ea"/>
              </a:rPr>
              <a:t>：</a:t>
            </a:r>
            <a:r>
              <a:rPr lang="zh-CN" altLang="en-US" dirty="0">
                <a:cs typeface="楷体" panose="02010609060101010101" charset="-122"/>
                <a:sym typeface="+mn-ea"/>
              </a:rPr>
              <a:t>采用统一的数据结构，建立一个全局统一的数据模式，根据每个应用的数据需要构作局部模式</a:t>
            </a:r>
            <a:r>
              <a:rPr lang="zh-CN" altLang="en-US" dirty="0"/>
              <a:t>）</a:t>
            </a:r>
            <a:endParaRPr lang="zh-CN" altLang="en-US" dirty="0"/>
          </a:p>
          <a:p>
            <a:pPr lvl="1"/>
            <a:r>
              <a:rPr lang="zh-CN" altLang="en-US" dirty="0"/>
              <a:t>不仅数据内部结构化，整体是结构化的，数据之间具有联系</a:t>
            </a:r>
            <a:endParaRPr lang="zh-CN" altLang="en-US" dirty="0"/>
          </a:p>
          <a:p>
            <a:pPr lvl="1"/>
            <a:r>
              <a:rPr lang="zh-CN" altLang="en-US" dirty="0"/>
              <a:t>数据记录可以变长</a:t>
            </a:r>
            <a:endParaRPr lang="zh-CN" altLang="en-US" dirty="0"/>
          </a:p>
          <a:p>
            <a:pPr lvl="1"/>
            <a:r>
              <a:rPr lang="zh-CN" altLang="en-US" dirty="0"/>
              <a:t>数据的最小存取单位是数据项</a:t>
            </a:r>
            <a:endParaRPr lang="zh-CN" altLang="en-US" dirty="0"/>
          </a:p>
          <a:p>
            <a:pPr>
              <a:lnSpc>
                <a:spcPct val="110000"/>
              </a:lnSpc>
              <a:spcBef>
                <a:spcPts val="2000"/>
              </a:spcBef>
            </a:pPr>
            <a:r>
              <a:rPr lang="zh-CN" altLang="en-US" dirty="0"/>
              <a:t>数据的组织结构、联系方式、存取方法用</a:t>
            </a:r>
            <a:r>
              <a:rPr lang="en-US" altLang="zh-CN" dirty="0"/>
              <a:t>‘</a:t>
            </a:r>
            <a:r>
              <a:rPr lang="zh-CN" altLang="en-US" dirty="0">
                <a:solidFill>
                  <a:srgbClr val="FF0000"/>
                </a:solidFill>
              </a:rPr>
              <a:t>数据模型</a:t>
            </a:r>
            <a:r>
              <a:rPr lang="en-US" altLang="zh-CN" dirty="0"/>
              <a:t>’</a:t>
            </a:r>
            <a:r>
              <a:rPr lang="zh-CN" altLang="en-US" dirty="0"/>
              <a:t>描述，无需应用程序定义</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fontScale="90000"/>
          </a:bodyPr>
          <a:lstStyle/>
          <a:p>
            <a:r>
              <a:rPr lang="zh-CN" altLang="en-US" sz="3110" dirty="0"/>
              <a:t>数据库的特点（</a:t>
            </a:r>
            <a:r>
              <a:rPr lang="en-US" altLang="zh-CN" sz="3110" dirty="0"/>
              <a:t>2</a:t>
            </a:r>
            <a:r>
              <a:rPr lang="zh-CN" altLang="en-US" sz="3110" dirty="0"/>
              <a:t>）</a:t>
            </a:r>
            <a:r>
              <a:rPr lang="en-US" altLang="zh-CN" sz="3110" dirty="0"/>
              <a:t>-  </a:t>
            </a:r>
            <a:r>
              <a:rPr lang="zh-CN" altLang="en-US" sz="3110" dirty="0"/>
              <a:t>数据的共享性高，冗余度低且易扩充</a:t>
            </a:r>
            <a:endParaRPr lang="zh-CN" altLang="en-US" sz="3110" dirty="0"/>
          </a:p>
        </p:txBody>
      </p:sp>
      <p:sp>
        <p:nvSpPr>
          <p:cNvPr id="48131" name="Rectangle 3"/>
          <p:cNvSpPr>
            <a:spLocks noGrp="1" noChangeArrowheads="1"/>
          </p:cNvSpPr>
          <p:nvPr>
            <p:ph idx="1"/>
          </p:nvPr>
        </p:nvSpPr>
        <p:spPr/>
        <p:txBody>
          <a:bodyPr/>
          <a:lstStyle/>
          <a:p>
            <a:pPr>
              <a:lnSpc>
                <a:spcPct val="100000"/>
              </a:lnSpc>
              <a:spcBef>
                <a:spcPct val="0"/>
              </a:spcBef>
            </a:pPr>
            <a:r>
              <a:rPr lang="zh-CN" altLang="en-US" dirty="0"/>
              <a:t>数据面向整个系统，可以被多个用户、多个应用共享使用。</a:t>
            </a:r>
            <a:endParaRPr lang="zh-CN" altLang="en-US" dirty="0"/>
          </a:p>
          <a:p>
            <a:pPr lvl="1" eaLnBrk="1" hangingPunct="1">
              <a:lnSpc>
                <a:spcPct val="100000"/>
              </a:lnSpc>
              <a:spcBef>
                <a:spcPct val="0"/>
              </a:spcBef>
            </a:pPr>
            <a:r>
              <a:rPr lang="zh-CN" altLang="en-US" dirty="0">
                <a:solidFill>
                  <a:srgbClr val="FF0000"/>
                </a:solidFill>
                <a:cs typeface="楷体" panose="02010609060101010101" charset="-122"/>
                <a:sym typeface="+mn-ea"/>
              </a:rPr>
              <a:t>数据共享</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可供多个应用程序使用，并可用于不同的目的 </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可以在已有的数据库系统上开发新的应用程序 </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可向外界提供信息服务功能 </a:t>
            </a:r>
            <a:endParaRPr lang="zh-CN" altLang="en-US" dirty="0">
              <a:latin typeface="楷体" panose="02010609060101010101" charset="-122"/>
              <a:ea typeface="楷体" panose="02010609060101010101" charset="-122"/>
              <a:cs typeface="楷体" panose="02010609060101010101" charset="-122"/>
            </a:endParaRPr>
          </a:p>
          <a:p>
            <a:pPr lvl="1" eaLnBrk="1" hangingPunct="1">
              <a:lnSpc>
                <a:spcPct val="100000"/>
              </a:lnSpc>
              <a:spcBef>
                <a:spcPct val="0"/>
              </a:spcBef>
            </a:pPr>
            <a:r>
              <a:rPr lang="zh-CN" altLang="en-US" dirty="0">
                <a:solidFill>
                  <a:srgbClr val="FF0000"/>
                </a:solidFill>
                <a:cs typeface="楷体" panose="02010609060101010101" charset="-122"/>
                <a:sym typeface="+mn-ea"/>
              </a:rPr>
              <a:t>数据冗余</a:t>
            </a:r>
            <a:endParaRPr lang="zh-CN" altLang="en-US" dirty="0">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同一个数据在系统中</a:t>
            </a:r>
            <a:r>
              <a:rPr lang="zh-CN" altLang="en-US" dirty="0">
                <a:cs typeface="楷体" panose="02010609060101010101" charset="-122"/>
                <a:sym typeface="+mn-ea"/>
              </a:rPr>
              <a:t>的不同地方出现了重复存储</a:t>
            </a:r>
            <a:endParaRPr lang="zh-CN" altLang="en-US" dirty="0">
              <a:cs typeface="楷体" panose="02010609060101010101" charset="-122"/>
              <a:sym typeface="+mn-ea"/>
            </a:endParaRPr>
          </a:p>
          <a:p>
            <a:pPr lvl="1" eaLnBrk="1" hangingPunct="1">
              <a:lnSpc>
                <a:spcPct val="100000"/>
              </a:lnSpc>
              <a:spcBef>
                <a:spcPct val="0"/>
              </a:spcBef>
            </a:pPr>
            <a:r>
              <a:rPr lang="zh-CN" altLang="en-US" dirty="0">
                <a:solidFill>
                  <a:srgbClr val="FF0000"/>
                </a:solidFill>
                <a:cs typeface="楷体" panose="02010609060101010101" charset="-122"/>
                <a:sym typeface="+mn-ea"/>
              </a:rPr>
              <a:t>数据一致性</a:t>
            </a:r>
            <a:endParaRPr lang="zh-CN" altLang="en-US" dirty="0">
              <a:solidFill>
                <a:srgbClr val="FF0000"/>
              </a:solidFill>
              <a:latin typeface="楷体" panose="02010609060101010101" charset="-122"/>
              <a:ea typeface="楷体" panose="02010609060101010101" charset="-122"/>
              <a:cs typeface="楷体" panose="02010609060101010101" charset="-122"/>
            </a:endParaRPr>
          </a:p>
          <a:p>
            <a:pPr lvl="2" eaLnBrk="1" hangingPunct="1">
              <a:lnSpc>
                <a:spcPct val="100000"/>
              </a:lnSpc>
              <a:spcBef>
                <a:spcPct val="0"/>
              </a:spcBef>
            </a:pPr>
            <a:r>
              <a:rPr lang="zh-CN" altLang="en-US" dirty="0">
                <a:cs typeface="楷体" panose="02010609060101010101" charset="-122"/>
                <a:sym typeface="+mn-ea"/>
              </a:rPr>
              <a:t>在系统中，同一数据的不同出现应保持相同的值</a:t>
            </a:r>
            <a:endParaRPr lang="zh-CN" altLang="en-US" dirty="0"/>
          </a:p>
          <a:p>
            <a:pPr>
              <a:lnSpc>
                <a:spcPct val="100000"/>
              </a:lnSpc>
              <a:spcBef>
                <a:spcPts val="2000"/>
              </a:spcBef>
            </a:pPr>
            <a:r>
              <a:rPr lang="zh-CN" altLang="en-US" dirty="0"/>
              <a:t>数据共享的好处</a:t>
            </a:r>
            <a:endParaRPr lang="zh-CN" altLang="en-US" dirty="0"/>
          </a:p>
          <a:p>
            <a:pPr lvl="1">
              <a:lnSpc>
                <a:spcPct val="100000"/>
              </a:lnSpc>
              <a:spcBef>
                <a:spcPct val="0"/>
              </a:spcBef>
            </a:pPr>
            <a:r>
              <a:rPr lang="zh-CN" altLang="en-US" dirty="0"/>
              <a:t>减少数据冗余，节约存储空间</a:t>
            </a:r>
            <a:endParaRPr lang="zh-CN" altLang="en-US" dirty="0"/>
          </a:p>
          <a:p>
            <a:pPr lvl="1">
              <a:lnSpc>
                <a:spcPct val="100000"/>
              </a:lnSpc>
              <a:spcBef>
                <a:spcPct val="0"/>
              </a:spcBef>
            </a:pPr>
            <a:r>
              <a:rPr lang="zh-CN" altLang="en-US" dirty="0"/>
              <a:t>避免数据之间的不相容性与不一致性 </a:t>
            </a:r>
            <a:endParaRPr lang="zh-CN" altLang="en-US" dirty="0"/>
          </a:p>
          <a:p>
            <a:pPr lvl="1">
              <a:lnSpc>
                <a:spcPct val="100000"/>
              </a:lnSpc>
              <a:spcBef>
                <a:spcPct val="0"/>
              </a:spcBef>
            </a:pPr>
            <a:r>
              <a:rPr lang="zh-CN" altLang="en-US" dirty="0"/>
              <a:t>使系统易于扩充</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1">
                                            <p:txEl>
                                              <p:pRg st="9" end="9"/>
                                            </p:txEl>
                                          </p:spTgt>
                                        </p:tgtEl>
                                        <p:attrNameLst>
                                          <p:attrName>style.visibility</p:attrName>
                                        </p:attrNameLst>
                                      </p:cBhvr>
                                      <p:to>
                                        <p:strVal val="visible"/>
                                      </p:to>
                                    </p:set>
                                    <p:anim calcmode="lin" valueType="num">
                                      <p:cBhvr additive="base">
                                        <p:cTn id="7" dur="500" fill="hold"/>
                                        <p:tgtEl>
                                          <p:spTgt spid="48131">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131">
                                            <p:txEl>
                                              <p:pRg st="10" end="10"/>
                                            </p:txEl>
                                          </p:spTgt>
                                        </p:tgtEl>
                                        <p:attrNameLst>
                                          <p:attrName>style.visibility</p:attrName>
                                        </p:attrNameLst>
                                      </p:cBhvr>
                                      <p:to>
                                        <p:strVal val="visible"/>
                                      </p:to>
                                    </p:set>
                                    <p:anim calcmode="lin" valueType="num">
                                      <p:cBhvr additive="base">
                                        <p:cTn id="11" dur="500" fill="hold"/>
                                        <p:tgtEl>
                                          <p:spTgt spid="48131">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8131">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8131">
                                            <p:txEl>
                                              <p:pRg st="11" end="11"/>
                                            </p:txEl>
                                          </p:spTgt>
                                        </p:tgtEl>
                                        <p:attrNameLst>
                                          <p:attrName>style.visibility</p:attrName>
                                        </p:attrNameLst>
                                      </p:cBhvr>
                                      <p:to>
                                        <p:strVal val="visible"/>
                                      </p:to>
                                    </p:set>
                                    <p:anim calcmode="lin" valueType="num">
                                      <p:cBhvr additive="base">
                                        <p:cTn id="15" dur="500" fill="hold"/>
                                        <p:tgtEl>
                                          <p:spTgt spid="48131">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8131">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8131">
                                            <p:txEl>
                                              <p:pRg st="12" end="12"/>
                                            </p:txEl>
                                          </p:spTgt>
                                        </p:tgtEl>
                                        <p:attrNameLst>
                                          <p:attrName>style.visibility</p:attrName>
                                        </p:attrNameLst>
                                      </p:cBhvr>
                                      <p:to>
                                        <p:strVal val="visible"/>
                                      </p:to>
                                    </p:set>
                                    <p:anim calcmode="lin" valueType="num">
                                      <p:cBhvr additive="base">
                                        <p:cTn id="19" dur="500" fill="hold"/>
                                        <p:tgtEl>
                                          <p:spTgt spid="48131">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1">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dirty="0"/>
              <a:t>数据库的特点（</a:t>
            </a:r>
            <a:r>
              <a:rPr lang="en-US" altLang="zh-CN" dirty="0"/>
              <a:t>3</a:t>
            </a:r>
            <a:r>
              <a:rPr lang="zh-CN" altLang="en-US" dirty="0"/>
              <a:t>）</a:t>
            </a:r>
            <a:r>
              <a:rPr lang="en-US" altLang="zh-CN" dirty="0"/>
              <a:t>-  </a:t>
            </a:r>
            <a:r>
              <a:rPr lang="zh-CN" altLang="en-US" dirty="0"/>
              <a:t>数据独立性高</a:t>
            </a:r>
            <a:endParaRPr lang="zh-CN" altLang="en-US" dirty="0"/>
          </a:p>
        </p:txBody>
      </p:sp>
      <p:sp>
        <p:nvSpPr>
          <p:cNvPr id="49155" name="Rectangle 3"/>
          <p:cNvSpPr>
            <a:spLocks noGrp="1" noChangeArrowheads="1"/>
          </p:cNvSpPr>
          <p:nvPr>
            <p:ph idx="1"/>
          </p:nvPr>
        </p:nvSpPr>
        <p:spPr/>
        <p:txBody>
          <a:bodyPr>
            <a:noAutofit/>
          </a:bodyPr>
          <a:lstStyle/>
          <a:p>
            <a:pPr>
              <a:lnSpc>
                <a:spcPct val="100000"/>
              </a:lnSpc>
              <a:spcBef>
                <a:spcPct val="0"/>
              </a:spcBef>
            </a:pPr>
            <a:r>
              <a:rPr lang="zh-CN" altLang="en-US" dirty="0">
                <a:solidFill>
                  <a:srgbClr val="FF0000"/>
                </a:solidFill>
              </a:rPr>
              <a:t>数据独立性</a:t>
            </a:r>
            <a:r>
              <a:rPr lang="zh-CN" altLang="en-US" dirty="0">
                <a:solidFill>
                  <a:srgbClr val="1F2DA8"/>
                </a:solidFill>
              </a:rPr>
              <a:t>是</a:t>
            </a:r>
            <a:r>
              <a:rPr lang="zh-CN" altLang="en-US" dirty="0">
                <a:sym typeface="+mn-ea"/>
              </a:rPr>
              <a:t>指数据库中的数据与使用这些数据的应用程序之间的互不依赖性，即数据或数据结构的改变不会导致对使用这些数据的应用程序的修改，反之亦然。</a:t>
            </a:r>
            <a:endParaRPr lang="zh-CN" altLang="en-US" dirty="0">
              <a:solidFill>
                <a:srgbClr val="FF0000"/>
              </a:solidFill>
            </a:endParaRPr>
          </a:p>
          <a:p>
            <a:pPr>
              <a:lnSpc>
                <a:spcPct val="100000"/>
              </a:lnSpc>
            </a:pPr>
            <a:r>
              <a:rPr lang="zh-CN" altLang="en-US" dirty="0">
                <a:solidFill>
                  <a:srgbClr val="1F2DA8"/>
                </a:solidFill>
              </a:rPr>
              <a:t>数据独立性包括</a:t>
            </a:r>
            <a:endParaRPr lang="zh-CN" altLang="en-US" dirty="0">
              <a:solidFill>
                <a:srgbClr val="1F2DA8"/>
              </a:solidFill>
            </a:endParaRPr>
          </a:p>
          <a:p>
            <a:pPr lvl="1">
              <a:lnSpc>
                <a:spcPct val="100000"/>
              </a:lnSpc>
              <a:spcBef>
                <a:spcPct val="0"/>
              </a:spcBef>
            </a:pPr>
            <a:r>
              <a:rPr lang="zh-CN" altLang="en-US" dirty="0">
                <a:solidFill>
                  <a:srgbClr val="FF0000"/>
                </a:solidFill>
              </a:rPr>
              <a:t>物理独立性</a:t>
            </a:r>
            <a:endParaRPr lang="zh-CN" altLang="en-US" dirty="0"/>
          </a:p>
          <a:p>
            <a:pPr lvl="2">
              <a:lnSpc>
                <a:spcPct val="100000"/>
              </a:lnSpc>
              <a:spcBef>
                <a:spcPct val="0"/>
              </a:spcBef>
            </a:pPr>
            <a:r>
              <a:rPr lang="zh-CN" altLang="en-US" dirty="0"/>
              <a:t>指用户的应用程序与数据库中数据的物理存储是相互独立的。</a:t>
            </a:r>
            <a:endParaRPr lang="zh-CN" altLang="en-US" dirty="0"/>
          </a:p>
          <a:p>
            <a:pPr lvl="2">
              <a:lnSpc>
                <a:spcPct val="100000"/>
              </a:lnSpc>
              <a:spcBef>
                <a:spcPct val="0"/>
              </a:spcBef>
            </a:pPr>
            <a:r>
              <a:rPr lang="zh-CN" altLang="en-US" dirty="0"/>
              <a:t>当数据的物理存储改变了，应用程序不用改变。</a:t>
            </a:r>
            <a:endParaRPr lang="zh-CN" altLang="en-US" dirty="0"/>
          </a:p>
          <a:p>
            <a:pPr lvl="1">
              <a:lnSpc>
                <a:spcPct val="100000"/>
              </a:lnSpc>
              <a:spcBef>
                <a:spcPct val="0"/>
              </a:spcBef>
            </a:pPr>
            <a:r>
              <a:rPr lang="zh-CN" altLang="en-US" dirty="0">
                <a:solidFill>
                  <a:srgbClr val="FF0000"/>
                </a:solidFill>
              </a:rPr>
              <a:t>逻辑独立性</a:t>
            </a:r>
            <a:endParaRPr lang="zh-CN" altLang="en-US" dirty="0"/>
          </a:p>
          <a:p>
            <a:pPr lvl="2">
              <a:lnSpc>
                <a:spcPct val="100000"/>
              </a:lnSpc>
              <a:spcBef>
                <a:spcPct val="0"/>
              </a:spcBef>
            </a:pPr>
            <a:r>
              <a:rPr lang="zh-CN" altLang="en-US" dirty="0"/>
              <a:t>指用户的应用程序与数据库的逻辑结构是相互独立的。</a:t>
            </a:r>
            <a:endParaRPr lang="zh-CN" altLang="en-US" dirty="0"/>
          </a:p>
          <a:p>
            <a:pPr lvl="2">
              <a:lnSpc>
                <a:spcPct val="100000"/>
              </a:lnSpc>
              <a:spcBef>
                <a:spcPct val="0"/>
              </a:spcBef>
            </a:pPr>
            <a:r>
              <a:rPr lang="zh-CN" altLang="en-US" dirty="0"/>
              <a:t>数据的逻辑结构改变了，应用程序不用改变。 </a:t>
            </a:r>
            <a:endParaRPr lang="zh-CN" altLang="en-US" dirty="0"/>
          </a:p>
          <a:p>
            <a:pPr lvl="1">
              <a:lnSpc>
                <a:spcPct val="100000"/>
              </a:lnSpc>
              <a:spcBef>
                <a:spcPct val="0"/>
              </a:spcBef>
            </a:pPr>
            <a:endParaRPr lang="zh-CN" altLang="en-US" dirty="0">
              <a:solidFill>
                <a:srgbClr val="FF0000"/>
              </a:solidFill>
            </a:endParaRPr>
          </a:p>
          <a:p>
            <a:pPr>
              <a:lnSpc>
                <a:spcPct val="100000"/>
              </a:lnSpc>
            </a:pPr>
            <a:r>
              <a:rPr lang="zh-CN" altLang="en-US" dirty="0"/>
              <a:t>在数据库管理系统中，数据独立性是由</a:t>
            </a:r>
            <a:r>
              <a:rPr lang="zh-CN" altLang="en-US" dirty="0">
                <a:solidFill>
                  <a:srgbClr val="FF0000"/>
                </a:solidFill>
              </a:rPr>
              <a:t>三级模式</a:t>
            </a:r>
            <a:r>
              <a:rPr lang="zh-CN" altLang="en-US" dirty="0"/>
              <a:t>及它们之间的</a:t>
            </a:r>
            <a:r>
              <a:rPr lang="zh-CN" altLang="en-US" dirty="0">
                <a:solidFill>
                  <a:srgbClr val="FF0000"/>
                </a:solidFill>
              </a:rPr>
              <a:t>二级映像</a:t>
            </a:r>
            <a:r>
              <a:rPr lang="zh-CN" altLang="en-US" dirty="0"/>
              <a:t>功能来保证。</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Effect transition="in" filter="blinds(horizontal)">
                                      <p:cBhvr>
                                        <p:cTn id="7" dur="500"/>
                                        <p:tgtEl>
                                          <p:spTgt spid="4915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10" dur="500"/>
                                        <p:tgtEl>
                                          <p:spTgt spid="4915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9155">
                                            <p:txEl>
                                              <p:pRg st="3" end="3"/>
                                            </p:txEl>
                                          </p:spTgt>
                                        </p:tgtEl>
                                        <p:attrNameLst>
                                          <p:attrName>style.visibility</p:attrName>
                                        </p:attrNameLst>
                                      </p:cBhvr>
                                      <p:to>
                                        <p:strVal val="visible"/>
                                      </p:to>
                                    </p:set>
                                    <p:animEffect transition="in" filter="blinds(horizontal)">
                                      <p:cBhvr>
                                        <p:cTn id="13" dur="500"/>
                                        <p:tgtEl>
                                          <p:spTgt spid="4915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9155">
                                            <p:txEl>
                                              <p:pRg st="4" end="4"/>
                                            </p:txEl>
                                          </p:spTgt>
                                        </p:tgtEl>
                                        <p:attrNameLst>
                                          <p:attrName>style.visibility</p:attrName>
                                        </p:attrNameLst>
                                      </p:cBhvr>
                                      <p:to>
                                        <p:strVal val="visible"/>
                                      </p:to>
                                    </p:set>
                                    <p:animEffect transition="in" filter="blinds(horizontal)">
                                      <p:cBhvr>
                                        <p:cTn id="16" dur="500"/>
                                        <p:tgtEl>
                                          <p:spTgt spid="49155">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9155">
                                            <p:txEl>
                                              <p:pRg st="5" end="5"/>
                                            </p:txEl>
                                          </p:spTgt>
                                        </p:tgtEl>
                                        <p:attrNameLst>
                                          <p:attrName>style.visibility</p:attrName>
                                        </p:attrNameLst>
                                      </p:cBhvr>
                                      <p:to>
                                        <p:strVal val="visible"/>
                                      </p:to>
                                    </p:set>
                                    <p:animEffect transition="in" filter="blinds(horizontal)">
                                      <p:cBhvr>
                                        <p:cTn id="19" dur="500"/>
                                        <p:tgtEl>
                                          <p:spTgt spid="49155">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9155">
                                            <p:txEl>
                                              <p:pRg st="6" end="6"/>
                                            </p:txEl>
                                          </p:spTgt>
                                        </p:tgtEl>
                                        <p:attrNameLst>
                                          <p:attrName>style.visibility</p:attrName>
                                        </p:attrNameLst>
                                      </p:cBhvr>
                                      <p:to>
                                        <p:strVal val="visible"/>
                                      </p:to>
                                    </p:set>
                                    <p:animEffect transition="in" filter="blinds(horizontal)">
                                      <p:cBhvr>
                                        <p:cTn id="22" dur="500"/>
                                        <p:tgtEl>
                                          <p:spTgt spid="49155">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9155">
                                            <p:txEl>
                                              <p:pRg st="7" end="7"/>
                                            </p:txEl>
                                          </p:spTgt>
                                        </p:tgtEl>
                                        <p:attrNameLst>
                                          <p:attrName>style.visibility</p:attrName>
                                        </p:attrNameLst>
                                      </p:cBhvr>
                                      <p:to>
                                        <p:strVal val="visible"/>
                                      </p:to>
                                    </p:set>
                                    <p:animEffect transition="in" filter="blinds(horizontal)">
                                      <p:cBhvr>
                                        <p:cTn id="25" dur="500"/>
                                        <p:tgtEl>
                                          <p:spTgt spid="49155">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9155">
                                            <p:txEl>
                                              <p:pRg st="9" end="9"/>
                                            </p:txEl>
                                          </p:spTgt>
                                        </p:tgtEl>
                                        <p:attrNameLst>
                                          <p:attrName>style.visibility</p:attrName>
                                        </p:attrNameLst>
                                      </p:cBhvr>
                                      <p:to>
                                        <p:strVal val="visible"/>
                                      </p:to>
                                    </p:set>
                                    <p:anim calcmode="lin" valueType="num">
                                      <p:cBhvr additive="base">
                                        <p:cTn id="30" dur="500" fill="hold"/>
                                        <p:tgtEl>
                                          <p:spTgt spid="49155">
                                            <p:txEl>
                                              <p:pRg st="9" end="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915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r>
              <a:rPr lang="zh-CN" altLang="en-US" sz="3110" dirty="0"/>
              <a:t>数据库的特点（</a:t>
            </a:r>
            <a:r>
              <a:rPr lang="en-US" altLang="zh-CN" sz="3110" dirty="0"/>
              <a:t>4</a:t>
            </a:r>
            <a:r>
              <a:rPr lang="zh-CN" altLang="en-US" sz="3110" dirty="0"/>
              <a:t>）</a:t>
            </a:r>
            <a:r>
              <a:rPr lang="en-US" altLang="zh-CN" sz="3110" dirty="0"/>
              <a:t>-  </a:t>
            </a:r>
            <a:r>
              <a:rPr lang="zh-CN" altLang="en-US" sz="3110" dirty="0"/>
              <a:t>数据由数据</a:t>
            </a:r>
            <a:r>
              <a:rPr lang="zh-CN" altLang="en-US" sz="3110" dirty="0"/>
              <a:t>库管理系统统一管理和控制</a:t>
            </a:r>
            <a:endParaRPr lang="zh-CN" altLang="en-US" sz="3110" dirty="0"/>
          </a:p>
        </p:txBody>
      </p:sp>
      <p:sp>
        <p:nvSpPr>
          <p:cNvPr id="50179" name="Rectangle 3"/>
          <p:cNvSpPr>
            <a:spLocks noGrp="1" noChangeArrowheads="1"/>
          </p:cNvSpPr>
          <p:nvPr>
            <p:ph idx="1"/>
          </p:nvPr>
        </p:nvSpPr>
        <p:spPr/>
        <p:txBody>
          <a:bodyPr>
            <a:normAutofit/>
          </a:bodyPr>
          <a:lstStyle/>
          <a:p>
            <a:r>
              <a:rPr lang="zh-CN" altLang="en-US" dirty="0"/>
              <a:t>数据库管理系统提供的数据控制功能</a:t>
            </a:r>
            <a:r>
              <a:rPr lang="zh-CN" altLang="en-US" dirty="0"/>
              <a:t>包括</a:t>
            </a:r>
            <a:endParaRPr lang="zh-CN" altLang="en-US" dirty="0"/>
          </a:p>
          <a:p>
            <a:pPr lvl="1"/>
            <a:r>
              <a:rPr lang="zh-CN" altLang="en-US" dirty="0">
                <a:solidFill>
                  <a:srgbClr val="FF0000"/>
                </a:solidFill>
              </a:rPr>
              <a:t>数据的安全性（</a:t>
            </a:r>
            <a:r>
              <a:rPr lang="en-US" altLang="zh-CN" dirty="0">
                <a:solidFill>
                  <a:srgbClr val="FF0000"/>
                </a:solidFill>
              </a:rPr>
              <a:t>Security</a:t>
            </a:r>
            <a:r>
              <a:rPr lang="zh-CN" altLang="en-US" dirty="0">
                <a:solidFill>
                  <a:srgbClr val="FF0000"/>
                </a:solidFill>
              </a:rPr>
              <a:t>）保护</a:t>
            </a:r>
            <a:endParaRPr lang="zh-CN" altLang="en-US" dirty="0"/>
          </a:p>
          <a:p>
            <a:pPr lvl="2"/>
            <a:r>
              <a:rPr lang="zh-CN" altLang="en-US" dirty="0"/>
              <a:t>保护数据以防止不合法的使用造成的数据的泄密和破坏。</a:t>
            </a:r>
            <a:endParaRPr lang="zh-CN" altLang="en-US" dirty="0"/>
          </a:p>
          <a:p>
            <a:pPr lvl="1">
              <a:lnSpc>
                <a:spcPct val="110000"/>
              </a:lnSpc>
              <a:spcBef>
                <a:spcPts val="1000"/>
              </a:spcBef>
            </a:pPr>
            <a:r>
              <a:rPr lang="zh-CN" altLang="en-US" dirty="0">
                <a:solidFill>
                  <a:srgbClr val="FF0000"/>
                </a:solidFill>
              </a:rPr>
              <a:t>数据的完整性（</a:t>
            </a:r>
            <a:r>
              <a:rPr lang="en-US" altLang="zh-CN" dirty="0">
                <a:solidFill>
                  <a:srgbClr val="FF0000"/>
                </a:solidFill>
              </a:rPr>
              <a:t>Integrity</a:t>
            </a:r>
            <a:r>
              <a:rPr lang="zh-CN" altLang="en-US" dirty="0">
                <a:solidFill>
                  <a:srgbClr val="FF0000"/>
                </a:solidFill>
              </a:rPr>
              <a:t>）检查</a:t>
            </a:r>
            <a:endParaRPr lang="zh-CN" altLang="en-US" dirty="0"/>
          </a:p>
          <a:p>
            <a:pPr lvl="2"/>
            <a:r>
              <a:rPr lang="zh-CN" altLang="en-US" dirty="0"/>
              <a:t>保证数据的正确性、有效性和相容性。</a:t>
            </a:r>
            <a:endParaRPr lang="zh-CN" altLang="en-US" dirty="0"/>
          </a:p>
          <a:p>
            <a:pPr lvl="1">
              <a:lnSpc>
                <a:spcPct val="110000"/>
              </a:lnSpc>
              <a:spcBef>
                <a:spcPts val="1000"/>
              </a:spcBef>
            </a:pPr>
            <a:r>
              <a:rPr lang="zh-CN" altLang="en-US" dirty="0">
                <a:solidFill>
                  <a:srgbClr val="FF0000"/>
                </a:solidFill>
              </a:rPr>
              <a:t>并发（</a:t>
            </a:r>
            <a:r>
              <a:rPr lang="en-US" altLang="zh-CN" dirty="0">
                <a:solidFill>
                  <a:srgbClr val="FF0000"/>
                </a:solidFill>
              </a:rPr>
              <a:t>Concurrency</a:t>
            </a:r>
            <a:r>
              <a:rPr lang="zh-CN" altLang="en-US" dirty="0">
                <a:solidFill>
                  <a:srgbClr val="FF0000"/>
                </a:solidFill>
              </a:rPr>
              <a:t>）控制</a:t>
            </a:r>
            <a:endParaRPr lang="zh-CN" altLang="en-US" dirty="0"/>
          </a:p>
          <a:p>
            <a:pPr lvl="2"/>
            <a:r>
              <a:rPr lang="zh-CN" altLang="en-US" dirty="0"/>
              <a:t>对多用户的并发操作加以控制和协调，防止相互干扰而得到错误的结果。</a:t>
            </a:r>
            <a:endParaRPr lang="zh-CN" altLang="en-US" dirty="0"/>
          </a:p>
          <a:p>
            <a:pPr lvl="1">
              <a:lnSpc>
                <a:spcPct val="110000"/>
              </a:lnSpc>
              <a:spcBef>
                <a:spcPts val="1000"/>
              </a:spcBef>
            </a:pPr>
            <a:r>
              <a:rPr lang="zh-CN" altLang="en-US" dirty="0">
                <a:solidFill>
                  <a:srgbClr val="FF0000"/>
                </a:solidFill>
              </a:rPr>
              <a:t>数据库恢复（</a:t>
            </a:r>
            <a:r>
              <a:rPr lang="en-US" altLang="zh-CN" dirty="0">
                <a:solidFill>
                  <a:srgbClr val="FF0000"/>
                </a:solidFill>
              </a:rPr>
              <a:t>Recovery</a:t>
            </a:r>
            <a:r>
              <a:rPr lang="zh-CN" altLang="en-US" dirty="0">
                <a:solidFill>
                  <a:srgbClr val="FF0000"/>
                </a:solidFill>
              </a:rPr>
              <a:t>）</a:t>
            </a:r>
            <a:endParaRPr lang="zh-CN" altLang="en-US" dirty="0"/>
          </a:p>
          <a:p>
            <a:pPr lvl="2"/>
            <a:r>
              <a:rPr lang="zh-CN" altLang="en-US" dirty="0"/>
              <a:t>将数据库从错误状态恢复到某一已知的正确状态。</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1.1.3  </a:t>
            </a:r>
            <a:r>
              <a:rPr lang="zh-CN" altLang="en-US">
                <a:sym typeface="+mn-ea"/>
              </a:rPr>
              <a:t>数据库系统的特点</a:t>
            </a:r>
            <a:endParaRPr lang="zh-CN" altLang="en-US"/>
          </a:p>
        </p:txBody>
      </p:sp>
      <p:sp>
        <p:nvSpPr>
          <p:cNvPr id="3" name="内容占位符 2"/>
          <p:cNvSpPr>
            <a:spLocks noGrp="1"/>
          </p:cNvSpPr>
          <p:nvPr>
            <p:ph idx="4294967295"/>
          </p:nvPr>
        </p:nvSpPr>
        <p:spPr>
          <a:xfrm>
            <a:off x="416560" y="1402715"/>
            <a:ext cx="4833620" cy="3061335"/>
          </a:xfrm>
        </p:spPr>
        <p:txBody>
          <a:bodyPr wrap="none">
            <a:noAutofit/>
          </a:bodyPr>
          <a:p>
            <a:pPr algn="l" eaLnBrk="1" hangingPunct="1">
              <a:lnSpc>
                <a:spcPct val="150000"/>
              </a:lnSpc>
            </a:pPr>
            <a:r>
              <a:rPr lang="zh-CN" altLang="en-US" sz="2800">
                <a:sym typeface="+mn-ea"/>
              </a:rPr>
              <a:t>数据结构化</a:t>
            </a:r>
            <a:endParaRPr lang="zh-CN" altLang="en-US" sz="2800"/>
          </a:p>
          <a:p>
            <a:pPr algn="l" eaLnBrk="1" hangingPunct="1">
              <a:lnSpc>
                <a:spcPct val="150000"/>
              </a:lnSpc>
            </a:pPr>
            <a:r>
              <a:rPr lang="zh-CN" altLang="en-US" sz="2800">
                <a:sym typeface="+mn-ea"/>
              </a:rPr>
              <a:t>高共享性、低冗余、易扩充</a:t>
            </a:r>
            <a:endParaRPr lang="zh-CN" altLang="en-US" sz="2800"/>
          </a:p>
          <a:p>
            <a:pPr algn="l" eaLnBrk="1" hangingPunct="1">
              <a:lnSpc>
                <a:spcPct val="150000"/>
              </a:lnSpc>
            </a:pPr>
            <a:r>
              <a:rPr lang="zh-CN" altLang="en-US" sz="2800">
                <a:sym typeface="+mn-ea"/>
              </a:rPr>
              <a:t>数据独立性高</a:t>
            </a:r>
            <a:endParaRPr lang="zh-CN" altLang="en-US" sz="2800"/>
          </a:p>
          <a:p>
            <a:pPr algn="l" eaLnBrk="1" hangingPunct="1">
              <a:lnSpc>
                <a:spcPct val="150000"/>
              </a:lnSpc>
            </a:pPr>
            <a:r>
              <a:rPr lang="zh-CN" altLang="en-US" sz="2800">
                <a:sym typeface="+mn-ea"/>
              </a:rPr>
              <a:t>统一管理与控制</a:t>
            </a:r>
            <a:endParaRPr lang="en-US" altLang="zh-CN" sz="2800"/>
          </a:p>
        </p:txBody>
      </p:sp>
      <p:grpSp>
        <p:nvGrpSpPr>
          <p:cNvPr id="5" name="组合 4"/>
          <p:cNvGrpSpPr/>
          <p:nvPr/>
        </p:nvGrpSpPr>
        <p:grpSpPr>
          <a:xfrm>
            <a:off x="5229225" y="1551940"/>
            <a:ext cx="3844385" cy="2744470"/>
            <a:chOff x="7508" y="2411"/>
            <a:chExt cx="6515" cy="5763"/>
          </a:xfrm>
        </p:grpSpPr>
        <p:sp>
          <p:nvSpPr>
            <p:cNvPr id="6" name="右大括号 5"/>
            <p:cNvSpPr/>
            <p:nvPr/>
          </p:nvSpPr>
          <p:spPr>
            <a:xfrm>
              <a:off x="7508" y="2411"/>
              <a:ext cx="266" cy="5763"/>
            </a:xfrm>
            <a:prstGeom prst="rightBrace">
              <a:avLst>
                <a:gd name="adj1" fmla="val 110444"/>
                <a:gd name="adj2" fmla="val 47424"/>
              </a:avLst>
            </a:prstGeom>
            <a:ln w="25400">
              <a:solidFill>
                <a:schemeClr val="accent5"/>
              </a:solidFill>
            </a:ln>
          </p:spPr>
          <p:style>
            <a:lnRef idx="1">
              <a:schemeClr val="dk1"/>
            </a:lnRef>
            <a:fillRef idx="0">
              <a:schemeClr val="dk1"/>
            </a:fillRef>
            <a:effectRef idx="0">
              <a:schemeClr val="dk1"/>
            </a:effectRef>
            <a:fontRef idx="minor">
              <a:schemeClr val="tx1"/>
            </a:fontRef>
          </p:style>
          <p:txBody>
            <a:bodyPr rtlCol="0" anchor="ctr"/>
            <a:p>
              <a:pPr algn="ctr"/>
              <a:endParaRPr lang="zh-CN" altLang="en-US" sz="2800" b="1">
                <a:latin typeface="楷体" panose="02010609060101010101" charset="-122"/>
                <a:ea typeface="楷体" panose="02010609060101010101" charset="-122"/>
              </a:endParaRPr>
            </a:p>
          </p:txBody>
        </p:sp>
        <p:sp>
          <p:nvSpPr>
            <p:cNvPr id="7" name="文本框 6"/>
            <p:cNvSpPr txBox="1"/>
            <p:nvPr/>
          </p:nvSpPr>
          <p:spPr>
            <a:xfrm>
              <a:off x="7777" y="3812"/>
              <a:ext cx="6246" cy="3811"/>
            </a:xfrm>
            <a:prstGeom prst="rect">
              <a:avLst/>
            </a:prstGeom>
            <a:noFill/>
          </p:spPr>
          <p:txBody>
            <a:bodyPr wrap="square" rtlCol="0">
              <a:spAutoFit/>
            </a:bodyPr>
            <a:p>
              <a:pPr marL="200660" indent="-200660" algn="l">
                <a:lnSpc>
                  <a:spcPct val="100000"/>
                </a:lnSpc>
                <a:spcBef>
                  <a:spcPts val="0"/>
                </a:spcBef>
                <a:spcAft>
                  <a:spcPts val="0"/>
                </a:spcAft>
                <a:buFont typeface="Arial" panose="020B0604020202020204" pitchFamily="34" charset="0"/>
                <a:buChar char="•"/>
              </a:pPr>
              <a:r>
                <a:rPr lang="zh-CN" altLang="en-US" sz="2800" b="1">
                  <a:solidFill>
                    <a:schemeClr val="accent1">
                      <a:lumMod val="50000"/>
                    </a:schemeClr>
                  </a:solidFill>
                  <a:latin typeface="楷体" panose="02010609060101010101" charset="-122"/>
                  <a:ea typeface="楷体" panose="02010609060101010101" charset="-122"/>
                  <a:cs typeface="楷体" panose="02010609060101010101" charset="-122"/>
                </a:rPr>
                <a:t>统一的数据模型</a:t>
              </a:r>
              <a:endParaRPr lang="zh-CN" altLang="en-US" sz="2800" b="1">
                <a:solidFill>
                  <a:schemeClr val="accent1">
                    <a:lumMod val="50000"/>
                  </a:schemeClr>
                </a:solidFill>
                <a:latin typeface="楷体" panose="02010609060101010101" charset="-122"/>
                <a:ea typeface="楷体" panose="02010609060101010101" charset="-122"/>
                <a:cs typeface="楷体" panose="02010609060101010101" charset="-122"/>
              </a:endParaRPr>
            </a:p>
            <a:p>
              <a:pPr marL="200660" indent="-200660" algn="l">
                <a:lnSpc>
                  <a:spcPct val="100000"/>
                </a:lnSpc>
                <a:spcBef>
                  <a:spcPts val="0"/>
                </a:spcBef>
                <a:spcAft>
                  <a:spcPts val="0"/>
                </a:spcAft>
                <a:buFont typeface="Arial" panose="020B0604020202020204" pitchFamily="34" charset="0"/>
                <a:buChar char="•"/>
              </a:pPr>
              <a:endParaRPr lang="zh-CN" altLang="en-US" sz="2800" b="1">
                <a:solidFill>
                  <a:schemeClr val="accent1">
                    <a:lumMod val="50000"/>
                  </a:schemeClr>
                </a:solidFill>
                <a:latin typeface="楷体" panose="02010609060101010101" charset="-122"/>
                <a:ea typeface="楷体" panose="02010609060101010101" charset="-122"/>
                <a:cs typeface="楷体" panose="02010609060101010101" charset="-122"/>
              </a:endParaRPr>
            </a:p>
            <a:p>
              <a:pPr marL="200660" indent="-200660" algn="l">
                <a:lnSpc>
                  <a:spcPct val="100000"/>
                </a:lnSpc>
                <a:spcBef>
                  <a:spcPts val="0"/>
                </a:spcBef>
                <a:spcAft>
                  <a:spcPts val="0"/>
                </a:spcAft>
                <a:buFont typeface="Arial" panose="020B0604020202020204" pitchFamily="34" charset="0"/>
                <a:buChar char="•"/>
              </a:pPr>
              <a:r>
                <a:rPr lang="zh-CN" altLang="en-US" sz="2800" b="1">
                  <a:solidFill>
                    <a:schemeClr val="accent1">
                      <a:lumMod val="50000"/>
                    </a:schemeClr>
                  </a:solidFill>
                  <a:latin typeface="楷体" panose="02010609060101010101" charset="-122"/>
                  <a:ea typeface="楷体" panose="02010609060101010101" charset="-122"/>
                  <a:cs typeface="楷体" panose="02010609060101010101" charset="-122"/>
                </a:rPr>
                <a:t>标准化数据访问接口</a:t>
              </a:r>
              <a:r>
                <a:rPr lang="en-US" altLang="zh-CN" sz="2800" b="1">
                  <a:solidFill>
                    <a:schemeClr val="accent1">
                      <a:lumMod val="50000"/>
                    </a:schemeClr>
                  </a:solidFill>
                  <a:latin typeface="楷体" panose="02010609060101010101" charset="-122"/>
                  <a:ea typeface="楷体" panose="02010609060101010101" charset="-122"/>
                  <a:cs typeface="楷体" panose="02010609060101010101" charset="-122"/>
                </a:rPr>
                <a:t>(SQL, ODBC, ...)</a:t>
              </a:r>
              <a:endParaRPr lang="en-US" altLang="zh-CN" sz="2800" b="1">
                <a:solidFill>
                  <a:schemeClr val="accent1">
                    <a:lumMod val="50000"/>
                  </a:schemeClr>
                </a:solidFill>
                <a:latin typeface="楷体" panose="02010609060101010101" charset="-122"/>
                <a:ea typeface="楷体" panose="02010609060101010101" charset="-122"/>
                <a:cs typeface="楷体" panose="02010609060101010101" charset="-122"/>
              </a:endParaRPr>
            </a:p>
          </p:txBody>
        </p:sp>
      </p:grpSp>
      <p:grpSp>
        <p:nvGrpSpPr>
          <p:cNvPr id="9" name="组合 8"/>
          <p:cNvGrpSpPr/>
          <p:nvPr/>
        </p:nvGrpSpPr>
        <p:grpSpPr>
          <a:xfrm>
            <a:off x="8916670" y="1552099"/>
            <a:ext cx="2798445" cy="2744629"/>
            <a:chOff x="7811" y="2411"/>
            <a:chExt cx="5876" cy="5763"/>
          </a:xfrm>
        </p:grpSpPr>
        <p:sp>
          <p:nvSpPr>
            <p:cNvPr id="10" name="右大括号 9"/>
            <p:cNvSpPr/>
            <p:nvPr/>
          </p:nvSpPr>
          <p:spPr>
            <a:xfrm>
              <a:off x="7811" y="2411"/>
              <a:ext cx="266" cy="5763"/>
            </a:xfrm>
            <a:prstGeom prst="rightBrace">
              <a:avLst>
                <a:gd name="adj1" fmla="val 146616"/>
                <a:gd name="adj2" fmla="val 47424"/>
              </a:avLst>
            </a:prstGeom>
            <a:ln w="25400">
              <a:solidFill>
                <a:schemeClr val="accent5"/>
              </a:solidFill>
            </a:ln>
          </p:spPr>
          <p:style>
            <a:lnRef idx="1">
              <a:schemeClr val="dk1"/>
            </a:lnRef>
            <a:fillRef idx="0">
              <a:schemeClr val="dk1"/>
            </a:fillRef>
            <a:effectRef idx="0">
              <a:schemeClr val="dk1"/>
            </a:effectRef>
            <a:fontRef idx="minor">
              <a:schemeClr val="tx1"/>
            </a:fontRef>
          </p:style>
          <p:txBody>
            <a:bodyPr rtlCol="0" anchor="ctr"/>
            <a:p>
              <a:pPr algn="ctr"/>
              <a:endParaRPr lang="zh-CN" altLang="en-US" sz="2800" b="1">
                <a:latin typeface="楷体" panose="02010609060101010101" charset="-122"/>
                <a:ea typeface="楷体" panose="02010609060101010101" charset="-122"/>
              </a:endParaRPr>
            </a:p>
          </p:txBody>
        </p:sp>
        <p:sp>
          <p:nvSpPr>
            <p:cNvPr id="11" name="文本框 10"/>
            <p:cNvSpPr txBox="1"/>
            <p:nvPr/>
          </p:nvSpPr>
          <p:spPr>
            <a:xfrm>
              <a:off x="8022" y="3154"/>
              <a:ext cx="5665" cy="3811"/>
            </a:xfrm>
            <a:prstGeom prst="rect">
              <a:avLst/>
            </a:prstGeom>
            <a:noFill/>
          </p:spPr>
          <p:txBody>
            <a:bodyPr wrap="square" rtlCol="0">
              <a:spAutoFit/>
            </a:bodyPr>
            <a:p>
              <a:pPr indent="0" algn="ctr">
                <a:lnSpc>
                  <a:spcPct val="200000"/>
                </a:lnSpc>
                <a:buNone/>
              </a:pPr>
              <a:r>
                <a:rPr lang="zh-CN" altLang="en-US" sz="2800" b="1">
                  <a:solidFill>
                    <a:srgbClr val="FF0000"/>
                  </a:solidFill>
                  <a:latin typeface="楷体" panose="02010609060101010101" charset="-122"/>
                  <a:ea typeface="楷体" panose="02010609060101010101" charset="-122"/>
                  <a:cs typeface="楷体" panose="02010609060101010101" charset="-122"/>
                </a:rPr>
                <a:t>数据库管理系统</a:t>
              </a:r>
              <a:endParaRPr lang="zh-CN" altLang="en-US" sz="2800" b="1">
                <a:solidFill>
                  <a:srgbClr val="FF0000"/>
                </a:solidFill>
                <a:latin typeface="楷体" panose="02010609060101010101" charset="-122"/>
                <a:ea typeface="楷体" panose="02010609060101010101" charset="-122"/>
                <a:cs typeface="楷体" panose="02010609060101010101" charset="-122"/>
              </a:endParaRPr>
            </a:p>
            <a:p>
              <a:pPr indent="0" algn="ctr">
                <a:lnSpc>
                  <a:spcPct val="200000"/>
                </a:lnSpc>
                <a:buNone/>
              </a:pPr>
              <a:r>
                <a:rPr lang="en-US" altLang="zh-CN" sz="2800" b="1">
                  <a:solidFill>
                    <a:srgbClr val="FF0000"/>
                  </a:solidFill>
                  <a:latin typeface="楷体" panose="02010609060101010101" charset="-122"/>
                  <a:ea typeface="楷体" panose="02010609060101010101" charset="-122"/>
                  <a:cs typeface="楷体" panose="02010609060101010101" charset="-122"/>
                </a:rPr>
                <a:t>DBMS</a:t>
              </a:r>
              <a:endParaRPr lang="en-US" altLang="zh-CN" sz="2800" b="1">
                <a:solidFill>
                  <a:schemeClr val="accent5"/>
                </a:solidFill>
                <a:latin typeface="楷体" panose="02010609060101010101" charset="-122"/>
                <a:ea typeface="楷体" panose="02010609060101010101" charset="-122"/>
                <a:cs typeface="楷体" panose="02010609060101010101" charset="-122"/>
              </a:endParaRPr>
            </a:p>
          </p:txBody>
        </p:sp>
      </p:grpSp>
      <p:sp>
        <p:nvSpPr>
          <p:cNvPr id="12" name="灯片编号占位符 11"/>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数据库概念小结</a:t>
            </a:r>
            <a:endParaRPr lang="zh-CN" altLang="en-US"/>
          </a:p>
        </p:txBody>
      </p:sp>
      <p:sp>
        <p:nvSpPr>
          <p:cNvPr id="3" name="内容占位符 2"/>
          <p:cNvSpPr>
            <a:spLocks noGrp="1"/>
          </p:cNvSpPr>
          <p:nvPr>
            <p:ph idx="1"/>
          </p:nvPr>
        </p:nvSpPr>
        <p:spPr/>
        <p:txBody>
          <a:bodyPr/>
          <a:p>
            <a:pPr>
              <a:lnSpc>
                <a:spcPct val="100000"/>
              </a:lnSpc>
            </a:pPr>
            <a:r>
              <a:rPr lang="zh-CN" altLang="en-US"/>
              <a:t>数据库是长期存储在计算机内、有组织的、大量的、共享的数据</a:t>
            </a:r>
            <a:r>
              <a:rPr lang="zh-CN" altLang="en-US"/>
              <a:t>集合。</a:t>
            </a:r>
            <a:endParaRPr lang="zh-CN" altLang="en-US"/>
          </a:p>
          <a:p>
            <a:pPr>
              <a:lnSpc>
                <a:spcPct val="100000"/>
              </a:lnSpc>
            </a:pPr>
            <a:r>
              <a:rPr lang="zh-CN" altLang="en-US"/>
              <a:t>可以供各种用户共享，具有最小</a:t>
            </a:r>
            <a:r>
              <a:rPr lang="zh-CN" altLang="en-US"/>
              <a:t>数据冗余度和较高的数据</a:t>
            </a:r>
            <a:r>
              <a:rPr lang="zh-CN" altLang="en-US"/>
              <a:t>独立性。</a:t>
            </a:r>
            <a:endParaRPr lang="zh-CN" altLang="en-US"/>
          </a:p>
          <a:p>
            <a:pPr>
              <a:lnSpc>
                <a:spcPct val="100000"/>
              </a:lnSpc>
            </a:pPr>
            <a:r>
              <a:rPr lang="zh-CN" altLang="en-US"/>
              <a:t>数据库管理系统在数据库建立、运用和维护时对数据库进行统一控制，以保证数据的完整性、安全性，并在多用户同时使用数据库时进行并发控制，在发生故障后对数据库进行</a:t>
            </a:r>
            <a:r>
              <a:rPr lang="zh-CN" altLang="en-US"/>
              <a:t>恢复。</a:t>
            </a:r>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pic>
        <p:nvPicPr>
          <p:cNvPr id="19" name="内容占位符 18"/>
          <p:cNvPicPr>
            <a:picLocks noChangeAspect="1"/>
          </p:cNvPicPr>
          <p:nvPr>
            <p:custDataLst>
              <p:tags r:id="rId1"/>
            </p:custDataLst>
          </p:nvPr>
        </p:nvPicPr>
        <p:blipFill>
          <a:blip r:embed="rId2"/>
          <a:stretch>
            <a:fillRect/>
          </a:stretch>
        </p:blipFill>
        <p:spPr>
          <a:xfrm>
            <a:off x="2639060" y="3244215"/>
            <a:ext cx="6396990" cy="3451225"/>
          </a:xfrm>
          <a:prstGeom prst="rect">
            <a:avLst/>
          </a:prstGeom>
        </p:spPr>
      </p:pic>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wm#"/>
  <p:tag name="KSO_WM_TEMPLATE_CATEGORY" val="custom"/>
  <p:tag name="KSO_WM_TEMPLATE_INDEX" val="20205081"/>
</p:tagLst>
</file>

<file path=ppt/tags/tag7.xml><?xml version="1.0" encoding="utf-8"?>
<p:tagLst xmlns:p="http://schemas.openxmlformats.org/presentationml/2006/main">
  <p:tag name="KSO_WM_DIAGRAM_VIRTUALLY_FRAME" val="{&quot;height&quot;:287.9765354330708,&quot;left&quot;:76.53716535433068,&quot;top&quot;:204.02503937007873,&quot;width&quot;:801.6129133858269}"/>
</p:tagLst>
</file>

<file path=ppt/tags/tag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ID" val="diagram20231099_1*l_h_f*1_1_1"/>
  <p:tag name="KSO_WM_TEMPLATE_CATEGORY" val="diagram"/>
  <p:tag name="KSO_WM_TEMPLATE_INDEX" val="20231099"/>
  <p:tag name="KSO_WM_UNIT_LAYERLEVEL" val="1_1_1"/>
  <p:tag name="KSO_WM_TAG_VERSION" val="3.0"/>
  <p:tag name="KSO_WM_UNIT_PRESET_TEXT" val="单击此处输入你的智能图形项正文，文字是您思想的提炼"/>
  <p:tag name="KSO_WM_UNIT_FILL_FORE_SCHEMECOLOR_INDEX" val="5"/>
  <p:tag name="KSO_WM_UNIT_LINE_FORE_SCHEMECOLOR_INDEX" val="5"/>
  <p:tag name="KSO_WM_DIAGRAM_MAX_ITEMCNT" val="6"/>
  <p:tag name="KSO_WM_DIAGRAM_MIN_ITEMCNT" val="2"/>
  <p:tag name="KSO_WM_DIAGRAM_VIRTUALLY_FRAME" val="{&quot;height&quot;:187.97652322657208,&quot;left&quot;:76.47503937007873,&quot;top&quot;:206.42503937007876,&quot;width&quot;:802.1}"/>
  <p:tag name="KSO_WM_DIAGRAM_COLOR_MATCH_VALUE" val="{&quot;shape&quot;:{&quot;fill&quot;:{&quot;solid&quot;:{&quot;brightness&quot;:0.800000011920929,&quot;colorType&quot;:1,&quot;foreColorIndex&quot;:5,&quot;transparency&quot;:0.699999988079071},&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099_1*l_h_i*1_1_1"/>
  <p:tag name="KSO_WM_TEMPLATE_CATEGORY" val="diagram"/>
  <p:tag name="KSO_WM_TEMPLATE_INDEX" val="20231099"/>
  <p:tag name="KSO_WM_UNIT_LAYERLEVEL" val="1_1_1"/>
  <p:tag name="KSO_WM_TAG_VERSION" val="3.0"/>
  <p:tag name="KSO_WM_BEAUTIFY_FLAG" val="#wm#"/>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099_1*l_h_i*1_1_2"/>
  <p:tag name="KSO_WM_TEMPLATE_CATEGORY" val="diagram"/>
  <p:tag name="KSO_WM_TEMPLATE_INDEX" val="20231099"/>
  <p:tag name="KSO_WM_UNIT_LAYERLEVEL" val="1_1_1"/>
  <p:tag name="KSO_WM_TAG_VERSION" val="3.0"/>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1.xml><?xml version="1.0" encoding="utf-8"?>
<p:tagLst xmlns:p="http://schemas.openxmlformats.org/presentationml/2006/main">
  <p:tag name="KSO_WM_DIAGRAM_VIRTUALLY_FRAME" val="{&quot;height&quot;:287.9765354330708,&quot;left&quot;:76.53716535433068,&quot;top&quot;:204.02503937007873,&quot;width&quot;:801.6129133858269}"/>
</p:tagLst>
</file>

<file path=ppt/tags/tag1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ID" val="diagram20231099_1*l_h_f*1_2_1"/>
  <p:tag name="KSO_WM_TEMPLATE_CATEGORY" val="diagram"/>
  <p:tag name="KSO_WM_TEMPLATE_INDEX" val="20231099"/>
  <p:tag name="KSO_WM_UNIT_LAYERLEVEL" val="1_1_1"/>
  <p:tag name="KSO_WM_TAG_VERSION" val="3.0"/>
  <p:tag name="KSO_WM_UNIT_PRESET_TEXT" val="单击此处输入你的智能图形项正文，文字是您思想的提炼"/>
  <p:tag name="KSO_WM_UNIT_FILL_FORE_SCHEMECOLOR_INDEX" val="5"/>
  <p:tag name="KSO_WM_UNIT_LINE_FORE_SCHEMECOLOR_INDEX" val="5"/>
  <p:tag name="KSO_WM_DIAGRAM_MAX_ITEMCNT" val="6"/>
  <p:tag name="KSO_WM_DIAGRAM_MIN_ITEMCNT" val="2"/>
  <p:tag name="KSO_WM_DIAGRAM_VIRTUALLY_FRAME" val="{&quot;height&quot;:187.97652322657208,&quot;left&quot;:76.47503937007873,&quot;top&quot;:206.42503937007876,&quot;width&quot;:802.1}"/>
  <p:tag name="KSO_WM_DIAGRAM_COLOR_MATCH_VALUE" val="{&quot;shape&quot;:{&quot;fill&quot;:{&quot;solid&quot;:{&quot;brightness&quot;:0.800000011920929,&quot;colorType&quot;:1,&quot;foreColorIndex&quot;:5,&quot;transparency&quot;:0.699999988079071},&quot;type&quot;:1},&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099_1*l_h_i*1_2_1"/>
  <p:tag name="KSO_WM_TEMPLATE_CATEGORY" val="diagram"/>
  <p:tag name="KSO_WM_TEMPLATE_INDEX" val="20231099"/>
  <p:tag name="KSO_WM_UNIT_LAYERLEVEL" val="1_1_1"/>
  <p:tag name="KSO_WM_TAG_VERSION" val="3.0"/>
  <p:tag name="KSO_WM_BEAUTIFY_FLAG" val="#wm#"/>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4.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099_1*l_h_i*1_2_2"/>
  <p:tag name="KSO_WM_TEMPLATE_CATEGORY" val="diagram"/>
  <p:tag name="KSO_WM_TEMPLATE_INDEX" val="20231099"/>
  <p:tag name="KSO_WM_UNIT_LAYERLEVEL" val="1_1_1"/>
  <p:tag name="KSO_WM_TAG_VERSION" val="3.0"/>
  <p:tag name="KSO_WM_UNIT_LINE_FORE_SCHEMECOLOR_INDEX" val="5"/>
  <p:tag name="KSO_WM_DIAGRAM_MAX_ITEMCNT" val="6"/>
  <p:tag name="KSO_WM_DIAGRAM_MIN_ITEMCNT" val="2"/>
  <p:tag name="KSO_WM_DIAGRAM_VIRTUALLY_FRAME" val="{&quot;height&quot;:287.9765354330708,&quot;left&quot;:76.53716535433068,&quot;top&quot;:204.02503937007873,&quot;width&quot;:801.6129133858269}"/>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DIAGRAM_VIRTUALLY_FRAME" val="{&quot;height&quot;:402.50070589112767,&quot;left&quot;:142.58900135976967,&quot;top&quot;:73.9,&quot;width&quot;:714.3109986402303}"/>
</p:tagLst>
</file>

<file path=ppt/tags/tag24.xml><?xml version="1.0" encoding="utf-8"?>
<p:tagLst xmlns:p="http://schemas.openxmlformats.org/presentationml/2006/main">
  <p:tag name="KSO_WM_DIAGRAM_VIRTUALLY_FRAME" val="{&quot;height&quot;:402.50070589112767,&quot;left&quot;:142.58900135976967,&quot;top&quot;:73.9,&quot;width&quot;:714.3109986402303}"/>
</p:tagLst>
</file>

<file path=ppt/tags/tag25.xml><?xml version="1.0" encoding="utf-8"?>
<p:tagLst xmlns:p="http://schemas.openxmlformats.org/presentationml/2006/main">
  <p:tag name="KSO_WM_DIAGRAM_VIRTUALLY_FRAME" val="{&quot;height&quot;:402.50070589112767,&quot;left&quot;:142.58900135976967,&quot;top&quot;:73.9,&quot;width&quot;:714.3109986402303}"/>
</p:tagLst>
</file>

<file path=ppt/tags/tag26.xml><?xml version="1.0" encoding="utf-8"?>
<p:tagLst xmlns:p="http://schemas.openxmlformats.org/presentationml/2006/main">
  <p:tag name="KSO_WM_DIAGRAM_VIRTUALLY_FRAME" val="{&quot;height&quot;:402.50070589112767,&quot;left&quot;:142.58900135976967,&quot;top&quot;:73.9,&quot;width&quot;:714.3109986402303}"/>
</p:tagLst>
</file>

<file path=ppt/tags/tag27.xml><?xml version="1.0" encoding="utf-8"?>
<p:tagLst xmlns:p="http://schemas.openxmlformats.org/presentationml/2006/main">
  <p:tag name="KSO_WM_DIAGRAM_VIRTUALLY_FRAME" val="{&quot;height&quot;:402.50070589112767,&quot;left&quot;:142.58900135976967,&quot;top&quot;:73.9,&quot;width&quot;:714.3109986402303}"/>
</p:tagLst>
</file>

<file path=ppt/tags/tag28.xml><?xml version="1.0" encoding="utf-8"?>
<p:tagLst xmlns:p="http://schemas.openxmlformats.org/presentationml/2006/main">
  <p:tag name="KSO_WM_DIAGRAM_VIRTUALLY_FRAME" val="{&quot;height&quot;:402.50070589112767,&quot;left&quot;:142.58900135976967,&quot;top&quot;:73.9,&quot;width&quot;:714.3109986402303}"/>
</p:tagLst>
</file>

<file path=ppt/tags/tag29.xml><?xml version="1.0" encoding="utf-8"?>
<p:tagLst xmlns:p="http://schemas.openxmlformats.org/presentationml/2006/main">
  <p:tag name="KSO_WM_DIAGRAM_VIRTUALLY_FRAME" val="{&quot;height&quot;:402.50070589112767,&quot;left&quot;:142.58900135976967,&quot;top&quot;:73.9,&quot;width&quot;:714.3109986402303}"/>
</p:tagLst>
</file>

<file path=ppt/tags/tag30.xml><?xml version="1.0" encoding="utf-8"?>
<p:tagLst xmlns:p="http://schemas.openxmlformats.org/presentationml/2006/main">
  <p:tag name="KSO_WM_DIAGRAM_VIRTUALLY_FRAME" val="{&quot;height&quot;:402.50070589112767,&quot;left&quot;:142.58900135976967,&quot;top&quot;:73.9,&quot;width&quot;:714.3109986402303}"/>
</p:tagLst>
</file>

<file path=ppt/tags/tag31.xml><?xml version="1.0" encoding="utf-8"?>
<p:tagLst xmlns:p="http://schemas.openxmlformats.org/presentationml/2006/main">
  <p:tag name="KSO_WM_DIAGRAM_VIRTUALLY_FRAME" val="{&quot;height&quot;:402.50070589112767,&quot;left&quot;:142.58900135976967,&quot;top&quot;:73.9,&quot;width&quot;:714.3109986402303}"/>
</p:tagLst>
</file>

<file path=ppt/tags/tag32.xml><?xml version="1.0" encoding="utf-8"?>
<p:tagLst xmlns:p="http://schemas.openxmlformats.org/presentationml/2006/main">
  <p:tag name="KSO_WM_DIAGRAM_VIRTUALLY_FRAME" val="{&quot;height&quot;:402.50070589112767,&quot;left&quot;:142.58900135976967,&quot;top&quot;:73.9,&quot;width&quot;:714.3109986402303}"/>
</p:tagLst>
</file>

<file path=ppt/tags/tag33.xml><?xml version="1.0" encoding="utf-8"?>
<p:tagLst xmlns:p="http://schemas.openxmlformats.org/presentationml/2006/main">
  <p:tag name="KSO_WM_DIAGRAM_VIRTUALLY_FRAME" val="{&quot;height&quot;:402.50070589112767,&quot;left&quot;:142.58900135976967,&quot;top&quot;:73.9,&quot;width&quot;:714.3109986402303}"/>
</p:tagLst>
</file>

<file path=ppt/tags/tag34.xml><?xml version="1.0" encoding="utf-8"?>
<p:tagLst xmlns:p="http://schemas.openxmlformats.org/presentationml/2006/main">
  <p:tag name="KSO_WM_DIAGRAM_VIRTUALLY_FRAME" val="{&quot;height&quot;:402.50070589112767,&quot;left&quot;:142.58900135976967,&quot;top&quot;:73.9,&quot;width&quot;:714.3109986402303}"/>
</p:tagLst>
</file>

<file path=ppt/tags/tag35.xml><?xml version="1.0" encoding="utf-8"?>
<p:tagLst xmlns:p="http://schemas.openxmlformats.org/presentationml/2006/main">
  <p:tag name="KSO_WM_DIAGRAM_VIRTUALLY_FRAME" val="{&quot;height&quot;:402.50070589112767,&quot;left&quot;:142.58900135976967,&quot;top&quot;:73.9,&quot;width&quot;:714.3109986402303}"/>
</p:tagLst>
</file>

<file path=ppt/tags/tag36.xml><?xml version="1.0" encoding="utf-8"?>
<p:tagLst xmlns:p="http://schemas.openxmlformats.org/presentationml/2006/main">
  <p:tag name="KSO_WM_DIAGRAM_VIRTUALLY_FRAME" val="{&quot;height&quot;:402.50070589112767,&quot;left&quot;:142.58900135976967,&quot;top&quot;:73.9,&quot;width&quot;:714.3109986402303}"/>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TABLE_ENDDRAG_ORIGIN_RECT" val="938*450"/>
  <p:tag name="TABLE_ENDDRAG_RECT" val="10*54*938*450"/>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UNIT_TABLE_BEAUTIFY" val="smartTable{098ea737-6f84-4826-9bbb-ecced7a0c872}"/>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TABLE_ENDDRAG_ORIGIN_RECT" val="858*142"/>
  <p:tag name="TABLE_ENDDRAG_RECT" val="44*105*858*142"/>
</p:tagLst>
</file>

<file path=ppt/tags/tag142.xml><?xml version="1.0" encoding="utf-8"?>
<p:tagLst xmlns:p="http://schemas.openxmlformats.org/presentationml/2006/main">
  <p:tag name="TABLE_ENDDRAG_ORIGIN_RECT" val="857*126"/>
  <p:tag name="TABLE_ENDDRAG_RECT" val="44*345*857*126"/>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commondata" val="eyJoZGlkIjoiZGQ1YjIwMGNiOWJjNzI3MjRkMjdlNjcyYWIwMTY0NjMifQ=="/>
  <p:tag name="resource_record_key" val="{&quot;70&quot;:[33145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10690</Words>
  <Application>WPS 演示</Application>
  <PresentationFormat>宽屏</PresentationFormat>
  <Paragraphs>1290</Paragraphs>
  <Slides>57</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57</vt:i4>
      </vt:variant>
    </vt:vector>
  </HeadingPairs>
  <TitlesOfParts>
    <vt:vector size="74" baseType="lpstr">
      <vt:lpstr>Arial</vt:lpstr>
      <vt:lpstr>宋体</vt:lpstr>
      <vt:lpstr>Wingdings</vt:lpstr>
      <vt:lpstr>楷体</vt:lpstr>
      <vt:lpstr>Wingdings</vt:lpstr>
      <vt:lpstr>微软雅黑</vt:lpstr>
      <vt:lpstr>Times New Roman</vt:lpstr>
      <vt:lpstr>仿宋</vt:lpstr>
      <vt:lpstr>Wingdings 3</vt:lpstr>
      <vt:lpstr>华文新魏</vt:lpstr>
      <vt:lpstr>Calibri</vt:lpstr>
      <vt:lpstr>Arial Unicode MS</vt:lpstr>
      <vt:lpstr>Wingdings 2</vt:lpstr>
      <vt:lpstr>华文细黑</vt:lpstr>
      <vt:lpstr>Tahoma</vt:lpstr>
      <vt:lpstr>微软雅黑</vt:lpstr>
      <vt:lpstr>WPS</vt:lpstr>
      <vt:lpstr>PowerPoint 演示文稿</vt:lpstr>
      <vt:lpstr>第 1 章   绪  论</vt:lpstr>
      <vt:lpstr>第 1 章   绪  论</vt:lpstr>
      <vt:lpstr>第 1 章   绪  论</vt:lpstr>
      <vt:lpstr>1.1  数据库系统概述</vt:lpstr>
      <vt:lpstr>1.1.1  数据库的四个基本概念</vt:lpstr>
      <vt:lpstr>1.1.1  数据库的四个基本概念</vt:lpstr>
      <vt:lpstr>数据 &amp; 信息（1）</vt:lpstr>
      <vt:lpstr>数据 &amp; 信息（2）</vt:lpstr>
      <vt:lpstr>数据 &amp; 信息（3）</vt:lpstr>
      <vt:lpstr>数据 &amp; 信息（4）</vt:lpstr>
      <vt:lpstr>1.1.1  数据库的四个基本概念</vt:lpstr>
      <vt:lpstr>1.1.1  数据库的四个基本概念</vt:lpstr>
      <vt:lpstr>1.1.1  数据库的四个基本概念</vt:lpstr>
      <vt:lpstr>1.1.1  数据库的四个基本概念</vt:lpstr>
      <vt:lpstr>数据库的示例</vt:lpstr>
      <vt:lpstr>一个关系数据库的例子</vt:lpstr>
      <vt:lpstr>1.1.1  数据库的四个基本概念</vt:lpstr>
      <vt:lpstr>数据库管理系统的功能（1）</vt:lpstr>
      <vt:lpstr>数据库管理系统的功能（2）</vt:lpstr>
      <vt:lpstr>数据库子语言（1）</vt:lpstr>
      <vt:lpstr>数据库子语言（2）</vt:lpstr>
      <vt:lpstr>1.1.1  数据库的四个基本概念</vt:lpstr>
      <vt:lpstr>图1.1  数据库系统的构成</vt:lpstr>
      <vt:lpstr>数据库在计算机系统中的位置</vt:lpstr>
      <vt:lpstr>1.1.1  数据库的四个基本概念</vt:lpstr>
      <vt:lpstr>1.1  数据库系统概述</vt:lpstr>
      <vt:lpstr>1.1.2 数据管理技术的产生和发展</vt:lpstr>
      <vt:lpstr>1.1.2 数据管理技术的产生和发展</vt:lpstr>
      <vt:lpstr>1.1.2 数据管理技术的产生和发展</vt:lpstr>
      <vt:lpstr>表1.1  数据管理三个阶段的比较</vt:lpstr>
      <vt:lpstr>数据管理 - 人工管理（1）</vt:lpstr>
      <vt:lpstr>数据管理 - 人工管理（2）</vt:lpstr>
      <vt:lpstr>数据管理 - 文件系统（1）</vt:lpstr>
      <vt:lpstr>数据管理 - 文件系统（2）</vt:lpstr>
      <vt:lpstr>数据管理 - 文件系统（3）</vt:lpstr>
      <vt:lpstr>数据管理 - 文件系统（4）</vt:lpstr>
      <vt:lpstr>数据管理 - 数据库系统</vt:lpstr>
      <vt:lpstr>数据库系统的发展历史（1）</vt:lpstr>
      <vt:lpstr>数据库系统的发展历史（2）</vt:lpstr>
      <vt:lpstr>数据库系统的发展历史（3）</vt:lpstr>
      <vt:lpstr>数据库系统的发展历史（4）</vt:lpstr>
      <vt:lpstr>数据库系统的发展历史（5）</vt:lpstr>
      <vt:lpstr>数据库系统分类</vt:lpstr>
      <vt:lpstr>1.1  数据库系统概述</vt:lpstr>
      <vt:lpstr>一个例子：学生学籍管理系统（1）</vt:lpstr>
      <vt:lpstr>一个例子：学生学籍管理系统（2）</vt:lpstr>
      <vt:lpstr>一个例子：学生学籍管理系统（3）</vt:lpstr>
      <vt:lpstr>一个例子：学生学籍管理系统（4）</vt:lpstr>
      <vt:lpstr>文件管理存在的问题</vt:lpstr>
      <vt:lpstr>1.1.3  数据库系统的特点</vt:lpstr>
      <vt:lpstr>数据库的特点（1）-  数据结构化</vt:lpstr>
      <vt:lpstr>数据库的特点（2）-  数据的共享性高，冗余度低且易扩充</vt:lpstr>
      <vt:lpstr>数据库的特点（3）-  数据独立性高</vt:lpstr>
      <vt:lpstr>数据库的特点（4）-  数据由数据库管理系统统一管理和控制</vt:lpstr>
      <vt:lpstr>1.1.3  数据库系统的特点</vt:lpstr>
      <vt:lpstr>数据库概念小结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百老汇</cp:lastModifiedBy>
  <cp:revision>134</cp:revision>
  <dcterms:created xsi:type="dcterms:W3CDTF">2023-08-09T12:44:00Z</dcterms:created>
  <dcterms:modified xsi:type="dcterms:W3CDTF">2026-02-26T16:45:56Z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D7D99427D83F427FB3FC021FB9D84E13_13</vt:lpwstr>
  </property>
  <property fmtid="{D5CDD505-2E9C-101B-9397-08002B2CF9AE}" pid="3" name="KSOProductBuildVer">
    <vt:lpwstr>2052-12.1.0.16250</vt:lpwstr>
  </property>
</Properties>
</file>