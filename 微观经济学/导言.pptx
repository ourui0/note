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2" r:id="rId7"/>
    <p:sldId id="261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56" autoAdjust="0"/>
  </p:normalViewPr>
  <p:slideViewPr>
    <p:cSldViewPr>
      <p:cViewPr varScale="1">
        <p:scale>
          <a:sx n="90" d="100"/>
          <a:sy n="90" d="100"/>
        </p:scale>
        <p:origin x="90" y="22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AAE4A3FE-591F-4EDD-A29B-D1B24873A0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3964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C714B2-698C-4BAD-93B5-B37B5AAFDA68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133" y="2404536"/>
            <a:ext cx="7772400" cy="71596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3399" y="3407310"/>
            <a:ext cx="6858000" cy="49582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— </a:t>
            </a:r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533093"/>
            <a:ext cx="3086100" cy="365125"/>
          </a:xfr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29719-2C0D-46DF-AAA6-10BF0B742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77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04332"/>
            <a:ext cx="5755217" cy="778931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01799"/>
            <a:ext cx="7886700" cy="455506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519864"/>
            <a:ext cx="3086100" cy="365125"/>
          </a:xfr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738A-BBEC-4B7F-8D7E-1649C777D1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06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DCD80-2FB1-4650-97F4-7FCA9AF899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14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qiangwu@nj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ms.nju.edu.c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微观经济学（初级）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399" y="3407310"/>
            <a:ext cx="6858000" cy="1317834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南京大学商学院产业经济学系</a:t>
            </a:r>
          </a:p>
          <a:p>
            <a:r>
              <a:rPr lang="zh-CN" altLang="en-US" sz="2400" dirty="0"/>
              <a:t>巫强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课程介绍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性质：必修课</a:t>
            </a:r>
          </a:p>
          <a:p>
            <a:r>
              <a:rPr lang="zh-CN" altLang="en-US" dirty="0"/>
              <a:t>课时与学分：</a:t>
            </a:r>
            <a:r>
              <a:rPr lang="en-US" altLang="zh-CN" dirty="0"/>
              <a:t>3</a:t>
            </a:r>
          </a:p>
          <a:p>
            <a:r>
              <a:rPr lang="zh-CN" altLang="en-US" dirty="0"/>
              <a:t>联系方式</a:t>
            </a:r>
          </a:p>
          <a:p>
            <a:pPr lvl="1"/>
            <a:r>
              <a:rPr lang="zh-CN" altLang="en-US" dirty="0"/>
              <a:t>鼓楼校区安中大楼</a:t>
            </a:r>
            <a:r>
              <a:rPr lang="en-US" altLang="zh-CN" dirty="0"/>
              <a:t>1804</a:t>
            </a:r>
            <a:r>
              <a:rPr lang="zh-CN" altLang="en-US" dirty="0"/>
              <a:t>室</a:t>
            </a:r>
          </a:p>
          <a:p>
            <a:pPr lvl="1"/>
            <a:r>
              <a:rPr lang="en-US" altLang="zh-CN" dirty="0"/>
              <a:t>025-83621060</a:t>
            </a:r>
          </a:p>
          <a:p>
            <a:pPr lvl="1"/>
            <a:r>
              <a:rPr lang="en-US" altLang="zh-CN" dirty="0">
                <a:hlinkClick r:id="rId2"/>
              </a:rPr>
              <a:t>qiangwu@nju.edu.cn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课程规则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课堂纪律：保持安静</a:t>
            </a:r>
          </a:p>
          <a:p>
            <a:pPr>
              <a:lnSpc>
                <a:spcPct val="120000"/>
              </a:lnSpc>
            </a:pPr>
            <a:r>
              <a:rPr lang="zh-CN" altLang="en-US" sz="2800" dirty="0"/>
              <a:t>请假制度：不超过三次，事先请假</a:t>
            </a:r>
          </a:p>
          <a:p>
            <a:pPr>
              <a:lnSpc>
                <a:spcPct val="120000"/>
              </a:lnSpc>
            </a:pPr>
            <a:r>
              <a:rPr lang="zh-CN" altLang="en-US" sz="2800" dirty="0"/>
              <a:t>考核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平时</a:t>
            </a:r>
            <a:r>
              <a:rPr lang="en-US" altLang="zh-CN" sz="2400" dirty="0"/>
              <a:t>30%</a:t>
            </a:r>
            <a:r>
              <a:rPr lang="zh-CN" altLang="en-US" sz="2400" dirty="0"/>
              <a:t>，提问</a:t>
            </a:r>
            <a:r>
              <a:rPr lang="en-US" altLang="zh-CN" sz="2400" dirty="0"/>
              <a:t>+</a:t>
            </a:r>
            <a:r>
              <a:rPr lang="zh-CN" altLang="en-US" sz="2400" dirty="0"/>
              <a:t>练习</a:t>
            </a:r>
            <a:r>
              <a:rPr lang="en-US" altLang="zh-CN" sz="2400" dirty="0"/>
              <a:t>+</a:t>
            </a:r>
            <a:r>
              <a:rPr lang="zh-CN" altLang="en-US" sz="2400" dirty="0"/>
              <a:t>出勤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期末</a:t>
            </a:r>
            <a:r>
              <a:rPr lang="en-US" altLang="zh-CN" sz="2400" dirty="0"/>
              <a:t>70%</a:t>
            </a:r>
            <a:r>
              <a:rPr lang="zh-CN" altLang="en-US" sz="2400" dirty="0"/>
              <a:t>，闭卷，统一出卷，统一阅卷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旷课</a:t>
            </a:r>
            <a:r>
              <a:rPr lang="en-US" altLang="zh-CN" sz="2400" dirty="0"/>
              <a:t>3</a:t>
            </a:r>
            <a:r>
              <a:rPr lang="zh-CN" altLang="en-US" sz="2400" dirty="0"/>
              <a:t>次以上取消期末考试资格</a:t>
            </a:r>
          </a:p>
          <a:p>
            <a:pPr>
              <a:lnSpc>
                <a:spcPct val="120000"/>
              </a:lnSpc>
            </a:pPr>
            <a:r>
              <a:rPr lang="zh-CN" altLang="en-US" sz="2800" dirty="0"/>
              <a:t>教学方式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提倡双向交流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课件</a:t>
            </a:r>
            <a:r>
              <a:rPr lang="en-US" altLang="zh-CN" sz="2400" dirty="0"/>
              <a:t>+</a:t>
            </a:r>
            <a:r>
              <a:rPr lang="zh-CN" altLang="en-US" sz="2400" dirty="0"/>
              <a:t>黑板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F35B6-D415-453E-8167-C459A6E9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2DC5C-C03C-44AD-99D8-1AC83C26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智汇南雍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https://lms.nju.edu.cn/</a:t>
            </a:r>
            <a:endParaRPr lang="en-US" altLang="zh-CN" dirty="0"/>
          </a:p>
          <a:p>
            <a:r>
              <a:rPr lang="zh-CN" altLang="en-US" dirty="0"/>
              <a:t>课程</a:t>
            </a:r>
            <a:r>
              <a:rPr lang="en-US" altLang="zh-CN" dirty="0"/>
              <a:t>PPT</a:t>
            </a:r>
          </a:p>
          <a:p>
            <a:r>
              <a:rPr lang="zh-CN" altLang="en-US" dirty="0"/>
              <a:t>课程资料</a:t>
            </a:r>
            <a:endParaRPr lang="en-US" altLang="zh-CN" dirty="0"/>
          </a:p>
          <a:p>
            <a:r>
              <a:rPr lang="zh-CN" altLang="en-US" dirty="0"/>
              <a:t>课程助教，聂一鸣博士生</a:t>
            </a:r>
          </a:p>
        </p:txBody>
      </p:sp>
    </p:spTree>
    <p:extLst>
      <p:ext uri="{BB962C8B-B14F-4D97-AF65-F5344CB8AC3E}">
        <p14:creationId xmlns:p14="http://schemas.microsoft.com/office/powerpoint/2010/main" val="408025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教材与参考书目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7772400" cy="5256584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/>
              <a:t>教材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西方经济学（第二版）上册，</a:t>
            </a:r>
            <a:r>
              <a:rPr lang="en-US" altLang="zh-CN" dirty="0"/>
              <a:t>《</a:t>
            </a:r>
            <a:r>
              <a:rPr lang="zh-CN" altLang="en-US" dirty="0"/>
              <a:t>西方经济学</a:t>
            </a:r>
            <a:r>
              <a:rPr lang="en-US" altLang="zh-CN" dirty="0"/>
              <a:t>》</a:t>
            </a:r>
            <a:r>
              <a:rPr lang="zh-CN" altLang="en-US" dirty="0"/>
              <a:t>编写组，高等教育出版社、人民出版社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马工程教材，</a:t>
            </a:r>
            <a:r>
              <a:rPr lang="en-US" altLang="zh-CN" dirty="0"/>
              <a:t>1-6/8</a:t>
            </a:r>
            <a:r>
              <a:rPr lang="zh-CN" altLang="en-US" dirty="0"/>
              <a:t>章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3200" dirty="0"/>
              <a:t>参考书目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经济学原理（第七版）、（第八版），微观经济学分册，曼昆著，梁小民、梁砾译，北京大学出版社（结合内容）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西方经济学</a:t>
            </a:r>
            <a:r>
              <a:rPr lang="en-US" altLang="zh-CN" dirty="0"/>
              <a:t>》</a:t>
            </a:r>
            <a:r>
              <a:rPr lang="zh-CN" altLang="en-US" dirty="0"/>
              <a:t>精要与案例解析，文建东主编，高等教育出版社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西方经济学</a:t>
            </a:r>
            <a:r>
              <a:rPr lang="en-US" altLang="zh-CN" dirty="0"/>
              <a:t>》</a:t>
            </a:r>
            <a:r>
              <a:rPr lang="zh-CN" altLang="en-US" dirty="0"/>
              <a:t>习题与解答，吴汉洪主编，高等教育出版社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微观经济学习题与解答，张顺主编，高等教育出版社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为什么要学这门课？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01799"/>
            <a:ext cx="7886700" cy="475153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经济现象无处不在，怎么解释？</a:t>
            </a:r>
            <a:endParaRPr lang="en-US" altLang="zh-CN" sz="2400" dirty="0"/>
          </a:p>
          <a:p>
            <a:r>
              <a:rPr lang="zh-CN" altLang="en-US" sz="2400" dirty="0"/>
              <a:t>理解经济社会运行的一个窗口</a:t>
            </a:r>
            <a:endParaRPr lang="en-US" altLang="zh-CN" sz="2400" dirty="0"/>
          </a:p>
          <a:p>
            <a:r>
              <a:rPr lang="zh-CN" altLang="en-US" sz="2400" dirty="0"/>
              <a:t>科学研究的共性：变量之间的因果关系</a:t>
            </a:r>
            <a:endParaRPr lang="en-US" altLang="zh-CN" sz="2400" dirty="0"/>
          </a:p>
          <a:p>
            <a:r>
              <a:rPr lang="zh-CN" altLang="en-US" sz="2400" dirty="0"/>
              <a:t>辅助人生决策的一种思维方法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学好本课程的关键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多读书，多思考，多讨论</a:t>
            </a:r>
          </a:p>
          <a:p>
            <a:r>
              <a:rPr lang="zh-CN" altLang="en-US" dirty="0"/>
              <a:t>勤动手，多算、多推导、多练习</a:t>
            </a:r>
            <a:endParaRPr lang="en-US" altLang="zh-CN" dirty="0"/>
          </a:p>
          <a:p>
            <a:r>
              <a:rPr lang="zh-CN" altLang="en-US" dirty="0"/>
              <a:t>多联系现实经济现象，多用学会的经济学概念、理论和思维去分析这些问题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jubusiness school bright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njubusiness school bright2</Template>
  <TotalTime>766</TotalTime>
  <Words>303</Words>
  <Application>Microsoft Office PowerPoint</Application>
  <PresentationFormat>全屏显示(4:3)</PresentationFormat>
  <Paragraphs>46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微软雅黑</vt:lpstr>
      <vt:lpstr>Arial</vt:lpstr>
      <vt:lpstr>Calibri</vt:lpstr>
      <vt:lpstr>Calibri Light</vt:lpstr>
      <vt:lpstr>Tahoma</vt:lpstr>
      <vt:lpstr>njubusiness school bright2</vt:lpstr>
      <vt:lpstr>微观经济学（初级）</vt:lpstr>
      <vt:lpstr>课程介绍</vt:lpstr>
      <vt:lpstr>课程规则</vt:lpstr>
      <vt:lpstr>课程安排</vt:lpstr>
      <vt:lpstr>教材与参考书目</vt:lpstr>
      <vt:lpstr>为什么要学这门课？</vt:lpstr>
      <vt:lpstr>学好本课程的关键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反垄断经济学</dc:title>
  <dc:creator>user</dc:creator>
  <cp:lastModifiedBy>qiang wu</cp:lastModifiedBy>
  <cp:revision>76</cp:revision>
  <dcterms:created xsi:type="dcterms:W3CDTF">2011-07-08T13:58:41Z</dcterms:created>
  <dcterms:modified xsi:type="dcterms:W3CDTF">2026-03-11T12:09:50Z</dcterms:modified>
</cp:coreProperties>
</file>