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63" r:id="rId2"/>
  </p:sldMasterIdLst>
  <p:notesMasterIdLst>
    <p:notesMasterId r:id="rId28"/>
  </p:notesMasterIdLst>
  <p:sldIdLst>
    <p:sldId id="256" r:id="rId3"/>
    <p:sldId id="284" r:id="rId4"/>
    <p:sldId id="308" r:id="rId5"/>
    <p:sldId id="285" r:id="rId6"/>
    <p:sldId id="287" r:id="rId7"/>
    <p:sldId id="288" r:id="rId8"/>
    <p:sldId id="290" r:id="rId9"/>
    <p:sldId id="291" r:id="rId10"/>
    <p:sldId id="292" r:id="rId11"/>
    <p:sldId id="299" r:id="rId12"/>
    <p:sldId id="294" r:id="rId13"/>
    <p:sldId id="295" r:id="rId14"/>
    <p:sldId id="300" r:id="rId15"/>
    <p:sldId id="296" r:id="rId16"/>
    <p:sldId id="298" r:id="rId17"/>
    <p:sldId id="307" r:id="rId18"/>
    <p:sldId id="293" r:id="rId19"/>
    <p:sldId id="302" r:id="rId20"/>
    <p:sldId id="297" r:id="rId21"/>
    <p:sldId id="309" r:id="rId22"/>
    <p:sldId id="303" r:id="rId23"/>
    <p:sldId id="304" r:id="rId24"/>
    <p:sldId id="305" r:id="rId25"/>
    <p:sldId id="306" r:id="rId26"/>
    <p:sldId id="281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42C1AD4-4EFD-EF47-82CF-26A1A1B2CA68}">
          <p14:sldIdLst>
            <p14:sldId id="256"/>
            <p14:sldId id="284"/>
            <p14:sldId id="308"/>
            <p14:sldId id="285"/>
            <p14:sldId id="287"/>
            <p14:sldId id="288"/>
            <p14:sldId id="290"/>
            <p14:sldId id="291"/>
            <p14:sldId id="292"/>
            <p14:sldId id="299"/>
            <p14:sldId id="294"/>
            <p14:sldId id="295"/>
            <p14:sldId id="300"/>
            <p14:sldId id="296"/>
            <p14:sldId id="298"/>
            <p14:sldId id="307"/>
            <p14:sldId id="293"/>
            <p14:sldId id="302"/>
            <p14:sldId id="297"/>
            <p14:sldId id="309"/>
            <p14:sldId id="303"/>
            <p14:sldId id="304"/>
            <p14:sldId id="305"/>
            <p14:sldId id="306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19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11" autoAdjust="0"/>
    <p:restoredTop sz="75880" autoAdjust="0"/>
  </p:normalViewPr>
  <p:slideViewPr>
    <p:cSldViewPr snapToGrid="0">
      <p:cViewPr varScale="1">
        <p:scale>
          <a:sx n="88" d="100"/>
          <a:sy n="88" d="100"/>
        </p:scale>
        <p:origin x="17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4C8188-5524-8945-81B5-B4288F0B5293}" type="datetimeFigureOut">
              <a:rPr kumimoji="1" lang="zh-CN" altLang="en-US" smtClean="0"/>
              <a:t>2025/12/25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06435-EBAD-884F-9E56-508A6EDC203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06435-EBAD-884F-9E56-508A6EDC2037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06435-EBAD-884F-9E56-508A6EDC2037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70143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06435-EBAD-884F-9E56-508A6EDC2037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58967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06435-EBAD-884F-9E56-508A6EDC2037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387516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06435-EBAD-884F-9E56-508A6EDC2037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693096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06435-EBAD-884F-9E56-508A6EDC2037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69918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06435-EBAD-884F-9E56-508A6EDC2037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699870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06435-EBAD-884F-9E56-508A6EDC2037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758570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06435-EBAD-884F-9E56-508A6EDC2037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18" Type="http://schemas.openxmlformats.org/officeDocument/2006/relationships/image" Target="../media/image18.png"/><Relationship Id="rId3" Type="http://schemas.openxmlformats.org/officeDocument/2006/relationships/image" Target="../media/image4.png"/><Relationship Id="rId21" Type="http://schemas.openxmlformats.org/officeDocument/2006/relationships/image" Target="../media/image21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" Type="http://schemas.openxmlformats.org/officeDocument/2006/relationships/image" Target="../media/image1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pn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19" Type="http://schemas.openxmlformats.org/officeDocument/2006/relationships/image" Target="../media/image19.svg"/><Relationship Id="rId4" Type="http://schemas.openxmlformats.org/officeDocument/2006/relationships/image" Target="../media/image2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5" Type="http://schemas.openxmlformats.org/officeDocument/2006/relationships/image" Target="../media/image23.jpeg"/><Relationship Id="rId4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30.xml"/><Relationship Id="rId4" Type="http://schemas.openxmlformats.org/officeDocument/2006/relationships/tags" Target="../tags/tag29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9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48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59.xml"/><Relationship Id="rId4" Type="http://schemas.openxmlformats.org/officeDocument/2006/relationships/tags" Target="../tags/tag58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6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68.xml"/><Relationship Id="rId4" Type="http://schemas.openxmlformats.org/officeDocument/2006/relationships/tags" Target="../tags/tag67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5"/>
          <p:cNvSpPr/>
          <p:nvPr userDrawn="1"/>
        </p:nvSpPr>
        <p:spPr>
          <a:xfrm>
            <a:off x="0" y="2000732"/>
            <a:ext cx="12192000" cy="1674929"/>
          </a:xfrm>
          <a:prstGeom prst="rect">
            <a:avLst/>
          </a:prstGeom>
          <a:gradFill>
            <a:gsLst>
              <a:gs pos="0">
                <a:srgbClr val="3E2146"/>
              </a:gs>
              <a:gs pos="53000">
                <a:srgbClr val="5C0C5C"/>
              </a:gs>
              <a:gs pos="100000">
                <a:srgbClr val="8C4BA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097152" name="图片 6" descr="logo_画板 1 副本 3"/>
          <p:cNvPicPr>
            <a:picLocks noChangeAspect="1"/>
          </p:cNvPicPr>
          <p:nvPr userDrawn="1"/>
        </p:nvPicPr>
        <p:blipFill rotWithShape="1">
          <a:blip r:embed="rId2"/>
          <a:srcRect r="81482"/>
          <a:stretch>
            <a:fillRect/>
          </a:stretch>
        </p:blipFill>
        <p:spPr>
          <a:xfrm>
            <a:off x="10009231" y="5183070"/>
            <a:ext cx="2182769" cy="1674929"/>
          </a:xfrm>
          <a:prstGeom prst="rect">
            <a:avLst/>
          </a:prstGeom>
        </p:spPr>
      </p:pic>
      <p:pic>
        <p:nvPicPr>
          <p:cNvPr id="2097153" name="图片 8" descr="logo-0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0" y="1859416"/>
            <a:ext cx="2235186" cy="2062659"/>
          </a:xfrm>
          <a:prstGeom prst="rect">
            <a:avLst/>
          </a:prstGeom>
        </p:spPr>
      </p:pic>
      <p:pic>
        <p:nvPicPr>
          <p:cNvPr id="2097154" name="图片 19" descr="logo_画板 1 副本 3"/>
          <p:cNvPicPr>
            <a:picLocks noChangeAspect="1"/>
          </p:cNvPicPr>
          <p:nvPr/>
        </p:nvPicPr>
        <p:blipFill rotWithShape="1">
          <a:blip r:embed="rId2"/>
          <a:srcRect l="18481" r="48644"/>
          <a:stretch>
            <a:fillRect/>
          </a:stretch>
        </p:blipFill>
        <p:spPr>
          <a:xfrm flipH="1">
            <a:off x="-1" y="5248767"/>
            <a:ext cx="2933435" cy="1609233"/>
          </a:xfrm>
          <a:prstGeom prst="rect">
            <a:avLst/>
          </a:prstGeom>
        </p:spPr>
      </p:pic>
      <p:sp>
        <p:nvSpPr>
          <p:cNvPr id="1048582" name="标题 30"/>
          <p:cNvSpPr>
            <a:spLocks noGrp="1"/>
          </p:cNvSpPr>
          <p:nvPr>
            <p:ph type="title" hasCustomPrompt="1"/>
          </p:nvPr>
        </p:nvSpPr>
        <p:spPr>
          <a:xfrm>
            <a:off x="2828660" y="2448150"/>
            <a:ext cx="6522873" cy="7056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lang="zh-CN" altLang="en-US" sz="5400" b="1" kern="1200" baseline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defRPr>
            </a:lvl1pPr>
          </a:lstStyle>
          <a:p>
            <a:r>
              <a:rPr lang="en-US" altLang="zh-CN" dirty="0"/>
              <a:t>Graph</a:t>
            </a:r>
            <a:endParaRPr lang="zh-CN" altLang="en-US" dirty="0"/>
          </a:p>
        </p:txBody>
      </p:sp>
      <p:pic>
        <p:nvPicPr>
          <p:cNvPr id="2050" name="Picture 2" descr="南大标识-南京大学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359" y="286310"/>
            <a:ext cx="2909627" cy="890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gradFill>
          <a:gsLst>
            <a:gs pos="0">
              <a:srgbClr val="3E2146"/>
            </a:gs>
            <a:gs pos="53000">
              <a:srgbClr val="5C0C5C"/>
            </a:gs>
            <a:gs pos="100000">
              <a:srgbClr val="8C4BA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5"/>
          <p:cNvSpPr/>
          <p:nvPr userDrawn="1"/>
        </p:nvSpPr>
        <p:spPr>
          <a:xfrm>
            <a:off x="3848100" y="0"/>
            <a:ext cx="8343900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8" name="图片 6" descr="logo_画板 1 副本 3"/>
          <p:cNvPicPr>
            <a:picLocks noChangeAspect="1"/>
          </p:cNvPicPr>
          <p:nvPr userDrawn="1"/>
        </p:nvPicPr>
        <p:blipFill rotWithShape="1">
          <a:blip r:embed="rId2"/>
          <a:srcRect r="81482"/>
          <a:stretch>
            <a:fillRect/>
          </a:stretch>
        </p:blipFill>
        <p:spPr>
          <a:xfrm>
            <a:off x="10009231" y="5183070"/>
            <a:ext cx="2182769" cy="1674929"/>
          </a:xfrm>
          <a:prstGeom prst="rect">
            <a:avLst/>
          </a:prstGeom>
        </p:spPr>
      </p:pic>
      <p:sp>
        <p:nvSpPr>
          <p:cNvPr id="19" name="标题 30"/>
          <p:cNvSpPr>
            <a:spLocks noGrp="1"/>
          </p:cNvSpPr>
          <p:nvPr>
            <p:ph type="title" hasCustomPrompt="1"/>
          </p:nvPr>
        </p:nvSpPr>
        <p:spPr>
          <a:xfrm>
            <a:off x="501649" y="1826225"/>
            <a:ext cx="2806701" cy="313947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lang="zh-CN" altLang="en-US" sz="4000" b="1" kern="1200" baseline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altLang="zh-CN" dirty="0"/>
              <a:t>Outline</a:t>
            </a:r>
            <a:endParaRPr lang="zh-CN" altLang="en-US" dirty="0"/>
          </a:p>
        </p:txBody>
      </p:sp>
      <p:pic>
        <p:nvPicPr>
          <p:cNvPr id="20" name="图片 16" descr="logo-04"/>
          <p:cNvPicPr>
            <a:picLocks noChangeAspect="1"/>
          </p:cNvPicPr>
          <p:nvPr userDrawn="1"/>
        </p:nvPicPr>
        <p:blipFill rotWithShape="1">
          <a:blip r:embed="rId3"/>
          <a:srcRect l="17769" t="34703" r="63008" b="32965"/>
          <a:stretch>
            <a:fillRect/>
          </a:stretch>
        </p:blipFill>
        <p:spPr>
          <a:xfrm>
            <a:off x="1362263" y="343101"/>
            <a:ext cx="1085471" cy="1206078"/>
          </a:xfrm>
          <a:prstGeom prst="rect">
            <a:avLst/>
          </a:prstGeom>
        </p:spPr>
      </p:pic>
      <p:pic>
        <p:nvPicPr>
          <p:cNvPr id="21" name="图片 329" descr="logo-0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17951" y="-562375"/>
            <a:ext cx="3385518" cy="3124200"/>
          </a:xfrm>
          <a:prstGeom prst="rect">
            <a:avLst/>
          </a:prstGeom>
        </p:spPr>
      </p:pic>
      <p:pic>
        <p:nvPicPr>
          <p:cNvPr id="22" name="图片 327" descr="logo-08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flipH="1">
            <a:off x="-619760" y="5371425"/>
            <a:ext cx="4865370" cy="1885950"/>
          </a:xfrm>
          <a:prstGeom prst="rect">
            <a:avLst/>
          </a:prstGeom>
        </p:spPr>
      </p:pic>
      <p:sp>
        <p:nvSpPr>
          <p:cNvPr id="13" name="内容占位符 2"/>
          <p:cNvSpPr>
            <a:spLocks noGrp="1"/>
          </p:cNvSpPr>
          <p:nvPr>
            <p:ph idx="1"/>
          </p:nvPr>
        </p:nvSpPr>
        <p:spPr>
          <a:xfrm>
            <a:off x="5068389" y="812800"/>
            <a:ext cx="4447072" cy="5364163"/>
          </a:xfrm>
        </p:spPr>
        <p:txBody>
          <a:bodyPr/>
          <a:lstStyle>
            <a:lvl1pPr>
              <a:defRPr>
                <a:latin typeface="+mn-ea"/>
                <a:ea typeface="+mn-ea"/>
                <a:cs typeface="Calibri" panose="020F0502020204030204" pitchFamily="34" charset="0"/>
              </a:defRPr>
            </a:lvl1pPr>
            <a:lvl2pPr>
              <a:defRPr>
                <a:latin typeface="+mn-ea"/>
                <a:ea typeface="+mn-ea"/>
                <a:cs typeface="Calibri" panose="020F0502020204030204" pitchFamily="34" charset="0"/>
              </a:defRPr>
            </a:lvl2pPr>
            <a:lvl3pPr>
              <a:defRPr>
                <a:latin typeface="+mn-ea"/>
                <a:ea typeface="+mn-ea"/>
                <a:cs typeface="Calibri" panose="020F0502020204030204" pitchFamily="34" charset="0"/>
              </a:defRPr>
            </a:lvl3pPr>
            <a:lvl4pPr>
              <a:defRPr>
                <a:latin typeface="+mn-ea"/>
                <a:ea typeface="+mn-ea"/>
                <a:cs typeface="Calibri" panose="020F0502020204030204" pitchFamily="34" charset="0"/>
              </a:defRPr>
            </a:lvl4pPr>
            <a:lvl5pPr>
              <a:defRPr>
                <a:latin typeface="+mn-ea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gradFill>
          <a:gsLst>
            <a:gs pos="0">
              <a:srgbClr val="3E2146"/>
            </a:gs>
            <a:gs pos="53000">
              <a:srgbClr val="5C0C5C"/>
            </a:gs>
            <a:gs pos="100000">
              <a:srgbClr val="8C4BA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5"/>
          <p:cNvSpPr/>
          <p:nvPr userDrawn="1"/>
        </p:nvSpPr>
        <p:spPr>
          <a:xfrm>
            <a:off x="3848100" y="0"/>
            <a:ext cx="8343900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8" name="图片 6" descr="logo_画板 1 副本 3"/>
          <p:cNvPicPr>
            <a:picLocks noChangeAspect="1"/>
          </p:cNvPicPr>
          <p:nvPr userDrawn="1"/>
        </p:nvPicPr>
        <p:blipFill rotWithShape="1">
          <a:blip r:embed="rId2"/>
          <a:srcRect r="81482"/>
          <a:stretch>
            <a:fillRect/>
          </a:stretch>
        </p:blipFill>
        <p:spPr>
          <a:xfrm>
            <a:off x="10009231" y="5183070"/>
            <a:ext cx="2182769" cy="1674929"/>
          </a:xfrm>
          <a:prstGeom prst="rect">
            <a:avLst/>
          </a:prstGeom>
        </p:spPr>
      </p:pic>
      <p:sp>
        <p:nvSpPr>
          <p:cNvPr id="19" name="标题 30"/>
          <p:cNvSpPr>
            <a:spLocks noGrp="1"/>
          </p:cNvSpPr>
          <p:nvPr>
            <p:ph type="title" hasCustomPrompt="1"/>
          </p:nvPr>
        </p:nvSpPr>
        <p:spPr>
          <a:xfrm>
            <a:off x="501649" y="1826225"/>
            <a:ext cx="2806701" cy="313947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lang="zh-CN" altLang="en-US" sz="4000" b="1" kern="1200" baseline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altLang="zh-CN" dirty="0"/>
              <a:t>Outline</a:t>
            </a:r>
            <a:endParaRPr lang="zh-CN" altLang="en-US" dirty="0"/>
          </a:p>
        </p:txBody>
      </p:sp>
      <p:pic>
        <p:nvPicPr>
          <p:cNvPr id="20" name="图片 16" descr="logo-04"/>
          <p:cNvPicPr>
            <a:picLocks noChangeAspect="1"/>
          </p:cNvPicPr>
          <p:nvPr userDrawn="1"/>
        </p:nvPicPr>
        <p:blipFill rotWithShape="1">
          <a:blip r:embed="rId3"/>
          <a:srcRect l="17769" t="34703" r="63008" b="32965"/>
          <a:stretch>
            <a:fillRect/>
          </a:stretch>
        </p:blipFill>
        <p:spPr>
          <a:xfrm>
            <a:off x="1362263" y="343101"/>
            <a:ext cx="1085471" cy="1206078"/>
          </a:xfrm>
          <a:prstGeom prst="rect">
            <a:avLst/>
          </a:prstGeom>
        </p:spPr>
      </p:pic>
      <p:pic>
        <p:nvPicPr>
          <p:cNvPr id="21" name="图片 329" descr="logo-0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17951" y="-562375"/>
            <a:ext cx="3385518" cy="3124200"/>
          </a:xfrm>
          <a:prstGeom prst="rect">
            <a:avLst/>
          </a:prstGeom>
        </p:spPr>
      </p:pic>
      <p:pic>
        <p:nvPicPr>
          <p:cNvPr id="22" name="图片 327" descr="logo-08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flipH="1">
            <a:off x="-619760" y="5371425"/>
            <a:ext cx="4865370" cy="1885950"/>
          </a:xfrm>
          <a:prstGeom prst="rect">
            <a:avLst/>
          </a:prstGeom>
        </p:spPr>
      </p:pic>
      <p:sp>
        <p:nvSpPr>
          <p:cNvPr id="13" name="内容占位符 2"/>
          <p:cNvSpPr>
            <a:spLocks noGrp="1"/>
          </p:cNvSpPr>
          <p:nvPr>
            <p:ph idx="1"/>
          </p:nvPr>
        </p:nvSpPr>
        <p:spPr>
          <a:xfrm>
            <a:off x="5068389" y="812800"/>
            <a:ext cx="4447072" cy="5364163"/>
          </a:xfrm>
        </p:spPr>
        <p:txBody>
          <a:bodyPr/>
          <a:lstStyle>
            <a:lvl1pPr>
              <a:defRPr>
                <a:latin typeface="+mn-ea"/>
                <a:ea typeface="+mn-ea"/>
                <a:cs typeface="Calibri" panose="020F0502020204030204" pitchFamily="34" charset="0"/>
              </a:defRPr>
            </a:lvl1pPr>
            <a:lvl2pPr>
              <a:defRPr>
                <a:latin typeface="+mn-ea"/>
                <a:ea typeface="+mn-ea"/>
                <a:cs typeface="Calibri" panose="020F0502020204030204" pitchFamily="34" charset="0"/>
              </a:defRPr>
            </a:lvl2pPr>
            <a:lvl3pPr>
              <a:defRPr>
                <a:latin typeface="+mn-ea"/>
                <a:ea typeface="+mn-ea"/>
                <a:cs typeface="Calibri" panose="020F0502020204030204" pitchFamily="34" charset="0"/>
              </a:defRPr>
            </a:lvl3pPr>
            <a:lvl4pPr>
              <a:defRPr>
                <a:latin typeface="+mn-ea"/>
                <a:ea typeface="+mn-ea"/>
                <a:cs typeface="Calibri" panose="020F0502020204030204" pitchFamily="34" charset="0"/>
              </a:defRPr>
            </a:lvl4pPr>
            <a:lvl5pPr>
              <a:defRPr>
                <a:latin typeface="+mn-ea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pic>
        <p:nvPicPr>
          <p:cNvPr id="34" name="图形 33"/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40532" y="3176081"/>
            <a:ext cx="468000" cy="468000"/>
          </a:xfrm>
          <a:prstGeom prst="rect">
            <a:avLst/>
          </a:prstGeom>
        </p:spPr>
      </p:pic>
      <p:pic>
        <p:nvPicPr>
          <p:cNvPr id="36" name="图形 35"/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40532" y="1225184"/>
            <a:ext cx="468000" cy="468000"/>
          </a:xfrm>
          <a:prstGeom prst="rect">
            <a:avLst/>
          </a:prstGeom>
        </p:spPr>
      </p:pic>
      <p:pic>
        <p:nvPicPr>
          <p:cNvPr id="38" name="图形 37"/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40532" y="5126980"/>
            <a:ext cx="468000" cy="468000"/>
          </a:xfrm>
          <a:prstGeom prst="rect">
            <a:avLst/>
          </a:prstGeom>
        </p:spPr>
      </p:pic>
      <p:pic>
        <p:nvPicPr>
          <p:cNvPr id="40" name="图形 39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340532" y="3826380"/>
            <a:ext cx="468000" cy="468000"/>
          </a:xfrm>
          <a:prstGeom prst="rect">
            <a:avLst/>
          </a:prstGeom>
        </p:spPr>
      </p:pic>
      <p:pic>
        <p:nvPicPr>
          <p:cNvPr id="42" name="图形 41"/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340532" y="574885"/>
            <a:ext cx="468000" cy="468000"/>
          </a:xfrm>
          <a:prstGeom prst="rect">
            <a:avLst/>
          </a:prstGeom>
        </p:spPr>
      </p:pic>
      <p:pic>
        <p:nvPicPr>
          <p:cNvPr id="44" name="图形 43"/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340532" y="4476679"/>
            <a:ext cx="468000" cy="468000"/>
          </a:xfrm>
          <a:prstGeom prst="rect">
            <a:avLst/>
          </a:prstGeom>
        </p:spPr>
      </p:pic>
      <p:pic>
        <p:nvPicPr>
          <p:cNvPr id="46" name="图形 45"/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340532" y="1875483"/>
            <a:ext cx="468000" cy="468000"/>
          </a:xfrm>
          <a:prstGeom prst="rect">
            <a:avLst/>
          </a:prstGeom>
        </p:spPr>
      </p:pic>
      <p:pic>
        <p:nvPicPr>
          <p:cNvPr id="48" name="图形 47"/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340532" y="2525782"/>
            <a:ext cx="468000" cy="46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45741"/>
            <a:ext cx="10515600" cy="4731222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9771-5615-3143-A5AF-A97C8C7AB8F8}" type="datetime10">
              <a:rPr kumimoji="1" lang="zh-CN" altLang="en-US" smtClean="0"/>
              <a:t>15:31</a:t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E82F-035D-4549-9D51-02841711E3B0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3" name="矩形 5"/>
          <p:cNvSpPr/>
          <p:nvPr userDrawn="1"/>
        </p:nvSpPr>
        <p:spPr>
          <a:xfrm>
            <a:off x="0" y="7748"/>
            <a:ext cx="12192000" cy="1114470"/>
          </a:xfrm>
          <a:prstGeom prst="rect">
            <a:avLst/>
          </a:prstGeom>
          <a:solidFill>
            <a:srgbClr val="4A19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片 16" descr="logo-04"/>
          <p:cNvPicPr>
            <a:picLocks noChangeAspect="1"/>
          </p:cNvPicPr>
          <p:nvPr userDrawn="1"/>
        </p:nvPicPr>
        <p:blipFill rotWithShape="1">
          <a:blip r:embed="rId2"/>
          <a:srcRect l="17769" t="34703" r="63008" b="32965"/>
          <a:stretch>
            <a:fillRect/>
          </a:stretch>
        </p:blipFill>
        <p:spPr>
          <a:xfrm>
            <a:off x="54379" y="159737"/>
            <a:ext cx="729443" cy="810491"/>
          </a:xfrm>
          <a:prstGeom prst="rect">
            <a:avLst/>
          </a:prstGeom>
        </p:spPr>
      </p:pic>
      <p:pic>
        <p:nvPicPr>
          <p:cNvPr id="16" name="图片 329" descr="logo-0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13717" y="-240687"/>
            <a:ext cx="1528129" cy="1410177"/>
          </a:xfrm>
          <a:prstGeom prst="rect">
            <a:avLst/>
          </a:prstGeom>
        </p:spPr>
      </p:pic>
      <p:sp>
        <p:nvSpPr>
          <p:cNvPr id="7" name="标题 30"/>
          <p:cNvSpPr>
            <a:spLocks noGrp="1"/>
          </p:cNvSpPr>
          <p:nvPr>
            <p:ph type="title" hasCustomPrompt="1"/>
          </p:nvPr>
        </p:nvSpPr>
        <p:spPr>
          <a:xfrm>
            <a:off x="838200" y="238574"/>
            <a:ext cx="10515600" cy="652815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lang="zh-CN" altLang="en-US" sz="4000" b="1" kern="1200" baseline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defRPr>
            </a:lvl1pPr>
          </a:lstStyle>
          <a:p>
            <a:r>
              <a:rPr lang="en-US" altLang="zh-CN" dirty="0"/>
              <a:t>Graph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A0EEB-0B5C-7346-8B54-9A8B49661C6B}" type="datetime10">
              <a:rPr kumimoji="1" lang="zh-CN" altLang="en-US" smtClean="0"/>
              <a:t>15:31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E82F-035D-4549-9D51-02841711E3B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406406"/>
            <a:ext cx="5181600" cy="4770557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406406"/>
            <a:ext cx="5181600" cy="4770557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57296-581D-D344-9C93-CD11EDABDB64}" type="datetime10">
              <a:rPr kumimoji="1" lang="zh-CN" altLang="en-US" smtClean="0"/>
              <a:t>15:31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E82F-035D-4549-9D51-02841711E3B0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3" name="矩形 5"/>
          <p:cNvSpPr/>
          <p:nvPr userDrawn="1"/>
        </p:nvSpPr>
        <p:spPr>
          <a:xfrm>
            <a:off x="0" y="7748"/>
            <a:ext cx="12192000" cy="1114470"/>
          </a:xfrm>
          <a:prstGeom prst="rect">
            <a:avLst/>
          </a:prstGeom>
          <a:solidFill>
            <a:srgbClr val="4A19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片 16" descr="logo-04"/>
          <p:cNvPicPr>
            <a:picLocks noChangeAspect="1"/>
          </p:cNvPicPr>
          <p:nvPr userDrawn="1"/>
        </p:nvPicPr>
        <p:blipFill rotWithShape="1">
          <a:blip r:embed="rId2"/>
          <a:srcRect l="17769" t="34703" r="63008" b="32965"/>
          <a:stretch>
            <a:fillRect/>
          </a:stretch>
        </p:blipFill>
        <p:spPr>
          <a:xfrm>
            <a:off x="54379" y="159737"/>
            <a:ext cx="729443" cy="810491"/>
          </a:xfrm>
          <a:prstGeom prst="rect">
            <a:avLst/>
          </a:prstGeom>
        </p:spPr>
      </p:pic>
      <p:pic>
        <p:nvPicPr>
          <p:cNvPr id="15" name="图片 329" descr="logo-0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13717" y="-240687"/>
            <a:ext cx="1528129" cy="1410177"/>
          </a:xfrm>
          <a:prstGeom prst="rect">
            <a:avLst/>
          </a:prstGeom>
        </p:spPr>
      </p:pic>
      <p:sp>
        <p:nvSpPr>
          <p:cNvPr id="16" name="标题 30"/>
          <p:cNvSpPr>
            <a:spLocks noGrp="1"/>
          </p:cNvSpPr>
          <p:nvPr>
            <p:ph type="title" hasCustomPrompt="1"/>
          </p:nvPr>
        </p:nvSpPr>
        <p:spPr>
          <a:xfrm>
            <a:off x="838200" y="238574"/>
            <a:ext cx="10515600" cy="652815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lang="zh-CN" altLang="en-US" sz="4000" b="1" kern="1200" baseline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altLang="zh-CN" dirty="0"/>
              <a:t>Graph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FF323-5612-A744-B5FE-7DE9FC8A4D9B}" type="datetime10">
              <a:rPr kumimoji="1" lang="zh-CN" altLang="en-US" smtClean="0"/>
              <a:t>15:31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E82F-035D-4549-9D51-02841711E3B0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2" name="矩形 5"/>
          <p:cNvSpPr/>
          <p:nvPr userDrawn="1"/>
        </p:nvSpPr>
        <p:spPr>
          <a:xfrm>
            <a:off x="0" y="7748"/>
            <a:ext cx="12192000" cy="1114470"/>
          </a:xfrm>
          <a:prstGeom prst="rect">
            <a:avLst/>
          </a:prstGeom>
          <a:solidFill>
            <a:srgbClr val="4A19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" name="图片 16" descr="logo-04"/>
          <p:cNvPicPr>
            <a:picLocks noChangeAspect="1"/>
          </p:cNvPicPr>
          <p:nvPr userDrawn="1"/>
        </p:nvPicPr>
        <p:blipFill rotWithShape="1">
          <a:blip r:embed="rId2"/>
          <a:srcRect l="17769" t="34703" r="63008" b="32965"/>
          <a:stretch>
            <a:fillRect/>
          </a:stretch>
        </p:blipFill>
        <p:spPr>
          <a:xfrm>
            <a:off x="54379" y="159737"/>
            <a:ext cx="729443" cy="810491"/>
          </a:xfrm>
          <a:prstGeom prst="rect">
            <a:avLst/>
          </a:prstGeom>
        </p:spPr>
      </p:pic>
      <p:pic>
        <p:nvPicPr>
          <p:cNvPr id="14" name="图片 329" descr="logo-0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13717" y="-240687"/>
            <a:ext cx="1528129" cy="1410177"/>
          </a:xfrm>
          <a:prstGeom prst="rect">
            <a:avLst/>
          </a:prstGeom>
        </p:spPr>
      </p:pic>
      <p:sp>
        <p:nvSpPr>
          <p:cNvPr id="15" name="标题 30"/>
          <p:cNvSpPr>
            <a:spLocks noGrp="1"/>
          </p:cNvSpPr>
          <p:nvPr>
            <p:ph type="title" hasCustomPrompt="1"/>
          </p:nvPr>
        </p:nvSpPr>
        <p:spPr>
          <a:xfrm>
            <a:off x="838200" y="238574"/>
            <a:ext cx="10515600" cy="652815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lang="zh-CN" altLang="en-US" sz="4000" b="1" kern="1200" baseline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altLang="zh-CN" dirty="0"/>
              <a:t>Graph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FA0A-4F56-7846-8893-2A9B52F72480}" type="datetime10">
              <a:rPr kumimoji="1" lang="zh-CN" altLang="en-US" smtClean="0"/>
              <a:t>15:31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E82F-035D-4549-9D51-02841711E3B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5558E-4AA5-3B4E-9B84-933E1ACAABB5}" type="datetime10">
              <a:rPr kumimoji="1" lang="zh-CN" altLang="en-US" smtClean="0"/>
              <a:t>15:31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E82F-035D-4549-9D51-02841711E3B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D1FB6-5C4A-B848-A867-41FB021E1982}" type="datetime10">
              <a:rPr kumimoji="1" lang="zh-CN" altLang="en-US" smtClean="0"/>
              <a:t>15:31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E82F-035D-4549-9D51-02841711E3B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1C788-141A-0B42-BA3B-112577615627}" type="datetime10">
              <a:rPr kumimoji="1" lang="zh-CN" altLang="en-US" smtClean="0"/>
              <a:t>15:31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E82F-035D-4549-9D51-02841711E3B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F1074-C348-4E4D-87C8-3A9C5C93BDC5}" type="datetime10">
              <a:rPr kumimoji="1" lang="zh-CN" altLang="en-US" smtClean="0"/>
              <a:t>15:31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E82F-035D-4549-9D51-02841711E3B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14261-3E1A-1445-B680-7F9710297C73}" type="datetime10">
              <a:rPr kumimoji="1" lang="zh-CN" altLang="en-US" smtClean="0"/>
              <a:t>15:31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E82F-035D-4549-9D51-02841711E3B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gradFill>
          <a:gsLst>
            <a:gs pos="0">
              <a:srgbClr val="3E2146"/>
            </a:gs>
            <a:gs pos="53000">
              <a:srgbClr val="5C0C5C"/>
            </a:gs>
            <a:gs pos="100000">
              <a:srgbClr val="8C4BA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矩形 5"/>
          <p:cNvSpPr/>
          <p:nvPr userDrawn="1"/>
        </p:nvSpPr>
        <p:spPr>
          <a:xfrm>
            <a:off x="0" y="4095750"/>
            <a:ext cx="12192000" cy="276224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97152" name="图片 6" descr="logo_画板 1 副本 3"/>
          <p:cNvPicPr>
            <a:picLocks noChangeAspect="1"/>
          </p:cNvPicPr>
          <p:nvPr userDrawn="1"/>
        </p:nvPicPr>
        <p:blipFill rotWithShape="1">
          <a:blip r:embed="rId2"/>
          <a:srcRect r="81482"/>
          <a:stretch>
            <a:fillRect/>
          </a:stretch>
        </p:blipFill>
        <p:spPr>
          <a:xfrm>
            <a:off x="10009231" y="5183070"/>
            <a:ext cx="2182769" cy="1674929"/>
          </a:xfrm>
          <a:prstGeom prst="rect">
            <a:avLst/>
          </a:prstGeom>
        </p:spPr>
      </p:pic>
      <p:pic>
        <p:nvPicPr>
          <p:cNvPr id="2097153" name="图片 8" descr="logo-0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3908499">
            <a:off x="9156958" y="486375"/>
            <a:ext cx="3385518" cy="3124200"/>
          </a:xfrm>
          <a:prstGeom prst="rect">
            <a:avLst/>
          </a:prstGeom>
        </p:spPr>
      </p:pic>
      <p:pic>
        <p:nvPicPr>
          <p:cNvPr id="2097154" name="图片 19" descr="logo_画板 1 副本 3"/>
          <p:cNvPicPr>
            <a:picLocks noChangeAspect="1"/>
          </p:cNvPicPr>
          <p:nvPr/>
        </p:nvPicPr>
        <p:blipFill rotWithShape="1">
          <a:blip r:embed="rId2"/>
          <a:srcRect l="18481" r="48644"/>
          <a:stretch>
            <a:fillRect/>
          </a:stretch>
        </p:blipFill>
        <p:spPr>
          <a:xfrm flipH="1">
            <a:off x="-1" y="5248767"/>
            <a:ext cx="2933435" cy="1609233"/>
          </a:xfrm>
          <a:prstGeom prst="rect">
            <a:avLst/>
          </a:prstGeom>
        </p:spPr>
      </p:pic>
      <p:sp>
        <p:nvSpPr>
          <p:cNvPr id="1048582" name="标题 30"/>
          <p:cNvSpPr>
            <a:spLocks noGrp="1"/>
          </p:cNvSpPr>
          <p:nvPr>
            <p:ph type="title" hasCustomPrompt="1"/>
          </p:nvPr>
        </p:nvSpPr>
        <p:spPr>
          <a:xfrm>
            <a:off x="2828660" y="2448150"/>
            <a:ext cx="6522873" cy="7056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lang="zh-CN" altLang="en-US" sz="4000" b="0" kern="1200" baseline="0">
                <a:solidFill>
                  <a:schemeClr val="accent4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altLang="zh-CN" dirty="0"/>
              <a:t>Graph</a:t>
            </a:r>
            <a:endParaRPr lang="zh-CN" altLang="en-US" dirty="0"/>
          </a:p>
        </p:txBody>
      </p:sp>
      <p:pic>
        <p:nvPicPr>
          <p:cNvPr id="2097155" name="图片 16" descr="logo-04"/>
          <p:cNvPicPr>
            <a:picLocks noChangeAspect="1"/>
          </p:cNvPicPr>
          <p:nvPr userDrawn="1"/>
        </p:nvPicPr>
        <p:blipFill rotWithShape="1">
          <a:blip r:embed="rId4"/>
          <a:srcRect l="17769" t="34703" r="63008" b="32965"/>
          <a:stretch>
            <a:fillRect/>
          </a:stretch>
        </p:blipFill>
        <p:spPr>
          <a:xfrm>
            <a:off x="375029" y="343100"/>
            <a:ext cx="1491871" cy="16576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矩形 5"/>
          <p:cNvSpPr/>
          <p:nvPr userDrawn="1"/>
        </p:nvSpPr>
        <p:spPr>
          <a:xfrm>
            <a:off x="0" y="6429428"/>
            <a:ext cx="12192000" cy="428571"/>
          </a:xfrm>
          <a:prstGeom prst="rect">
            <a:avLst/>
          </a:prstGeom>
          <a:solidFill>
            <a:srgbClr val="4A19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97156" name="图片 15" descr="logo-04"/>
          <p:cNvPicPr>
            <a:picLocks noChangeAspect="1"/>
          </p:cNvPicPr>
          <p:nvPr userDrawn="1"/>
        </p:nvPicPr>
        <p:blipFill rotWithShape="1">
          <a:blip r:embed="rId4"/>
          <a:srcRect l="17769" t="34703" r="63008" b="32965"/>
          <a:stretch>
            <a:fillRect/>
          </a:stretch>
        </p:blipFill>
        <p:spPr>
          <a:xfrm>
            <a:off x="10719341" y="289490"/>
            <a:ext cx="1099630" cy="1221810"/>
          </a:xfrm>
          <a:prstGeom prst="rect">
            <a:avLst/>
          </a:prstGeom>
        </p:spPr>
      </p:pic>
      <p:pic>
        <p:nvPicPr>
          <p:cNvPr id="2097157" name="图片 306" descr="logo-06 - 副本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5250" y="6368854"/>
            <a:ext cx="1095375" cy="524692"/>
          </a:xfrm>
          <a:prstGeom prst="rect">
            <a:avLst/>
          </a:prstGeom>
        </p:spPr>
      </p:pic>
      <p:sp>
        <p:nvSpPr>
          <p:cNvPr id="1048589" name="灯片编号占位符 311"/>
          <p:cNvSpPr>
            <a:spLocks noGrp="1"/>
          </p:cNvSpPr>
          <p:nvPr>
            <p:ph type="sldNum" sz="quarter" idx="12"/>
          </p:nvPr>
        </p:nvSpPr>
        <p:spPr>
          <a:xfrm>
            <a:off x="9118971" y="6463877"/>
            <a:ext cx="2700000" cy="316800"/>
          </a:xfrm>
        </p:spPr>
        <p:txBody>
          <a:bodyPr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590" name="内容占位符 4"/>
          <p:cNvSpPr>
            <a:spLocks noGrp="1"/>
          </p:cNvSpPr>
          <p:nvPr>
            <p:ph sz="quarter" idx="13"/>
          </p:nvPr>
        </p:nvSpPr>
        <p:spPr>
          <a:xfrm>
            <a:off x="4629150" y="6446863"/>
            <a:ext cx="2600325" cy="3937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占位符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>
              <a:defRPr sz="5400" kern="0" spc="0" baseline="0">
                <a:solidFill>
                  <a:srgbClr val="4A194E"/>
                </a:solidFill>
              </a:defRPr>
            </a:lvl1pPr>
          </a:lstStyle>
          <a:p>
            <a:r>
              <a:rPr lang="en-US" altLang="zh-CN" dirty="0"/>
              <a:t>Datacenter Networks</a:t>
            </a:r>
            <a:endParaRPr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lnSpc>
                <a:spcPct val="100000"/>
              </a:lnSpc>
              <a:defRPr sz="2800" kern="0" spc="0" baseline="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2400" kern="0" spc="0" baseline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 sz="2000" kern="0" spc="0" baseline="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 sz="1800" kern="0" spc="0" baseline="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 sz="1600" kern="0" spc="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zh-CN" dirty="0"/>
              <a:t>Datacenter networks1</a:t>
            </a:r>
            <a:endParaRPr lang="zh-CN" altLang="en-US" dirty="0"/>
          </a:p>
          <a:p>
            <a:pPr lvl="1"/>
            <a:r>
              <a:rPr lang="en-US" altLang="zh-CN" dirty="0"/>
              <a:t>Datacenter networks2</a:t>
            </a:r>
            <a:endParaRPr lang="zh-CN" altLang="en-US" dirty="0"/>
          </a:p>
          <a:p>
            <a:pPr lvl="2"/>
            <a:r>
              <a:rPr lang="en-US" altLang="zh-CN" dirty="0"/>
              <a:t>Datacenter networks3</a:t>
            </a:r>
            <a:endParaRPr lang="zh-CN" altLang="en-US" dirty="0"/>
          </a:p>
          <a:p>
            <a:pPr lvl="3"/>
            <a:r>
              <a:rPr lang="en-US" altLang="zh-CN" dirty="0"/>
              <a:t>Datacenter networks4</a:t>
            </a:r>
            <a:endParaRPr lang="zh-CN" altLang="en-US" dirty="0"/>
          </a:p>
          <a:p>
            <a:pPr lvl="4"/>
            <a:r>
              <a:rPr lang="en-US" altLang="zh-CN" dirty="0"/>
              <a:t>Datacenter networks5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矩形 5"/>
          <p:cNvSpPr/>
          <p:nvPr userDrawn="1"/>
        </p:nvSpPr>
        <p:spPr>
          <a:xfrm>
            <a:off x="0" y="6429428"/>
            <a:ext cx="12192000" cy="428571"/>
          </a:xfrm>
          <a:prstGeom prst="rect">
            <a:avLst/>
          </a:prstGeom>
          <a:solidFill>
            <a:srgbClr val="4A19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97156" name="图片 15" descr="logo-04"/>
          <p:cNvPicPr>
            <a:picLocks noChangeAspect="1"/>
          </p:cNvPicPr>
          <p:nvPr userDrawn="1"/>
        </p:nvPicPr>
        <p:blipFill rotWithShape="1">
          <a:blip r:embed="rId4"/>
          <a:srcRect l="17769" t="34703" r="63008" b="32965"/>
          <a:stretch>
            <a:fillRect/>
          </a:stretch>
        </p:blipFill>
        <p:spPr>
          <a:xfrm>
            <a:off x="10719341" y="289490"/>
            <a:ext cx="1099630" cy="1221810"/>
          </a:xfrm>
          <a:prstGeom prst="rect">
            <a:avLst/>
          </a:prstGeom>
        </p:spPr>
      </p:pic>
      <p:pic>
        <p:nvPicPr>
          <p:cNvPr id="2097157" name="图片 306" descr="logo-06 - 副本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5250" y="6368854"/>
            <a:ext cx="1095375" cy="524692"/>
          </a:xfrm>
          <a:prstGeom prst="rect">
            <a:avLst/>
          </a:prstGeom>
        </p:spPr>
      </p:pic>
      <p:sp>
        <p:nvSpPr>
          <p:cNvPr id="1048589" name="灯片编号占位符 311"/>
          <p:cNvSpPr>
            <a:spLocks noGrp="1"/>
          </p:cNvSpPr>
          <p:nvPr>
            <p:ph type="sldNum" sz="quarter" idx="12"/>
          </p:nvPr>
        </p:nvSpPr>
        <p:spPr>
          <a:xfrm>
            <a:off x="9118971" y="6463877"/>
            <a:ext cx="2700000" cy="316800"/>
          </a:xfrm>
        </p:spPr>
        <p:txBody>
          <a:bodyPr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标题占位符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>
              <a:defRPr sz="5400" kern="0" spc="0" baseline="0">
                <a:solidFill>
                  <a:srgbClr val="4A194E"/>
                </a:solidFill>
              </a:defRPr>
            </a:lvl1pPr>
          </a:lstStyle>
          <a:p>
            <a:r>
              <a:rPr lang="en-US" altLang="zh-CN" dirty="0"/>
              <a:t>Datacenter Networks</a:t>
            </a:r>
            <a:endParaRPr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lnSpc>
                <a:spcPct val="100000"/>
              </a:lnSpc>
              <a:defRPr sz="2800" kern="0" spc="0" baseline="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2400" kern="0" spc="0" baseline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 sz="2000" kern="0" spc="0" baseline="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 sz="1800" kern="0" spc="0" baseline="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 sz="1600" kern="0" spc="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zh-CN" dirty="0"/>
              <a:t>Datacenter networks1</a:t>
            </a:r>
            <a:endParaRPr lang="zh-CN" altLang="en-US" dirty="0"/>
          </a:p>
          <a:p>
            <a:pPr lvl="1"/>
            <a:r>
              <a:rPr lang="en-US" altLang="zh-CN" dirty="0"/>
              <a:t>Datacenter networks2</a:t>
            </a:r>
            <a:endParaRPr lang="zh-CN" altLang="en-US" dirty="0"/>
          </a:p>
          <a:p>
            <a:pPr lvl="2"/>
            <a:r>
              <a:rPr lang="en-US" altLang="zh-CN" dirty="0"/>
              <a:t>Datacenter networks3</a:t>
            </a:r>
            <a:endParaRPr lang="zh-CN" altLang="en-US" dirty="0"/>
          </a:p>
          <a:p>
            <a:pPr lvl="3"/>
            <a:r>
              <a:rPr lang="en-US" altLang="zh-CN" dirty="0"/>
              <a:t>Datacenter networks4</a:t>
            </a:r>
            <a:endParaRPr lang="zh-CN" altLang="en-US" dirty="0"/>
          </a:p>
          <a:p>
            <a:pPr lvl="4"/>
            <a:r>
              <a:rPr lang="en-US" altLang="zh-CN" dirty="0"/>
              <a:t>Datacenter networks5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矩形 5"/>
          <p:cNvSpPr/>
          <p:nvPr userDrawn="1"/>
        </p:nvSpPr>
        <p:spPr>
          <a:xfrm>
            <a:off x="0" y="6429428"/>
            <a:ext cx="12192000" cy="428571"/>
          </a:xfrm>
          <a:prstGeom prst="rect">
            <a:avLst/>
          </a:prstGeom>
          <a:solidFill>
            <a:srgbClr val="4A19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97156" name="图片 15" descr="logo-04"/>
          <p:cNvPicPr>
            <a:picLocks noChangeAspect="1"/>
          </p:cNvPicPr>
          <p:nvPr userDrawn="1"/>
        </p:nvPicPr>
        <p:blipFill rotWithShape="1">
          <a:blip r:embed="rId4"/>
          <a:srcRect l="17769" t="34703" r="63008" b="32965"/>
          <a:stretch>
            <a:fillRect/>
          </a:stretch>
        </p:blipFill>
        <p:spPr>
          <a:xfrm>
            <a:off x="10719341" y="289490"/>
            <a:ext cx="1099630" cy="1221810"/>
          </a:xfrm>
          <a:prstGeom prst="rect">
            <a:avLst/>
          </a:prstGeom>
        </p:spPr>
      </p:pic>
      <p:pic>
        <p:nvPicPr>
          <p:cNvPr id="2097157" name="图片 306" descr="logo-06 - 副本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5250" y="6368854"/>
            <a:ext cx="1095375" cy="524692"/>
          </a:xfrm>
          <a:prstGeom prst="rect">
            <a:avLst/>
          </a:prstGeom>
        </p:spPr>
      </p:pic>
      <p:sp>
        <p:nvSpPr>
          <p:cNvPr id="1048589" name="灯片编号占位符 311"/>
          <p:cNvSpPr>
            <a:spLocks noGrp="1"/>
          </p:cNvSpPr>
          <p:nvPr>
            <p:ph type="sldNum" sz="quarter" idx="12"/>
          </p:nvPr>
        </p:nvSpPr>
        <p:spPr>
          <a:xfrm>
            <a:off x="10879667" y="6463877"/>
            <a:ext cx="939304" cy="316800"/>
          </a:xfrm>
        </p:spPr>
        <p:txBody>
          <a:bodyPr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标题占位符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>
              <a:defRPr sz="4000" kern="0" spc="0" baseline="0">
                <a:solidFill>
                  <a:srgbClr val="4A194E"/>
                </a:solidFill>
              </a:defRPr>
            </a:lvl1pPr>
          </a:lstStyle>
          <a:p>
            <a:r>
              <a:rPr lang="en-US" altLang="zh-CN" dirty="0"/>
              <a:t>Datacenter Networks</a:t>
            </a:r>
            <a:endParaRPr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lnSpc>
                <a:spcPct val="100000"/>
              </a:lnSpc>
              <a:defRPr sz="2800" kern="0" spc="0" baseline="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2400" kern="0" spc="0" baseline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 sz="2000" kern="0" spc="0" baseline="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 sz="1800" kern="0" spc="0" baseline="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 sz="1600" kern="0" spc="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zh-CN" dirty="0"/>
              <a:t>Datacenter networks1</a:t>
            </a:r>
            <a:endParaRPr lang="zh-CN" altLang="en-US" dirty="0"/>
          </a:p>
          <a:p>
            <a:pPr lvl="1"/>
            <a:r>
              <a:rPr lang="en-US" altLang="zh-CN" dirty="0"/>
              <a:t>Datacenter networks2</a:t>
            </a:r>
            <a:endParaRPr lang="zh-CN" altLang="en-US" dirty="0"/>
          </a:p>
          <a:p>
            <a:pPr lvl="2"/>
            <a:r>
              <a:rPr lang="en-US" altLang="zh-CN" dirty="0"/>
              <a:t>Datacenter networks3</a:t>
            </a:r>
            <a:endParaRPr lang="zh-CN" altLang="en-US" dirty="0"/>
          </a:p>
          <a:p>
            <a:pPr lvl="3"/>
            <a:r>
              <a:rPr lang="en-US" altLang="zh-CN" dirty="0"/>
              <a:t>Datacenter networks4</a:t>
            </a:r>
            <a:endParaRPr lang="zh-CN" altLang="en-US" dirty="0"/>
          </a:p>
          <a:p>
            <a:pPr lvl="4"/>
            <a:r>
              <a:rPr lang="en-US" altLang="zh-CN" dirty="0"/>
              <a:t>Datacenter networks5</a:t>
            </a:r>
            <a:endParaRPr lang="zh-CN" altLang="en-US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745067" y="6461923"/>
            <a:ext cx="21251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1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背景介绍</a:t>
            </a: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636201" y="6474436"/>
            <a:ext cx="21251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工作介绍</a:t>
            </a: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8527335" y="6474436"/>
            <a:ext cx="21251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总结与展望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799667" y="6496190"/>
            <a:ext cx="2015931" cy="316800"/>
          </a:xfrm>
          <a:prstGeom prst="rect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>
          <a:xfrm>
            <a:off x="4690801" y="6500140"/>
            <a:ext cx="2015931" cy="3168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 userDrawn="1"/>
        </p:nvSpPr>
        <p:spPr>
          <a:xfrm>
            <a:off x="8581935" y="6496190"/>
            <a:ext cx="2015931" cy="3168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矩形 5"/>
          <p:cNvSpPr/>
          <p:nvPr userDrawn="1"/>
        </p:nvSpPr>
        <p:spPr>
          <a:xfrm>
            <a:off x="0" y="6429428"/>
            <a:ext cx="12192000" cy="428571"/>
          </a:xfrm>
          <a:prstGeom prst="rect">
            <a:avLst/>
          </a:prstGeom>
          <a:solidFill>
            <a:srgbClr val="4A19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97156" name="图片 15" descr="logo-04"/>
          <p:cNvPicPr>
            <a:picLocks noChangeAspect="1"/>
          </p:cNvPicPr>
          <p:nvPr userDrawn="1"/>
        </p:nvPicPr>
        <p:blipFill rotWithShape="1">
          <a:blip r:embed="rId4"/>
          <a:srcRect l="17769" t="34703" r="63008" b="32965"/>
          <a:stretch>
            <a:fillRect/>
          </a:stretch>
        </p:blipFill>
        <p:spPr>
          <a:xfrm>
            <a:off x="10719341" y="289490"/>
            <a:ext cx="1099630" cy="1221810"/>
          </a:xfrm>
          <a:prstGeom prst="rect">
            <a:avLst/>
          </a:prstGeom>
        </p:spPr>
      </p:pic>
      <p:sp>
        <p:nvSpPr>
          <p:cNvPr id="1048589" name="灯片编号占位符 311"/>
          <p:cNvSpPr>
            <a:spLocks noGrp="1"/>
          </p:cNvSpPr>
          <p:nvPr>
            <p:ph type="sldNum" sz="quarter" idx="12"/>
          </p:nvPr>
        </p:nvSpPr>
        <p:spPr>
          <a:xfrm>
            <a:off x="10879667" y="6463877"/>
            <a:ext cx="939304" cy="316800"/>
          </a:xfrm>
        </p:spPr>
        <p:txBody>
          <a:bodyPr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标题占位符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>
              <a:defRPr sz="4000" kern="0" spc="0" baseline="0">
                <a:solidFill>
                  <a:srgbClr val="4A194E"/>
                </a:solidFill>
              </a:defRPr>
            </a:lvl1pPr>
          </a:lstStyle>
          <a:p>
            <a:r>
              <a:rPr lang="en-US" altLang="zh-CN" dirty="0"/>
              <a:t>Datacenter Networks</a:t>
            </a:r>
            <a:endParaRPr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lnSpc>
                <a:spcPct val="100000"/>
              </a:lnSpc>
              <a:defRPr sz="2800" kern="0" spc="0" baseline="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2400" kern="0" spc="0" baseline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 sz="2000" kern="0" spc="0" baseline="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 sz="1800" kern="0" spc="0" baseline="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 sz="1600" kern="0" spc="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zh-CN" dirty="0"/>
              <a:t>Datacenter networks1</a:t>
            </a:r>
            <a:endParaRPr lang="zh-CN" altLang="en-US" dirty="0"/>
          </a:p>
          <a:p>
            <a:pPr lvl="1"/>
            <a:r>
              <a:rPr lang="en-US" altLang="zh-CN" dirty="0"/>
              <a:t>Datacenter networks2</a:t>
            </a:r>
            <a:endParaRPr lang="zh-CN" altLang="en-US" dirty="0"/>
          </a:p>
          <a:p>
            <a:pPr lvl="2"/>
            <a:r>
              <a:rPr lang="en-US" altLang="zh-CN" dirty="0"/>
              <a:t>Datacenter networks3</a:t>
            </a:r>
            <a:endParaRPr lang="zh-CN" altLang="en-US" dirty="0"/>
          </a:p>
          <a:p>
            <a:pPr lvl="3"/>
            <a:r>
              <a:rPr lang="en-US" altLang="zh-CN" dirty="0"/>
              <a:t>Datacenter networks4</a:t>
            </a:r>
            <a:endParaRPr lang="zh-CN" altLang="en-US" dirty="0"/>
          </a:p>
          <a:p>
            <a:pPr lvl="4"/>
            <a:r>
              <a:rPr lang="en-US" altLang="zh-CN" dirty="0"/>
              <a:t>Datacenter networks5</a:t>
            </a:r>
            <a:endParaRPr lang="zh-CN" altLang="en-US" dirty="0"/>
          </a:p>
        </p:txBody>
      </p:sp>
      <p:pic>
        <p:nvPicPr>
          <p:cNvPr id="13" name="图片 306" descr="logo-06 - 副本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5250" y="6368854"/>
            <a:ext cx="1095375" cy="524692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745067" y="6461923"/>
            <a:ext cx="21251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背景介绍</a:t>
            </a: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4636201" y="6474436"/>
            <a:ext cx="21251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1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工作介绍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8527335" y="6474436"/>
            <a:ext cx="21251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总结与展望</a:t>
            </a:r>
          </a:p>
        </p:txBody>
      </p:sp>
      <p:sp>
        <p:nvSpPr>
          <p:cNvPr id="17" name="矩形 16"/>
          <p:cNvSpPr/>
          <p:nvPr userDrawn="1"/>
        </p:nvSpPr>
        <p:spPr>
          <a:xfrm>
            <a:off x="799667" y="6487650"/>
            <a:ext cx="2015931" cy="3168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4690801" y="6500140"/>
            <a:ext cx="2015931" cy="316800"/>
          </a:xfrm>
          <a:prstGeom prst="rect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8581935" y="6496190"/>
            <a:ext cx="2015931" cy="3168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矩形 5"/>
          <p:cNvSpPr/>
          <p:nvPr userDrawn="1"/>
        </p:nvSpPr>
        <p:spPr>
          <a:xfrm>
            <a:off x="0" y="6429428"/>
            <a:ext cx="12192000" cy="428571"/>
          </a:xfrm>
          <a:prstGeom prst="rect">
            <a:avLst/>
          </a:prstGeom>
          <a:solidFill>
            <a:srgbClr val="4A19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97156" name="图片 15" descr="logo-04"/>
          <p:cNvPicPr>
            <a:picLocks noChangeAspect="1"/>
          </p:cNvPicPr>
          <p:nvPr userDrawn="1"/>
        </p:nvPicPr>
        <p:blipFill rotWithShape="1">
          <a:blip r:embed="rId4"/>
          <a:srcRect l="17769" t="34703" r="63008" b="32965"/>
          <a:stretch>
            <a:fillRect/>
          </a:stretch>
        </p:blipFill>
        <p:spPr>
          <a:xfrm>
            <a:off x="10719341" y="289490"/>
            <a:ext cx="1099630" cy="1221810"/>
          </a:xfrm>
          <a:prstGeom prst="rect">
            <a:avLst/>
          </a:prstGeom>
        </p:spPr>
      </p:pic>
      <p:sp>
        <p:nvSpPr>
          <p:cNvPr id="1048589" name="灯片编号占位符 311"/>
          <p:cNvSpPr>
            <a:spLocks noGrp="1"/>
          </p:cNvSpPr>
          <p:nvPr>
            <p:ph type="sldNum" sz="quarter" idx="12"/>
          </p:nvPr>
        </p:nvSpPr>
        <p:spPr>
          <a:xfrm>
            <a:off x="10879667" y="6463877"/>
            <a:ext cx="939304" cy="316800"/>
          </a:xfrm>
        </p:spPr>
        <p:txBody>
          <a:bodyPr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标题占位符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>
              <a:defRPr sz="4000" kern="0" spc="0" baseline="0">
                <a:solidFill>
                  <a:srgbClr val="4A194E"/>
                </a:solidFill>
              </a:defRPr>
            </a:lvl1pPr>
          </a:lstStyle>
          <a:p>
            <a:r>
              <a:rPr lang="en-US" altLang="zh-CN" dirty="0"/>
              <a:t>Datacenter Networks</a:t>
            </a:r>
            <a:endParaRPr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lnSpc>
                <a:spcPct val="100000"/>
              </a:lnSpc>
              <a:defRPr sz="2800" kern="0" spc="0" baseline="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2400" kern="0" spc="0" baseline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 sz="2000" kern="0" spc="0" baseline="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 sz="1800" kern="0" spc="0" baseline="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 sz="1600" kern="0" spc="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zh-CN" dirty="0"/>
              <a:t>Datacenter networks1</a:t>
            </a:r>
            <a:endParaRPr lang="zh-CN" altLang="en-US" dirty="0"/>
          </a:p>
          <a:p>
            <a:pPr lvl="1"/>
            <a:r>
              <a:rPr lang="en-US" altLang="zh-CN" dirty="0"/>
              <a:t>Datacenter networks2</a:t>
            </a:r>
            <a:endParaRPr lang="zh-CN" altLang="en-US" dirty="0"/>
          </a:p>
          <a:p>
            <a:pPr lvl="2"/>
            <a:r>
              <a:rPr lang="en-US" altLang="zh-CN" dirty="0"/>
              <a:t>Datacenter networks3</a:t>
            </a:r>
            <a:endParaRPr lang="zh-CN" altLang="en-US" dirty="0"/>
          </a:p>
          <a:p>
            <a:pPr lvl="3"/>
            <a:r>
              <a:rPr lang="en-US" altLang="zh-CN" dirty="0"/>
              <a:t>Datacenter networks4</a:t>
            </a:r>
            <a:endParaRPr lang="zh-CN" altLang="en-US" dirty="0"/>
          </a:p>
          <a:p>
            <a:pPr lvl="4"/>
            <a:r>
              <a:rPr lang="en-US" altLang="zh-CN" dirty="0"/>
              <a:t>Datacenter networks5</a:t>
            </a:r>
            <a:endParaRPr lang="zh-CN" altLang="en-US" dirty="0"/>
          </a:p>
        </p:txBody>
      </p:sp>
      <p:pic>
        <p:nvPicPr>
          <p:cNvPr id="13" name="图片 306" descr="logo-06 - 副本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5250" y="6368854"/>
            <a:ext cx="1095375" cy="524692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745067" y="6461923"/>
            <a:ext cx="21251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背景介绍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8527335" y="6474436"/>
            <a:ext cx="21251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总结与展望</a:t>
            </a:r>
          </a:p>
        </p:txBody>
      </p:sp>
      <p:sp>
        <p:nvSpPr>
          <p:cNvPr id="17" name="矩形 16"/>
          <p:cNvSpPr/>
          <p:nvPr userDrawn="1"/>
        </p:nvSpPr>
        <p:spPr>
          <a:xfrm>
            <a:off x="799667" y="6487650"/>
            <a:ext cx="2015931" cy="3168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371550" y="6474436"/>
            <a:ext cx="2654435" cy="584775"/>
            <a:chOff x="4570669" y="6499129"/>
            <a:chExt cx="2351602" cy="584775"/>
          </a:xfrm>
        </p:grpSpPr>
        <p:sp>
          <p:nvSpPr>
            <p:cNvPr id="15" name="文本框 14"/>
            <p:cNvSpPr txBox="1"/>
            <p:nvPr userDrawn="1"/>
          </p:nvSpPr>
          <p:spPr>
            <a:xfrm>
              <a:off x="4570669" y="6499129"/>
              <a:ext cx="235160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zh-CN" alt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黑体" panose="02010609060101010101" pitchFamily="49" charset="-122"/>
                  <a:cs typeface="Calibri" panose="020F0502020204030204" pitchFamily="34" charset="0"/>
                </a:rPr>
                <a:t>主动式拥塞控制协议</a:t>
              </a:r>
              <a:r>
                <a:rPr lang="en-US" altLang="zh-CN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: </a:t>
              </a:r>
              <a:r>
                <a:rPr lang="en-US" altLang="zh-CN" sz="1600" dirty="0" err="1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ToCC</a:t>
              </a:r>
              <a:endParaRPr lang="zh-CN" altLang="en-US" sz="160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4570669" y="6513964"/>
              <a:ext cx="2351602" cy="316800"/>
            </a:xfrm>
            <a:prstGeom prst="rect">
              <a:avLst/>
            </a:prstGeom>
            <a:noFill/>
            <a:ln>
              <a:solidFill>
                <a:schemeClr val="bg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 userDrawn="1"/>
        </p:nvSpPr>
        <p:spPr>
          <a:xfrm>
            <a:off x="8581935" y="6496190"/>
            <a:ext cx="2015931" cy="3168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ydeb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矩形 5"/>
          <p:cNvSpPr/>
          <p:nvPr userDrawn="1"/>
        </p:nvSpPr>
        <p:spPr>
          <a:xfrm>
            <a:off x="0" y="6429428"/>
            <a:ext cx="12192000" cy="428571"/>
          </a:xfrm>
          <a:prstGeom prst="rect">
            <a:avLst/>
          </a:prstGeom>
          <a:solidFill>
            <a:srgbClr val="4A19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97156" name="图片 15" descr="logo-04"/>
          <p:cNvPicPr>
            <a:picLocks noChangeAspect="1"/>
          </p:cNvPicPr>
          <p:nvPr userDrawn="1"/>
        </p:nvPicPr>
        <p:blipFill rotWithShape="1">
          <a:blip r:embed="rId4"/>
          <a:srcRect l="17769" t="34703" r="63008" b="32965"/>
          <a:stretch>
            <a:fillRect/>
          </a:stretch>
        </p:blipFill>
        <p:spPr>
          <a:xfrm>
            <a:off x="10719341" y="289490"/>
            <a:ext cx="1099630" cy="1221810"/>
          </a:xfrm>
          <a:prstGeom prst="rect">
            <a:avLst/>
          </a:prstGeom>
        </p:spPr>
      </p:pic>
      <p:sp>
        <p:nvSpPr>
          <p:cNvPr id="1048589" name="灯片编号占位符 311"/>
          <p:cNvSpPr>
            <a:spLocks noGrp="1"/>
          </p:cNvSpPr>
          <p:nvPr>
            <p:ph type="sldNum" sz="quarter" idx="12"/>
          </p:nvPr>
        </p:nvSpPr>
        <p:spPr>
          <a:xfrm>
            <a:off x="10879667" y="6463877"/>
            <a:ext cx="939304" cy="316800"/>
          </a:xfrm>
        </p:spPr>
        <p:txBody>
          <a:bodyPr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标题占位符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>
              <a:defRPr sz="4000" kern="0" spc="0" baseline="0">
                <a:solidFill>
                  <a:srgbClr val="4A194E"/>
                </a:solidFill>
              </a:defRPr>
            </a:lvl1pPr>
          </a:lstStyle>
          <a:p>
            <a:r>
              <a:rPr lang="en-US" altLang="zh-CN" dirty="0"/>
              <a:t>Datacenter Networks</a:t>
            </a:r>
            <a:endParaRPr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lnSpc>
                <a:spcPct val="100000"/>
              </a:lnSpc>
              <a:defRPr sz="2800" kern="0" spc="0" baseline="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2400" kern="0" spc="0" baseline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 sz="2000" kern="0" spc="0" baseline="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 sz="1800" kern="0" spc="0" baseline="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 sz="1600" kern="0" spc="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zh-CN" dirty="0"/>
              <a:t>Datacenter networks1</a:t>
            </a:r>
            <a:endParaRPr lang="zh-CN" altLang="en-US" dirty="0"/>
          </a:p>
          <a:p>
            <a:pPr lvl="1"/>
            <a:r>
              <a:rPr lang="en-US" altLang="zh-CN" dirty="0"/>
              <a:t>Datacenter networks2</a:t>
            </a:r>
            <a:endParaRPr lang="zh-CN" altLang="en-US" dirty="0"/>
          </a:p>
          <a:p>
            <a:pPr lvl="2"/>
            <a:r>
              <a:rPr lang="en-US" altLang="zh-CN" dirty="0"/>
              <a:t>Datacenter networks3</a:t>
            </a:r>
            <a:endParaRPr lang="zh-CN" altLang="en-US" dirty="0"/>
          </a:p>
          <a:p>
            <a:pPr lvl="3"/>
            <a:r>
              <a:rPr lang="en-US" altLang="zh-CN" dirty="0"/>
              <a:t>Datacenter networks4</a:t>
            </a:r>
            <a:endParaRPr lang="zh-CN" altLang="en-US" dirty="0"/>
          </a:p>
          <a:p>
            <a:pPr lvl="4"/>
            <a:r>
              <a:rPr lang="en-US" altLang="zh-CN" dirty="0"/>
              <a:t>Datacenter networks5</a:t>
            </a:r>
            <a:endParaRPr lang="zh-CN" altLang="en-US" dirty="0"/>
          </a:p>
        </p:txBody>
      </p:sp>
      <p:pic>
        <p:nvPicPr>
          <p:cNvPr id="13" name="图片 306" descr="logo-06 - 副本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5250" y="6368854"/>
            <a:ext cx="1095375" cy="524692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745067" y="6461923"/>
            <a:ext cx="21251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背景介绍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8527335" y="6474436"/>
            <a:ext cx="21251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总结与展望</a:t>
            </a:r>
          </a:p>
        </p:txBody>
      </p:sp>
      <p:sp>
        <p:nvSpPr>
          <p:cNvPr id="17" name="矩形 16"/>
          <p:cNvSpPr/>
          <p:nvPr userDrawn="1"/>
        </p:nvSpPr>
        <p:spPr>
          <a:xfrm>
            <a:off x="799667" y="6487650"/>
            <a:ext cx="2015931" cy="3168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4331642" y="6485313"/>
            <a:ext cx="2788852" cy="338554"/>
            <a:chOff x="4272536" y="6485313"/>
            <a:chExt cx="2788852" cy="338554"/>
          </a:xfrm>
        </p:grpSpPr>
        <p:sp>
          <p:nvSpPr>
            <p:cNvPr id="15" name="文本框 14"/>
            <p:cNvSpPr txBox="1"/>
            <p:nvPr userDrawn="1"/>
          </p:nvSpPr>
          <p:spPr>
            <a:xfrm>
              <a:off x="4272536" y="6485313"/>
              <a:ext cx="27888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zh-CN" alt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黑体" panose="02010609060101010101" pitchFamily="49" charset="-122"/>
                  <a:cs typeface="Calibri" panose="020F0502020204030204" pitchFamily="34" charset="0"/>
                </a:rPr>
                <a:t>微突发场景处理协议</a:t>
              </a:r>
              <a:r>
                <a:rPr lang="en-US" altLang="zh-CN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: </a:t>
              </a:r>
              <a:r>
                <a:rPr lang="en-US" altLang="zh-CN" sz="1600" dirty="0" err="1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Paydebt</a:t>
              </a:r>
              <a:endParaRPr lang="zh-CN" altLang="en-US" sz="160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4304341" y="6487978"/>
              <a:ext cx="2725242" cy="316800"/>
            </a:xfrm>
            <a:prstGeom prst="rect">
              <a:avLst/>
            </a:prstGeom>
            <a:noFill/>
            <a:ln>
              <a:solidFill>
                <a:schemeClr val="bg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 userDrawn="1"/>
        </p:nvSpPr>
        <p:spPr>
          <a:xfrm>
            <a:off x="8581935" y="6496190"/>
            <a:ext cx="2015931" cy="3168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odg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矩形 5"/>
          <p:cNvSpPr/>
          <p:nvPr userDrawn="1"/>
        </p:nvSpPr>
        <p:spPr>
          <a:xfrm>
            <a:off x="0" y="6429428"/>
            <a:ext cx="12192000" cy="428571"/>
          </a:xfrm>
          <a:prstGeom prst="rect">
            <a:avLst/>
          </a:prstGeom>
          <a:solidFill>
            <a:srgbClr val="4A19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97156" name="图片 15" descr="logo-04"/>
          <p:cNvPicPr>
            <a:picLocks noChangeAspect="1"/>
          </p:cNvPicPr>
          <p:nvPr userDrawn="1"/>
        </p:nvPicPr>
        <p:blipFill rotWithShape="1">
          <a:blip r:embed="rId4"/>
          <a:srcRect l="17769" t="34703" r="63008" b="32965"/>
          <a:stretch>
            <a:fillRect/>
          </a:stretch>
        </p:blipFill>
        <p:spPr>
          <a:xfrm>
            <a:off x="10719341" y="289490"/>
            <a:ext cx="1099630" cy="1221810"/>
          </a:xfrm>
          <a:prstGeom prst="rect">
            <a:avLst/>
          </a:prstGeom>
        </p:spPr>
      </p:pic>
      <p:sp>
        <p:nvSpPr>
          <p:cNvPr id="1048589" name="灯片编号占位符 311"/>
          <p:cNvSpPr>
            <a:spLocks noGrp="1"/>
          </p:cNvSpPr>
          <p:nvPr>
            <p:ph type="sldNum" sz="quarter" idx="12"/>
          </p:nvPr>
        </p:nvSpPr>
        <p:spPr>
          <a:xfrm>
            <a:off x="10879667" y="6463877"/>
            <a:ext cx="939304" cy="316800"/>
          </a:xfrm>
        </p:spPr>
        <p:txBody>
          <a:bodyPr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标题占位符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>
              <a:defRPr sz="4000" kern="0" spc="0" baseline="0">
                <a:solidFill>
                  <a:srgbClr val="4A194E"/>
                </a:solidFill>
              </a:defRPr>
            </a:lvl1pPr>
          </a:lstStyle>
          <a:p>
            <a:r>
              <a:rPr lang="en-US" altLang="zh-CN" dirty="0"/>
              <a:t>Datacenter Networks</a:t>
            </a:r>
            <a:endParaRPr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lnSpc>
                <a:spcPct val="100000"/>
              </a:lnSpc>
              <a:defRPr sz="2800" kern="0" spc="0" baseline="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2400" kern="0" spc="0" baseline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 sz="2000" kern="0" spc="0" baseline="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 sz="1800" kern="0" spc="0" baseline="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 sz="1600" kern="0" spc="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zh-CN" dirty="0"/>
              <a:t>Datacenter networks1</a:t>
            </a:r>
            <a:endParaRPr lang="zh-CN" altLang="en-US" dirty="0"/>
          </a:p>
          <a:p>
            <a:pPr lvl="1"/>
            <a:r>
              <a:rPr lang="en-US" altLang="zh-CN" dirty="0"/>
              <a:t>Datacenter networks2</a:t>
            </a:r>
            <a:endParaRPr lang="zh-CN" altLang="en-US" dirty="0"/>
          </a:p>
          <a:p>
            <a:pPr lvl="2"/>
            <a:r>
              <a:rPr lang="en-US" altLang="zh-CN" dirty="0"/>
              <a:t>Datacenter networks3</a:t>
            </a:r>
            <a:endParaRPr lang="zh-CN" altLang="en-US" dirty="0"/>
          </a:p>
          <a:p>
            <a:pPr lvl="3"/>
            <a:r>
              <a:rPr lang="en-US" altLang="zh-CN" dirty="0"/>
              <a:t>Datacenter networks4</a:t>
            </a:r>
            <a:endParaRPr lang="zh-CN" altLang="en-US" dirty="0"/>
          </a:p>
          <a:p>
            <a:pPr lvl="4"/>
            <a:r>
              <a:rPr lang="en-US" altLang="zh-CN" dirty="0"/>
              <a:t>Datacenter networks5</a:t>
            </a:r>
            <a:endParaRPr lang="zh-CN" altLang="en-US" dirty="0"/>
          </a:p>
        </p:txBody>
      </p:sp>
      <p:pic>
        <p:nvPicPr>
          <p:cNvPr id="13" name="图片 306" descr="logo-06 - 副本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5250" y="6368854"/>
            <a:ext cx="1095375" cy="524692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745067" y="6461923"/>
            <a:ext cx="21251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背景介绍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8527335" y="6474436"/>
            <a:ext cx="21251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总结与展望</a:t>
            </a:r>
          </a:p>
        </p:txBody>
      </p:sp>
      <p:sp>
        <p:nvSpPr>
          <p:cNvPr id="17" name="矩形 16"/>
          <p:cNvSpPr/>
          <p:nvPr userDrawn="1"/>
        </p:nvSpPr>
        <p:spPr>
          <a:xfrm>
            <a:off x="799667" y="6487650"/>
            <a:ext cx="2015931" cy="3168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207994" y="6487650"/>
            <a:ext cx="3036148" cy="338554"/>
            <a:chOff x="4314171" y="6487650"/>
            <a:chExt cx="3036148" cy="338554"/>
          </a:xfrm>
        </p:grpSpPr>
        <p:sp>
          <p:nvSpPr>
            <p:cNvPr id="15" name="文本框 14"/>
            <p:cNvSpPr txBox="1"/>
            <p:nvPr userDrawn="1"/>
          </p:nvSpPr>
          <p:spPr>
            <a:xfrm>
              <a:off x="4314171" y="6487650"/>
              <a:ext cx="30361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zh-CN" alt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黑体" panose="02010609060101010101" pitchFamily="49" charset="-122"/>
                  <a:cs typeface="Calibri" panose="020F0502020204030204" pitchFamily="34" charset="0"/>
                </a:rPr>
                <a:t>大规模突发流控协议</a:t>
              </a:r>
              <a:r>
                <a:rPr lang="en-US" altLang="zh-CN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: Floodgate</a:t>
              </a:r>
              <a:endParaRPr lang="zh-CN" altLang="en-US" sz="160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4367951" y="6487978"/>
              <a:ext cx="2928588" cy="316800"/>
            </a:xfrm>
            <a:prstGeom prst="rect">
              <a:avLst/>
            </a:prstGeom>
            <a:noFill/>
            <a:ln>
              <a:solidFill>
                <a:schemeClr val="bg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 userDrawn="1"/>
        </p:nvSpPr>
        <p:spPr>
          <a:xfrm>
            <a:off x="8581935" y="6496190"/>
            <a:ext cx="2015931" cy="3168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矩形 5"/>
          <p:cNvSpPr/>
          <p:nvPr userDrawn="1"/>
        </p:nvSpPr>
        <p:spPr>
          <a:xfrm>
            <a:off x="0" y="6429428"/>
            <a:ext cx="12192000" cy="428571"/>
          </a:xfrm>
          <a:prstGeom prst="rect">
            <a:avLst/>
          </a:prstGeom>
          <a:solidFill>
            <a:srgbClr val="4A19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97156" name="图片 15" descr="logo-04"/>
          <p:cNvPicPr>
            <a:picLocks noChangeAspect="1"/>
          </p:cNvPicPr>
          <p:nvPr userDrawn="1"/>
        </p:nvPicPr>
        <p:blipFill rotWithShape="1">
          <a:blip r:embed="rId4"/>
          <a:srcRect l="17769" t="34703" r="63008" b="32965"/>
          <a:stretch>
            <a:fillRect/>
          </a:stretch>
        </p:blipFill>
        <p:spPr>
          <a:xfrm>
            <a:off x="10719341" y="289490"/>
            <a:ext cx="1099630" cy="1221810"/>
          </a:xfrm>
          <a:prstGeom prst="rect">
            <a:avLst/>
          </a:prstGeom>
        </p:spPr>
      </p:pic>
      <p:sp>
        <p:nvSpPr>
          <p:cNvPr id="1048589" name="灯片编号占位符 311"/>
          <p:cNvSpPr>
            <a:spLocks noGrp="1"/>
          </p:cNvSpPr>
          <p:nvPr>
            <p:ph type="sldNum" sz="quarter" idx="12"/>
          </p:nvPr>
        </p:nvSpPr>
        <p:spPr>
          <a:xfrm>
            <a:off x="10879667" y="6463877"/>
            <a:ext cx="939304" cy="316800"/>
          </a:xfrm>
        </p:spPr>
        <p:txBody>
          <a:bodyPr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标题占位符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>
              <a:defRPr sz="4000" kern="0" spc="0" baseline="0">
                <a:solidFill>
                  <a:srgbClr val="4A194E"/>
                </a:solidFill>
              </a:defRPr>
            </a:lvl1pPr>
          </a:lstStyle>
          <a:p>
            <a:r>
              <a:rPr lang="en-US" altLang="zh-CN" dirty="0"/>
              <a:t>Datacenter Networks</a:t>
            </a:r>
            <a:endParaRPr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lnSpc>
                <a:spcPct val="100000"/>
              </a:lnSpc>
              <a:defRPr sz="2800" kern="0" spc="0" baseline="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2400" kern="0" spc="0" baseline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 sz="2000" kern="0" spc="0" baseline="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 sz="1800" kern="0" spc="0" baseline="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 sz="1600" kern="0" spc="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zh-CN" dirty="0"/>
              <a:t>Datacenter networks1</a:t>
            </a:r>
            <a:endParaRPr lang="zh-CN" altLang="en-US" dirty="0"/>
          </a:p>
          <a:p>
            <a:pPr lvl="1"/>
            <a:r>
              <a:rPr lang="en-US" altLang="zh-CN" dirty="0"/>
              <a:t>Datacenter networks2</a:t>
            </a:r>
            <a:endParaRPr lang="zh-CN" altLang="en-US" dirty="0"/>
          </a:p>
          <a:p>
            <a:pPr lvl="2"/>
            <a:r>
              <a:rPr lang="en-US" altLang="zh-CN" dirty="0"/>
              <a:t>Datacenter networks3</a:t>
            </a:r>
            <a:endParaRPr lang="zh-CN" altLang="en-US" dirty="0"/>
          </a:p>
          <a:p>
            <a:pPr lvl="3"/>
            <a:r>
              <a:rPr lang="en-US" altLang="zh-CN" dirty="0"/>
              <a:t>Datacenter networks4</a:t>
            </a:r>
            <a:endParaRPr lang="zh-CN" altLang="en-US" dirty="0"/>
          </a:p>
          <a:p>
            <a:pPr lvl="4"/>
            <a:r>
              <a:rPr lang="en-US" altLang="zh-CN" dirty="0"/>
              <a:t>Datacenter networks5</a:t>
            </a:r>
            <a:endParaRPr lang="zh-CN" altLang="en-US" dirty="0"/>
          </a:p>
        </p:txBody>
      </p:sp>
      <p:pic>
        <p:nvPicPr>
          <p:cNvPr id="13" name="图片 306" descr="logo-06 - 副本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5250" y="6368854"/>
            <a:ext cx="1095375" cy="524692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745067" y="6461923"/>
            <a:ext cx="21251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背景介绍</a:t>
            </a: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4636201" y="6474436"/>
            <a:ext cx="21251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工作介绍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8527335" y="6474436"/>
            <a:ext cx="21251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1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总结与展望</a:t>
            </a:r>
          </a:p>
        </p:txBody>
      </p:sp>
      <p:sp>
        <p:nvSpPr>
          <p:cNvPr id="17" name="矩形 16"/>
          <p:cNvSpPr/>
          <p:nvPr userDrawn="1"/>
        </p:nvSpPr>
        <p:spPr>
          <a:xfrm>
            <a:off x="4690801" y="6500140"/>
            <a:ext cx="2015931" cy="3168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8581935" y="6496190"/>
            <a:ext cx="2015931" cy="316800"/>
          </a:xfrm>
          <a:prstGeom prst="rect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0" name="图片 327" descr="logo-0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-619760" y="5371425"/>
            <a:ext cx="4865370" cy="1885950"/>
          </a:xfrm>
          <a:prstGeom prst="rect">
            <a:avLst/>
          </a:prstGeom>
        </p:spPr>
      </p:pic>
      <p:sp>
        <p:nvSpPr>
          <p:cNvPr id="1048713" name="矩形 328"/>
          <p:cNvSpPr/>
          <p:nvPr userDrawn="1"/>
        </p:nvSpPr>
        <p:spPr>
          <a:xfrm>
            <a:off x="0" y="1299029"/>
            <a:ext cx="12192000" cy="45719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29000">
                <a:srgbClr val="713686"/>
              </a:gs>
              <a:gs pos="69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97171" name="图片 329" descr="logo-0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17951" y="-562375"/>
            <a:ext cx="3385518" cy="3124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4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3CAFC528-00A4-9E40-BE14-0CC9F632CADE}" type="datetime10">
              <a:rPr lang="zh-CN" altLang="en-US" smtClean="0"/>
              <a:t>15:31</a:t>
            </a:fld>
            <a:endParaRPr lang="zh-CN" altLang="en-US"/>
          </a:p>
        </p:txBody>
      </p:sp>
      <p:sp>
        <p:nvSpPr>
          <p:cNvPr id="1048715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16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097172" name="图片 4" descr="ppt_画板 1 副本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287250" cy="6858635"/>
          </a:xfrm>
          <a:prstGeom prst="rect">
            <a:avLst/>
          </a:prstGeom>
        </p:spPr>
      </p:pic>
      <p:sp>
        <p:nvSpPr>
          <p:cNvPr id="1048717" name="矩形 5"/>
          <p:cNvSpPr/>
          <p:nvPr userDrawn="1"/>
        </p:nvSpPr>
        <p:spPr>
          <a:xfrm>
            <a:off x="0" y="1622879"/>
            <a:ext cx="12192000" cy="45719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29000">
                <a:srgbClr val="713686"/>
              </a:gs>
              <a:gs pos="69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13"/>
          </p:nvPr>
        </p:nvSpPr>
        <p:spPr>
          <a:xfrm>
            <a:off x="612774" y="490538"/>
            <a:ext cx="7769225" cy="99536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4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4"/>
          </p:nvPr>
        </p:nvSpPr>
        <p:spPr>
          <a:xfrm>
            <a:off x="612775" y="1828800"/>
            <a:ext cx="9209088" cy="32083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8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1048719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1048720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A8CF263B-C727-F84E-827E-44BD38EB1AD4}" type="datetime10">
              <a:rPr lang="zh-CN" altLang="en-US" smtClean="0"/>
              <a:t>15:31</a:t>
            </a:fld>
            <a:endParaRPr lang="zh-CN" altLang="en-US"/>
          </a:p>
        </p:txBody>
      </p:sp>
      <p:sp>
        <p:nvSpPr>
          <p:cNvPr id="1048721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22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1048688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1048689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48690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9767DB7-9ADF-9249-8A23-9B0F3D45B918}" type="datetime10">
              <a:rPr lang="zh-CN" altLang="en-US" smtClean="0"/>
              <a:t>15:31</a:t>
            </a:fld>
            <a:endParaRPr lang="zh-CN" altLang="en-US"/>
          </a:p>
        </p:txBody>
      </p:sp>
      <p:sp>
        <p:nvSpPr>
          <p:cNvPr id="1048691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92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3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1048724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1048725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1048726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1048727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1048728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03E4CEBB-2DC4-AE4D-9EDB-7EC187269EDF}" type="datetime10">
              <a:rPr lang="zh-CN" altLang="en-US" smtClean="0"/>
              <a:t>15:31</a:t>
            </a:fld>
            <a:endParaRPr lang="zh-CN" altLang="en-US"/>
          </a:p>
        </p:txBody>
      </p:sp>
      <p:sp>
        <p:nvSpPr>
          <p:cNvPr id="1048729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30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1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1048732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CDDA51CF-E9B2-304E-9C03-4419221A872F}" type="datetime10">
              <a:rPr lang="zh-CN" altLang="en-US" smtClean="0"/>
              <a:t>15:31</a:t>
            </a:fld>
            <a:endParaRPr lang="zh-CN" altLang="en-US"/>
          </a:p>
        </p:txBody>
      </p:sp>
      <p:sp>
        <p:nvSpPr>
          <p:cNvPr id="1048733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34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1048703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1048704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61E802E8-1D2B-8045-A783-585F588611C7}" type="datetime10">
              <a:rPr lang="zh-CN" altLang="en-US" smtClean="0"/>
              <a:t>15:31</a:t>
            </a:fld>
            <a:endParaRPr lang="zh-CN" altLang="en-US" dirty="0"/>
          </a:p>
        </p:txBody>
      </p:sp>
      <p:sp>
        <p:nvSpPr>
          <p:cNvPr id="1048705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706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48707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1048709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48710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8B2DC7BC-AB26-C84A-94A0-3DE6FCB0B1F3}" type="datetime10">
              <a:rPr lang="zh-CN" altLang="en-US" smtClean="0"/>
              <a:t>15:31</a:t>
            </a:fld>
            <a:endParaRPr lang="zh-CN" altLang="en-US"/>
          </a:p>
        </p:txBody>
      </p:sp>
      <p:sp>
        <p:nvSpPr>
          <p:cNvPr id="1048711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12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01248993-D754-794A-BBD8-559A8ED31F32}" type="datetime10">
              <a:rPr lang="zh-CN" altLang="en-US" smtClean="0"/>
              <a:t>15:31</a:t>
            </a:fld>
            <a:endParaRPr lang="zh-CN" altLang="en-US"/>
          </a:p>
        </p:txBody>
      </p:sp>
      <p:sp>
        <p:nvSpPr>
          <p:cNvPr id="1048699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00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48701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37CAFC0E-5988-7C45-9AE1-65512B41FEF4}" type="datetime10">
              <a:rPr lang="zh-CN" altLang="en-US" smtClean="0"/>
              <a:t>15:31</a:t>
            </a:fld>
            <a:endParaRPr lang="zh-CN" altLang="en-US"/>
          </a:p>
        </p:txBody>
      </p:sp>
      <p:sp>
        <p:nvSpPr>
          <p:cNvPr id="104869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9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48696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104869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bk object 46"/>
          <p:cNvSpPr/>
          <p:nvPr/>
        </p:nvSpPr>
        <p:spPr>
          <a:xfrm>
            <a:off x="2" y="1"/>
            <a:ext cx="12186961" cy="806599"/>
          </a:xfrm>
          <a:custGeom>
            <a:avLst/>
            <a:gdLst/>
            <a:ahLst/>
            <a:cxnLst/>
            <a:rect l="l" t="t" r="r" b="b"/>
            <a:pathLst>
              <a:path w="4608195" h="407034">
                <a:moveTo>
                  <a:pt x="0" y="406654"/>
                </a:moveTo>
                <a:lnTo>
                  <a:pt x="4607941" y="406654"/>
                </a:lnTo>
                <a:lnTo>
                  <a:pt x="4607941" y="0"/>
                </a:lnTo>
                <a:lnTo>
                  <a:pt x="0" y="0"/>
                </a:lnTo>
                <a:lnTo>
                  <a:pt x="0" y="406654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7" name="bk object 47"/>
          <p:cNvSpPr/>
          <p:nvPr/>
        </p:nvSpPr>
        <p:spPr>
          <a:xfrm>
            <a:off x="10720533" y="72113"/>
            <a:ext cx="1371409" cy="5699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Garamond" panose="02020404030301010803"/>
                <a:cs typeface="Garamond" panose="02020404030301010803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2" y="1577340"/>
            <a:ext cx="5303519" cy="4413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1" y="1577340"/>
            <a:ext cx="5303519" cy="4413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12A81B-E0B6-A14A-9439-A471B05CD395}" type="datetime10">
              <a:rPr lang="zh-CN" altLang="en-US" smtClean="0"/>
              <a:t>15:31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11301614" y="6623328"/>
            <a:ext cx="673415" cy="177889"/>
          </a:xfrm>
        </p:spPr>
        <p:txBody>
          <a:bodyPr lIns="0" tIns="0" rIns="0" bIns="0"/>
          <a:lstStyle>
            <a:lvl1pPr marL="142240">
              <a:lnSpc>
                <a:spcPts val="1320"/>
              </a:lnSpc>
              <a:defRPr sz="1200" b="0" i="0" spc="-20" smtClean="0">
                <a:solidFill>
                  <a:srgbClr val="7F7F7F"/>
                </a:solidFill>
                <a:latin typeface="Bookman Old Style" panose="02050604050505020204"/>
                <a:cs typeface="Bookman Old Style" panose="02050604050505020204"/>
              </a:defRPr>
            </a:lvl1pPr>
          </a:lstStyle>
          <a:p>
            <a:fld id="{81D60167-4931-47E6-BA6A-407CBD079E47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sign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54320"/>
            <a:ext cx="10515600" cy="4351338"/>
          </a:xfr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6ED69-38AA-FE4B-9821-5B81ADFB3696}" type="datetime10">
              <a:rPr lang="zh-CN" altLang="en-US" smtClean="0"/>
              <a:t>15:31</a:t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22B75-E8C8-4356-88BD-B485DD0571F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4553578" y="6538912"/>
            <a:ext cx="30848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rgbClr val="949494"/>
                </a:solidFill>
              </a:rPr>
              <a:t>Motivation | </a:t>
            </a:r>
            <a:r>
              <a:rPr kumimoji="1" lang="en-US" altLang="zh-CN" sz="1200" dirty="0">
                <a:solidFill>
                  <a:schemeClr val="tx1"/>
                </a:solidFill>
              </a:rPr>
              <a:t>Design</a:t>
            </a:r>
            <a:r>
              <a:rPr kumimoji="1" lang="en-US" altLang="zh-CN" sz="1200" dirty="0">
                <a:solidFill>
                  <a:srgbClr val="949494"/>
                </a:solidFill>
              </a:rPr>
              <a:t> | Evaluation</a:t>
            </a:r>
            <a:endParaRPr kumimoji="1" lang="zh-CN" altLang="en-US" sz="1200" dirty="0">
              <a:solidFill>
                <a:srgbClr val="949494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tags" Target="../tags/tag4.xml"/><Relationship Id="rId3" Type="http://schemas.openxmlformats.org/officeDocument/2006/relationships/slideLayout" Target="../slideLayouts/slideLayout16.xml"/><Relationship Id="rId21" Type="http://schemas.openxmlformats.org/officeDocument/2006/relationships/slideLayout" Target="../slideLayouts/slideLayout34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tags" Target="../tags/tag3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tags" Target="../tags/tag2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tags" Target="../tags/tag1.xml"/><Relationship Id="rId28" Type="http://schemas.openxmlformats.org/officeDocument/2006/relationships/tags" Target="../tags/tag6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theme" Target="../theme/theme2.xml"/><Relationship Id="rId27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12" name="矩形 5"/>
          <p:cNvSpPr/>
          <p:nvPr userDrawn="1"/>
        </p:nvSpPr>
        <p:spPr>
          <a:xfrm>
            <a:off x="0" y="6429428"/>
            <a:ext cx="12192000" cy="428571"/>
          </a:xfrm>
          <a:prstGeom prst="rect">
            <a:avLst/>
          </a:prstGeom>
          <a:solidFill>
            <a:srgbClr val="4A19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4611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46A09B4F-B1B4-5B40-8E69-2BB3F100CCA6}" type="datetime10">
              <a:rPr kumimoji="1" lang="zh-CN" altLang="en-US" smtClean="0"/>
              <a:t>15:31</a:t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4611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4611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7FE0E82F-035D-4549-9D51-02841711E3B0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  <p:custDataLst>
              <p:tags r:id="rId2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altLang="zh-CN" dirty="0"/>
              <a:t>Graph</a:t>
            </a:r>
            <a:endParaRPr lang="zh-CN" altLang="en-US" dirty="0"/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  <p:custDataLst>
              <p:tags r:id="rId2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altLang="zh-CN" dirty="0"/>
              <a:t>Graph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endParaRPr lang="zh-CN" altLang="en-US" dirty="0"/>
          </a:p>
          <a:p>
            <a:pPr lvl="1"/>
            <a:r>
              <a:rPr lang="en-US" altLang="zh-CN" dirty="0"/>
              <a:t>Graph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endParaRPr lang="zh-CN" altLang="en-US" dirty="0"/>
          </a:p>
          <a:p>
            <a:pPr lvl="2"/>
            <a:r>
              <a:rPr lang="en-US" altLang="zh-CN" dirty="0"/>
              <a:t>Graph</a:t>
            </a:r>
            <a:r>
              <a:rPr lang="zh-CN" altLang="en-US" dirty="0"/>
              <a:t> </a:t>
            </a:r>
            <a:r>
              <a:rPr lang="en-US" altLang="zh-CN" dirty="0"/>
              <a:t>3</a:t>
            </a:r>
            <a:endParaRPr lang="zh-CN" altLang="en-US" dirty="0"/>
          </a:p>
          <a:p>
            <a:pPr lvl="3"/>
            <a:r>
              <a:rPr lang="en-US" altLang="zh-CN" dirty="0"/>
              <a:t>Graph</a:t>
            </a:r>
            <a:r>
              <a:rPr lang="zh-CN" altLang="en-US" dirty="0"/>
              <a:t> </a:t>
            </a:r>
            <a:r>
              <a:rPr lang="en-US" altLang="zh-CN" dirty="0"/>
              <a:t>4</a:t>
            </a:r>
            <a:endParaRPr lang="zh-CN" altLang="en-US" dirty="0"/>
          </a:p>
          <a:p>
            <a:pPr lvl="4"/>
            <a:r>
              <a:rPr lang="en-US" altLang="zh-CN" dirty="0"/>
              <a:t>Graph</a:t>
            </a:r>
            <a:r>
              <a:rPr lang="zh-CN" altLang="en-US" dirty="0"/>
              <a:t> </a:t>
            </a:r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  <p:custDataLst>
              <p:tags r:id="rId2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63465335-99C1-124E-BD0A-181F5B3C22BE}" type="datetime10">
              <a:rPr lang="zh-CN" altLang="en-US" smtClean="0"/>
              <a:t>15:31</a:t>
            </a:fld>
            <a:endParaRPr lang="zh-CN" altLang="en-US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  <p:custDataLst>
              <p:tags r:id="rId2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  <p:custDataLst>
              <p:tags r:id="rId2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2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</p:sldLayoutIdLst>
  <p:hf hdr="0" ftr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latin typeface="Calibri" panose="020F0502020204030204" pitchFamily="34" charset="0"/>
          <a:ea typeface="微软雅黑" panose="020B0503020204020204" pitchFamily="34" charset="-122"/>
          <a:cs typeface="Calibri" panose="020F0502020204030204" pitchFamily="3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2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微软雅黑" panose="020B0503020204020204" pitchFamily="34" charset="-122"/>
          <a:cs typeface="Calibri" panose="020F0502020204030204" pitchFamily="3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20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微软雅黑" panose="020B0503020204020204" pitchFamily="34" charset="-122"/>
          <a:cs typeface="Calibri" panose="020F0502020204030204" pitchFamily="34" charset="0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微软雅黑" panose="020B0503020204020204" pitchFamily="34" charset="-122"/>
          <a:cs typeface="Calibri" panose="020F0502020204030204" pitchFamily="34" charset="0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微软雅黑" panose="020B0503020204020204" pitchFamily="34" charset="-122"/>
          <a:cs typeface="Calibri" panose="020F0502020204030204" pitchFamily="34" charset="0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微软雅黑" panose="020B0503020204020204" pitchFamily="34" charset="-122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2023242" y="2448150"/>
            <a:ext cx="8145517" cy="705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4800" dirty="0">
                <a:latin typeface="Arial" panose="020B0604020202020204" pitchFamily="34" charset="0"/>
                <a:cs typeface="Arial" panose="020B0604020202020204" pitchFamily="34" charset="0"/>
              </a:rPr>
              <a:t>期末复习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462654" y="4216750"/>
            <a:ext cx="12666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4472C4">
                    <a:lumMod val="5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王智彬</a:t>
            </a:r>
            <a:endParaRPr kumimoji="0" lang="zh-CN" altLang="en-US" sz="2800" b="1" i="0" u="none" strike="noStrike" kern="1200" cap="none" spc="0" normalizeH="0" baseline="0" noProof="0" dirty="0" err="1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529EB472-6079-E55E-BF4C-F2701EB1F8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05062"/>
                <a:ext cx="10936111" cy="5073159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选择题，</a:t>
                </a:r>
                <a:r>
                  <a:rPr lang="en-US" altLang="zh-CN" dirty="0"/>
                  <a:t>4</a:t>
                </a:r>
                <a:r>
                  <a:rPr lang="zh-CN" altLang="en-US" dirty="0"/>
                  <a:t>分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题，共</a:t>
                </a:r>
                <a:r>
                  <a:rPr lang="en-US" altLang="zh-CN" dirty="0"/>
                  <a:t>40</a:t>
                </a:r>
                <a:r>
                  <a:rPr lang="zh-CN" altLang="en-US" dirty="0"/>
                  <a:t>分</a:t>
                </a:r>
                <a:br>
                  <a:rPr lang="en-US" altLang="zh-CN" dirty="0"/>
                </a:br>
                <a:r>
                  <a:rPr lang="zh-CN" altLang="en-US" dirty="0"/>
                  <a:t>数据结构性质、算法理解、复杂度性质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endParaRPr lang="en-US" altLang="zh-CN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代码阅读题，</a:t>
                </a:r>
                <a:r>
                  <a:rPr lang="en-US" altLang="zh-CN" dirty="0"/>
                  <a:t>12</a:t>
                </a:r>
                <a:r>
                  <a:rPr lang="zh-CN" altLang="en-US" dirty="0"/>
                  <a:t>分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题，共</a:t>
                </a:r>
                <a:r>
                  <a:rPr lang="en-US" altLang="zh-CN" dirty="0"/>
                  <a:t>24</a:t>
                </a:r>
                <a:r>
                  <a:rPr lang="zh-CN" altLang="en-US" dirty="0"/>
                  <a:t>分</a:t>
                </a:r>
                <a:br>
                  <a:rPr lang="en-US" altLang="zh-CN" dirty="0"/>
                </a:br>
                <a:r>
                  <a:rPr lang="zh-CN" altLang="en-US" dirty="0"/>
                  <a:t>工程细节、算法理解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endParaRPr lang="en-US" altLang="zh-CN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算法设计题，</a:t>
                </a:r>
                <a:r>
                  <a:rPr lang="en-US" altLang="zh-CN" dirty="0"/>
                  <a:t>12</a:t>
                </a:r>
                <a:r>
                  <a:rPr lang="zh-CN" altLang="en-US" dirty="0"/>
                  <a:t>分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题，共</a:t>
                </a:r>
                <a:r>
                  <a:rPr lang="en-US" altLang="zh-CN" dirty="0"/>
                  <a:t>36</a:t>
                </a:r>
                <a:r>
                  <a:rPr lang="zh-CN" altLang="en-US" dirty="0"/>
                  <a:t>分，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4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选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3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完成，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4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道都做取前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3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高得分</a:t>
                </a:r>
                <a:br>
                  <a:rPr lang="en-US" altLang="zh-CN" dirty="0">
                    <a:solidFill>
                      <a:srgbClr val="FF0000"/>
                    </a:solidFill>
                  </a:rPr>
                </a:br>
                <a:r>
                  <a:rPr lang="zh-CN" altLang="en-US" dirty="0"/>
                  <a:t>算法建模、复杂度分析</a:t>
                </a: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529EB472-6079-E55E-BF4C-F2701EB1F8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05062"/>
                <a:ext cx="10936111" cy="5073159"/>
              </a:xfrm>
              <a:blipFill>
                <a:blip r:embed="rId3"/>
                <a:stretch>
                  <a:fillRect l="-8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3">
            <a:extLst>
              <a:ext uri="{FF2B5EF4-FFF2-40B4-BE49-F238E27FC236}">
                <a16:creationId xmlns:a16="http://schemas.microsoft.com/office/drawing/2014/main" id="{7AC8226B-00DF-E1BC-B79E-862D5F736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考试题型分布</a:t>
            </a:r>
          </a:p>
        </p:txBody>
      </p:sp>
    </p:spTree>
    <p:extLst>
      <p:ext uri="{BB962C8B-B14F-4D97-AF65-F5344CB8AC3E}">
        <p14:creationId xmlns:p14="http://schemas.microsoft.com/office/powerpoint/2010/main" val="1167503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F8859-E06C-A347-401B-1B1AB15B1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15FC6D1C-1A99-5D21-CC0E-FA05EE9A8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4F94DB1-2EA6-FD03-7FB2-746283DD0733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61125"/>
            <a:ext cx="2743200" cy="365125"/>
          </a:xfrm>
        </p:spPr>
        <p:txBody>
          <a:bodyPr/>
          <a:lstStyle/>
          <a:p>
            <a:fld id="{52879771-5615-3143-A5AF-A97C8C7AB8F8}" type="datetime10">
              <a:rPr kumimoji="1" lang="zh-CN" altLang="en-US" smtClean="0"/>
              <a:t>15:31</a:t>
            </a:fld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8EB293-A251-6FD7-4F6D-214540E58E7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61125"/>
            <a:ext cx="2743200" cy="365125"/>
          </a:xfrm>
        </p:spPr>
        <p:txBody>
          <a:bodyPr/>
          <a:lstStyle/>
          <a:p>
            <a:fld id="{7FE0E82F-035D-4549-9D51-02841711E3B0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50421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3BEBA4D-FCE7-A53C-B4AA-6EF15604A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6977"/>
            <a:ext cx="10515600" cy="463858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/>
              <a:t>复习关注点：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栈序列的可行性与约束推理（入</a:t>
            </a:r>
            <a:r>
              <a:rPr lang="en-US" altLang="zh-CN" dirty="0"/>
              <a:t>/</a:t>
            </a:r>
            <a:r>
              <a:rPr lang="zh-CN" altLang="en-US" dirty="0"/>
              <a:t>出栈序列如何互相限制）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基于栈操作过程的状态演化分析（中间状态如何影响后续选择）</a:t>
            </a:r>
            <a:br>
              <a:rPr lang="en-US" altLang="zh-CN" dirty="0"/>
            </a:br>
            <a:endParaRPr lang="en-US" altLang="zh-CN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/>
              <a:t>需要掌握的：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栈</a:t>
            </a:r>
            <a:r>
              <a:rPr lang="en-US" altLang="zh-CN" dirty="0"/>
              <a:t>/</a:t>
            </a:r>
            <a:r>
              <a:rPr lang="zh-CN" altLang="en-US" dirty="0"/>
              <a:t>队列的性质、操作流程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模拟栈</a:t>
            </a:r>
            <a:r>
              <a:rPr lang="en-US" altLang="zh-CN" dirty="0"/>
              <a:t>/</a:t>
            </a:r>
            <a:r>
              <a:rPr lang="zh-CN" altLang="en-US" dirty="0"/>
              <a:t>队列的操作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FE4691C-8711-4D3B-CF93-67B6A289D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9771-5615-3143-A5AF-A97C8C7AB8F8}" type="datetime10">
              <a:rPr kumimoji="1" lang="zh-CN" altLang="en-US" smtClean="0"/>
              <a:t>15:31</a:t>
            </a:fld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ED99FA-C493-BF9F-FA45-7FFFC9E48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E82F-035D-4549-9D51-02841711E3B0}" type="slidenum">
              <a:rPr kumimoji="1" lang="zh-CN" altLang="en-US" smtClean="0"/>
              <a:t>4</a:t>
            </a:fld>
            <a:endParaRPr kumimoji="1"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96E77E74-FCC7-8C5B-C0C0-91225C172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线性结构与序列性质：栈</a:t>
            </a:r>
            <a:r>
              <a:rPr lang="en-US" altLang="zh-CN" dirty="0"/>
              <a:t>/</a:t>
            </a:r>
            <a:r>
              <a:rPr lang="zh-CN" altLang="en-US" dirty="0"/>
              <a:t>队列</a:t>
            </a:r>
          </a:p>
        </p:txBody>
      </p:sp>
    </p:spTree>
    <p:extLst>
      <p:ext uri="{BB962C8B-B14F-4D97-AF65-F5344CB8AC3E}">
        <p14:creationId xmlns:p14="http://schemas.microsoft.com/office/powerpoint/2010/main" val="4050512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4667F-BAB1-36A1-0BF2-9342736BB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7FA8D4B-5809-D051-CE0F-DD634CDBF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6977"/>
            <a:ext cx="10823222" cy="463858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/>
              <a:t>复习关注点：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逆序对的定义与变化规律（如逆序对这类量如何随操作变化）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排序时的性质判断（哪些结论必然成立、哪些只对特定算法成立）</a:t>
            </a:r>
            <a:br>
              <a:rPr lang="en-US" altLang="zh-CN" dirty="0"/>
            </a:br>
            <a:endParaRPr lang="en-US" altLang="zh-CN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/>
              <a:t>需要掌握的：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各类排序算法的流程及原理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逆序对的性质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987AF7C-4C3F-E41F-7C85-CC9DD6AAD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9771-5615-3143-A5AF-A97C8C7AB8F8}" type="datetime10">
              <a:rPr kumimoji="1" lang="zh-CN" altLang="en-US" smtClean="0"/>
              <a:t>15:31</a:t>
            </a:fld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FDF24D-38A4-561D-BA5F-BBECA0C7E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E82F-035D-4549-9D51-02841711E3B0}" type="slidenum">
              <a:rPr kumimoji="1" lang="zh-CN" altLang="en-US" smtClean="0"/>
              <a:t>5</a:t>
            </a:fld>
            <a:endParaRPr kumimoji="1"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85391804-3999-C8DB-E77B-E3D4401E1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线性结构与序列性质：排序算法与逆序对</a:t>
            </a:r>
          </a:p>
        </p:txBody>
      </p:sp>
    </p:spTree>
    <p:extLst>
      <p:ext uri="{BB962C8B-B14F-4D97-AF65-F5344CB8AC3E}">
        <p14:creationId xmlns:p14="http://schemas.microsoft.com/office/powerpoint/2010/main" val="2525201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B1B91-C842-1454-29EB-A256371C4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16A555C-96D8-A6CC-DE5D-A664A9DC2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6977"/>
            <a:ext cx="11049000" cy="463858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/>
              <a:t>复习关注点：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遍历序列与二叉树结构的对应关系（固定遍历序列下结构的可能性）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二叉树结构计数的建模思路（</a:t>
            </a:r>
            <a:r>
              <a:rPr lang="en-US" altLang="zh-CN" dirty="0"/>
              <a:t>e.g. </a:t>
            </a:r>
            <a:r>
              <a:rPr lang="zh-CN" altLang="en-US" dirty="0"/>
              <a:t>递归分解</a:t>
            </a:r>
            <a:r>
              <a:rPr lang="en-US" altLang="zh-CN" dirty="0"/>
              <a:t>/</a:t>
            </a:r>
            <a:r>
              <a:rPr lang="zh-CN" altLang="en-US" dirty="0"/>
              <a:t>组合计数）</a:t>
            </a:r>
            <a:br>
              <a:rPr lang="en-US" altLang="zh-CN" dirty="0"/>
            </a:br>
            <a:endParaRPr lang="en-US" altLang="zh-CN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/>
              <a:t>需要掌握的：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二叉树的结构、性质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dirty="0"/>
              <a:t>Catalan</a:t>
            </a:r>
            <a:r>
              <a:rPr lang="zh-CN" altLang="en-US" dirty="0"/>
              <a:t>数在二叉树中的应用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88567DA-BE7D-C37E-D75F-93B8DBA48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9771-5615-3143-A5AF-A97C8C7AB8F8}" type="datetime10">
              <a:rPr kumimoji="1" lang="zh-CN" altLang="en-US" smtClean="0"/>
              <a:t>15:31</a:t>
            </a:fld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4A1F52-7B1F-6D29-2E96-D3C96BD0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E82F-035D-4549-9D51-02841711E3B0}" type="slidenum">
              <a:rPr kumimoji="1" lang="zh-CN" altLang="en-US" smtClean="0"/>
              <a:t>6</a:t>
            </a:fld>
            <a:endParaRPr kumimoji="1"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21684B39-18A1-6977-7A51-9F5444199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树结构与递归思想：二叉树</a:t>
            </a:r>
          </a:p>
        </p:txBody>
      </p:sp>
    </p:spTree>
    <p:extLst>
      <p:ext uri="{BB962C8B-B14F-4D97-AF65-F5344CB8AC3E}">
        <p14:creationId xmlns:p14="http://schemas.microsoft.com/office/powerpoint/2010/main" val="2700679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DDD1B-CDF5-61D9-151B-8C7C14C76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27D2F0D-DA0A-C95A-3DA9-B92546FD0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6977"/>
            <a:ext cx="11071578" cy="5228582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zh-CN" altLang="en-US" dirty="0"/>
              <a:t>复习关注点：</a:t>
            </a:r>
            <a:endParaRPr lang="en-US" altLang="zh-CN" dirty="0"/>
          </a:p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zh-CN" altLang="en-US" dirty="0"/>
              <a:t>树的全局性质如何由子树信息汇总得到（</a:t>
            </a:r>
            <a:r>
              <a:rPr lang="en-US" altLang="zh-CN" dirty="0"/>
              <a:t>e.g. size / depth / balance)</a:t>
            </a:r>
          </a:p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zh-CN" altLang="en-US" dirty="0"/>
              <a:t>树结构修改后的影响（局部变化如何传播到整体性质，</a:t>
            </a:r>
            <a:r>
              <a:rPr lang="en-US" altLang="zh-CN" dirty="0"/>
              <a:t>e.g. </a:t>
            </a:r>
            <a:r>
              <a:rPr lang="zh-CN" altLang="en-US" dirty="0"/>
              <a:t>搜索树）</a:t>
            </a:r>
            <a:endParaRPr lang="en-US" altLang="zh-CN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altLang="zh-CN" dirty="0"/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zh-CN" altLang="en-US" dirty="0"/>
              <a:t>需要掌握的：</a:t>
            </a:r>
            <a:endParaRPr lang="en-US" altLang="zh-CN" dirty="0"/>
          </a:p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en-US" altLang="zh-CN" dirty="0"/>
              <a:t>DFS</a:t>
            </a:r>
            <a:r>
              <a:rPr lang="zh-CN" altLang="en-US" dirty="0"/>
              <a:t>在树中的应用，计算某些全局信息</a:t>
            </a:r>
            <a:endParaRPr lang="en-US" altLang="zh-CN" dirty="0"/>
          </a:p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zh-CN" altLang="en-US" dirty="0"/>
              <a:t>如何把树问题转换为其子树问题</a:t>
            </a:r>
            <a:endParaRPr lang="en-US" altLang="zh-CN" dirty="0"/>
          </a:p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zh-CN" altLang="en-US" dirty="0"/>
              <a:t>搜索树的原理、性质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60E0F84-E6B7-B682-E01F-0F48CB804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9771-5615-3143-A5AF-A97C8C7AB8F8}" type="datetime10">
              <a:rPr kumimoji="1" lang="zh-CN" altLang="en-US" smtClean="0"/>
              <a:t>15:31</a:t>
            </a:fld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75A9F5-1A43-BAA6-4B56-A50377E62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E82F-035D-4549-9D51-02841711E3B0}" type="slidenum">
              <a:rPr kumimoji="1" lang="zh-CN" altLang="en-US" smtClean="0"/>
              <a:t>7</a:t>
            </a:fld>
            <a:endParaRPr kumimoji="1"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06E063CB-ADE2-6351-998C-035E96164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**树结构与递归思想：一般的树</a:t>
            </a:r>
          </a:p>
        </p:txBody>
      </p:sp>
    </p:spTree>
    <p:extLst>
      <p:ext uri="{BB962C8B-B14F-4D97-AF65-F5344CB8AC3E}">
        <p14:creationId xmlns:p14="http://schemas.microsoft.com/office/powerpoint/2010/main" val="3970956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7D607-D4FA-9169-214E-F5624C295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2CF3C86-57FB-584A-734A-80F7B6202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6977"/>
            <a:ext cx="10515600" cy="463858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/>
              <a:t>复习关注点：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堆中元素的位置关系、堆满足的结论（哪些位置关系一定成立）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堆执行典型操作后的结构变化（插入</a:t>
            </a:r>
            <a:r>
              <a:rPr lang="en-US" altLang="zh-CN" dirty="0"/>
              <a:t>/</a:t>
            </a:r>
            <a:r>
              <a:rPr lang="zh-CN" altLang="en-US" dirty="0"/>
              <a:t>删除某些元素）</a:t>
            </a:r>
            <a:br>
              <a:rPr lang="en-US" altLang="zh-CN" dirty="0"/>
            </a:br>
            <a:endParaRPr lang="en-US" altLang="zh-CN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/>
              <a:t>需要掌握的：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堆可以做的操作及其原理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堆的具体实现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0A39A8A-3F49-C44F-0CED-922B74782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9771-5615-3143-A5AF-A97C8C7AB8F8}" type="datetime10">
              <a:rPr kumimoji="1" lang="zh-CN" altLang="en-US" smtClean="0"/>
              <a:t>15:31</a:t>
            </a:fld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A95337-AC8E-333A-58E0-59771B78C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E82F-035D-4549-9D51-02841711E3B0}" type="slidenum">
              <a:rPr kumimoji="1" lang="zh-CN" altLang="en-US" smtClean="0"/>
              <a:t>8</a:t>
            </a:fld>
            <a:endParaRPr kumimoji="1"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4B34D2A-0A6C-CD96-F3F7-7049741EB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堆、并查集与哈希表：堆</a:t>
            </a:r>
          </a:p>
        </p:txBody>
      </p:sp>
    </p:spTree>
    <p:extLst>
      <p:ext uri="{BB962C8B-B14F-4D97-AF65-F5344CB8AC3E}">
        <p14:creationId xmlns:p14="http://schemas.microsoft.com/office/powerpoint/2010/main" val="2955969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0AC21-4F26-A394-4749-AB0263CE9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E8E0510-DB71-056A-4296-879FD00F2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6977"/>
            <a:ext cx="11173178" cy="463858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/>
              <a:t>复习关注点：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并查集结构的维护策略与优化思想（路径压缩</a:t>
            </a:r>
            <a:r>
              <a:rPr lang="en-US" altLang="zh-CN" dirty="0"/>
              <a:t>/</a:t>
            </a:r>
            <a:r>
              <a:rPr lang="zh-CN" altLang="en-US" dirty="0"/>
              <a:t>按秩合并带来的影响）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执行一串操作序列后并查集结构的推导（</a:t>
            </a:r>
            <a:r>
              <a:rPr lang="en-US" altLang="zh-CN" dirty="0"/>
              <a:t>find/union</a:t>
            </a:r>
            <a:r>
              <a:rPr lang="zh-CN" altLang="en-US" dirty="0"/>
              <a:t>交错时的变化）</a:t>
            </a:r>
            <a:br>
              <a:rPr lang="en-US" altLang="zh-CN" dirty="0"/>
            </a:br>
            <a:endParaRPr lang="en-US" altLang="zh-CN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/>
              <a:t>需要掌握的：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并查集路径压缩的原理及实现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并查集按秩合并的原理及实现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7A0CB8F-9F68-F8EC-F048-D91B5E202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9771-5615-3143-A5AF-A97C8C7AB8F8}" type="datetime10">
              <a:rPr kumimoji="1" lang="zh-CN" altLang="en-US" smtClean="0"/>
              <a:t>15:31</a:t>
            </a:fld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032CF7-3793-6CCB-D438-C019117E5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E82F-035D-4549-9D51-02841711E3B0}" type="slidenum">
              <a:rPr kumimoji="1" lang="zh-CN" altLang="en-US" smtClean="0"/>
              <a:t>9</a:t>
            </a:fld>
            <a:endParaRPr kumimoji="1"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032A2A9F-FBDD-8A0C-0DDB-97AC0F72E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**堆、并查集与哈希表：并查集</a:t>
            </a:r>
          </a:p>
        </p:txBody>
      </p:sp>
    </p:spTree>
    <p:extLst>
      <p:ext uri="{BB962C8B-B14F-4D97-AF65-F5344CB8AC3E}">
        <p14:creationId xmlns:p14="http://schemas.microsoft.com/office/powerpoint/2010/main" val="2408317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2182B-B56D-E0CB-2EFF-08E3BA4CC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2EC7AD8-A2B2-3F1D-6B3E-833FE3EC3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6977"/>
            <a:ext cx="10515600" cy="463858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/>
              <a:t>复习关注点：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哈希表的性能与边界情况（</a:t>
            </a:r>
            <a:r>
              <a:rPr lang="en-US" altLang="zh-CN" dirty="0"/>
              <a:t>e.g. </a:t>
            </a:r>
            <a:r>
              <a:rPr lang="zh-CN" altLang="en-US" dirty="0"/>
              <a:t>冲突、退化情形）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哈希表的实现细节（查找、插入、</a:t>
            </a:r>
            <a:r>
              <a:rPr lang="en-US" altLang="zh-CN" dirty="0"/>
              <a:t>rehash</a:t>
            </a:r>
            <a:r>
              <a:rPr lang="zh-CN" altLang="en-US" dirty="0"/>
              <a:t>的触发与代价）</a:t>
            </a:r>
            <a:br>
              <a:rPr lang="en-US" altLang="zh-CN" dirty="0"/>
            </a:br>
            <a:endParaRPr lang="en-US" altLang="zh-CN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/>
              <a:t>需要掌握的：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各类哈希表的操作流程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各类哈希表的原理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1EE0E99-E462-C84C-EA0A-4EE0BC0DC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9771-5615-3143-A5AF-A97C8C7AB8F8}" type="datetime10">
              <a:rPr kumimoji="1" lang="zh-CN" altLang="en-US" smtClean="0"/>
              <a:t>15:31</a:t>
            </a:fld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D2A40D-DCE5-1082-DA76-F97F3AA47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E82F-035D-4549-9D51-02841711E3B0}" type="slidenum">
              <a:rPr kumimoji="1" lang="zh-CN" altLang="en-US" smtClean="0"/>
              <a:t>10</a:t>
            </a:fld>
            <a:endParaRPr kumimoji="1"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0CC6C1E1-B807-0368-8D54-D294CAB50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堆、并查集与哈希表：哈希表</a:t>
            </a:r>
          </a:p>
        </p:txBody>
      </p:sp>
    </p:spTree>
    <p:extLst>
      <p:ext uri="{BB962C8B-B14F-4D97-AF65-F5344CB8AC3E}">
        <p14:creationId xmlns:p14="http://schemas.microsoft.com/office/powerpoint/2010/main" val="965834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B7D00-B6C3-63EE-0B93-FD7681D98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EF9DD77-A36A-D25C-5379-F97E8BB10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6977"/>
            <a:ext cx="10902244" cy="463858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/>
              <a:t>复习关注点：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遍历过程中的结构信息刻画（发现</a:t>
            </a:r>
            <a:r>
              <a:rPr lang="en-US" altLang="zh-CN" dirty="0"/>
              <a:t>/</a:t>
            </a:r>
            <a:r>
              <a:rPr lang="zh-CN" altLang="en-US" dirty="0"/>
              <a:t>回溯过程对应的边关系与性质）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基础概念的判定与推理（</a:t>
            </a:r>
            <a:r>
              <a:rPr lang="en-US" altLang="zh-CN" dirty="0"/>
              <a:t>e.g. </a:t>
            </a:r>
            <a:r>
              <a:rPr lang="zh-CN" altLang="en-US" dirty="0"/>
              <a:t>连通性、环等概念的辨析）</a:t>
            </a:r>
            <a:br>
              <a:rPr lang="en-US" altLang="zh-CN" dirty="0"/>
            </a:br>
            <a:endParaRPr lang="en-US" altLang="zh-CN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/>
              <a:t>需要掌握的：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dirty="0"/>
              <a:t>DFS</a:t>
            </a:r>
            <a:r>
              <a:rPr lang="zh-CN" altLang="en-US" dirty="0"/>
              <a:t>、</a:t>
            </a:r>
            <a:r>
              <a:rPr lang="en-US" altLang="zh-CN" dirty="0"/>
              <a:t>BFS</a:t>
            </a:r>
            <a:r>
              <a:rPr lang="zh-CN" altLang="en-US" dirty="0"/>
              <a:t>的原理及遍历时各类边的性质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图上的各类概念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833521A-32F4-4944-D239-8915F9E07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9771-5615-3143-A5AF-A97C8C7AB8F8}" type="datetime10">
              <a:rPr kumimoji="1" lang="zh-CN" altLang="en-US" smtClean="0"/>
              <a:t>15:31</a:t>
            </a:fld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1CA19B-038A-2143-DA75-33D9428B0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E82F-035D-4549-9D51-02841711E3B0}" type="slidenum">
              <a:rPr kumimoji="1" lang="zh-CN" altLang="en-US" smtClean="0"/>
              <a:t>11</a:t>
            </a:fld>
            <a:endParaRPr kumimoji="1"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C7039D8E-01FD-56CB-FDE0-E31E9116D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图论：图的概念与图的遍历</a:t>
            </a:r>
          </a:p>
        </p:txBody>
      </p:sp>
    </p:spTree>
    <p:extLst>
      <p:ext uri="{BB962C8B-B14F-4D97-AF65-F5344CB8AC3E}">
        <p14:creationId xmlns:p14="http://schemas.microsoft.com/office/powerpoint/2010/main" val="2299167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E1F68-9D12-DC2F-5C5B-EA5B43116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64FB082-5A0E-FEC2-2812-5276B9839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6977"/>
            <a:ext cx="10515600" cy="463858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/>
              <a:t>复习关注点：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dirty="0"/>
              <a:t>DAG</a:t>
            </a:r>
            <a:r>
              <a:rPr lang="zh-CN" altLang="en-US" dirty="0"/>
              <a:t>的结构特征与判定规则（与遍历过程</a:t>
            </a:r>
            <a:r>
              <a:rPr lang="en-US" altLang="zh-CN" dirty="0"/>
              <a:t>/</a:t>
            </a:r>
            <a:r>
              <a:rPr lang="zh-CN" altLang="en-US" dirty="0"/>
              <a:t>边度数约束的联系）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拓扑序的约束分析（唯一性、相邻约束、可行性）</a:t>
            </a:r>
            <a:br>
              <a:rPr lang="en-US" altLang="zh-CN" dirty="0"/>
            </a:br>
            <a:endParaRPr lang="en-US" altLang="zh-CN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/>
              <a:t>需要掌握的：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有向无环图的性质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拓扑排序的流程、原理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5DC337D-BA05-C44E-8233-2772CF96E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9771-5615-3143-A5AF-A97C8C7AB8F8}" type="datetime10">
              <a:rPr kumimoji="1" lang="zh-CN" altLang="en-US" smtClean="0"/>
              <a:t>15:31</a:t>
            </a:fld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07F929-CA17-FE8D-C673-5932FD430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E82F-035D-4549-9D51-02841711E3B0}" type="slidenum">
              <a:rPr kumimoji="1" lang="zh-CN" altLang="en-US" smtClean="0"/>
              <a:t>12</a:t>
            </a:fld>
            <a:endParaRPr kumimoji="1"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2F211519-9FD0-53EF-FE78-854413DD9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图论：有向无环图和拓扑排序</a:t>
            </a:r>
          </a:p>
        </p:txBody>
      </p:sp>
    </p:spTree>
    <p:extLst>
      <p:ext uri="{BB962C8B-B14F-4D97-AF65-F5344CB8AC3E}">
        <p14:creationId xmlns:p14="http://schemas.microsoft.com/office/powerpoint/2010/main" val="3056558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39D19-D9F4-86A7-C2D9-6E8870F79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9A5C834-E6E6-5840-4E8E-91D8DE599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56977"/>
            <a:ext cx="11015133" cy="463858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/>
              <a:t>复习关注点：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有向图互达结构的抽象与分解（强连通的判定与分块思想）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栈</a:t>
            </a:r>
            <a:r>
              <a:rPr lang="en-US" altLang="zh-CN" dirty="0"/>
              <a:t>/</a:t>
            </a:r>
            <a:r>
              <a:rPr lang="zh-CN" altLang="en-US" dirty="0"/>
              <a:t>时间戳类信息在图算法中的作用（</a:t>
            </a:r>
            <a:r>
              <a:rPr lang="en-US" altLang="zh-CN" dirty="0"/>
              <a:t>e.g. Tarjan</a:t>
            </a:r>
            <a:r>
              <a:rPr lang="zh-CN" altLang="en-US" dirty="0"/>
              <a:t>算法中的</a:t>
            </a:r>
            <a:r>
              <a:rPr lang="en-US" altLang="zh-CN" dirty="0" err="1"/>
              <a:t>dfn</a:t>
            </a:r>
            <a:r>
              <a:rPr lang="zh-CN" altLang="en-US" dirty="0"/>
              <a:t>、</a:t>
            </a:r>
            <a:r>
              <a:rPr lang="en-US" altLang="zh-CN" dirty="0"/>
              <a:t>low</a:t>
            </a:r>
            <a:r>
              <a:rPr lang="zh-CN" altLang="en-US" dirty="0"/>
              <a:t>）</a:t>
            </a:r>
            <a:br>
              <a:rPr lang="en-US" altLang="zh-CN" dirty="0"/>
            </a:br>
            <a:endParaRPr lang="en-US" altLang="zh-CN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/>
              <a:t>需要掌握的：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（强）连通分量的定义、性质</a:t>
            </a:r>
            <a:endParaRPr lang="en-US" altLang="zh-CN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0001C2F-D4DA-8852-22CA-C8EB165B2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9771-5615-3143-A5AF-A97C8C7AB8F8}" type="datetime10">
              <a:rPr kumimoji="1" lang="zh-CN" altLang="en-US" smtClean="0"/>
              <a:t>15:31</a:t>
            </a:fld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7B8316-B91B-C586-B25F-1F5641D7A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E82F-035D-4549-9D51-02841711E3B0}" type="slidenum">
              <a:rPr kumimoji="1" lang="zh-CN" altLang="en-US" smtClean="0"/>
              <a:t>13</a:t>
            </a:fld>
            <a:endParaRPr kumimoji="1"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7E7D0D4D-EC35-41BC-F17A-2B975B036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图论：（强）连通分量和</a:t>
            </a:r>
            <a:r>
              <a:rPr lang="en-US" altLang="zh-CN" dirty="0"/>
              <a:t>Tarjan</a:t>
            </a:r>
            <a:r>
              <a:rPr lang="zh-CN" altLang="en-US" dirty="0"/>
              <a:t>算法</a:t>
            </a:r>
          </a:p>
        </p:txBody>
      </p:sp>
    </p:spTree>
    <p:extLst>
      <p:ext uri="{BB962C8B-B14F-4D97-AF65-F5344CB8AC3E}">
        <p14:creationId xmlns:p14="http://schemas.microsoft.com/office/powerpoint/2010/main" val="2997875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A8201-5D81-5215-DF66-F8D4E510A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52C1745-34D7-A8EA-05C8-5F38BCB51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6977"/>
            <a:ext cx="10515600" cy="463858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/>
              <a:t>复习关注点：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必选边</a:t>
            </a:r>
            <a:r>
              <a:rPr lang="en-US" altLang="zh-CN" dirty="0"/>
              <a:t>/</a:t>
            </a:r>
            <a:r>
              <a:rPr lang="zh-CN" altLang="en-US" dirty="0"/>
              <a:t>可替换边的判定（割性质）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从局部选择到全局最优的逻辑链（</a:t>
            </a:r>
            <a:r>
              <a:rPr lang="en-US" altLang="zh-CN" dirty="0"/>
              <a:t>Kruskal/Prim</a:t>
            </a:r>
            <a:r>
              <a:rPr lang="zh-CN" altLang="en-US" dirty="0"/>
              <a:t>算法的选择依据）</a:t>
            </a:r>
            <a:br>
              <a:rPr lang="en-US" altLang="zh-CN" dirty="0"/>
            </a:br>
            <a:endParaRPr lang="en-US" altLang="zh-CN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/>
              <a:t>需要掌握的：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最小生成树的性质、最小生成树中边的性质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dirty="0"/>
              <a:t>Kruskal</a:t>
            </a:r>
            <a:r>
              <a:rPr lang="zh-CN" altLang="en-US" dirty="0"/>
              <a:t>、</a:t>
            </a:r>
            <a:r>
              <a:rPr lang="en-US" altLang="zh-CN" dirty="0"/>
              <a:t>Prim</a:t>
            </a:r>
            <a:r>
              <a:rPr lang="zh-CN" altLang="en-US" dirty="0"/>
              <a:t>算法的流程、原理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A283848-9A78-9858-CEE8-6BB900E8B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9771-5615-3143-A5AF-A97C8C7AB8F8}" type="datetime10">
              <a:rPr kumimoji="1" lang="zh-CN" altLang="en-US" smtClean="0"/>
              <a:t>15:31</a:t>
            </a:fld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B990C5-583A-9F6F-AA63-B275BC8C6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E82F-035D-4549-9D51-02841711E3B0}" type="slidenum">
              <a:rPr kumimoji="1" lang="zh-CN" altLang="en-US" smtClean="0"/>
              <a:t>14</a:t>
            </a:fld>
            <a:endParaRPr kumimoji="1"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6B42A28-4377-6256-52E6-DFEB7273C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图论：最小生成树</a:t>
            </a:r>
          </a:p>
        </p:txBody>
      </p:sp>
    </p:spTree>
    <p:extLst>
      <p:ext uri="{BB962C8B-B14F-4D97-AF65-F5344CB8AC3E}">
        <p14:creationId xmlns:p14="http://schemas.microsoft.com/office/powerpoint/2010/main" val="942307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D80D6-8769-48F1-BEAA-549915D08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17E7277-E6BF-0787-E145-2B5638C36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356977"/>
            <a:ext cx="11094157" cy="463858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/>
              <a:t>复习关注点：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最短路模型与适用条件辨析（非负权</a:t>
            </a:r>
            <a:r>
              <a:rPr lang="en-US" altLang="zh-CN" dirty="0"/>
              <a:t>/</a:t>
            </a:r>
            <a:r>
              <a:rPr lang="zh-CN" altLang="en-US" dirty="0"/>
              <a:t>负权</a:t>
            </a:r>
            <a:r>
              <a:rPr lang="en-US" altLang="zh-CN" dirty="0"/>
              <a:t>/</a:t>
            </a:r>
            <a:r>
              <a:rPr lang="zh-CN" altLang="en-US" dirty="0"/>
              <a:t>全源的差异）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算法执行过程中各部分的语义理解（</a:t>
            </a:r>
            <a:r>
              <a:rPr lang="en-US" altLang="zh-CN" dirty="0" err="1"/>
              <a:t>dist</a:t>
            </a:r>
            <a:r>
              <a:rPr lang="zh-CN" altLang="en-US" dirty="0"/>
              <a:t>、松弛、收敛条件代表什么）</a:t>
            </a:r>
            <a:br>
              <a:rPr lang="en-US" altLang="zh-CN" dirty="0"/>
            </a:br>
            <a:endParaRPr lang="en-US" altLang="zh-CN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/>
              <a:t>需要掌握的：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三类最短路算法的流程、原理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最短路的性质、边之间的关系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FC3DD09-A05E-61C2-8300-3D4056494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9771-5615-3143-A5AF-A97C8C7AB8F8}" type="datetime10">
              <a:rPr kumimoji="1" lang="zh-CN" altLang="en-US" smtClean="0"/>
              <a:t>15:31</a:t>
            </a:fld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381A5A-8774-CE2A-2E96-1DE595CB5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E82F-035D-4549-9D51-02841711E3B0}" type="slidenum">
              <a:rPr kumimoji="1" lang="zh-CN" altLang="en-US" smtClean="0"/>
              <a:t>15</a:t>
            </a:fld>
            <a:endParaRPr kumimoji="1"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7BC6E2B9-AC98-0AF9-49D3-9DC369273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图论：最短路</a:t>
            </a:r>
          </a:p>
        </p:txBody>
      </p:sp>
    </p:spTree>
    <p:extLst>
      <p:ext uri="{BB962C8B-B14F-4D97-AF65-F5344CB8AC3E}">
        <p14:creationId xmlns:p14="http://schemas.microsoft.com/office/powerpoint/2010/main" val="25627538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83E69323-1F36-3709-7361-7331AE483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E80546C-D0D3-75F5-EA49-3E62DC132C07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61125"/>
            <a:ext cx="2743200" cy="365125"/>
          </a:xfrm>
        </p:spPr>
        <p:txBody>
          <a:bodyPr/>
          <a:lstStyle/>
          <a:p>
            <a:fld id="{52879771-5615-3143-A5AF-A97C8C7AB8F8}" type="datetime10">
              <a:rPr kumimoji="1" lang="zh-CN" altLang="en-US" smtClean="0"/>
              <a:t>15:31</a:t>
            </a:fld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1D550E-F85D-3D02-8FE5-5D0C9BBF9BC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61125"/>
            <a:ext cx="2743200" cy="365125"/>
          </a:xfrm>
        </p:spPr>
        <p:txBody>
          <a:bodyPr/>
          <a:lstStyle/>
          <a:p>
            <a:fld id="{7FE0E82F-035D-4549-9D51-02841711E3B0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1560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53490-F3DD-7605-9C31-1C450381C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4C427B0-48FA-DCD7-4619-416CEF279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6977"/>
            <a:ext cx="10515600" cy="463858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/>
              <a:t>复习关注点：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递归式的分层展开与变换思路（不符合</a:t>
            </a:r>
            <a:r>
              <a:rPr lang="en-US" altLang="zh-CN" dirty="0"/>
              <a:t>Master</a:t>
            </a:r>
            <a:r>
              <a:rPr lang="zh-CN" altLang="en-US" dirty="0"/>
              <a:t>定理怎么分析）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分析算法的时间复杂度（复杂度主导项的来源）</a:t>
            </a:r>
            <a:br>
              <a:rPr lang="en-US" altLang="zh-CN" dirty="0"/>
            </a:br>
            <a:endParaRPr lang="en-US" altLang="zh-CN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/>
              <a:t>需要掌握的：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dirty="0"/>
              <a:t>Master</a:t>
            </a:r>
            <a:r>
              <a:rPr lang="zh-CN" altLang="en-US" dirty="0"/>
              <a:t>定理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如何求解不符合</a:t>
            </a:r>
            <a:r>
              <a:rPr lang="en-US" altLang="zh-CN" dirty="0"/>
              <a:t>Master</a:t>
            </a:r>
            <a:r>
              <a:rPr lang="zh-CN" altLang="en-US" dirty="0"/>
              <a:t>定理的递归式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7D07E19-FBA9-BC1B-F9C0-3CEC6EB75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9771-5615-3143-A5AF-A97C8C7AB8F8}" type="datetime10">
              <a:rPr kumimoji="1" lang="zh-CN" altLang="en-US" smtClean="0"/>
              <a:t>15:31</a:t>
            </a:fld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E77537-7044-8696-ECD0-B0C00206C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E82F-035D-4549-9D51-02841711E3B0}" type="slidenum">
              <a:rPr kumimoji="1" lang="zh-CN" altLang="en-US" smtClean="0"/>
              <a:t>17</a:t>
            </a:fld>
            <a:endParaRPr kumimoji="1"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D2886D22-59CF-9FF3-0AE8-87B03B2C4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算法：递归与时间复杂度分析</a:t>
            </a:r>
          </a:p>
        </p:txBody>
      </p:sp>
    </p:spTree>
    <p:extLst>
      <p:ext uri="{BB962C8B-B14F-4D97-AF65-F5344CB8AC3E}">
        <p14:creationId xmlns:p14="http://schemas.microsoft.com/office/powerpoint/2010/main" val="39214947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0A0CC-696B-7B3C-1C59-8F28EC592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1013E1F-0549-0C8E-6CB4-53490050A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1200"/>
            <a:ext cx="11139311" cy="5168000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3600" dirty="0"/>
              <a:t>复习关注点：</a:t>
            </a:r>
            <a:endParaRPr lang="en-US" altLang="zh-CN" sz="3600" dirty="0"/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zh-CN" altLang="en-US" sz="3400" dirty="0"/>
              <a:t>关键不变量的设计与表述（变量语义</a:t>
            </a:r>
            <a:r>
              <a:rPr lang="en-US" altLang="zh-CN" sz="3400" dirty="0"/>
              <a:t>/</a:t>
            </a:r>
            <a:r>
              <a:rPr lang="zh-CN" altLang="en-US" sz="3400" dirty="0"/>
              <a:t>已排除集合</a:t>
            </a:r>
            <a:r>
              <a:rPr lang="en-US" altLang="zh-CN" sz="3400" dirty="0"/>
              <a:t>/</a:t>
            </a:r>
            <a:r>
              <a:rPr lang="zh-CN" altLang="en-US" sz="3400" dirty="0"/>
              <a:t>仍可能集合）</a:t>
            </a:r>
            <a:endParaRPr lang="en-US" altLang="zh-CN" sz="3400" dirty="0"/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zh-CN" altLang="en-US" sz="3400" dirty="0"/>
              <a:t>形式化正确性论证的结构（初始化</a:t>
            </a:r>
            <a:r>
              <a:rPr lang="en-US" altLang="zh-CN" sz="3400" dirty="0"/>
              <a:t>—</a:t>
            </a:r>
            <a:r>
              <a:rPr lang="zh-CN" altLang="en-US" sz="3400" dirty="0"/>
              <a:t>保持</a:t>
            </a:r>
            <a:r>
              <a:rPr lang="en-US" altLang="zh-CN" sz="3400" dirty="0"/>
              <a:t>—</a:t>
            </a:r>
            <a:r>
              <a:rPr lang="zh-CN" altLang="en-US" sz="3400" dirty="0"/>
              <a:t>终止的逻辑闭环）</a:t>
            </a:r>
            <a:endParaRPr lang="en-US" altLang="zh-CN" sz="3400" dirty="0"/>
          </a:p>
          <a:p>
            <a:pPr>
              <a:lnSpc>
                <a:spcPct val="170000"/>
              </a:lnSpc>
              <a:spcBef>
                <a:spcPts val="0"/>
              </a:spcBef>
            </a:pPr>
            <a:endParaRPr lang="en-US" altLang="zh-CN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zh-CN" altLang="en-US" sz="3400" dirty="0"/>
              <a:t>需要掌握的：</a:t>
            </a:r>
            <a:endParaRPr lang="en-US" altLang="zh-CN" sz="3400" dirty="0"/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zh-CN" altLang="en-US" sz="3400" dirty="0"/>
              <a:t>循环不变式的概念，如何定义循环不变式</a:t>
            </a:r>
            <a:endParaRPr lang="en-US" altLang="zh-CN" sz="3400" dirty="0"/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zh-CN" altLang="en-US" sz="3400" dirty="0"/>
              <a:t>用循环不变式证明循环</a:t>
            </a:r>
            <a:r>
              <a:rPr lang="en-US" altLang="zh-CN" sz="3400" dirty="0"/>
              <a:t>/</a:t>
            </a:r>
            <a:r>
              <a:rPr lang="zh-CN" altLang="en-US" sz="3400" dirty="0"/>
              <a:t>算法正确性，三段论证明</a:t>
            </a:r>
            <a:endParaRPr lang="en-US" altLang="zh-CN" sz="3400" dirty="0"/>
          </a:p>
          <a:p>
            <a:pPr marL="540000" lvl="1">
              <a:lnSpc>
                <a:spcPct val="170000"/>
              </a:lnSpc>
              <a:spcBef>
                <a:spcPts val="0"/>
              </a:spcBef>
            </a:pPr>
            <a:r>
              <a:rPr lang="zh-CN" altLang="en-US" sz="2900" dirty="0"/>
              <a:t>初始化：证明第一次进入循环之前，不变式成立</a:t>
            </a:r>
            <a:endParaRPr lang="en-US" altLang="zh-CN" sz="2900" dirty="0"/>
          </a:p>
          <a:p>
            <a:pPr marL="540000" lvl="1">
              <a:lnSpc>
                <a:spcPct val="170000"/>
              </a:lnSpc>
              <a:spcBef>
                <a:spcPts val="0"/>
              </a:spcBef>
            </a:pPr>
            <a:r>
              <a:rPr lang="zh-CN" altLang="en-US" sz="2900" dirty="0"/>
              <a:t>保持：假设某次迭代开始时不变式成立，证明这一轮循环体执行后不变式依然成立</a:t>
            </a:r>
            <a:endParaRPr lang="en-US" altLang="zh-CN" sz="2900" dirty="0"/>
          </a:p>
          <a:p>
            <a:pPr marL="540000" lvl="1">
              <a:lnSpc>
                <a:spcPct val="170000"/>
              </a:lnSpc>
              <a:spcBef>
                <a:spcPts val="0"/>
              </a:spcBef>
            </a:pPr>
            <a:r>
              <a:rPr lang="zh-CN" altLang="en-US" sz="2900" dirty="0"/>
              <a:t>终止：当循环结束时，结合不变式</a:t>
            </a:r>
            <a:r>
              <a:rPr lang="en-US" altLang="zh-CN" sz="2900" dirty="0"/>
              <a:t>+</a:t>
            </a:r>
            <a:r>
              <a:rPr lang="zh-CN" altLang="en-US" sz="2900" dirty="0"/>
              <a:t>终止条件，推出算法得到的结果是正确的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3473FAA-5A5C-1CC2-C02D-A07A7DDF2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9771-5615-3143-A5AF-A97C8C7AB8F8}" type="datetime10">
              <a:rPr kumimoji="1" lang="zh-CN" altLang="en-US" smtClean="0"/>
              <a:t>15:31</a:t>
            </a:fld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063745-3402-D2B3-2122-6CA521A36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E82F-035D-4549-9D51-02841711E3B0}" type="slidenum">
              <a:rPr kumimoji="1" lang="zh-CN" altLang="en-US" smtClean="0"/>
              <a:t>18</a:t>
            </a:fld>
            <a:endParaRPr kumimoji="1"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B18BB6FE-B165-E41D-BE2B-60D44745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**算法：正确性分析（循环不变式）</a:t>
            </a:r>
          </a:p>
        </p:txBody>
      </p:sp>
    </p:spTree>
    <p:extLst>
      <p:ext uri="{BB962C8B-B14F-4D97-AF65-F5344CB8AC3E}">
        <p14:creationId xmlns:p14="http://schemas.microsoft.com/office/powerpoint/2010/main" val="9532242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8E5D3-8098-0746-13D1-1FA187D69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CFA296D-D201-375F-5A44-F74862349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1200"/>
            <a:ext cx="10515600" cy="5330182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3200" dirty="0"/>
              <a:t>复习关注点：</a:t>
            </a:r>
            <a:endParaRPr lang="en-US" altLang="zh-CN" sz="3200" dirty="0"/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zh-CN" altLang="en-US" sz="3100" dirty="0"/>
              <a:t>策略选择背后的原理（局部选择何时能导向全局最优）</a:t>
            </a:r>
            <a:endParaRPr lang="en-US" altLang="zh-CN" sz="3100" dirty="0"/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zh-CN" altLang="en-US" sz="3100" dirty="0"/>
              <a:t>建模与转移的抽象能力（状态如何表达信息、转移如何避免遗漏</a:t>
            </a:r>
            <a:r>
              <a:rPr lang="en-US" altLang="zh-CN" sz="3100" dirty="0"/>
              <a:t>/</a:t>
            </a:r>
            <a:r>
              <a:rPr lang="zh-CN" altLang="en-US" sz="3100" dirty="0"/>
              <a:t>重复）</a:t>
            </a:r>
            <a:br>
              <a:rPr lang="en-US" altLang="zh-CN" sz="3100" dirty="0"/>
            </a:br>
            <a:endParaRPr lang="en-US" altLang="zh-CN" sz="3100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zh-CN" altLang="en-US" sz="3100" dirty="0"/>
              <a:t>需要掌握的：</a:t>
            </a:r>
            <a:endParaRPr lang="en-US" altLang="zh-CN" sz="3100" dirty="0"/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zh-CN" altLang="en-US" sz="3100" dirty="0"/>
              <a:t>贪心为何正确</a:t>
            </a:r>
            <a:endParaRPr lang="en-US" altLang="zh-CN" sz="3100" dirty="0"/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zh-CN" altLang="en-US" sz="3100" dirty="0"/>
              <a:t>动态规划建模三要素：状态定义 </a:t>
            </a:r>
            <a:r>
              <a:rPr lang="en-US" altLang="zh-CN" sz="3100" dirty="0"/>
              <a:t>+ </a:t>
            </a:r>
            <a:r>
              <a:rPr lang="zh-CN" altLang="en-US" sz="3100" dirty="0"/>
              <a:t>状态转移方程 </a:t>
            </a:r>
            <a:r>
              <a:rPr lang="en-US" altLang="zh-CN" sz="3100" dirty="0"/>
              <a:t>+ </a:t>
            </a:r>
            <a:r>
              <a:rPr lang="zh-CN" altLang="en-US" sz="3100" dirty="0"/>
              <a:t>遍历顺序与边界条件</a:t>
            </a:r>
            <a:endParaRPr lang="en-US" altLang="zh-CN" sz="31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461DC27-0A56-EEFC-44F2-EBDC99330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9771-5615-3143-A5AF-A97C8C7AB8F8}" type="datetime10">
              <a:rPr kumimoji="1" lang="zh-CN" altLang="en-US" smtClean="0"/>
              <a:t>15:31</a:t>
            </a:fld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7BB9E9-8FB3-0594-30F9-DE5929F4F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E82F-035D-4549-9D51-02841711E3B0}" type="slidenum">
              <a:rPr kumimoji="1" lang="zh-CN" altLang="en-US" smtClean="0"/>
              <a:t>19</a:t>
            </a:fld>
            <a:endParaRPr kumimoji="1"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F8453C20-717F-5F34-2DF0-69D9C6541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**算法：贪心</a:t>
            </a:r>
            <a:r>
              <a:rPr lang="en-US" altLang="zh-CN" dirty="0"/>
              <a:t>+</a:t>
            </a:r>
            <a:r>
              <a:rPr lang="zh-CN" altLang="en-US" dirty="0"/>
              <a:t>动态规划</a:t>
            </a:r>
          </a:p>
        </p:txBody>
      </p:sp>
    </p:spTree>
    <p:extLst>
      <p:ext uri="{BB962C8B-B14F-4D97-AF65-F5344CB8AC3E}">
        <p14:creationId xmlns:p14="http://schemas.microsoft.com/office/powerpoint/2010/main" val="42692234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D6813-DC1D-9FB9-C8A6-597FC53D9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BEB433A9-0B26-6F29-D9A8-9B46F4D66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几道算法设计例题</a:t>
            </a:r>
            <a:br>
              <a:rPr lang="en-US" altLang="zh-CN" dirty="0"/>
            </a:br>
            <a:r>
              <a:rPr lang="zh-CN" altLang="en-US" sz="2800" dirty="0"/>
              <a:t>没被选中做期末考的题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2A9D808-3737-059C-E6D9-14C991EFB4B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61125"/>
            <a:ext cx="2743200" cy="365125"/>
          </a:xfrm>
        </p:spPr>
        <p:txBody>
          <a:bodyPr/>
          <a:lstStyle/>
          <a:p>
            <a:fld id="{52879771-5615-3143-A5AF-A97C8C7AB8F8}" type="datetime10">
              <a:rPr kumimoji="1" lang="zh-CN" altLang="en-US" smtClean="0"/>
              <a:t>15:31</a:t>
            </a:fld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6B9D05-28B6-B5C9-D127-551717511D3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61125"/>
            <a:ext cx="2743200" cy="365125"/>
          </a:xfrm>
        </p:spPr>
        <p:txBody>
          <a:bodyPr/>
          <a:lstStyle/>
          <a:p>
            <a:fld id="{7FE0E82F-035D-4549-9D51-02841711E3B0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79604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799F3511-4564-6BF9-4DEC-372659AF93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zh-CN" altLang="zh-CN" sz="2000" dirty="0"/>
                  <a:t>现在有</a:t>
                </a:r>
                <a14:m>
                  <m:oMath xmlns:m="http://schemas.openxmlformats.org/officeDocument/2006/math">
                    <m:r>
                      <a:rPr lang="zh-CN" altLang="zh-CN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zh-CN" sz="2000" dirty="0"/>
                  <a:t>块木板，其中第</a:t>
                </a:r>
                <a14:m>
                  <m:oMath xmlns:m="http://schemas.openxmlformats.org/officeDocument/2006/math">
                    <m:r>
                      <a:rPr lang="zh-CN" altLang="zh-CN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000" dirty="0"/>
                  <a:t>块的长度为</a:t>
                </a:r>
                <a14:m>
                  <m:oMath xmlns:m="http://schemas.openxmlformats.org/officeDocument/2006/math">
                    <m:r>
                      <a:rPr lang="zh-CN" altLang="zh-CN" sz="20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2000" dirty="0"/>
                  <a:t>。你需要使用所有木板制造</a:t>
                </a:r>
                <a14:m>
                  <m:oMath xmlns:m="http://schemas.openxmlformats.org/officeDocument/2006/math">
                    <m:r>
                      <a:rPr lang="zh-CN" altLang="zh-CN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000" dirty="0"/>
                  <a:t>个木桶，每个木桶由</a:t>
                </a:r>
                <a14:m>
                  <m:oMath xmlns:m="http://schemas.openxmlformats.org/officeDocument/2006/math">
                    <m:r>
                      <a:rPr lang="zh-CN" altLang="zh-CN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000" dirty="0"/>
                  <a:t>块木板制成。为计算简便，假设木桶的横截面的面积为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 1 </m:t>
                    </m:r>
                  </m:oMath>
                </a14:m>
                <a:r>
                  <a:rPr lang="zh-CN" altLang="zh-CN" sz="2000" dirty="0"/>
                  <a:t>，也就是说木桶的容量在数值上等于制造它所用的最短的木板的长度。为了使制造出的木桶足够相似，你还需要保证任意两个木桶的容量之差不能超过</a:t>
                </a:r>
                <a14:m>
                  <m:oMath xmlns:m="http://schemas.openxmlformats.org/officeDocument/2006/math">
                    <m:r>
                      <a:rPr lang="zh-CN" altLang="zh-CN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000" dirty="0"/>
                  <a:t>。定义一种木桶制造方法的价值为制成的所有木桶的容量之和。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altLang="zh-CN" sz="2000" dirty="0"/>
                  <a:t>1.</a:t>
                </a:r>
                <a:r>
                  <a:rPr lang="zh-CN" altLang="zh-CN" sz="2000" dirty="0"/>
                  <a:t>请设计一个算法找到一种价值最大的木桶制造方法，并输出该价值。若不存在符合要求的制造方法，请输出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 −1 </m:t>
                    </m:r>
                  </m:oMath>
                </a14:m>
                <a:r>
                  <a:rPr lang="zh-CN" altLang="zh-CN" sz="2000" dirty="0"/>
                  <a:t>。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altLang="zh-CN" sz="2000" dirty="0"/>
                  <a:t>2.</a:t>
                </a:r>
                <a:r>
                  <a:rPr lang="zh-CN" altLang="zh-CN" sz="2000" dirty="0"/>
                  <a:t>分析你设计的算法的时间复杂度。</a:t>
                </a: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799F3511-4564-6BF9-4DEC-372659AF93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3AFE978-4E52-4A0C-7CA4-1CBDD78FC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9771-5615-3143-A5AF-A97C8C7AB8F8}" type="datetime10">
              <a:rPr kumimoji="1" lang="zh-CN" altLang="en-US" smtClean="0"/>
              <a:t>15:31</a:t>
            </a:fld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E93D29-3ECC-94C0-E228-B4679DCCC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E82F-035D-4549-9D51-02841711E3B0}" type="slidenum">
              <a:rPr kumimoji="1" lang="zh-CN" altLang="en-US" smtClean="0"/>
              <a:t>21</a:t>
            </a:fld>
            <a:endParaRPr kumimoji="1"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BDFF0508-A6F9-E46A-9A33-8B371F705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几道贪心</a:t>
            </a:r>
            <a:r>
              <a:rPr lang="en-US" altLang="zh-CN" dirty="0"/>
              <a:t>/</a:t>
            </a:r>
            <a:r>
              <a:rPr lang="zh-CN" altLang="en-US" dirty="0"/>
              <a:t>动态规划题目</a:t>
            </a:r>
          </a:p>
        </p:txBody>
      </p:sp>
    </p:spTree>
    <p:extLst>
      <p:ext uri="{BB962C8B-B14F-4D97-AF65-F5344CB8AC3E}">
        <p14:creationId xmlns:p14="http://schemas.microsoft.com/office/powerpoint/2010/main" val="30822552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9E30E-2ACA-A8A1-7A1F-911D98E78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DEC82C6A-F8CC-5689-6D68-0D48BFECE5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45997"/>
                <a:ext cx="11218333" cy="4830624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7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200">
                        <a:latin typeface="Cambria Math" panose="02040503050406030204" pitchFamily="18" charset="0"/>
                      </a:rPr>
                      <m:t>merge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200" dirty="0"/>
                  <a:t>函数为归并排序的核心组件之一，它用于将两个升序数组</a:t>
                </a:r>
                <a14:m>
                  <m:oMath xmlns:m="http://schemas.openxmlformats.org/officeDocument/2006/math">
                    <m:r>
                      <a:rPr lang="zh-CN" altLang="zh-CN" sz="22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200" dirty="0"/>
                  <a:t>合并为一个新的升序数组。该函数为递归函数，其主要流程为：</a:t>
                </a:r>
              </a:p>
              <a:p>
                <a:pPr marL="0" lvl="0" indent="0">
                  <a:lnSpc>
                    <a:spcPct val="170000"/>
                  </a:lnSpc>
                  <a:spcBef>
                    <a:spcPts val="0"/>
                  </a:spcBef>
                  <a:buNone/>
                </a:pPr>
                <a:r>
                  <a:rPr lang="zh-CN" altLang="zh-CN" sz="2200" dirty="0"/>
                  <a:t>若</a:t>
                </a:r>
                <a14:m>
                  <m:oMath xmlns:m="http://schemas.openxmlformats.org/officeDocument/2006/math">
                    <m:r>
                      <a:rPr lang="zh-CN" altLang="zh-CN" sz="22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200" dirty="0"/>
                  <a:t>至少一个为空，则返回另一个数组。特别的，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200">
                        <a:latin typeface="Cambria Math" panose="02040503050406030204" pitchFamily="18" charset="0"/>
                      </a:rPr>
                      <m:t>merge</m:t>
                    </m:r>
                    <m:d>
                      <m:d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∅,∅</m:t>
                        </m:r>
                      </m:e>
                    </m:d>
                    <m:r>
                      <a:rPr lang="en-US" altLang="zh-CN" sz="2200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zh-CN" altLang="zh-CN" sz="2200" dirty="0"/>
                  <a:t>；</a:t>
                </a:r>
              </a:p>
              <a:p>
                <a:pPr marL="0" lvl="0" indent="0">
                  <a:lnSpc>
                    <a:spcPct val="170000"/>
                  </a:lnSpc>
                  <a:spcBef>
                    <a:spcPts val="0"/>
                  </a:spcBef>
                  <a:buNone/>
                </a:pPr>
                <a:r>
                  <a:rPr lang="zh-CN" altLang="zh-CN" sz="2200" dirty="0"/>
                  <a:t>若</a:t>
                </a:r>
                <a14:m>
                  <m:oMath xmlns:m="http://schemas.openxmlformats.org/officeDocument/2006/math">
                    <m:r>
                      <a:rPr lang="zh-CN" altLang="zh-CN" sz="220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200" dirty="0"/>
                  <a:t>，那么</a:t>
                </a:r>
                <a14:m>
                  <m:oMath xmlns:m="http://schemas.openxmlformats.org/officeDocument/2006/math">
                    <m:r>
                      <a:rPr lang="zh-CN" altLang="zh-CN" sz="22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latin typeface="Cambria Math" panose="02040503050406030204" pitchFamily="18" charset="0"/>
                      </a:rPr>
                      <m:t>merge</m:t>
                    </m:r>
                    <m:d>
                      <m:d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22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2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200">
                        <a:latin typeface="Cambria Math" panose="02040503050406030204" pitchFamily="18" charset="0"/>
                      </a:rPr>
                      <m:t>merge</m:t>
                    </m:r>
                    <m:d>
                      <m:d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2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20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,⋯, </m:t>
                            </m:r>
                            <m:sSub>
                              <m:sSubPr>
                                <m:ctrlPr>
                                  <a:rPr lang="zh-CN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zh-CN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20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d>
                              </m:sub>
                            </m:sSub>
                          </m:e>
                        </m:d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zh-CN" altLang="zh-CN" sz="2200" dirty="0"/>
                  <a:t>；</a:t>
                </a:r>
              </a:p>
              <a:p>
                <a:pPr marL="0" lvl="0" indent="0">
                  <a:lnSpc>
                    <a:spcPct val="170000"/>
                  </a:lnSpc>
                  <a:spcBef>
                    <a:spcPts val="0"/>
                  </a:spcBef>
                  <a:buNone/>
                </a:pPr>
                <a:r>
                  <a:rPr lang="zh-CN" altLang="zh-CN" sz="2200" dirty="0"/>
                  <a:t>否则，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200">
                        <a:latin typeface="Cambria Math" panose="02040503050406030204" pitchFamily="18" charset="0"/>
                      </a:rPr>
                      <m:t>merge</m:t>
                    </m:r>
                    <m:d>
                      <m:d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22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2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200">
                        <a:latin typeface="Cambria Math" panose="02040503050406030204" pitchFamily="18" charset="0"/>
                      </a:rPr>
                      <m:t>merge</m:t>
                    </m:r>
                    <m:d>
                      <m:d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2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20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,⋯, </m:t>
                            </m:r>
                            <m:sSub>
                              <m:sSubPr>
                                <m:ctrlPr>
                                  <a:rPr lang="zh-CN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zh-CN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20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zh-CN" altLang="zh-CN" sz="2200" dirty="0"/>
                  <a:t>。</a:t>
                </a:r>
              </a:p>
              <a:p>
                <a:pPr marL="0" indent="0">
                  <a:lnSpc>
                    <a:spcPct val="170000"/>
                  </a:lnSpc>
                  <a:spcBef>
                    <a:spcPts val="0"/>
                  </a:spcBef>
                  <a:buNone/>
                </a:pPr>
                <a:r>
                  <a:rPr lang="zh-CN" altLang="zh-CN" sz="2200" dirty="0"/>
                  <a:t>本题中我们考虑更一般的情况，即输入的</a:t>
                </a:r>
                <a14:m>
                  <m:oMath xmlns:m="http://schemas.openxmlformats.org/officeDocument/2006/math">
                    <m:r>
                      <a:rPr lang="zh-CN" altLang="zh-CN" sz="22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200" dirty="0"/>
                  <a:t>两个数组不一定按升序排列的情况。</a:t>
                </a:r>
              </a:p>
              <a:p>
                <a:pPr marL="0" indent="0">
                  <a:lnSpc>
                    <a:spcPct val="170000"/>
                  </a:lnSpc>
                  <a:spcBef>
                    <a:spcPts val="0"/>
                  </a:spcBef>
                  <a:buNone/>
                </a:pPr>
                <a:r>
                  <a:rPr lang="en-US" altLang="zh-CN" sz="2200" dirty="0"/>
                  <a:t>1.</a:t>
                </a:r>
                <a:r>
                  <a:rPr lang="zh-CN" altLang="zh-CN" sz="2200" dirty="0"/>
                  <a:t>给定一个长度为</a:t>
                </a:r>
                <a14:m>
                  <m:oMath xmlns:m="http://schemas.openxmlformats.org/officeDocument/2006/math">
                    <m:r>
                      <a:rPr lang="en-US" altLang="zh-CN" sz="2200">
                        <a:latin typeface="Cambria Math" panose="02040503050406030204" pitchFamily="18" charset="0"/>
                      </a:rPr>
                      <m:t> 2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≤2×</m:t>
                    </m:r>
                    <m:sSup>
                      <m:sSup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sz="220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zh-CN" sz="2200" dirty="0"/>
                  <a:t>的排列</a:t>
                </a:r>
                <a14:m>
                  <m:oMath xmlns:m="http://schemas.openxmlformats.org/officeDocument/2006/math">
                    <m:r>
                      <a:rPr lang="zh-CN" altLang="zh-CN" sz="22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sz="2200" dirty="0"/>
                  <a:t>，请设计一种算法判断是否存在两个长度为</a:t>
                </a:r>
                <a14:m>
                  <m:oMath xmlns:m="http://schemas.openxmlformats.org/officeDocument/2006/math">
                    <m:r>
                      <a:rPr lang="zh-CN" altLang="zh-CN" sz="22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200" dirty="0"/>
                  <a:t>的数组</a:t>
                </a:r>
                <a14:m>
                  <m:oMath xmlns:m="http://schemas.openxmlformats.org/officeDocument/2006/math">
                    <m:r>
                      <a:rPr lang="zh-CN" altLang="zh-CN" sz="22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200" dirty="0"/>
                  <a:t>使得</a:t>
                </a:r>
                <a14:m>
                  <m:oMath xmlns:m="http://schemas.openxmlformats.org/officeDocument/2006/math">
                    <m:r>
                      <a:rPr lang="zh-CN" altLang="zh-CN" sz="22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latin typeface="Cambria Math" panose="02040503050406030204" pitchFamily="18" charset="0"/>
                      </a:rPr>
                      <m:t>merge</m:t>
                    </m:r>
                    <m:d>
                      <m:d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22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sz="2200" dirty="0"/>
                  <a:t>。</a:t>
                </a:r>
              </a:p>
              <a:p>
                <a:pPr marL="0" indent="0">
                  <a:lnSpc>
                    <a:spcPct val="170000"/>
                  </a:lnSpc>
                  <a:spcBef>
                    <a:spcPts val="0"/>
                  </a:spcBef>
                  <a:buNone/>
                </a:pPr>
                <a:r>
                  <a:rPr lang="en-US" altLang="zh-CN" sz="2200" dirty="0"/>
                  <a:t>2.</a:t>
                </a:r>
                <a:r>
                  <a:rPr lang="zh-CN" altLang="zh-CN" sz="2200" dirty="0"/>
                  <a:t>分析你设计的算法的时间复杂度。</a:t>
                </a: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DEC82C6A-F8CC-5689-6D68-0D48BFECE5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45997"/>
                <a:ext cx="11218333" cy="4830624"/>
              </a:xfrm>
              <a:blipFill>
                <a:blip r:embed="rId2"/>
                <a:stretch>
                  <a:fillRect l="-6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DB6B9B9-F2FE-7AF7-49EB-A6325F21A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9771-5615-3143-A5AF-A97C8C7AB8F8}" type="datetime10">
              <a:rPr kumimoji="1" lang="zh-CN" altLang="en-US" smtClean="0"/>
              <a:t>15:31</a:t>
            </a:fld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A42F9E-5D38-FA3B-E92D-BE83C9D80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E82F-035D-4549-9D51-02841711E3B0}" type="slidenum">
              <a:rPr kumimoji="1" lang="zh-CN" altLang="en-US" smtClean="0"/>
              <a:t>22</a:t>
            </a:fld>
            <a:endParaRPr kumimoji="1"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2D634948-866E-411D-E7C7-B2E20CE82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几道贪心</a:t>
            </a:r>
            <a:r>
              <a:rPr lang="en-US" altLang="zh-CN" dirty="0"/>
              <a:t>/</a:t>
            </a:r>
            <a:r>
              <a:rPr lang="zh-CN" altLang="en-US" dirty="0"/>
              <a:t>动态规划题目</a:t>
            </a:r>
          </a:p>
        </p:txBody>
      </p:sp>
    </p:spTree>
    <p:extLst>
      <p:ext uri="{BB962C8B-B14F-4D97-AF65-F5344CB8AC3E}">
        <p14:creationId xmlns:p14="http://schemas.microsoft.com/office/powerpoint/2010/main" val="27017206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23466-C8A8-6AF6-0895-3C290DA16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CFB5406-94B9-6380-988C-8B7D88CD8C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45741"/>
                <a:ext cx="10515600" cy="3984215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zh-CN" altLang="zh-CN" sz="2000" dirty="0"/>
                  <a:t>现在有</a:t>
                </a:r>
                <a14:m>
                  <m:oMath xmlns:m="http://schemas.openxmlformats.org/officeDocument/2006/math">
                    <m:r>
                      <a:rPr lang="zh-CN" altLang="zh-CN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≤5×</m:t>
                    </m:r>
                    <m:sSup>
                      <m:sSup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zh-CN" sz="2000" dirty="0"/>
                  <a:t>个格子排成一列，其中第</a:t>
                </a:r>
                <a14:m>
                  <m:oMath xmlns:m="http://schemas.openxmlformats.org/officeDocument/2006/math">
                    <m:r>
                      <a:rPr lang="zh-CN" altLang="zh-CN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000" dirty="0"/>
                  <a:t>个格子的颜色为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2000" dirty="0"/>
                  <a:t>。你需要首先选择一个位置</a:t>
                </a:r>
                <a14:m>
                  <m:oMath xmlns:m="http://schemas.openxmlformats.org/officeDocument/2006/math">
                    <m:r>
                      <a:rPr lang="zh-CN" altLang="zh-CN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zh-CN" sz="2000" dirty="0"/>
                  <a:t>。之后，你可以对这一列格子进行若干次操作，每次操作时，你可以选择满足以下条件的一段连续区间</a:t>
                </a:r>
                <a14:m>
                  <m:oMath xmlns:m="http://schemas.openxmlformats.org/officeDocument/2006/math">
                    <m:r>
                      <a:rPr lang="zh-CN" altLang="zh-CN" sz="20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zh-CN" altLang="zh-CN" sz="2000" dirty="0"/>
                  <a:t>，并将它们涂上任意一种其它颜色：</a:t>
                </a:r>
              </a:p>
              <a:p>
                <a:pPr lvl="0"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zh-CN" sz="2000" dirty="0"/>
                  <a:t>；</a:t>
                </a:r>
              </a:p>
              <a:p>
                <a:pPr lvl="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zh-CN" sz="2000" dirty="0"/>
                  <a:t>区间</a:t>
                </a:r>
                <a14:m>
                  <m:oMath xmlns:m="http://schemas.openxmlformats.org/officeDocument/2006/math">
                    <m:r>
                      <a:rPr lang="zh-CN" altLang="zh-CN" sz="20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000" dirty="0"/>
                  <a:t>中格子的颜色均相同。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altLang="zh-CN" sz="2000" dirty="0"/>
                  <a:t>1.</a:t>
                </a:r>
                <a:r>
                  <a:rPr lang="zh-CN" altLang="zh-CN" sz="2000" dirty="0"/>
                  <a:t>请设计一种算法，计算将所有格子全涂成同一种颜色至少需要的操作次数。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altLang="zh-CN" sz="2000" dirty="0"/>
                  <a:t>2.</a:t>
                </a:r>
                <a:r>
                  <a:rPr lang="zh-CN" altLang="zh-CN" sz="2000" dirty="0"/>
                  <a:t>分析你设计的算法的时间复杂度。</a:t>
                </a: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CFB5406-94B9-6380-988C-8B7D88CD8C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45741"/>
                <a:ext cx="10515600" cy="3984215"/>
              </a:xfrm>
              <a:blipFill>
                <a:blip r:embed="rId2"/>
                <a:stretch>
                  <a:fillRect l="-724" r="-3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FA8F021-5F2E-B44A-085D-A421A70CD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9771-5615-3143-A5AF-A97C8C7AB8F8}" type="datetime10">
              <a:rPr kumimoji="1" lang="zh-CN" altLang="en-US" smtClean="0"/>
              <a:t>15:31</a:t>
            </a:fld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D48432-EE15-BF90-FAC5-1E7A1396C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E82F-035D-4549-9D51-02841711E3B0}" type="slidenum">
              <a:rPr kumimoji="1" lang="zh-CN" altLang="en-US" smtClean="0"/>
              <a:t>23</a:t>
            </a:fld>
            <a:endParaRPr kumimoji="1"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85BB8336-2205-236A-6C8F-C2D14059D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几道贪心</a:t>
            </a:r>
            <a:r>
              <a:rPr lang="en-US" altLang="zh-CN" dirty="0"/>
              <a:t>/</a:t>
            </a:r>
            <a:r>
              <a:rPr lang="zh-CN" altLang="en-US" dirty="0"/>
              <a:t>动态规划题目</a:t>
            </a:r>
          </a:p>
        </p:txBody>
      </p:sp>
    </p:spTree>
    <p:extLst>
      <p:ext uri="{BB962C8B-B14F-4D97-AF65-F5344CB8AC3E}">
        <p14:creationId xmlns:p14="http://schemas.microsoft.com/office/powerpoint/2010/main" val="7858782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284FC-4B8C-2BA2-EF29-076549D92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BBED1E92-6CE1-057B-E03E-6A25A1C5A9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45741"/>
                <a:ext cx="10515600" cy="3984215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zh-CN" altLang="zh-CN" sz="2000" dirty="0"/>
                  <a:t>现在有</a:t>
                </a:r>
                <a14:m>
                  <m:oMath xmlns:m="http://schemas.openxmlformats.org/officeDocument/2006/math">
                    <m:r>
                      <a:rPr lang="zh-CN" altLang="zh-CN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≤5×</m:t>
                    </m:r>
                    <m:sSup>
                      <m:sSup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zh-CN" sz="2000" dirty="0"/>
                  <a:t>堆石子排成一列，其中第</a:t>
                </a:r>
                <a14:m>
                  <m:oMath xmlns:m="http://schemas.openxmlformats.org/officeDocument/2006/math">
                    <m:r>
                      <a:rPr lang="zh-CN" altLang="zh-CN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000" dirty="0"/>
                  <a:t>堆石子的大小为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≥0)</m:t>
                    </m:r>
                  </m:oMath>
                </a14:m>
                <a:r>
                  <a:rPr lang="zh-CN" altLang="zh-CN" sz="2000" dirty="0"/>
                  <a:t>。你每次可以将连续的</a:t>
                </a:r>
                <a14:m>
                  <m:oMath xmlns:m="http://schemas.openxmlformats.org/officeDocument/2006/math">
                    <m:r>
                      <a:rPr lang="zh-CN" altLang="zh-CN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000" dirty="0"/>
                  <a:t>堆石子合并成一堆，合并的收益为参与合并的所有石子堆的大小之和。题目保证</a:t>
                </a:r>
                <a14:m>
                  <m:oMath xmlns:m="http://schemas.openxmlformats.org/officeDocument/2006/math">
                    <m:r>
                      <a:rPr lang="zh-CN" altLang="zh-CN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sz="2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1)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+1 </m:t>
                    </m:r>
                  </m:oMath>
                </a14:m>
                <a:r>
                  <a:rPr lang="zh-CN" altLang="zh-CN" sz="2000" dirty="0"/>
                  <a:t>，即此列石子可以被合至一堆。请设计一种算法找到所有合并方法的收益的最大值。</a:t>
                </a: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BBED1E92-6CE1-057B-E03E-6A25A1C5A9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45741"/>
                <a:ext cx="10515600" cy="3984215"/>
              </a:xfrm>
              <a:blipFill>
                <a:blip r:embed="rId2"/>
                <a:stretch>
                  <a:fillRect l="-724" r="-4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2C28B56-E9C5-8EAC-196F-AC8697AA8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9771-5615-3143-A5AF-A97C8C7AB8F8}" type="datetime10">
              <a:rPr kumimoji="1" lang="zh-CN" altLang="en-US" smtClean="0"/>
              <a:t>15:31</a:t>
            </a:fld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7470D1-D067-9758-4550-E30DE9ED8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E82F-035D-4549-9D51-02841711E3B0}" type="slidenum">
              <a:rPr kumimoji="1" lang="zh-CN" altLang="en-US" smtClean="0"/>
              <a:t>24</a:t>
            </a:fld>
            <a:endParaRPr kumimoji="1"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73EC62F6-5B6E-6018-CF11-4D5942965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几道贪心</a:t>
            </a:r>
            <a:r>
              <a:rPr lang="en-US" altLang="zh-CN" dirty="0"/>
              <a:t>/</a:t>
            </a:r>
            <a:r>
              <a:rPr lang="zh-CN" altLang="en-US" dirty="0"/>
              <a:t>动态规划题目</a:t>
            </a:r>
          </a:p>
        </p:txBody>
      </p:sp>
    </p:spTree>
    <p:extLst>
      <p:ext uri="{BB962C8B-B14F-4D97-AF65-F5344CB8AC3E}">
        <p14:creationId xmlns:p14="http://schemas.microsoft.com/office/powerpoint/2010/main" val="823290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2023242" y="2448150"/>
            <a:ext cx="8145517" cy="705600"/>
          </a:xfrm>
        </p:spPr>
        <p:txBody>
          <a:bodyPr/>
          <a:lstStyle/>
          <a:p>
            <a:r>
              <a:rPr lang="en-US" altLang="zh-CN" sz="8800" dirty="0">
                <a:latin typeface="Arial" panose="020B0604020202020204" pitchFamily="34" charset="0"/>
                <a:cs typeface="Arial" panose="020B0604020202020204" pitchFamily="34" charset="0"/>
              </a:rPr>
              <a:t>Thanks</a:t>
            </a:r>
            <a:endParaRPr lang="zh-CN" altLang="en-US" sz="8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570056" y="4216750"/>
            <a:ext cx="1051890" cy="13973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254444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Q</a:t>
            </a:r>
            <a:r>
              <a:rPr lang="en-US" altLang="zh-CN" sz="3200" dirty="0">
                <a:solidFill>
                  <a:srgbClr val="4472C4">
                    <a:lumMod val="5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&amp;A</a:t>
            </a:r>
          </a:p>
          <a:p>
            <a:pPr marL="0" marR="0" lvl="0" indent="0" algn="ctr" defTabSz="254444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2400" dirty="0">
              <a:solidFill>
                <a:srgbClr val="4472C4">
                  <a:lumMod val="50000"/>
                </a:srgbClr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ctr" defTabSz="2544445">
              <a:spcBef>
                <a:spcPct val="20000"/>
              </a:spcBef>
              <a:defRPr/>
            </a:pPr>
            <a:endParaRPr kumimoji="0" lang="zh-CN" altLang="en-US" sz="2000" b="0" i="0" u="none" strike="noStrike" kern="1200" cap="none" spc="0" normalizeH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算法课主题字体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3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070C0"/>
      </a:hlink>
      <a:folHlink>
        <a:srgbClr val="0070C0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6E3183"/>
            </a:gs>
            <a:gs pos="33000">
              <a:srgbClr val="6C3B8B">
                <a:tint val="44500"/>
                <a:satMod val="160000"/>
              </a:srgbClr>
            </a:gs>
            <a:gs pos="100000">
              <a:schemeClr val="bg1"/>
            </a:gs>
          </a:gsLst>
          <a:lin ang="0" scaled="1"/>
        </a:gradFill>
        <a:ln>
          <a:noFill/>
        </a:ln>
      </a:spPr>
      <a:bodyPr rtlCol="0" anchor="ctr"/>
      <a:lstStyle>
        <a:defPPr algn="ctr"/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623</TotalTime>
  <Words>1888</Words>
  <Application>Microsoft Macintosh PowerPoint</Application>
  <PresentationFormat>宽屏</PresentationFormat>
  <Paragraphs>196</Paragraphs>
  <Slides>25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5" baseType="lpstr">
      <vt:lpstr>等线</vt:lpstr>
      <vt:lpstr>黑体</vt:lpstr>
      <vt:lpstr>Arial</vt:lpstr>
      <vt:lpstr>Bookman Old Style</vt:lpstr>
      <vt:lpstr>Calibri</vt:lpstr>
      <vt:lpstr>Cambria Math</vt:lpstr>
      <vt:lpstr>Garamond</vt:lpstr>
      <vt:lpstr>Wingdings</vt:lpstr>
      <vt:lpstr>Office 主题​​</vt:lpstr>
      <vt:lpstr>1_Office 主题​​</vt:lpstr>
      <vt:lpstr>期末复习</vt:lpstr>
      <vt:lpstr>考试题型分布</vt:lpstr>
      <vt:lpstr>数据结构</vt:lpstr>
      <vt:lpstr>线性结构与序列性质：栈/队列</vt:lpstr>
      <vt:lpstr>线性结构与序列性质：排序算法与逆序对</vt:lpstr>
      <vt:lpstr>树结构与递归思想：二叉树</vt:lpstr>
      <vt:lpstr>**树结构与递归思想：一般的树</vt:lpstr>
      <vt:lpstr>堆、并查集与哈希表：堆</vt:lpstr>
      <vt:lpstr>**堆、并查集与哈希表：并查集</vt:lpstr>
      <vt:lpstr>堆、并查集与哈希表：哈希表</vt:lpstr>
      <vt:lpstr>图论：图的概念与图的遍历</vt:lpstr>
      <vt:lpstr>图论：有向无环图和拓扑排序</vt:lpstr>
      <vt:lpstr>图论：（强）连通分量和Tarjan算法</vt:lpstr>
      <vt:lpstr>图论：最小生成树</vt:lpstr>
      <vt:lpstr>图论：最短路</vt:lpstr>
      <vt:lpstr>算法</vt:lpstr>
      <vt:lpstr>算法：递归与时间复杂度分析</vt:lpstr>
      <vt:lpstr>**算法：正确性分析（循环不变式）</vt:lpstr>
      <vt:lpstr>**算法：贪心+动态规划</vt:lpstr>
      <vt:lpstr>几道算法设计例题 没被选中做期末考的题</vt:lpstr>
      <vt:lpstr>几道贪心/动态规划题目</vt:lpstr>
      <vt:lpstr>几道贪心/动态规划题目</vt:lpstr>
      <vt:lpstr>几道贪心/动态规划题目</vt:lpstr>
      <vt:lpstr>几道贪心/动态规划题目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智彬 王</cp:lastModifiedBy>
  <cp:revision>1093</cp:revision>
  <dcterms:created xsi:type="dcterms:W3CDTF">2024-06-28T09:07:00Z</dcterms:created>
  <dcterms:modified xsi:type="dcterms:W3CDTF">2025-12-25T08:05:11Z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99BF701D51524FADA64F0C129D7557E2_13</vt:lpwstr>
  </property>
  <property fmtid="{D5CDD505-2E9C-101B-9397-08002B2CF9AE}" pid="3" name="KSOProductBuildVer">
    <vt:lpwstr>2052-12.1.0.20784</vt:lpwstr>
  </property>
</Properties>
</file>